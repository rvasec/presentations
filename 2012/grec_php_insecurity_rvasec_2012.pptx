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55"/>
  </p:notesMasterIdLst>
  <p:sldIdLst>
    <p:sldId id="256" r:id="rId2"/>
    <p:sldId id="287" r:id="rId3"/>
    <p:sldId id="288" r:id="rId4"/>
    <p:sldId id="329" r:id="rId5"/>
    <p:sldId id="330" r:id="rId6"/>
    <p:sldId id="319" r:id="rId7"/>
    <p:sldId id="320" r:id="rId8"/>
    <p:sldId id="321" r:id="rId9"/>
    <p:sldId id="322" r:id="rId10"/>
    <p:sldId id="323" r:id="rId11"/>
    <p:sldId id="294" r:id="rId12"/>
    <p:sldId id="324" r:id="rId13"/>
    <p:sldId id="325" r:id="rId14"/>
    <p:sldId id="308" r:id="rId15"/>
    <p:sldId id="309" r:id="rId16"/>
    <p:sldId id="326" r:id="rId17"/>
    <p:sldId id="289" r:id="rId18"/>
    <p:sldId id="318" r:id="rId19"/>
    <p:sldId id="345" r:id="rId20"/>
    <p:sldId id="344" r:id="rId21"/>
    <p:sldId id="365" r:id="rId22"/>
    <p:sldId id="379" r:id="rId23"/>
    <p:sldId id="380" r:id="rId24"/>
    <p:sldId id="353" r:id="rId25"/>
    <p:sldId id="381" r:id="rId26"/>
    <p:sldId id="382" r:id="rId27"/>
    <p:sldId id="383" r:id="rId28"/>
    <p:sldId id="384" r:id="rId29"/>
    <p:sldId id="385" r:id="rId30"/>
    <p:sldId id="366" r:id="rId31"/>
    <p:sldId id="386" r:id="rId32"/>
    <p:sldId id="389" r:id="rId33"/>
    <p:sldId id="390" r:id="rId34"/>
    <p:sldId id="392" r:id="rId35"/>
    <p:sldId id="394" r:id="rId36"/>
    <p:sldId id="367" r:id="rId37"/>
    <p:sldId id="341" r:id="rId38"/>
    <p:sldId id="340" r:id="rId39"/>
    <p:sldId id="357" r:id="rId40"/>
    <p:sldId id="358" r:id="rId41"/>
    <p:sldId id="364" r:id="rId42"/>
    <p:sldId id="376" r:id="rId43"/>
    <p:sldId id="343" r:id="rId44"/>
    <p:sldId id="361" r:id="rId45"/>
    <p:sldId id="350" r:id="rId46"/>
    <p:sldId id="359" r:id="rId47"/>
    <p:sldId id="328" r:id="rId48"/>
    <p:sldId id="327" r:id="rId49"/>
    <p:sldId id="332" r:id="rId50"/>
    <p:sldId id="348" r:id="rId51"/>
    <p:sldId id="356" r:id="rId52"/>
    <p:sldId id="355" r:id="rId53"/>
    <p:sldId id="397"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28" autoAdjust="0"/>
    <p:restoredTop sz="75768" autoAdjust="0"/>
  </p:normalViewPr>
  <p:slideViewPr>
    <p:cSldViewPr snapToGrid="0" snapToObjects="1">
      <p:cViewPr varScale="1">
        <p:scale>
          <a:sx n="31" d="100"/>
          <a:sy n="31" d="100"/>
        </p:scale>
        <p:origin x="-1380" y="-84"/>
      </p:cViewPr>
      <p:guideLst>
        <p:guide orient="horz" pos="2160"/>
        <p:guide pos="2880"/>
      </p:guideLst>
    </p:cSldViewPr>
  </p:slideViewPr>
  <p:outlineViewPr>
    <p:cViewPr>
      <p:scale>
        <a:sx n="33" d="100"/>
        <a:sy n="33" d="100"/>
      </p:scale>
      <p:origin x="0" y="154248"/>
    </p:cViewPr>
  </p:outlineViewPr>
  <p:notesTextViewPr>
    <p:cViewPr>
      <p:scale>
        <a:sx n="100" d="100"/>
        <a:sy n="100" d="100"/>
      </p:scale>
      <p:origin x="0" y="0"/>
    </p:cViewPr>
  </p:notesTextViewPr>
  <p:sorterViewPr>
    <p:cViewPr varScale="1">
      <p:scale>
        <a:sx n="100" d="100"/>
        <a:sy n="100" d="100"/>
      </p:scale>
      <p:origin x="0" y="572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D16D96-F467-3346-8F15-ABEC1DCB255E}" type="datetimeFigureOut">
              <a:rPr lang="en-US" smtClean="0"/>
              <a:pPr/>
              <a:t>6/15/2012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ED9D8F-14EC-804F-85AB-92C8F8D6C0DA}" type="slidenum">
              <a:rPr lang="en-US" smtClean="0"/>
              <a:pPr/>
              <a:t>‹#›</a:t>
            </a:fld>
            <a:endParaRPr lang="en-US"/>
          </a:p>
        </p:txBody>
      </p:sp>
    </p:spTree>
    <p:extLst>
      <p:ext uri="{BB962C8B-B14F-4D97-AF65-F5344CB8AC3E}">
        <p14:creationId xmlns:p14="http://schemas.microsoft.com/office/powerpoint/2010/main" xmlns="" val="401750679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4</a:t>
            </a:fld>
            <a:endParaRPr lang="en-US"/>
          </a:p>
        </p:txBody>
      </p:sp>
    </p:spTree>
    <p:extLst>
      <p:ext uri="{BB962C8B-B14F-4D97-AF65-F5344CB8AC3E}">
        <p14:creationId xmlns:p14="http://schemas.microsoft.com/office/powerpoint/2010/main" xmlns="" val="2591810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5</a:t>
            </a:fld>
            <a:endParaRPr lang="en-US"/>
          </a:p>
        </p:txBody>
      </p:sp>
    </p:spTree>
    <p:extLst>
      <p:ext uri="{BB962C8B-B14F-4D97-AF65-F5344CB8AC3E}">
        <p14:creationId xmlns:p14="http://schemas.microsoft.com/office/powerpoint/2010/main" xmlns="" val="1567358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7</a:t>
            </a:fld>
            <a:endParaRPr lang="en-US"/>
          </a:p>
        </p:txBody>
      </p:sp>
    </p:spTree>
    <p:extLst>
      <p:ext uri="{BB962C8B-B14F-4D97-AF65-F5344CB8AC3E}">
        <p14:creationId xmlns:p14="http://schemas.microsoft.com/office/powerpoint/2010/main" xmlns="" val="1320851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8</a:t>
            </a:fld>
            <a:endParaRPr lang="en-US"/>
          </a:p>
        </p:txBody>
      </p:sp>
    </p:spTree>
    <p:extLst>
      <p:ext uri="{BB962C8B-B14F-4D97-AF65-F5344CB8AC3E}">
        <p14:creationId xmlns:p14="http://schemas.microsoft.com/office/powerpoint/2010/main" xmlns="" val="2035541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12</a:t>
            </a:fld>
            <a:endParaRPr lang="en-US"/>
          </a:p>
        </p:txBody>
      </p:sp>
    </p:spTree>
    <p:extLst>
      <p:ext uri="{BB962C8B-B14F-4D97-AF65-F5344CB8AC3E}">
        <p14:creationId xmlns:p14="http://schemas.microsoft.com/office/powerpoint/2010/main" xmlns="" val="2999194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13</a:t>
            </a:fld>
            <a:endParaRPr lang="en-US"/>
          </a:p>
        </p:txBody>
      </p:sp>
    </p:spTree>
    <p:extLst>
      <p:ext uri="{BB962C8B-B14F-4D97-AF65-F5344CB8AC3E}">
        <p14:creationId xmlns:p14="http://schemas.microsoft.com/office/powerpoint/2010/main" xmlns="" val="2747401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ED9D8F-14EC-804F-85AB-92C8F8D6C0DA}" type="slidenum">
              <a:rPr lang="en-US" smtClean="0"/>
              <a:pPr/>
              <a:t>20</a:t>
            </a:fld>
            <a:endParaRPr lang="en-US"/>
          </a:p>
        </p:txBody>
      </p:sp>
    </p:spTree>
    <p:extLst>
      <p:ext uri="{BB962C8B-B14F-4D97-AF65-F5344CB8AC3E}">
        <p14:creationId xmlns:p14="http://schemas.microsoft.com/office/powerpoint/2010/main" xmlns="" val="2030090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23</a:t>
            </a:fld>
            <a:endParaRPr lang="en-US"/>
          </a:p>
        </p:txBody>
      </p:sp>
    </p:spTree>
    <p:extLst>
      <p:ext uri="{BB962C8B-B14F-4D97-AF65-F5344CB8AC3E}">
        <p14:creationId xmlns:p14="http://schemas.microsoft.com/office/powerpoint/2010/main" xmlns="" val="27758561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ED9D8F-14EC-804F-85AB-92C8F8D6C0DA}" type="slidenum">
              <a:rPr lang="en-US" smtClean="0"/>
              <a:pPr/>
              <a:t>24</a:t>
            </a:fld>
            <a:endParaRPr lang="en-US"/>
          </a:p>
        </p:txBody>
      </p:sp>
    </p:spTree>
    <p:extLst>
      <p:ext uri="{BB962C8B-B14F-4D97-AF65-F5344CB8AC3E}">
        <p14:creationId xmlns:p14="http://schemas.microsoft.com/office/powerpoint/2010/main" xmlns="" val="216032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25</a:t>
            </a:fld>
            <a:endParaRPr lang="en-US"/>
          </a:p>
        </p:txBody>
      </p:sp>
    </p:spTree>
    <p:extLst>
      <p:ext uri="{BB962C8B-B14F-4D97-AF65-F5344CB8AC3E}">
        <p14:creationId xmlns:p14="http://schemas.microsoft.com/office/powerpoint/2010/main" xmlns="" val="1256915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26</a:t>
            </a:fld>
            <a:endParaRPr lang="en-US"/>
          </a:p>
        </p:txBody>
      </p:sp>
    </p:spTree>
    <p:extLst>
      <p:ext uri="{BB962C8B-B14F-4D97-AF65-F5344CB8AC3E}">
        <p14:creationId xmlns:p14="http://schemas.microsoft.com/office/powerpoint/2010/main" xmlns="" val="23856617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28</a:t>
            </a:fld>
            <a:endParaRPr lang="en-US"/>
          </a:p>
        </p:txBody>
      </p:sp>
    </p:spTree>
    <p:extLst>
      <p:ext uri="{BB962C8B-B14F-4D97-AF65-F5344CB8AC3E}">
        <p14:creationId xmlns:p14="http://schemas.microsoft.com/office/powerpoint/2010/main" xmlns="" val="22928746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32</a:t>
            </a:fld>
            <a:endParaRPr lang="en-US"/>
          </a:p>
        </p:txBody>
      </p:sp>
    </p:spTree>
    <p:extLst>
      <p:ext uri="{BB962C8B-B14F-4D97-AF65-F5344CB8AC3E}">
        <p14:creationId xmlns:p14="http://schemas.microsoft.com/office/powerpoint/2010/main" xmlns="" val="37715653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ED9D8F-14EC-804F-85AB-92C8F8D6C0DA}" type="slidenum">
              <a:rPr lang="en-US" smtClean="0"/>
              <a:pPr/>
              <a:t>33</a:t>
            </a:fld>
            <a:endParaRPr lang="en-US"/>
          </a:p>
        </p:txBody>
      </p:sp>
    </p:spTree>
    <p:extLst>
      <p:ext uri="{BB962C8B-B14F-4D97-AF65-F5344CB8AC3E}">
        <p14:creationId xmlns:p14="http://schemas.microsoft.com/office/powerpoint/2010/main" xmlns="" val="34358733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ED9D8F-14EC-804F-85AB-92C8F8D6C0DA}" type="slidenum">
              <a:rPr lang="en-US" smtClean="0"/>
              <a:pPr/>
              <a:t>34</a:t>
            </a:fld>
            <a:endParaRPr lang="en-US"/>
          </a:p>
        </p:txBody>
      </p:sp>
    </p:spTree>
    <p:extLst>
      <p:ext uri="{BB962C8B-B14F-4D97-AF65-F5344CB8AC3E}">
        <p14:creationId xmlns:p14="http://schemas.microsoft.com/office/powerpoint/2010/main" xmlns="" val="1607457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66ED9D8F-14EC-804F-85AB-92C8F8D6C0DA}" type="slidenum">
              <a:rPr lang="en-US" smtClean="0"/>
              <a:pPr/>
              <a:t>35</a:t>
            </a:fld>
            <a:endParaRPr lang="en-US"/>
          </a:p>
        </p:txBody>
      </p:sp>
    </p:spTree>
    <p:extLst>
      <p:ext uri="{BB962C8B-B14F-4D97-AF65-F5344CB8AC3E}">
        <p14:creationId xmlns:p14="http://schemas.microsoft.com/office/powerpoint/2010/main" xmlns="" val="20012635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38</a:t>
            </a:fld>
            <a:endParaRPr lang="en-US"/>
          </a:p>
        </p:txBody>
      </p:sp>
    </p:spTree>
    <p:extLst>
      <p:ext uri="{BB962C8B-B14F-4D97-AF65-F5344CB8AC3E}">
        <p14:creationId xmlns:p14="http://schemas.microsoft.com/office/powerpoint/2010/main" xmlns="" val="27467358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39</a:t>
            </a:fld>
            <a:endParaRPr lang="en-US"/>
          </a:p>
        </p:txBody>
      </p:sp>
    </p:spTree>
    <p:extLst>
      <p:ext uri="{BB962C8B-B14F-4D97-AF65-F5344CB8AC3E}">
        <p14:creationId xmlns:p14="http://schemas.microsoft.com/office/powerpoint/2010/main" xmlns="" val="27467358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40</a:t>
            </a:fld>
            <a:endParaRPr lang="en-US"/>
          </a:p>
        </p:txBody>
      </p:sp>
    </p:spTree>
    <p:extLst>
      <p:ext uri="{BB962C8B-B14F-4D97-AF65-F5344CB8AC3E}">
        <p14:creationId xmlns:p14="http://schemas.microsoft.com/office/powerpoint/2010/main" xmlns="" val="42906197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41</a:t>
            </a:fld>
            <a:endParaRPr lang="en-US"/>
          </a:p>
        </p:txBody>
      </p:sp>
    </p:spTree>
    <p:extLst>
      <p:ext uri="{BB962C8B-B14F-4D97-AF65-F5344CB8AC3E}">
        <p14:creationId xmlns:p14="http://schemas.microsoft.com/office/powerpoint/2010/main" xmlns="" val="42906197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ED9D8F-14EC-804F-85AB-92C8F8D6C0DA}" type="slidenum">
              <a:rPr lang="en-US" smtClean="0"/>
              <a:pPr/>
              <a:t>42</a:t>
            </a:fld>
            <a:endParaRPr lang="en-US"/>
          </a:p>
        </p:txBody>
      </p:sp>
    </p:spTree>
    <p:extLst>
      <p:ext uri="{BB962C8B-B14F-4D97-AF65-F5344CB8AC3E}">
        <p14:creationId xmlns:p14="http://schemas.microsoft.com/office/powerpoint/2010/main" xmlns="" val="38207531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43</a:t>
            </a:fld>
            <a:endParaRPr lang="en-US"/>
          </a:p>
        </p:txBody>
      </p:sp>
    </p:spTree>
    <p:extLst>
      <p:ext uri="{BB962C8B-B14F-4D97-AF65-F5344CB8AC3E}">
        <p14:creationId xmlns:p14="http://schemas.microsoft.com/office/powerpoint/2010/main" xmlns="" val="37951614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45</a:t>
            </a:fld>
            <a:endParaRPr lang="en-US"/>
          </a:p>
        </p:txBody>
      </p:sp>
    </p:spTree>
    <p:extLst>
      <p:ext uri="{BB962C8B-B14F-4D97-AF65-F5344CB8AC3E}">
        <p14:creationId xmlns:p14="http://schemas.microsoft.com/office/powerpoint/2010/main" xmlns="" val="8149667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dirty="0" smtClean="0"/>
          </a:p>
        </p:txBody>
      </p:sp>
      <p:sp>
        <p:nvSpPr>
          <p:cNvPr id="4" name="Slide Number Placeholder 3"/>
          <p:cNvSpPr>
            <a:spLocks noGrp="1"/>
          </p:cNvSpPr>
          <p:nvPr>
            <p:ph type="sldNum" sz="quarter" idx="10"/>
          </p:nvPr>
        </p:nvSpPr>
        <p:spPr/>
        <p:txBody>
          <a:bodyPr/>
          <a:lstStyle/>
          <a:p>
            <a:fld id="{66ED9D8F-14EC-804F-85AB-92C8F8D6C0DA}" type="slidenum">
              <a:rPr lang="en-US" smtClean="0"/>
              <a:pPr/>
              <a:t>47</a:t>
            </a:fld>
            <a:endParaRPr lang="en-US"/>
          </a:p>
        </p:txBody>
      </p:sp>
    </p:spTree>
    <p:extLst>
      <p:ext uri="{BB962C8B-B14F-4D97-AF65-F5344CB8AC3E}">
        <p14:creationId xmlns:p14="http://schemas.microsoft.com/office/powerpoint/2010/main" xmlns="" val="23974268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ED9D8F-14EC-804F-85AB-92C8F8D6C0DA}"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6ED9D8F-14EC-804F-85AB-92C8F8D6C0DA}" type="slidenum">
              <a:rPr lang="en-US" smtClean="0"/>
              <a:pPr/>
              <a:t>53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a:lvl1p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085DC28-D18F-2744-BFF6-3FC0C786C983}" type="datetimeFigureOut">
              <a:rPr lang="en-US" smtClean="0"/>
              <a:pPr/>
              <a:t>6/15/2012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3574765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85DC28-D18F-2744-BFF6-3FC0C786C983}" type="datetimeFigureOut">
              <a:rPr lang="en-US" smtClean="0"/>
              <a:pPr/>
              <a:t>6/15/2012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1190201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85DC28-D18F-2744-BFF6-3FC0C786C983}" type="datetimeFigureOut">
              <a:rPr lang="en-US" smtClean="0"/>
              <a:pPr/>
              <a:t>6/15/2012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2602147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085DC28-D18F-2744-BFF6-3FC0C786C983}" type="datetimeFigureOut">
              <a:rPr lang="en-US" smtClean="0"/>
              <a:pPr/>
              <a:t>6/15/2012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2068725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85DC28-D18F-2744-BFF6-3FC0C786C983}" type="datetimeFigureOut">
              <a:rPr lang="en-US" smtClean="0"/>
              <a:pPr/>
              <a:t>6/15/2012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34683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85DC28-D18F-2744-BFF6-3FC0C786C983}" type="datetimeFigureOut">
              <a:rPr lang="en-US" smtClean="0"/>
              <a:pPr/>
              <a:t>6/15/2012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1186178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85DC28-D18F-2744-BFF6-3FC0C786C983}" type="datetimeFigureOut">
              <a:rPr lang="en-US" smtClean="0"/>
              <a:pPr/>
              <a:t>6/15/2012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756644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85DC28-D18F-2744-BFF6-3FC0C786C983}" type="datetimeFigureOut">
              <a:rPr lang="en-US" smtClean="0"/>
              <a:pPr/>
              <a:t>6/15/2012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72396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85DC28-D18F-2744-BFF6-3FC0C786C983}" type="datetimeFigureOut">
              <a:rPr lang="en-US" smtClean="0"/>
              <a:pPr/>
              <a:t>6/15/2012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104643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85DC28-D18F-2744-BFF6-3FC0C786C983}" type="datetimeFigureOut">
              <a:rPr lang="en-US" smtClean="0"/>
              <a:pPr/>
              <a:t>6/15/2012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2015729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85DC28-D18F-2744-BFF6-3FC0C786C983}" type="datetimeFigureOut">
              <a:rPr lang="en-US" smtClean="0"/>
              <a:pPr/>
              <a:t>6/15/2012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3060479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85DC28-D18F-2744-BFF6-3FC0C786C983}" type="datetimeFigureOut">
              <a:rPr lang="en-US" smtClean="0"/>
              <a:pPr/>
              <a:t>6/15/2012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5B4B2A-E686-6344-B8E5-1F79A496E705}" type="slidenum">
              <a:rPr lang="en-US" smtClean="0"/>
              <a:pPr/>
              <a:t>‹#›</a:t>
            </a:fld>
            <a:endParaRPr lang="en-US"/>
          </a:p>
        </p:txBody>
      </p:sp>
    </p:spTree>
    <p:extLst>
      <p:ext uri="{BB962C8B-B14F-4D97-AF65-F5344CB8AC3E}">
        <p14:creationId xmlns:p14="http://schemas.microsoft.com/office/powerpoint/2010/main" xmlns="" val="2303622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6.gif"/></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8.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www.cyberciti.biz/tips/php-security-best-practices-tutorial.html" TargetMode="External"/><Relationship Id="rId7" Type="http://schemas.openxmlformats.org/officeDocument/2006/relationships/hyperlink" Target="http://phpsec.org/"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hyperlink" Target="http://www.hardened-php.net/suhosin.127.html" TargetMode="External"/><Relationship Id="rId5" Type="http://schemas.openxmlformats.org/officeDocument/2006/relationships/hyperlink" Target="http://www.sklar.com/page/article/owasp-top-ten" TargetMode="External"/><Relationship Id="rId4" Type="http://schemas.openxmlformats.org/officeDocument/2006/relationships/hyperlink" Target="https://www.owasp.org/index.php/PHP_Top_5"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www.php.net/manual/en/security.php" TargetMode="External"/><Relationship Id="rId7" Type="http://schemas.openxmlformats.org/officeDocument/2006/relationships/hyperlink" Target="http://www.scribd.com/doc/87396472/8/PHP-SECURITY-PROGRAMMING"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hyperlink" Target="http://security.stackexchange.com/questions/643/why-do-people-say-that-php-is-inherently-insecure" TargetMode="External"/><Relationship Id="rId5" Type="http://schemas.openxmlformats.org/officeDocument/2006/relationships/hyperlink" Target="http://www.phpro.org/tutorials/Filtering-Data-with-PHP.html" TargetMode="External"/><Relationship Id="rId4" Type="http://schemas.openxmlformats.org/officeDocument/2006/relationships/hyperlink" Target="http://www.php.net/manual/en/book.filter.php"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www.owasp.org/index.php/PHP_Security_Cheat_Sheet"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3" Type="http://schemas.openxmlformats.org/officeDocument/2006/relationships/hyperlink" Target="http://sourceforge.net/projects/yasca/" TargetMode="External"/><Relationship Id="rId7" Type="http://schemas.openxmlformats.org/officeDocument/2006/relationships/hyperlink" Target="http://www.syhunt.com/?n=Sandcat.Mini"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hyperlink" Target="http://www.armorize.com/codesecure/community.html" TargetMode="External"/><Relationship Id="rId5" Type="http://schemas.openxmlformats.org/officeDocument/2006/relationships/hyperlink" Target="http://www.program-transformation.org/" TargetMode="External"/><Relationship Id="rId4" Type="http://schemas.openxmlformats.org/officeDocument/2006/relationships/hyperlink" Target="http://www.icosaedro.it/phplint/" TargetMode="External"/></Relationships>
</file>

<file path=ppt/slides/_rels/slide53.xml.rels><?xml version="1.0" encoding="UTF-8" standalone="yes"?>
<Relationships xmlns="http://schemas.openxmlformats.org/package/2006/relationships"><Relationship Id="rId8" Type="http://schemas.openxmlformats.org/officeDocument/2006/relationships/hyperlink" Target="https://docs.google.com/Doc?id=dd7x5smw_17g9cnx2cn&amp;pli=1" TargetMode="External"/><Relationship Id="rId3" Type="http://schemas.openxmlformats.org/officeDocument/2006/relationships/hyperlink" Target="http://www.howtoforge.com/intrusion-detection-for-php-applications-with-phpids" TargetMode="External"/><Relationship Id="rId7" Type="http://schemas.openxmlformats.org/officeDocument/2006/relationships/hyperlink" Target="http://www.irongeek.com/i.php?page=security/phpids-install-notes"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hyperlink" Target="http://forum.cmsmadesimple.org/index.php?topic=12884.msg173160" TargetMode="External"/><Relationship Id="rId5" Type="http://schemas.openxmlformats.org/officeDocument/2006/relationships/hyperlink" Target="http://php-ids.org/faq/" TargetMode="External"/><Relationship Id="rId10" Type="http://schemas.openxmlformats.org/officeDocument/2006/relationships/hyperlink" Target="https://en.wikipedia.org/wiki/PHPIDS" TargetMode="External"/><Relationship Id="rId4" Type="http://schemas.openxmlformats.org/officeDocument/2006/relationships/hyperlink" Target="http://www.h-online.com/security/features/Getting-started-with-the-PHPIDS-intrusion-detection-system-746233.html" TargetMode="External"/><Relationship Id="rId9" Type="http://schemas.openxmlformats.org/officeDocument/2006/relationships/hyperlink" Target="http://holisticinfosec.org/toolsmith/docs/july2008.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mtClean="0"/>
              <a:t>PHP Insecurity</a:t>
            </a:r>
            <a:endParaRPr lang="en-US" dirty="0"/>
          </a:p>
        </p:txBody>
      </p:sp>
      <p:sp>
        <p:nvSpPr>
          <p:cNvPr id="3" name="Subtitle 2"/>
          <p:cNvSpPr>
            <a:spLocks noGrp="1"/>
          </p:cNvSpPr>
          <p:nvPr>
            <p:ph type="subTitle" idx="1"/>
          </p:nvPr>
        </p:nvSpPr>
        <p:spPr/>
        <p:txBody>
          <a:bodyPr>
            <a:normAutofit/>
          </a:bodyPr>
          <a:lstStyle/>
          <a:p>
            <a:r>
              <a:rPr lang="en-US" dirty="0" smtClean="0">
                <a:solidFill>
                  <a:schemeClr val="tx1"/>
                </a:solidFill>
              </a:rPr>
              <a:t>@</a:t>
            </a:r>
            <a:r>
              <a:rPr lang="en-US" dirty="0" err="1" smtClean="0">
                <a:solidFill>
                  <a:schemeClr val="tx1"/>
                </a:solidFill>
              </a:rPr>
              <a:t>grecs</a:t>
            </a:r>
            <a:endParaRPr lang="en-US" dirty="0">
              <a:solidFill>
                <a:schemeClr val="tx1"/>
              </a:solidFill>
            </a:endParaRPr>
          </a:p>
        </p:txBody>
      </p:sp>
    </p:spTree>
    <p:extLst>
      <p:ext uri="{BB962C8B-B14F-4D97-AF65-F5344CB8AC3E}">
        <p14:creationId xmlns:p14="http://schemas.microsoft.com/office/powerpoint/2010/main" xmlns="" val="12172909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yavatar_bigger.gif"/>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102100" y="2959100"/>
            <a:ext cx="927100" cy="927100"/>
          </a:xfrm>
          <a:prstGeom prst="rect">
            <a:avLst/>
          </a:prstGeom>
        </p:spPr>
      </p:pic>
    </p:spTree>
    <p:extLst>
      <p:ext uri="{BB962C8B-B14F-4D97-AF65-F5344CB8AC3E}">
        <p14:creationId xmlns:p14="http://schemas.microsoft.com/office/powerpoint/2010/main" xmlns="" val="21375117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D and VA Market Area.gif"/>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669276" y="1299447"/>
            <a:ext cx="5854700" cy="4432300"/>
          </a:xfrm>
          <a:prstGeom prst="rect">
            <a:avLst/>
          </a:prstGeom>
        </p:spPr>
      </p:pic>
      <p:cxnSp>
        <p:nvCxnSpPr>
          <p:cNvPr id="8" name="Straight Arrow Connector 7"/>
          <p:cNvCxnSpPr/>
          <p:nvPr/>
        </p:nvCxnSpPr>
        <p:spPr>
          <a:xfrm>
            <a:off x="1097941" y="1806222"/>
            <a:ext cx="2235568" cy="1408621"/>
          </a:xfrm>
          <a:prstGeom prst="straightConnector1">
            <a:avLst/>
          </a:prstGeom>
          <a:ln w="63500">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18419233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778685" y="886586"/>
            <a:ext cx="4188889" cy="2488200"/>
          </a:xfrm>
          <a:prstGeom prst="rect">
            <a:avLst/>
          </a:prstGeom>
        </p:spPr>
      </p:pic>
      <p:pic>
        <p:nvPicPr>
          <p:cNvPr id="7" name="Picture 6"/>
          <p:cNvPicPr>
            <a:picLocks noChangeAspect="1"/>
          </p:cNvPicPr>
          <p:nvPr/>
        </p:nvPicPr>
        <p:blipFill>
          <a:blip r:embed="rId4"/>
          <a:stretch>
            <a:fillRect/>
          </a:stretch>
        </p:blipFill>
        <p:spPr>
          <a:xfrm>
            <a:off x="580506" y="3699817"/>
            <a:ext cx="3818810" cy="2472679"/>
          </a:xfrm>
          <a:prstGeom prst="rect">
            <a:avLst/>
          </a:prstGeom>
        </p:spPr>
      </p:pic>
      <p:pic>
        <p:nvPicPr>
          <p:cNvPr id="8" name="Picture 7"/>
          <p:cNvPicPr>
            <a:picLocks noChangeAspect="1"/>
          </p:cNvPicPr>
          <p:nvPr/>
        </p:nvPicPr>
        <p:blipFill>
          <a:blip r:embed="rId5"/>
          <a:stretch>
            <a:fillRect/>
          </a:stretch>
        </p:blipFill>
        <p:spPr>
          <a:xfrm>
            <a:off x="3725923" y="1865297"/>
            <a:ext cx="1346786" cy="2489513"/>
          </a:xfrm>
          <a:prstGeom prst="rect">
            <a:avLst/>
          </a:prstGeom>
        </p:spPr>
      </p:pic>
      <p:pic>
        <p:nvPicPr>
          <p:cNvPr id="5" name="Picture 4"/>
          <p:cNvPicPr>
            <a:picLocks noChangeAspect="1"/>
          </p:cNvPicPr>
          <p:nvPr/>
        </p:nvPicPr>
        <p:blipFill>
          <a:blip r:embed="rId6"/>
          <a:stretch>
            <a:fillRect/>
          </a:stretch>
        </p:blipFill>
        <p:spPr>
          <a:xfrm>
            <a:off x="4778685" y="3374786"/>
            <a:ext cx="4085276" cy="3355373"/>
          </a:xfrm>
          <a:prstGeom prst="rect">
            <a:avLst/>
          </a:prstGeom>
        </p:spPr>
      </p:pic>
      <p:pic>
        <p:nvPicPr>
          <p:cNvPr id="4" name="Picture 3"/>
          <p:cNvPicPr>
            <a:picLocks noChangeAspect="1"/>
          </p:cNvPicPr>
          <p:nvPr/>
        </p:nvPicPr>
        <p:blipFill rotWithShape="1">
          <a:blip r:embed="rId7"/>
          <a:srcRect l="14605" t="11513" r="13900" b="10071"/>
          <a:stretch/>
        </p:blipFill>
        <p:spPr>
          <a:xfrm>
            <a:off x="242766" y="735512"/>
            <a:ext cx="3748843" cy="2293582"/>
          </a:xfrm>
          <a:prstGeom prst="rect">
            <a:avLst/>
          </a:prstGeom>
        </p:spPr>
      </p:pic>
    </p:spTree>
    <p:extLst>
      <p:ext uri="{BB962C8B-B14F-4D97-AF65-F5344CB8AC3E}">
        <p14:creationId xmlns:p14="http://schemas.microsoft.com/office/powerpoint/2010/main" xmlns="" val="4610249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589922" y="502087"/>
            <a:ext cx="5553014" cy="5553014"/>
          </a:xfrm>
          <a:prstGeom prst="rect">
            <a:avLst/>
          </a:prstGeom>
        </p:spPr>
      </p:pic>
    </p:spTree>
    <p:extLst>
      <p:ext uri="{BB962C8B-B14F-4D97-AF65-F5344CB8AC3E}">
        <p14:creationId xmlns:p14="http://schemas.microsoft.com/office/powerpoint/2010/main" xmlns="" val="15881612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aterfall-sdlc.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918447" y="3368035"/>
            <a:ext cx="4589151" cy="2753491"/>
          </a:xfrm>
          <a:prstGeom prst="rect">
            <a:avLst/>
          </a:prstGeom>
        </p:spPr>
      </p:pic>
      <p:pic>
        <p:nvPicPr>
          <p:cNvPr id="2" name="Picture 1"/>
          <p:cNvPicPr>
            <a:picLocks noChangeAspect="1"/>
          </p:cNvPicPr>
          <p:nvPr/>
        </p:nvPicPr>
        <p:blipFill>
          <a:blip r:embed="rId4"/>
          <a:stretch>
            <a:fillRect/>
          </a:stretch>
        </p:blipFill>
        <p:spPr>
          <a:xfrm>
            <a:off x="696426" y="614544"/>
            <a:ext cx="2196839" cy="2753491"/>
          </a:xfrm>
          <a:prstGeom prst="rect">
            <a:avLst/>
          </a:prstGeom>
        </p:spPr>
      </p:pic>
    </p:spTree>
    <p:extLst>
      <p:ext uri="{BB962C8B-B14F-4D97-AF65-F5344CB8AC3E}">
        <p14:creationId xmlns:p14="http://schemas.microsoft.com/office/powerpoint/2010/main" xmlns="" val="7516249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smabook.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81083" y="654173"/>
            <a:ext cx="2314104" cy="3008335"/>
          </a:xfrm>
          <a:prstGeom prst="rect">
            <a:avLst/>
          </a:prstGeom>
          <a:ln>
            <a:solidFill>
              <a:schemeClr val="accent1"/>
            </a:solidFill>
          </a:ln>
        </p:spPr>
      </p:pic>
      <p:pic>
        <p:nvPicPr>
          <p:cNvPr id="2" name="Picture 1"/>
          <p:cNvPicPr>
            <a:picLocks noChangeAspect="1"/>
          </p:cNvPicPr>
          <p:nvPr/>
        </p:nvPicPr>
        <p:blipFill>
          <a:blip r:embed="rId4"/>
          <a:stretch>
            <a:fillRect/>
          </a:stretch>
        </p:blipFill>
        <p:spPr>
          <a:xfrm>
            <a:off x="3528145" y="3257608"/>
            <a:ext cx="5216721" cy="3303252"/>
          </a:xfrm>
          <a:prstGeom prst="rect">
            <a:avLst/>
          </a:prstGeom>
        </p:spPr>
      </p:pic>
    </p:spTree>
    <p:extLst>
      <p:ext uri="{BB962C8B-B14F-4D97-AF65-F5344CB8AC3E}">
        <p14:creationId xmlns:p14="http://schemas.microsoft.com/office/powerpoint/2010/main" xmlns="" val="36038373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ropsthatwingovcontracts.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95213" y="396906"/>
            <a:ext cx="2365932" cy="3068318"/>
          </a:xfrm>
          <a:prstGeom prst="rect">
            <a:avLst/>
          </a:prstGeom>
        </p:spPr>
      </p:pic>
      <p:pic>
        <p:nvPicPr>
          <p:cNvPr id="2" name="Picture 1"/>
          <p:cNvPicPr>
            <a:picLocks noChangeAspect="1"/>
          </p:cNvPicPr>
          <p:nvPr/>
        </p:nvPicPr>
        <p:blipFill>
          <a:blip r:embed="rId4"/>
          <a:stretch>
            <a:fillRect/>
          </a:stretch>
        </p:blipFill>
        <p:spPr>
          <a:xfrm>
            <a:off x="3186692" y="1822053"/>
            <a:ext cx="2366070" cy="3496866"/>
          </a:xfrm>
          <a:prstGeom prst="rect">
            <a:avLst/>
          </a:prstGeom>
        </p:spPr>
      </p:pic>
      <p:pic>
        <p:nvPicPr>
          <p:cNvPr id="4" name="Picture 3"/>
          <p:cNvPicPr>
            <a:picLocks noChangeAspect="1"/>
          </p:cNvPicPr>
          <p:nvPr/>
        </p:nvPicPr>
        <p:blipFill>
          <a:blip r:embed="rId5"/>
          <a:stretch>
            <a:fillRect/>
          </a:stretch>
        </p:blipFill>
        <p:spPr>
          <a:xfrm>
            <a:off x="5570253" y="4361878"/>
            <a:ext cx="3132955" cy="2086927"/>
          </a:xfrm>
          <a:prstGeom prst="rect">
            <a:avLst/>
          </a:prstGeom>
        </p:spPr>
      </p:pic>
    </p:spTree>
    <p:extLst>
      <p:ext uri="{BB962C8B-B14F-4D97-AF65-F5344CB8AC3E}">
        <p14:creationId xmlns:p14="http://schemas.microsoft.com/office/powerpoint/2010/main" xmlns="" val="21256379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ocuments.png.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1897" y="1202678"/>
            <a:ext cx="7048500" cy="4648200"/>
          </a:xfrm>
          <a:prstGeom prst="rect">
            <a:avLst/>
          </a:prstGeom>
        </p:spPr>
      </p:pic>
    </p:spTree>
    <p:extLst>
      <p:ext uri="{BB962C8B-B14F-4D97-AF65-F5344CB8AC3E}">
        <p14:creationId xmlns:p14="http://schemas.microsoft.com/office/powerpoint/2010/main" xmlns="" val="16200228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5522" y="2126787"/>
            <a:ext cx="5480988" cy="369332"/>
          </a:xfrm>
          <a:prstGeom prst="rect">
            <a:avLst/>
          </a:prstGeom>
          <a:noFill/>
        </p:spPr>
        <p:txBody>
          <a:bodyPr wrap="none" rtlCol="0">
            <a:spAutoFit/>
          </a:bodyPr>
          <a:lstStyle/>
          <a:p>
            <a:r>
              <a:rPr lang="en-US" dirty="0" smtClean="0"/>
              <a:t>Pic of hacked sites; news articles of breaches, mid-2000s</a:t>
            </a:r>
            <a:endParaRPr lang="en-US" dirty="0"/>
          </a:p>
        </p:txBody>
      </p:sp>
      <p:pic>
        <p:nvPicPr>
          <p:cNvPr id="3" name="Picture 2"/>
          <p:cNvPicPr>
            <a:picLocks noChangeAspect="1"/>
          </p:cNvPicPr>
          <p:nvPr/>
        </p:nvPicPr>
        <p:blipFill>
          <a:blip r:embed="rId3"/>
          <a:stretch>
            <a:fillRect/>
          </a:stretch>
        </p:blipFill>
        <p:spPr>
          <a:xfrm>
            <a:off x="454822" y="488487"/>
            <a:ext cx="3581400" cy="3276600"/>
          </a:xfrm>
          <a:prstGeom prst="rect">
            <a:avLst/>
          </a:prstGeom>
        </p:spPr>
      </p:pic>
      <p:pic>
        <p:nvPicPr>
          <p:cNvPr id="4" name="Picture 3"/>
          <p:cNvPicPr>
            <a:picLocks noChangeAspect="1"/>
          </p:cNvPicPr>
          <p:nvPr/>
        </p:nvPicPr>
        <p:blipFill>
          <a:blip r:embed="rId4"/>
          <a:stretch>
            <a:fillRect/>
          </a:stretch>
        </p:blipFill>
        <p:spPr>
          <a:xfrm>
            <a:off x="2463801" y="277412"/>
            <a:ext cx="4087617" cy="4437413"/>
          </a:xfrm>
          <a:prstGeom prst="rect">
            <a:avLst/>
          </a:prstGeom>
        </p:spPr>
      </p:pic>
      <p:pic>
        <p:nvPicPr>
          <p:cNvPr id="5" name="Picture 4"/>
          <p:cNvPicPr>
            <a:picLocks noChangeAspect="1"/>
          </p:cNvPicPr>
          <p:nvPr/>
        </p:nvPicPr>
        <p:blipFill>
          <a:blip r:embed="rId5"/>
          <a:stretch>
            <a:fillRect/>
          </a:stretch>
        </p:blipFill>
        <p:spPr>
          <a:xfrm>
            <a:off x="3802268" y="666732"/>
            <a:ext cx="5321300" cy="3352800"/>
          </a:xfrm>
          <a:prstGeom prst="rect">
            <a:avLst/>
          </a:prstGeom>
        </p:spPr>
      </p:pic>
      <p:pic>
        <p:nvPicPr>
          <p:cNvPr id="6" name="Picture 5"/>
          <p:cNvPicPr>
            <a:picLocks noChangeAspect="1"/>
          </p:cNvPicPr>
          <p:nvPr/>
        </p:nvPicPr>
        <p:blipFill>
          <a:blip r:embed="rId6"/>
          <a:stretch>
            <a:fillRect/>
          </a:stretch>
        </p:blipFill>
        <p:spPr>
          <a:xfrm>
            <a:off x="5398686" y="1630370"/>
            <a:ext cx="3208302" cy="4778323"/>
          </a:xfrm>
          <a:prstGeom prst="rect">
            <a:avLst/>
          </a:prstGeom>
        </p:spPr>
      </p:pic>
      <p:pic>
        <p:nvPicPr>
          <p:cNvPr id="7" name="Picture 6"/>
          <p:cNvPicPr>
            <a:picLocks noChangeAspect="1"/>
          </p:cNvPicPr>
          <p:nvPr/>
        </p:nvPicPr>
        <p:blipFill>
          <a:blip r:embed="rId7"/>
          <a:stretch>
            <a:fillRect/>
          </a:stretch>
        </p:blipFill>
        <p:spPr>
          <a:xfrm>
            <a:off x="2741418" y="3404843"/>
            <a:ext cx="3214981" cy="3214981"/>
          </a:xfrm>
          <a:prstGeom prst="rect">
            <a:avLst/>
          </a:prstGeom>
        </p:spPr>
      </p:pic>
      <p:pic>
        <p:nvPicPr>
          <p:cNvPr id="8" name="Picture 7"/>
          <p:cNvPicPr>
            <a:picLocks noChangeAspect="1"/>
          </p:cNvPicPr>
          <p:nvPr/>
        </p:nvPicPr>
        <p:blipFill>
          <a:blip r:embed="rId8"/>
          <a:stretch>
            <a:fillRect/>
          </a:stretch>
        </p:blipFill>
        <p:spPr>
          <a:xfrm>
            <a:off x="454822" y="4105224"/>
            <a:ext cx="3175000" cy="2514600"/>
          </a:xfrm>
          <a:prstGeom prst="rect">
            <a:avLst/>
          </a:prstGeom>
        </p:spPr>
      </p:pic>
    </p:spTree>
    <p:extLst>
      <p:ext uri="{BB962C8B-B14F-4D97-AF65-F5344CB8AC3E}">
        <p14:creationId xmlns:p14="http://schemas.microsoft.com/office/powerpoint/2010/main" xmlns="" val="40477169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aterfall.jpe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130778" y="1527669"/>
            <a:ext cx="5080000" cy="4000500"/>
          </a:xfrm>
          <a:prstGeom prst="rect">
            <a:avLst/>
          </a:prstGeom>
        </p:spPr>
      </p:pic>
    </p:spTree>
    <p:extLst>
      <p:ext uri="{BB962C8B-B14F-4D97-AF65-F5344CB8AC3E}">
        <p14:creationId xmlns:p14="http://schemas.microsoft.com/office/powerpoint/2010/main" xmlns="" val="26531408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trategic-thinking-business-planning.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539895" y="1460727"/>
            <a:ext cx="3978146" cy="3889743"/>
          </a:xfrm>
          <a:prstGeom prst="rect">
            <a:avLst/>
          </a:prstGeom>
        </p:spPr>
      </p:pic>
    </p:spTree>
    <p:extLst>
      <p:ext uri="{BB962C8B-B14F-4D97-AF65-F5344CB8AC3E}">
        <p14:creationId xmlns:p14="http://schemas.microsoft.com/office/powerpoint/2010/main" xmlns="" val="9426042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264854" y="2943690"/>
            <a:ext cx="2839639" cy="3747629"/>
          </a:xfrm>
          <a:prstGeom prst="rect">
            <a:avLst/>
          </a:prstGeom>
        </p:spPr>
      </p:pic>
      <p:pic>
        <p:nvPicPr>
          <p:cNvPr id="3" name="Picture 2" descr="trade2.gif"/>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264687" y="848281"/>
            <a:ext cx="8372967" cy="2826886"/>
          </a:xfrm>
          <a:prstGeom prst="rect">
            <a:avLst/>
          </a:prstGeom>
        </p:spPr>
      </p:pic>
      <p:cxnSp>
        <p:nvCxnSpPr>
          <p:cNvPr id="6" name="Straight Connector 5"/>
          <p:cNvCxnSpPr/>
          <p:nvPr/>
        </p:nvCxnSpPr>
        <p:spPr>
          <a:xfrm flipV="1">
            <a:off x="264687" y="848281"/>
            <a:ext cx="3049084" cy="214193"/>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Freeform 6"/>
          <p:cNvSpPr/>
          <p:nvPr/>
        </p:nvSpPr>
        <p:spPr>
          <a:xfrm>
            <a:off x="3018086" y="297499"/>
            <a:ext cx="800604" cy="550782"/>
          </a:xfrm>
          <a:custGeom>
            <a:avLst/>
            <a:gdLst>
              <a:gd name="connsiteX0" fmla="*/ 265084 w 800604"/>
              <a:gd name="connsiteY0" fmla="*/ 550782 h 550782"/>
              <a:gd name="connsiteX1" fmla="*/ 494592 w 800604"/>
              <a:gd name="connsiteY1" fmla="*/ 305990 h 550782"/>
              <a:gd name="connsiteX2" fmla="*/ 173281 w 800604"/>
              <a:gd name="connsiteY2" fmla="*/ 76497 h 550782"/>
              <a:gd name="connsiteX3" fmla="*/ 4974 w 800604"/>
              <a:gd name="connsiteY3" fmla="*/ 382487 h 550782"/>
              <a:gd name="connsiteX4" fmla="*/ 356887 w 800604"/>
              <a:gd name="connsiteY4" fmla="*/ 397787 h 550782"/>
              <a:gd name="connsiteX5" fmla="*/ 800604 w 800604"/>
              <a:gd name="connsiteY5" fmla="*/ 0 h 550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0604" h="550782">
                <a:moveTo>
                  <a:pt x="265084" y="550782"/>
                </a:moveTo>
                <a:cubicBezTo>
                  <a:pt x="387488" y="467909"/>
                  <a:pt x="509892" y="385037"/>
                  <a:pt x="494592" y="305990"/>
                </a:cubicBezTo>
                <a:cubicBezTo>
                  <a:pt x="479292" y="226943"/>
                  <a:pt x="254884" y="63747"/>
                  <a:pt x="173281" y="76497"/>
                </a:cubicBezTo>
                <a:cubicBezTo>
                  <a:pt x="91678" y="89247"/>
                  <a:pt x="-25627" y="328939"/>
                  <a:pt x="4974" y="382487"/>
                </a:cubicBezTo>
                <a:cubicBezTo>
                  <a:pt x="35575" y="436035"/>
                  <a:pt x="224282" y="461535"/>
                  <a:pt x="356887" y="397787"/>
                </a:cubicBezTo>
                <a:cubicBezTo>
                  <a:pt x="489492" y="334039"/>
                  <a:pt x="800604" y="0"/>
                  <a:pt x="800604" y="0"/>
                </a:cubicBezTo>
              </a:path>
            </a:pathLst>
          </a:custGeom>
          <a:ln w="635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818786" y="66666"/>
            <a:ext cx="1839716" cy="461665"/>
          </a:xfrm>
          <a:prstGeom prst="rect">
            <a:avLst/>
          </a:prstGeom>
          <a:noFill/>
        </p:spPr>
        <p:txBody>
          <a:bodyPr wrap="none" rtlCol="0">
            <a:spAutoFit/>
          </a:bodyPr>
          <a:lstStyle/>
          <a:p>
            <a:r>
              <a:rPr lang="en-US" sz="2400" b="1" dirty="0" err="1" smtClean="0">
                <a:solidFill>
                  <a:srgbClr val="FF0000"/>
                </a:solidFill>
              </a:rPr>
              <a:t>Infosec</a:t>
            </a:r>
            <a:r>
              <a:rPr lang="en-US" sz="2400" b="1" dirty="0" smtClean="0">
                <a:solidFill>
                  <a:srgbClr val="FF0000"/>
                </a:solidFill>
              </a:rPr>
              <a:t> COTS</a:t>
            </a:r>
            <a:endParaRPr lang="en-US" sz="2400" b="1" dirty="0">
              <a:solidFill>
                <a:srgbClr val="FF0000"/>
              </a:solidFill>
            </a:endParaRPr>
          </a:p>
        </p:txBody>
      </p:sp>
    </p:spTree>
    <p:extLst>
      <p:ext uri="{BB962C8B-B14F-4D97-AF65-F5344CB8AC3E}">
        <p14:creationId xmlns:p14="http://schemas.microsoft.com/office/powerpoint/2010/main" xmlns="" val="34139658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per.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415842" y="919148"/>
            <a:ext cx="3950893" cy="5048363"/>
          </a:xfrm>
          <a:prstGeom prst="rect">
            <a:avLst/>
          </a:prstGeom>
        </p:spPr>
      </p:pic>
    </p:spTree>
    <p:extLst>
      <p:ext uri="{BB962C8B-B14F-4D97-AF65-F5344CB8AC3E}">
        <p14:creationId xmlns:p14="http://schemas.microsoft.com/office/powerpoint/2010/main" xmlns="" val="26928680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oodbeer.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607312" y="652443"/>
            <a:ext cx="3786436" cy="5691413"/>
          </a:xfrm>
          <a:prstGeom prst="rect">
            <a:avLst/>
          </a:prstGeom>
        </p:spPr>
      </p:pic>
    </p:spTree>
    <p:extLst>
      <p:ext uri="{BB962C8B-B14F-4D97-AF65-F5344CB8AC3E}">
        <p14:creationId xmlns:p14="http://schemas.microsoft.com/office/powerpoint/2010/main" xmlns="" val="18771130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srcRect l="18325" r="19895" b="59374"/>
          <a:stretch/>
        </p:blipFill>
        <p:spPr>
          <a:xfrm>
            <a:off x="1599418" y="682335"/>
            <a:ext cx="5956941" cy="5540985"/>
          </a:xfrm>
          <a:prstGeom prst="rect">
            <a:avLst/>
          </a:prstGeom>
        </p:spPr>
      </p:pic>
    </p:spTree>
    <p:extLst>
      <p:ext uri="{BB962C8B-B14F-4D97-AF65-F5344CB8AC3E}">
        <p14:creationId xmlns:p14="http://schemas.microsoft.com/office/powerpoint/2010/main" xmlns="" val="30057930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t="19636" r="17257" b="25753"/>
          <a:stretch/>
        </p:blipFill>
        <p:spPr>
          <a:xfrm>
            <a:off x="0" y="8088"/>
            <a:ext cx="2721654" cy="1345521"/>
          </a:xfrm>
          <a:prstGeom prst="rect">
            <a:avLst/>
          </a:prstGeom>
        </p:spPr>
      </p:pic>
      <p:pic>
        <p:nvPicPr>
          <p:cNvPr id="4" name="Picture 3" descr="nisp.png"/>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1051279" y="1308252"/>
            <a:ext cx="7196667" cy="5053128"/>
          </a:xfrm>
          <a:prstGeom prst="rect">
            <a:avLst/>
          </a:prstGeom>
          <a:ln>
            <a:solidFill>
              <a:schemeClr val="tx2"/>
            </a:solidFill>
          </a:ln>
        </p:spPr>
      </p:pic>
      <p:cxnSp>
        <p:nvCxnSpPr>
          <p:cNvPr id="13" name="Straight Connector 12"/>
          <p:cNvCxnSpPr/>
          <p:nvPr/>
        </p:nvCxnSpPr>
        <p:spPr>
          <a:xfrm flipV="1">
            <a:off x="2964778" y="1785167"/>
            <a:ext cx="756015" cy="166301"/>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918218" y="1754917"/>
            <a:ext cx="756015" cy="210438"/>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229121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00781" y="834462"/>
            <a:ext cx="6741436" cy="5222239"/>
          </a:xfrm>
          <a:prstGeom prst="rect">
            <a:avLst/>
          </a:prstGeom>
        </p:spPr>
      </p:pic>
    </p:spTree>
    <p:extLst>
      <p:ext uri="{BB962C8B-B14F-4D97-AF65-F5344CB8AC3E}">
        <p14:creationId xmlns:p14="http://schemas.microsoft.com/office/powerpoint/2010/main" xmlns="" val="2958102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22105" y="226773"/>
            <a:ext cx="7635800" cy="6440359"/>
          </a:xfrm>
          <a:prstGeom prst="rect">
            <a:avLst/>
          </a:prstGeom>
        </p:spPr>
      </p:pic>
    </p:spTree>
    <p:extLst>
      <p:ext uri="{BB962C8B-B14F-4D97-AF65-F5344CB8AC3E}">
        <p14:creationId xmlns:p14="http://schemas.microsoft.com/office/powerpoint/2010/main" xmlns="" val="14288353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p:txBody>
          <a:bodyPr>
            <a:normAutofit fontScale="77500" lnSpcReduction="20000"/>
          </a:bodyPr>
          <a:lstStyle/>
          <a:p>
            <a:r>
              <a:rPr lang="en-US" dirty="0"/>
              <a:t>PHP Security</a:t>
            </a:r>
          </a:p>
          <a:p>
            <a:pPr lvl="1"/>
            <a:r>
              <a:rPr lang="en-US" dirty="0" smtClean="0"/>
              <a:t>PHP </a:t>
            </a:r>
            <a:r>
              <a:rPr lang="en-US" dirty="0"/>
              <a:t>Overview</a:t>
            </a:r>
          </a:p>
          <a:p>
            <a:pPr lvl="1"/>
            <a:r>
              <a:rPr lang="en-US" dirty="0" smtClean="0"/>
              <a:t>Known </a:t>
            </a:r>
            <a:r>
              <a:rPr lang="en-US" dirty="0"/>
              <a:t>Issues</a:t>
            </a:r>
          </a:p>
          <a:p>
            <a:pPr lvl="1"/>
            <a:r>
              <a:rPr lang="en-US" dirty="0" smtClean="0"/>
              <a:t>Security Features</a:t>
            </a:r>
            <a:endParaRPr lang="en-US" dirty="0"/>
          </a:p>
          <a:p>
            <a:r>
              <a:rPr lang="en-US" dirty="0" smtClean="0"/>
              <a:t>Detecting Attacks</a:t>
            </a:r>
            <a:endParaRPr lang="en-US" dirty="0"/>
          </a:p>
          <a:p>
            <a:pPr lvl="1"/>
            <a:r>
              <a:rPr lang="en-US" dirty="0" smtClean="0"/>
              <a:t>PHPIDS Overview</a:t>
            </a:r>
            <a:endParaRPr lang="en-US" dirty="0"/>
          </a:p>
          <a:p>
            <a:pPr lvl="1"/>
            <a:r>
              <a:rPr lang="en-US" dirty="0" smtClean="0"/>
              <a:t>Operations </a:t>
            </a:r>
            <a:r>
              <a:rPr lang="en-US" dirty="0"/>
              <a:t>&amp; </a:t>
            </a:r>
            <a:r>
              <a:rPr lang="en-US" dirty="0" smtClean="0"/>
              <a:t>Maintenance</a:t>
            </a:r>
            <a:endParaRPr lang="en-US" dirty="0"/>
          </a:p>
          <a:p>
            <a:r>
              <a:rPr lang="en-US" dirty="0"/>
              <a:t>Handling PHP in Your Environment</a:t>
            </a:r>
          </a:p>
          <a:p>
            <a:pPr lvl="1"/>
            <a:r>
              <a:rPr lang="en-US" dirty="0" smtClean="0"/>
              <a:t>Risks Management</a:t>
            </a:r>
            <a:endParaRPr lang="en-US" dirty="0"/>
          </a:p>
          <a:p>
            <a:pPr lvl="1"/>
            <a:r>
              <a:rPr lang="en-US" dirty="0" smtClean="0"/>
              <a:t>PHP Mitigations</a:t>
            </a:r>
            <a:endParaRPr lang="en-US" dirty="0"/>
          </a:p>
          <a:p>
            <a:pPr lvl="1"/>
            <a:r>
              <a:rPr lang="en-US" dirty="0" smtClean="0"/>
              <a:t>Platform</a:t>
            </a:r>
            <a:r>
              <a:rPr lang="en-US" dirty="0"/>
              <a:t>/Network </a:t>
            </a:r>
            <a:r>
              <a:rPr lang="en-US" dirty="0" smtClean="0"/>
              <a:t>Mitigations</a:t>
            </a:r>
            <a:endParaRPr lang="en-US" dirty="0"/>
          </a:p>
          <a:p>
            <a:r>
              <a:rPr lang="en-US" dirty="0" smtClean="0"/>
              <a:t>General Thoughts</a:t>
            </a:r>
          </a:p>
          <a:p>
            <a:endParaRPr lang="en-US" dirty="0" smtClean="0"/>
          </a:p>
          <a:p>
            <a:pPr lvl="1"/>
            <a:endParaRPr lang="en-US" dirty="0"/>
          </a:p>
        </p:txBody>
      </p:sp>
    </p:spTree>
    <p:extLst>
      <p:ext uri="{BB962C8B-B14F-4D97-AF65-F5344CB8AC3E}">
        <p14:creationId xmlns:p14="http://schemas.microsoft.com/office/powerpoint/2010/main" xmlns="" val="19290393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Security</a:t>
            </a:r>
            <a:endParaRPr lang="en-US" dirty="0"/>
          </a:p>
        </p:txBody>
      </p:sp>
      <p:sp>
        <p:nvSpPr>
          <p:cNvPr id="3" name="Content Placeholder 2"/>
          <p:cNvSpPr>
            <a:spLocks noGrp="1"/>
          </p:cNvSpPr>
          <p:nvPr>
            <p:ph idx="1"/>
          </p:nvPr>
        </p:nvSpPr>
        <p:spPr/>
        <p:txBody>
          <a:bodyPr/>
          <a:lstStyle/>
          <a:p>
            <a:r>
              <a:rPr lang="en-US" dirty="0" smtClean="0"/>
              <a:t>PHP Overview</a:t>
            </a:r>
          </a:p>
          <a:p>
            <a:r>
              <a:rPr lang="en-US" dirty="0" smtClean="0"/>
              <a:t>Known Issues</a:t>
            </a:r>
          </a:p>
          <a:p>
            <a:r>
              <a:rPr lang="en-US" dirty="0" smtClean="0"/>
              <a:t>“Standard” Practices</a:t>
            </a:r>
            <a:endParaRPr lang="en-US" dirty="0"/>
          </a:p>
        </p:txBody>
      </p:sp>
    </p:spTree>
    <p:extLst>
      <p:ext uri="{BB962C8B-B14F-4D97-AF65-F5344CB8AC3E}">
        <p14:creationId xmlns:p14="http://schemas.microsoft.com/office/powerpoint/2010/main" xmlns="" val="3799225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PHP Security</a:t>
            </a:r>
            <a:br>
              <a:rPr lang="en-US" dirty="0" smtClean="0"/>
            </a:br>
            <a:r>
              <a:rPr lang="en-US" sz="3600" dirty="0" smtClean="0"/>
              <a:t>PHP Overview</a:t>
            </a:r>
            <a:endParaRPr lang="en-US" sz="3600" dirty="0"/>
          </a:p>
        </p:txBody>
      </p:sp>
      <p:sp>
        <p:nvSpPr>
          <p:cNvPr id="3" name="Content Placeholder 2"/>
          <p:cNvSpPr>
            <a:spLocks noGrp="1"/>
          </p:cNvSpPr>
          <p:nvPr>
            <p:ph idx="1"/>
          </p:nvPr>
        </p:nvSpPr>
        <p:spPr/>
        <p:txBody>
          <a:bodyPr>
            <a:normAutofit lnSpcReduction="10000"/>
          </a:bodyPr>
          <a:lstStyle/>
          <a:p>
            <a:r>
              <a:rPr lang="en-US" dirty="0" err="1" smtClean="0"/>
              <a:t>Rasmus</a:t>
            </a:r>
            <a:r>
              <a:rPr lang="en-US" dirty="0" smtClean="0"/>
              <a:t> </a:t>
            </a:r>
            <a:r>
              <a:rPr lang="en-US" dirty="0" err="1" smtClean="0"/>
              <a:t>Lerdorf</a:t>
            </a:r>
            <a:r>
              <a:rPr lang="en-US" dirty="0" smtClean="0"/>
              <a:t> (1995)</a:t>
            </a:r>
          </a:p>
          <a:p>
            <a:pPr lvl="1"/>
            <a:r>
              <a:rPr lang="en-US" dirty="0" smtClean="0"/>
              <a:t>"Personal Home Page”</a:t>
            </a:r>
          </a:p>
          <a:p>
            <a:r>
              <a:rPr lang="en-US" dirty="0" smtClean="0"/>
              <a:t>Background</a:t>
            </a:r>
          </a:p>
          <a:p>
            <a:pPr lvl="1"/>
            <a:r>
              <a:rPr lang="en-US" dirty="0" smtClean="0"/>
              <a:t>General-Purpose Server-Side Scripting Language</a:t>
            </a:r>
          </a:p>
          <a:p>
            <a:pPr lvl="1"/>
            <a:r>
              <a:rPr lang="en-US" dirty="0" smtClean="0"/>
              <a:t>Web Development -&gt; Dynamic </a:t>
            </a:r>
            <a:r>
              <a:rPr lang="en-US" dirty="0"/>
              <a:t>Web </a:t>
            </a:r>
            <a:r>
              <a:rPr lang="en-US" dirty="0" smtClean="0"/>
              <a:t>Pages</a:t>
            </a:r>
          </a:p>
          <a:p>
            <a:pPr lvl="1"/>
            <a:r>
              <a:rPr lang="en-US" dirty="0" smtClean="0"/>
              <a:t>Interpreted</a:t>
            </a:r>
          </a:p>
          <a:p>
            <a:pPr lvl="1"/>
            <a:r>
              <a:rPr lang="en-US" dirty="0" smtClean="0"/>
              <a:t>Free / Open Source</a:t>
            </a:r>
          </a:p>
          <a:p>
            <a:r>
              <a:rPr lang="en-US" dirty="0" smtClean="0"/>
              <a:t>The </a:t>
            </a:r>
            <a:r>
              <a:rPr lang="en-US" dirty="0"/>
              <a:t>PHP </a:t>
            </a:r>
            <a:r>
              <a:rPr lang="en-US" dirty="0" smtClean="0"/>
              <a:t>Group</a:t>
            </a:r>
            <a:endParaRPr lang="en-US" dirty="0"/>
          </a:p>
          <a:p>
            <a:pPr lvl="1"/>
            <a:r>
              <a:rPr lang="en-US" dirty="0"/>
              <a:t>"PHP: Hypertext Preprocessor"</a:t>
            </a:r>
          </a:p>
        </p:txBody>
      </p:sp>
    </p:spTree>
    <p:extLst>
      <p:ext uri="{BB962C8B-B14F-4D97-AF65-F5344CB8AC3E}">
        <p14:creationId xmlns:p14="http://schemas.microsoft.com/office/powerpoint/2010/main" xmlns="" val="4058209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t="9360"/>
          <a:stretch/>
        </p:blipFill>
        <p:spPr>
          <a:xfrm>
            <a:off x="640025" y="2111430"/>
            <a:ext cx="4203700" cy="3580038"/>
          </a:xfrm>
          <a:prstGeom prst="rect">
            <a:avLst/>
          </a:prstGeom>
        </p:spPr>
      </p:pic>
      <p:sp>
        <p:nvSpPr>
          <p:cNvPr id="2" name="Title 1"/>
          <p:cNvSpPr>
            <a:spLocks noGrp="1"/>
          </p:cNvSpPr>
          <p:nvPr>
            <p:ph type="title"/>
          </p:nvPr>
        </p:nvSpPr>
        <p:spPr/>
        <p:txBody>
          <a:bodyPr>
            <a:normAutofit fontScale="90000"/>
          </a:bodyPr>
          <a:lstStyle/>
          <a:p>
            <a:r>
              <a:rPr lang="en-US" dirty="0" smtClean="0"/>
              <a:t>PHP Security</a:t>
            </a:r>
            <a:br>
              <a:rPr lang="en-US" dirty="0" smtClean="0"/>
            </a:br>
            <a:r>
              <a:rPr lang="en-US" sz="3600" dirty="0" smtClean="0"/>
              <a:t>PHP Overview</a:t>
            </a:r>
            <a:endParaRPr lang="en-US" sz="3600" dirty="0"/>
          </a:p>
        </p:txBody>
      </p:sp>
      <p:pic>
        <p:nvPicPr>
          <p:cNvPr id="4" name="Picture 3" descr="nisp.png"/>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1764885" y="3167957"/>
            <a:ext cx="1880349" cy="1320285"/>
          </a:xfrm>
          <a:prstGeom prst="rect">
            <a:avLst/>
          </a:prstGeom>
          <a:ln>
            <a:solidFill>
              <a:schemeClr val="tx2"/>
            </a:solidFill>
          </a:ln>
        </p:spPr>
      </p:pic>
      <p:pic>
        <p:nvPicPr>
          <p:cNvPr id="7" name="Picture 6"/>
          <p:cNvPicPr>
            <a:picLocks noChangeAspect="1"/>
          </p:cNvPicPr>
          <p:nvPr/>
        </p:nvPicPr>
        <p:blipFill>
          <a:blip r:embed="rId5"/>
          <a:stretch>
            <a:fillRect/>
          </a:stretch>
        </p:blipFill>
        <p:spPr>
          <a:xfrm>
            <a:off x="5107629" y="3568151"/>
            <a:ext cx="3748047" cy="2870215"/>
          </a:xfrm>
          <a:prstGeom prst="rect">
            <a:avLst/>
          </a:prstGeom>
        </p:spPr>
      </p:pic>
      <p:pic>
        <p:nvPicPr>
          <p:cNvPr id="8" name="Picture 7"/>
          <p:cNvPicPr>
            <a:picLocks noChangeAspect="1"/>
          </p:cNvPicPr>
          <p:nvPr/>
        </p:nvPicPr>
        <p:blipFill>
          <a:blip r:embed="rId6"/>
          <a:stretch>
            <a:fillRect/>
          </a:stretch>
        </p:blipFill>
        <p:spPr>
          <a:xfrm>
            <a:off x="5339126" y="885084"/>
            <a:ext cx="3208209" cy="2406157"/>
          </a:xfrm>
          <a:prstGeom prst="rect">
            <a:avLst/>
          </a:prstGeom>
        </p:spPr>
      </p:pic>
    </p:spTree>
    <p:extLst>
      <p:ext uri="{BB962C8B-B14F-4D97-AF65-F5344CB8AC3E}">
        <p14:creationId xmlns:p14="http://schemas.microsoft.com/office/powerpoint/2010/main" xmlns="" val="4192856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PHP Security</a:t>
            </a:r>
            <a:br>
              <a:rPr lang="en-US" dirty="0" smtClean="0"/>
            </a:br>
            <a:r>
              <a:rPr lang="en-US" sz="3600" dirty="0" smtClean="0"/>
              <a:t>Known Issues</a:t>
            </a:r>
            <a:endParaRPr lang="en-US" sz="3600" dirty="0"/>
          </a:p>
        </p:txBody>
      </p:sp>
      <p:sp>
        <p:nvSpPr>
          <p:cNvPr id="3" name="Content Placeholder 2"/>
          <p:cNvSpPr>
            <a:spLocks noGrp="1"/>
          </p:cNvSpPr>
          <p:nvPr>
            <p:ph idx="1"/>
          </p:nvPr>
        </p:nvSpPr>
        <p:spPr/>
        <p:txBody>
          <a:bodyPr>
            <a:normAutofit/>
          </a:bodyPr>
          <a:lstStyle/>
          <a:p>
            <a:r>
              <a:rPr lang="en-US" dirty="0" smtClean="0"/>
              <a:t>History - PHP’s </a:t>
            </a:r>
            <a:r>
              <a:rPr lang="en-US" dirty="0"/>
              <a:t>Bad Security Rap</a:t>
            </a:r>
          </a:p>
          <a:p>
            <a:pPr lvl="1"/>
            <a:r>
              <a:rPr lang="en-US" dirty="0" smtClean="0"/>
              <a:t>Insecure Configurations</a:t>
            </a:r>
          </a:p>
          <a:p>
            <a:pPr lvl="2"/>
            <a:r>
              <a:rPr lang="en-US" dirty="0" err="1"/>
              <a:t>r</a:t>
            </a:r>
            <a:r>
              <a:rPr lang="en-US" dirty="0" err="1" smtClean="0"/>
              <a:t>egister_globals</a:t>
            </a:r>
            <a:r>
              <a:rPr lang="en-US" dirty="0" smtClean="0"/>
              <a:t> </a:t>
            </a:r>
            <a:r>
              <a:rPr lang="en-US" dirty="0"/>
              <a:t>not </a:t>
            </a:r>
            <a:r>
              <a:rPr lang="en-US" dirty="0" smtClean="0"/>
              <a:t>Disabled by Default</a:t>
            </a:r>
          </a:p>
          <a:p>
            <a:pPr lvl="1"/>
            <a:r>
              <a:rPr lang="en-US" dirty="0" smtClean="0"/>
              <a:t>Doesn't Force Type Definition</a:t>
            </a:r>
          </a:p>
          <a:p>
            <a:pPr lvl="2"/>
            <a:r>
              <a:rPr lang="en-US" dirty="0"/>
              <a:t>G</a:t>
            </a:r>
            <a:r>
              <a:rPr lang="en-US" dirty="0" smtClean="0"/>
              <a:t>ood Practice to Always Define</a:t>
            </a:r>
          </a:p>
          <a:p>
            <a:pPr lvl="2"/>
            <a:r>
              <a:rPr lang="en-US" dirty="0" smtClean="0"/>
              <a:t>Still … Variables </a:t>
            </a:r>
            <a:r>
              <a:rPr lang="en-US" dirty="0"/>
              <a:t>Don’t Have to Be </a:t>
            </a:r>
            <a:r>
              <a:rPr lang="en-US" dirty="0" smtClean="0"/>
              <a:t>Initialized</a:t>
            </a:r>
          </a:p>
          <a:p>
            <a:pPr lvl="1"/>
            <a:r>
              <a:rPr lang="en-US" dirty="0" smtClean="0"/>
              <a:t>Easy Initial Learning Curve</a:t>
            </a:r>
          </a:p>
          <a:p>
            <a:pPr lvl="2"/>
            <a:r>
              <a:rPr lang="en-US" dirty="0" err="1" smtClean="0"/>
              <a:t>Noobs</a:t>
            </a:r>
            <a:r>
              <a:rPr lang="en-US" dirty="0" smtClean="0"/>
              <a:t> More Likely to Generate Insecure Code</a:t>
            </a:r>
          </a:p>
          <a:p>
            <a:pPr lvl="1"/>
            <a:r>
              <a:rPr lang="en-US" dirty="0" smtClean="0"/>
              <a:t>Widely Deployed so Good Target</a:t>
            </a:r>
          </a:p>
        </p:txBody>
      </p:sp>
    </p:spTree>
    <p:extLst>
      <p:ext uri="{BB962C8B-B14F-4D97-AF65-F5344CB8AC3E}">
        <p14:creationId xmlns:p14="http://schemas.microsoft.com/office/powerpoint/2010/main" xmlns="" val="2606784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PHP Security</a:t>
            </a:r>
            <a:br>
              <a:rPr lang="en-US" dirty="0" smtClean="0"/>
            </a:br>
            <a:r>
              <a:rPr lang="en-US" sz="3600" dirty="0" smtClean="0"/>
              <a:t>“Standard” Practices</a:t>
            </a:r>
            <a:endParaRPr lang="en-US" sz="3600" dirty="0"/>
          </a:p>
        </p:txBody>
      </p:sp>
      <p:sp>
        <p:nvSpPr>
          <p:cNvPr id="3" name="Content Placeholder 2"/>
          <p:cNvSpPr>
            <a:spLocks noGrp="1"/>
          </p:cNvSpPr>
          <p:nvPr>
            <p:ph idx="1"/>
          </p:nvPr>
        </p:nvSpPr>
        <p:spPr/>
        <p:txBody>
          <a:bodyPr/>
          <a:lstStyle/>
          <a:p>
            <a:r>
              <a:rPr lang="en-US" dirty="0"/>
              <a:t>PHP Security </a:t>
            </a:r>
            <a:r>
              <a:rPr lang="en-US" dirty="0" smtClean="0"/>
              <a:t>“Standard” Practices</a:t>
            </a:r>
            <a:endParaRPr lang="en-US" dirty="0"/>
          </a:p>
          <a:p>
            <a:pPr lvl="1"/>
            <a:r>
              <a:rPr lang="en-US" dirty="0" smtClean="0"/>
              <a:t>25 </a:t>
            </a:r>
            <a:r>
              <a:rPr lang="en-US" dirty="0"/>
              <a:t>PHP Security Best Practices For Sys </a:t>
            </a:r>
            <a:r>
              <a:rPr lang="en-US" dirty="0" smtClean="0"/>
              <a:t>Admins</a:t>
            </a:r>
          </a:p>
          <a:p>
            <a:pPr lvl="1"/>
            <a:r>
              <a:rPr lang="en-US" dirty="0"/>
              <a:t>OWASP PHP Top </a:t>
            </a:r>
            <a:r>
              <a:rPr lang="en-US" dirty="0" smtClean="0"/>
              <a:t>5</a:t>
            </a:r>
          </a:p>
        </p:txBody>
      </p:sp>
    </p:spTree>
    <p:extLst>
      <p:ext uri="{BB962C8B-B14F-4D97-AF65-F5344CB8AC3E}">
        <p14:creationId xmlns:p14="http://schemas.microsoft.com/office/powerpoint/2010/main" xmlns="" val="18790227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PHP Security </a:t>
            </a:r>
            <a:r>
              <a:rPr lang="en-US" dirty="0" smtClean="0"/>
              <a:t>“Standard” Practices</a:t>
            </a:r>
            <a:br>
              <a:rPr lang="en-US" dirty="0" smtClean="0"/>
            </a:br>
            <a:r>
              <a:rPr lang="en-US" sz="3600" dirty="0" smtClean="0"/>
              <a:t>25 </a:t>
            </a:r>
            <a:r>
              <a:rPr lang="en-US" sz="3600" dirty="0"/>
              <a:t>PHP Security Best </a:t>
            </a:r>
            <a:r>
              <a:rPr lang="en-US" sz="3600" dirty="0" smtClean="0"/>
              <a:t>Practices</a:t>
            </a:r>
            <a:endParaRPr lang="en-US" sz="3600" dirty="0"/>
          </a:p>
        </p:txBody>
      </p:sp>
      <p:sp>
        <p:nvSpPr>
          <p:cNvPr id="3" name="Content Placeholder 2"/>
          <p:cNvSpPr>
            <a:spLocks noGrp="1"/>
          </p:cNvSpPr>
          <p:nvPr>
            <p:ph idx="1"/>
          </p:nvPr>
        </p:nvSpPr>
        <p:spPr/>
        <p:txBody>
          <a:bodyPr>
            <a:normAutofit fontScale="77500" lnSpcReduction="20000"/>
          </a:bodyPr>
          <a:lstStyle/>
          <a:p>
            <a:r>
              <a:rPr lang="en-US" dirty="0" smtClean="0"/>
              <a:t>#</a:t>
            </a:r>
            <a:r>
              <a:rPr lang="en-US" dirty="0"/>
              <a:t>3: Restrict PHP Information Leakage</a:t>
            </a:r>
          </a:p>
          <a:p>
            <a:r>
              <a:rPr lang="en-US" dirty="0" smtClean="0"/>
              <a:t>#</a:t>
            </a:r>
            <a:r>
              <a:rPr lang="en-US" dirty="0"/>
              <a:t>4: Minimize Loadable PHP Modules (Dynamic Extensions)</a:t>
            </a:r>
          </a:p>
          <a:p>
            <a:r>
              <a:rPr lang="en-US" dirty="0" smtClean="0"/>
              <a:t>#</a:t>
            </a:r>
            <a:r>
              <a:rPr lang="en-US" dirty="0"/>
              <a:t>5: Log All PHP Errors</a:t>
            </a:r>
          </a:p>
          <a:p>
            <a:r>
              <a:rPr lang="en-US" dirty="0" smtClean="0"/>
              <a:t>#</a:t>
            </a:r>
            <a:r>
              <a:rPr lang="en-US" dirty="0"/>
              <a:t>8: Enable SQL Safe </a:t>
            </a:r>
            <a:r>
              <a:rPr lang="en-US" dirty="0" smtClean="0"/>
              <a:t>Mode</a:t>
            </a:r>
          </a:p>
          <a:p>
            <a:r>
              <a:rPr lang="en-US" b="1" dirty="0"/>
              <a:t>#11: Install </a:t>
            </a:r>
            <a:r>
              <a:rPr lang="en-US" b="1" dirty="0" err="1"/>
              <a:t>Suhosin</a:t>
            </a:r>
            <a:r>
              <a:rPr lang="en-US" b="1" dirty="0"/>
              <a:t> Advanced Protection System for PHP</a:t>
            </a:r>
          </a:p>
          <a:p>
            <a:r>
              <a:rPr lang="en-US" dirty="0"/>
              <a:t>#12 Disabling Dangerous PHP </a:t>
            </a:r>
            <a:r>
              <a:rPr lang="en-US" dirty="0" smtClean="0"/>
              <a:t>Functions</a:t>
            </a:r>
          </a:p>
          <a:p>
            <a:r>
              <a:rPr lang="en-US" dirty="0"/>
              <a:t>#15 Limit PHP Access To File </a:t>
            </a:r>
            <a:r>
              <a:rPr lang="en-US" dirty="0" smtClean="0"/>
              <a:t>System</a:t>
            </a:r>
          </a:p>
          <a:p>
            <a:r>
              <a:rPr lang="en-US" dirty="0"/>
              <a:t>#17 Keep PHP, Software, And OS Up to </a:t>
            </a:r>
            <a:r>
              <a:rPr lang="en-US" dirty="0" smtClean="0"/>
              <a:t>Date</a:t>
            </a:r>
          </a:p>
          <a:p>
            <a:r>
              <a:rPr lang="en-US" b="1" dirty="0"/>
              <a:t>#24 Watch Your Logs &amp; Auditing</a:t>
            </a:r>
            <a:endParaRPr lang="en-US" b="1" dirty="0" smtClean="0"/>
          </a:p>
          <a:p>
            <a:r>
              <a:rPr lang="en-US" dirty="0"/>
              <a:t>Bonus</a:t>
            </a:r>
          </a:p>
          <a:p>
            <a:pPr lvl="1"/>
            <a:r>
              <a:rPr lang="en-US" b="1" dirty="0"/>
              <a:t>PHPIDS</a:t>
            </a:r>
          </a:p>
          <a:p>
            <a:pPr lvl="1"/>
            <a:r>
              <a:rPr lang="en-US" b="1" dirty="0" err="1"/>
              <a:t>PhpSecInfo</a:t>
            </a:r>
            <a:r>
              <a:rPr lang="en-US" dirty="0"/>
              <a:t> (</a:t>
            </a:r>
            <a:r>
              <a:rPr lang="en-US" dirty="0" err="1"/>
              <a:t>phpinfo</a:t>
            </a:r>
            <a:r>
              <a:rPr lang="en-US" dirty="0"/>
              <a:t>()-like app</a:t>
            </a:r>
            <a:r>
              <a:rPr lang="en-US" dirty="0" smtClean="0"/>
              <a:t>)</a:t>
            </a:r>
            <a:endParaRPr lang="en-US" dirty="0"/>
          </a:p>
          <a:p>
            <a:endParaRPr lang="en-US" dirty="0"/>
          </a:p>
          <a:p>
            <a:endParaRPr lang="en-US" dirty="0" smtClean="0"/>
          </a:p>
          <a:p>
            <a:endParaRPr lang="en-US" dirty="0"/>
          </a:p>
        </p:txBody>
      </p:sp>
      <p:sp>
        <p:nvSpPr>
          <p:cNvPr id="4" name="TextBox 3"/>
          <p:cNvSpPr txBox="1"/>
          <p:nvPr/>
        </p:nvSpPr>
        <p:spPr>
          <a:xfrm>
            <a:off x="2526851" y="6070141"/>
            <a:ext cx="4317408" cy="461665"/>
          </a:xfrm>
          <a:prstGeom prst="rect">
            <a:avLst/>
          </a:prstGeom>
          <a:noFill/>
        </p:spPr>
        <p:txBody>
          <a:bodyPr wrap="none" rtlCol="0">
            <a:spAutoFit/>
          </a:bodyPr>
          <a:lstStyle/>
          <a:p>
            <a:pPr algn="ctr"/>
            <a:r>
              <a:rPr lang="en-US" sz="2400" b="1" dirty="0" smtClean="0"/>
              <a:t>Just a Selection of their Goodies</a:t>
            </a:r>
            <a:endParaRPr lang="en-US" sz="2400" b="1" dirty="0"/>
          </a:p>
        </p:txBody>
      </p:sp>
    </p:spTree>
    <p:extLst>
      <p:ext uri="{BB962C8B-B14F-4D97-AF65-F5344CB8AC3E}">
        <p14:creationId xmlns:p14="http://schemas.microsoft.com/office/powerpoint/2010/main" xmlns="" val="11111872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PHP Security “Standard” Practices</a:t>
            </a:r>
            <a:br>
              <a:rPr lang="en-US" dirty="0"/>
            </a:br>
            <a:r>
              <a:rPr lang="en-US" sz="3600" dirty="0"/>
              <a:t>25 PHP Security Best Practices</a:t>
            </a:r>
          </a:p>
        </p:txBody>
      </p:sp>
      <p:sp>
        <p:nvSpPr>
          <p:cNvPr id="3" name="Content Placeholder 2"/>
          <p:cNvSpPr>
            <a:spLocks noGrp="1"/>
          </p:cNvSpPr>
          <p:nvPr>
            <p:ph idx="1"/>
          </p:nvPr>
        </p:nvSpPr>
        <p:spPr/>
        <p:txBody>
          <a:bodyPr>
            <a:normAutofit fontScale="92500" lnSpcReduction="10000"/>
          </a:bodyPr>
          <a:lstStyle/>
          <a:p>
            <a:r>
              <a:rPr lang="en-US" dirty="0" err="1" smtClean="0"/>
              <a:t>Suhosin</a:t>
            </a:r>
            <a:endParaRPr lang="en-US" dirty="0" smtClean="0"/>
          </a:p>
          <a:p>
            <a:pPr lvl="1"/>
            <a:r>
              <a:rPr lang="en-US" dirty="0"/>
              <a:t>A</a:t>
            </a:r>
            <a:r>
              <a:rPr lang="en-US" dirty="0" smtClean="0"/>
              <a:t>dvanced Protection System </a:t>
            </a:r>
            <a:r>
              <a:rPr lang="en-US" dirty="0"/>
              <a:t>for PHP </a:t>
            </a:r>
            <a:r>
              <a:rPr lang="en-US" dirty="0" smtClean="0"/>
              <a:t>Installs</a:t>
            </a:r>
          </a:p>
          <a:p>
            <a:pPr lvl="1"/>
            <a:r>
              <a:rPr lang="en-US" dirty="0" smtClean="0"/>
              <a:t>Protects from Known/Unknown Flaws </a:t>
            </a:r>
            <a:r>
              <a:rPr lang="en-US" dirty="0"/>
              <a:t>in </a:t>
            </a:r>
            <a:r>
              <a:rPr lang="en-US" dirty="0" smtClean="0"/>
              <a:t>Apps/Core</a:t>
            </a:r>
          </a:p>
          <a:p>
            <a:pPr lvl="1"/>
            <a:r>
              <a:rPr lang="en-US" dirty="0" smtClean="0"/>
              <a:t>Module 1: PHP Core Patch</a:t>
            </a:r>
          </a:p>
          <a:p>
            <a:pPr lvl="2"/>
            <a:r>
              <a:rPr lang="en-US" dirty="0" smtClean="0"/>
              <a:t>Buffer Overflows</a:t>
            </a:r>
          </a:p>
          <a:p>
            <a:pPr lvl="2"/>
            <a:r>
              <a:rPr lang="en-US" dirty="0" smtClean="0"/>
              <a:t>Format String </a:t>
            </a:r>
            <a:r>
              <a:rPr lang="en-US" dirty="0" err="1" smtClean="0"/>
              <a:t>Vulns</a:t>
            </a:r>
            <a:endParaRPr lang="en-US" dirty="0" smtClean="0"/>
          </a:p>
          <a:p>
            <a:pPr lvl="1"/>
            <a:r>
              <a:rPr lang="en-US" dirty="0" smtClean="0"/>
              <a:t>Module 2: PHP Extension (~50 features)</a:t>
            </a:r>
          </a:p>
          <a:p>
            <a:pPr lvl="2"/>
            <a:r>
              <a:rPr lang="en-US" dirty="0" smtClean="0"/>
              <a:t>Runtime Protection</a:t>
            </a:r>
          </a:p>
          <a:p>
            <a:pPr lvl="2"/>
            <a:r>
              <a:rPr lang="en-US" dirty="0" smtClean="0"/>
              <a:t>Session Protection</a:t>
            </a:r>
          </a:p>
          <a:p>
            <a:pPr lvl="2"/>
            <a:r>
              <a:rPr lang="en-US" dirty="0" smtClean="0"/>
              <a:t>Filtering Features</a:t>
            </a:r>
          </a:p>
          <a:p>
            <a:pPr lvl="2"/>
            <a:r>
              <a:rPr lang="en-US" dirty="0" smtClean="0"/>
              <a:t>Logging Features</a:t>
            </a:r>
            <a:endParaRPr lang="en-US" dirty="0"/>
          </a:p>
        </p:txBody>
      </p:sp>
      <p:pic>
        <p:nvPicPr>
          <p:cNvPr id="4" name="Picture 3"/>
          <p:cNvPicPr>
            <a:picLocks noChangeAspect="1"/>
          </p:cNvPicPr>
          <p:nvPr/>
        </p:nvPicPr>
        <p:blipFill>
          <a:blip r:embed="rId3"/>
          <a:stretch>
            <a:fillRect/>
          </a:stretch>
        </p:blipFill>
        <p:spPr>
          <a:xfrm>
            <a:off x="5325973" y="5095842"/>
            <a:ext cx="2188066" cy="778803"/>
          </a:xfrm>
          <a:prstGeom prst="rect">
            <a:avLst/>
          </a:prstGeom>
        </p:spPr>
      </p:pic>
      <p:pic>
        <p:nvPicPr>
          <p:cNvPr id="5" name="Picture 4"/>
          <p:cNvPicPr>
            <a:picLocks noChangeAspect="1"/>
          </p:cNvPicPr>
          <p:nvPr/>
        </p:nvPicPr>
        <p:blipFill>
          <a:blip r:embed="rId4"/>
          <a:stretch>
            <a:fillRect/>
          </a:stretch>
        </p:blipFill>
        <p:spPr>
          <a:xfrm>
            <a:off x="4065847" y="6004515"/>
            <a:ext cx="4904978" cy="698364"/>
          </a:xfrm>
          <a:prstGeom prst="rect">
            <a:avLst/>
          </a:prstGeom>
        </p:spPr>
      </p:pic>
    </p:spTree>
    <p:extLst>
      <p:ext uri="{BB962C8B-B14F-4D97-AF65-F5344CB8AC3E}">
        <p14:creationId xmlns:p14="http://schemas.microsoft.com/office/powerpoint/2010/main" xmlns="" val="1207790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PHP Security </a:t>
            </a:r>
            <a:r>
              <a:rPr lang="en-US" dirty="0" smtClean="0"/>
              <a:t>“Standard” Practices</a:t>
            </a:r>
            <a:r>
              <a:rPr lang="en-US" dirty="0"/>
              <a:t/>
            </a:r>
            <a:br>
              <a:rPr lang="en-US" dirty="0"/>
            </a:br>
            <a:r>
              <a:rPr lang="en-US" sz="3600" dirty="0"/>
              <a:t>25 PHP Security Best Practices</a:t>
            </a:r>
          </a:p>
        </p:txBody>
      </p:sp>
      <p:sp>
        <p:nvSpPr>
          <p:cNvPr id="3" name="Content Placeholder 2"/>
          <p:cNvSpPr>
            <a:spLocks noGrp="1"/>
          </p:cNvSpPr>
          <p:nvPr>
            <p:ph idx="1"/>
          </p:nvPr>
        </p:nvSpPr>
        <p:spPr/>
        <p:txBody>
          <a:bodyPr>
            <a:normAutofit/>
          </a:bodyPr>
          <a:lstStyle/>
          <a:p>
            <a:r>
              <a:rPr lang="en-US" sz="2800" dirty="0" err="1" smtClean="0"/>
              <a:t>PhpSecInfo</a:t>
            </a:r>
            <a:endParaRPr lang="en-US" sz="2800" dirty="0" smtClean="0"/>
          </a:p>
          <a:p>
            <a:pPr lvl="1"/>
            <a:r>
              <a:rPr lang="en-US" sz="2400" dirty="0" smtClean="0"/>
              <a:t>CGI</a:t>
            </a:r>
          </a:p>
          <a:p>
            <a:pPr lvl="2"/>
            <a:r>
              <a:rPr lang="en-US" sz="2000" dirty="0" err="1" smtClean="0"/>
              <a:t>force_redirect</a:t>
            </a:r>
            <a:endParaRPr lang="en-US" sz="2000" dirty="0" smtClean="0"/>
          </a:p>
          <a:p>
            <a:pPr lvl="1"/>
            <a:r>
              <a:rPr lang="en-US" sz="2400" dirty="0" smtClean="0"/>
              <a:t>Session/Curl</a:t>
            </a:r>
          </a:p>
          <a:p>
            <a:pPr lvl="2"/>
            <a:r>
              <a:rPr lang="en-US" sz="2000" dirty="0" err="1" smtClean="0"/>
              <a:t>save_path</a:t>
            </a:r>
            <a:endParaRPr lang="en-US" sz="2000" dirty="0" smtClean="0"/>
          </a:p>
          <a:p>
            <a:pPr lvl="2"/>
            <a:r>
              <a:rPr lang="en-US" sz="2000" dirty="0" err="1" smtClean="0"/>
              <a:t>use_trans_sid</a:t>
            </a:r>
            <a:endParaRPr lang="en-US" sz="2400" dirty="0" smtClean="0"/>
          </a:p>
          <a:p>
            <a:pPr lvl="2"/>
            <a:r>
              <a:rPr lang="en-US" sz="2000" dirty="0" err="1" smtClean="0"/>
              <a:t>file_support</a:t>
            </a:r>
            <a:endParaRPr lang="en-US" sz="2000" dirty="0" smtClean="0"/>
          </a:p>
          <a:p>
            <a:pPr lvl="1"/>
            <a:r>
              <a:rPr lang="en-US" sz="2400" dirty="0" smtClean="0"/>
              <a:t>Core</a:t>
            </a:r>
          </a:p>
          <a:p>
            <a:pPr lvl="2"/>
            <a:r>
              <a:rPr lang="en-US" sz="2000" dirty="0"/>
              <a:t>.</a:t>
            </a:r>
            <a:endParaRPr lang="en-US" sz="2000" dirty="0" smtClean="0"/>
          </a:p>
        </p:txBody>
      </p:sp>
      <p:pic>
        <p:nvPicPr>
          <p:cNvPr id="8" name="Picture 7"/>
          <p:cNvPicPr>
            <a:picLocks noChangeAspect="1"/>
          </p:cNvPicPr>
          <p:nvPr/>
        </p:nvPicPr>
        <p:blipFill>
          <a:blip r:embed="rId3"/>
          <a:stretch>
            <a:fillRect/>
          </a:stretch>
        </p:blipFill>
        <p:spPr>
          <a:xfrm>
            <a:off x="3958625" y="1925906"/>
            <a:ext cx="4117894" cy="2675384"/>
          </a:xfrm>
          <a:prstGeom prst="rect">
            <a:avLst/>
          </a:prstGeom>
        </p:spPr>
      </p:pic>
      <p:sp>
        <p:nvSpPr>
          <p:cNvPr id="10" name="TextBox 9"/>
          <p:cNvSpPr txBox="1"/>
          <p:nvPr/>
        </p:nvSpPr>
        <p:spPr>
          <a:xfrm>
            <a:off x="1591644" y="4878403"/>
            <a:ext cx="7207695" cy="1631216"/>
          </a:xfrm>
          <a:prstGeom prst="rect">
            <a:avLst/>
          </a:prstGeom>
          <a:noFill/>
        </p:spPr>
        <p:txBody>
          <a:bodyPr wrap="square" rtlCol="0">
            <a:spAutoFit/>
          </a:bodyPr>
          <a:lstStyle/>
          <a:p>
            <a:r>
              <a:rPr lang="en-US" sz="2000" dirty="0" err="1"/>
              <a:t>allow_url_fopen</a:t>
            </a:r>
            <a:r>
              <a:rPr lang="en-US" sz="2000" dirty="0"/>
              <a:t>	</a:t>
            </a:r>
            <a:r>
              <a:rPr lang="en-US" sz="2000" dirty="0" smtClean="0"/>
              <a:t>	</a:t>
            </a:r>
            <a:r>
              <a:rPr lang="en-US" sz="2000" dirty="0" err="1" smtClean="0"/>
              <a:t>allow_url_include</a:t>
            </a:r>
            <a:r>
              <a:rPr lang="en-US" sz="2000" dirty="0"/>
              <a:t>	</a:t>
            </a:r>
            <a:r>
              <a:rPr lang="en-US" sz="2000" dirty="0" err="1" smtClean="0"/>
              <a:t>display_errors</a:t>
            </a:r>
            <a:endParaRPr lang="en-US" sz="2000" dirty="0"/>
          </a:p>
          <a:p>
            <a:r>
              <a:rPr lang="en-US" sz="2000" dirty="0" err="1"/>
              <a:t>expose_php</a:t>
            </a:r>
            <a:r>
              <a:rPr lang="en-US" sz="2000" dirty="0"/>
              <a:t>		</a:t>
            </a:r>
            <a:r>
              <a:rPr lang="en-US" sz="2000" dirty="0" smtClean="0"/>
              <a:t>	</a:t>
            </a:r>
            <a:r>
              <a:rPr lang="en-US" sz="2000" dirty="0" err="1" smtClean="0"/>
              <a:t>file_uploads</a:t>
            </a:r>
            <a:r>
              <a:rPr lang="en-US" sz="2000" dirty="0"/>
              <a:t>			</a:t>
            </a:r>
            <a:r>
              <a:rPr lang="en-US" sz="2000" b="1" dirty="0" err="1" smtClean="0"/>
              <a:t>group_id</a:t>
            </a:r>
            <a:endParaRPr lang="en-US" sz="2000" b="1" dirty="0"/>
          </a:p>
          <a:p>
            <a:r>
              <a:rPr lang="en-US" sz="2000" b="1" dirty="0" err="1"/>
              <a:t>magic_quotes_gpc</a:t>
            </a:r>
            <a:r>
              <a:rPr lang="en-US" sz="2000" dirty="0"/>
              <a:t>	</a:t>
            </a:r>
            <a:r>
              <a:rPr lang="en-US" sz="2000" dirty="0" err="1" smtClean="0"/>
              <a:t>memory_limit</a:t>
            </a:r>
            <a:r>
              <a:rPr lang="en-US" sz="2000" dirty="0"/>
              <a:t>		</a:t>
            </a:r>
            <a:r>
              <a:rPr lang="en-US" sz="2000" dirty="0" err="1" smtClean="0"/>
              <a:t>open_basedir</a:t>
            </a:r>
            <a:endParaRPr lang="en-US" sz="2000" dirty="0"/>
          </a:p>
          <a:p>
            <a:r>
              <a:rPr lang="en-US" sz="2000" dirty="0" err="1"/>
              <a:t>post_max_size</a:t>
            </a:r>
            <a:r>
              <a:rPr lang="en-US" sz="2000" dirty="0"/>
              <a:t>		</a:t>
            </a:r>
            <a:r>
              <a:rPr lang="en-US" sz="2000" b="1" dirty="0" err="1" smtClean="0"/>
              <a:t>register_globals</a:t>
            </a:r>
            <a:r>
              <a:rPr lang="en-US" sz="2000" dirty="0"/>
              <a:t>		</a:t>
            </a:r>
            <a:r>
              <a:rPr lang="en-US" sz="2000" dirty="0" err="1"/>
              <a:t>upload_max_filesize</a:t>
            </a:r>
            <a:endParaRPr lang="en-US" sz="2000" dirty="0"/>
          </a:p>
          <a:p>
            <a:r>
              <a:rPr lang="en-US" sz="2000" dirty="0" err="1"/>
              <a:t>upload_tmp_dir</a:t>
            </a:r>
            <a:r>
              <a:rPr lang="en-US" sz="2000" dirty="0"/>
              <a:t>	</a:t>
            </a:r>
            <a:r>
              <a:rPr lang="en-US" sz="2000" dirty="0" smtClean="0"/>
              <a:t>	</a:t>
            </a:r>
            <a:r>
              <a:rPr lang="en-US" sz="2000" b="1" dirty="0" err="1" smtClean="0"/>
              <a:t>user_id</a:t>
            </a:r>
            <a:endParaRPr lang="en-US" sz="2000" b="1" dirty="0"/>
          </a:p>
        </p:txBody>
      </p:sp>
      <p:pic>
        <p:nvPicPr>
          <p:cNvPr id="4" name="Picture 3"/>
          <p:cNvPicPr>
            <a:picLocks noChangeAspect="1"/>
          </p:cNvPicPr>
          <p:nvPr/>
        </p:nvPicPr>
        <p:blipFill>
          <a:blip r:embed="rId4"/>
          <a:stretch>
            <a:fillRect/>
          </a:stretch>
        </p:blipFill>
        <p:spPr>
          <a:xfrm>
            <a:off x="6483187" y="1417638"/>
            <a:ext cx="2222500" cy="787400"/>
          </a:xfrm>
          <a:prstGeom prst="rect">
            <a:avLst/>
          </a:prstGeom>
        </p:spPr>
      </p:pic>
    </p:spTree>
    <p:extLst>
      <p:ext uri="{BB962C8B-B14F-4D97-AF65-F5344CB8AC3E}">
        <p14:creationId xmlns:p14="http://schemas.microsoft.com/office/powerpoint/2010/main" xmlns="" val="35321562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PHP Security </a:t>
            </a:r>
            <a:r>
              <a:rPr lang="en-US" dirty="0" smtClean="0"/>
              <a:t>“Standard” Practices</a:t>
            </a:r>
            <a:r>
              <a:rPr lang="en-US" dirty="0"/>
              <a:t/>
            </a:r>
            <a:br>
              <a:rPr lang="en-US" dirty="0"/>
            </a:br>
            <a:r>
              <a:rPr lang="en-US" sz="3600" dirty="0"/>
              <a:t>OWASP PHP Top 5</a:t>
            </a:r>
          </a:p>
        </p:txBody>
      </p:sp>
      <p:sp>
        <p:nvSpPr>
          <p:cNvPr id="3" name="Content Placeholder 2"/>
          <p:cNvSpPr>
            <a:spLocks noGrp="1"/>
          </p:cNvSpPr>
          <p:nvPr>
            <p:ph idx="1"/>
          </p:nvPr>
        </p:nvSpPr>
        <p:spPr/>
        <p:txBody>
          <a:bodyPr>
            <a:normAutofit fontScale="55000" lnSpcReduction="20000"/>
          </a:bodyPr>
          <a:lstStyle/>
          <a:p>
            <a:r>
              <a:rPr lang="en-US" dirty="0"/>
              <a:t>P1: Remote Code </a:t>
            </a:r>
            <a:r>
              <a:rPr lang="en-US" dirty="0" smtClean="0"/>
              <a:t>Execution</a:t>
            </a:r>
          </a:p>
          <a:p>
            <a:pPr lvl="1"/>
            <a:r>
              <a:rPr lang="en-US" dirty="0" smtClean="0"/>
              <a:t>Review </a:t>
            </a:r>
            <a:r>
              <a:rPr lang="en-US" dirty="0"/>
              <a:t>existing code for file operations, include/require, and </a:t>
            </a:r>
            <a:r>
              <a:rPr lang="en-US" dirty="0" err="1"/>
              <a:t>eval</a:t>
            </a:r>
            <a:r>
              <a:rPr lang="en-US" dirty="0"/>
              <a:t>() </a:t>
            </a:r>
            <a:r>
              <a:rPr lang="en-US" dirty="0" smtClean="0"/>
              <a:t>statements</a:t>
            </a:r>
          </a:p>
          <a:p>
            <a:pPr lvl="1"/>
            <a:r>
              <a:rPr lang="en-US" dirty="0" smtClean="0"/>
              <a:t>Disable </a:t>
            </a:r>
            <a:r>
              <a:rPr lang="en-US" dirty="0" err="1"/>
              <a:t>allow_url_fopen</a:t>
            </a:r>
            <a:r>
              <a:rPr lang="en-US" dirty="0"/>
              <a:t> in </a:t>
            </a:r>
            <a:r>
              <a:rPr lang="en-US" dirty="0" err="1"/>
              <a:t>php.ini</a:t>
            </a:r>
            <a:r>
              <a:rPr lang="en-US" dirty="0"/>
              <a:t> by setting it to </a:t>
            </a:r>
            <a:r>
              <a:rPr lang="en-US" dirty="0" smtClean="0"/>
              <a:t>0; Enable </a:t>
            </a:r>
            <a:r>
              <a:rPr lang="en-US" dirty="0" err="1"/>
              <a:t>safe_mode</a:t>
            </a:r>
            <a:r>
              <a:rPr lang="en-US" dirty="0"/>
              <a:t> and set </a:t>
            </a:r>
            <a:r>
              <a:rPr lang="en-US" dirty="0" err="1"/>
              <a:t>open_basedir</a:t>
            </a:r>
            <a:r>
              <a:rPr lang="en-US" dirty="0"/>
              <a:t> </a:t>
            </a:r>
            <a:r>
              <a:rPr lang="en-US" dirty="0" smtClean="0"/>
              <a:t>restrictions</a:t>
            </a:r>
            <a:endParaRPr lang="en-US" dirty="0"/>
          </a:p>
          <a:p>
            <a:r>
              <a:rPr lang="en-US" dirty="0" smtClean="0"/>
              <a:t>P2</a:t>
            </a:r>
            <a:r>
              <a:rPr lang="en-US" dirty="0"/>
              <a:t>: Cross</a:t>
            </a:r>
            <a:r>
              <a:rPr lang="en-US" dirty="0" smtClean="0"/>
              <a:t>-Site Scripting</a:t>
            </a:r>
          </a:p>
          <a:p>
            <a:pPr lvl="1"/>
            <a:r>
              <a:rPr lang="en-US" dirty="0" smtClean="0"/>
              <a:t>Disable </a:t>
            </a:r>
            <a:r>
              <a:rPr lang="en-US" dirty="0" err="1" smtClean="0"/>
              <a:t>register_globals</a:t>
            </a:r>
            <a:r>
              <a:rPr lang="en-US" dirty="0" smtClean="0"/>
              <a:t> </a:t>
            </a:r>
            <a:r>
              <a:rPr lang="en-US" dirty="0"/>
              <a:t>and ensure all variables are properly </a:t>
            </a:r>
            <a:r>
              <a:rPr lang="en-US" dirty="0" smtClean="0"/>
              <a:t>initialized; Validate </a:t>
            </a:r>
            <a:r>
              <a:rPr lang="en-US" dirty="0"/>
              <a:t>input properly for type, length, </a:t>
            </a:r>
            <a:r>
              <a:rPr lang="en-US" dirty="0" smtClean="0"/>
              <a:t>&amp; syntax</a:t>
            </a:r>
            <a:endParaRPr lang="en-US" dirty="0"/>
          </a:p>
          <a:p>
            <a:pPr lvl="1"/>
            <a:r>
              <a:rPr lang="en-US" dirty="0" smtClean="0"/>
              <a:t>Variables </a:t>
            </a:r>
            <a:r>
              <a:rPr lang="en-US" dirty="0"/>
              <a:t>sent back to the user via URLs must be URL encoded using </a:t>
            </a:r>
            <a:r>
              <a:rPr lang="en-US" dirty="0" err="1"/>
              <a:t>urlencode</a:t>
            </a:r>
            <a:r>
              <a:rPr lang="en-US" dirty="0"/>
              <a:t>(</a:t>
            </a:r>
            <a:r>
              <a:rPr lang="en-US" dirty="0" smtClean="0"/>
              <a:t>)</a:t>
            </a:r>
          </a:p>
          <a:p>
            <a:r>
              <a:rPr lang="en-US" dirty="0"/>
              <a:t>P3: SQL Injection</a:t>
            </a:r>
          </a:p>
          <a:p>
            <a:pPr lvl="1"/>
            <a:r>
              <a:rPr lang="en-US" dirty="0" smtClean="0"/>
              <a:t>Validate </a:t>
            </a:r>
            <a:r>
              <a:rPr lang="en-US" dirty="0"/>
              <a:t>data for correct type, length, and </a:t>
            </a:r>
            <a:r>
              <a:rPr lang="en-US" dirty="0" smtClean="0"/>
              <a:t>syntax; Always </a:t>
            </a:r>
            <a:r>
              <a:rPr lang="en-US" dirty="0"/>
              <a:t>prefer white </a:t>
            </a:r>
            <a:r>
              <a:rPr lang="en-US" dirty="0" smtClean="0"/>
              <a:t>listing </a:t>
            </a:r>
            <a:r>
              <a:rPr lang="en-US" dirty="0"/>
              <a:t>data over black </a:t>
            </a:r>
            <a:r>
              <a:rPr lang="en-US" dirty="0" smtClean="0"/>
              <a:t>listing</a:t>
            </a:r>
            <a:endParaRPr lang="en-US" dirty="0"/>
          </a:p>
          <a:p>
            <a:pPr lvl="1"/>
            <a:r>
              <a:rPr lang="en-US" dirty="0" smtClean="0"/>
              <a:t>As </a:t>
            </a:r>
            <a:r>
              <a:rPr lang="en-US" dirty="0"/>
              <a:t>a last resort, code should be using </a:t>
            </a:r>
            <a:r>
              <a:rPr lang="en-US" dirty="0" err="1"/>
              <a:t>mysql_real_escape_string</a:t>
            </a:r>
            <a:r>
              <a:rPr lang="en-US" dirty="0"/>
              <a:t>(</a:t>
            </a:r>
            <a:r>
              <a:rPr lang="en-US" dirty="0" smtClean="0"/>
              <a:t>)</a:t>
            </a:r>
          </a:p>
          <a:p>
            <a:r>
              <a:rPr lang="en-US" dirty="0"/>
              <a:t>P4: PHP Configuration</a:t>
            </a:r>
          </a:p>
          <a:p>
            <a:pPr lvl="1"/>
            <a:r>
              <a:rPr lang="en-US" dirty="0" smtClean="0"/>
              <a:t>Configure </a:t>
            </a:r>
            <a:r>
              <a:rPr lang="en-US" dirty="0"/>
              <a:t>a .</a:t>
            </a:r>
            <a:r>
              <a:rPr lang="en-US" dirty="0" err="1"/>
              <a:t>htaccess</a:t>
            </a:r>
            <a:r>
              <a:rPr lang="en-US" dirty="0"/>
              <a:t> </a:t>
            </a:r>
            <a:r>
              <a:rPr lang="en-US" dirty="0" smtClean="0"/>
              <a:t>file … In </a:t>
            </a:r>
            <a:r>
              <a:rPr lang="en-US" dirty="0"/>
              <a:t>particular, disable register </a:t>
            </a:r>
            <a:r>
              <a:rPr lang="en-US" dirty="0" err="1"/>
              <a:t>globals</a:t>
            </a:r>
            <a:r>
              <a:rPr lang="en-US" dirty="0"/>
              <a:t> and </a:t>
            </a:r>
            <a:r>
              <a:rPr lang="en-US" dirty="0" err="1"/>
              <a:t>magic_quotes_gpc</a:t>
            </a:r>
            <a:r>
              <a:rPr lang="en-US" dirty="0"/>
              <a:t> </a:t>
            </a:r>
          </a:p>
          <a:p>
            <a:pPr lvl="1"/>
            <a:r>
              <a:rPr lang="en-US" dirty="0" smtClean="0"/>
              <a:t>During </a:t>
            </a:r>
            <a:r>
              <a:rPr lang="en-US" dirty="0"/>
              <a:t>installation, test using </a:t>
            </a:r>
            <a:r>
              <a:rPr lang="en-US" dirty="0" err="1"/>
              <a:t>ini_get</a:t>
            </a:r>
            <a:r>
              <a:rPr lang="en-US" dirty="0"/>
              <a:t>() for common </a:t>
            </a:r>
            <a:r>
              <a:rPr lang="en-US" dirty="0" smtClean="0"/>
              <a:t>mistakes</a:t>
            </a:r>
            <a:r>
              <a:rPr lang="en-US" dirty="0"/>
              <a:t>, such as allowing </a:t>
            </a:r>
            <a:r>
              <a:rPr lang="en-US" dirty="0" err="1" smtClean="0"/>
              <a:t>register_globals</a:t>
            </a:r>
            <a:endParaRPr lang="en-US" dirty="0" smtClean="0"/>
          </a:p>
          <a:p>
            <a:r>
              <a:rPr lang="en-US" dirty="0"/>
              <a:t>P5: File System Attacks</a:t>
            </a:r>
          </a:p>
          <a:p>
            <a:pPr lvl="1"/>
            <a:r>
              <a:rPr lang="en-US" dirty="0" smtClean="0"/>
              <a:t>Ensure </a:t>
            </a:r>
            <a:r>
              <a:rPr lang="en-US" dirty="0"/>
              <a:t>that all variables are properly initialized prior to first use</a:t>
            </a:r>
          </a:p>
          <a:p>
            <a:pPr lvl="1"/>
            <a:r>
              <a:rPr lang="en-US" dirty="0"/>
              <a:t>M</a:t>
            </a:r>
            <a:r>
              <a:rPr lang="en-US" dirty="0" smtClean="0"/>
              <a:t>ove </a:t>
            </a:r>
            <a:r>
              <a:rPr lang="en-US" dirty="0"/>
              <a:t>secrets and logs out of the web root if at all </a:t>
            </a:r>
            <a:r>
              <a:rPr lang="en-US" dirty="0" smtClean="0"/>
              <a:t>possible</a:t>
            </a:r>
            <a:endParaRPr lang="en-US" dirty="0"/>
          </a:p>
          <a:p>
            <a:pPr lvl="1"/>
            <a:r>
              <a:rPr lang="en-US" dirty="0" smtClean="0"/>
              <a:t>Enable </a:t>
            </a:r>
            <a:r>
              <a:rPr lang="en-US" dirty="0" err="1"/>
              <a:t>safe_mode</a:t>
            </a:r>
            <a:r>
              <a:rPr lang="en-US" dirty="0"/>
              <a:t> as </a:t>
            </a:r>
            <a:r>
              <a:rPr lang="en-US" dirty="0" smtClean="0"/>
              <a:t>appropriate; Use </a:t>
            </a:r>
            <a:r>
              <a:rPr lang="en-US" dirty="0" err="1"/>
              <a:t>open_basedir</a:t>
            </a:r>
            <a:r>
              <a:rPr lang="en-US" dirty="0"/>
              <a:t> </a:t>
            </a:r>
            <a:r>
              <a:rPr lang="en-US" dirty="0" smtClean="0"/>
              <a:t>restrictions</a:t>
            </a:r>
            <a:endParaRPr lang="en-US" dirty="0"/>
          </a:p>
        </p:txBody>
      </p:sp>
      <p:sp>
        <p:nvSpPr>
          <p:cNvPr id="4" name="TextBox 3"/>
          <p:cNvSpPr txBox="1"/>
          <p:nvPr/>
        </p:nvSpPr>
        <p:spPr>
          <a:xfrm>
            <a:off x="2526851" y="6144837"/>
            <a:ext cx="4317408" cy="461665"/>
          </a:xfrm>
          <a:prstGeom prst="rect">
            <a:avLst/>
          </a:prstGeom>
          <a:noFill/>
        </p:spPr>
        <p:txBody>
          <a:bodyPr wrap="none" rtlCol="0">
            <a:spAutoFit/>
          </a:bodyPr>
          <a:lstStyle/>
          <a:p>
            <a:pPr algn="ctr"/>
            <a:r>
              <a:rPr lang="en-US" sz="2400" b="1" dirty="0" smtClean="0"/>
              <a:t>Just a Selection of their Goodies</a:t>
            </a:r>
            <a:endParaRPr lang="en-US" sz="2400" b="1" dirty="0"/>
          </a:p>
        </p:txBody>
      </p:sp>
      <p:pic>
        <p:nvPicPr>
          <p:cNvPr id="5" name="Picture 4"/>
          <p:cNvPicPr>
            <a:picLocks noChangeAspect="1"/>
          </p:cNvPicPr>
          <p:nvPr/>
        </p:nvPicPr>
        <p:blipFill>
          <a:blip r:embed="rId3"/>
          <a:stretch>
            <a:fillRect/>
          </a:stretch>
        </p:blipFill>
        <p:spPr>
          <a:xfrm>
            <a:off x="7662995" y="158756"/>
            <a:ext cx="1340456" cy="1340456"/>
          </a:xfrm>
          <a:prstGeom prst="rect">
            <a:avLst/>
          </a:prstGeom>
        </p:spPr>
      </p:pic>
    </p:spTree>
    <p:extLst>
      <p:ext uri="{BB962C8B-B14F-4D97-AF65-F5344CB8AC3E}">
        <p14:creationId xmlns:p14="http://schemas.microsoft.com/office/powerpoint/2010/main" xmlns="" val="8507599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Detecting Attacks</a:t>
            </a:r>
            <a:endParaRPr lang="en-US" dirty="0"/>
          </a:p>
        </p:txBody>
      </p:sp>
      <p:sp>
        <p:nvSpPr>
          <p:cNvPr id="3" name="Content Placeholder 2"/>
          <p:cNvSpPr>
            <a:spLocks noGrp="1"/>
          </p:cNvSpPr>
          <p:nvPr>
            <p:ph idx="1"/>
          </p:nvPr>
        </p:nvSpPr>
        <p:spPr/>
        <p:txBody>
          <a:bodyPr/>
          <a:lstStyle/>
          <a:p>
            <a:r>
              <a:rPr lang="en-US" dirty="0" smtClean="0"/>
              <a:t>PHPIDS Overview</a:t>
            </a:r>
            <a:endParaRPr lang="en-US" dirty="0"/>
          </a:p>
          <a:p>
            <a:r>
              <a:rPr lang="en-US" dirty="0" smtClean="0"/>
              <a:t>Operations </a:t>
            </a:r>
            <a:r>
              <a:rPr lang="en-US" dirty="0"/>
              <a:t>&amp; </a:t>
            </a:r>
            <a:r>
              <a:rPr lang="en-US" dirty="0" smtClean="0"/>
              <a:t>Maintenance</a:t>
            </a:r>
            <a:endParaRPr lang="en-US" dirty="0"/>
          </a:p>
        </p:txBody>
      </p:sp>
      <p:pic>
        <p:nvPicPr>
          <p:cNvPr id="4" name="Picture 3"/>
          <p:cNvPicPr>
            <a:picLocks noChangeAspect="1"/>
          </p:cNvPicPr>
          <p:nvPr/>
        </p:nvPicPr>
        <p:blipFill>
          <a:blip r:embed="rId3"/>
          <a:stretch>
            <a:fillRect/>
          </a:stretch>
        </p:blipFill>
        <p:spPr>
          <a:xfrm>
            <a:off x="1586499" y="3463272"/>
            <a:ext cx="5508180" cy="1118849"/>
          </a:xfrm>
          <a:prstGeom prst="rect">
            <a:avLst/>
          </a:prstGeom>
        </p:spPr>
      </p:pic>
    </p:spTree>
    <p:extLst>
      <p:ext uri="{BB962C8B-B14F-4D97-AF65-F5344CB8AC3E}">
        <p14:creationId xmlns:p14="http://schemas.microsoft.com/office/powerpoint/2010/main" xmlns="" val="3389649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Detecting Attacks</a:t>
            </a:r>
            <a:br>
              <a:rPr lang="en-US" dirty="0" smtClean="0"/>
            </a:br>
            <a:r>
              <a:rPr lang="en-US" sz="3600" dirty="0" smtClean="0"/>
              <a:t>PHPIDS Overview – Definition </a:t>
            </a:r>
            <a:endParaRPr lang="en-US" sz="3600" dirty="0"/>
          </a:p>
        </p:txBody>
      </p:sp>
      <p:sp>
        <p:nvSpPr>
          <p:cNvPr id="3" name="Content Placeholder 2"/>
          <p:cNvSpPr>
            <a:spLocks noGrp="1"/>
          </p:cNvSpPr>
          <p:nvPr>
            <p:ph idx="1"/>
          </p:nvPr>
        </p:nvSpPr>
        <p:spPr/>
        <p:txBody>
          <a:bodyPr>
            <a:normAutofit fontScale="70000" lnSpcReduction="20000"/>
          </a:bodyPr>
          <a:lstStyle/>
          <a:p>
            <a:pPr marL="0" indent="0" algn="ctr">
              <a:buNone/>
            </a:pPr>
            <a:r>
              <a:rPr lang="en-US" dirty="0" smtClean="0"/>
              <a:t>PHPIDS </a:t>
            </a:r>
            <a:r>
              <a:rPr lang="en-US" dirty="0"/>
              <a:t>(PHP-Intrusion Detection System) is a simple to use, well structured, fast and state-of-the-art </a:t>
            </a:r>
            <a:r>
              <a:rPr lang="en-US" b="1" dirty="0"/>
              <a:t>security layer for your PHP based web application</a:t>
            </a:r>
            <a:r>
              <a:rPr lang="en-US" dirty="0"/>
              <a:t>. The IDS neither strips, sanitizes nor filters any malicious input, it simply recognizes when an attacker tries to break your site and reacts in exactly the way you want it to. Based on a set of approved and heavily tested filter rules any </a:t>
            </a:r>
            <a:r>
              <a:rPr lang="en-US" b="1" dirty="0"/>
              <a:t>attack is given a numerical impact rating</a:t>
            </a:r>
            <a:r>
              <a:rPr lang="en-US" dirty="0"/>
              <a:t> which makes it easy to </a:t>
            </a:r>
            <a:r>
              <a:rPr lang="en-US" b="1" dirty="0"/>
              <a:t>decide what kind of action </a:t>
            </a:r>
            <a:r>
              <a:rPr lang="en-US" dirty="0"/>
              <a:t>should follow the hacking attempt. This could range from simple </a:t>
            </a:r>
            <a:r>
              <a:rPr lang="en-US" b="1" dirty="0"/>
              <a:t>logging</a:t>
            </a:r>
            <a:r>
              <a:rPr lang="en-US" dirty="0"/>
              <a:t> to sending out an emergency </a:t>
            </a:r>
            <a:r>
              <a:rPr lang="en-US" b="1" dirty="0"/>
              <a:t>mail</a:t>
            </a:r>
            <a:r>
              <a:rPr lang="en-US" dirty="0"/>
              <a:t> to the development team, displaying a </a:t>
            </a:r>
            <a:r>
              <a:rPr lang="en-US" b="1" dirty="0"/>
              <a:t>warning</a:t>
            </a:r>
            <a:r>
              <a:rPr lang="en-US" dirty="0"/>
              <a:t> message for the attacker or even </a:t>
            </a:r>
            <a:r>
              <a:rPr lang="en-US" b="1" dirty="0"/>
              <a:t>ending</a:t>
            </a:r>
            <a:r>
              <a:rPr lang="en-US" dirty="0"/>
              <a:t> the user’s session.</a:t>
            </a:r>
          </a:p>
          <a:p>
            <a:pPr marL="0" indent="0" algn="ctr">
              <a:buNone/>
            </a:pPr>
            <a:endParaRPr lang="en-US" dirty="0" smtClean="0"/>
          </a:p>
          <a:p>
            <a:pPr marL="0" indent="0" algn="ctr">
              <a:buNone/>
            </a:pPr>
            <a:r>
              <a:rPr lang="en-US" dirty="0" smtClean="0"/>
              <a:t>PHPIDS </a:t>
            </a:r>
            <a:r>
              <a:rPr lang="en-US" b="1" dirty="0"/>
              <a:t>enables you to see who’s attacking your site and how and all without the tedious trawling of </a:t>
            </a:r>
            <a:r>
              <a:rPr lang="en-US" b="1" dirty="0" err="1"/>
              <a:t>logfiles</a:t>
            </a:r>
            <a:r>
              <a:rPr lang="en-US" dirty="0"/>
              <a:t> or searching hacker forums for your domain. Last but not least it’s licensed under the </a:t>
            </a:r>
            <a:r>
              <a:rPr lang="en-US" dirty="0" smtClean="0"/>
              <a:t>LGPL!</a:t>
            </a:r>
          </a:p>
        </p:txBody>
      </p:sp>
    </p:spTree>
    <p:extLst>
      <p:ext uri="{BB962C8B-B14F-4D97-AF65-F5344CB8AC3E}">
        <p14:creationId xmlns:p14="http://schemas.microsoft.com/office/powerpoint/2010/main" xmlns="" val="41096562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Detecting </a:t>
            </a:r>
            <a:r>
              <a:rPr lang="en-US" dirty="0" smtClean="0"/>
              <a:t>Attacks</a:t>
            </a:r>
            <a:br>
              <a:rPr lang="en-US" dirty="0" smtClean="0"/>
            </a:br>
            <a:r>
              <a:rPr lang="en-US" sz="3600" dirty="0" smtClean="0"/>
              <a:t>PHPIDS Overview – Detection Mechanisms</a:t>
            </a:r>
            <a:endParaRPr lang="en-US" sz="3600" dirty="0"/>
          </a:p>
        </p:txBody>
      </p:sp>
      <p:sp>
        <p:nvSpPr>
          <p:cNvPr id="4" name="Content Placeholder 3"/>
          <p:cNvSpPr>
            <a:spLocks noGrp="1"/>
          </p:cNvSpPr>
          <p:nvPr>
            <p:ph idx="1"/>
          </p:nvPr>
        </p:nvSpPr>
        <p:spPr/>
        <p:txBody>
          <a:bodyPr>
            <a:normAutofit fontScale="92500" lnSpcReduction="10000"/>
          </a:bodyPr>
          <a:lstStyle/>
          <a:p>
            <a:r>
              <a:rPr lang="en-US" smtClean="0"/>
              <a:t>Anti-Evasion Normalizations</a:t>
            </a:r>
          </a:p>
          <a:p>
            <a:pPr lvl="1"/>
            <a:r>
              <a:rPr lang="en-US" smtClean="0"/>
              <a:t>Converter.php</a:t>
            </a:r>
          </a:p>
          <a:p>
            <a:r>
              <a:rPr lang="en-US" smtClean="0"/>
              <a:t>Signatures</a:t>
            </a:r>
          </a:p>
          <a:p>
            <a:pPr lvl="1"/>
            <a:r>
              <a:rPr lang="en-US" smtClean="0"/>
              <a:t>default_filter.xml</a:t>
            </a:r>
          </a:p>
          <a:p>
            <a:r>
              <a:rPr lang="en-US" smtClean="0"/>
              <a:t>Centrifuge</a:t>
            </a:r>
          </a:p>
          <a:p>
            <a:pPr lvl="1"/>
            <a:r>
              <a:rPr lang="en-US" smtClean="0"/>
              <a:t>Incoming Strings &gt; 25 Characters</a:t>
            </a:r>
          </a:p>
          <a:p>
            <a:pPr lvl="1"/>
            <a:r>
              <a:rPr lang="en-US" smtClean="0"/>
              <a:t>Ratio = Count of Word Characters, Spaces, Punctuation / Non-Word Characters</a:t>
            </a:r>
          </a:p>
          <a:p>
            <a:pPr lvl="1"/>
            <a:r>
              <a:rPr lang="en-US" smtClean="0"/>
              <a:t>Lower the Ratio ~ </a:t>
            </a:r>
            <a:r>
              <a:rPr lang="en-US" smtClean="0">
                <a:sym typeface="Wingdings"/>
              </a:rPr>
              <a:t>Greater Probability of </a:t>
            </a:r>
            <a:r>
              <a:rPr lang="en-US" smtClean="0"/>
              <a:t>Attack</a:t>
            </a:r>
          </a:p>
          <a:p>
            <a:pPr lvl="1"/>
            <a:r>
              <a:rPr lang="en-US" smtClean="0"/>
              <a:t>Normal = 7.5; Attack Trigger &lt; 3.5</a:t>
            </a:r>
            <a:endParaRPr lang="en-US" dirty="0"/>
          </a:p>
        </p:txBody>
      </p:sp>
      <p:pic>
        <p:nvPicPr>
          <p:cNvPr id="2" name="Picture 1"/>
          <p:cNvPicPr>
            <a:picLocks noChangeAspect="1"/>
          </p:cNvPicPr>
          <p:nvPr/>
        </p:nvPicPr>
        <p:blipFill>
          <a:blip r:embed="rId3"/>
          <a:stretch>
            <a:fillRect/>
          </a:stretch>
        </p:blipFill>
        <p:spPr>
          <a:xfrm>
            <a:off x="6089659" y="1657920"/>
            <a:ext cx="2692400" cy="2227961"/>
          </a:xfrm>
          <a:prstGeom prst="rect">
            <a:avLst/>
          </a:prstGeom>
        </p:spPr>
      </p:pic>
    </p:spTree>
    <p:extLst>
      <p:ext uri="{BB962C8B-B14F-4D97-AF65-F5344CB8AC3E}">
        <p14:creationId xmlns:p14="http://schemas.microsoft.com/office/powerpoint/2010/main" xmlns="" val="42548537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5486400" y="591944"/>
            <a:ext cx="3620911" cy="5961256"/>
          </a:xfrm>
          <a:prstGeom prst="rect">
            <a:avLst/>
          </a:prstGeom>
        </p:spPr>
      </p:pic>
      <p:sp>
        <p:nvSpPr>
          <p:cNvPr id="2" name="Title 1"/>
          <p:cNvSpPr>
            <a:spLocks noGrp="1"/>
          </p:cNvSpPr>
          <p:nvPr>
            <p:ph type="title"/>
          </p:nvPr>
        </p:nvSpPr>
        <p:spPr/>
        <p:txBody>
          <a:bodyPr>
            <a:normAutofit fontScale="90000"/>
          </a:bodyPr>
          <a:lstStyle/>
          <a:p>
            <a:r>
              <a:rPr lang="en-US" dirty="0"/>
              <a:t>Detecting </a:t>
            </a:r>
            <a:r>
              <a:rPr lang="en-US" dirty="0" smtClean="0"/>
              <a:t>Attacks</a:t>
            </a:r>
            <a:r>
              <a:rPr lang="en-US" dirty="0"/>
              <a:t/>
            </a:r>
            <a:br>
              <a:rPr lang="en-US" dirty="0"/>
            </a:br>
            <a:r>
              <a:rPr lang="en-US" sz="3600" dirty="0" smtClean="0"/>
              <a:t>O&amp;M – Calibration</a:t>
            </a:r>
            <a:endParaRPr lang="en-US" sz="3600" dirty="0"/>
          </a:p>
        </p:txBody>
      </p:sp>
      <p:sp>
        <p:nvSpPr>
          <p:cNvPr id="3" name="Content Placeholder 2"/>
          <p:cNvSpPr>
            <a:spLocks noGrp="1"/>
          </p:cNvSpPr>
          <p:nvPr>
            <p:ph idx="1"/>
          </p:nvPr>
        </p:nvSpPr>
        <p:spPr>
          <a:xfrm>
            <a:off x="457200" y="1600200"/>
            <a:ext cx="5029200" cy="4525963"/>
          </a:xfrm>
        </p:spPr>
        <p:txBody>
          <a:bodyPr>
            <a:normAutofit fontScale="92500"/>
          </a:bodyPr>
          <a:lstStyle/>
          <a:p>
            <a:r>
              <a:rPr lang="en-US" sz="2400" dirty="0" smtClean="0"/>
              <a:t>Lots </a:t>
            </a:r>
            <a:r>
              <a:rPr lang="en-US" sz="2400" dirty="0"/>
              <a:t>of </a:t>
            </a:r>
            <a:r>
              <a:rPr lang="en-US" sz="2400" dirty="0" smtClean="0"/>
              <a:t>Google Analytics Cookie </a:t>
            </a:r>
            <a:r>
              <a:rPr lang="en-US" sz="2400" dirty="0"/>
              <a:t>F</a:t>
            </a:r>
            <a:r>
              <a:rPr lang="en-US" sz="2400" dirty="0" smtClean="0"/>
              <a:t>alse Positives</a:t>
            </a:r>
            <a:endParaRPr lang="en-US" sz="2400" dirty="0"/>
          </a:p>
          <a:p>
            <a:pPr lvl="1"/>
            <a:endParaRPr lang="en-US" sz="2000" dirty="0" smtClean="0"/>
          </a:p>
          <a:p>
            <a:pPr lvl="1"/>
            <a:endParaRPr lang="en-US" sz="2000" dirty="0" smtClean="0"/>
          </a:p>
          <a:p>
            <a:pPr lvl="1"/>
            <a:endParaRPr lang="en-US" sz="2000" dirty="0" smtClean="0"/>
          </a:p>
          <a:p>
            <a:pPr lvl="1"/>
            <a:endParaRPr lang="en-US" sz="2000" dirty="0" smtClean="0"/>
          </a:p>
          <a:p>
            <a:pPr lvl="1"/>
            <a:endParaRPr lang="en-US" sz="2000" dirty="0" smtClean="0"/>
          </a:p>
          <a:p>
            <a:pPr lvl="1"/>
            <a:endParaRPr lang="en-US" sz="2000" dirty="0" smtClean="0"/>
          </a:p>
          <a:p>
            <a:pPr lvl="1"/>
            <a:r>
              <a:rPr lang="en-US" sz="2000" dirty="0" smtClean="0"/>
              <a:t>Add Exceptions to </a:t>
            </a:r>
            <a:r>
              <a:rPr lang="en-US" sz="2000" dirty="0" err="1" smtClean="0"/>
              <a:t>Config</a:t>
            </a:r>
            <a:endParaRPr lang="en-US" sz="2000" dirty="0" smtClean="0"/>
          </a:p>
          <a:p>
            <a:pPr lvl="1"/>
            <a:r>
              <a:rPr lang="en-US" sz="2000" dirty="0" smtClean="0"/>
              <a:t>Comes </a:t>
            </a:r>
            <a:r>
              <a:rPr lang="en-US" sz="2000" dirty="0"/>
              <a:t>with T</a:t>
            </a:r>
            <a:r>
              <a:rPr lang="en-US" sz="2000" dirty="0" smtClean="0"/>
              <a:t>wo </a:t>
            </a:r>
            <a:r>
              <a:rPr lang="en-US" sz="2000" dirty="0"/>
              <a:t>R</a:t>
            </a:r>
            <a:r>
              <a:rPr lang="en-US" sz="2000" dirty="0" smtClean="0"/>
              <a:t>elated </a:t>
            </a:r>
            <a:r>
              <a:rPr lang="en-US" sz="2000" dirty="0"/>
              <a:t>Amazon </a:t>
            </a:r>
            <a:r>
              <a:rPr lang="en-US" sz="2000" dirty="0" smtClean="0"/>
              <a:t>Exceptions ~ GET</a:t>
            </a:r>
          </a:p>
          <a:p>
            <a:pPr lvl="1"/>
            <a:r>
              <a:rPr lang="en-US" sz="2000" dirty="0" smtClean="0"/>
              <a:t>Add New Under Two Default Exceptions</a:t>
            </a:r>
            <a:endParaRPr lang="en-US" sz="2000" dirty="0"/>
          </a:p>
          <a:p>
            <a:pPr lvl="2"/>
            <a:r>
              <a:rPr lang="en-US" sz="1800" dirty="0" smtClean="0"/>
              <a:t>exceptions</a:t>
            </a:r>
            <a:r>
              <a:rPr lang="en-US" sz="1800" dirty="0"/>
              <a:t>[] = COOKIE.</a:t>
            </a:r>
            <a:r>
              <a:rPr lang="en-US" sz="1800" dirty="0" smtClean="0"/>
              <a:t>__</a:t>
            </a:r>
            <a:r>
              <a:rPr lang="en-US" sz="1800" dirty="0" err="1" smtClean="0"/>
              <a:t>utmz</a:t>
            </a:r>
            <a:endParaRPr lang="en-US" sz="1800" dirty="0"/>
          </a:p>
        </p:txBody>
      </p:sp>
      <p:sp>
        <p:nvSpPr>
          <p:cNvPr id="5" name="Oval 4"/>
          <p:cNvSpPr/>
          <p:nvPr/>
        </p:nvSpPr>
        <p:spPr>
          <a:xfrm>
            <a:off x="7288823" y="2759695"/>
            <a:ext cx="1855177" cy="381000"/>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685800" y="2590800"/>
            <a:ext cx="4953000" cy="1569660"/>
          </a:xfrm>
          <a:prstGeom prst="rect">
            <a:avLst/>
          </a:prstGeom>
          <a:noFill/>
        </p:spPr>
        <p:txBody>
          <a:bodyPr wrap="square" rtlCol="0">
            <a:spAutoFit/>
          </a:bodyPr>
          <a:lstStyle/>
          <a:p>
            <a:pPr marL="0" lvl="1"/>
            <a:r>
              <a:rPr lang="en-US" sz="1600" dirty="0"/>
              <a:t>“x.x.x.x,yyyy-mm-ddT19:31:03-05:00,12,”xss </a:t>
            </a:r>
            <a:r>
              <a:rPr lang="en-US" sz="1600" dirty="0" err="1"/>
              <a:t>csrf</a:t>
            </a:r>
            <a:r>
              <a:rPr lang="en-US" sz="1600" dirty="0"/>
              <a:t> id </a:t>
            </a:r>
            <a:r>
              <a:rPr lang="en-US" sz="1600" dirty="0" err="1"/>
              <a:t>rfe</a:t>
            </a:r>
            <a:r>
              <a:rPr lang="en-US" sz="1600" dirty="0"/>
              <a:t> </a:t>
            </a:r>
            <a:r>
              <a:rPr lang="en-US" sz="1600" dirty="0" err="1"/>
              <a:t>lfi</a:t>
            </a:r>
            <a:r>
              <a:rPr lang="en-US" sz="1600" dirty="0"/>
              <a:t>”,”COOKIE.</a:t>
            </a:r>
            <a:r>
              <a:rPr lang="en-US" sz="1600" b="1" dirty="0">
                <a:solidFill>
                  <a:srgbClr val="FF0000"/>
                </a:solidFill>
              </a:rPr>
              <a:t>__</a:t>
            </a:r>
            <a:r>
              <a:rPr lang="en-US" sz="1600" b="1" dirty="0" err="1">
                <a:solidFill>
                  <a:srgbClr val="FF0000"/>
                </a:solidFill>
              </a:rPr>
              <a:t>utmz</a:t>
            </a:r>
            <a:r>
              <a:rPr lang="en-US" sz="1600" dirty="0"/>
              <a:t>=123456789.1234567890.1.1.utmcsr%3Dgoogle%7Cutmccn%3D%28organic%29%7Cutmcmd%3Dorganic%7Cutmctr%3DNOVA%20cyber%20defense”,”%2F2009%2F10%2F16%2Fin-focus-advertise-with-us%2F”,”xx.x.xxx.xxx</a:t>
            </a:r>
            <a:r>
              <a:rPr lang="en-US" sz="1600" dirty="0" smtClean="0"/>
              <a:t>”</a:t>
            </a:r>
            <a:endParaRPr lang="en-US" sz="1600" dirty="0"/>
          </a:p>
        </p:txBody>
      </p:sp>
    </p:spTree>
    <p:extLst>
      <p:ext uri="{BB962C8B-B14F-4D97-AF65-F5344CB8AC3E}">
        <p14:creationId xmlns:p14="http://schemas.microsoft.com/office/powerpoint/2010/main" xmlns="" val="112706957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5486400" y="591944"/>
            <a:ext cx="3620911" cy="5961256"/>
          </a:xfrm>
          <a:prstGeom prst="rect">
            <a:avLst/>
          </a:prstGeom>
        </p:spPr>
      </p:pic>
      <p:sp>
        <p:nvSpPr>
          <p:cNvPr id="2" name="Title 1"/>
          <p:cNvSpPr>
            <a:spLocks noGrp="1"/>
          </p:cNvSpPr>
          <p:nvPr>
            <p:ph type="title"/>
          </p:nvPr>
        </p:nvSpPr>
        <p:spPr/>
        <p:txBody>
          <a:bodyPr>
            <a:normAutofit fontScale="90000"/>
          </a:bodyPr>
          <a:lstStyle/>
          <a:p>
            <a:r>
              <a:rPr lang="en-US" dirty="0"/>
              <a:t>Detecting </a:t>
            </a:r>
            <a:r>
              <a:rPr lang="en-US" dirty="0" smtClean="0"/>
              <a:t>Attacks</a:t>
            </a:r>
            <a:r>
              <a:rPr lang="en-US" dirty="0"/>
              <a:t/>
            </a:r>
            <a:br>
              <a:rPr lang="en-US" dirty="0"/>
            </a:br>
            <a:r>
              <a:rPr lang="en-US" sz="3600" dirty="0"/>
              <a:t>O&amp;M – </a:t>
            </a:r>
            <a:r>
              <a:rPr lang="en-US" sz="3600" dirty="0" smtClean="0"/>
              <a:t>Signature Updates</a:t>
            </a:r>
            <a:endParaRPr lang="en-US" sz="3600" dirty="0"/>
          </a:p>
        </p:txBody>
      </p:sp>
      <p:sp>
        <p:nvSpPr>
          <p:cNvPr id="3" name="Content Placeholder 2"/>
          <p:cNvSpPr>
            <a:spLocks noGrp="1"/>
          </p:cNvSpPr>
          <p:nvPr>
            <p:ph idx="1"/>
          </p:nvPr>
        </p:nvSpPr>
        <p:spPr>
          <a:xfrm>
            <a:off x="457200" y="1600200"/>
            <a:ext cx="5029200" cy="4525963"/>
          </a:xfrm>
        </p:spPr>
        <p:txBody>
          <a:bodyPr>
            <a:normAutofit fontScale="85000" lnSpcReduction="20000"/>
          </a:bodyPr>
          <a:lstStyle/>
          <a:p>
            <a:r>
              <a:rPr lang="en-US" dirty="0" smtClean="0"/>
              <a:t>Signature </a:t>
            </a:r>
            <a:r>
              <a:rPr lang="en-US" dirty="0"/>
              <a:t>B</a:t>
            </a:r>
            <a:r>
              <a:rPr lang="en-US" dirty="0" smtClean="0"/>
              <a:t>ased </a:t>
            </a:r>
            <a:r>
              <a:rPr lang="en-US" dirty="0" smtClean="0">
                <a:sym typeface="Wingdings"/>
              </a:rPr>
              <a:t> K</a:t>
            </a:r>
            <a:r>
              <a:rPr lang="en-US" dirty="0" smtClean="0"/>
              <a:t>eep Up </a:t>
            </a:r>
            <a:r>
              <a:rPr lang="en-US" dirty="0"/>
              <a:t>to </a:t>
            </a:r>
            <a:r>
              <a:rPr lang="en-US" dirty="0" smtClean="0"/>
              <a:t>Date</a:t>
            </a:r>
          </a:p>
          <a:p>
            <a:r>
              <a:rPr lang="en-US" dirty="0" smtClean="0"/>
              <a:t>Download from </a:t>
            </a:r>
            <a:r>
              <a:rPr lang="en-US" dirty="0" err="1" smtClean="0"/>
              <a:t>PHPIDS.org</a:t>
            </a:r>
            <a:r>
              <a:rPr lang="en-US" dirty="0" smtClean="0"/>
              <a:t> &amp; Overwrite</a:t>
            </a:r>
          </a:p>
          <a:p>
            <a:pPr lvl="1"/>
            <a:r>
              <a:rPr lang="en-US" dirty="0" err="1" smtClean="0"/>
              <a:t>default_filter.xml</a:t>
            </a:r>
            <a:endParaRPr lang="en-US" dirty="0"/>
          </a:p>
          <a:p>
            <a:pPr lvl="1"/>
            <a:r>
              <a:rPr lang="en-US" dirty="0" err="1" smtClean="0"/>
              <a:t>Converter.php</a:t>
            </a:r>
            <a:endParaRPr lang="en-US" dirty="0" smtClean="0"/>
          </a:p>
          <a:p>
            <a:r>
              <a:rPr lang="en-US" dirty="0" smtClean="0"/>
              <a:t>Every 2 or 3 Months</a:t>
            </a:r>
            <a:endParaRPr lang="en-US" dirty="0"/>
          </a:p>
          <a:p>
            <a:r>
              <a:rPr lang="en-US" dirty="0" smtClean="0"/>
              <a:t>Upgrading </a:t>
            </a:r>
            <a:r>
              <a:rPr lang="en-US" dirty="0"/>
              <a:t>PHPIDS </a:t>
            </a:r>
            <a:r>
              <a:rPr lang="en-US" dirty="0" smtClean="0"/>
              <a:t>Software</a:t>
            </a:r>
          </a:p>
          <a:p>
            <a:pPr lvl="1"/>
            <a:r>
              <a:rPr lang="en-US" dirty="0" smtClean="0"/>
              <a:t>Install in Peer Folder</a:t>
            </a:r>
          </a:p>
          <a:p>
            <a:pPr lvl="2"/>
            <a:r>
              <a:rPr lang="en-US" dirty="0"/>
              <a:t>p</a:t>
            </a:r>
            <a:r>
              <a:rPr lang="en-US" dirty="0" smtClean="0"/>
              <a:t>hpids-0.8</a:t>
            </a:r>
          </a:p>
          <a:p>
            <a:pPr lvl="1"/>
            <a:r>
              <a:rPr lang="en-US" dirty="0" smtClean="0"/>
              <a:t>Point </a:t>
            </a:r>
            <a:r>
              <a:rPr lang="en-US" dirty="0" err="1" smtClean="0"/>
              <a:t>phpids.php</a:t>
            </a:r>
            <a:r>
              <a:rPr lang="en-US" dirty="0" smtClean="0"/>
              <a:t> </a:t>
            </a:r>
            <a:r>
              <a:rPr lang="en-US" dirty="0"/>
              <a:t>P</a:t>
            </a:r>
            <a:r>
              <a:rPr lang="en-US" dirty="0" smtClean="0"/>
              <a:t>aths </a:t>
            </a:r>
            <a:r>
              <a:rPr lang="en-US" dirty="0"/>
              <a:t>to </a:t>
            </a:r>
            <a:r>
              <a:rPr lang="en-US" dirty="0" smtClean="0"/>
              <a:t>New Version</a:t>
            </a:r>
            <a:endParaRPr lang="en-US" dirty="0"/>
          </a:p>
        </p:txBody>
      </p:sp>
      <p:sp>
        <p:nvSpPr>
          <p:cNvPr id="5" name="Oval 4"/>
          <p:cNvSpPr/>
          <p:nvPr/>
        </p:nvSpPr>
        <p:spPr>
          <a:xfrm>
            <a:off x="6973585" y="3027015"/>
            <a:ext cx="2058376" cy="745505"/>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5960094" y="6122715"/>
            <a:ext cx="1855177" cy="381000"/>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8072504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Detecting </a:t>
            </a:r>
            <a:r>
              <a:rPr lang="en-US" dirty="0" smtClean="0"/>
              <a:t>Attacks</a:t>
            </a:r>
            <a:r>
              <a:rPr lang="en-US" dirty="0"/>
              <a:t/>
            </a:r>
            <a:br>
              <a:rPr lang="en-US" dirty="0"/>
            </a:br>
            <a:r>
              <a:rPr lang="en-US" sz="3600" dirty="0"/>
              <a:t>O&amp;M – </a:t>
            </a:r>
            <a:r>
              <a:rPr lang="en-US" sz="3600" dirty="0" smtClean="0"/>
              <a:t>Threshold Responses</a:t>
            </a:r>
            <a:endParaRPr lang="en-US" sz="3600" dirty="0"/>
          </a:p>
        </p:txBody>
      </p:sp>
      <p:sp>
        <p:nvSpPr>
          <p:cNvPr id="3" name="Content Placeholder 2"/>
          <p:cNvSpPr>
            <a:spLocks noGrp="1"/>
          </p:cNvSpPr>
          <p:nvPr>
            <p:ph idx="1"/>
          </p:nvPr>
        </p:nvSpPr>
        <p:spPr/>
        <p:txBody>
          <a:bodyPr>
            <a:normAutofit/>
          </a:bodyPr>
          <a:lstStyle/>
          <a:p>
            <a:r>
              <a:rPr lang="en-US" dirty="0" smtClean="0"/>
              <a:t>Modify </a:t>
            </a:r>
            <a:r>
              <a:rPr lang="en-US" dirty="0" err="1" smtClean="0"/>
              <a:t>phpids.php</a:t>
            </a:r>
            <a:endParaRPr lang="en-US" dirty="0" smtClean="0"/>
          </a:p>
          <a:p>
            <a:r>
              <a:rPr lang="en-US" dirty="0" smtClean="0"/>
              <a:t>Suggested</a:t>
            </a:r>
          </a:p>
          <a:p>
            <a:pPr lvl="1"/>
            <a:r>
              <a:rPr lang="en-US" dirty="0" smtClean="0"/>
              <a:t>Log </a:t>
            </a:r>
            <a:r>
              <a:rPr lang="en-US" dirty="0"/>
              <a:t>to </a:t>
            </a:r>
            <a:r>
              <a:rPr lang="en-US" dirty="0" smtClean="0"/>
              <a:t>File			10 </a:t>
            </a:r>
            <a:r>
              <a:rPr lang="en-US" dirty="0" smtClean="0">
                <a:sym typeface="Wingdings"/>
              </a:rPr>
              <a:t> 24</a:t>
            </a:r>
            <a:endParaRPr lang="en-US" dirty="0" smtClean="0"/>
          </a:p>
          <a:p>
            <a:pPr lvl="1"/>
            <a:r>
              <a:rPr lang="en-US" dirty="0" smtClean="0"/>
              <a:t>Log </a:t>
            </a:r>
            <a:r>
              <a:rPr lang="en-US" dirty="0"/>
              <a:t>to </a:t>
            </a:r>
            <a:r>
              <a:rPr lang="en-US" dirty="0" smtClean="0"/>
              <a:t>DB			25 </a:t>
            </a:r>
            <a:r>
              <a:rPr lang="en-US" dirty="0" smtClean="0">
                <a:sym typeface="Wingdings"/>
              </a:rPr>
              <a:t> 49</a:t>
            </a:r>
            <a:endParaRPr lang="en-US" dirty="0"/>
          </a:p>
          <a:p>
            <a:pPr lvl="1"/>
            <a:r>
              <a:rPr lang="en-US" dirty="0" smtClean="0"/>
              <a:t>Email </a:t>
            </a:r>
            <a:r>
              <a:rPr lang="en-US" dirty="0" err="1" smtClean="0"/>
              <a:t>Alrt</a:t>
            </a:r>
            <a:r>
              <a:rPr lang="en-US" dirty="0" smtClean="0"/>
              <a:t>			50 </a:t>
            </a:r>
            <a:r>
              <a:rPr lang="en-US" dirty="0" smtClean="0">
                <a:sym typeface="Wingdings"/>
              </a:rPr>
              <a:t> 99</a:t>
            </a:r>
            <a:endParaRPr lang="en-US" dirty="0" smtClean="0"/>
          </a:p>
          <a:p>
            <a:pPr lvl="1"/>
            <a:r>
              <a:rPr lang="en-US" dirty="0" smtClean="0"/>
              <a:t>Terminate Page	&gt;= 100</a:t>
            </a:r>
          </a:p>
        </p:txBody>
      </p:sp>
      <p:pic>
        <p:nvPicPr>
          <p:cNvPr id="10" name="Picture 9"/>
          <p:cNvPicPr>
            <a:picLocks noChangeAspect="1"/>
          </p:cNvPicPr>
          <p:nvPr/>
        </p:nvPicPr>
        <p:blipFill>
          <a:blip r:embed="rId3"/>
          <a:stretch>
            <a:fillRect/>
          </a:stretch>
        </p:blipFill>
        <p:spPr>
          <a:xfrm>
            <a:off x="5486400" y="591944"/>
            <a:ext cx="3620911" cy="5961256"/>
          </a:xfrm>
          <a:prstGeom prst="rect">
            <a:avLst/>
          </a:prstGeom>
        </p:spPr>
      </p:pic>
      <p:sp>
        <p:nvSpPr>
          <p:cNvPr id="11" name="Oval 10"/>
          <p:cNvSpPr/>
          <p:nvPr/>
        </p:nvSpPr>
        <p:spPr>
          <a:xfrm>
            <a:off x="5960094" y="6122715"/>
            <a:ext cx="1855177" cy="381000"/>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3850322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PHP in Your Environment</a:t>
            </a:r>
            <a:endParaRPr lang="en-US" dirty="0"/>
          </a:p>
        </p:txBody>
      </p:sp>
      <p:sp>
        <p:nvSpPr>
          <p:cNvPr id="3" name="Content Placeholder 2"/>
          <p:cNvSpPr>
            <a:spLocks noGrp="1"/>
          </p:cNvSpPr>
          <p:nvPr>
            <p:ph idx="1"/>
          </p:nvPr>
        </p:nvSpPr>
        <p:spPr/>
        <p:txBody>
          <a:bodyPr/>
          <a:lstStyle/>
          <a:p>
            <a:r>
              <a:rPr lang="en-US" dirty="0" smtClean="0"/>
              <a:t>Risk Management</a:t>
            </a:r>
            <a:endParaRPr lang="en-US" dirty="0"/>
          </a:p>
          <a:p>
            <a:r>
              <a:rPr lang="en-US" dirty="0" smtClean="0"/>
              <a:t>PHP Mitigations</a:t>
            </a:r>
            <a:endParaRPr lang="en-US" dirty="0"/>
          </a:p>
          <a:p>
            <a:r>
              <a:rPr lang="en-US" dirty="0" smtClean="0"/>
              <a:t>Platform</a:t>
            </a:r>
            <a:r>
              <a:rPr lang="en-US" dirty="0"/>
              <a:t>/Network </a:t>
            </a:r>
            <a:r>
              <a:rPr lang="en-US" dirty="0" smtClean="0"/>
              <a:t>Mitigations</a:t>
            </a:r>
            <a:endParaRPr lang="en-US" dirty="0"/>
          </a:p>
        </p:txBody>
      </p:sp>
    </p:spTree>
    <p:extLst>
      <p:ext uri="{BB962C8B-B14F-4D97-AF65-F5344CB8AC3E}">
        <p14:creationId xmlns:p14="http://schemas.microsoft.com/office/powerpoint/2010/main" xmlns="" val="1516437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Handling PHP in Your Environment</a:t>
            </a:r>
            <a:br>
              <a:rPr lang="en-US" dirty="0"/>
            </a:br>
            <a:r>
              <a:rPr lang="en-US" sz="3600" dirty="0" smtClean="0"/>
              <a:t>Risk Management</a:t>
            </a:r>
            <a:endParaRPr lang="en-US" sz="3600" dirty="0"/>
          </a:p>
        </p:txBody>
      </p:sp>
      <p:sp>
        <p:nvSpPr>
          <p:cNvPr id="3" name="Content Placeholder 2"/>
          <p:cNvSpPr>
            <a:spLocks noGrp="1"/>
          </p:cNvSpPr>
          <p:nvPr>
            <p:ph idx="1"/>
          </p:nvPr>
        </p:nvSpPr>
        <p:spPr/>
        <p:txBody>
          <a:bodyPr>
            <a:normAutofit/>
          </a:bodyPr>
          <a:lstStyle/>
          <a:p>
            <a:r>
              <a:rPr lang="en-US" dirty="0"/>
              <a:t>Secure Is in the Eye of the Beholder</a:t>
            </a:r>
          </a:p>
          <a:p>
            <a:pPr lvl="1"/>
            <a:r>
              <a:rPr lang="en-US" dirty="0" smtClean="0"/>
              <a:t>Risk-Based Approach</a:t>
            </a:r>
          </a:p>
          <a:p>
            <a:pPr lvl="1"/>
            <a:r>
              <a:rPr lang="en-US" dirty="0" smtClean="0"/>
              <a:t>NIST RMF, FAIR, OCTAVE</a:t>
            </a:r>
          </a:p>
          <a:p>
            <a:pPr lvl="1"/>
            <a:r>
              <a:rPr lang="en-US" dirty="0" smtClean="0"/>
              <a:t>Security Level Directly Proportional to Costs</a:t>
            </a:r>
          </a:p>
          <a:p>
            <a:pPr lvl="2"/>
            <a:r>
              <a:rPr lang="en-US" dirty="0" smtClean="0"/>
              <a:t>High Security </a:t>
            </a:r>
            <a:r>
              <a:rPr lang="en-US" dirty="0" smtClean="0">
                <a:sym typeface="Wingdings"/>
              </a:rPr>
              <a:t> Costs More</a:t>
            </a:r>
            <a:endParaRPr lang="en-US" dirty="0" smtClean="0"/>
          </a:p>
          <a:p>
            <a:pPr lvl="2"/>
            <a:r>
              <a:rPr lang="en-US" dirty="0" smtClean="0"/>
              <a:t>Low Security </a:t>
            </a:r>
            <a:r>
              <a:rPr lang="en-US" dirty="0" smtClean="0">
                <a:sym typeface="Wingdings"/>
              </a:rPr>
              <a:t> Costs Less</a:t>
            </a:r>
            <a:endParaRPr lang="en-US" dirty="0" smtClean="0"/>
          </a:p>
          <a:p>
            <a:pPr lvl="1"/>
            <a:r>
              <a:rPr lang="en-US" dirty="0" smtClean="0"/>
              <a:t>Get’s Back to Risk Management</a:t>
            </a:r>
          </a:p>
        </p:txBody>
      </p:sp>
      <p:pic>
        <p:nvPicPr>
          <p:cNvPr id="6" name="Picture 5"/>
          <p:cNvPicPr>
            <a:picLocks noChangeAspect="1"/>
          </p:cNvPicPr>
          <p:nvPr/>
        </p:nvPicPr>
        <p:blipFill>
          <a:blip r:embed="rId3"/>
          <a:stretch>
            <a:fillRect/>
          </a:stretch>
        </p:blipFill>
        <p:spPr>
          <a:xfrm>
            <a:off x="6129688" y="4435430"/>
            <a:ext cx="2557112" cy="2003071"/>
          </a:xfrm>
          <a:prstGeom prst="rect">
            <a:avLst/>
          </a:prstGeom>
        </p:spPr>
      </p:pic>
    </p:spTree>
    <p:extLst>
      <p:ext uri="{BB962C8B-B14F-4D97-AF65-F5344CB8AC3E}">
        <p14:creationId xmlns:p14="http://schemas.microsoft.com/office/powerpoint/2010/main" xmlns="" val="4849109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Handling PHP in Your </a:t>
            </a:r>
            <a:r>
              <a:rPr lang="en-US" dirty="0" smtClean="0"/>
              <a:t>Environment</a:t>
            </a:r>
            <a:br>
              <a:rPr lang="en-US" dirty="0" smtClean="0"/>
            </a:br>
            <a:r>
              <a:rPr lang="en-US" sz="3600" dirty="0" smtClean="0"/>
              <a:t>PHP Mitigations – Top 5</a:t>
            </a:r>
            <a:endParaRPr lang="en-US" sz="3600"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startAt="5"/>
            </a:pPr>
            <a:r>
              <a:rPr lang="en-US" dirty="0" smtClean="0"/>
              <a:t>Harden Environment</a:t>
            </a:r>
          </a:p>
          <a:p>
            <a:pPr lvl="1"/>
            <a:r>
              <a:rPr lang="en-US" dirty="0" err="1" smtClean="0"/>
              <a:t>Suhosin</a:t>
            </a:r>
            <a:endParaRPr lang="en-US" dirty="0"/>
          </a:p>
          <a:p>
            <a:pPr lvl="1"/>
            <a:r>
              <a:rPr lang="en-US" dirty="0" err="1" smtClean="0"/>
              <a:t>PhpSecInfo</a:t>
            </a:r>
            <a:endParaRPr lang="en-US" dirty="0" smtClean="0"/>
          </a:p>
          <a:p>
            <a:pPr marL="514350" indent="-514350">
              <a:buFont typeface="+mj-lt"/>
              <a:buAutoNum type="arabicPeriod" startAt="4"/>
            </a:pPr>
            <a:r>
              <a:rPr lang="en-US" dirty="0" smtClean="0"/>
              <a:t>Analyze Source Code</a:t>
            </a:r>
          </a:p>
          <a:p>
            <a:pPr lvl="1"/>
            <a:r>
              <a:rPr lang="en-US" dirty="0"/>
              <a:t>N00b Programmers</a:t>
            </a:r>
            <a:endParaRPr lang="en-US" dirty="0" smtClean="0"/>
          </a:p>
          <a:p>
            <a:pPr lvl="1"/>
            <a:r>
              <a:rPr lang="en-US" dirty="0" err="1" smtClean="0"/>
              <a:t>Yasca</a:t>
            </a:r>
            <a:endParaRPr lang="en-US" dirty="0"/>
          </a:p>
          <a:p>
            <a:pPr lvl="2"/>
            <a:r>
              <a:rPr lang="en-US" dirty="0" smtClean="0"/>
              <a:t>Incorporates </a:t>
            </a:r>
            <a:r>
              <a:rPr lang="en-US" dirty="0" err="1"/>
              <a:t>PHPLint</a:t>
            </a:r>
            <a:r>
              <a:rPr lang="en-US" dirty="0"/>
              <a:t>, </a:t>
            </a:r>
            <a:r>
              <a:rPr lang="en-US" dirty="0" smtClean="0"/>
              <a:t>Pixy</a:t>
            </a:r>
          </a:p>
          <a:p>
            <a:pPr lvl="1"/>
            <a:r>
              <a:rPr lang="en-US" dirty="0" err="1" smtClean="0"/>
              <a:t>CodeSecure</a:t>
            </a:r>
            <a:r>
              <a:rPr lang="en-US" dirty="0" smtClean="0"/>
              <a:t> </a:t>
            </a:r>
            <a:r>
              <a:rPr lang="en-US" dirty="0"/>
              <a:t>Community </a:t>
            </a:r>
            <a:r>
              <a:rPr lang="en-US" dirty="0" smtClean="0"/>
              <a:t>Edition</a:t>
            </a:r>
          </a:p>
          <a:p>
            <a:pPr lvl="2"/>
            <a:r>
              <a:rPr lang="en-US" dirty="0" smtClean="0"/>
              <a:t>Limited to 10K LOC</a:t>
            </a:r>
            <a:endParaRPr lang="en-US" dirty="0"/>
          </a:p>
          <a:p>
            <a:pPr lvl="1"/>
            <a:r>
              <a:rPr lang="en-US" dirty="0" err="1" smtClean="0"/>
              <a:t>Syhunt</a:t>
            </a:r>
            <a:r>
              <a:rPr lang="en-US" dirty="0" smtClean="0"/>
              <a:t> </a:t>
            </a:r>
            <a:r>
              <a:rPr lang="en-US" dirty="0" err="1" smtClean="0"/>
              <a:t>Sandcat</a:t>
            </a:r>
            <a:r>
              <a:rPr lang="en-US" dirty="0" smtClean="0"/>
              <a:t> Mini</a:t>
            </a:r>
          </a:p>
        </p:txBody>
      </p:sp>
      <p:pic>
        <p:nvPicPr>
          <p:cNvPr id="4" name="Picture 3"/>
          <p:cNvPicPr>
            <a:picLocks noChangeAspect="1"/>
          </p:cNvPicPr>
          <p:nvPr/>
        </p:nvPicPr>
        <p:blipFill>
          <a:blip r:embed="rId3"/>
          <a:stretch>
            <a:fillRect/>
          </a:stretch>
        </p:blipFill>
        <p:spPr>
          <a:xfrm>
            <a:off x="6051837" y="2551302"/>
            <a:ext cx="1931347" cy="952565"/>
          </a:xfrm>
          <a:prstGeom prst="rect">
            <a:avLst/>
          </a:prstGeom>
        </p:spPr>
      </p:pic>
      <p:pic>
        <p:nvPicPr>
          <p:cNvPr id="5" name="Picture 4"/>
          <p:cNvPicPr>
            <a:picLocks noChangeAspect="1"/>
          </p:cNvPicPr>
          <p:nvPr/>
        </p:nvPicPr>
        <p:blipFill>
          <a:blip r:embed="rId4"/>
          <a:stretch>
            <a:fillRect/>
          </a:stretch>
        </p:blipFill>
        <p:spPr>
          <a:xfrm>
            <a:off x="5789335" y="3637788"/>
            <a:ext cx="2456350" cy="1965080"/>
          </a:xfrm>
          <a:prstGeom prst="rect">
            <a:avLst/>
          </a:prstGeom>
        </p:spPr>
      </p:pic>
      <p:pic>
        <p:nvPicPr>
          <p:cNvPr id="6" name="Picture 5"/>
          <p:cNvPicPr>
            <a:picLocks noChangeAspect="1"/>
          </p:cNvPicPr>
          <p:nvPr/>
        </p:nvPicPr>
        <p:blipFill>
          <a:blip r:embed="rId5"/>
          <a:stretch>
            <a:fillRect/>
          </a:stretch>
        </p:blipFill>
        <p:spPr>
          <a:xfrm>
            <a:off x="5817360" y="5765648"/>
            <a:ext cx="2400300" cy="520700"/>
          </a:xfrm>
          <a:prstGeom prst="rect">
            <a:avLst/>
          </a:prstGeom>
        </p:spPr>
      </p:pic>
      <p:pic>
        <p:nvPicPr>
          <p:cNvPr id="7" name="Picture 6"/>
          <p:cNvPicPr>
            <a:picLocks noChangeAspect="1"/>
          </p:cNvPicPr>
          <p:nvPr/>
        </p:nvPicPr>
        <p:blipFill>
          <a:blip r:embed="rId6"/>
          <a:stretch>
            <a:fillRect/>
          </a:stretch>
        </p:blipFill>
        <p:spPr>
          <a:xfrm>
            <a:off x="5923477" y="1638578"/>
            <a:ext cx="2188066" cy="778803"/>
          </a:xfrm>
          <a:prstGeom prst="rect">
            <a:avLst/>
          </a:prstGeom>
        </p:spPr>
      </p:pic>
      <p:pic>
        <p:nvPicPr>
          <p:cNvPr id="8" name="Picture 7"/>
          <p:cNvPicPr>
            <a:picLocks noChangeAspect="1"/>
          </p:cNvPicPr>
          <p:nvPr/>
        </p:nvPicPr>
        <p:blipFill>
          <a:blip r:embed="rId7"/>
          <a:stretch>
            <a:fillRect/>
          </a:stretch>
        </p:blipFill>
        <p:spPr>
          <a:xfrm>
            <a:off x="7789673" y="93193"/>
            <a:ext cx="1345098" cy="1176960"/>
          </a:xfrm>
          <a:prstGeom prst="rect">
            <a:avLst/>
          </a:prstGeom>
        </p:spPr>
      </p:pic>
    </p:spTree>
    <p:extLst>
      <p:ext uri="{BB962C8B-B14F-4D97-AF65-F5344CB8AC3E}">
        <p14:creationId xmlns:p14="http://schemas.microsoft.com/office/powerpoint/2010/main" xmlns="" val="6125698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Handling PHP in Your Environment</a:t>
            </a:r>
            <a:br>
              <a:rPr lang="en-US" dirty="0"/>
            </a:br>
            <a:r>
              <a:rPr lang="en-US" sz="3600" dirty="0"/>
              <a:t>PHP Mitigations – Top 5</a:t>
            </a:r>
          </a:p>
        </p:txBody>
      </p:sp>
      <p:sp>
        <p:nvSpPr>
          <p:cNvPr id="3" name="Content Placeholder 2"/>
          <p:cNvSpPr>
            <a:spLocks noGrp="1"/>
          </p:cNvSpPr>
          <p:nvPr>
            <p:ph idx="1"/>
          </p:nvPr>
        </p:nvSpPr>
        <p:spPr/>
        <p:txBody>
          <a:bodyPr/>
          <a:lstStyle/>
          <a:p>
            <a:pPr marL="514350" indent="-514350">
              <a:buFont typeface="+mj-lt"/>
              <a:buAutoNum type="arabicPeriod" startAt="3"/>
            </a:pPr>
            <a:r>
              <a:rPr lang="en-US" dirty="0" smtClean="0"/>
              <a:t>Sanitize Everything In &amp; Out</a:t>
            </a:r>
          </a:p>
          <a:p>
            <a:pPr lvl="1"/>
            <a:r>
              <a:rPr lang="en-US" dirty="0" smtClean="0"/>
              <a:t>Extension: Filter</a:t>
            </a:r>
          </a:p>
          <a:p>
            <a:pPr lvl="1"/>
            <a:r>
              <a:rPr lang="en-US" dirty="0" smtClean="0"/>
              <a:t>Methods: </a:t>
            </a:r>
            <a:r>
              <a:rPr lang="en-US" dirty="0" err="1" smtClean="0"/>
              <a:t>htmlspecialchars</a:t>
            </a:r>
            <a:r>
              <a:rPr lang="en-US" dirty="0" smtClean="0"/>
              <a:t>(), </a:t>
            </a:r>
            <a:r>
              <a:rPr lang="en-US" dirty="0" err="1" smtClean="0"/>
              <a:t>strtr</a:t>
            </a:r>
            <a:r>
              <a:rPr lang="en-US" dirty="0" smtClean="0"/>
              <a:t>(), </a:t>
            </a:r>
            <a:r>
              <a:rPr lang="en-US" dirty="0" err="1" smtClean="0"/>
              <a:t>strip_tags</a:t>
            </a:r>
            <a:r>
              <a:rPr lang="en-US" dirty="0" smtClean="0"/>
              <a:t>()</a:t>
            </a:r>
          </a:p>
          <a:p>
            <a:pPr lvl="1"/>
            <a:r>
              <a:rPr lang="en-US" dirty="0" smtClean="0"/>
              <a:t>System Calls: </a:t>
            </a:r>
            <a:r>
              <a:rPr lang="en-US" dirty="0" err="1" smtClean="0"/>
              <a:t>escapeshellcmd</a:t>
            </a:r>
            <a:r>
              <a:rPr lang="en-US" dirty="0" smtClean="0"/>
              <a:t>(), </a:t>
            </a:r>
            <a:r>
              <a:rPr lang="en-US" dirty="0" err="1" smtClean="0"/>
              <a:t>escapeshellarg</a:t>
            </a:r>
            <a:r>
              <a:rPr lang="en-US" dirty="0"/>
              <a:t>(), : utf8_decode(</a:t>
            </a:r>
            <a:r>
              <a:rPr lang="en-US" dirty="0" smtClean="0"/>
              <a:t>)</a:t>
            </a:r>
            <a:endParaRPr lang="en-US" dirty="0"/>
          </a:p>
        </p:txBody>
      </p:sp>
      <p:pic>
        <p:nvPicPr>
          <p:cNvPr id="4" name="Picture 3"/>
          <p:cNvPicPr>
            <a:picLocks noChangeAspect="1"/>
          </p:cNvPicPr>
          <p:nvPr/>
        </p:nvPicPr>
        <p:blipFill>
          <a:blip r:embed="rId3"/>
          <a:stretch>
            <a:fillRect/>
          </a:stretch>
        </p:blipFill>
        <p:spPr>
          <a:xfrm>
            <a:off x="3369451" y="4289942"/>
            <a:ext cx="2460773" cy="1708870"/>
          </a:xfrm>
          <a:prstGeom prst="rect">
            <a:avLst/>
          </a:prstGeom>
        </p:spPr>
      </p:pic>
      <p:pic>
        <p:nvPicPr>
          <p:cNvPr id="5" name="Picture 4"/>
          <p:cNvPicPr>
            <a:picLocks noChangeAspect="1"/>
          </p:cNvPicPr>
          <p:nvPr/>
        </p:nvPicPr>
        <p:blipFill>
          <a:blip r:embed="rId4"/>
          <a:stretch>
            <a:fillRect/>
          </a:stretch>
        </p:blipFill>
        <p:spPr>
          <a:xfrm>
            <a:off x="7789673" y="93193"/>
            <a:ext cx="1345098" cy="1176960"/>
          </a:xfrm>
          <a:prstGeom prst="rect">
            <a:avLst/>
          </a:prstGeom>
        </p:spPr>
      </p:pic>
    </p:spTree>
    <p:extLst>
      <p:ext uri="{BB962C8B-B14F-4D97-AF65-F5344CB8AC3E}">
        <p14:creationId xmlns:p14="http://schemas.microsoft.com/office/powerpoint/2010/main" xmlns="" val="16666430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Handling PHP in Your Environment</a:t>
            </a:r>
            <a:br>
              <a:rPr lang="en-US" dirty="0"/>
            </a:br>
            <a:r>
              <a:rPr lang="en-US" sz="3600" dirty="0"/>
              <a:t>PHP Mitigations – Top 5</a:t>
            </a:r>
          </a:p>
        </p:txBody>
      </p:sp>
      <p:sp>
        <p:nvSpPr>
          <p:cNvPr id="3" name="Content Placeholder 2"/>
          <p:cNvSpPr>
            <a:spLocks noGrp="1"/>
          </p:cNvSpPr>
          <p:nvPr>
            <p:ph idx="1"/>
          </p:nvPr>
        </p:nvSpPr>
        <p:spPr/>
        <p:txBody>
          <a:bodyPr>
            <a:normAutofit/>
          </a:bodyPr>
          <a:lstStyle/>
          <a:p>
            <a:pPr marL="514350" indent="-514350">
              <a:buFont typeface="+mj-lt"/>
              <a:buAutoNum type="arabicPeriod" startAt="2"/>
            </a:pPr>
            <a:r>
              <a:rPr lang="en-US" dirty="0" smtClean="0"/>
              <a:t>Avoid SQL Concatenated Strings Escape</a:t>
            </a:r>
          </a:p>
          <a:p>
            <a:pPr lvl="1"/>
            <a:r>
              <a:rPr lang="en-US" dirty="0" smtClean="0"/>
              <a:t>Require PDO Class for Prepared DB Statements </a:t>
            </a:r>
          </a:p>
          <a:p>
            <a:pPr lvl="1"/>
            <a:r>
              <a:rPr lang="en-US" dirty="0" err="1" smtClean="0"/>
              <a:t>mysql_real_escape_string</a:t>
            </a:r>
            <a:r>
              <a:rPr lang="en-US" dirty="0" smtClean="0"/>
              <a:t>() if Absolutely Can’t</a:t>
            </a:r>
          </a:p>
        </p:txBody>
      </p:sp>
      <p:pic>
        <p:nvPicPr>
          <p:cNvPr id="5" name="Picture 4"/>
          <p:cNvPicPr>
            <a:picLocks noChangeAspect="1"/>
          </p:cNvPicPr>
          <p:nvPr/>
        </p:nvPicPr>
        <p:blipFill>
          <a:blip r:embed="rId3"/>
          <a:stretch>
            <a:fillRect/>
          </a:stretch>
        </p:blipFill>
        <p:spPr>
          <a:xfrm>
            <a:off x="857392" y="3571682"/>
            <a:ext cx="7581689" cy="2333703"/>
          </a:xfrm>
          <a:prstGeom prst="rect">
            <a:avLst/>
          </a:prstGeom>
        </p:spPr>
      </p:pic>
      <p:sp>
        <p:nvSpPr>
          <p:cNvPr id="6" name="TextBox 5"/>
          <p:cNvSpPr txBox="1"/>
          <p:nvPr/>
        </p:nvSpPr>
        <p:spPr>
          <a:xfrm>
            <a:off x="3430805" y="6093174"/>
            <a:ext cx="2319077" cy="369332"/>
          </a:xfrm>
          <a:prstGeom prst="rect">
            <a:avLst/>
          </a:prstGeom>
          <a:noFill/>
        </p:spPr>
        <p:txBody>
          <a:bodyPr wrap="none" rtlCol="0">
            <a:spAutoFit/>
          </a:bodyPr>
          <a:lstStyle/>
          <a:p>
            <a:r>
              <a:rPr lang="en-US" dirty="0"/>
              <a:t>https://</a:t>
            </a:r>
            <a:r>
              <a:rPr lang="en-US" dirty="0" err="1"/>
              <a:t>xkcd.com</a:t>
            </a:r>
            <a:r>
              <a:rPr lang="en-US" dirty="0"/>
              <a:t>/327/</a:t>
            </a:r>
          </a:p>
        </p:txBody>
      </p:sp>
      <p:pic>
        <p:nvPicPr>
          <p:cNvPr id="7" name="Picture 6"/>
          <p:cNvPicPr>
            <a:picLocks noChangeAspect="1"/>
          </p:cNvPicPr>
          <p:nvPr/>
        </p:nvPicPr>
        <p:blipFill>
          <a:blip r:embed="rId4"/>
          <a:stretch>
            <a:fillRect/>
          </a:stretch>
        </p:blipFill>
        <p:spPr>
          <a:xfrm>
            <a:off x="7789673" y="93193"/>
            <a:ext cx="1345098" cy="1176960"/>
          </a:xfrm>
          <a:prstGeom prst="rect">
            <a:avLst/>
          </a:prstGeom>
        </p:spPr>
      </p:pic>
    </p:spTree>
    <p:extLst>
      <p:ext uri="{BB962C8B-B14F-4D97-AF65-F5344CB8AC3E}">
        <p14:creationId xmlns:p14="http://schemas.microsoft.com/office/powerpoint/2010/main" xmlns="" val="3715020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Handling PHP in Your Environment</a:t>
            </a:r>
            <a:br>
              <a:rPr lang="en-US" dirty="0"/>
            </a:br>
            <a:r>
              <a:rPr lang="en-US" sz="3600" dirty="0"/>
              <a:t>PHP Mitigations – Top 5</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smtClean="0"/>
              <a:t>Monitor, Monitor, Monitor</a:t>
            </a:r>
          </a:p>
        </p:txBody>
      </p:sp>
      <p:pic>
        <p:nvPicPr>
          <p:cNvPr id="6" name="Picture 5"/>
          <p:cNvPicPr>
            <a:picLocks noChangeAspect="1"/>
          </p:cNvPicPr>
          <p:nvPr/>
        </p:nvPicPr>
        <p:blipFill>
          <a:blip r:embed="rId3"/>
          <a:stretch>
            <a:fillRect/>
          </a:stretch>
        </p:blipFill>
        <p:spPr>
          <a:xfrm>
            <a:off x="1586499" y="3463272"/>
            <a:ext cx="5508180" cy="1118849"/>
          </a:xfrm>
          <a:prstGeom prst="rect">
            <a:avLst/>
          </a:prstGeom>
        </p:spPr>
      </p:pic>
      <p:pic>
        <p:nvPicPr>
          <p:cNvPr id="5" name="Picture 4"/>
          <p:cNvPicPr>
            <a:picLocks noChangeAspect="1"/>
          </p:cNvPicPr>
          <p:nvPr/>
        </p:nvPicPr>
        <p:blipFill>
          <a:blip r:embed="rId4"/>
          <a:stretch>
            <a:fillRect/>
          </a:stretch>
        </p:blipFill>
        <p:spPr>
          <a:xfrm>
            <a:off x="7789673" y="93193"/>
            <a:ext cx="1345098" cy="1176960"/>
          </a:xfrm>
          <a:prstGeom prst="rect">
            <a:avLst/>
          </a:prstGeom>
        </p:spPr>
      </p:pic>
    </p:spTree>
    <p:extLst>
      <p:ext uri="{BB962C8B-B14F-4D97-AF65-F5344CB8AC3E}">
        <p14:creationId xmlns:p14="http://schemas.microsoft.com/office/powerpoint/2010/main" xmlns="" val="3437773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Handling PHP in Your </a:t>
            </a:r>
            <a:r>
              <a:rPr lang="en-US" dirty="0"/>
              <a:t>Environment</a:t>
            </a:r>
            <a:br>
              <a:rPr lang="en-US" dirty="0"/>
            </a:br>
            <a:r>
              <a:rPr lang="en-US" sz="3600" dirty="0"/>
              <a:t>Platform/Network Mitigations </a:t>
            </a:r>
          </a:p>
        </p:txBody>
      </p:sp>
      <p:sp>
        <p:nvSpPr>
          <p:cNvPr id="3" name="Content Placeholder 2"/>
          <p:cNvSpPr>
            <a:spLocks noGrp="1"/>
          </p:cNvSpPr>
          <p:nvPr>
            <p:ph idx="1"/>
          </p:nvPr>
        </p:nvSpPr>
        <p:spPr/>
        <p:txBody>
          <a:bodyPr>
            <a:normAutofit fontScale="70000" lnSpcReduction="20000"/>
          </a:bodyPr>
          <a:lstStyle/>
          <a:p>
            <a:r>
              <a:rPr lang="en-US" dirty="0" smtClean="0"/>
              <a:t>Network</a:t>
            </a:r>
          </a:p>
          <a:p>
            <a:pPr lvl="1"/>
            <a:r>
              <a:rPr lang="en-US" dirty="0" smtClean="0"/>
              <a:t>Firewalls</a:t>
            </a:r>
          </a:p>
          <a:p>
            <a:pPr lvl="1"/>
            <a:r>
              <a:rPr lang="en-US" dirty="0" smtClean="0"/>
              <a:t>IDS</a:t>
            </a:r>
          </a:p>
          <a:p>
            <a:r>
              <a:rPr lang="en-US" dirty="0" smtClean="0"/>
              <a:t>Platform</a:t>
            </a:r>
          </a:p>
          <a:p>
            <a:pPr lvl="1"/>
            <a:r>
              <a:rPr lang="en-US" dirty="0" smtClean="0"/>
              <a:t>Harden OS &amp; Other Applications</a:t>
            </a:r>
          </a:p>
          <a:p>
            <a:pPr lvl="1"/>
            <a:r>
              <a:rPr lang="en-US" dirty="0" smtClean="0"/>
              <a:t>Keep Everything Patched</a:t>
            </a:r>
          </a:p>
          <a:p>
            <a:pPr lvl="1"/>
            <a:r>
              <a:rPr lang="en-US" dirty="0" smtClean="0"/>
              <a:t>Antivirus with Updated Sigs</a:t>
            </a:r>
            <a:endParaRPr lang="en-US" dirty="0"/>
          </a:p>
          <a:p>
            <a:r>
              <a:rPr lang="en-US" dirty="0" smtClean="0"/>
              <a:t>Web</a:t>
            </a:r>
          </a:p>
          <a:p>
            <a:pPr lvl="1"/>
            <a:r>
              <a:rPr lang="en-US" dirty="0" smtClean="0"/>
              <a:t>Harden Web Server</a:t>
            </a:r>
          </a:p>
          <a:p>
            <a:pPr lvl="1"/>
            <a:r>
              <a:rPr lang="en-US" dirty="0" smtClean="0"/>
              <a:t>WAFs</a:t>
            </a:r>
          </a:p>
          <a:p>
            <a:r>
              <a:rPr lang="en-US" dirty="0" smtClean="0"/>
              <a:t>Testing</a:t>
            </a:r>
          </a:p>
          <a:p>
            <a:pPr lvl="1"/>
            <a:r>
              <a:rPr lang="en-US" dirty="0" smtClean="0"/>
              <a:t>Regular Vulnerability Testing</a:t>
            </a:r>
          </a:p>
          <a:p>
            <a:pPr lvl="1"/>
            <a:r>
              <a:rPr lang="en-US" dirty="0" smtClean="0"/>
              <a:t>Periodic Penetration Testing</a:t>
            </a:r>
          </a:p>
        </p:txBody>
      </p:sp>
      <p:pic>
        <p:nvPicPr>
          <p:cNvPr id="4" name="Picture 3"/>
          <p:cNvPicPr>
            <a:picLocks noChangeAspect="1"/>
          </p:cNvPicPr>
          <p:nvPr/>
        </p:nvPicPr>
        <p:blipFill>
          <a:blip r:embed="rId3"/>
          <a:stretch>
            <a:fillRect/>
          </a:stretch>
        </p:blipFill>
        <p:spPr>
          <a:xfrm>
            <a:off x="4779951" y="1996080"/>
            <a:ext cx="3782538" cy="3765500"/>
          </a:xfrm>
          <a:prstGeom prst="rect">
            <a:avLst/>
          </a:prstGeom>
        </p:spPr>
      </p:pic>
    </p:spTree>
    <p:extLst>
      <p:ext uri="{BB962C8B-B14F-4D97-AF65-F5344CB8AC3E}">
        <p14:creationId xmlns:p14="http://schemas.microsoft.com/office/powerpoint/2010/main" xmlns="" val="291192795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General Thoughts</a:t>
            </a:r>
            <a:endParaRPr lang="en-US" sz="3600" dirty="0"/>
          </a:p>
        </p:txBody>
      </p:sp>
      <p:sp>
        <p:nvSpPr>
          <p:cNvPr id="3" name="Content Placeholder 2"/>
          <p:cNvSpPr>
            <a:spLocks noGrp="1"/>
          </p:cNvSpPr>
          <p:nvPr>
            <p:ph idx="1"/>
          </p:nvPr>
        </p:nvSpPr>
        <p:spPr/>
        <p:txBody>
          <a:bodyPr>
            <a:normAutofit/>
          </a:bodyPr>
          <a:lstStyle/>
          <a:p>
            <a:r>
              <a:rPr lang="en-US" dirty="0" smtClean="0"/>
              <a:t>Do as Many as Possible Quick Hits</a:t>
            </a:r>
          </a:p>
          <a:p>
            <a:pPr lvl="1"/>
            <a:r>
              <a:rPr lang="en-US" dirty="0" smtClean="0"/>
              <a:t>Perhaps Some from Top 5</a:t>
            </a:r>
          </a:p>
          <a:p>
            <a:r>
              <a:rPr lang="en-US" dirty="0" smtClean="0"/>
              <a:t>Perform Risk Assessment</a:t>
            </a:r>
          </a:p>
          <a:p>
            <a:r>
              <a:rPr lang="en-US" dirty="0" smtClean="0"/>
              <a:t>Implement Mitigating Additional Controls</a:t>
            </a:r>
          </a:p>
          <a:p>
            <a:pPr lvl="1"/>
            <a:r>
              <a:rPr lang="en-US" dirty="0" smtClean="0"/>
              <a:t>Perhaps Based on One of </a:t>
            </a:r>
            <a:r>
              <a:rPr lang="en-US" dirty="0"/>
              <a:t>Best Practice Guidelines</a:t>
            </a:r>
            <a:endParaRPr lang="en-US" dirty="0" smtClean="0"/>
          </a:p>
          <a:p>
            <a:r>
              <a:rPr lang="en-US" dirty="0" smtClean="0"/>
              <a:t>Monitor Like Hell</a:t>
            </a:r>
          </a:p>
          <a:p>
            <a:endParaRPr lang="en-US" dirty="0"/>
          </a:p>
        </p:txBody>
      </p:sp>
      <p:pic>
        <p:nvPicPr>
          <p:cNvPr id="4" name="Picture 3"/>
          <p:cNvPicPr>
            <a:picLocks noChangeAspect="1"/>
          </p:cNvPicPr>
          <p:nvPr/>
        </p:nvPicPr>
        <p:blipFill>
          <a:blip r:embed="rId3"/>
          <a:stretch>
            <a:fillRect/>
          </a:stretch>
        </p:blipFill>
        <p:spPr>
          <a:xfrm>
            <a:off x="5973964" y="5541699"/>
            <a:ext cx="2899937" cy="589050"/>
          </a:xfrm>
          <a:prstGeom prst="rect">
            <a:avLst/>
          </a:prstGeom>
        </p:spPr>
      </p:pic>
      <p:pic>
        <p:nvPicPr>
          <p:cNvPr id="5" name="Picture 4"/>
          <p:cNvPicPr>
            <a:picLocks noChangeAspect="1"/>
          </p:cNvPicPr>
          <p:nvPr/>
        </p:nvPicPr>
        <p:blipFill>
          <a:blip r:embed="rId4"/>
          <a:stretch>
            <a:fillRect/>
          </a:stretch>
        </p:blipFill>
        <p:spPr>
          <a:xfrm>
            <a:off x="1037285" y="5229070"/>
            <a:ext cx="1585301" cy="1387138"/>
          </a:xfrm>
          <a:prstGeom prst="rect">
            <a:avLst/>
          </a:prstGeom>
        </p:spPr>
      </p:pic>
      <p:pic>
        <p:nvPicPr>
          <p:cNvPr id="6" name="Picture 5"/>
          <p:cNvPicPr>
            <a:picLocks noChangeAspect="1"/>
          </p:cNvPicPr>
          <p:nvPr/>
        </p:nvPicPr>
        <p:blipFill>
          <a:blip r:embed="rId5"/>
          <a:stretch>
            <a:fillRect/>
          </a:stretch>
        </p:blipFill>
        <p:spPr>
          <a:xfrm>
            <a:off x="3331839" y="5190410"/>
            <a:ext cx="2397486" cy="1454654"/>
          </a:xfrm>
          <a:prstGeom prst="rect">
            <a:avLst/>
          </a:prstGeom>
        </p:spPr>
      </p:pic>
    </p:spTree>
    <p:extLst>
      <p:ext uri="{BB962C8B-B14F-4D97-AF65-F5344CB8AC3E}">
        <p14:creationId xmlns:p14="http://schemas.microsoft.com/office/powerpoint/2010/main" xmlns="" val="211991417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Thoughts</a:t>
            </a:r>
            <a:endParaRPr lang="en-US" sz="3600" dirty="0"/>
          </a:p>
        </p:txBody>
      </p:sp>
      <p:sp>
        <p:nvSpPr>
          <p:cNvPr id="3" name="Content Placeholder 2"/>
          <p:cNvSpPr>
            <a:spLocks noGrp="1"/>
          </p:cNvSpPr>
          <p:nvPr>
            <p:ph idx="1"/>
          </p:nvPr>
        </p:nvSpPr>
        <p:spPr/>
        <p:txBody>
          <a:bodyPr anchor="ctr" anchorCtr="0"/>
          <a:lstStyle/>
          <a:p>
            <a:pPr marL="0" indent="0" algn="ctr">
              <a:buNone/>
            </a:pPr>
            <a:r>
              <a:rPr lang="en-US" dirty="0"/>
              <a:t>So … Is PHP Secure?</a:t>
            </a:r>
          </a:p>
          <a:p>
            <a:pPr marL="0" indent="0" algn="ctr">
              <a:buNone/>
            </a:pPr>
            <a:endParaRPr lang="en-US" dirty="0" smtClean="0"/>
          </a:p>
          <a:p>
            <a:pPr marL="0" indent="0" algn="ctr">
              <a:buNone/>
            </a:pPr>
            <a:r>
              <a:rPr lang="en-US" dirty="0" smtClean="0"/>
              <a:t>It Depends…</a:t>
            </a:r>
            <a:endParaRPr lang="en-US" dirty="0"/>
          </a:p>
          <a:p>
            <a:pPr marL="0" indent="0" algn="ctr">
              <a:buNone/>
            </a:pPr>
            <a:endParaRPr lang="en-US" dirty="0" smtClean="0"/>
          </a:p>
          <a:p>
            <a:pPr marL="0" indent="0" algn="ctr">
              <a:buNone/>
            </a:pPr>
            <a:r>
              <a:rPr lang="en-US" dirty="0" smtClean="0"/>
              <a:t>Asking </a:t>
            </a:r>
            <a:r>
              <a:rPr lang="en-US" dirty="0"/>
              <a:t>Wrong Question</a:t>
            </a:r>
            <a:r>
              <a:rPr lang="en-US" dirty="0" smtClean="0"/>
              <a:t>…</a:t>
            </a:r>
            <a:endParaRPr lang="en-US" dirty="0"/>
          </a:p>
        </p:txBody>
      </p:sp>
    </p:spTree>
    <p:extLst>
      <p:ext uri="{BB962C8B-B14F-4D97-AF65-F5344CB8AC3E}">
        <p14:creationId xmlns:p14="http://schemas.microsoft.com/office/powerpoint/2010/main" xmlns="" val="43017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Thoughts</a:t>
            </a:r>
            <a:endParaRPr lang="en-US" sz="3600" dirty="0"/>
          </a:p>
        </p:txBody>
      </p:sp>
      <p:sp>
        <p:nvSpPr>
          <p:cNvPr id="3" name="Content Placeholder 2"/>
          <p:cNvSpPr>
            <a:spLocks noGrp="1"/>
          </p:cNvSpPr>
          <p:nvPr>
            <p:ph idx="1"/>
          </p:nvPr>
        </p:nvSpPr>
        <p:spPr/>
        <p:txBody>
          <a:bodyPr anchor="ctr" anchorCtr="0">
            <a:normAutofit/>
          </a:bodyPr>
          <a:lstStyle/>
          <a:p>
            <a:pPr marL="0" indent="0" algn="ctr">
              <a:buNone/>
            </a:pPr>
            <a:r>
              <a:rPr lang="en-US" dirty="0" smtClean="0"/>
              <a:t>Is Using PHP a Risk to Your Organization?</a:t>
            </a:r>
          </a:p>
        </p:txBody>
      </p:sp>
    </p:spTree>
    <p:extLst>
      <p:ext uri="{BB962C8B-B14F-4D97-AF65-F5344CB8AC3E}">
        <p14:creationId xmlns:p14="http://schemas.microsoft.com/office/powerpoint/2010/main" xmlns="" val="8168171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Thoughts</a:t>
            </a:r>
            <a:endParaRPr lang="en-US" sz="3600" dirty="0"/>
          </a:p>
        </p:txBody>
      </p:sp>
      <p:sp>
        <p:nvSpPr>
          <p:cNvPr id="3" name="Content Placeholder 2"/>
          <p:cNvSpPr>
            <a:spLocks noGrp="1"/>
          </p:cNvSpPr>
          <p:nvPr>
            <p:ph idx="1"/>
          </p:nvPr>
        </p:nvSpPr>
        <p:spPr/>
        <p:txBody>
          <a:bodyPr anchor="ctr" anchorCtr="0">
            <a:normAutofit/>
          </a:bodyPr>
          <a:lstStyle/>
          <a:p>
            <a:pPr marL="0" indent="0" algn="ctr">
              <a:buNone/>
            </a:pPr>
            <a:r>
              <a:rPr lang="en-US" dirty="0" smtClean="0"/>
              <a:t>The Most Secure Language Is the One You Know How to Program Securely</a:t>
            </a:r>
          </a:p>
        </p:txBody>
      </p:sp>
    </p:spTree>
    <p:extLst>
      <p:ext uri="{BB962C8B-B14F-4D97-AF65-F5344CB8AC3E}">
        <p14:creationId xmlns:p14="http://schemas.microsoft.com/office/powerpoint/2010/main" xmlns="" val="8487569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end.jp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152921" y="334231"/>
            <a:ext cx="6785312" cy="5116126"/>
          </a:xfrm>
          <a:prstGeom prst="rect">
            <a:avLst/>
          </a:prstGeom>
        </p:spPr>
      </p:pic>
      <p:sp>
        <p:nvSpPr>
          <p:cNvPr id="2" name="TextBox 1"/>
          <p:cNvSpPr txBox="1"/>
          <p:nvPr/>
        </p:nvSpPr>
        <p:spPr>
          <a:xfrm>
            <a:off x="2983771" y="5647710"/>
            <a:ext cx="3336408" cy="923330"/>
          </a:xfrm>
          <a:prstGeom prst="rect">
            <a:avLst/>
          </a:prstGeom>
          <a:noFill/>
        </p:spPr>
        <p:txBody>
          <a:bodyPr wrap="none" rtlCol="0">
            <a:spAutoFit/>
          </a:bodyPr>
          <a:lstStyle/>
          <a:p>
            <a:pPr algn="ctr"/>
            <a:r>
              <a:rPr lang="en-US" sz="5400" dirty="0" smtClean="0"/>
              <a:t>Questions?</a:t>
            </a:r>
            <a:endParaRPr lang="en-US" sz="5400" dirty="0"/>
          </a:p>
        </p:txBody>
      </p:sp>
    </p:spTree>
    <p:extLst>
      <p:ext uri="{BB962C8B-B14F-4D97-AF65-F5344CB8AC3E}">
        <p14:creationId xmlns:p14="http://schemas.microsoft.com/office/powerpoint/2010/main" xmlns="" val="35557680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Contact Info</a:t>
            </a:r>
            <a:endParaRPr lang="en-US" dirty="0"/>
          </a:p>
        </p:txBody>
      </p:sp>
      <p:sp>
        <p:nvSpPr>
          <p:cNvPr id="3" name="Content Placeholder 2"/>
          <p:cNvSpPr>
            <a:spLocks noGrp="1"/>
          </p:cNvSpPr>
          <p:nvPr>
            <p:ph idx="1"/>
          </p:nvPr>
        </p:nvSpPr>
        <p:spPr/>
        <p:txBody>
          <a:bodyPr/>
          <a:lstStyle/>
          <a:p>
            <a:r>
              <a:rPr lang="en-US" dirty="0" smtClean="0"/>
              <a:t>Twitter</a:t>
            </a:r>
            <a:r>
              <a:rPr lang="en-US" dirty="0"/>
              <a:t>	</a:t>
            </a:r>
            <a:r>
              <a:rPr lang="en-US" dirty="0" smtClean="0"/>
              <a:t>	@</a:t>
            </a:r>
            <a:r>
              <a:rPr lang="en-US" dirty="0" err="1" smtClean="0"/>
              <a:t>grecs</a:t>
            </a:r>
            <a:endParaRPr lang="en-US" dirty="0"/>
          </a:p>
          <a:p>
            <a:r>
              <a:rPr lang="en-US" baseline="0" dirty="0" smtClean="0"/>
              <a:t>Website		</a:t>
            </a:r>
            <a:r>
              <a:rPr lang="en-US" baseline="0" dirty="0" err="1" smtClean="0"/>
              <a:t>NovaInfosec.com</a:t>
            </a:r>
            <a:endParaRPr lang="en-US" baseline="0" dirty="0" smtClean="0"/>
          </a:p>
          <a:p>
            <a:r>
              <a:rPr lang="en-US" dirty="0"/>
              <a:t>Contact		http://</a:t>
            </a:r>
            <a:r>
              <a:rPr lang="en-US" dirty="0" err="1"/>
              <a:t>bit.ly</a:t>
            </a:r>
            <a:r>
              <a:rPr lang="en-US" dirty="0"/>
              <a:t>/</a:t>
            </a:r>
            <a:r>
              <a:rPr lang="en-US" dirty="0" err="1" smtClean="0"/>
              <a:t>nispcontact</a:t>
            </a:r>
            <a:endParaRPr lang="en-US" baseline="0" dirty="0" smtClean="0"/>
          </a:p>
        </p:txBody>
      </p:sp>
      <p:pic>
        <p:nvPicPr>
          <p:cNvPr id="4" name="Picture 3" descr="myavatar_bigger.gif"/>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102100" y="3992877"/>
            <a:ext cx="927100" cy="927100"/>
          </a:xfrm>
          <a:prstGeom prst="rect">
            <a:avLst/>
          </a:prstGeom>
        </p:spPr>
      </p:pic>
    </p:spTree>
    <p:extLst>
      <p:ext uri="{BB962C8B-B14F-4D97-AF65-F5344CB8AC3E}">
        <p14:creationId xmlns:p14="http://schemas.microsoft.com/office/powerpoint/2010/main" xmlns="" val="23993120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References &amp; Resources</a:t>
            </a:r>
            <a:br>
              <a:rPr lang="en-US" dirty="0" smtClean="0"/>
            </a:br>
            <a:r>
              <a:rPr lang="en-US" sz="3600" dirty="0" smtClean="0"/>
              <a:t>Very Useful</a:t>
            </a:r>
            <a:endParaRPr lang="en-US" sz="3600" dirty="0"/>
          </a:p>
        </p:txBody>
      </p:sp>
      <p:sp>
        <p:nvSpPr>
          <p:cNvPr id="3" name="Content Placeholder 2"/>
          <p:cNvSpPr>
            <a:spLocks noGrp="1"/>
          </p:cNvSpPr>
          <p:nvPr>
            <p:ph idx="1"/>
          </p:nvPr>
        </p:nvSpPr>
        <p:spPr/>
        <p:txBody>
          <a:bodyPr>
            <a:normAutofit fontScale="77500" lnSpcReduction="20000"/>
          </a:bodyPr>
          <a:lstStyle/>
          <a:p>
            <a:r>
              <a:rPr lang="en-US" dirty="0" smtClean="0"/>
              <a:t>25 </a:t>
            </a:r>
            <a:r>
              <a:rPr lang="en-US" dirty="0"/>
              <a:t>PHP Security Best Practices For Sys </a:t>
            </a:r>
            <a:r>
              <a:rPr lang="en-US" dirty="0" smtClean="0"/>
              <a:t>Admins</a:t>
            </a:r>
          </a:p>
          <a:p>
            <a:pPr lvl="1"/>
            <a:r>
              <a:rPr lang="en-US" dirty="0">
                <a:hlinkClick r:id="rId3"/>
              </a:rPr>
              <a:t>http://www.cyberciti.biz/tips/php-security-best-practices-</a:t>
            </a:r>
            <a:r>
              <a:rPr lang="en-US" dirty="0" smtClean="0">
                <a:hlinkClick r:id="rId3"/>
              </a:rPr>
              <a:t>tutorial.html</a:t>
            </a:r>
            <a:endParaRPr lang="en-US" dirty="0"/>
          </a:p>
          <a:p>
            <a:r>
              <a:rPr lang="en-US" dirty="0" smtClean="0"/>
              <a:t>OWASP PHP </a:t>
            </a:r>
            <a:r>
              <a:rPr lang="en-US" dirty="0"/>
              <a:t>Top </a:t>
            </a:r>
            <a:r>
              <a:rPr lang="en-US" dirty="0" smtClean="0"/>
              <a:t>5</a:t>
            </a:r>
          </a:p>
          <a:p>
            <a:pPr lvl="1"/>
            <a:r>
              <a:rPr lang="en-US" dirty="0" smtClean="0">
                <a:hlinkClick r:id="rId4"/>
              </a:rPr>
              <a:t>https</a:t>
            </a:r>
            <a:r>
              <a:rPr lang="en-US" dirty="0">
                <a:hlinkClick r:id="rId4"/>
              </a:rPr>
              <a:t>://www.owasp.org/index.php/PHP_Top_5#P4:</a:t>
            </a:r>
            <a:r>
              <a:rPr lang="en-US" dirty="0" smtClean="0">
                <a:hlinkClick r:id="rId4"/>
              </a:rPr>
              <a:t>_PHP_Configuration</a:t>
            </a:r>
            <a:endParaRPr lang="en-US" dirty="0" smtClean="0"/>
          </a:p>
          <a:p>
            <a:r>
              <a:rPr lang="en-US" dirty="0"/>
              <a:t>PHP and the OWASP Top Ten Security Vulnerabilities</a:t>
            </a:r>
          </a:p>
          <a:p>
            <a:pPr lvl="1"/>
            <a:r>
              <a:rPr lang="en-US" dirty="0">
                <a:hlinkClick r:id="rId5"/>
              </a:rPr>
              <a:t>http://www.sklar.com/page/article/owasp-top-ten</a:t>
            </a:r>
            <a:endParaRPr lang="en-US" dirty="0"/>
          </a:p>
          <a:p>
            <a:r>
              <a:rPr lang="en-US" dirty="0" smtClean="0"/>
              <a:t>Hardened-PHP Project (</a:t>
            </a:r>
            <a:r>
              <a:rPr lang="en-US" dirty="0" err="1" smtClean="0"/>
              <a:t>Suhosin</a:t>
            </a:r>
            <a:r>
              <a:rPr lang="en-US" dirty="0" smtClean="0"/>
              <a:t>)</a:t>
            </a:r>
          </a:p>
          <a:p>
            <a:pPr lvl="1"/>
            <a:r>
              <a:rPr lang="en-US" dirty="0">
                <a:hlinkClick r:id="rId6"/>
              </a:rPr>
              <a:t>http://www.hardened-php.net/suhosin.127.</a:t>
            </a:r>
            <a:r>
              <a:rPr lang="en-US" dirty="0" smtClean="0">
                <a:hlinkClick r:id="rId6"/>
              </a:rPr>
              <a:t>html</a:t>
            </a:r>
            <a:endParaRPr lang="en-US" dirty="0" smtClean="0"/>
          </a:p>
          <a:p>
            <a:r>
              <a:rPr lang="en-US" dirty="0"/>
              <a:t>PHP Security </a:t>
            </a:r>
            <a:r>
              <a:rPr lang="en-US" dirty="0" smtClean="0"/>
              <a:t>Consortium (</a:t>
            </a:r>
            <a:r>
              <a:rPr lang="en-US" dirty="0" err="1" smtClean="0"/>
              <a:t>PHPSecInfo</a:t>
            </a:r>
            <a:r>
              <a:rPr lang="en-US" dirty="0" smtClean="0"/>
              <a:t>)</a:t>
            </a:r>
            <a:endParaRPr lang="en-US" dirty="0"/>
          </a:p>
          <a:p>
            <a:pPr lvl="1"/>
            <a:r>
              <a:rPr lang="en-US" dirty="0">
                <a:hlinkClick r:id="rId7"/>
              </a:rPr>
              <a:t>http://phpsec.org</a:t>
            </a:r>
            <a:r>
              <a:rPr lang="en-US" dirty="0" smtClean="0">
                <a:hlinkClick r:id="rId7"/>
              </a:rPr>
              <a:t>/</a:t>
            </a:r>
            <a:endParaRPr lang="en-US" dirty="0" smtClean="0"/>
          </a:p>
          <a:p>
            <a:r>
              <a:rPr lang="en-US" dirty="0" err="1" smtClean="0"/>
              <a:t>NovaHackers</a:t>
            </a:r>
            <a:r>
              <a:rPr lang="en-US" dirty="0" smtClean="0"/>
              <a:t>, Unallocated Space</a:t>
            </a:r>
            <a:endParaRPr lang="en-US" dirty="0"/>
          </a:p>
        </p:txBody>
      </p:sp>
    </p:spTree>
    <p:extLst>
      <p:ext uri="{BB962C8B-B14F-4D97-AF65-F5344CB8AC3E}">
        <p14:creationId xmlns:p14="http://schemas.microsoft.com/office/powerpoint/2010/main" xmlns="" val="880000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References &amp; Resources</a:t>
            </a:r>
            <a:br>
              <a:rPr lang="en-US" dirty="0" smtClean="0"/>
            </a:br>
            <a:r>
              <a:rPr lang="en-US" sz="3600" dirty="0" smtClean="0"/>
              <a:t>Other Goodies</a:t>
            </a:r>
            <a:endParaRPr lang="en-US" sz="3600" dirty="0"/>
          </a:p>
        </p:txBody>
      </p:sp>
      <p:sp>
        <p:nvSpPr>
          <p:cNvPr id="3" name="Content Placeholder 2"/>
          <p:cNvSpPr>
            <a:spLocks noGrp="1"/>
          </p:cNvSpPr>
          <p:nvPr>
            <p:ph idx="1"/>
          </p:nvPr>
        </p:nvSpPr>
        <p:spPr/>
        <p:txBody>
          <a:bodyPr>
            <a:normAutofit fontScale="85000" lnSpcReduction="20000"/>
          </a:bodyPr>
          <a:lstStyle/>
          <a:p>
            <a:r>
              <a:rPr lang="en-US" dirty="0" smtClean="0"/>
              <a:t>PHP </a:t>
            </a:r>
            <a:r>
              <a:rPr lang="en-US" dirty="0"/>
              <a:t>Manual</a:t>
            </a:r>
          </a:p>
          <a:p>
            <a:pPr lvl="1"/>
            <a:r>
              <a:rPr lang="en-US" dirty="0"/>
              <a:t>Security: </a:t>
            </a:r>
            <a:r>
              <a:rPr lang="en-US" dirty="0">
                <a:hlinkClick r:id="rId3"/>
              </a:rPr>
              <a:t>http://www.php.net/manual/en/security.php</a:t>
            </a:r>
            <a:endParaRPr lang="en-US" dirty="0"/>
          </a:p>
          <a:p>
            <a:pPr lvl="1"/>
            <a:r>
              <a:rPr lang="en-US" dirty="0"/>
              <a:t>Filter: </a:t>
            </a:r>
            <a:r>
              <a:rPr lang="en-US" dirty="0">
                <a:hlinkClick r:id="rId4"/>
              </a:rPr>
              <a:t>http://www.php.net/manual/en/book.filter.php</a:t>
            </a:r>
            <a:endParaRPr lang="en-US" dirty="0"/>
          </a:p>
          <a:p>
            <a:r>
              <a:rPr lang="en-US" dirty="0" smtClean="0"/>
              <a:t>Tutorial: Filtering </a:t>
            </a:r>
            <a:r>
              <a:rPr lang="en-US" dirty="0"/>
              <a:t>Data with </a:t>
            </a:r>
            <a:r>
              <a:rPr lang="en-US" dirty="0" smtClean="0"/>
              <a:t>PHP</a:t>
            </a:r>
          </a:p>
          <a:p>
            <a:pPr lvl="1"/>
            <a:r>
              <a:rPr lang="en-US" dirty="0" smtClean="0">
                <a:hlinkClick r:id="rId5"/>
              </a:rPr>
              <a:t>http://www.phpro.org/tutorials/Filtering-Data-with-PHP.html</a:t>
            </a:r>
            <a:endParaRPr lang="en-US" dirty="0" smtClean="0"/>
          </a:p>
          <a:p>
            <a:r>
              <a:rPr lang="en-US" dirty="0" smtClean="0"/>
              <a:t>Why </a:t>
            </a:r>
            <a:r>
              <a:rPr lang="en-US" dirty="0"/>
              <a:t>do people say that PHP is inherently insecure</a:t>
            </a:r>
            <a:r>
              <a:rPr lang="en-US" dirty="0" smtClean="0"/>
              <a:t>?</a:t>
            </a:r>
          </a:p>
          <a:p>
            <a:pPr lvl="1"/>
            <a:r>
              <a:rPr lang="en-US" dirty="0">
                <a:hlinkClick r:id="rId6"/>
              </a:rPr>
              <a:t>http://security.stackexchange.com/questions/643/why-do-people-say-that-php-is-inherently-</a:t>
            </a:r>
            <a:r>
              <a:rPr lang="en-US" dirty="0" smtClean="0">
                <a:hlinkClick r:id="rId6"/>
              </a:rPr>
              <a:t>insecure</a:t>
            </a:r>
            <a:endParaRPr lang="en-US" dirty="0"/>
          </a:p>
          <a:p>
            <a:r>
              <a:rPr lang="en-US" dirty="0" smtClean="0"/>
              <a:t>OWASP Backend Security (2008)</a:t>
            </a:r>
          </a:p>
          <a:p>
            <a:pPr lvl="1"/>
            <a:r>
              <a:rPr lang="en-US" dirty="0" smtClean="0">
                <a:hlinkClick r:id="rId7"/>
              </a:rPr>
              <a:t>http</a:t>
            </a:r>
            <a:r>
              <a:rPr lang="en-US" dirty="0">
                <a:hlinkClick r:id="rId7"/>
              </a:rPr>
              <a:t>://www.scribd.com/doc/87396472/8/PHP-SECURITY-</a:t>
            </a:r>
            <a:r>
              <a:rPr lang="en-US" dirty="0" smtClean="0">
                <a:hlinkClick r:id="rId7"/>
              </a:rPr>
              <a:t>PROGRAMMING</a:t>
            </a:r>
            <a:endParaRPr lang="en-US" dirty="0"/>
          </a:p>
        </p:txBody>
      </p:sp>
    </p:spTree>
    <p:extLst>
      <p:ext uri="{BB962C8B-B14F-4D97-AF65-F5344CB8AC3E}">
        <p14:creationId xmlns:p14="http://schemas.microsoft.com/office/powerpoint/2010/main" xmlns="" val="6530672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References &amp; Resources</a:t>
            </a:r>
            <a:br>
              <a:rPr lang="en-US" dirty="0" smtClean="0"/>
            </a:br>
            <a:r>
              <a:rPr lang="en-US" sz="3600" dirty="0" smtClean="0"/>
              <a:t>Honorable Mentions</a:t>
            </a:r>
            <a:endParaRPr lang="en-US" sz="3600" dirty="0"/>
          </a:p>
        </p:txBody>
      </p:sp>
      <p:sp>
        <p:nvSpPr>
          <p:cNvPr id="3" name="Content Placeholder 2"/>
          <p:cNvSpPr>
            <a:spLocks noGrp="1"/>
          </p:cNvSpPr>
          <p:nvPr>
            <p:ph idx="1"/>
          </p:nvPr>
        </p:nvSpPr>
        <p:spPr>
          <a:xfrm>
            <a:off x="457199" y="1600200"/>
            <a:ext cx="5532957" cy="4525963"/>
          </a:xfrm>
        </p:spPr>
        <p:txBody>
          <a:bodyPr/>
          <a:lstStyle/>
          <a:p>
            <a:r>
              <a:rPr lang="en-US" dirty="0"/>
              <a:t>"Essential PHP </a:t>
            </a:r>
            <a:r>
              <a:rPr lang="en-US" dirty="0" smtClean="0"/>
              <a:t>Security”</a:t>
            </a:r>
          </a:p>
          <a:p>
            <a:pPr lvl="1"/>
            <a:r>
              <a:rPr lang="en-US" dirty="0" smtClean="0"/>
              <a:t>Chris </a:t>
            </a:r>
            <a:r>
              <a:rPr lang="en-US" dirty="0" err="1"/>
              <a:t>Shiflett</a:t>
            </a:r>
            <a:r>
              <a:rPr lang="en-US" dirty="0"/>
              <a:t> (2005)</a:t>
            </a:r>
          </a:p>
          <a:p>
            <a:r>
              <a:rPr lang="en-US" dirty="0" smtClean="0"/>
              <a:t>OWASP PHP </a:t>
            </a:r>
            <a:r>
              <a:rPr lang="en-US" dirty="0"/>
              <a:t>Security Cheat Sheet</a:t>
            </a:r>
          </a:p>
          <a:p>
            <a:pPr lvl="1"/>
            <a:r>
              <a:rPr lang="en-US" dirty="0">
                <a:hlinkClick r:id="rId3"/>
              </a:rPr>
              <a:t>https://www.owasp.org/index.php/</a:t>
            </a:r>
            <a:r>
              <a:rPr lang="en-US" dirty="0" smtClean="0">
                <a:hlinkClick r:id="rId3"/>
              </a:rPr>
              <a:t>PHP_Security_Cheat_Sheet</a:t>
            </a:r>
            <a:endParaRPr lang="en-US" dirty="0"/>
          </a:p>
        </p:txBody>
      </p:sp>
      <p:pic>
        <p:nvPicPr>
          <p:cNvPr id="4" name="Picture 3"/>
          <p:cNvPicPr>
            <a:picLocks noChangeAspect="1"/>
          </p:cNvPicPr>
          <p:nvPr/>
        </p:nvPicPr>
        <p:blipFill>
          <a:blip r:embed="rId4"/>
          <a:stretch>
            <a:fillRect/>
          </a:stretch>
        </p:blipFill>
        <p:spPr>
          <a:xfrm>
            <a:off x="5990156" y="1994905"/>
            <a:ext cx="2286000" cy="2997200"/>
          </a:xfrm>
          <a:prstGeom prst="rect">
            <a:avLst/>
          </a:prstGeom>
        </p:spPr>
      </p:pic>
    </p:spTree>
    <p:extLst>
      <p:ext uri="{BB962C8B-B14F-4D97-AF65-F5344CB8AC3E}">
        <p14:creationId xmlns:p14="http://schemas.microsoft.com/office/powerpoint/2010/main" xmlns="" val="17566774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References &amp; Resources</a:t>
            </a:r>
            <a:br>
              <a:rPr lang="en-US" dirty="0" smtClean="0"/>
            </a:br>
            <a:r>
              <a:rPr lang="en-US" sz="3600" dirty="0" smtClean="0"/>
              <a:t>Static Code Analyzers</a:t>
            </a:r>
            <a:endParaRPr lang="en-US" sz="3600" dirty="0"/>
          </a:p>
        </p:txBody>
      </p:sp>
      <p:sp>
        <p:nvSpPr>
          <p:cNvPr id="3" name="Content Placeholder 2"/>
          <p:cNvSpPr>
            <a:spLocks noGrp="1"/>
          </p:cNvSpPr>
          <p:nvPr>
            <p:ph idx="1"/>
          </p:nvPr>
        </p:nvSpPr>
        <p:spPr/>
        <p:txBody>
          <a:bodyPr>
            <a:normAutofit fontScale="77500" lnSpcReduction="20000"/>
          </a:bodyPr>
          <a:lstStyle/>
          <a:p>
            <a:r>
              <a:rPr lang="en-US" dirty="0" err="1" smtClean="0"/>
              <a:t>Yesca</a:t>
            </a:r>
            <a:r>
              <a:rPr lang="en-US" dirty="0" smtClean="0"/>
              <a:t> (2010)</a:t>
            </a:r>
          </a:p>
          <a:p>
            <a:pPr lvl="1"/>
            <a:r>
              <a:rPr lang="en-US" dirty="0" smtClean="0">
                <a:hlinkClick r:id="rId3"/>
              </a:rPr>
              <a:t>http</a:t>
            </a:r>
            <a:r>
              <a:rPr lang="en-US" dirty="0">
                <a:hlinkClick r:id="rId3"/>
              </a:rPr>
              <a:t>://sourceforge.net/projects/yasca</a:t>
            </a:r>
            <a:r>
              <a:rPr lang="en-US" dirty="0" smtClean="0">
                <a:hlinkClick r:id="rId3"/>
              </a:rPr>
              <a:t>/</a:t>
            </a:r>
            <a:r>
              <a:rPr lang="en-US" dirty="0" smtClean="0"/>
              <a:t> </a:t>
            </a:r>
            <a:endParaRPr lang="en-US" dirty="0"/>
          </a:p>
          <a:p>
            <a:r>
              <a:rPr lang="en-US" dirty="0" err="1" smtClean="0"/>
              <a:t>PHPLint</a:t>
            </a:r>
            <a:endParaRPr lang="en-US" dirty="0" smtClean="0"/>
          </a:p>
          <a:p>
            <a:pPr lvl="1"/>
            <a:r>
              <a:rPr lang="en-US" dirty="0" smtClean="0">
                <a:hlinkClick r:id="rId4"/>
              </a:rPr>
              <a:t>http</a:t>
            </a:r>
            <a:r>
              <a:rPr lang="en-US" dirty="0">
                <a:hlinkClick r:id="rId4"/>
              </a:rPr>
              <a:t>://www.icosaedro.it/phplint</a:t>
            </a:r>
            <a:r>
              <a:rPr lang="en-US" dirty="0" smtClean="0">
                <a:hlinkClick r:id="rId4"/>
              </a:rPr>
              <a:t>/</a:t>
            </a:r>
            <a:endParaRPr lang="en-US" dirty="0"/>
          </a:p>
          <a:p>
            <a:r>
              <a:rPr lang="en-US" dirty="0" smtClean="0"/>
              <a:t>Pixy (</a:t>
            </a:r>
            <a:r>
              <a:rPr lang="en-US" dirty="0"/>
              <a:t>2007)</a:t>
            </a:r>
          </a:p>
          <a:p>
            <a:r>
              <a:rPr lang="en-US" dirty="0"/>
              <a:t>*</a:t>
            </a:r>
            <a:r>
              <a:rPr lang="en-US" dirty="0" smtClean="0"/>
              <a:t>PHP-sat (2006)</a:t>
            </a:r>
          </a:p>
          <a:p>
            <a:pPr lvl="1"/>
            <a:r>
              <a:rPr lang="en-US" dirty="0" smtClean="0">
                <a:hlinkClick r:id="rId5"/>
              </a:rPr>
              <a:t>http</a:t>
            </a:r>
            <a:r>
              <a:rPr lang="en-US" dirty="0">
                <a:hlinkClick r:id="rId5"/>
              </a:rPr>
              <a:t>://www.program-transformation.org</a:t>
            </a:r>
            <a:r>
              <a:rPr lang="en-US" dirty="0" smtClean="0">
                <a:hlinkClick r:id="rId5"/>
              </a:rPr>
              <a:t>/</a:t>
            </a:r>
            <a:endParaRPr lang="en-US" dirty="0"/>
          </a:p>
          <a:p>
            <a:r>
              <a:rPr lang="en-US" dirty="0" err="1" smtClean="0"/>
              <a:t>CodeSecure</a:t>
            </a:r>
            <a:r>
              <a:rPr lang="en-US" dirty="0" smtClean="0"/>
              <a:t> </a:t>
            </a:r>
            <a:r>
              <a:rPr lang="en-US" dirty="0"/>
              <a:t>Community </a:t>
            </a:r>
            <a:r>
              <a:rPr lang="en-US" dirty="0" smtClean="0"/>
              <a:t>Edition (commercial too; </a:t>
            </a:r>
            <a:r>
              <a:rPr lang="en-US" dirty="0"/>
              <a:t>$</a:t>
            </a:r>
            <a:r>
              <a:rPr lang="en-US" dirty="0" smtClean="0"/>
              <a:t>5-10K+)</a:t>
            </a:r>
          </a:p>
          <a:p>
            <a:pPr lvl="1"/>
            <a:r>
              <a:rPr lang="en-US" dirty="0" smtClean="0">
                <a:hlinkClick r:id="rId6"/>
              </a:rPr>
              <a:t>http</a:t>
            </a:r>
            <a:r>
              <a:rPr lang="en-US" dirty="0">
                <a:hlinkClick r:id="rId6"/>
              </a:rPr>
              <a:t>://www.armorize.com/codesecure/</a:t>
            </a:r>
            <a:r>
              <a:rPr lang="en-US" dirty="0" smtClean="0">
                <a:hlinkClick r:id="rId6"/>
              </a:rPr>
              <a:t>community.html</a:t>
            </a:r>
            <a:endParaRPr lang="en-US" dirty="0"/>
          </a:p>
          <a:p>
            <a:r>
              <a:rPr lang="en-US" dirty="0" err="1"/>
              <a:t>Syhunt</a:t>
            </a:r>
            <a:r>
              <a:rPr lang="en-US" dirty="0"/>
              <a:t> </a:t>
            </a:r>
            <a:r>
              <a:rPr lang="en-US" dirty="0" err="1"/>
              <a:t>Sandcat</a:t>
            </a:r>
            <a:r>
              <a:rPr lang="en-US" dirty="0"/>
              <a:t> </a:t>
            </a:r>
            <a:r>
              <a:rPr lang="en-US" dirty="0" smtClean="0"/>
              <a:t>Mini </a:t>
            </a:r>
            <a:r>
              <a:rPr lang="en-US" dirty="0"/>
              <a:t>(commercial too - $</a:t>
            </a:r>
            <a:r>
              <a:rPr lang="en-US" dirty="0" smtClean="0"/>
              <a:t>4-10K </a:t>
            </a:r>
            <a:r>
              <a:rPr lang="en-US" dirty="0"/>
              <a:t>for </a:t>
            </a:r>
            <a:r>
              <a:rPr lang="en-US" dirty="0" smtClean="0"/>
              <a:t>Hybrid)</a:t>
            </a:r>
          </a:p>
          <a:p>
            <a:pPr lvl="1"/>
            <a:r>
              <a:rPr lang="en-US" dirty="0" smtClean="0">
                <a:hlinkClick r:id="rId7"/>
              </a:rPr>
              <a:t>http</a:t>
            </a:r>
            <a:r>
              <a:rPr lang="en-US" dirty="0">
                <a:hlinkClick r:id="rId7"/>
              </a:rPr>
              <a:t>://www.syhunt.com/?n=</a:t>
            </a:r>
            <a:r>
              <a:rPr lang="en-US" dirty="0" smtClean="0">
                <a:hlinkClick r:id="rId7"/>
              </a:rPr>
              <a:t>Sandcat.Mini</a:t>
            </a:r>
            <a:endParaRPr lang="en-US" dirty="0"/>
          </a:p>
          <a:p>
            <a:endParaRPr lang="en-US" dirty="0"/>
          </a:p>
        </p:txBody>
      </p:sp>
    </p:spTree>
    <p:extLst>
      <p:ext uri="{BB962C8B-B14F-4D97-AF65-F5344CB8AC3E}">
        <p14:creationId xmlns:p14="http://schemas.microsoft.com/office/powerpoint/2010/main" xmlns="" val="23392338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References &amp; Resources</a:t>
            </a:r>
            <a:br>
              <a:rPr lang="en-US" dirty="0" smtClean="0"/>
            </a:br>
            <a:r>
              <a:rPr lang="en-US" sz="3600" dirty="0" smtClean="0"/>
              <a:t>PHPIDS</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Intrusion </a:t>
            </a:r>
            <a:r>
              <a:rPr lang="en-US" dirty="0"/>
              <a:t>Detection For PHP Applications With </a:t>
            </a:r>
            <a:r>
              <a:rPr lang="en-US" dirty="0" smtClean="0"/>
              <a:t>PHPIDS</a:t>
            </a:r>
          </a:p>
          <a:p>
            <a:pPr lvl="1"/>
            <a:r>
              <a:rPr lang="en-US" dirty="0" smtClean="0">
                <a:hlinkClick r:id="rId3"/>
              </a:rPr>
              <a:t>http</a:t>
            </a:r>
            <a:r>
              <a:rPr lang="en-US" dirty="0">
                <a:hlinkClick r:id="rId3"/>
              </a:rPr>
              <a:t>://www.howtoforge.com/intrusion-detection-for-php-applications-with-</a:t>
            </a:r>
            <a:r>
              <a:rPr lang="en-US" dirty="0" smtClean="0">
                <a:hlinkClick r:id="rId3"/>
              </a:rPr>
              <a:t>phpids</a:t>
            </a:r>
            <a:endParaRPr lang="en-US" dirty="0"/>
          </a:p>
          <a:p>
            <a:r>
              <a:rPr lang="en-US" dirty="0" smtClean="0"/>
              <a:t>Getting </a:t>
            </a:r>
            <a:r>
              <a:rPr lang="en-US" dirty="0"/>
              <a:t>Started with the PHPIDS Intrusion Detection </a:t>
            </a:r>
            <a:r>
              <a:rPr lang="en-US" dirty="0" smtClean="0"/>
              <a:t>System</a:t>
            </a:r>
          </a:p>
          <a:p>
            <a:pPr lvl="1"/>
            <a:r>
              <a:rPr lang="en-US" dirty="0" smtClean="0">
                <a:hlinkClick r:id="rId4"/>
              </a:rPr>
              <a:t>http</a:t>
            </a:r>
            <a:r>
              <a:rPr lang="en-US" dirty="0">
                <a:hlinkClick r:id="rId4"/>
              </a:rPr>
              <a:t>://www.h-online.com/security/features/Getting-started-with-the-PHPIDS-intrusion-detection-system-746233.html</a:t>
            </a:r>
            <a:endParaRPr lang="en-US" dirty="0"/>
          </a:p>
          <a:p>
            <a:r>
              <a:rPr lang="en-US" dirty="0" smtClean="0"/>
              <a:t>PHPIDS FAQ</a:t>
            </a:r>
          </a:p>
          <a:p>
            <a:pPr lvl="1"/>
            <a:r>
              <a:rPr lang="en-US" dirty="0" smtClean="0">
                <a:hlinkClick r:id="rId5"/>
              </a:rPr>
              <a:t>http</a:t>
            </a:r>
            <a:r>
              <a:rPr lang="en-US" dirty="0">
                <a:hlinkClick r:id="rId5"/>
              </a:rPr>
              <a:t>://php-ids.org/faq/</a:t>
            </a:r>
            <a:endParaRPr lang="en-US" dirty="0"/>
          </a:p>
          <a:p>
            <a:r>
              <a:rPr lang="en-US" dirty="0" smtClean="0">
                <a:hlinkClick r:id="rId6"/>
              </a:rPr>
              <a:t>http</a:t>
            </a:r>
            <a:r>
              <a:rPr lang="en-US" dirty="0">
                <a:hlinkClick r:id="rId6"/>
              </a:rPr>
              <a:t>://forum.cmsmadesimple.org/index.php?topic=12884.</a:t>
            </a:r>
            <a:r>
              <a:rPr lang="en-US" dirty="0" smtClean="0">
                <a:hlinkClick r:id="rId6"/>
              </a:rPr>
              <a:t>msg173160</a:t>
            </a:r>
            <a:endParaRPr lang="en-US" dirty="0" smtClean="0"/>
          </a:p>
          <a:p>
            <a:r>
              <a:rPr lang="en-US" dirty="0" smtClean="0"/>
              <a:t>PHPIDS Install Notes</a:t>
            </a:r>
            <a:endParaRPr lang="en-US" dirty="0"/>
          </a:p>
          <a:p>
            <a:pPr lvl="1"/>
            <a:r>
              <a:rPr lang="en-US" dirty="0" smtClean="0">
                <a:hlinkClick r:id="rId7"/>
              </a:rPr>
              <a:t>http</a:t>
            </a:r>
            <a:r>
              <a:rPr lang="en-US" dirty="0">
                <a:hlinkClick r:id="rId7"/>
              </a:rPr>
              <a:t>://www.irongeek.com/i.php?page=security/phpids-install-notes</a:t>
            </a:r>
            <a:endParaRPr lang="en-US" dirty="0"/>
          </a:p>
          <a:p>
            <a:r>
              <a:rPr lang="en-US" dirty="0"/>
              <a:t>PHPIDS - Monitoring attack surface activity</a:t>
            </a:r>
          </a:p>
          <a:p>
            <a:pPr lvl="1"/>
            <a:r>
              <a:rPr lang="en-US" dirty="0" smtClean="0">
                <a:hlinkClick r:id="rId8"/>
              </a:rPr>
              <a:t>https</a:t>
            </a:r>
            <a:r>
              <a:rPr lang="en-US" dirty="0">
                <a:hlinkClick r:id="rId8"/>
              </a:rPr>
              <a:t>://docs.google.com/Doc?id=dd7x5smw_17g9cnx2cn&amp;pli=</a:t>
            </a:r>
            <a:r>
              <a:rPr lang="en-US" dirty="0" smtClean="0">
                <a:hlinkClick r:id="rId8"/>
              </a:rPr>
              <a:t>1</a:t>
            </a:r>
            <a:endParaRPr lang="en-US" dirty="0"/>
          </a:p>
          <a:p>
            <a:r>
              <a:rPr lang="en-US" dirty="0" smtClean="0">
                <a:hlinkClick r:id="rId9"/>
              </a:rPr>
              <a:t>http</a:t>
            </a:r>
            <a:r>
              <a:rPr lang="en-US" dirty="0">
                <a:hlinkClick r:id="rId9"/>
              </a:rPr>
              <a:t>://holisticinfosec.org/toolsmith/docs/july2008.</a:t>
            </a:r>
            <a:r>
              <a:rPr lang="en-US" dirty="0" smtClean="0">
                <a:hlinkClick r:id="rId9"/>
              </a:rPr>
              <a:t>pdf</a:t>
            </a:r>
            <a:endParaRPr lang="en-US" dirty="0" smtClean="0"/>
          </a:p>
          <a:p>
            <a:r>
              <a:rPr lang="en-US" dirty="0" smtClean="0"/>
              <a:t>Wikipedia</a:t>
            </a:r>
          </a:p>
          <a:p>
            <a:pPr lvl="1"/>
            <a:r>
              <a:rPr lang="en-US" dirty="0" smtClean="0">
                <a:hlinkClick r:id="rId10"/>
              </a:rPr>
              <a:t>https</a:t>
            </a:r>
            <a:r>
              <a:rPr lang="en-US" dirty="0">
                <a:hlinkClick r:id="rId10"/>
              </a:rPr>
              <a:t>://en.wikipedia.org/wiki/</a:t>
            </a:r>
            <a:r>
              <a:rPr lang="en-US" dirty="0" smtClean="0">
                <a:hlinkClick r:id="rId10"/>
              </a:rPr>
              <a:t>PHPIDS</a:t>
            </a:r>
            <a:endParaRPr lang="en-US" dirty="0" smtClean="0"/>
          </a:p>
          <a:p>
            <a:r>
              <a:rPr lang="en-US" dirty="0" smtClean="0"/>
              <a:t>PHPIDS Forum</a:t>
            </a:r>
          </a:p>
        </p:txBody>
      </p:sp>
    </p:spTree>
    <p:extLst>
      <p:ext uri="{BB962C8B-B14F-4D97-AF65-F5344CB8AC3E}">
        <p14:creationId xmlns:p14="http://schemas.microsoft.com/office/powerpoint/2010/main" xmlns="" val="32675609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Module.thmx</Template>
  <TotalTime>0</TotalTime>
  <Words>1371</Words>
  <Application>Microsoft Office PowerPoint</Application>
  <PresentationFormat>On-screen Show (4:3)</PresentationFormat>
  <Paragraphs>332</Paragraphs>
  <Slides>53</Slides>
  <Notes>53</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PHP Insecurity</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Overview</vt:lpstr>
      <vt:lpstr>PHP Security</vt:lpstr>
      <vt:lpstr>PHP Security PHP Overview</vt:lpstr>
      <vt:lpstr>PHP Security PHP Overview</vt:lpstr>
      <vt:lpstr>PHP Security Known Issues</vt:lpstr>
      <vt:lpstr>PHP Security “Standard” Practices</vt:lpstr>
      <vt:lpstr>PHP Security “Standard” Practices 25 PHP Security Best Practices</vt:lpstr>
      <vt:lpstr>PHP Security “Standard” Practices 25 PHP Security Best Practices</vt:lpstr>
      <vt:lpstr>PHP Security “Standard” Practices 25 PHP Security Best Practices</vt:lpstr>
      <vt:lpstr>PHP Security “Standard” Practices OWASP PHP Top 5</vt:lpstr>
      <vt:lpstr>Detecting Attacks</vt:lpstr>
      <vt:lpstr>Detecting Attacks PHPIDS Overview – Definition </vt:lpstr>
      <vt:lpstr>Detecting Attacks PHPIDS Overview – Detection Mechanisms</vt:lpstr>
      <vt:lpstr>Detecting Attacks O&amp;M – Calibration</vt:lpstr>
      <vt:lpstr>Detecting Attacks O&amp;M – Signature Updates</vt:lpstr>
      <vt:lpstr>Detecting Attacks O&amp;M – Threshold Responses</vt:lpstr>
      <vt:lpstr>Handling PHP in Your Environment</vt:lpstr>
      <vt:lpstr>Handling PHP in Your Environment Risk Management</vt:lpstr>
      <vt:lpstr>Handling PHP in Your Environment PHP Mitigations – Top 5</vt:lpstr>
      <vt:lpstr>Handling PHP in Your Environment PHP Mitigations – Top 5</vt:lpstr>
      <vt:lpstr>Handling PHP in Your Environment PHP Mitigations – Top 5</vt:lpstr>
      <vt:lpstr>Handling PHP in Your Environment PHP Mitigations – Top 5</vt:lpstr>
      <vt:lpstr>Handling PHP in Your Environment Platform/Network Mitigations </vt:lpstr>
      <vt:lpstr>General Thoughts</vt:lpstr>
      <vt:lpstr>General Thoughts</vt:lpstr>
      <vt:lpstr>General Thoughts</vt:lpstr>
      <vt:lpstr>General Thoughts</vt:lpstr>
      <vt:lpstr>Slide 47</vt:lpstr>
      <vt:lpstr>Contact Info</vt:lpstr>
      <vt:lpstr>References &amp; Resources Very Useful</vt:lpstr>
      <vt:lpstr>References &amp; Resources Other Goodies</vt:lpstr>
      <vt:lpstr>References &amp; Resources Honorable Mentions</vt:lpstr>
      <vt:lpstr>References &amp; Resources Static Code Analyzers</vt:lpstr>
      <vt:lpstr>References &amp; Resources PHPIDS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2011-09-20T03:59:14Z</dcterms:created>
  <dcterms:modified xsi:type="dcterms:W3CDTF">2012-06-15T15:21:09Z</dcterms:modified>
</cp:coreProperties>
</file>