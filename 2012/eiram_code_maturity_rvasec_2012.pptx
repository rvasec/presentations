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9"/>
  </p:notesMasterIdLst>
  <p:handoutMasterIdLst>
    <p:handoutMasterId r:id="rId60"/>
  </p:handoutMasterIdLst>
  <p:sldIdLst>
    <p:sldId id="256" r:id="rId5"/>
    <p:sldId id="263" r:id="rId6"/>
    <p:sldId id="325" r:id="rId7"/>
    <p:sldId id="326" r:id="rId8"/>
    <p:sldId id="298" r:id="rId9"/>
    <p:sldId id="317" r:id="rId10"/>
    <p:sldId id="318" r:id="rId11"/>
    <p:sldId id="313" r:id="rId12"/>
    <p:sldId id="316" r:id="rId13"/>
    <p:sldId id="322" r:id="rId14"/>
    <p:sldId id="301" r:id="rId15"/>
    <p:sldId id="338" r:id="rId16"/>
    <p:sldId id="302" r:id="rId17"/>
    <p:sldId id="339" r:id="rId18"/>
    <p:sldId id="264" r:id="rId19"/>
    <p:sldId id="304" r:id="rId20"/>
    <p:sldId id="340" r:id="rId21"/>
    <p:sldId id="308" r:id="rId22"/>
    <p:sldId id="262" r:id="rId23"/>
    <p:sldId id="310" r:id="rId24"/>
    <p:sldId id="312" r:id="rId25"/>
    <p:sldId id="311" r:id="rId26"/>
    <p:sldId id="268" r:id="rId27"/>
    <p:sldId id="292" r:id="rId28"/>
    <p:sldId id="323" r:id="rId29"/>
    <p:sldId id="265" r:id="rId30"/>
    <p:sldId id="266" r:id="rId31"/>
    <p:sldId id="269" r:id="rId32"/>
    <p:sldId id="267" r:id="rId33"/>
    <p:sldId id="270" r:id="rId34"/>
    <p:sldId id="290" r:id="rId35"/>
    <p:sldId id="271" r:id="rId36"/>
    <p:sldId id="306" r:id="rId37"/>
    <p:sldId id="329" r:id="rId38"/>
    <p:sldId id="330" r:id="rId39"/>
    <p:sldId id="331" r:id="rId40"/>
    <p:sldId id="332" r:id="rId41"/>
    <p:sldId id="333" r:id="rId42"/>
    <p:sldId id="336" r:id="rId43"/>
    <p:sldId id="274" r:id="rId44"/>
    <p:sldId id="275" r:id="rId45"/>
    <p:sldId id="276" r:id="rId46"/>
    <p:sldId id="277" r:id="rId47"/>
    <p:sldId id="278" r:id="rId48"/>
    <p:sldId id="279" r:id="rId49"/>
    <p:sldId id="283" r:id="rId50"/>
    <p:sldId id="286" r:id="rId51"/>
    <p:sldId id="305" r:id="rId52"/>
    <p:sldId id="337" r:id="rId53"/>
    <p:sldId id="287" r:id="rId54"/>
    <p:sldId id="321" r:id="rId55"/>
    <p:sldId id="314" r:id="rId56"/>
    <p:sldId id="341" r:id="rId57"/>
    <p:sldId id="261"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626262"/>
    <a:srgbClr val="747474"/>
    <a:srgbClr val="BEBEBE"/>
    <a:srgbClr val="6A717A"/>
    <a:srgbClr val="6C6C6C"/>
    <a:srgbClr val="3C3C3C"/>
    <a:srgbClr val="737373"/>
    <a:srgbClr val="8B8B8B"/>
    <a:srgbClr val="474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ema til typografi 1 - Markering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ema til typografi 1 - Markering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ema til typografi 1 - Markering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ema til typografi 1 - Markering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Ingen typografi, intet git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yst layout 3 - Markering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FD4443E-F989-4FC4-A0C8-D5A2AF1F390B}" styleName="Mørkt layout 1 - Markering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llemlayout 2 - Markering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llemlayout 2 - Markering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70" autoAdjust="0"/>
    <p:restoredTop sz="94652" autoAdjust="0"/>
  </p:normalViewPr>
  <p:slideViewPr>
    <p:cSldViewPr>
      <p:cViewPr varScale="1">
        <p:scale>
          <a:sx n="87" d="100"/>
          <a:sy n="87" d="100"/>
        </p:scale>
        <p:origin x="-131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00" d="100"/>
          <a:sy n="100" d="100"/>
        </p:scale>
        <p:origin x="-360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da-DK"/>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Shockwave Player</c:v>
                </c:pt>
              </c:strCache>
            </c:strRef>
          </c:tx>
          <c:cat>
            <c:numRef>
              <c:f>Sheet1!$A$2:$A$11</c:f>
              <c:numCache>
                <c:formatCode>General</c:formatCode>
                <c:ptCount val="10"/>
                <c:pt idx="0">
                  <c:v>2003</c:v>
                </c:pt>
                <c:pt idx="1">
                  <c:v>2004</c:v>
                </c:pt>
                <c:pt idx="2">
                  <c:v>2005</c:v>
                </c:pt>
                <c:pt idx="3">
                  <c:v>2006</c:v>
                </c:pt>
                <c:pt idx="4">
                  <c:v>2007</c:v>
                </c:pt>
                <c:pt idx="5">
                  <c:v>2008</c:v>
                </c:pt>
                <c:pt idx="6">
                  <c:v>2009</c:v>
                </c:pt>
                <c:pt idx="7">
                  <c:v>2010</c:v>
                </c:pt>
                <c:pt idx="8">
                  <c:v>2011</c:v>
                </c:pt>
                <c:pt idx="9">
                  <c:v>2012</c:v>
                </c:pt>
              </c:numCache>
            </c:numRef>
          </c:cat>
          <c:val>
            <c:numRef>
              <c:f>Sheet1!$B$2:$B$11</c:f>
              <c:numCache>
                <c:formatCode>General</c:formatCode>
                <c:ptCount val="10"/>
                <c:pt idx="0">
                  <c:v>0</c:v>
                </c:pt>
                <c:pt idx="1">
                  <c:v>0</c:v>
                </c:pt>
                <c:pt idx="2">
                  <c:v>0</c:v>
                </c:pt>
                <c:pt idx="3">
                  <c:v>1</c:v>
                </c:pt>
                <c:pt idx="4">
                  <c:v>0</c:v>
                </c:pt>
                <c:pt idx="5">
                  <c:v>0</c:v>
                </c:pt>
                <c:pt idx="6">
                  <c:v>6</c:v>
                </c:pt>
                <c:pt idx="7">
                  <c:v>58</c:v>
                </c:pt>
                <c:pt idx="8">
                  <c:v>78</c:v>
                </c:pt>
                <c:pt idx="9">
                  <c:v>14</c:v>
                </c:pt>
              </c:numCache>
            </c:numRef>
          </c:val>
          <c:smooth val="0"/>
        </c:ser>
        <c:dLbls>
          <c:showLegendKey val="0"/>
          <c:showVal val="0"/>
          <c:showCatName val="0"/>
          <c:showSerName val="0"/>
          <c:showPercent val="0"/>
          <c:showBubbleSize val="0"/>
        </c:dLbls>
        <c:marker val="1"/>
        <c:smooth val="0"/>
        <c:axId val="33123328"/>
        <c:axId val="33424128"/>
      </c:lineChart>
      <c:catAx>
        <c:axId val="33123328"/>
        <c:scaling>
          <c:orientation val="minMax"/>
        </c:scaling>
        <c:delete val="0"/>
        <c:axPos val="b"/>
        <c:numFmt formatCode="General" sourceLinked="1"/>
        <c:majorTickMark val="out"/>
        <c:minorTickMark val="none"/>
        <c:tickLblPos val="nextTo"/>
        <c:crossAx val="33424128"/>
        <c:crosses val="autoZero"/>
        <c:auto val="1"/>
        <c:lblAlgn val="ctr"/>
        <c:lblOffset val="100"/>
        <c:noMultiLvlLbl val="0"/>
      </c:catAx>
      <c:valAx>
        <c:axId val="33424128"/>
        <c:scaling>
          <c:orientation val="minMax"/>
        </c:scaling>
        <c:delete val="0"/>
        <c:axPos val="l"/>
        <c:majorGridlines/>
        <c:numFmt formatCode="General" sourceLinked="1"/>
        <c:majorTickMark val="out"/>
        <c:minorTickMark val="none"/>
        <c:tickLblPos val="nextTo"/>
        <c:crossAx val="33123328"/>
        <c:crosses val="autoZero"/>
        <c:crossBetween val="between"/>
      </c:valAx>
    </c:plotArea>
    <c:plotVisOnly val="1"/>
    <c:dispBlanksAs val="gap"/>
    <c:showDLblsOverMax val="0"/>
  </c:chart>
  <c:txPr>
    <a:bodyPr/>
    <a:lstStyle/>
    <a:p>
      <a:pPr>
        <a:defRPr sz="1800"/>
      </a:pPr>
      <a:endParaRPr lang="da-DK"/>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da-DK"/>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 vulns</c:v>
                </c:pt>
              </c:strCache>
            </c:strRef>
          </c:tx>
          <c:spPr>
            <a:solidFill>
              <a:srgbClr val="0070C0"/>
            </a:solidFill>
          </c:spPr>
          <c:invertIfNegative val="0"/>
          <c:cat>
            <c:strRef>
              <c:f>Sheet1!$A$2:$A$4</c:f>
              <c:strCache>
                <c:ptCount val="3"/>
                <c:pt idx="0">
                  <c:v>Office 2000</c:v>
                </c:pt>
                <c:pt idx="1">
                  <c:v>Office 2007</c:v>
                </c:pt>
                <c:pt idx="2">
                  <c:v>Office 2010</c:v>
                </c:pt>
              </c:strCache>
            </c:strRef>
          </c:cat>
          <c:val>
            <c:numRef>
              <c:f>Sheet1!$B$2:$B$4</c:f>
              <c:numCache>
                <c:formatCode>General</c:formatCode>
                <c:ptCount val="3"/>
                <c:pt idx="0">
                  <c:v>4</c:v>
                </c:pt>
                <c:pt idx="1">
                  <c:v>5</c:v>
                </c:pt>
                <c:pt idx="2">
                  <c:v>13</c:v>
                </c:pt>
              </c:numCache>
            </c:numRef>
          </c:val>
        </c:ser>
        <c:dLbls>
          <c:showLegendKey val="0"/>
          <c:showVal val="0"/>
          <c:showCatName val="0"/>
          <c:showSerName val="0"/>
          <c:showPercent val="0"/>
          <c:showBubbleSize val="0"/>
        </c:dLbls>
        <c:gapWidth val="150"/>
        <c:axId val="33471872"/>
        <c:axId val="41616512"/>
      </c:barChart>
      <c:catAx>
        <c:axId val="33471872"/>
        <c:scaling>
          <c:orientation val="minMax"/>
        </c:scaling>
        <c:delete val="0"/>
        <c:axPos val="b"/>
        <c:majorTickMark val="out"/>
        <c:minorTickMark val="none"/>
        <c:tickLblPos val="nextTo"/>
        <c:crossAx val="41616512"/>
        <c:crosses val="autoZero"/>
        <c:auto val="1"/>
        <c:lblAlgn val="ctr"/>
        <c:lblOffset val="100"/>
        <c:noMultiLvlLbl val="0"/>
      </c:catAx>
      <c:valAx>
        <c:axId val="41616512"/>
        <c:scaling>
          <c:orientation val="minMax"/>
        </c:scaling>
        <c:delete val="0"/>
        <c:axPos val="l"/>
        <c:majorGridlines/>
        <c:numFmt formatCode="General" sourceLinked="1"/>
        <c:majorTickMark val="out"/>
        <c:minorTickMark val="none"/>
        <c:tickLblPos val="nextTo"/>
        <c:crossAx val="33471872"/>
        <c:crosses val="autoZero"/>
        <c:crossBetween val="between"/>
      </c:valAx>
    </c:plotArea>
    <c:plotVisOnly val="1"/>
    <c:dispBlanksAs val="gap"/>
    <c:showDLblsOverMax val="0"/>
  </c:chart>
  <c:txPr>
    <a:bodyPr/>
    <a:lstStyle/>
    <a:p>
      <a:pPr>
        <a:defRPr sz="1800"/>
      </a:pPr>
      <a:endParaRPr lang="da-DK"/>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da-DK"/>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Bulletins</c:v>
                </c:pt>
              </c:strCache>
            </c:strRef>
          </c:tx>
          <c:spPr>
            <a:solidFill>
              <a:srgbClr val="0070C0"/>
            </a:solidFill>
          </c:spPr>
          <c:invertIfNegative val="0"/>
          <c:cat>
            <c:numRef>
              <c:f>Sheet1!$A$2:$A$13</c:f>
              <c:numCache>
                <c:formatCode>General</c:formatCode>
                <c:ptCount val="12"/>
                <c:pt idx="0">
                  <c:v>2000</c:v>
                </c:pt>
                <c:pt idx="1">
                  <c:v>2001</c:v>
                </c:pt>
                <c:pt idx="2">
                  <c:v>2002</c:v>
                </c:pt>
                <c:pt idx="3">
                  <c:v>2003</c:v>
                </c:pt>
                <c:pt idx="4">
                  <c:v>2004</c:v>
                </c:pt>
                <c:pt idx="5">
                  <c:v>2005</c:v>
                </c:pt>
                <c:pt idx="6">
                  <c:v>2006</c:v>
                </c:pt>
                <c:pt idx="7">
                  <c:v>2007</c:v>
                </c:pt>
                <c:pt idx="8">
                  <c:v>2008</c:v>
                </c:pt>
                <c:pt idx="9">
                  <c:v>2009</c:v>
                </c:pt>
                <c:pt idx="10">
                  <c:v>2010</c:v>
                </c:pt>
                <c:pt idx="11">
                  <c:v>2011</c:v>
                </c:pt>
              </c:numCache>
            </c:numRef>
          </c:cat>
          <c:val>
            <c:numRef>
              <c:f>Sheet1!$B$2:$B$13</c:f>
              <c:numCache>
                <c:formatCode>General</c:formatCode>
                <c:ptCount val="12"/>
                <c:pt idx="0">
                  <c:v>100</c:v>
                </c:pt>
                <c:pt idx="1">
                  <c:v>60</c:v>
                </c:pt>
                <c:pt idx="2">
                  <c:v>72</c:v>
                </c:pt>
                <c:pt idx="3">
                  <c:v>51</c:v>
                </c:pt>
                <c:pt idx="4">
                  <c:v>45</c:v>
                </c:pt>
                <c:pt idx="5">
                  <c:v>55</c:v>
                </c:pt>
                <c:pt idx="6">
                  <c:v>78</c:v>
                </c:pt>
                <c:pt idx="7">
                  <c:v>69</c:v>
                </c:pt>
                <c:pt idx="8">
                  <c:v>78</c:v>
                </c:pt>
                <c:pt idx="9">
                  <c:v>74</c:v>
                </c:pt>
                <c:pt idx="10">
                  <c:v>106</c:v>
                </c:pt>
                <c:pt idx="11">
                  <c:v>100</c:v>
                </c:pt>
              </c:numCache>
            </c:numRef>
          </c:val>
        </c:ser>
        <c:ser>
          <c:idx val="1"/>
          <c:order val="1"/>
          <c:tx>
            <c:strRef>
              <c:f>Sheet1!$C$1</c:f>
              <c:strCache>
                <c:ptCount val="1"/>
                <c:pt idx="0">
                  <c:v>CVEs</c:v>
                </c:pt>
              </c:strCache>
            </c:strRef>
          </c:tx>
          <c:invertIfNegative val="0"/>
          <c:cat>
            <c:numRef>
              <c:f>Sheet1!$A$2:$A$13</c:f>
              <c:numCache>
                <c:formatCode>General</c:formatCode>
                <c:ptCount val="12"/>
                <c:pt idx="0">
                  <c:v>2000</c:v>
                </c:pt>
                <c:pt idx="1">
                  <c:v>2001</c:v>
                </c:pt>
                <c:pt idx="2">
                  <c:v>2002</c:v>
                </c:pt>
                <c:pt idx="3">
                  <c:v>2003</c:v>
                </c:pt>
                <c:pt idx="4">
                  <c:v>2004</c:v>
                </c:pt>
                <c:pt idx="5">
                  <c:v>2005</c:v>
                </c:pt>
                <c:pt idx="6">
                  <c:v>2006</c:v>
                </c:pt>
                <c:pt idx="7">
                  <c:v>2007</c:v>
                </c:pt>
                <c:pt idx="8">
                  <c:v>2008</c:v>
                </c:pt>
                <c:pt idx="9">
                  <c:v>2009</c:v>
                </c:pt>
                <c:pt idx="10">
                  <c:v>2010</c:v>
                </c:pt>
                <c:pt idx="11">
                  <c:v>2011</c:v>
                </c:pt>
              </c:numCache>
            </c:numRef>
          </c:cat>
          <c:val>
            <c:numRef>
              <c:f>Sheet1!$C$2:$C$13</c:f>
              <c:numCache>
                <c:formatCode>General</c:formatCode>
                <c:ptCount val="12"/>
                <c:pt idx="0">
                  <c:v>129</c:v>
                </c:pt>
                <c:pt idx="1">
                  <c:v>89</c:v>
                </c:pt>
                <c:pt idx="2">
                  <c:v>141</c:v>
                </c:pt>
                <c:pt idx="3">
                  <c:v>74</c:v>
                </c:pt>
                <c:pt idx="4">
                  <c:v>81</c:v>
                </c:pt>
                <c:pt idx="5">
                  <c:v>84</c:v>
                </c:pt>
                <c:pt idx="6">
                  <c:v>155</c:v>
                </c:pt>
                <c:pt idx="7">
                  <c:v>130</c:v>
                </c:pt>
                <c:pt idx="8">
                  <c:v>155</c:v>
                </c:pt>
                <c:pt idx="9">
                  <c:v>190</c:v>
                </c:pt>
                <c:pt idx="10">
                  <c:v>269</c:v>
                </c:pt>
                <c:pt idx="11">
                  <c:v>240</c:v>
                </c:pt>
              </c:numCache>
            </c:numRef>
          </c:val>
        </c:ser>
        <c:dLbls>
          <c:showLegendKey val="0"/>
          <c:showVal val="0"/>
          <c:showCatName val="0"/>
          <c:showSerName val="0"/>
          <c:showPercent val="0"/>
          <c:showBubbleSize val="0"/>
        </c:dLbls>
        <c:gapWidth val="150"/>
        <c:axId val="42028032"/>
        <c:axId val="42029824"/>
      </c:barChart>
      <c:catAx>
        <c:axId val="42028032"/>
        <c:scaling>
          <c:orientation val="minMax"/>
        </c:scaling>
        <c:delete val="0"/>
        <c:axPos val="b"/>
        <c:numFmt formatCode="General" sourceLinked="1"/>
        <c:majorTickMark val="out"/>
        <c:minorTickMark val="none"/>
        <c:tickLblPos val="nextTo"/>
        <c:crossAx val="42029824"/>
        <c:crosses val="autoZero"/>
        <c:auto val="1"/>
        <c:lblAlgn val="ctr"/>
        <c:lblOffset val="100"/>
        <c:noMultiLvlLbl val="0"/>
      </c:catAx>
      <c:valAx>
        <c:axId val="42029824"/>
        <c:scaling>
          <c:orientation val="minMax"/>
        </c:scaling>
        <c:delete val="0"/>
        <c:axPos val="l"/>
        <c:majorGridlines/>
        <c:numFmt formatCode="General" sourceLinked="1"/>
        <c:majorTickMark val="out"/>
        <c:minorTickMark val="none"/>
        <c:tickLblPos val="nextTo"/>
        <c:crossAx val="42028032"/>
        <c:crosses val="autoZero"/>
        <c:crossBetween val="between"/>
      </c:valAx>
    </c:plotArea>
    <c:legend>
      <c:legendPos val="r"/>
      <c:layout/>
      <c:overlay val="0"/>
    </c:legend>
    <c:plotVisOnly val="1"/>
    <c:dispBlanksAs val="gap"/>
    <c:showDLblsOverMax val="0"/>
  </c:chart>
  <c:txPr>
    <a:bodyPr/>
    <a:lstStyle/>
    <a:p>
      <a:pPr>
        <a:defRPr sz="1800"/>
      </a:pPr>
      <a:endParaRPr lang="da-DK"/>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da-DK"/>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clustered"/>
        <c:varyColors val="0"/>
        <c:ser>
          <c:idx val="0"/>
          <c:order val="0"/>
          <c:tx>
            <c:strRef>
              <c:f>Sheet1!$B$1</c:f>
              <c:strCache>
                <c:ptCount val="1"/>
                <c:pt idx="0">
                  <c:v>Classic Buffer Overflow</c:v>
                </c:pt>
              </c:strCache>
            </c:strRef>
          </c:tx>
          <c:invertIfNegative val="0"/>
          <c:cat>
            <c:strRef>
              <c:f>Sheet1!$A$2:$A$6</c:f>
              <c:strCache>
                <c:ptCount val="5"/>
                <c:pt idx="0">
                  <c:v>Office 2000</c:v>
                </c:pt>
                <c:pt idx="1">
                  <c:v>Office XP</c:v>
                </c:pt>
                <c:pt idx="2">
                  <c:v>Office 2003</c:v>
                </c:pt>
                <c:pt idx="3">
                  <c:v>Office 2007</c:v>
                </c:pt>
                <c:pt idx="4">
                  <c:v>Office 2010</c:v>
                </c:pt>
              </c:strCache>
            </c:strRef>
          </c:cat>
          <c:val>
            <c:numRef>
              <c:f>Sheet1!$B$2:$B$6</c:f>
              <c:numCache>
                <c:formatCode>0%</c:formatCode>
                <c:ptCount val="5"/>
                <c:pt idx="0">
                  <c:v>0.13</c:v>
                </c:pt>
                <c:pt idx="1">
                  <c:v>0.09</c:v>
                </c:pt>
                <c:pt idx="2">
                  <c:v>0.08</c:v>
                </c:pt>
                <c:pt idx="3">
                  <c:v>0</c:v>
                </c:pt>
                <c:pt idx="4">
                  <c:v>0</c:v>
                </c:pt>
              </c:numCache>
            </c:numRef>
          </c:val>
        </c:ser>
        <c:ser>
          <c:idx val="1"/>
          <c:order val="1"/>
          <c:tx>
            <c:strRef>
              <c:f>Sheet1!$C$1</c:f>
              <c:strCache>
                <c:ptCount val="1"/>
                <c:pt idx="0">
                  <c:v>Incorrect Size Copy</c:v>
                </c:pt>
              </c:strCache>
            </c:strRef>
          </c:tx>
          <c:spPr>
            <a:solidFill>
              <a:srgbClr val="92D050"/>
            </a:solidFill>
          </c:spPr>
          <c:invertIfNegative val="0"/>
          <c:cat>
            <c:strRef>
              <c:f>Sheet1!$A$2:$A$6</c:f>
              <c:strCache>
                <c:ptCount val="5"/>
                <c:pt idx="0">
                  <c:v>Office 2000</c:v>
                </c:pt>
                <c:pt idx="1">
                  <c:v>Office XP</c:v>
                </c:pt>
                <c:pt idx="2">
                  <c:v>Office 2003</c:v>
                </c:pt>
                <c:pt idx="3">
                  <c:v>Office 2007</c:v>
                </c:pt>
                <c:pt idx="4">
                  <c:v>Office 2010</c:v>
                </c:pt>
              </c:strCache>
            </c:strRef>
          </c:cat>
          <c:val>
            <c:numRef>
              <c:f>Sheet1!$C$2:$C$6</c:f>
              <c:numCache>
                <c:formatCode>0%</c:formatCode>
                <c:ptCount val="5"/>
                <c:pt idx="0">
                  <c:v>0.28999999999999998</c:v>
                </c:pt>
                <c:pt idx="1">
                  <c:v>0.26</c:v>
                </c:pt>
                <c:pt idx="2">
                  <c:v>0.14000000000000001</c:v>
                </c:pt>
                <c:pt idx="3">
                  <c:v>0.11</c:v>
                </c:pt>
                <c:pt idx="4">
                  <c:v>7.0000000000000007E-2</c:v>
                </c:pt>
              </c:numCache>
            </c:numRef>
          </c:val>
        </c:ser>
        <c:ser>
          <c:idx val="2"/>
          <c:order val="2"/>
          <c:tx>
            <c:strRef>
              <c:f>Sheet1!$D$1</c:f>
              <c:strCache>
                <c:ptCount val="1"/>
                <c:pt idx="0">
                  <c:v>Array Indexing</c:v>
                </c:pt>
              </c:strCache>
            </c:strRef>
          </c:tx>
          <c:invertIfNegative val="0"/>
          <c:cat>
            <c:strRef>
              <c:f>Sheet1!$A$2:$A$6</c:f>
              <c:strCache>
                <c:ptCount val="5"/>
                <c:pt idx="0">
                  <c:v>Office 2000</c:v>
                </c:pt>
                <c:pt idx="1">
                  <c:v>Office XP</c:v>
                </c:pt>
                <c:pt idx="2">
                  <c:v>Office 2003</c:v>
                </c:pt>
                <c:pt idx="3">
                  <c:v>Office 2007</c:v>
                </c:pt>
                <c:pt idx="4">
                  <c:v>Office 2010</c:v>
                </c:pt>
              </c:strCache>
            </c:strRef>
          </c:cat>
          <c:val>
            <c:numRef>
              <c:f>Sheet1!$D$2:$D$6</c:f>
              <c:numCache>
                <c:formatCode>0%</c:formatCode>
                <c:ptCount val="5"/>
                <c:pt idx="0">
                  <c:v>0.19</c:v>
                </c:pt>
                <c:pt idx="1">
                  <c:v>0.13</c:v>
                </c:pt>
                <c:pt idx="2">
                  <c:v>0.18</c:v>
                </c:pt>
                <c:pt idx="3">
                  <c:v>0.11</c:v>
                </c:pt>
                <c:pt idx="4">
                  <c:v>7.0000000000000007E-2</c:v>
                </c:pt>
              </c:numCache>
            </c:numRef>
          </c:val>
        </c:ser>
        <c:ser>
          <c:idx val="3"/>
          <c:order val="3"/>
          <c:tx>
            <c:strRef>
              <c:f>Sheet1!$E$1</c:f>
              <c:strCache>
                <c:ptCount val="1"/>
                <c:pt idx="0">
                  <c:v>Arithmetic</c:v>
                </c:pt>
              </c:strCache>
            </c:strRef>
          </c:tx>
          <c:spPr>
            <a:solidFill>
              <a:srgbClr val="FFFF00"/>
            </a:solidFill>
          </c:spPr>
          <c:invertIfNegative val="0"/>
          <c:cat>
            <c:strRef>
              <c:f>Sheet1!$A$2:$A$6</c:f>
              <c:strCache>
                <c:ptCount val="5"/>
                <c:pt idx="0">
                  <c:v>Office 2000</c:v>
                </c:pt>
                <c:pt idx="1">
                  <c:v>Office XP</c:v>
                </c:pt>
                <c:pt idx="2">
                  <c:v>Office 2003</c:v>
                </c:pt>
                <c:pt idx="3">
                  <c:v>Office 2007</c:v>
                </c:pt>
                <c:pt idx="4">
                  <c:v>Office 2010</c:v>
                </c:pt>
              </c:strCache>
            </c:strRef>
          </c:cat>
          <c:val>
            <c:numRef>
              <c:f>Sheet1!$E$2:$E$6</c:f>
              <c:numCache>
                <c:formatCode>0%</c:formatCode>
                <c:ptCount val="5"/>
                <c:pt idx="0">
                  <c:v>0.13</c:v>
                </c:pt>
                <c:pt idx="1">
                  <c:v>0.17</c:v>
                </c:pt>
                <c:pt idx="2">
                  <c:v>0.19</c:v>
                </c:pt>
                <c:pt idx="3">
                  <c:v>0.21</c:v>
                </c:pt>
                <c:pt idx="4">
                  <c:v>7.0000000000000007E-2</c:v>
                </c:pt>
              </c:numCache>
            </c:numRef>
          </c:val>
        </c:ser>
        <c:ser>
          <c:idx val="4"/>
          <c:order val="4"/>
          <c:tx>
            <c:strRef>
              <c:f>Sheet1!$F$1</c:f>
              <c:strCache>
                <c:ptCount val="1"/>
                <c:pt idx="0">
                  <c:v>Use-after-free</c:v>
                </c:pt>
              </c:strCache>
            </c:strRef>
          </c:tx>
          <c:spPr>
            <a:solidFill>
              <a:schemeClr val="accent1">
                <a:lumMod val="60000"/>
                <a:lumOff val="40000"/>
              </a:schemeClr>
            </a:solidFill>
          </c:spPr>
          <c:invertIfNegative val="0"/>
          <c:cat>
            <c:strRef>
              <c:f>Sheet1!$A$2:$A$6</c:f>
              <c:strCache>
                <c:ptCount val="5"/>
                <c:pt idx="0">
                  <c:v>Office 2000</c:v>
                </c:pt>
                <c:pt idx="1">
                  <c:v>Office XP</c:v>
                </c:pt>
                <c:pt idx="2">
                  <c:v>Office 2003</c:v>
                </c:pt>
                <c:pt idx="3">
                  <c:v>Office 2007</c:v>
                </c:pt>
                <c:pt idx="4">
                  <c:v>Office 2010</c:v>
                </c:pt>
              </c:strCache>
            </c:strRef>
          </c:cat>
          <c:val>
            <c:numRef>
              <c:f>Sheet1!$F$2:$F$6</c:f>
              <c:numCache>
                <c:formatCode>0%</c:formatCode>
                <c:ptCount val="5"/>
                <c:pt idx="0">
                  <c:v>0.06</c:v>
                </c:pt>
                <c:pt idx="1">
                  <c:v>0.08</c:v>
                </c:pt>
                <c:pt idx="2">
                  <c:v>0.11</c:v>
                </c:pt>
                <c:pt idx="3">
                  <c:v>0.13</c:v>
                </c:pt>
                <c:pt idx="4">
                  <c:v>0.21</c:v>
                </c:pt>
              </c:numCache>
            </c:numRef>
          </c:val>
        </c:ser>
        <c:ser>
          <c:idx val="5"/>
          <c:order val="5"/>
          <c:tx>
            <c:strRef>
              <c:f>Sheet1!$G$1</c:f>
              <c:strCache>
                <c:ptCount val="1"/>
                <c:pt idx="0">
                  <c:v>Object Type Confusion</c:v>
                </c:pt>
              </c:strCache>
            </c:strRef>
          </c:tx>
          <c:spPr>
            <a:solidFill>
              <a:srgbClr val="7030A0"/>
            </a:solidFill>
          </c:spPr>
          <c:invertIfNegative val="0"/>
          <c:cat>
            <c:strRef>
              <c:f>Sheet1!$A$2:$A$6</c:f>
              <c:strCache>
                <c:ptCount val="5"/>
                <c:pt idx="0">
                  <c:v>Office 2000</c:v>
                </c:pt>
                <c:pt idx="1">
                  <c:v>Office XP</c:v>
                </c:pt>
                <c:pt idx="2">
                  <c:v>Office 2003</c:v>
                </c:pt>
                <c:pt idx="3">
                  <c:v>Office 2007</c:v>
                </c:pt>
                <c:pt idx="4">
                  <c:v>Office 2010</c:v>
                </c:pt>
              </c:strCache>
            </c:strRef>
          </c:cat>
          <c:val>
            <c:numRef>
              <c:f>Sheet1!$G$2:$G$6</c:f>
              <c:numCache>
                <c:formatCode>0%</c:formatCode>
                <c:ptCount val="5"/>
                <c:pt idx="0">
                  <c:v>0.03</c:v>
                </c:pt>
                <c:pt idx="1">
                  <c:v>0.05</c:v>
                </c:pt>
                <c:pt idx="2">
                  <c:v>7.0000000000000007E-2</c:v>
                </c:pt>
                <c:pt idx="3">
                  <c:v>0.13</c:v>
                </c:pt>
                <c:pt idx="4">
                  <c:v>0.21</c:v>
                </c:pt>
              </c:numCache>
            </c:numRef>
          </c:val>
        </c:ser>
        <c:ser>
          <c:idx val="6"/>
          <c:order val="6"/>
          <c:tx>
            <c:strRef>
              <c:f>Sheet1!$H$1</c:f>
              <c:strCache>
                <c:ptCount val="1"/>
                <c:pt idx="0">
                  <c:v>Uninitialised Variable</c:v>
                </c:pt>
              </c:strCache>
            </c:strRef>
          </c:tx>
          <c:spPr>
            <a:solidFill>
              <a:schemeClr val="accent4">
                <a:lumMod val="50000"/>
              </a:schemeClr>
            </a:solidFill>
          </c:spPr>
          <c:invertIfNegative val="0"/>
          <c:cat>
            <c:strRef>
              <c:f>Sheet1!$A$2:$A$6</c:f>
              <c:strCache>
                <c:ptCount val="5"/>
                <c:pt idx="0">
                  <c:v>Office 2000</c:v>
                </c:pt>
                <c:pt idx="1">
                  <c:v>Office XP</c:v>
                </c:pt>
                <c:pt idx="2">
                  <c:v>Office 2003</c:v>
                </c:pt>
                <c:pt idx="3">
                  <c:v>Office 2007</c:v>
                </c:pt>
                <c:pt idx="4">
                  <c:v>Office 2010</c:v>
                </c:pt>
              </c:strCache>
            </c:strRef>
          </c:cat>
          <c:val>
            <c:numRef>
              <c:f>Sheet1!$H$2:$H$6</c:f>
              <c:numCache>
                <c:formatCode>0%</c:formatCode>
                <c:ptCount val="5"/>
                <c:pt idx="0">
                  <c:v>0.05</c:v>
                </c:pt>
                <c:pt idx="1">
                  <c:v>7.0000000000000007E-2</c:v>
                </c:pt>
                <c:pt idx="2">
                  <c:v>0.08</c:v>
                </c:pt>
                <c:pt idx="3">
                  <c:v>0.09</c:v>
                </c:pt>
                <c:pt idx="4">
                  <c:v>0.14000000000000001</c:v>
                </c:pt>
              </c:numCache>
            </c:numRef>
          </c:val>
        </c:ser>
        <c:dLbls>
          <c:showLegendKey val="0"/>
          <c:showVal val="0"/>
          <c:showCatName val="0"/>
          <c:showSerName val="0"/>
          <c:showPercent val="0"/>
          <c:showBubbleSize val="0"/>
        </c:dLbls>
        <c:gapWidth val="150"/>
        <c:axId val="39376000"/>
        <c:axId val="39377536"/>
      </c:barChart>
      <c:catAx>
        <c:axId val="39376000"/>
        <c:scaling>
          <c:orientation val="minMax"/>
        </c:scaling>
        <c:delete val="0"/>
        <c:axPos val="l"/>
        <c:majorTickMark val="out"/>
        <c:minorTickMark val="none"/>
        <c:tickLblPos val="nextTo"/>
        <c:crossAx val="39377536"/>
        <c:crosses val="autoZero"/>
        <c:auto val="1"/>
        <c:lblAlgn val="ctr"/>
        <c:lblOffset val="100"/>
        <c:noMultiLvlLbl val="0"/>
      </c:catAx>
      <c:valAx>
        <c:axId val="39377536"/>
        <c:scaling>
          <c:orientation val="minMax"/>
        </c:scaling>
        <c:delete val="0"/>
        <c:axPos val="b"/>
        <c:majorGridlines/>
        <c:numFmt formatCode="0%" sourceLinked="1"/>
        <c:majorTickMark val="out"/>
        <c:minorTickMark val="none"/>
        <c:tickLblPos val="nextTo"/>
        <c:crossAx val="39376000"/>
        <c:crosses val="autoZero"/>
        <c:crossBetween val="between"/>
      </c:valAx>
    </c:plotArea>
    <c:legend>
      <c:legendPos val="r"/>
      <c:layout/>
      <c:overlay val="0"/>
    </c:legend>
    <c:plotVisOnly val="1"/>
    <c:dispBlanksAs val="gap"/>
    <c:showDLblsOverMax val="0"/>
  </c:chart>
  <c:txPr>
    <a:bodyPr/>
    <a:lstStyle/>
    <a:p>
      <a:pPr>
        <a:defRPr sz="1800"/>
      </a:pPr>
      <a:endParaRPr lang="da-DK"/>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da-DK"/>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Code Maturity</c:v>
                </c:pt>
              </c:strCache>
            </c:strRef>
          </c:tx>
          <c:invertIfNegative val="0"/>
          <c:cat>
            <c:strRef>
              <c:f>Sheet1!$A$2:$A$6</c:f>
              <c:strCache>
                <c:ptCount val="5"/>
                <c:pt idx="0">
                  <c:v>Office 2000</c:v>
                </c:pt>
                <c:pt idx="1">
                  <c:v>Office XP</c:v>
                </c:pt>
                <c:pt idx="2">
                  <c:v>Office 2003</c:v>
                </c:pt>
                <c:pt idx="3">
                  <c:v>Office 2007</c:v>
                </c:pt>
                <c:pt idx="4">
                  <c:v>Office 2010</c:v>
                </c:pt>
              </c:strCache>
            </c:strRef>
          </c:cat>
          <c:val>
            <c:numRef>
              <c:f>Sheet1!$B$2:$B$6</c:f>
              <c:numCache>
                <c:formatCode>General</c:formatCode>
                <c:ptCount val="5"/>
                <c:pt idx="0">
                  <c:v>1.42</c:v>
                </c:pt>
                <c:pt idx="1">
                  <c:v>1.62</c:v>
                </c:pt>
                <c:pt idx="2">
                  <c:v>1.77</c:v>
                </c:pt>
                <c:pt idx="3">
                  <c:v>2.09</c:v>
                </c:pt>
                <c:pt idx="4">
                  <c:v>2.29</c:v>
                </c:pt>
              </c:numCache>
            </c:numRef>
          </c:val>
        </c:ser>
        <c:dLbls>
          <c:showLegendKey val="0"/>
          <c:showVal val="0"/>
          <c:showCatName val="0"/>
          <c:showSerName val="0"/>
          <c:showPercent val="0"/>
          <c:showBubbleSize val="0"/>
        </c:dLbls>
        <c:gapWidth val="150"/>
        <c:axId val="106745856"/>
        <c:axId val="106747392"/>
      </c:barChart>
      <c:catAx>
        <c:axId val="106745856"/>
        <c:scaling>
          <c:orientation val="minMax"/>
        </c:scaling>
        <c:delete val="0"/>
        <c:axPos val="l"/>
        <c:majorTickMark val="out"/>
        <c:minorTickMark val="none"/>
        <c:tickLblPos val="nextTo"/>
        <c:crossAx val="106747392"/>
        <c:crosses val="autoZero"/>
        <c:auto val="1"/>
        <c:lblAlgn val="ctr"/>
        <c:lblOffset val="100"/>
        <c:noMultiLvlLbl val="0"/>
      </c:catAx>
      <c:valAx>
        <c:axId val="106747392"/>
        <c:scaling>
          <c:orientation val="minMax"/>
          <c:max val="3"/>
          <c:min val="0"/>
        </c:scaling>
        <c:delete val="0"/>
        <c:axPos val="b"/>
        <c:majorGridlines/>
        <c:numFmt formatCode="General" sourceLinked="1"/>
        <c:majorTickMark val="out"/>
        <c:minorTickMark val="none"/>
        <c:tickLblPos val="nextTo"/>
        <c:crossAx val="106745856"/>
        <c:crosses val="autoZero"/>
        <c:crossBetween val="between"/>
        <c:majorUnit val="0.5"/>
      </c:valAx>
    </c:plotArea>
    <c:legend>
      <c:legendPos val="r"/>
      <c:layout/>
      <c:overlay val="0"/>
    </c:legend>
    <c:plotVisOnly val="1"/>
    <c:dispBlanksAs val="gap"/>
    <c:showDLblsOverMax val="0"/>
  </c:chart>
  <c:txPr>
    <a:bodyPr/>
    <a:lstStyle/>
    <a:p>
      <a:pPr>
        <a:defRPr sz="1800"/>
      </a:pPr>
      <a:endParaRPr lang="da-DK"/>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a-DK" dirty="0"/>
          </a:p>
        </p:txBody>
      </p:sp>
      <p:sp>
        <p:nvSpPr>
          <p:cNvPr id="3" name="Pladsholder til dato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2E2D61-96BF-4FEF-BBF9-F0CFD5C28BED}" type="datetime1">
              <a:rPr lang="en-US" smtClean="0"/>
              <a:t>6/14/2012</a:t>
            </a:fld>
            <a:endParaRPr lang="da-DK" dirty="0"/>
          </a:p>
        </p:txBody>
      </p:sp>
      <p:sp>
        <p:nvSpPr>
          <p:cNvPr id="4" name="Pladsholder til sidefod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da-DK" dirty="0" smtClean="0"/>
              <a:t>Presentation title and date</a:t>
            </a:r>
            <a:endParaRPr lang="da-DK" dirty="0"/>
          </a:p>
        </p:txBody>
      </p:sp>
      <p:sp>
        <p:nvSpPr>
          <p:cNvPr id="5" name="Pladsholder til diasnumm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8A567-CBD2-43C1-B5B9-46E247EA8156}" type="slidenum">
              <a:rPr lang="da-DK" smtClean="0"/>
              <a:pPr/>
              <a:t>‹#›</a:t>
            </a:fld>
            <a:endParaRPr lang="da-DK" dirty="0"/>
          </a:p>
        </p:txBody>
      </p:sp>
    </p:spTree>
    <p:extLst>
      <p:ext uri="{BB962C8B-B14F-4D97-AF65-F5344CB8AC3E}">
        <p14:creationId xmlns:p14="http://schemas.microsoft.com/office/powerpoint/2010/main" val="277407704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AFBD7A-3E04-479C-9B5B-44B003C34C4F}" type="datetime1">
              <a:rPr lang="en-US" smtClean="0"/>
              <a:t>6/14/2012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smtClean="0"/>
              <a:t>Presentation title and date</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F8F704-1A1A-482E-ABB5-9E11DA829CD2}" type="slidenum">
              <a:rPr lang="en-US" smtClean="0"/>
              <a:pPr/>
              <a:t>‹#›</a:t>
            </a:fld>
            <a:endParaRPr lang="en-US" dirty="0"/>
          </a:p>
        </p:txBody>
      </p:sp>
    </p:spTree>
    <p:extLst>
      <p:ext uri="{BB962C8B-B14F-4D97-AF65-F5344CB8AC3E}">
        <p14:creationId xmlns:p14="http://schemas.microsoft.com/office/powerpoint/2010/main" val="139628126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10" name="Title 1"/>
          <p:cNvSpPr>
            <a:spLocks noGrp="1"/>
          </p:cNvSpPr>
          <p:nvPr userDrawn="1">
            <p:ph type="ctrTitle" hasCustomPrompt="1"/>
          </p:nvPr>
        </p:nvSpPr>
        <p:spPr>
          <a:xfrm>
            <a:off x="685800" y="2996952"/>
            <a:ext cx="7696200" cy="533400"/>
          </a:xfrm>
          <a:prstGeom prst="rect">
            <a:avLst/>
          </a:prstGeom>
        </p:spPr>
        <p:txBody>
          <a:bodyPr anchor="ctr"/>
          <a:lstStyle>
            <a:lvl1pPr algn="ctr">
              <a:defRPr sz="4000">
                <a:solidFill>
                  <a:schemeClr val="tx1"/>
                </a:solidFill>
                <a:effectLst/>
                <a:latin typeface="Gill Sans MT" pitchFamily="34" charset="0"/>
              </a:defRPr>
            </a:lvl1pPr>
          </a:lstStyle>
          <a:p>
            <a:r>
              <a:rPr lang="en-US" dirty="0" smtClean="0"/>
              <a:t>Title of the Presentation</a:t>
            </a:r>
            <a:endParaRPr lang="en-US" dirty="0"/>
          </a:p>
        </p:txBody>
      </p:sp>
      <p:sp>
        <p:nvSpPr>
          <p:cNvPr id="11" name="Subtitle 2"/>
          <p:cNvSpPr>
            <a:spLocks noGrp="1"/>
          </p:cNvSpPr>
          <p:nvPr userDrawn="1">
            <p:ph type="subTitle" idx="1" hasCustomPrompt="1"/>
          </p:nvPr>
        </p:nvSpPr>
        <p:spPr>
          <a:xfrm>
            <a:off x="685800" y="3530352"/>
            <a:ext cx="7696200" cy="914400"/>
          </a:xfrm>
          <a:prstGeom prst="rect">
            <a:avLst/>
          </a:prstGeom>
        </p:spPr>
        <p:txBody>
          <a:bodyPr/>
          <a:lstStyle>
            <a:lvl1pPr marL="0" indent="0" algn="ctr">
              <a:spcBef>
                <a:spcPts val="0"/>
              </a:spcBef>
              <a:buNone/>
              <a:defRPr sz="1300" b="0">
                <a:solidFill>
                  <a:srgbClr val="3F3F3F"/>
                </a:solidFill>
                <a:latin typeface="Gill Sans MT" pitchFamily="34" charset="0"/>
              </a:defRPr>
            </a:lvl1pPr>
          </a:lstStyle>
          <a:p>
            <a:r>
              <a:rPr lang="en-US" dirty="0" smtClean="0"/>
              <a:t>Subtitle goes here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9" name="Date Placeholder 3"/>
          <p:cNvSpPr>
            <a:spLocks noGrp="1"/>
          </p:cNvSpPr>
          <p:nvPr>
            <p:ph type="dt" sz="half" idx="2"/>
          </p:nvPr>
        </p:nvSpPr>
        <p:spPr>
          <a:xfrm>
            <a:off x="457200" y="6592267"/>
            <a:ext cx="2133600" cy="365125"/>
          </a:xfrm>
          <a:prstGeom prst="rect">
            <a:avLst/>
          </a:prstGeom>
        </p:spPr>
        <p:txBody>
          <a:bodyPr/>
          <a:lstStyle>
            <a:lvl1pPr>
              <a:defRPr sz="800" b="0">
                <a:solidFill>
                  <a:schemeClr val="tx2"/>
                </a:solidFill>
                <a:latin typeface="+mn-lt"/>
              </a:defRPr>
            </a:lvl1pPr>
          </a:lstStyle>
          <a:p>
            <a:fld id="{4F820689-4E4D-4A36-BBD2-A90649512F2F}" type="datetime1">
              <a:rPr lang="da-DK" smtClean="0"/>
              <a:pPr/>
              <a:t>14-06-2012</a:t>
            </a:fld>
            <a:endParaRPr lang="da-DK" dirty="0"/>
          </a:p>
        </p:txBody>
      </p:sp>
      <p:sp>
        <p:nvSpPr>
          <p:cNvPr id="10" name="Slide Number Placeholder 4"/>
          <p:cNvSpPr>
            <a:spLocks noGrp="1"/>
          </p:cNvSpPr>
          <p:nvPr>
            <p:ph type="sldNum" sz="quarter" idx="4"/>
          </p:nvPr>
        </p:nvSpPr>
        <p:spPr>
          <a:xfrm>
            <a:off x="6553200" y="6592267"/>
            <a:ext cx="2133600" cy="365125"/>
          </a:xfrm>
          <a:prstGeom prst="rect">
            <a:avLst/>
          </a:prstGeom>
        </p:spPr>
        <p:txBody>
          <a:bodyPr/>
          <a:lstStyle>
            <a:lvl1pPr algn="r">
              <a:defRPr sz="800">
                <a:solidFill>
                  <a:schemeClr val="tx2"/>
                </a:solidFill>
                <a:latin typeface="+mn-lt"/>
              </a:defRPr>
            </a:lvl1pPr>
          </a:lstStyle>
          <a:p>
            <a:fld id="{2BAA97D9-9976-46D4-A464-9640EA54D84C}" type="slidenum">
              <a:rPr lang="da-DK" smtClean="0"/>
              <a:pPr/>
              <a:t>‹#›</a:t>
            </a:fld>
            <a:endParaRPr lang="da-DK" dirty="0"/>
          </a:p>
        </p:txBody>
      </p:sp>
      <p:sp>
        <p:nvSpPr>
          <p:cNvPr id="11" name="Footer Placeholder 4"/>
          <p:cNvSpPr txBox="1">
            <a:spLocks/>
          </p:cNvSpPr>
          <p:nvPr userDrawn="1"/>
        </p:nvSpPr>
        <p:spPr>
          <a:xfrm>
            <a:off x="3124200" y="6520259"/>
            <a:ext cx="2895600" cy="365125"/>
          </a:xfrm>
          <a:prstGeom prst="rect">
            <a:avLst/>
          </a:prstGeom>
        </p:spPr>
        <p:txBody>
          <a:bodyPr vert="horz" lIns="91440" tIns="45720" rIns="91440" bIns="45720" rtlCol="0" anchor="ctr"/>
          <a:lstStyle>
            <a:defPPr>
              <a:defRPr lang="da-DK"/>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smtClean="0">
                <a:ln>
                  <a:noFill/>
                </a:ln>
                <a:solidFill>
                  <a:schemeClr val="tx2"/>
                </a:solidFill>
                <a:effectLst/>
                <a:uLnTx/>
                <a:uFillTx/>
                <a:latin typeface="Calibri"/>
                <a:ea typeface="+mn-ea"/>
                <a:cs typeface="+mn-cs"/>
              </a:rPr>
              <a:t>Code Maturity: Is SDL a Waste of Time?</a:t>
            </a:r>
            <a:endParaRPr kumimoji="0" lang="da-DK" sz="900" b="0" i="0" u="none" strike="noStrike" kern="1200" cap="none" spc="0" normalizeH="0" baseline="0" noProof="0" dirty="0" smtClean="0">
              <a:ln>
                <a:noFill/>
              </a:ln>
              <a:solidFill>
                <a:schemeClr val="tx2"/>
              </a:solidFill>
              <a:effectLst/>
              <a:uLnTx/>
              <a:uFillTx/>
              <a:latin typeface="Calibri"/>
              <a:ea typeface="+mn-ea"/>
              <a:cs typeface="+mn-cs"/>
            </a:endParaRPr>
          </a:p>
        </p:txBody>
      </p:sp>
      <p:sp>
        <p:nvSpPr>
          <p:cNvPr id="7" name="Text Placeholder 6"/>
          <p:cNvSpPr>
            <a:spLocks noGrp="1"/>
          </p:cNvSpPr>
          <p:nvPr>
            <p:ph type="body" sz="quarter" idx="12"/>
          </p:nvPr>
        </p:nvSpPr>
        <p:spPr>
          <a:xfrm>
            <a:off x="395536" y="1268760"/>
            <a:ext cx="7908538" cy="3456979"/>
          </a:xfrm>
          <a:prstGeom prst="rect">
            <a:avLst/>
          </a:prstGeom>
        </p:spPr>
        <p:txBody>
          <a:bodyPr/>
          <a:lstStyle>
            <a:lvl1pPr marL="342900" indent="-342900">
              <a:buFontTx/>
              <a:buBlip>
                <a:blip r:embed="rId3"/>
              </a:buBlip>
              <a:defRPr sz="1800">
                <a:solidFill>
                  <a:schemeClr val="tx1">
                    <a:lumMod val="75000"/>
                  </a:schemeClr>
                </a:solidFill>
              </a:defRPr>
            </a:lvl1pPr>
            <a:lvl2pPr marL="742950" indent="-285750">
              <a:buFontTx/>
              <a:buBlip>
                <a:blip r:embed="rId3"/>
              </a:buBlip>
              <a:defRPr sz="1800">
                <a:solidFill>
                  <a:schemeClr val="tx1">
                    <a:lumMod val="75000"/>
                  </a:schemeClr>
                </a:solidFill>
              </a:defRPr>
            </a:lvl2pPr>
            <a:lvl3pPr marL="1143000" indent="-228600">
              <a:buFontTx/>
              <a:buBlip>
                <a:blip r:embed="rId3"/>
              </a:buBlip>
              <a:defRPr sz="1800">
                <a:solidFill>
                  <a:schemeClr val="tx1">
                    <a:lumMod val="75000"/>
                  </a:schemeClr>
                </a:solidFill>
              </a:defRPr>
            </a:lvl3pPr>
            <a:lvl4pPr marL="1600200" indent="-228600">
              <a:buFontTx/>
              <a:buBlip>
                <a:blip r:embed="rId3"/>
              </a:buBlip>
              <a:defRPr sz="1800">
                <a:solidFill>
                  <a:schemeClr val="tx1">
                    <a:lumMod val="75000"/>
                  </a:schemeClr>
                </a:solidFill>
              </a:defRPr>
            </a:lvl4pPr>
            <a:lvl5pPr marL="2057400" indent="-228600">
              <a:buFontTx/>
              <a:buBlip>
                <a:blip r:embed="rId3"/>
              </a:buBlip>
              <a:defRPr sz="1800">
                <a:solidFill>
                  <a:schemeClr val="tx1">
                    <a:lumMod val="7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a-DK" dirty="0"/>
          </a:p>
        </p:txBody>
      </p:sp>
      <p:sp>
        <p:nvSpPr>
          <p:cNvPr id="13" name="Text Placeholder 5"/>
          <p:cNvSpPr>
            <a:spLocks noGrp="1"/>
          </p:cNvSpPr>
          <p:nvPr>
            <p:ph type="body" sz="quarter" idx="14" hasCustomPrompt="1"/>
          </p:nvPr>
        </p:nvSpPr>
        <p:spPr>
          <a:xfrm>
            <a:off x="383194" y="332656"/>
            <a:ext cx="7933222" cy="648072"/>
          </a:xfrm>
          <a:prstGeom prst="rect">
            <a:avLst/>
          </a:prstGeom>
        </p:spPr>
        <p:txBody>
          <a:bodyPr/>
          <a:lstStyle>
            <a:lvl1pPr marL="0" marR="0" indent="-182880" algn="l" defTabSz="914400" rtl="0" eaLnBrk="1" fontAlgn="auto" latinLnBrk="0" hangingPunct="1">
              <a:lnSpc>
                <a:spcPct val="100000"/>
              </a:lnSpc>
              <a:spcBef>
                <a:spcPts val="0"/>
              </a:spcBef>
              <a:spcAft>
                <a:spcPts val="0"/>
              </a:spcAft>
              <a:buClrTx/>
              <a:buSzTx/>
              <a:buFont typeface="Arial" pitchFamily="34" charset="0"/>
              <a:buNone/>
              <a:tabLst/>
              <a:defRPr kumimoji="0" lang="en-US" sz="2400" b="0" i="0" u="none" strike="noStrike" kern="1200" cap="none" spc="0" normalizeH="0" baseline="0" noProof="0">
                <a:solidFill>
                  <a:schemeClr val="tx1">
                    <a:lumMod val="75000"/>
                  </a:schemeClr>
                </a:solidFill>
              </a:defRPr>
            </a:lvl1pPr>
          </a:lstStyle>
          <a:p>
            <a:r>
              <a:rPr lang="en-US" dirty="0" smtClean="0">
                <a:solidFill>
                  <a:schemeClr val="tx1">
                    <a:lumMod val="75000"/>
                  </a:schemeClr>
                </a:solidFill>
              </a:rPr>
              <a:t>Headline here</a:t>
            </a:r>
            <a:endParaRPr lang="en-US" dirty="0">
              <a:solidFill>
                <a:schemeClr val="tx1">
                  <a:lumMod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 Slide with Video">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381000" y="1268760"/>
            <a:ext cx="3962400" cy="4839816"/>
          </a:xfrm>
          <a:prstGeom prst="rect">
            <a:avLst/>
          </a:prstGeom>
        </p:spPr>
        <p:txBody>
          <a:bodyPr/>
          <a:lstStyle>
            <a:lvl1pPr marL="285750" marR="0" indent="-285750" algn="l" defTabSz="914400" rtl="0" eaLnBrk="1" fontAlgn="auto" latinLnBrk="0" hangingPunct="1">
              <a:lnSpc>
                <a:spcPct val="100000"/>
              </a:lnSpc>
              <a:spcBef>
                <a:spcPts val="0"/>
              </a:spcBef>
              <a:spcAft>
                <a:spcPts val="0"/>
              </a:spcAft>
              <a:buClrTx/>
              <a:buSzTx/>
              <a:buFontTx/>
              <a:buBlip>
                <a:blip r:embed="rId3"/>
              </a:buBlip>
              <a:tabLst/>
              <a:defRPr kumimoji="0" lang="en-US" sz="1800" b="0" i="0" u="none" strike="noStrike" kern="1200" cap="none" spc="0" normalizeH="0" baseline="0" noProof="0">
                <a:solidFill>
                  <a:schemeClr val="tx1">
                    <a:lumMod val="75000"/>
                  </a:schemeClr>
                </a:solidFill>
              </a:defRPr>
            </a:lvl1pPr>
            <a:lvl2pPr marL="742950" indent="-285750">
              <a:buFontTx/>
              <a:buBlip>
                <a:blip r:embed="rId3"/>
              </a:buBlip>
              <a:defRPr sz="1800"/>
            </a:lvl2pPr>
            <a:lvl3pPr marL="1143000" indent="-228600">
              <a:buFontTx/>
              <a:buBlip>
                <a:blip r:embed="rId3"/>
              </a:buBlip>
              <a:defRPr sz="1800"/>
            </a:lvl3pPr>
            <a:lvl4pPr marL="1600200" indent="-228600">
              <a:buFontTx/>
              <a:buBlip>
                <a:blip r:embed="rId3"/>
              </a:buBlip>
              <a:defRPr sz="1800"/>
            </a:lvl4pPr>
            <a:lvl5pPr marL="2057400" indent="-228600">
              <a:buFontTx/>
              <a:buBlip>
                <a:blip r:embed="rId3"/>
              </a:buBlip>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4" name="Date Placeholder 3"/>
          <p:cNvSpPr>
            <a:spLocks noGrp="1"/>
          </p:cNvSpPr>
          <p:nvPr>
            <p:ph type="dt" sz="half" idx="2"/>
          </p:nvPr>
        </p:nvSpPr>
        <p:spPr>
          <a:xfrm>
            <a:off x="457200" y="6592267"/>
            <a:ext cx="2133600" cy="365125"/>
          </a:xfrm>
          <a:prstGeom prst="rect">
            <a:avLst/>
          </a:prstGeom>
        </p:spPr>
        <p:txBody>
          <a:bodyPr/>
          <a:lstStyle>
            <a:lvl1pPr>
              <a:defRPr sz="800" b="0">
                <a:solidFill>
                  <a:schemeClr val="tx2"/>
                </a:solidFill>
                <a:latin typeface="+mn-lt"/>
              </a:defRPr>
            </a:lvl1pPr>
          </a:lstStyle>
          <a:p>
            <a:fld id="{4F820689-4E4D-4A36-BBD2-A90649512F2F}" type="datetime1">
              <a:rPr lang="da-DK" smtClean="0"/>
              <a:pPr/>
              <a:t>14-06-2012</a:t>
            </a:fld>
            <a:endParaRPr lang="da-DK" dirty="0"/>
          </a:p>
        </p:txBody>
      </p:sp>
      <p:sp>
        <p:nvSpPr>
          <p:cNvPr id="15" name="Slide Number Placeholder 4"/>
          <p:cNvSpPr>
            <a:spLocks noGrp="1"/>
          </p:cNvSpPr>
          <p:nvPr>
            <p:ph type="sldNum" sz="quarter" idx="4"/>
          </p:nvPr>
        </p:nvSpPr>
        <p:spPr>
          <a:xfrm>
            <a:off x="6553200" y="6592267"/>
            <a:ext cx="2133600" cy="365125"/>
          </a:xfrm>
          <a:prstGeom prst="rect">
            <a:avLst/>
          </a:prstGeom>
        </p:spPr>
        <p:txBody>
          <a:bodyPr/>
          <a:lstStyle>
            <a:lvl1pPr algn="r">
              <a:defRPr sz="800">
                <a:solidFill>
                  <a:schemeClr val="tx2"/>
                </a:solidFill>
                <a:latin typeface="+mn-lt"/>
              </a:defRPr>
            </a:lvl1pPr>
          </a:lstStyle>
          <a:p>
            <a:fld id="{2BAA97D9-9976-46D4-A464-9640EA54D84C}" type="slidenum">
              <a:rPr lang="da-DK" smtClean="0"/>
              <a:pPr/>
              <a:t>‹#›</a:t>
            </a:fld>
            <a:endParaRPr lang="da-DK" dirty="0"/>
          </a:p>
        </p:txBody>
      </p:sp>
      <p:sp>
        <p:nvSpPr>
          <p:cNvPr id="16" name="Footer Placeholder 4"/>
          <p:cNvSpPr txBox="1">
            <a:spLocks/>
          </p:cNvSpPr>
          <p:nvPr userDrawn="1"/>
        </p:nvSpPr>
        <p:spPr>
          <a:xfrm>
            <a:off x="3124200" y="6520259"/>
            <a:ext cx="2895600" cy="365125"/>
          </a:xfrm>
          <a:prstGeom prst="rect">
            <a:avLst/>
          </a:prstGeom>
        </p:spPr>
        <p:txBody>
          <a:bodyPr vert="horz" lIns="91440" tIns="45720" rIns="91440" bIns="45720" rtlCol="0" anchor="ctr"/>
          <a:lstStyle>
            <a:defPPr>
              <a:defRPr lang="da-DK"/>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smtClean="0">
                <a:ln>
                  <a:noFill/>
                </a:ln>
                <a:solidFill>
                  <a:schemeClr val="tx2"/>
                </a:solidFill>
                <a:effectLst/>
                <a:uLnTx/>
                <a:uFillTx/>
                <a:latin typeface="Calibri"/>
                <a:ea typeface="+mn-ea"/>
                <a:cs typeface="+mn-cs"/>
              </a:rPr>
              <a:t>Name of presentation here</a:t>
            </a:r>
          </a:p>
        </p:txBody>
      </p:sp>
      <p:sp>
        <p:nvSpPr>
          <p:cNvPr id="9" name="Text Placeholder 5"/>
          <p:cNvSpPr>
            <a:spLocks noGrp="1"/>
          </p:cNvSpPr>
          <p:nvPr>
            <p:ph type="body" sz="quarter" idx="12"/>
          </p:nvPr>
        </p:nvSpPr>
        <p:spPr>
          <a:xfrm>
            <a:off x="4860032" y="4149080"/>
            <a:ext cx="3456384" cy="1944216"/>
          </a:xfrm>
          <a:prstGeom prst="rect">
            <a:avLst/>
          </a:prstGeom>
        </p:spPr>
        <p:txBody>
          <a:bodyPr/>
          <a:lstStyle>
            <a:lvl1pPr marL="285750" marR="0" indent="-285750" algn="l" defTabSz="914400" rtl="0" eaLnBrk="1" fontAlgn="auto" latinLnBrk="0" hangingPunct="1">
              <a:lnSpc>
                <a:spcPct val="100000"/>
              </a:lnSpc>
              <a:spcBef>
                <a:spcPts val="0"/>
              </a:spcBef>
              <a:spcAft>
                <a:spcPts val="0"/>
              </a:spcAft>
              <a:buClrTx/>
              <a:buSzTx/>
              <a:buFontTx/>
              <a:buBlip>
                <a:blip r:embed="rId3"/>
              </a:buBlip>
              <a:tabLst/>
              <a:defRPr kumimoji="0" lang="en-US" sz="1800" b="0" i="0" u="none" strike="noStrike" kern="1200" cap="none" spc="0" normalizeH="0" baseline="0" noProof="0">
                <a:solidFill>
                  <a:schemeClr val="tx1">
                    <a:lumMod val="75000"/>
                  </a:schemeClr>
                </a:solidFill>
              </a:defRPr>
            </a:lvl1pPr>
            <a:lvl2pPr marL="742950" indent="-285750">
              <a:buFontTx/>
              <a:buBlip>
                <a:blip r:embed="rId3"/>
              </a:buBlip>
              <a:defRPr sz="1800"/>
            </a:lvl2pPr>
            <a:lvl3pPr marL="1200150" indent="-285750">
              <a:buFontTx/>
              <a:buBlip>
                <a:blip r:embed="rId3"/>
              </a:buBlip>
              <a:defRPr sz="1800"/>
            </a:lvl3pPr>
            <a:lvl4pPr marL="1600200" indent="-228600">
              <a:buFontTx/>
              <a:buBlip>
                <a:blip r:embed="rId3"/>
              </a:buBlip>
              <a:defRPr sz="1800"/>
            </a:lvl4pPr>
            <a:lvl5pPr marL="2057400" indent="-228600">
              <a:buFontTx/>
              <a:buBlip>
                <a:blip r:embed="rId3"/>
              </a:buBlip>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solidFill>
                <a:schemeClr val="tx1">
                  <a:lumMod val="75000"/>
                </a:schemeClr>
              </a:solidFill>
            </a:endParaRPr>
          </a:p>
        </p:txBody>
      </p:sp>
      <p:sp>
        <p:nvSpPr>
          <p:cNvPr id="18" name="Content Placeholder 3"/>
          <p:cNvSpPr>
            <a:spLocks noGrp="1"/>
          </p:cNvSpPr>
          <p:nvPr>
            <p:ph sz="quarter" idx="13" hasCustomPrompt="1"/>
          </p:nvPr>
        </p:nvSpPr>
        <p:spPr>
          <a:xfrm>
            <a:off x="4860032" y="1268760"/>
            <a:ext cx="3456384" cy="2592288"/>
          </a:xfrm>
          <a:prstGeom prst="rect">
            <a:avLst/>
          </a:prstGeom>
        </p:spPr>
        <p:txBody>
          <a:bodyPr anchor="t" anchorCtr="0"/>
          <a:lstStyle>
            <a:lvl1pPr algn="l">
              <a:buNone/>
              <a:defRPr sz="1800" b="0" baseline="0">
                <a:solidFill>
                  <a:schemeClr val="tx1">
                    <a:lumMod val="75000"/>
                  </a:schemeClr>
                </a:solidFill>
                <a:latin typeface="+mj-lt"/>
              </a:defRPr>
            </a:lvl1pPr>
          </a:lstStyle>
          <a:p>
            <a:r>
              <a:rPr lang="en-US" dirty="0" smtClean="0">
                <a:solidFill>
                  <a:schemeClr val="tx1">
                    <a:lumMod val="75000"/>
                  </a:schemeClr>
                </a:solidFill>
              </a:rPr>
              <a:t>Choose what to input below</a:t>
            </a:r>
          </a:p>
        </p:txBody>
      </p:sp>
      <p:sp>
        <p:nvSpPr>
          <p:cNvPr id="26" name="Text Placeholder 5"/>
          <p:cNvSpPr>
            <a:spLocks noGrp="1"/>
          </p:cNvSpPr>
          <p:nvPr>
            <p:ph type="body" sz="quarter" idx="14" hasCustomPrompt="1"/>
          </p:nvPr>
        </p:nvSpPr>
        <p:spPr>
          <a:xfrm>
            <a:off x="383194" y="332656"/>
            <a:ext cx="7933222" cy="648072"/>
          </a:xfrm>
          <a:prstGeom prst="rect">
            <a:avLst/>
          </a:prstGeom>
        </p:spPr>
        <p:txBody>
          <a:bodyPr/>
          <a:lstStyle>
            <a:lvl1pPr marL="0" marR="0" indent="-182880" algn="l" defTabSz="914400" rtl="0" eaLnBrk="1" fontAlgn="auto" latinLnBrk="0" hangingPunct="1">
              <a:lnSpc>
                <a:spcPct val="100000"/>
              </a:lnSpc>
              <a:spcBef>
                <a:spcPts val="0"/>
              </a:spcBef>
              <a:spcAft>
                <a:spcPts val="0"/>
              </a:spcAft>
              <a:buClrTx/>
              <a:buSzTx/>
              <a:buFont typeface="Arial" pitchFamily="34" charset="0"/>
              <a:buNone/>
              <a:tabLst/>
              <a:defRPr kumimoji="0" lang="en-US" sz="2400" b="0" i="0" u="none" strike="noStrike" kern="1200" cap="none" spc="0" normalizeH="0" baseline="0" noProof="0">
                <a:solidFill>
                  <a:schemeClr val="tx1">
                    <a:lumMod val="75000"/>
                  </a:schemeClr>
                </a:solidFill>
              </a:defRPr>
            </a:lvl1pPr>
          </a:lstStyle>
          <a:p>
            <a:r>
              <a:rPr lang="en-US" dirty="0" smtClean="0">
                <a:solidFill>
                  <a:schemeClr val="tx1">
                    <a:lumMod val="75000"/>
                  </a:schemeClr>
                </a:solidFill>
              </a:rPr>
              <a:t>Headline here</a:t>
            </a:r>
            <a:endParaRPr lang="en-US" dirty="0">
              <a:solidFill>
                <a:schemeClr val="tx1">
                  <a:lumMod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formation Layout Slide with Bar Graph">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11" name="Date Placeholder 3"/>
          <p:cNvSpPr>
            <a:spLocks noGrp="1"/>
          </p:cNvSpPr>
          <p:nvPr>
            <p:ph type="dt" sz="half" idx="2"/>
          </p:nvPr>
        </p:nvSpPr>
        <p:spPr>
          <a:xfrm>
            <a:off x="457200" y="6592267"/>
            <a:ext cx="2133600" cy="365125"/>
          </a:xfrm>
          <a:prstGeom prst="rect">
            <a:avLst/>
          </a:prstGeom>
        </p:spPr>
        <p:txBody>
          <a:bodyPr/>
          <a:lstStyle>
            <a:lvl1pPr>
              <a:defRPr sz="800" b="0">
                <a:solidFill>
                  <a:schemeClr val="tx2"/>
                </a:solidFill>
                <a:latin typeface="+mn-lt"/>
              </a:defRPr>
            </a:lvl1pPr>
          </a:lstStyle>
          <a:p>
            <a:fld id="{4F820689-4E4D-4A36-BBD2-A90649512F2F}" type="datetime1">
              <a:rPr lang="da-DK" smtClean="0"/>
              <a:pPr/>
              <a:t>14-06-2012</a:t>
            </a:fld>
            <a:endParaRPr lang="da-DK" dirty="0"/>
          </a:p>
        </p:txBody>
      </p:sp>
      <p:sp>
        <p:nvSpPr>
          <p:cNvPr id="12" name="Slide Number Placeholder 4"/>
          <p:cNvSpPr>
            <a:spLocks noGrp="1"/>
          </p:cNvSpPr>
          <p:nvPr>
            <p:ph type="sldNum" sz="quarter" idx="4"/>
          </p:nvPr>
        </p:nvSpPr>
        <p:spPr>
          <a:xfrm>
            <a:off x="6553200" y="6592267"/>
            <a:ext cx="2133600" cy="365125"/>
          </a:xfrm>
          <a:prstGeom prst="rect">
            <a:avLst/>
          </a:prstGeom>
        </p:spPr>
        <p:txBody>
          <a:bodyPr/>
          <a:lstStyle>
            <a:lvl1pPr algn="r">
              <a:defRPr sz="800">
                <a:solidFill>
                  <a:schemeClr val="tx2"/>
                </a:solidFill>
                <a:latin typeface="+mn-lt"/>
              </a:defRPr>
            </a:lvl1pPr>
          </a:lstStyle>
          <a:p>
            <a:fld id="{2BAA97D9-9976-46D4-A464-9640EA54D84C}" type="slidenum">
              <a:rPr lang="da-DK" smtClean="0"/>
              <a:pPr/>
              <a:t>‹#›</a:t>
            </a:fld>
            <a:endParaRPr lang="da-DK" dirty="0"/>
          </a:p>
        </p:txBody>
      </p:sp>
      <p:sp>
        <p:nvSpPr>
          <p:cNvPr id="13" name="Footer Placeholder 4"/>
          <p:cNvSpPr txBox="1">
            <a:spLocks/>
          </p:cNvSpPr>
          <p:nvPr userDrawn="1"/>
        </p:nvSpPr>
        <p:spPr>
          <a:xfrm>
            <a:off x="3124200" y="6520259"/>
            <a:ext cx="2895600" cy="365125"/>
          </a:xfrm>
          <a:prstGeom prst="rect">
            <a:avLst/>
          </a:prstGeom>
        </p:spPr>
        <p:txBody>
          <a:bodyPr vert="horz" lIns="91440" tIns="45720" rIns="91440" bIns="45720" rtlCol="0" anchor="ctr"/>
          <a:lstStyle>
            <a:defPPr>
              <a:defRPr lang="da-DK"/>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smtClean="0">
                <a:ln>
                  <a:noFill/>
                </a:ln>
                <a:solidFill>
                  <a:schemeClr val="tx2"/>
                </a:solidFill>
                <a:effectLst/>
                <a:uLnTx/>
                <a:uFillTx/>
                <a:latin typeface="Calibri"/>
                <a:ea typeface="+mn-ea"/>
                <a:cs typeface="+mn-cs"/>
              </a:rPr>
              <a:t>Name of presentation here</a:t>
            </a:r>
          </a:p>
        </p:txBody>
      </p:sp>
      <p:sp>
        <p:nvSpPr>
          <p:cNvPr id="16" name="Text Placeholder 5"/>
          <p:cNvSpPr>
            <a:spLocks noGrp="1"/>
          </p:cNvSpPr>
          <p:nvPr>
            <p:ph type="body" sz="quarter" idx="11"/>
          </p:nvPr>
        </p:nvSpPr>
        <p:spPr>
          <a:xfrm>
            <a:off x="4355976" y="1268760"/>
            <a:ext cx="3962400" cy="4839816"/>
          </a:xfrm>
          <a:prstGeom prst="rect">
            <a:avLst/>
          </a:prstGeom>
        </p:spPr>
        <p:txBody>
          <a:bodyPr/>
          <a:lstStyle>
            <a:lvl1pPr marL="285750" marR="0" indent="-285750" algn="l" defTabSz="914400" rtl="0" eaLnBrk="1" fontAlgn="auto" latinLnBrk="0" hangingPunct="1">
              <a:lnSpc>
                <a:spcPct val="100000"/>
              </a:lnSpc>
              <a:spcBef>
                <a:spcPts val="0"/>
              </a:spcBef>
              <a:spcAft>
                <a:spcPts val="0"/>
              </a:spcAft>
              <a:buClrTx/>
              <a:buSzTx/>
              <a:buFontTx/>
              <a:buBlip>
                <a:blip r:embed="rId3"/>
              </a:buBlip>
              <a:tabLst/>
              <a:defRPr kumimoji="0" lang="en-US" sz="1800" b="0" i="0" u="none" strike="noStrike" kern="1200" cap="none" spc="0" normalizeH="0" baseline="0" noProof="0">
                <a:solidFill>
                  <a:schemeClr val="tx1">
                    <a:lumMod val="75000"/>
                  </a:schemeClr>
                </a:solidFill>
              </a:defRPr>
            </a:lvl1pPr>
            <a:lvl2pPr marL="742950" indent="-285750">
              <a:buFontTx/>
              <a:buBlip>
                <a:blip r:embed="rId3"/>
              </a:buBlip>
              <a:defRPr sz="1800"/>
            </a:lvl2pPr>
            <a:lvl3pPr marL="1143000" indent="-228600">
              <a:buFontTx/>
              <a:buBlip>
                <a:blip r:embed="rId3"/>
              </a:buBlip>
              <a:defRPr sz="1800"/>
            </a:lvl3pPr>
            <a:lvl4pPr marL="1600200" indent="-228600">
              <a:buFontTx/>
              <a:buBlip>
                <a:blip r:embed="rId3"/>
              </a:buBlip>
              <a:defRPr sz="1800"/>
            </a:lvl4pPr>
            <a:lvl5pPr marL="2057400" indent="-228600">
              <a:buFontTx/>
              <a:buBlip>
                <a:blip r:embed="rId3"/>
              </a:buBlip>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7" name="Content Placeholder 3"/>
          <p:cNvSpPr>
            <a:spLocks noGrp="1"/>
          </p:cNvSpPr>
          <p:nvPr>
            <p:ph sz="quarter" idx="13" hasCustomPrompt="1"/>
          </p:nvPr>
        </p:nvSpPr>
        <p:spPr>
          <a:xfrm>
            <a:off x="395536" y="3501008"/>
            <a:ext cx="3456384" cy="2592288"/>
          </a:xfrm>
          <a:prstGeom prst="rect">
            <a:avLst/>
          </a:prstGeom>
        </p:spPr>
        <p:txBody>
          <a:bodyPr anchor="t" anchorCtr="0"/>
          <a:lstStyle>
            <a:lvl1pPr algn="l">
              <a:buNone/>
              <a:defRPr sz="1800" b="0" baseline="0">
                <a:solidFill>
                  <a:schemeClr val="tx1">
                    <a:lumMod val="75000"/>
                  </a:schemeClr>
                </a:solidFill>
                <a:latin typeface="+mj-lt"/>
              </a:defRPr>
            </a:lvl1pPr>
          </a:lstStyle>
          <a:p>
            <a:r>
              <a:rPr lang="en-US" dirty="0" smtClean="0">
                <a:solidFill>
                  <a:schemeClr val="tx1">
                    <a:lumMod val="75000"/>
                  </a:schemeClr>
                </a:solidFill>
              </a:rPr>
              <a:t>Choose what to input below</a:t>
            </a:r>
            <a:endParaRPr lang="en-US" dirty="0">
              <a:solidFill>
                <a:schemeClr val="tx1">
                  <a:lumMod val="75000"/>
                </a:schemeClr>
              </a:solidFill>
            </a:endParaRPr>
          </a:p>
        </p:txBody>
      </p:sp>
      <p:sp>
        <p:nvSpPr>
          <p:cNvPr id="18" name="Text Placeholder 5"/>
          <p:cNvSpPr>
            <a:spLocks noGrp="1"/>
          </p:cNvSpPr>
          <p:nvPr>
            <p:ph type="body" sz="quarter" idx="12"/>
          </p:nvPr>
        </p:nvSpPr>
        <p:spPr>
          <a:xfrm>
            <a:off x="395536" y="1268760"/>
            <a:ext cx="3456384" cy="1944216"/>
          </a:xfrm>
          <a:prstGeom prst="rect">
            <a:avLst/>
          </a:prstGeom>
        </p:spPr>
        <p:txBody>
          <a:bodyPr/>
          <a:lstStyle>
            <a:lvl1pPr marL="285750" marR="0" indent="-285750" algn="l" defTabSz="914400" rtl="0" eaLnBrk="1" fontAlgn="auto" latinLnBrk="0" hangingPunct="1">
              <a:lnSpc>
                <a:spcPct val="100000"/>
              </a:lnSpc>
              <a:spcBef>
                <a:spcPts val="0"/>
              </a:spcBef>
              <a:spcAft>
                <a:spcPts val="0"/>
              </a:spcAft>
              <a:buClrTx/>
              <a:buSzTx/>
              <a:buFontTx/>
              <a:buBlip>
                <a:blip r:embed="rId3"/>
              </a:buBlip>
              <a:tabLst/>
              <a:defRPr kumimoji="0" lang="en-US" sz="1800" b="0" i="0" u="none" strike="noStrike" kern="1200" cap="none" spc="0" normalizeH="0" baseline="0" noProof="0">
                <a:solidFill>
                  <a:schemeClr val="tx1">
                    <a:lumMod val="75000"/>
                  </a:schemeClr>
                </a:solidFill>
              </a:defRPr>
            </a:lvl1pPr>
            <a:lvl2pPr marL="742950" indent="-285750">
              <a:buFontTx/>
              <a:buBlip>
                <a:blip r:embed="rId3"/>
              </a:buBlip>
              <a:defRPr sz="1800"/>
            </a:lvl2pPr>
            <a:lvl3pPr marL="1143000" indent="-228600">
              <a:buFontTx/>
              <a:buBlip>
                <a:blip r:embed="rId3"/>
              </a:buBlip>
              <a:defRPr sz="1800"/>
            </a:lvl3pPr>
            <a:lvl4pPr marL="1600200" indent="-228600">
              <a:buFontTx/>
              <a:buBlip>
                <a:blip r:embed="rId3"/>
              </a:buBlip>
              <a:defRPr sz="1800"/>
            </a:lvl4pPr>
            <a:lvl5pPr marL="2057400" indent="-228600">
              <a:buFontTx/>
              <a:buBlip>
                <a:blip r:embed="rId3"/>
              </a:buBlip>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0" name="Text Placeholder 5"/>
          <p:cNvSpPr>
            <a:spLocks noGrp="1"/>
          </p:cNvSpPr>
          <p:nvPr>
            <p:ph type="body" sz="quarter" idx="14" hasCustomPrompt="1"/>
          </p:nvPr>
        </p:nvSpPr>
        <p:spPr>
          <a:xfrm>
            <a:off x="383194" y="332656"/>
            <a:ext cx="7933222" cy="648072"/>
          </a:xfrm>
          <a:prstGeom prst="rect">
            <a:avLst/>
          </a:prstGeom>
        </p:spPr>
        <p:txBody>
          <a:bodyPr/>
          <a:lstStyle>
            <a:lvl1pPr marL="0" marR="0" indent="-182880" algn="l" defTabSz="914400" rtl="0" eaLnBrk="1" fontAlgn="auto" latinLnBrk="0" hangingPunct="1">
              <a:lnSpc>
                <a:spcPct val="100000"/>
              </a:lnSpc>
              <a:spcBef>
                <a:spcPts val="0"/>
              </a:spcBef>
              <a:spcAft>
                <a:spcPts val="0"/>
              </a:spcAft>
              <a:buClrTx/>
              <a:buSzTx/>
              <a:buFont typeface="Arial" pitchFamily="34" charset="0"/>
              <a:buNone/>
              <a:tabLst/>
              <a:defRPr kumimoji="0" lang="en-US" sz="2400" b="0" i="0" u="none" strike="noStrike" kern="1200" cap="none" spc="0" normalizeH="0" baseline="0" noProof="0">
                <a:solidFill>
                  <a:schemeClr val="tx1">
                    <a:lumMod val="75000"/>
                  </a:schemeClr>
                </a:solidFill>
              </a:defRPr>
            </a:lvl1pPr>
          </a:lstStyle>
          <a:p>
            <a:r>
              <a:rPr lang="en-US" dirty="0" smtClean="0">
                <a:solidFill>
                  <a:schemeClr val="tx1">
                    <a:lumMod val="75000"/>
                  </a:schemeClr>
                </a:solidFill>
              </a:rPr>
              <a:t>Headline here</a:t>
            </a:r>
            <a:endParaRPr lang="en-US" dirty="0">
              <a:solidFill>
                <a:schemeClr val="tx1">
                  <a:lumMod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ack Cover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685800" y="2996952"/>
            <a:ext cx="7696200" cy="533400"/>
          </a:xfrm>
          <a:prstGeom prst="rect">
            <a:avLst/>
          </a:prstGeom>
        </p:spPr>
        <p:txBody>
          <a:bodyPr anchor="ctr"/>
          <a:lstStyle>
            <a:lvl1pPr algn="ctr">
              <a:defRPr sz="4000">
                <a:solidFill>
                  <a:srgbClr val="3F3F3F"/>
                </a:solidFill>
                <a:effectLst/>
                <a:latin typeface="Gill Sans MT" pitchFamily="34" charset="0"/>
              </a:defRPr>
            </a:lvl1pPr>
          </a:lstStyle>
          <a:p>
            <a:r>
              <a:rPr lang="en-US" dirty="0" smtClean="0"/>
              <a:t>End of Presentation</a:t>
            </a:r>
            <a:endParaRPr lang="en-US" dirty="0"/>
          </a:p>
        </p:txBody>
      </p:sp>
      <p:sp>
        <p:nvSpPr>
          <p:cNvPr id="5" name="Subtitle 2"/>
          <p:cNvSpPr>
            <a:spLocks noGrp="1"/>
          </p:cNvSpPr>
          <p:nvPr>
            <p:ph type="subTitle" idx="1" hasCustomPrompt="1"/>
          </p:nvPr>
        </p:nvSpPr>
        <p:spPr>
          <a:xfrm>
            <a:off x="685800" y="3530352"/>
            <a:ext cx="7696200" cy="914400"/>
          </a:xfrm>
          <a:prstGeom prst="rect">
            <a:avLst/>
          </a:prstGeom>
        </p:spPr>
        <p:txBody>
          <a:bodyPr/>
          <a:lstStyle>
            <a:lvl1pPr marL="0" indent="0" algn="ctr">
              <a:spcBef>
                <a:spcPts val="0"/>
              </a:spcBef>
              <a:buNone/>
              <a:defRPr sz="1300" b="0">
                <a:solidFill>
                  <a:srgbClr val="3F3F3F"/>
                </a:solidFill>
                <a:latin typeface="Gill Sans MT" pitchFamily="34" charset="0"/>
              </a:defRPr>
            </a:lvl1pPr>
          </a:lstStyle>
          <a:p>
            <a:r>
              <a:rPr lang="en-US" dirty="0" smtClean="0"/>
              <a:t>Subtitle goes here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White">
      <p:bgPr>
        <a:blipFill dpi="0" rotWithShape="1">
          <a:blip r:embed="rId7"/>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4"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microsoft.com/security/sdl/default.aspx"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msdn.microsoft.com/en-us/library/windows/desktop/ff521693(v=vs.85).aspx" TargetMode="External"/><Relationship Id="rId2" Type="http://schemas.openxmlformats.org/officeDocument/2006/relationships/hyperlink" Target="http://msdn.microsoft.com/library/bb288454.aspx"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microsoft.com/en-us/download/details.aspx?id=20028" TargetMode="External"/><Relationship Id="rId2" Type="http://schemas.openxmlformats.org/officeDocument/2006/relationships/hyperlink" Target="http://www.computerworld.com/s/article/9174539/Microsoft_runs_fuzzing_botnet_finds_1_800_Office_bug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blogs.technet.com/b/srd/archive/2010/12/08/on-the-effectiveness-of-dep-and-aslr.aspx" TargetMode="External"/><Relationship Id="rId2" Type="http://schemas.openxmlformats.org/officeDocument/2006/relationships/hyperlink" Target="http://blogs.technet.com/b/office2010/archive/2010/02/04/data-excecution-prevention-in-office-2010.aspx" TargetMode="External"/><Relationship Id="rId1" Type="http://schemas.openxmlformats.org/officeDocument/2006/relationships/slideLayout" Target="../slideLayouts/slideLayout2.xml"/><Relationship Id="rId6" Type="http://schemas.openxmlformats.org/officeDocument/2006/relationships/hyperlink" Target="http://support.microsoft.com/kb/2501584" TargetMode="External"/><Relationship Id="rId5" Type="http://schemas.openxmlformats.org/officeDocument/2006/relationships/hyperlink" Target="http://office.microsoft.com/en-us/powerpoint-help/what-is-file-block-HA010355927.aspx" TargetMode="External"/><Relationship Id="rId4" Type="http://schemas.openxmlformats.org/officeDocument/2006/relationships/hyperlink" Target="http://office.microsoft.com/en-us/excel-help/what-is-protected-view-HA010355931.aspx"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www.cert.org/blogs/certcc/2011/04/office_shootout_microsoft_offi.html" TargetMode="External"/><Relationship Id="rId2" Type="http://schemas.openxmlformats.org/officeDocument/2006/relationships/hyperlink" Target="http://dankaminsky.com/2011/03/11/fuzzmark/"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www.zerodayinitiative.com/advisories/ZDI-11-346/"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3600" dirty="0"/>
              <a:t>Code Maturity: Is SDL a Waste of Time?</a:t>
            </a:r>
            <a:endParaRPr lang="da-DK" sz="3600" dirty="0"/>
          </a:p>
        </p:txBody>
      </p:sp>
      <p:sp>
        <p:nvSpPr>
          <p:cNvPr id="3" name="TextBox 2"/>
          <p:cNvSpPr txBox="1"/>
          <p:nvPr/>
        </p:nvSpPr>
        <p:spPr>
          <a:xfrm>
            <a:off x="1331640" y="4005064"/>
            <a:ext cx="6336704" cy="584775"/>
          </a:xfrm>
          <a:prstGeom prst="rect">
            <a:avLst/>
          </a:prstGeom>
          <a:noFill/>
        </p:spPr>
        <p:txBody>
          <a:bodyPr wrap="square" rtlCol="0">
            <a:spAutoFit/>
          </a:bodyPr>
          <a:lstStyle/>
          <a:p>
            <a:pPr algn="ctr"/>
            <a:r>
              <a:rPr lang="en-GB" sz="1600" dirty="0"/>
              <a:t>What is Security Development Lifecycle (SDL) and does it develop "demonstrably more secure software</a:t>
            </a:r>
            <a:r>
              <a:rPr lang="en-GB" sz="1600" dirty="0" smtClean="0"/>
              <a:t>"?</a:t>
            </a:r>
            <a:endParaRPr lang="da-DK" sz="1600" dirty="0"/>
          </a:p>
        </p:txBody>
      </p:sp>
      <p:sp>
        <p:nvSpPr>
          <p:cNvPr id="4" name="TextBox 3"/>
          <p:cNvSpPr txBox="1"/>
          <p:nvPr/>
        </p:nvSpPr>
        <p:spPr>
          <a:xfrm>
            <a:off x="124418" y="5733256"/>
            <a:ext cx="1919115" cy="523220"/>
          </a:xfrm>
          <a:prstGeom prst="rect">
            <a:avLst/>
          </a:prstGeom>
          <a:noFill/>
        </p:spPr>
        <p:txBody>
          <a:bodyPr wrap="none" rtlCol="0">
            <a:spAutoFit/>
          </a:bodyPr>
          <a:lstStyle/>
          <a:p>
            <a:r>
              <a:rPr lang="en-GB" sz="1400" dirty="0" smtClean="0"/>
              <a:t>Carsten Eiram</a:t>
            </a:r>
          </a:p>
          <a:p>
            <a:r>
              <a:rPr lang="en-GB" sz="1400" dirty="0" smtClean="0"/>
              <a:t>Chief Security Specialist</a:t>
            </a:r>
            <a:endParaRPr lang="en-GB" sz="1400" dirty="0"/>
          </a:p>
        </p:txBody>
      </p:sp>
    </p:spTree>
    <p:extLst>
      <p:ext uri="{BB962C8B-B14F-4D97-AF65-F5344CB8AC3E}">
        <p14:creationId xmlns:p14="http://schemas.microsoft.com/office/powerpoint/2010/main" val="3505048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2</a:t>
            </a:fld>
            <a:endParaRPr lang="da-DK" dirty="0"/>
          </a:p>
        </p:txBody>
      </p:sp>
      <p:sp>
        <p:nvSpPr>
          <p:cNvPr id="4" name="Text Placeholder 3"/>
          <p:cNvSpPr>
            <a:spLocks noGrp="1"/>
          </p:cNvSpPr>
          <p:nvPr>
            <p:ph type="body" sz="quarter" idx="12"/>
          </p:nvPr>
        </p:nvSpPr>
        <p:spPr/>
        <p:txBody>
          <a:bodyPr/>
          <a:lstStyle/>
          <a:p>
            <a:pPr marL="0" indent="0" algn="ctr">
              <a:buNone/>
            </a:pPr>
            <a:endParaRPr lang="en-GB" dirty="0" smtClean="0"/>
          </a:p>
          <a:p>
            <a:r>
              <a:rPr lang="en-GB" dirty="0" smtClean="0"/>
              <a:t>Created</a:t>
            </a:r>
            <a:r>
              <a:rPr lang="da-DK" dirty="0" smtClean="0"/>
              <a:t> </a:t>
            </a:r>
            <a:r>
              <a:rPr lang="da-DK" dirty="0"/>
              <a:t>by Microsoft </a:t>
            </a:r>
            <a:r>
              <a:rPr lang="da-DK" dirty="0" smtClean="0"/>
              <a:t>and made a company-wide initiative and mandatory policy in 2004 </a:t>
            </a:r>
            <a:r>
              <a:rPr lang="da-DK" dirty="0"/>
              <a:t>to implement </a:t>
            </a:r>
            <a:r>
              <a:rPr lang="en-GB" dirty="0" smtClean="0"/>
              <a:t>security</a:t>
            </a:r>
            <a:r>
              <a:rPr lang="da-DK" dirty="0" smtClean="0"/>
              <a:t> </a:t>
            </a:r>
            <a:r>
              <a:rPr lang="da-DK" dirty="0"/>
              <a:t>through the whole software development process.</a:t>
            </a:r>
          </a:p>
          <a:p>
            <a:endParaRPr lang="da-DK" dirty="0" smtClean="0"/>
          </a:p>
          <a:p>
            <a:r>
              <a:rPr lang="da-DK" dirty="0" smtClean="0"/>
              <a:t>”The goals of the SDL are twofold; the first is to reduce the number of security vulnerabilities and privacy problems, and the second is to reduce the severity of the vulnerabilities that remain.”</a:t>
            </a:r>
            <a:r>
              <a:rPr lang="da-DK" baseline="30000" dirty="0" smtClean="0"/>
              <a:t>[1]</a:t>
            </a:r>
            <a:endParaRPr lang="da-DK" baseline="30000" dirty="0"/>
          </a:p>
          <a:p>
            <a:endParaRPr lang="da-DK" dirty="0" smtClean="0"/>
          </a:p>
          <a:p>
            <a:r>
              <a:rPr lang="da-DK" dirty="0" smtClean="0"/>
              <a:t>Similar </a:t>
            </a:r>
            <a:r>
              <a:rPr lang="da-DK" dirty="0"/>
              <a:t>initiatives adopted by other companies e.g. Adobe as </a:t>
            </a:r>
            <a:r>
              <a:rPr lang="en-GB" dirty="0" smtClean="0"/>
              <a:t>Secure </a:t>
            </a:r>
            <a:r>
              <a:rPr lang="en-GB" dirty="0"/>
              <a:t>Product </a:t>
            </a:r>
            <a:r>
              <a:rPr lang="en-GB" dirty="0" smtClean="0"/>
              <a:t>LifeCycle </a:t>
            </a:r>
            <a:r>
              <a:rPr lang="en-GB" dirty="0"/>
              <a:t>(SPLC)</a:t>
            </a:r>
            <a:r>
              <a:rPr lang="da-DK" dirty="0" smtClean="0"/>
              <a:t>.</a:t>
            </a:r>
          </a:p>
          <a:p>
            <a:pPr marL="0" indent="0">
              <a:buNone/>
            </a:pPr>
            <a:endParaRPr lang="da-DK" dirty="0" smtClean="0"/>
          </a:p>
          <a:p>
            <a:pPr marL="0" indent="0">
              <a:buNone/>
            </a:pPr>
            <a:endParaRPr lang="da-DK" dirty="0" smtClean="0"/>
          </a:p>
          <a:p>
            <a:pPr marL="0" indent="0">
              <a:buNone/>
            </a:pPr>
            <a:endParaRPr lang="en-GB" dirty="0" smtClean="0"/>
          </a:p>
          <a:p>
            <a:pPr marL="0" indent="0">
              <a:buNone/>
            </a:pPr>
            <a:endParaRPr lang="da-DK" dirty="0" smtClean="0"/>
          </a:p>
          <a:p>
            <a:pPr marL="0" indent="0">
              <a:buNone/>
            </a:pPr>
            <a:endParaRPr lang="da-DK" sz="1000" dirty="0" smtClean="0"/>
          </a:p>
          <a:p>
            <a:pPr marL="0" indent="0">
              <a:buNone/>
            </a:pPr>
            <a:r>
              <a:rPr lang="da-DK" sz="1000" dirty="0" smtClean="0"/>
              <a:t>[</a:t>
            </a:r>
            <a:r>
              <a:rPr lang="da-DK" sz="1000" dirty="0" smtClean="0"/>
              <a:t>1]: Introduction to ”The Security Development Lifecycle” by Howard and Lipner.</a:t>
            </a:r>
          </a:p>
        </p:txBody>
      </p:sp>
      <p:sp>
        <p:nvSpPr>
          <p:cNvPr id="5" name="Text Placeholder 4"/>
          <p:cNvSpPr>
            <a:spLocks noGrp="1"/>
          </p:cNvSpPr>
          <p:nvPr>
            <p:ph type="body" sz="quarter" idx="14"/>
          </p:nvPr>
        </p:nvSpPr>
        <p:spPr/>
        <p:txBody>
          <a:bodyPr/>
          <a:lstStyle/>
          <a:p>
            <a:pPr algn="ctr"/>
            <a:r>
              <a:rPr lang="da-DK" dirty="0" smtClean="0"/>
              <a:t>Security Development Lifecycle (SDL)</a:t>
            </a:r>
            <a:endParaRPr lang="en-GB" dirty="0"/>
          </a:p>
        </p:txBody>
      </p:sp>
    </p:spTree>
    <p:extLst>
      <p:ext uri="{BB962C8B-B14F-4D97-AF65-F5344CB8AC3E}">
        <p14:creationId xmlns:p14="http://schemas.microsoft.com/office/powerpoint/2010/main" val="165796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3</a:t>
            </a:fld>
            <a:endParaRPr lang="da-DK" dirty="0"/>
          </a:p>
        </p:txBody>
      </p:sp>
      <p:sp>
        <p:nvSpPr>
          <p:cNvPr id="4" name="Text Placeholder 3"/>
          <p:cNvSpPr>
            <a:spLocks noGrp="1"/>
          </p:cNvSpPr>
          <p:nvPr>
            <p:ph type="body" sz="quarter" idx="12"/>
          </p:nvPr>
        </p:nvSpPr>
        <p:spPr>
          <a:xfrm>
            <a:off x="395536" y="1196752"/>
            <a:ext cx="7908538" cy="3456979"/>
          </a:xfrm>
        </p:spPr>
        <p:txBody>
          <a:bodyPr/>
          <a:lstStyle/>
          <a:p>
            <a:r>
              <a:rPr lang="en-GB" sz="1600" dirty="0" smtClean="0">
                <a:solidFill>
                  <a:schemeClr val="tx1"/>
                </a:solidFill>
              </a:rPr>
              <a:t>Up </a:t>
            </a:r>
            <a:r>
              <a:rPr lang="en-GB" sz="1600" dirty="0">
                <a:solidFill>
                  <a:schemeClr val="tx1"/>
                </a:solidFill>
              </a:rPr>
              <a:t>to mid-1998: Ad-hoc handling of vulnerability reports</a:t>
            </a:r>
            <a:r>
              <a:rPr lang="en-GB" sz="1600" dirty="0" smtClean="0">
                <a:solidFill>
                  <a:schemeClr val="tx1"/>
                </a:solidFill>
              </a:rPr>
              <a:t>.</a:t>
            </a:r>
          </a:p>
          <a:p>
            <a:pPr marL="0" indent="0">
              <a:buNone/>
            </a:pPr>
            <a:endParaRPr lang="en-GB" sz="1600" dirty="0" smtClean="0">
              <a:solidFill>
                <a:schemeClr val="tx1"/>
              </a:solidFill>
            </a:endParaRPr>
          </a:p>
          <a:p>
            <a:r>
              <a:rPr lang="en-GB" sz="1600" dirty="0" smtClean="0">
                <a:solidFill>
                  <a:schemeClr val="tx1"/>
                </a:solidFill>
              </a:rPr>
              <a:t>Mid-1998: Founding of SRT (Security Response Team) to handle vulnerability reports and STF </a:t>
            </a:r>
            <a:r>
              <a:rPr lang="en-GB" sz="1600" dirty="0">
                <a:solidFill>
                  <a:schemeClr val="tx1"/>
                </a:solidFill>
              </a:rPr>
              <a:t>(Security Task Force) to examine </a:t>
            </a:r>
            <a:r>
              <a:rPr lang="en-GB" sz="1600" dirty="0" smtClean="0">
                <a:solidFill>
                  <a:schemeClr val="tx1"/>
                </a:solidFill>
              </a:rPr>
              <a:t>vulnerability </a:t>
            </a:r>
            <a:r>
              <a:rPr lang="en-GB" sz="1600" dirty="0">
                <a:solidFill>
                  <a:schemeClr val="tx1"/>
                </a:solidFill>
              </a:rPr>
              <a:t>causes and thus reduce number of </a:t>
            </a:r>
            <a:r>
              <a:rPr lang="en-GB" sz="1600" dirty="0" smtClean="0">
                <a:solidFill>
                  <a:schemeClr val="tx1"/>
                </a:solidFill>
              </a:rPr>
              <a:t>vulnerabilities </a:t>
            </a:r>
            <a:r>
              <a:rPr lang="en-GB" sz="1600" dirty="0">
                <a:solidFill>
                  <a:schemeClr val="tx1"/>
                </a:solidFill>
              </a:rPr>
              <a:t>in the future.</a:t>
            </a:r>
          </a:p>
          <a:p>
            <a:endParaRPr lang="en-GB" sz="1600" dirty="0" smtClean="0">
              <a:solidFill>
                <a:schemeClr val="tx1"/>
              </a:solidFill>
            </a:endParaRPr>
          </a:p>
          <a:p>
            <a:r>
              <a:rPr lang="en-GB" sz="1600" dirty="0" smtClean="0">
                <a:solidFill>
                  <a:schemeClr val="tx1"/>
                </a:solidFill>
              </a:rPr>
              <a:t>2000</a:t>
            </a:r>
            <a:r>
              <a:rPr lang="en-GB" sz="1600" dirty="0">
                <a:solidFill>
                  <a:schemeClr val="tx1"/>
                </a:solidFill>
              </a:rPr>
              <a:t>: STF report coincides with final bug fix stage prior to </a:t>
            </a:r>
            <a:r>
              <a:rPr lang="en-GB" sz="1600" dirty="0" smtClean="0">
                <a:solidFill>
                  <a:schemeClr val="tx1"/>
                </a:solidFill>
              </a:rPr>
              <a:t>release </a:t>
            </a:r>
            <a:r>
              <a:rPr lang="en-GB" sz="1600" dirty="0">
                <a:solidFill>
                  <a:schemeClr val="tx1"/>
                </a:solidFill>
              </a:rPr>
              <a:t>of Windows 2000. </a:t>
            </a:r>
            <a:r>
              <a:rPr lang="en-GB" sz="1600" dirty="0" smtClean="0">
                <a:solidFill>
                  <a:schemeClr val="tx1"/>
                </a:solidFill>
              </a:rPr>
              <a:t>Deployed </a:t>
            </a:r>
            <a:r>
              <a:rPr lang="en-GB" sz="1600" dirty="0">
                <a:solidFill>
                  <a:schemeClr val="tx1"/>
                </a:solidFill>
              </a:rPr>
              <a:t>PREfix (static code analysis tool), created </a:t>
            </a:r>
            <a:r>
              <a:rPr lang="en-GB" sz="1600" dirty="0" smtClean="0">
                <a:solidFill>
                  <a:schemeClr val="tx1"/>
                </a:solidFill>
              </a:rPr>
              <a:t>dedicated </a:t>
            </a:r>
            <a:r>
              <a:rPr lang="en-GB" sz="1600" dirty="0">
                <a:solidFill>
                  <a:schemeClr val="tx1"/>
                </a:solidFill>
              </a:rPr>
              <a:t>pen-test team to analyse Win2K, and created </a:t>
            </a:r>
            <a:r>
              <a:rPr lang="en-GB" sz="1600" dirty="0" smtClean="0">
                <a:solidFill>
                  <a:schemeClr val="tx1"/>
                </a:solidFill>
              </a:rPr>
              <a:t>SWI (Secure </a:t>
            </a:r>
            <a:r>
              <a:rPr lang="en-GB" sz="1600" dirty="0">
                <a:solidFill>
                  <a:schemeClr val="tx1"/>
                </a:solidFill>
              </a:rPr>
              <a:t>Windows Initiative</a:t>
            </a:r>
            <a:r>
              <a:rPr lang="en-GB" sz="1600" dirty="0" smtClean="0">
                <a:solidFill>
                  <a:schemeClr val="tx1"/>
                </a:solidFill>
              </a:rPr>
              <a:t>).</a:t>
            </a:r>
          </a:p>
          <a:p>
            <a:endParaRPr lang="da-DK" sz="1600" dirty="0">
              <a:solidFill>
                <a:schemeClr val="tx1"/>
              </a:solidFill>
            </a:endParaRPr>
          </a:p>
          <a:p>
            <a:r>
              <a:rPr lang="en-GB" sz="1600" dirty="0" smtClean="0">
                <a:solidFill>
                  <a:schemeClr val="tx1"/>
                </a:solidFill>
              </a:rPr>
              <a:t>2000-2001</a:t>
            </a:r>
            <a:r>
              <a:rPr lang="en-GB" sz="1600" dirty="0">
                <a:solidFill>
                  <a:schemeClr val="tx1"/>
                </a:solidFill>
              </a:rPr>
              <a:t>: SWI starts teaching engineering teams. Enhancement of </a:t>
            </a:r>
            <a:r>
              <a:rPr lang="en-GB" sz="1600" dirty="0" smtClean="0">
                <a:solidFill>
                  <a:schemeClr val="tx1"/>
                </a:solidFill>
              </a:rPr>
              <a:t>PREfix</a:t>
            </a:r>
            <a:r>
              <a:rPr lang="en-GB" sz="1600" dirty="0">
                <a:solidFill>
                  <a:schemeClr val="tx1"/>
                </a:solidFill>
              </a:rPr>
              <a:t>. Creation of PREfast for detecting buffer </a:t>
            </a:r>
            <a:r>
              <a:rPr lang="en-GB" sz="1600" dirty="0" smtClean="0">
                <a:solidFill>
                  <a:schemeClr val="tx1"/>
                </a:solidFill>
              </a:rPr>
              <a:t>overflows </a:t>
            </a:r>
            <a:r>
              <a:rPr lang="en-GB" sz="1600" dirty="0">
                <a:solidFill>
                  <a:schemeClr val="tx1"/>
                </a:solidFill>
              </a:rPr>
              <a:t>in individual </a:t>
            </a:r>
            <a:r>
              <a:rPr lang="en-GB" sz="1600" dirty="0" smtClean="0">
                <a:solidFill>
                  <a:schemeClr val="tx1"/>
                </a:solidFill>
              </a:rPr>
              <a:t>modules.</a:t>
            </a:r>
          </a:p>
          <a:p>
            <a:pPr marL="0" indent="0">
              <a:buNone/>
            </a:pPr>
            <a:endParaRPr lang="da-DK" sz="1600" dirty="0">
              <a:solidFill>
                <a:schemeClr val="tx1"/>
              </a:solidFill>
            </a:endParaRPr>
          </a:p>
          <a:p>
            <a:r>
              <a:rPr lang="en-GB" sz="1600" dirty="0" smtClean="0">
                <a:solidFill>
                  <a:schemeClr val="tx1"/>
                </a:solidFill>
              </a:rPr>
              <a:t>2002</a:t>
            </a:r>
            <a:r>
              <a:rPr lang="en-GB" sz="1600" dirty="0">
                <a:solidFill>
                  <a:schemeClr val="tx1"/>
                </a:solidFill>
              </a:rPr>
              <a:t>: Launch of TwC (Trustworthy Computing) initiative in </a:t>
            </a:r>
            <a:r>
              <a:rPr lang="en-GB" sz="1600" dirty="0" smtClean="0">
                <a:solidFill>
                  <a:schemeClr val="tx1"/>
                </a:solidFill>
              </a:rPr>
              <a:t>January </a:t>
            </a:r>
            <a:r>
              <a:rPr lang="en-GB" sz="1600" dirty="0">
                <a:solidFill>
                  <a:schemeClr val="tx1"/>
                </a:solidFill>
              </a:rPr>
              <a:t>to fundamentally change addressing of security </a:t>
            </a:r>
            <a:r>
              <a:rPr lang="en-GB" sz="1600" dirty="0" smtClean="0">
                <a:solidFill>
                  <a:schemeClr val="tx1"/>
                </a:solidFill>
              </a:rPr>
              <a:t>and </a:t>
            </a:r>
            <a:r>
              <a:rPr lang="en-GB" sz="1600" dirty="0">
                <a:solidFill>
                  <a:schemeClr val="tx1"/>
                </a:solidFill>
              </a:rPr>
              <a:t>privacy issues after Microsoft reputation was </a:t>
            </a:r>
            <a:r>
              <a:rPr lang="en-GB" sz="1600" dirty="0" smtClean="0">
                <a:solidFill>
                  <a:schemeClr val="tx1"/>
                </a:solidFill>
              </a:rPr>
              <a:t>impacted by </a:t>
            </a:r>
            <a:r>
              <a:rPr lang="en-GB" sz="1600" dirty="0">
                <a:solidFill>
                  <a:schemeClr val="tx1"/>
                </a:solidFill>
              </a:rPr>
              <a:t>Code Red and Nimda in </a:t>
            </a:r>
            <a:r>
              <a:rPr lang="en-GB" sz="1600" dirty="0" smtClean="0">
                <a:solidFill>
                  <a:schemeClr val="tx1"/>
                </a:solidFill>
              </a:rPr>
              <a:t>2001. Michael Howard and David LeBlanc finish "</a:t>
            </a:r>
            <a:r>
              <a:rPr lang="en-GB" sz="1600" dirty="0">
                <a:solidFill>
                  <a:schemeClr val="tx1"/>
                </a:solidFill>
              </a:rPr>
              <a:t>Writing </a:t>
            </a:r>
            <a:r>
              <a:rPr lang="en-GB" sz="1600" dirty="0" smtClean="0">
                <a:solidFill>
                  <a:schemeClr val="tx1"/>
                </a:solidFill>
              </a:rPr>
              <a:t>Secure Code</a:t>
            </a:r>
            <a:r>
              <a:rPr lang="en-GB" sz="1600" dirty="0">
                <a:solidFill>
                  <a:schemeClr val="tx1"/>
                </a:solidFill>
              </a:rPr>
              <a:t>", which is issued as training material during the </a:t>
            </a:r>
            <a:r>
              <a:rPr lang="en-GB" sz="1600" dirty="0" smtClean="0">
                <a:solidFill>
                  <a:schemeClr val="tx1"/>
                </a:solidFill>
              </a:rPr>
              <a:t>security </a:t>
            </a:r>
            <a:r>
              <a:rPr lang="en-GB" sz="1600" dirty="0">
                <a:solidFill>
                  <a:schemeClr val="tx1"/>
                </a:solidFill>
              </a:rPr>
              <a:t>push late January through end of May where 8000+ </a:t>
            </a:r>
            <a:r>
              <a:rPr lang="en-GB" sz="1600" dirty="0" smtClean="0">
                <a:solidFill>
                  <a:schemeClr val="tx1"/>
                </a:solidFill>
              </a:rPr>
              <a:t>Windows </a:t>
            </a:r>
            <a:r>
              <a:rPr lang="en-GB" sz="1600" dirty="0">
                <a:solidFill>
                  <a:schemeClr val="tx1"/>
                </a:solidFill>
              </a:rPr>
              <a:t>engineers are trained.</a:t>
            </a:r>
          </a:p>
          <a:p>
            <a:pPr marL="0" indent="0">
              <a:buNone/>
            </a:pPr>
            <a:endParaRPr lang="en-GB" sz="1400" dirty="0">
              <a:solidFill>
                <a:schemeClr val="tx1"/>
              </a:solidFill>
            </a:endParaRPr>
          </a:p>
        </p:txBody>
      </p:sp>
      <p:sp>
        <p:nvSpPr>
          <p:cNvPr id="5" name="Text Placeholder 4"/>
          <p:cNvSpPr>
            <a:spLocks noGrp="1"/>
          </p:cNvSpPr>
          <p:nvPr>
            <p:ph type="body" sz="quarter" idx="14"/>
          </p:nvPr>
        </p:nvSpPr>
        <p:spPr/>
        <p:txBody>
          <a:bodyPr/>
          <a:lstStyle/>
          <a:p>
            <a:pPr algn="ctr"/>
            <a:r>
              <a:rPr lang="da-DK" dirty="0" smtClean="0"/>
              <a:t>Microsoft SDL - History</a:t>
            </a:r>
            <a:endParaRPr lang="en-GB" dirty="0"/>
          </a:p>
        </p:txBody>
      </p:sp>
    </p:spTree>
    <p:extLst>
      <p:ext uri="{BB962C8B-B14F-4D97-AF65-F5344CB8AC3E}">
        <p14:creationId xmlns:p14="http://schemas.microsoft.com/office/powerpoint/2010/main" val="777068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4</a:t>
            </a:fld>
            <a:endParaRPr lang="da-DK" dirty="0"/>
          </a:p>
        </p:txBody>
      </p:sp>
      <p:sp>
        <p:nvSpPr>
          <p:cNvPr id="4" name="Text Placeholder 3"/>
          <p:cNvSpPr>
            <a:spLocks noGrp="1"/>
          </p:cNvSpPr>
          <p:nvPr>
            <p:ph type="body" sz="quarter" idx="12"/>
          </p:nvPr>
        </p:nvSpPr>
        <p:spPr/>
        <p:txBody>
          <a:bodyPr/>
          <a:lstStyle/>
          <a:p>
            <a:r>
              <a:rPr lang="en-GB" sz="1600" dirty="0" smtClean="0">
                <a:solidFill>
                  <a:schemeClr val="tx1"/>
                </a:solidFill>
              </a:rPr>
              <a:t>2003</a:t>
            </a:r>
            <a:r>
              <a:rPr lang="en-GB" sz="1600" dirty="0">
                <a:solidFill>
                  <a:schemeClr val="tx1"/>
                </a:solidFill>
              </a:rPr>
              <a:t>: Launch of Windows Server 2003. Up to this point, </a:t>
            </a:r>
            <a:r>
              <a:rPr lang="en-GB" sz="1600" dirty="0" smtClean="0">
                <a:solidFill>
                  <a:schemeClr val="tx1"/>
                </a:solidFill>
              </a:rPr>
              <a:t>security focus </a:t>
            </a:r>
            <a:r>
              <a:rPr lang="en-GB" sz="1600" dirty="0">
                <a:solidFill>
                  <a:schemeClr val="tx1"/>
                </a:solidFill>
              </a:rPr>
              <a:t>has been on the OS and core components, but not </a:t>
            </a:r>
            <a:r>
              <a:rPr lang="en-GB" sz="1600" dirty="0" smtClean="0">
                <a:solidFill>
                  <a:schemeClr val="tx1"/>
                </a:solidFill>
              </a:rPr>
              <a:t>bundled </a:t>
            </a:r>
            <a:r>
              <a:rPr lang="en-GB" sz="1600" dirty="0">
                <a:solidFill>
                  <a:schemeClr val="tx1"/>
                </a:solidFill>
              </a:rPr>
              <a:t>applications like Internet Explorer</a:t>
            </a:r>
            <a:r>
              <a:rPr lang="en-GB" sz="1600" dirty="0" smtClean="0">
                <a:solidFill>
                  <a:schemeClr val="tx1"/>
                </a:solidFill>
              </a:rPr>
              <a:t>.  Microsoft now </a:t>
            </a:r>
            <a:r>
              <a:rPr lang="en-GB" sz="1600" dirty="0">
                <a:solidFill>
                  <a:schemeClr val="tx1"/>
                </a:solidFill>
              </a:rPr>
              <a:t>starts focusing on other applications including IE</a:t>
            </a:r>
            <a:r>
              <a:rPr lang="en-GB" sz="1600" dirty="0" smtClean="0">
                <a:solidFill>
                  <a:schemeClr val="tx1"/>
                </a:solidFill>
              </a:rPr>
              <a:t>, SQL </a:t>
            </a:r>
            <a:r>
              <a:rPr lang="en-GB" sz="1600" dirty="0">
                <a:solidFill>
                  <a:schemeClr val="tx1"/>
                </a:solidFill>
              </a:rPr>
              <a:t>Server 2000 (SP3), Microsoft Office 2003, and </a:t>
            </a:r>
            <a:r>
              <a:rPr lang="en-GB" sz="1600" dirty="0" smtClean="0">
                <a:solidFill>
                  <a:schemeClr val="tx1"/>
                </a:solidFill>
              </a:rPr>
              <a:t>Exchange Server </a:t>
            </a:r>
            <a:r>
              <a:rPr lang="en-GB" sz="1600" dirty="0">
                <a:solidFill>
                  <a:schemeClr val="tx1"/>
                </a:solidFill>
              </a:rPr>
              <a:t>2000 (SP3</a:t>
            </a:r>
            <a:r>
              <a:rPr lang="en-GB" sz="1600" dirty="0" smtClean="0">
                <a:solidFill>
                  <a:schemeClr val="tx1"/>
                </a:solidFill>
              </a:rPr>
              <a:t>).</a:t>
            </a:r>
          </a:p>
          <a:p>
            <a:endParaRPr lang="da-DK" sz="1600" dirty="0">
              <a:solidFill>
                <a:schemeClr val="tx1"/>
              </a:solidFill>
            </a:endParaRPr>
          </a:p>
          <a:p>
            <a:r>
              <a:rPr lang="en-GB" sz="1600" dirty="0" smtClean="0">
                <a:solidFill>
                  <a:schemeClr val="tx1"/>
                </a:solidFill>
              </a:rPr>
              <a:t>2004-2006</a:t>
            </a:r>
            <a:r>
              <a:rPr lang="en-GB" sz="1600" dirty="0">
                <a:solidFill>
                  <a:schemeClr val="tx1"/>
                </a:solidFill>
              </a:rPr>
              <a:t>: Reflections on the security push during meetings in early </a:t>
            </a:r>
            <a:r>
              <a:rPr lang="en-GB" sz="1600" dirty="0" smtClean="0">
                <a:solidFill>
                  <a:schemeClr val="tx1"/>
                </a:solidFill>
              </a:rPr>
              <a:t>2004 </a:t>
            </a:r>
            <a:r>
              <a:rPr lang="en-GB" sz="1600" dirty="0">
                <a:solidFill>
                  <a:schemeClr val="tx1"/>
                </a:solidFill>
              </a:rPr>
              <a:t>between SWI team and product </a:t>
            </a:r>
            <a:r>
              <a:rPr lang="en-GB" sz="1600" dirty="0" smtClean="0">
                <a:solidFill>
                  <a:schemeClr val="tx1"/>
                </a:solidFill>
              </a:rPr>
              <a:t>management. It </a:t>
            </a:r>
            <a:r>
              <a:rPr lang="en-GB" sz="1600" dirty="0">
                <a:solidFill>
                  <a:schemeClr val="tx1"/>
                </a:solidFill>
              </a:rPr>
              <a:t>is </a:t>
            </a:r>
            <a:r>
              <a:rPr lang="en-GB" sz="1600" dirty="0" smtClean="0">
                <a:solidFill>
                  <a:schemeClr val="tx1"/>
                </a:solidFill>
              </a:rPr>
              <a:t>decided that </a:t>
            </a:r>
            <a:r>
              <a:rPr lang="en-GB" sz="1600" dirty="0">
                <a:solidFill>
                  <a:schemeClr val="tx1"/>
                </a:solidFill>
              </a:rPr>
              <a:t>almost all Microsoft products must meet a formalised </a:t>
            </a:r>
            <a:r>
              <a:rPr lang="en-GB" sz="1600" dirty="0" smtClean="0">
                <a:solidFill>
                  <a:schemeClr val="tx1"/>
                </a:solidFill>
              </a:rPr>
              <a:t>SDL </a:t>
            </a:r>
            <a:r>
              <a:rPr lang="en-GB" sz="1600" dirty="0">
                <a:solidFill>
                  <a:schemeClr val="tx1"/>
                </a:solidFill>
              </a:rPr>
              <a:t>(Security Development Lifecycle</a:t>
            </a:r>
            <a:r>
              <a:rPr lang="en-GB" sz="1600" dirty="0" smtClean="0">
                <a:solidFill>
                  <a:schemeClr val="tx1"/>
                </a:solidFill>
              </a:rPr>
              <a:t>).</a:t>
            </a:r>
          </a:p>
          <a:p>
            <a:endParaRPr lang="da-DK" sz="1600" dirty="0" smtClean="0">
              <a:solidFill>
                <a:schemeClr val="tx1"/>
              </a:solidFill>
            </a:endParaRPr>
          </a:p>
          <a:p>
            <a:r>
              <a:rPr lang="en-GB" sz="1600" dirty="0" smtClean="0"/>
              <a:t>2007: Windows Vista and Office 2007 are released. Both fully integrate SDL.</a:t>
            </a:r>
            <a:endParaRPr lang="en-GB" sz="1600" dirty="0"/>
          </a:p>
          <a:p>
            <a:pPr marL="0" indent="0">
              <a:buNone/>
            </a:pPr>
            <a:endParaRPr lang="da-DK" sz="1600" dirty="0" smtClean="0"/>
          </a:p>
          <a:p>
            <a:pPr marL="0" indent="0">
              <a:buNone/>
            </a:pPr>
            <a:endParaRPr lang="da-DK" sz="1600" dirty="0" smtClean="0"/>
          </a:p>
          <a:p>
            <a:pPr marL="0" indent="0">
              <a:buNone/>
            </a:pPr>
            <a:endParaRPr lang="da-DK" sz="1600" dirty="0"/>
          </a:p>
          <a:p>
            <a:pPr marL="0" indent="0">
              <a:buNone/>
            </a:pPr>
            <a:endParaRPr lang="da-DK" sz="1400" dirty="0" smtClean="0"/>
          </a:p>
        </p:txBody>
      </p:sp>
      <p:sp>
        <p:nvSpPr>
          <p:cNvPr id="5" name="Text Placeholder 4"/>
          <p:cNvSpPr>
            <a:spLocks noGrp="1"/>
          </p:cNvSpPr>
          <p:nvPr>
            <p:ph type="body" sz="quarter" idx="14"/>
          </p:nvPr>
        </p:nvSpPr>
        <p:spPr/>
        <p:txBody>
          <a:bodyPr/>
          <a:lstStyle/>
          <a:p>
            <a:pPr algn="ctr"/>
            <a:r>
              <a:rPr lang="da-DK" dirty="0" smtClean="0"/>
              <a:t>Microsoft SDL - History</a:t>
            </a:r>
            <a:endParaRPr lang="en-GB" dirty="0"/>
          </a:p>
        </p:txBody>
      </p:sp>
    </p:spTree>
    <p:extLst>
      <p:ext uri="{BB962C8B-B14F-4D97-AF65-F5344CB8AC3E}">
        <p14:creationId xmlns:p14="http://schemas.microsoft.com/office/powerpoint/2010/main" val="386543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5</a:t>
            </a:fld>
            <a:endParaRPr lang="da-DK" dirty="0"/>
          </a:p>
        </p:txBody>
      </p:sp>
      <p:sp>
        <p:nvSpPr>
          <p:cNvPr id="4" name="Text Placeholder 3"/>
          <p:cNvSpPr>
            <a:spLocks noGrp="1"/>
          </p:cNvSpPr>
          <p:nvPr>
            <p:ph type="body" sz="quarter" idx="12"/>
          </p:nvPr>
        </p:nvSpPr>
        <p:spPr/>
        <p:txBody>
          <a:bodyPr/>
          <a:lstStyle/>
          <a:p>
            <a:pPr marL="0" indent="0">
              <a:buNone/>
            </a:pPr>
            <a:r>
              <a:rPr lang="da-DK" dirty="0" smtClean="0"/>
              <a:t>Consists of seven phases:</a:t>
            </a:r>
          </a:p>
          <a:p>
            <a:pPr marL="0" indent="0">
              <a:buNone/>
            </a:pPr>
            <a:endParaRPr lang="da-DK" dirty="0" smtClean="0"/>
          </a:p>
          <a:p>
            <a:r>
              <a:rPr lang="en-GB" dirty="0" smtClean="0"/>
              <a:t>Training (secure design, threat modeling, secure coding, security testing)</a:t>
            </a:r>
          </a:p>
          <a:p>
            <a:r>
              <a:rPr lang="en-GB" dirty="0" smtClean="0"/>
              <a:t>Requirements (establish security requirements and quality gates / bug bars and perform risk assessments)</a:t>
            </a:r>
          </a:p>
          <a:p>
            <a:r>
              <a:rPr lang="en-GB" dirty="0" smtClean="0"/>
              <a:t>Design (establish design requirements and perform attack surface analysis / reduction and threat modeling)</a:t>
            </a:r>
          </a:p>
          <a:p>
            <a:r>
              <a:rPr lang="en-GB" dirty="0" smtClean="0"/>
              <a:t>Implementation (define and list approved tools/settings, unsafe functions, static analysis)</a:t>
            </a:r>
          </a:p>
          <a:p>
            <a:r>
              <a:rPr lang="en-GB" dirty="0" smtClean="0"/>
              <a:t>Verification (perform dynamic analysis and fuzz testing and review the attack surface)</a:t>
            </a:r>
          </a:p>
          <a:p>
            <a:r>
              <a:rPr lang="en-GB" dirty="0" smtClean="0"/>
              <a:t>Release (create incident response plan, perform Final Security Review, and certify all requirements are met before archiving all relevant information / data)</a:t>
            </a:r>
          </a:p>
          <a:p>
            <a:r>
              <a:rPr lang="en-GB" dirty="0" smtClean="0"/>
              <a:t>Response (execution of incident response plan)</a:t>
            </a:r>
          </a:p>
          <a:p>
            <a:pPr marL="0" indent="0">
              <a:buNone/>
            </a:pPr>
            <a:endParaRPr lang="en-GB" dirty="0" smtClean="0"/>
          </a:p>
          <a:p>
            <a:pPr marL="0" indent="0">
              <a:buNone/>
            </a:pPr>
            <a:endParaRPr lang="da-DK" sz="1000" dirty="0" smtClean="0"/>
          </a:p>
          <a:p>
            <a:pPr marL="0" indent="0">
              <a:buNone/>
            </a:pPr>
            <a:r>
              <a:rPr lang="en-GB" sz="1000" dirty="0" smtClean="0"/>
              <a:t>Source: </a:t>
            </a:r>
            <a:r>
              <a:rPr lang="en-GB" sz="1000" dirty="0" smtClean="0">
                <a:hlinkClick r:id="rId2"/>
              </a:rPr>
              <a:t>http</a:t>
            </a:r>
            <a:r>
              <a:rPr lang="en-GB" sz="1000" dirty="0">
                <a:hlinkClick r:id="rId2"/>
              </a:rPr>
              <a:t>://</a:t>
            </a:r>
            <a:r>
              <a:rPr lang="en-GB" sz="1000" dirty="0" smtClean="0">
                <a:hlinkClick r:id="rId2"/>
              </a:rPr>
              <a:t>www.microsoft.com/security/sdl/default.aspx</a:t>
            </a:r>
            <a:endParaRPr lang="en-GB" sz="1000" dirty="0" smtClean="0"/>
          </a:p>
          <a:p>
            <a:pPr marL="0" indent="0">
              <a:buNone/>
            </a:pPr>
            <a:endParaRPr lang="en-GB" sz="1000" dirty="0" smtClean="0"/>
          </a:p>
        </p:txBody>
      </p:sp>
      <p:sp>
        <p:nvSpPr>
          <p:cNvPr id="5" name="Text Placeholder 4"/>
          <p:cNvSpPr>
            <a:spLocks noGrp="1"/>
          </p:cNvSpPr>
          <p:nvPr>
            <p:ph type="body" sz="quarter" idx="14"/>
          </p:nvPr>
        </p:nvSpPr>
        <p:spPr/>
        <p:txBody>
          <a:bodyPr/>
          <a:lstStyle/>
          <a:p>
            <a:pPr algn="ctr"/>
            <a:r>
              <a:rPr lang="da-DK" dirty="0" smtClean="0"/>
              <a:t>Microsoft SDL – The 7 Phases</a:t>
            </a:r>
            <a:endParaRPr lang="en-GB" dirty="0"/>
          </a:p>
        </p:txBody>
      </p:sp>
    </p:spTree>
    <p:extLst>
      <p:ext uri="{BB962C8B-B14F-4D97-AF65-F5344CB8AC3E}">
        <p14:creationId xmlns:p14="http://schemas.microsoft.com/office/powerpoint/2010/main" val="2417186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6</a:t>
            </a:fld>
            <a:endParaRPr lang="da-DK" dirty="0"/>
          </a:p>
        </p:txBody>
      </p:sp>
      <p:sp>
        <p:nvSpPr>
          <p:cNvPr id="4" name="Text Placeholder 3"/>
          <p:cNvSpPr>
            <a:spLocks noGrp="1"/>
          </p:cNvSpPr>
          <p:nvPr>
            <p:ph type="body" sz="quarter" idx="12"/>
          </p:nvPr>
        </p:nvSpPr>
        <p:spPr/>
        <p:txBody>
          <a:bodyPr/>
          <a:lstStyle/>
          <a:p>
            <a:r>
              <a:rPr lang="da-DK" dirty="0" smtClean="0"/>
              <a:t>Overall </a:t>
            </a:r>
            <a:r>
              <a:rPr lang="da-DK" dirty="0"/>
              <a:t>securing of the code by implementing safer programming practises.</a:t>
            </a:r>
          </a:p>
          <a:p>
            <a:endParaRPr lang="da-DK" dirty="0" smtClean="0"/>
          </a:p>
          <a:p>
            <a:r>
              <a:rPr lang="da-DK" dirty="0" smtClean="0"/>
              <a:t>Addition </a:t>
            </a:r>
            <a:r>
              <a:rPr lang="da-DK" dirty="0"/>
              <a:t>of various safer </a:t>
            </a:r>
            <a:r>
              <a:rPr lang="da-DK" dirty="0" smtClean="0"/>
              <a:t>functions</a:t>
            </a:r>
            <a:r>
              <a:rPr lang="da-DK" baseline="30000" dirty="0" smtClean="0"/>
              <a:t>[1]</a:t>
            </a:r>
            <a:r>
              <a:rPr lang="da-DK" dirty="0" smtClean="0"/>
              <a:t> </a:t>
            </a:r>
            <a:r>
              <a:rPr lang="da-DK" dirty="0"/>
              <a:t>to replace </a:t>
            </a:r>
            <a:r>
              <a:rPr lang="da-DK" dirty="0" smtClean="0"/>
              <a:t>historically problematic functions.</a:t>
            </a:r>
          </a:p>
          <a:p>
            <a:pPr lvl="1"/>
            <a:r>
              <a:rPr lang="en-GB" sz="1400" dirty="0" smtClean="0"/>
              <a:t>E.g. StringCchCopy </a:t>
            </a:r>
            <a:r>
              <a:rPr lang="en-GB" sz="1400" dirty="0"/>
              <a:t>and </a:t>
            </a:r>
            <a:r>
              <a:rPr lang="en-GB" sz="1400" dirty="0" smtClean="0"/>
              <a:t>strcpy_s replace </a:t>
            </a:r>
            <a:r>
              <a:rPr lang="da-DK" sz="1400" dirty="0" smtClean="0"/>
              <a:t>strcpy, </a:t>
            </a:r>
            <a:r>
              <a:rPr lang="en-GB" sz="1400" dirty="0" smtClean="0"/>
              <a:t>wcscpy, and similar APIs.</a:t>
            </a:r>
            <a:endParaRPr lang="da-DK" sz="1400" dirty="0" smtClean="0"/>
          </a:p>
          <a:p>
            <a:pPr lvl="1"/>
            <a:r>
              <a:rPr lang="da-DK" sz="1400" dirty="0" smtClean="0"/>
              <a:t>E.g. </a:t>
            </a:r>
            <a:r>
              <a:rPr lang="en-GB" sz="1400" dirty="0" smtClean="0"/>
              <a:t>StringCchCat and strcat_s</a:t>
            </a:r>
            <a:r>
              <a:rPr lang="en-GB" sz="1400" dirty="0"/>
              <a:t> replace strcat, </a:t>
            </a:r>
            <a:r>
              <a:rPr lang="en-GB" sz="1400" dirty="0" smtClean="0"/>
              <a:t>wcscat, StrCatBuff</a:t>
            </a:r>
            <a:r>
              <a:rPr lang="en-GB" sz="1400" dirty="0"/>
              <a:t>, </a:t>
            </a:r>
            <a:r>
              <a:rPr lang="en-GB" sz="1400" dirty="0" smtClean="0"/>
              <a:t>StrCatChainW, and similar APIs.</a:t>
            </a:r>
          </a:p>
          <a:p>
            <a:pPr lvl="1"/>
            <a:r>
              <a:rPr lang="da-DK" sz="1400" dirty="0" smtClean="0"/>
              <a:t>E.g. </a:t>
            </a:r>
            <a:r>
              <a:rPr lang="en-GB" sz="1400" dirty="0" smtClean="0"/>
              <a:t>StringCchPrintf and sprintf_s</a:t>
            </a:r>
            <a:r>
              <a:rPr lang="en-GB" sz="1400" dirty="0"/>
              <a:t> replace </a:t>
            </a:r>
            <a:r>
              <a:rPr lang="en-GB" sz="1400" dirty="0" smtClean="0"/>
              <a:t>wsprintf</a:t>
            </a:r>
            <a:r>
              <a:rPr lang="en-GB" sz="1400" dirty="0"/>
              <a:t>, </a:t>
            </a:r>
            <a:r>
              <a:rPr lang="en-GB" sz="1400" dirty="0" smtClean="0"/>
              <a:t>sprintf, and similar APIs.</a:t>
            </a:r>
          </a:p>
          <a:p>
            <a:pPr lvl="1"/>
            <a:r>
              <a:rPr lang="en-GB" sz="1400" dirty="0" smtClean="0"/>
              <a:t>E.g. StringCchCopyN and strncpy_s</a:t>
            </a:r>
            <a:r>
              <a:rPr lang="en-GB" sz="1400" dirty="0"/>
              <a:t> replace </a:t>
            </a:r>
            <a:r>
              <a:rPr lang="en-GB" sz="1400" dirty="0" smtClean="0"/>
              <a:t>strncpy, StrCpyN, and similar APIs.</a:t>
            </a:r>
          </a:p>
          <a:p>
            <a:pPr lvl="1"/>
            <a:endParaRPr lang="en-GB" sz="1400" dirty="0" smtClean="0"/>
          </a:p>
          <a:p>
            <a:r>
              <a:rPr lang="da-DK" dirty="0" smtClean="0"/>
              <a:t>Addition </a:t>
            </a:r>
            <a:r>
              <a:rPr lang="da-DK" dirty="0"/>
              <a:t>of various </a:t>
            </a:r>
            <a:r>
              <a:rPr lang="da-DK" dirty="0" smtClean="0"/>
              <a:t>arithmetic functions</a:t>
            </a:r>
            <a:r>
              <a:rPr lang="da-DK" baseline="30000" dirty="0" smtClean="0"/>
              <a:t>[2]</a:t>
            </a:r>
            <a:r>
              <a:rPr lang="da-DK" dirty="0" smtClean="0"/>
              <a:t> via </a:t>
            </a:r>
            <a:r>
              <a:rPr lang="en-GB" dirty="0"/>
              <a:t>Intsafe.h </a:t>
            </a:r>
            <a:r>
              <a:rPr lang="da-DK" dirty="0" smtClean="0"/>
              <a:t>to reduce risk of integer overflows and type conversion vulnerabilities.</a:t>
            </a:r>
          </a:p>
          <a:p>
            <a:pPr lvl="1"/>
            <a:r>
              <a:rPr lang="en-GB" sz="1400" dirty="0" smtClean="0"/>
              <a:t>E.g. IntToShort allows converting value to type INT to type SHORT</a:t>
            </a:r>
            <a:r>
              <a:rPr lang="en-GB" sz="1400" dirty="0"/>
              <a:t>, returning </a:t>
            </a:r>
            <a:r>
              <a:rPr lang="en-GB" sz="1400" dirty="0" smtClean="0"/>
              <a:t>INTSAFE_E_ARITHMETIC_OVERFLOW in case the original value is truncated.</a:t>
            </a:r>
          </a:p>
          <a:p>
            <a:pPr lvl="1"/>
            <a:r>
              <a:rPr lang="da-DK" sz="1400" dirty="0" smtClean="0"/>
              <a:t>E.g. </a:t>
            </a:r>
            <a:r>
              <a:rPr lang="en-GB" sz="1400" dirty="0"/>
              <a:t>DWordAdd </a:t>
            </a:r>
            <a:r>
              <a:rPr lang="en-GB" sz="1400" dirty="0" smtClean="0"/>
              <a:t>and </a:t>
            </a:r>
            <a:r>
              <a:rPr lang="en-GB" sz="1400" dirty="0"/>
              <a:t>DWordSub</a:t>
            </a:r>
            <a:r>
              <a:rPr lang="en-GB" sz="1400" b="1" dirty="0"/>
              <a:t> </a:t>
            </a:r>
            <a:r>
              <a:rPr lang="en-GB" sz="1400" dirty="0" smtClean="0"/>
              <a:t>allow adding/subtracting two values of type DWORD, </a:t>
            </a:r>
            <a:r>
              <a:rPr lang="en-GB" sz="1400" dirty="0"/>
              <a:t>returning INTSAFE_E_ARITHMETIC_OVERFLOW in case the </a:t>
            </a:r>
            <a:r>
              <a:rPr lang="en-GB" sz="1400" dirty="0" smtClean="0"/>
              <a:t>result underflows/overflows.</a:t>
            </a:r>
            <a:endParaRPr lang="en-GB" sz="1400" dirty="0"/>
          </a:p>
          <a:p>
            <a:pPr marL="0" indent="0">
              <a:buNone/>
            </a:pPr>
            <a:endParaRPr lang="da-DK" dirty="0"/>
          </a:p>
          <a:p>
            <a:pPr marL="0" indent="0">
              <a:buNone/>
            </a:pPr>
            <a:endParaRPr lang="da-DK" sz="1000" dirty="0" smtClean="0"/>
          </a:p>
          <a:p>
            <a:pPr marL="0" indent="0">
              <a:buNone/>
            </a:pPr>
            <a:r>
              <a:rPr lang="da-DK" sz="1000" dirty="0" smtClean="0"/>
              <a:t>[1]: </a:t>
            </a:r>
            <a:r>
              <a:rPr lang="da-DK" sz="1000" dirty="0" smtClean="0">
                <a:hlinkClick r:id="rId2"/>
              </a:rPr>
              <a:t>http://msdn.microsoft.com/library/bb288454.aspx</a:t>
            </a:r>
            <a:endParaRPr lang="da-DK" sz="1000" dirty="0" smtClean="0"/>
          </a:p>
          <a:p>
            <a:pPr marL="0" indent="0">
              <a:buNone/>
            </a:pPr>
            <a:r>
              <a:rPr lang="da-DK" sz="1000" dirty="0"/>
              <a:t>[2]: </a:t>
            </a:r>
            <a:r>
              <a:rPr lang="da-DK" sz="1000" dirty="0">
                <a:hlinkClick r:id="rId3"/>
              </a:rPr>
              <a:t>http://</a:t>
            </a:r>
            <a:r>
              <a:rPr lang="da-DK" sz="1000" dirty="0" smtClean="0">
                <a:hlinkClick r:id="rId3"/>
              </a:rPr>
              <a:t>msdn.microsoft.com/en-us/library/windows/desktop/ff521693%28v=vs.85%29.aspx</a:t>
            </a:r>
            <a:endParaRPr lang="da-DK" sz="1000" dirty="0" smtClean="0"/>
          </a:p>
          <a:p>
            <a:pPr marL="0" indent="0">
              <a:buNone/>
            </a:pPr>
            <a:endParaRPr lang="da-DK" sz="1000" dirty="0" smtClean="0"/>
          </a:p>
        </p:txBody>
      </p:sp>
      <p:sp>
        <p:nvSpPr>
          <p:cNvPr id="5" name="Text Placeholder 4"/>
          <p:cNvSpPr>
            <a:spLocks noGrp="1"/>
          </p:cNvSpPr>
          <p:nvPr>
            <p:ph type="body" sz="quarter" idx="14"/>
          </p:nvPr>
        </p:nvSpPr>
        <p:spPr/>
        <p:txBody>
          <a:bodyPr/>
          <a:lstStyle/>
          <a:p>
            <a:pPr algn="ctr"/>
            <a:r>
              <a:rPr lang="da-DK" dirty="0" smtClean="0"/>
              <a:t>Microsoft SDL - Implementation</a:t>
            </a:r>
            <a:endParaRPr lang="en-GB" dirty="0"/>
          </a:p>
        </p:txBody>
      </p:sp>
    </p:spTree>
    <p:extLst>
      <p:ext uri="{BB962C8B-B14F-4D97-AF65-F5344CB8AC3E}">
        <p14:creationId xmlns:p14="http://schemas.microsoft.com/office/powerpoint/2010/main" val="3404152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7</a:t>
            </a:fld>
            <a:endParaRPr lang="da-DK" dirty="0"/>
          </a:p>
        </p:txBody>
      </p:sp>
      <p:sp>
        <p:nvSpPr>
          <p:cNvPr id="4" name="Text Placeholder 3"/>
          <p:cNvSpPr>
            <a:spLocks noGrp="1"/>
          </p:cNvSpPr>
          <p:nvPr>
            <p:ph type="body" sz="quarter" idx="12"/>
          </p:nvPr>
        </p:nvSpPr>
        <p:spPr/>
        <p:txBody>
          <a:bodyPr/>
          <a:lstStyle/>
          <a:p>
            <a:r>
              <a:rPr lang="da-DK" dirty="0" smtClean="0"/>
              <a:t>Addition of Application Verifier to </a:t>
            </a:r>
            <a:r>
              <a:rPr lang="en-GB" dirty="0" smtClean="0"/>
              <a:t>locate subtle memory corruption errors that may not be caught during code reviews and normal application testing.</a:t>
            </a:r>
          </a:p>
          <a:p>
            <a:endParaRPr lang="da-DK" dirty="0"/>
          </a:p>
          <a:p>
            <a:r>
              <a:rPr lang="da-DK" dirty="0" smtClean="0"/>
              <a:t>Addition of BinScope to ensure </a:t>
            </a:r>
            <a:r>
              <a:rPr lang="en-GB" dirty="0" smtClean="0"/>
              <a:t>binaries are built </a:t>
            </a:r>
            <a:r>
              <a:rPr lang="en-GB" dirty="0"/>
              <a:t>in compliance with </a:t>
            </a:r>
            <a:r>
              <a:rPr lang="en-GB" dirty="0" smtClean="0"/>
              <a:t>SDL requirements </a:t>
            </a:r>
            <a:r>
              <a:rPr lang="en-GB" dirty="0"/>
              <a:t>and recommendations.</a:t>
            </a:r>
          </a:p>
          <a:p>
            <a:endParaRPr lang="en-GB" dirty="0" smtClean="0"/>
          </a:p>
          <a:p>
            <a:r>
              <a:rPr lang="en-GB" dirty="0" smtClean="0"/>
              <a:t>Use </a:t>
            </a:r>
            <a:r>
              <a:rPr lang="en-GB" dirty="0"/>
              <a:t>of automated, distributed file fuzz testing to identify potential vulnerabilities during </a:t>
            </a:r>
            <a:r>
              <a:rPr lang="en-GB" dirty="0" smtClean="0"/>
              <a:t>development. During development of Office 2010, reportedly ~1800 bugs (not all vulnerabilities) were identified and fixed in this manner</a:t>
            </a:r>
            <a:r>
              <a:rPr lang="en-GB" baseline="30000" dirty="0" smtClean="0"/>
              <a:t>[1]</a:t>
            </a:r>
            <a:r>
              <a:rPr lang="en-GB" dirty="0" smtClean="0"/>
              <a:t>.</a:t>
            </a:r>
          </a:p>
          <a:p>
            <a:pPr marL="0" indent="0">
              <a:buNone/>
            </a:pPr>
            <a:endParaRPr lang="da-DK" dirty="0"/>
          </a:p>
          <a:p>
            <a:endParaRPr lang="en-GB" dirty="0" smtClean="0"/>
          </a:p>
          <a:p>
            <a:endParaRPr lang="en-GB" dirty="0"/>
          </a:p>
          <a:p>
            <a:endParaRPr lang="en-GB" dirty="0"/>
          </a:p>
          <a:p>
            <a:endParaRPr lang="en-GB" dirty="0" smtClean="0"/>
          </a:p>
          <a:p>
            <a:pPr marL="0" indent="0">
              <a:buNone/>
            </a:pPr>
            <a:endParaRPr lang="en-GB" sz="1000" dirty="0" smtClean="0"/>
          </a:p>
          <a:p>
            <a:pPr marL="0" indent="0">
              <a:buNone/>
            </a:pPr>
            <a:r>
              <a:rPr lang="en-GB" sz="1000" dirty="0" smtClean="0"/>
              <a:t>[</a:t>
            </a:r>
            <a:r>
              <a:rPr lang="en-GB" sz="1000" dirty="0" smtClean="0"/>
              <a:t>1]: </a:t>
            </a:r>
            <a:r>
              <a:rPr lang="en-GB" sz="1000" dirty="0" smtClean="0">
                <a:hlinkClick r:id="rId2"/>
              </a:rPr>
              <a:t>http</a:t>
            </a:r>
            <a:r>
              <a:rPr lang="en-GB" sz="1000" dirty="0">
                <a:hlinkClick r:id="rId2"/>
              </a:rPr>
              <a:t>://</a:t>
            </a:r>
            <a:r>
              <a:rPr lang="en-GB" sz="1000" dirty="0" smtClean="0">
                <a:hlinkClick r:id="rId2"/>
              </a:rPr>
              <a:t>www.computerworld.com/s/article/9174539/Microsoft_runs_fuzzing_botnet_finds_1_800_Office_bugs</a:t>
            </a:r>
            <a:endParaRPr lang="en-GB" sz="1000" dirty="0" smtClean="0"/>
          </a:p>
          <a:p>
            <a:pPr marL="0" indent="0">
              <a:buNone/>
            </a:pPr>
            <a:endParaRPr lang="en-GB" sz="1000" dirty="0" smtClean="0"/>
          </a:p>
          <a:p>
            <a:endParaRPr lang="da-DK" dirty="0"/>
          </a:p>
          <a:p>
            <a:endParaRPr lang="da-DK" dirty="0" smtClean="0"/>
          </a:p>
          <a:p>
            <a:endParaRPr lang="da-DK" dirty="0"/>
          </a:p>
          <a:p>
            <a:endParaRPr lang="da-DK" dirty="0" smtClean="0"/>
          </a:p>
          <a:p>
            <a:endParaRPr lang="da-DK" dirty="0"/>
          </a:p>
          <a:p>
            <a:endParaRPr lang="da-DK" dirty="0" smtClean="0"/>
          </a:p>
          <a:p>
            <a:endParaRPr lang="da-DK" dirty="0"/>
          </a:p>
          <a:p>
            <a:pPr marL="0" indent="0">
              <a:buNone/>
            </a:pPr>
            <a:endParaRPr lang="da-DK" sz="1000" dirty="0" smtClean="0"/>
          </a:p>
          <a:p>
            <a:pPr marL="0" indent="0">
              <a:buNone/>
            </a:pPr>
            <a:endParaRPr lang="da-DK" sz="1000" dirty="0" smtClean="0"/>
          </a:p>
          <a:p>
            <a:pPr marL="0" indent="0">
              <a:buNone/>
            </a:pPr>
            <a:endParaRPr lang="da-DK" sz="1000" dirty="0"/>
          </a:p>
          <a:p>
            <a:pPr marL="0" indent="0">
              <a:buNone/>
            </a:pPr>
            <a:r>
              <a:rPr lang="da-DK" sz="1000" dirty="0" smtClean="0"/>
              <a:t>[1</a:t>
            </a:r>
            <a:r>
              <a:rPr lang="da-DK" sz="1000" dirty="0"/>
              <a:t>]: </a:t>
            </a:r>
            <a:r>
              <a:rPr lang="da-DK" sz="1000" dirty="0">
                <a:hlinkClick r:id="rId3"/>
              </a:rPr>
              <a:t>http://</a:t>
            </a:r>
            <a:r>
              <a:rPr lang="da-DK" sz="1000" dirty="0" smtClean="0">
                <a:hlinkClick r:id="rId3"/>
              </a:rPr>
              <a:t>www.microsoft.com/en-us/download/details.aspx?id=20028</a:t>
            </a:r>
            <a:endParaRPr lang="da-DK" sz="1000" dirty="0" smtClean="0"/>
          </a:p>
        </p:txBody>
      </p:sp>
      <p:sp>
        <p:nvSpPr>
          <p:cNvPr id="5" name="Text Placeholder 4"/>
          <p:cNvSpPr>
            <a:spLocks noGrp="1"/>
          </p:cNvSpPr>
          <p:nvPr>
            <p:ph type="body" sz="quarter" idx="14"/>
          </p:nvPr>
        </p:nvSpPr>
        <p:spPr/>
        <p:txBody>
          <a:bodyPr/>
          <a:lstStyle/>
          <a:p>
            <a:pPr algn="ctr"/>
            <a:r>
              <a:rPr lang="da-DK" dirty="0" smtClean="0"/>
              <a:t>Microsoft SDL - Verification</a:t>
            </a:r>
            <a:endParaRPr lang="en-GB" dirty="0"/>
          </a:p>
        </p:txBody>
      </p:sp>
    </p:spTree>
    <p:extLst>
      <p:ext uri="{BB962C8B-B14F-4D97-AF65-F5344CB8AC3E}">
        <p14:creationId xmlns:p14="http://schemas.microsoft.com/office/powerpoint/2010/main" val="80172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8</a:t>
            </a:fld>
            <a:endParaRPr lang="da-DK" dirty="0"/>
          </a:p>
        </p:txBody>
      </p:sp>
      <p:sp>
        <p:nvSpPr>
          <p:cNvPr id="4" name="Text Placeholder 3"/>
          <p:cNvSpPr>
            <a:spLocks noGrp="1"/>
          </p:cNvSpPr>
          <p:nvPr>
            <p:ph type="body" sz="quarter" idx="12"/>
          </p:nvPr>
        </p:nvSpPr>
        <p:spPr/>
        <p:txBody>
          <a:bodyPr/>
          <a:lstStyle/>
          <a:p>
            <a:pPr marL="0" indent="0" algn="ctr">
              <a:buNone/>
            </a:pPr>
            <a:endParaRPr lang="en-GB" dirty="0" smtClean="0"/>
          </a:p>
          <a:p>
            <a:pPr marL="0" indent="0">
              <a:buNone/>
            </a:pPr>
            <a:r>
              <a:rPr lang="en-GB" dirty="0" smtClean="0"/>
              <a:t>To </a:t>
            </a:r>
            <a:r>
              <a:rPr lang="en-GB" dirty="0"/>
              <a:t>date the effectiveness of (Microsoft’s implementation of) SDL has been discussed by:</a:t>
            </a:r>
            <a:endParaRPr lang="da-DK" dirty="0" smtClean="0"/>
          </a:p>
          <a:p>
            <a:endParaRPr lang="da-DK" dirty="0" smtClean="0"/>
          </a:p>
          <a:p>
            <a:r>
              <a:rPr lang="en-GB" dirty="0" smtClean="0"/>
              <a:t>Listing </a:t>
            </a:r>
            <a:r>
              <a:rPr lang="en-GB" dirty="0"/>
              <a:t>implemented security </a:t>
            </a:r>
            <a:r>
              <a:rPr lang="en-GB" dirty="0" smtClean="0"/>
              <a:t>mechanisms</a:t>
            </a:r>
          </a:p>
          <a:p>
            <a:endParaRPr lang="en-GB" dirty="0" smtClean="0"/>
          </a:p>
          <a:p>
            <a:r>
              <a:rPr lang="en-GB" dirty="0" smtClean="0"/>
              <a:t>Counting and comparing number </a:t>
            </a:r>
            <a:r>
              <a:rPr lang="en-GB" dirty="0"/>
              <a:t>of crashes during fuzzing runs</a:t>
            </a:r>
            <a:r>
              <a:rPr lang="en-GB" dirty="0" smtClean="0"/>
              <a:t>.</a:t>
            </a:r>
          </a:p>
          <a:p>
            <a:endParaRPr lang="da-DK" dirty="0"/>
          </a:p>
          <a:p>
            <a:r>
              <a:rPr lang="en-GB" dirty="0"/>
              <a:t>Counting and comparing reported </a:t>
            </a:r>
            <a:r>
              <a:rPr lang="en-GB" dirty="0" smtClean="0"/>
              <a:t>number of vulnerabilities</a:t>
            </a:r>
            <a:endParaRPr lang="da-DK" dirty="0" smtClean="0"/>
          </a:p>
          <a:p>
            <a:pPr marL="0" indent="0" algn="ctr">
              <a:buNone/>
            </a:pPr>
            <a:endParaRPr lang="da-DK" dirty="0"/>
          </a:p>
        </p:txBody>
      </p:sp>
      <p:sp>
        <p:nvSpPr>
          <p:cNvPr id="5" name="Text Placeholder 4"/>
          <p:cNvSpPr>
            <a:spLocks noGrp="1"/>
          </p:cNvSpPr>
          <p:nvPr>
            <p:ph type="body" sz="quarter" idx="14"/>
          </p:nvPr>
        </p:nvSpPr>
        <p:spPr/>
        <p:txBody>
          <a:bodyPr/>
          <a:lstStyle/>
          <a:p>
            <a:pPr algn="ctr"/>
            <a:r>
              <a:rPr lang="en-GB" dirty="0" smtClean="0"/>
              <a:t>Microsoft SDL - Effectiveness</a:t>
            </a:r>
            <a:endParaRPr lang="en-GB" dirty="0"/>
          </a:p>
        </p:txBody>
      </p:sp>
    </p:spTree>
    <p:extLst>
      <p:ext uri="{BB962C8B-B14F-4D97-AF65-F5344CB8AC3E}">
        <p14:creationId xmlns:p14="http://schemas.microsoft.com/office/powerpoint/2010/main" val="2561178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9</a:t>
            </a:fld>
            <a:endParaRPr lang="da-DK" dirty="0"/>
          </a:p>
        </p:txBody>
      </p:sp>
      <p:sp>
        <p:nvSpPr>
          <p:cNvPr id="4" name="Text Placeholder 3"/>
          <p:cNvSpPr>
            <a:spLocks noGrp="1"/>
          </p:cNvSpPr>
          <p:nvPr>
            <p:ph type="body" sz="quarter" idx="12"/>
          </p:nvPr>
        </p:nvSpPr>
        <p:spPr/>
        <p:txBody>
          <a:bodyPr/>
          <a:lstStyle/>
          <a:p>
            <a:endParaRPr lang="da-DK" dirty="0" smtClean="0"/>
          </a:p>
          <a:p>
            <a:r>
              <a:rPr lang="da-DK" dirty="0" smtClean="0"/>
              <a:t>Addition of various defense-in-depth mechanisms have been added to protect against exploitation and reduce the severity of existing vulnerabilities. </a:t>
            </a:r>
          </a:p>
          <a:p>
            <a:endParaRPr lang="da-DK" dirty="0"/>
          </a:p>
          <a:p>
            <a:r>
              <a:rPr lang="da-DK" dirty="0" smtClean="0"/>
              <a:t>These include:</a:t>
            </a:r>
          </a:p>
          <a:p>
            <a:pPr lvl="1"/>
            <a:r>
              <a:rPr lang="da-DK" sz="1600" dirty="0" smtClean="0"/>
              <a:t>DEP (Data Execution </a:t>
            </a:r>
            <a:r>
              <a:rPr lang="da-DK" sz="1600" dirty="0" err="1" smtClean="0"/>
              <a:t>Prevention</a:t>
            </a:r>
            <a:r>
              <a:rPr lang="da-DK" sz="1600" dirty="0" smtClean="0"/>
              <a:t>)</a:t>
            </a:r>
            <a:r>
              <a:rPr lang="da-DK" sz="1600" baseline="30000" dirty="0" smtClean="0"/>
              <a:t>[1]</a:t>
            </a:r>
          </a:p>
          <a:p>
            <a:pPr lvl="1"/>
            <a:r>
              <a:rPr lang="da-DK" sz="1600" dirty="0" smtClean="0"/>
              <a:t>ASLR (Address Space Layout </a:t>
            </a:r>
            <a:r>
              <a:rPr lang="da-DK" sz="1600" dirty="0" err="1" smtClean="0"/>
              <a:t>Randomization</a:t>
            </a:r>
            <a:r>
              <a:rPr lang="da-DK" sz="1600" dirty="0" smtClean="0"/>
              <a:t>)</a:t>
            </a:r>
            <a:r>
              <a:rPr lang="da-DK" sz="1600" baseline="30000" dirty="0" smtClean="0"/>
              <a:t>[2]</a:t>
            </a:r>
          </a:p>
          <a:p>
            <a:pPr lvl="1"/>
            <a:r>
              <a:rPr lang="en-GB" sz="1600" dirty="0" smtClean="0"/>
              <a:t>Protected View (read-only mode for files from unsafe locations)</a:t>
            </a:r>
            <a:r>
              <a:rPr lang="en-GB" sz="1600" baseline="30000" dirty="0" smtClean="0"/>
              <a:t>[3]</a:t>
            </a:r>
          </a:p>
          <a:p>
            <a:pPr lvl="1"/>
            <a:r>
              <a:rPr lang="en-GB" sz="1600" dirty="0" smtClean="0"/>
              <a:t>File Block settings (prevents opening of outdated </a:t>
            </a:r>
            <a:r>
              <a:rPr lang="en-GB" sz="1600" dirty="0"/>
              <a:t>file </a:t>
            </a:r>
            <a:r>
              <a:rPr lang="en-GB" sz="1600" dirty="0" smtClean="0"/>
              <a:t>types)</a:t>
            </a:r>
            <a:r>
              <a:rPr lang="en-GB" sz="1600" baseline="30000" dirty="0" smtClean="0"/>
              <a:t>[4]</a:t>
            </a:r>
          </a:p>
          <a:p>
            <a:pPr lvl="1"/>
            <a:r>
              <a:rPr lang="en-GB" sz="1600" dirty="0" smtClean="0"/>
              <a:t>Office File Validation (</a:t>
            </a:r>
            <a:r>
              <a:rPr lang="en-GB" sz="1600" dirty="0"/>
              <a:t>verifies that </a:t>
            </a:r>
            <a:r>
              <a:rPr lang="en-GB" sz="1600" dirty="0" smtClean="0"/>
              <a:t>binary files comply </a:t>
            </a:r>
            <a:r>
              <a:rPr lang="en-GB" sz="1600" dirty="0"/>
              <a:t>with </a:t>
            </a:r>
            <a:r>
              <a:rPr lang="en-GB" sz="1600" dirty="0" smtClean="0"/>
              <a:t>expectations)</a:t>
            </a:r>
            <a:r>
              <a:rPr lang="en-GB" sz="1600" baseline="30000" dirty="0" smtClean="0"/>
              <a:t>[5]</a:t>
            </a:r>
          </a:p>
          <a:p>
            <a:pPr lvl="1"/>
            <a:endParaRPr lang="en-GB" sz="1400" dirty="0"/>
          </a:p>
          <a:p>
            <a:pPr marL="57150" indent="0">
              <a:buNone/>
            </a:pPr>
            <a:endParaRPr lang="en-GB" sz="1400" dirty="0"/>
          </a:p>
          <a:p>
            <a:pPr marL="57150" indent="0">
              <a:buNone/>
            </a:pPr>
            <a:endParaRPr lang="en-GB" dirty="0" smtClean="0"/>
          </a:p>
          <a:p>
            <a:pPr marL="57150" indent="0">
              <a:buNone/>
            </a:pPr>
            <a:r>
              <a:rPr lang="en-GB" sz="1000" dirty="0" smtClean="0"/>
              <a:t>[1</a:t>
            </a:r>
            <a:r>
              <a:rPr lang="en-GB" sz="1000" dirty="0"/>
              <a:t>]: </a:t>
            </a:r>
            <a:r>
              <a:rPr lang="en-GB" sz="1000" dirty="0">
                <a:hlinkClick r:id="rId2"/>
              </a:rPr>
              <a:t>http://</a:t>
            </a:r>
            <a:r>
              <a:rPr lang="en-GB" sz="1000" dirty="0" smtClean="0">
                <a:hlinkClick r:id="rId2"/>
              </a:rPr>
              <a:t>blogs.technet.com/b/office2010/archive/2010/02/04/data-excecution-prevention-in-office-2010.aspx</a:t>
            </a:r>
            <a:endParaRPr lang="en-GB" sz="1000" dirty="0" smtClean="0"/>
          </a:p>
          <a:p>
            <a:pPr marL="57150" indent="0">
              <a:buNone/>
            </a:pPr>
            <a:r>
              <a:rPr lang="en-GB" sz="1000" dirty="0" smtClean="0"/>
              <a:t>[2</a:t>
            </a:r>
            <a:r>
              <a:rPr lang="en-GB" sz="1000" dirty="0"/>
              <a:t>]: </a:t>
            </a:r>
            <a:r>
              <a:rPr lang="en-GB" sz="1000" dirty="0">
                <a:hlinkClick r:id="rId3"/>
              </a:rPr>
              <a:t>http://</a:t>
            </a:r>
            <a:r>
              <a:rPr lang="en-GB" sz="1000" dirty="0" smtClean="0">
                <a:hlinkClick r:id="rId3"/>
              </a:rPr>
              <a:t>blogs.technet.com/b/srd/archive/2010/12/08/on-the-effectiveness-of-dep-and-aslr.aspx</a:t>
            </a:r>
            <a:endParaRPr lang="en-GB" sz="1000" dirty="0" smtClean="0"/>
          </a:p>
          <a:p>
            <a:pPr marL="57150" indent="0">
              <a:buNone/>
            </a:pPr>
            <a:r>
              <a:rPr lang="en-GB" sz="1000" dirty="0" smtClean="0"/>
              <a:t>[3]: </a:t>
            </a:r>
            <a:r>
              <a:rPr lang="en-GB" sz="1000" dirty="0">
                <a:hlinkClick r:id="rId4"/>
              </a:rPr>
              <a:t>http://</a:t>
            </a:r>
            <a:r>
              <a:rPr lang="en-GB" sz="1000" dirty="0" smtClean="0">
                <a:hlinkClick r:id="rId4"/>
              </a:rPr>
              <a:t>office.microsoft.com/en-us/excel-help/what-is-protected-view-HA010355931.aspx</a:t>
            </a:r>
            <a:endParaRPr lang="en-GB" sz="1000" dirty="0" smtClean="0"/>
          </a:p>
          <a:p>
            <a:pPr marL="57150" indent="0">
              <a:buNone/>
            </a:pPr>
            <a:r>
              <a:rPr lang="en-GB" sz="1000" dirty="0" smtClean="0"/>
              <a:t>[4</a:t>
            </a:r>
            <a:r>
              <a:rPr lang="en-GB" sz="1000" dirty="0"/>
              <a:t>]: </a:t>
            </a:r>
            <a:r>
              <a:rPr lang="en-GB" sz="1000" dirty="0">
                <a:hlinkClick r:id="rId5"/>
              </a:rPr>
              <a:t>http://</a:t>
            </a:r>
            <a:r>
              <a:rPr lang="en-GB" sz="1000" dirty="0" smtClean="0">
                <a:hlinkClick r:id="rId5"/>
              </a:rPr>
              <a:t>office.microsoft.com/en-us/powerpoint-help/what-is-file-block-HA010355927.aspx</a:t>
            </a:r>
            <a:endParaRPr lang="en-GB" sz="1000" dirty="0" smtClean="0"/>
          </a:p>
          <a:p>
            <a:pPr marL="57150" indent="0">
              <a:buNone/>
            </a:pPr>
            <a:r>
              <a:rPr lang="en-GB" sz="1000" dirty="0" smtClean="0"/>
              <a:t>[5</a:t>
            </a:r>
            <a:r>
              <a:rPr lang="en-GB" sz="1000" dirty="0"/>
              <a:t>]: </a:t>
            </a:r>
            <a:r>
              <a:rPr lang="en-GB" sz="1000" dirty="0">
                <a:hlinkClick r:id="rId6"/>
              </a:rPr>
              <a:t>http://</a:t>
            </a:r>
            <a:r>
              <a:rPr lang="en-GB" sz="1000" dirty="0" smtClean="0">
                <a:hlinkClick r:id="rId6"/>
              </a:rPr>
              <a:t>support.microsoft.com/kb/2501584</a:t>
            </a:r>
            <a:endParaRPr lang="en-GB" sz="1000" dirty="0" smtClean="0"/>
          </a:p>
          <a:p>
            <a:pPr marL="57150" indent="0">
              <a:buNone/>
            </a:pPr>
            <a:endParaRPr lang="en-GB" sz="1400" dirty="0"/>
          </a:p>
        </p:txBody>
      </p:sp>
      <p:sp>
        <p:nvSpPr>
          <p:cNvPr id="5" name="Text Placeholder 4"/>
          <p:cNvSpPr>
            <a:spLocks noGrp="1"/>
          </p:cNvSpPr>
          <p:nvPr>
            <p:ph type="body" sz="quarter" idx="14"/>
          </p:nvPr>
        </p:nvSpPr>
        <p:spPr/>
        <p:txBody>
          <a:bodyPr/>
          <a:lstStyle/>
          <a:p>
            <a:pPr algn="ctr"/>
            <a:r>
              <a:rPr lang="da-DK" dirty="0" smtClean="0"/>
              <a:t>Microsoft Office – Added Security Mechanisms</a:t>
            </a:r>
            <a:endParaRPr lang="en-GB" dirty="0"/>
          </a:p>
        </p:txBody>
      </p:sp>
    </p:spTree>
    <p:extLst>
      <p:ext uri="{BB962C8B-B14F-4D97-AF65-F5344CB8AC3E}">
        <p14:creationId xmlns:p14="http://schemas.microsoft.com/office/powerpoint/2010/main" val="4105329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10</a:t>
            </a:fld>
            <a:endParaRPr lang="da-DK" dirty="0"/>
          </a:p>
        </p:txBody>
      </p:sp>
      <p:sp>
        <p:nvSpPr>
          <p:cNvPr id="4" name="Text Placeholder 3"/>
          <p:cNvSpPr>
            <a:spLocks noGrp="1"/>
          </p:cNvSpPr>
          <p:nvPr>
            <p:ph type="body" sz="quarter" idx="12"/>
          </p:nvPr>
        </p:nvSpPr>
        <p:spPr/>
        <p:txBody>
          <a:bodyPr/>
          <a:lstStyle/>
          <a:p>
            <a:pPr marL="0" indent="0">
              <a:buNone/>
            </a:pPr>
            <a:endParaRPr lang="da-DK" dirty="0"/>
          </a:p>
          <a:p>
            <a:r>
              <a:rPr lang="da-DK" dirty="0" smtClean="0"/>
              <a:t>In March 2011 a fuzzing test comparison of the different Office versions vs. OpenOffice is published by Dan Kaminsky,  </a:t>
            </a:r>
            <a:r>
              <a:rPr lang="en-GB" dirty="0" smtClean="0"/>
              <a:t>Adam Cecchetti, and </a:t>
            </a:r>
            <a:r>
              <a:rPr lang="en-GB" dirty="0"/>
              <a:t>Mike </a:t>
            </a:r>
            <a:r>
              <a:rPr lang="en-GB" dirty="0" smtClean="0"/>
              <a:t>Eddington:  </a:t>
            </a:r>
            <a:r>
              <a:rPr lang="en-GB" dirty="0" smtClean="0">
                <a:hlinkClick r:id="rId2"/>
              </a:rPr>
              <a:t>http</a:t>
            </a:r>
            <a:r>
              <a:rPr lang="en-GB" dirty="0">
                <a:hlinkClick r:id="rId2"/>
              </a:rPr>
              <a:t>://dankaminsky.com/2011/03/11/fuzzmark</a:t>
            </a:r>
            <a:r>
              <a:rPr lang="en-GB" dirty="0" smtClean="0">
                <a:hlinkClick r:id="rId2"/>
              </a:rPr>
              <a:t>/</a:t>
            </a:r>
            <a:endParaRPr lang="en-GB" dirty="0" smtClean="0"/>
          </a:p>
          <a:p>
            <a:endParaRPr lang="da-DK" dirty="0"/>
          </a:p>
          <a:p>
            <a:r>
              <a:rPr lang="da-DK" dirty="0" smtClean="0"/>
              <a:t>A similar comparison is published in April </a:t>
            </a:r>
            <a:r>
              <a:rPr lang="da-DK" dirty="0"/>
              <a:t>2011 </a:t>
            </a:r>
            <a:r>
              <a:rPr lang="da-DK" dirty="0" smtClean="0"/>
              <a:t>by Will </a:t>
            </a:r>
            <a:r>
              <a:rPr lang="da-DK" dirty="0"/>
              <a:t>Dormann of </a:t>
            </a:r>
            <a:r>
              <a:rPr lang="da-DK" dirty="0" smtClean="0"/>
              <a:t>CERT/CC: </a:t>
            </a:r>
            <a:r>
              <a:rPr lang="da-DK" dirty="0">
                <a:hlinkClick r:id="rId3"/>
              </a:rPr>
              <a:t>http://www.cert.org/blogs/certcc/2011/04/office_shootout_microsoft_offi.html</a:t>
            </a:r>
            <a:endParaRPr lang="da-DK" dirty="0"/>
          </a:p>
          <a:p>
            <a:pPr marL="0" indent="0">
              <a:buNone/>
            </a:pPr>
            <a:endParaRPr lang="en-GB" dirty="0" smtClean="0"/>
          </a:p>
          <a:p>
            <a:pPr marL="0" indent="0">
              <a:buNone/>
            </a:pPr>
            <a:endParaRPr lang="en-GB" dirty="0" smtClean="0"/>
          </a:p>
          <a:p>
            <a:pPr marL="0" indent="0">
              <a:buNone/>
            </a:pPr>
            <a:endParaRPr lang="en-GB" dirty="0"/>
          </a:p>
        </p:txBody>
      </p:sp>
      <p:sp>
        <p:nvSpPr>
          <p:cNvPr id="5" name="Text Placeholder 4"/>
          <p:cNvSpPr>
            <a:spLocks noGrp="1"/>
          </p:cNvSpPr>
          <p:nvPr>
            <p:ph type="body" sz="quarter" idx="14"/>
          </p:nvPr>
        </p:nvSpPr>
        <p:spPr/>
        <p:txBody>
          <a:bodyPr/>
          <a:lstStyle/>
          <a:p>
            <a:pPr algn="ctr"/>
            <a:r>
              <a:rPr lang="da-DK" dirty="0" smtClean="0"/>
              <a:t>Microsoft SDL – Fuzzing Comparison</a:t>
            </a:r>
            <a:endParaRPr lang="en-GB" dirty="0"/>
          </a:p>
        </p:txBody>
      </p:sp>
    </p:spTree>
    <p:extLst>
      <p:ext uri="{BB962C8B-B14F-4D97-AF65-F5344CB8AC3E}">
        <p14:creationId xmlns:p14="http://schemas.microsoft.com/office/powerpoint/2010/main" val="413115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11</a:t>
            </a:fld>
            <a:endParaRPr lang="da-DK" dirty="0"/>
          </a:p>
        </p:txBody>
      </p:sp>
      <p:sp>
        <p:nvSpPr>
          <p:cNvPr id="5" name="Text Placeholder 4"/>
          <p:cNvSpPr>
            <a:spLocks noGrp="1"/>
          </p:cNvSpPr>
          <p:nvPr>
            <p:ph type="body" sz="quarter" idx="14"/>
          </p:nvPr>
        </p:nvSpPr>
        <p:spPr/>
        <p:txBody>
          <a:bodyPr/>
          <a:lstStyle/>
          <a:p>
            <a:pPr algn="ctr"/>
            <a:r>
              <a:rPr lang="da-DK" dirty="0" smtClean="0"/>
              <a:t>Microsoft SDL – Fuzzing Comparison</a:t>
            </a:r>
            <a:endParaRPr lang="en-GB" dirty="0"/>
          </a:p>
        </p:txBody>
      </p:sp>
      <p:pic>
        <p:nvPicPr>
          <p:cNvPr id="2050" name="Picture 2" descr="\\secunia.local\folders\che\Desktop\officefuzz-majormino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000066"/>
            <a:ext cx="6825952" cy="480653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616817" y="5949280"/>
            <a:ext cx="3679533" cy="369332"/>
          </a:xfrm>
          <a:prstGeom prst="rect">
            <a:avLst/>
          </a:prstGeom>
          <a:noFill/>
        </p:spPr>
        <p:txBody>
          <a:bodyPr wrap="none" rtlCol="0">
            <a:spAutoFit/>
          </a:bodyPr>
          <a:lstStyle/>
          <a:p>
            <a:r>
              <a:rPr lang="da-DK" dirty="0" smtClean="0"/>
              <a:t>Crash results from CERT/CC </a:t>
            </a:r>
            <a:r>
              <a:rPr lang="da-DK" dirty="0" err="1" smtClean="0"/>
              <a:t>analysis</a:t>
            </a:r>
            <a:endParaRPr lang="en-GB" dirty="0"/>
          </a:p>
        </p:txBody>
      </p:sp>
    </p:spTree>
    <p:extLst>
      <p:ext uri="{BB962C8B-B14F-4D97-AF65-F5344CB8AC3E}">
        <p14:creationId xmlns:p14="http://schemas.microsoft.com/office/powerpoint/2010/main" val="1836329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12</a:t>
            </a:fld>
            <a:endParaRPr lang="da-DK" dirty="0"/>
          </a:p>
        </p:txBody>
      </p:sp>
      <p:sp>
        <p:nvSpPr>
          <p:cNvPr id="5" name="Text Placeholder 4"/>
          <p:cNvSpPr>
            <a:spLocks noGrp="1"/>
          </p:cNvSpPr>
          <p:nvPr>
            <p:ph type="body" sz="quarter" idx="14"/>
          </p:nvPr>
        </p:nvSpPr>
        <p:spPr/>
        <p:txBody>
          <a:bodyPr/>
          <a:lstStyle/>
          <a:p>
            <a:pPr algn="ctr"/>
            <a:r>
              <a:rPr lang="da-DK" dirty="0" smtClean="0"/>
              <a:t>Microsoft SDL – Fuzzing Comparison</a:t>
            </a:r>
            <a:endParaRPr lang="en-GB" dirty="0"/>
          </a:p>
        </p:txBody>
      </p:sp>
      <p:sp>
        <p:nvSpPr>
          <p:cNvPr id="10" name="TextBox 9"/>
          <p:cNvSpPr txBox="1"/>
          <p:nvPr/>
        </p:nvSpPr>
        <p:spPr>
          <a:xfrm>
            <a:off x="1147473" y="5949280"/>
            <a:ext cx="6618222" cy="369332"/>
          </a:xfrm>
          <a:prstGeom prst="rect">
            <a:avLst/>
          </a:prstGeom>
          <a:noFill/>
        </p:spPr>
        <p:txBody>
          <a:bodyPr wrap="none" rtlCol="0">
            <a:spAutoFit/>
          </a:bodyPr>
          <a:lstStyle/>
          <a:p>
            <a:r>
              <a:rPr lang="da-DK" dirty="0" smtClean="0"/>
              <a:t>Crash results from CERT/CC </a:t>
            </a:r>
            <a:r>
              <a:rPr lang="da-DK" dirty="0" err="1" smtClean="0"/>
              <a:t>analysis</a:t>
            </a:r>
            <a:r>
              <a:rPr lang="da-DK" dirty="0" smtClean="0"/>
              <a:t> – Potential </a:t>
            </a:r>
            <a:r>
              <a:rPr lang="da-DK" dirty="0" err="1" smtClean="0"/>
              <a:t>duplicates</a:t>
            </a:r>
            <a:r>
              <a:rPr lang="da-DK" dirty="0" smtClean="0"/>
              <a:t> removed</a:t>
            </a:r>
            <a:endParaRPr lang="en-GB" dirty="0"/>
          </a:p>
        </p:txBody>
      </p:sp>
      <p:pic>
        <p:nvPicPr>
          <p:cNvPr id="8" name="Picture 7" descr="\\secunia.local\folders\che\Desktop\officefuzz-majo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0834" y="1000066"/>
            <a:ext cx="6818726" cy="4801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585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13</a:t>
            </a:fld>
            <a:endParaRPr lang="da-DK" dirty="0"/>
          </a:p>
        </p:txBody>
      </p:sp>
      <p:sp>
        <p:nvSpPr>
          <p:cNvPr id="5" name="Text Placeholder 4"/>
          <p:cNvSpPr>
            <a:spLocks noGrp="1"/>
          </p:cNvSpPr>
          <p:nvPr>
            <p:ph type="body" sz="quarter" idx="14"/>
          </p:nvPr>
        </p:nvSpPr>
        <p:spPr/>
        <p:txBody>
          <a:bodyPr/>
          <a:lstStyle/>
          <a:p>
            <a:pPr algn="ctr"/>
            <a:r>
              <a:rPr lang="da-DK" dirty="0" smtClean="0"/>
              <a:t>Microsoft SDL – Fuzzing Comparison</a:t>
            </a:r>
            <a:endParaRPr lang="en-GB" dirty="0"/>
          </a:p>
        </p:txBody>
      </p:sp>
      <p:sp>
        <p:nvSpPr>
          <p:cNvPr id="4" name="TextBox 3"/>
          <p:cNvSpPr txBox="1"/>
          <p:nvPr/>
        </p:nvSpPr>
        <p:spPr>
          <a:xfrm>
            <a:off x="685615" y="5939988"/>
            <a:ext cx="7670561" cy="369332"/>
          </a:xfrm>
          <a:prstGeom prst="rect">
            <a:avLst/>
          </a:prstGeom>
          <a:noFill/>
        </p:spPr>
        <p:txBody>
          <a:bodyPr wrap="none" rtlCol="0">
            <a:spAutoFit/>
          </a:bodyPr>
          <a:lstStyle/>
          <a:p>
            <a:pPr algn="ctr"/>
            <a:r>
              <a:rPr lang="da-DK" dirty="0" err="1" smtClean="0"/>
              <a:t>Probably</a:t>
            </a:r>
            <a:r>
              <a:rPr lang="da-DK" dirty="0" smtClean="0"/>
              <a:t> </a:t>
            </a:r>
            <a:r>
              <a:rPr lang="da-DK" dirty="0" err="1" smtClean="0"/>
              <a:t>Exploitable</a:t>
            </a:r>
            <a:r>
              <a:rPr lang="da-DK" dirty="0" smtClean="0"/>
              <a:t> and </a:t>
            </a:r>
            <a:r>
              <a:rPr lang="da-DK" dirty="0" err="1" smtClean="0"/>
              <a:t>Exploitable</a:t>
            </a:r>
            <a:r>
              <a:rPr lang="da-DK" dirty="0" smtClean="0"/>
              <a:t> CERT/CC </a:t>
            </a:r>
            <a:r>
              <a:rPr lang="da-DK" dirty="0" err="1" smtClean="0"/>
              <a:t>results</a:t>
            </a:r>
            <a:r>
              <a:rPr lang="da-DK" dirty="0" smtClean="0"/>
              <a:t> returned by !</a:t>
            </a:r>
            <a:r>
              <a:rPr lang="da-DK" dirty="0" err="1" smtClean="0"/>
              <a:t>exploitable</a:t>
            </a:r>
            <a:endParaRPr lang="en-GB" dirty="0"/>
          </a:p>
        </p:txBody>
      </p:sp>
      <p:pic>
        <p:nvPicPr>
          <p:cNvPr id="9" name="Picture 2" descr="\\secunia.local\folders\che\Desktop\officefuzz-expmajo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000066"/>
            <a:ext cx="6825952" cy="4806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8611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14</a:t>
            </a:fld>
            <a:endParaRPr lang="da-DK" dirty="0"/>
          </a:p>
        </p:txBody>
      </p:sp>
      <p:sp>
        <p:nvSpPr>
          <p:cNvPr id="5" name="Text Placeholder 4"/>
          <p:cNvSpPr>
            <a:spLocks noGrp="1"/>
          </p:cNvSpPr>
          <p:nvPr>
            <p:ph type="body" sz="quarter" idx="14"/>
          </p:nvPr>
        </p:nvSpPr>
        <p:spPr/>
        <p:txBody>
          <a:bodyPr/>
          <a:lstStyle/>
          <a:p>
            <a:pPr algn="ctr"/>
            <a:r>
              <a:rPr lang="da-DK" dirty="0" smtClean="0"/>
              <a:t>Microsoft SDL – Fuzzing Comparison</a:t>
            </a:r>
            <a:endParaRPr lang="en-GB" dirty="0"/>
          </a:p>
        </p:txBody>
      </p:sp>
      <p:pic>
        <p:nvPicPr>
          <p:cNvPr id="3075" name="Picture 3" descr="\\secunia.local\folders\che\Desktop\summary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054682"/>
            <a:ext cx="6912768" cy="48225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024877" y="5867980"/>
            <a:ext cx="2992037" cy="369332"/>
          </a:xfrm>
          <a:prstGeom prst="rect">
            <a:avLst/>
          </a:prstGeom>
          <a:noFill/>
        </p:spPr>
        <p:txBody>
          <a:bodyPr wrap="none" rtlCol="0">
            <a:spAutoFit/>
          </a:bodyPr>
          <a:lstStyle/>
          <a:p>
            <a:pPr algn="ctr"/>
            <a:r>
              <a:rPr lang="da-DK" dirty="0" smtClean="0"/>
              <a:t>Kaminsky et.al. </a:t>
            </a:r>
            <a:r>
              <a:rPr lang="da-DK" dirty="0" err="1" smtClean="0"/>
              <a:t>analysis</a:t>
            </a:r>
            <a:r>
              <a:rPr lang="da-DK" dirty="0" smtClean="0"/>
              <a:t> </a:t>
            </a:r>
            <a:r>
              <a:rPr lang="da-DK" dirty="0" err="1" smtClean="0"/>
              <a:t>results</a:t>
            </a:r>
            <a:endParaRPr lang="en-GB" dirty="0"/>
          </a:p>
        </p:txBody>
      </p:sp>
    </p:spTree>
    <p:extLst>
      <p:ext uri="{BB962C8B-B14F-4D97-AF65-F5344CB8AC3E}">
        <p14:creationId xmlns:p14="http://schemas.microsoft.com/office/powerpoint/2010/main" val="100489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15</a:t>
            </a:fld>
            <a:endParaRPr lang="da-DK" dirty="0"/>
          </a:p>
        </p:txBody>
      </p:sp>
      <p:sp>
        <p:nvSpPr>
          <p:cNvPr id="4" name="Text Placeholder 3"/>
          <p:cNvSpPr>
            <a:spLocks noGrp="1"/>
          </p:cNvSpPr>
          <p:nvPr>
            <p:ph type="body" sz="quarter" idx="12"/>
          </p:nvPr>
        </p:nvSpPr>
        <p:spPr/>
        <p:txBody>
          <a:bodyPr/>
          <a:lstStyle/>
          <a:p>
            <a:endParaRPr lang="da-DK" dirty="0" smtClean="0"/>
          </a:p>
          <a:p>
            <a:r>
              <a:rPr lang="da-DK" dirty="0" smtClean="0"/>
              <a:t>Only proves the solidity of the code vs. common fuzzing techniques</a:t>
            </a:r>
            <a:r>
              <a:rPr lang="da-DK" dirty="0"/>
              <a:t> </a:t>
            </a:r>
            <a:r>
              <a:rPr lang="da-DK" dirty="0" smtClean="0"/>
              <a:t>and the efficiency of the fuzzing tests implemented in SDL.</a:t>
            </a:r>
          </a:p>
          <a:p>
            <a:endParaRPr lang="da-DK" dirty="0"/>
          </a:p>
          <a:p>
            <a:r>
              <a:rPr lang="da-DK" dirty="0" smtClean="0"/>
              <a:t>No insight into e.g. the code quality, types/complexity of vulnerabilities discovered.</a:t>
            </a:r>
          </a:p>
        </p:txBody>
      </p:sp>
      <p:sp>
        <p:nvSpPr>
          <p:cNvPr id="5" name="Text Placeholder 4"/>
          <p:cNvSpPr>
            <a:spLocks noGrp="1"/>
          </p:cNvSpPr>
          <p:nvPr>
            <p:ph type="body" sz="quarter" idx="14"/>
          </p:nvPr>
        </p:nvSpPr>
        <p:spPr/>
        <p:txBody>
          <a:bodyPr/>
          <a:lstStyle/>
          <a:p>
            <a:pPr algn="ctr"/>
            <a:r>
              <a:rPr lang="da-DK" dirty="0" smtClean="0"/>
              <a:t>Microsoft SDL – Fuzzing Comparison</a:t>
            </a:r>
            <a:endParaRPr lang="en-GB" dirty="0"/>
          </a:p>
        </p:txBody>
      </p:sp>
    </p:spTree>
    <p:extLst>
      <p:ext uri="{BB962C8B-B14F-4D97-AF65-F5344CB8AC3E}">
        <p14:creationId xmlns:p14="http://schemas.microsoft.com/office/powerpoint/2010/main" val="2864516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16</a:t>
            </a:fld>
            <a:endParaRPr lang="da-DK" dirty="0"/>
          </a:p>
        </p:txBody>
      </p:sp>
      <p:sp>
        <p:nvSpPr>
          <p:cNvPr id="5" name="Text Placeholder 4"/>
          <p:cNvSpPr>
            <a:spLocks noGrp="1"/>
          </p:cNvSpPr>
          <p:nvPr>
            <p:ph type="body" sz="quarter" idx="14"/>
          </p:nvPr>
        </p:nvSpPr>
        <p:spPr/>
        <p:txBody>
          <a:bodyPr/>
          <a:lstStyle/>
          <a:p>
            <a:pPr algn="ctr"/>
            <a:r>
              <a:rPr lang="da-DK" dirty="0" smtClean="0"/>
              <a:t>Microsoft SDL – Vulnerability Count Comparison</a:t>
            </a:r>
            <a:endParaRPr lang="en-GB" dirty="0"/>
          </a:p>
        </p:txBody>
      </p:sp>
      <p:pic>
        <p:nvPicPr>
          <p:cNvPr id="1026" name="Picture 2" descr="\\secunia.local\folders\che\Desktop\benefits_reduce_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268760"/>
            <a:ext cx="7848872"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773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17</a:t>
            </a:fld>
            <a:endParaRPr lang="da-DK" dirty="0"/>
          </a:p>
        </p:txBody>
      </p:sp>
      <p:sp>
        <p:nvSpPr>
          <p:cNvPr id="5" name="Text Placeholder 4"/>
          <p:cNvSpPr>
            <a:spLocks noGrp="1"/>
          </p:cNvSpPr>
          <p:nvPr>
            <p:ph type="body" sz="quarter" idx="14"/>
          </p:nvPr>
        </p:nvSpPr>
        <p:spPr/>
        <p:txBody>
          <a:bodyPr/>
          <a:lstStyle/>
          <a:p>
            <a:pPr algn="ctr"/>
            <a:r>
              <a:rPr lang="da-DK" dirty="0" smtClean="0"/>
              <a:t>Microsoft SDL – Vulnerability Count Comparison</a:t>
            </a:r>
            <a:endParaRPr lang="en-GB" dirty="0"/>
          </a:p>
        </p:txBody>
      </p:sp>
      <p:pic>
        <p:nvPicPr>
          <p:cNvPr id="1028" name="Picture 4" descr="\\secunia.local\folders\che\Desktop\benefits_reduce_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268760"/>
            <a:ext cx="7832664"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053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18</a:t>
            </a:fld>
            <a:endParaRPr lang="da-DK" dirty="0"/>
          </a:p>
        </p:txBody>
      </p:sp>
      <p:sp>
        <p:nvSpPr>
          <p:cNvPr id="4" name="Text Placeholder 3"/>
          <p:cNvSpPr>
            <a:spLocks noGrp="1"/>
          </p:cNvSpPr>
          <p:nvPr>
            <p:ph type="body" sz="quarter" idx="12"/>
          </p:nvPr>
        </p:nvSpPr>
        <p:spPr/>
        <p:txBody>
          <a:bodyPr/>
          <a:lstStyle/>
          <a:p>
            <a:pPr marL="0" indent="0">
              <a:buNone/>
            </a:pPr>
            <a:endParaRPr lang="da-DK" dirty="0" smtClean="0"/>
          </a:p>
          <a:p>
            <a:pPr marL="0" indent="0">
              <a:buNone/>
            </a:pPr>
            <a:endParaRPr lang="da-DK" dirty="0"/>
          </a:p>
          <a:p>
            <a:pPr marL="0" indent="0" algn="ctr">
              <a:buNone/>
            </a:pPr>
            <a:r>
              <a:rPr lang="da-DK" dirty="0" smtClean="0"/>
              <a:t>While counting vulnerabilities is one of the most popular ways to ”document” the security state of a product, it is a terribly uninteresting approach in an isolated manner as various factors affect the number of vulnerabilities reported – most importantly researcher focus.</a:t>
            </a:r>
          </a:p>
        </p:txBody>
      </p:sp>
      <p:sp>
        <p:nvSpPr>
          <p:cNvPr id="5" name="Text Placeholder 4"/>
          <p:cNvSpPr>
            <a:spLocks noGrp="1"/>
          </p:cNvSpPr>
          <p:nvPr>
            <p:ph type="body" sz="quarter" idx="14"/>
          </p:nvPr>
        </p:nvSpPr>
        <p:spPr/>
        <p:txBody>
          <a:bodyPr/>
          <a:lstStyle/>
          <a:p>
            <a:pPr algn="ctr"/>
            <a:r>
              <a:rPr lang="da-DK" dirty="0"/>
              <a:t>Microsoft SDL – Vulnerability Count Comparison</a:t>
            </a:r>
            <a:endParaRPr lang="en-GB" dirty="0"/>
          </a:p>
        </p:txBody>
      </p:sp>
    </p:spTree>
    <p:extLst>
      <p:ext uri="{BB962C8B-B14F-4D97-AF65-F5344CB8AC3E}">
        <p14:creationId xmlns:p14="http://schemas.microsoft.com/office/powerpoint/2010/main" val="387755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19</a:t>
            </a:fld>
            <a:endParaRPr lang="da-DK" dirty="0"/>
          </a:p>
        </p:txBody>
      </p:sp>
      <p:sp>
        <p:nvSpPr>
          <p:cNvPr id="5" name="Text Placeholder 4"/>
          <p:cNvSpPr>
            <a:spLocks noGrp="1"/>
          </p:cNvSpPr>
          <p:nvPr>
            <p:ph type="body" sz="quarter" idx="14"/>
          </p:nvPr>
        </p:nvSpPr>
        <p:spPr/>
        <p:txBody>
          <a:bodyPr/>
          <a:lstStyle/>
          <a:p>
            <a:pPr algn="ctr"/>
            <a:r>
              <a:rPr lang="da-DK" dirty="0"/>
              <a:t>Adobe Shockwave Player Vulnerability Trend</a:t>
            </a:r>
          </a:p>
          <a:p>
            <a:pPr algn="ctr"/>
            <a:r>
              <a:rPr lang="da-DK" sz="2000" dirty="0"/>
              <a:t>(number of vulnerabilities)</a:t>
            </a:r>
            <a:endParaRPr lang="en-GB" sz="2000" dirty="0"/>
          </a:p>
          <a:p>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3970110109"/>
              </p:ext>
            </p:extLst>
          </p:nvPr>
        </p:nvGraphicFramePr>
        <p:xfrm>
          <a:off x="251520" y="4457283"/>
          <a:ext cx="8640964" cy="1899285"/>
        </p:xfrm>
        <a:graphic>
          <a:graphicData uri="http://schemas.openxmlformats.org/drawingml/2006/table">
            <a:tbl>
              <a:tblPr>
                <a:tableStyleId>{5C22544A-7EE6-4342-B048-85BDC9FD1C3A}</a:tableStyleId>
              </a:tblPr>
              <a:tblGrid>
                <a:gridCol w="2122288"/>
                <a:gridCol w="686622"/>
                <a:gridCol w="647474"/>
                <a:gridCol w="576064"/>
                <a:gridCol w="648072"/>
                <a:gridCol w="648072"/>
                <a:gridCol w="720080"/>
                <a:gridCol w="648072"/>
                <a:gridCol w="648072"/>
                <a:gridCol w="648072"/>
                <a:gridCol w="648076"/>
              </a:tblGrid>
              <a:tr h="190500">
                <a:tc>
                  <a:txBody>
                    <a:bodyPr/>
                    <a:lstStyle/>
                    <a:p>
                      <a:pPr algn="l" fontAlgn="b"/>
                      <a:endParaRPr lang="en-GB" sz="1100" b="0" i="0" u="none" strike="noStrike" dirty="0">
                        <a:solidFill>
                          <a:srgbClr val="000000"/>
                        </a:solidFill>
                        <a:effectLst/>
                        <a:latin typeface="Calibri"/>
                      </a:endParaRPr>
                    </a:p>
                  </a:txBody>
                  <a:tcPr marL="9525" marR="9525" marT="9525" marB="0" anchor="b"/>
                </a:tc>
                <a:tc>
                  <a:txBody>
                    <a:bodyPr/>
                    <a:lstStyle/>
                    <a:p>
                      <a:pPr algn="r" fontAlgn="b"/>
                      <a:r>
                        <a:rPr lang="en-GB" sz="1100" u="none" strike="noStrike" dirty="0">
                          <a:effectLst/>
                        </a:rPr>
                        <a:t>2003</a:t>
                      </a:r>
                      <a:endParaRPr lang="en-GB" sz="1100" b="0" i="0" u="none" strike="noStrike" dirty="0">
                        <a:solidFill>
                          <a:srgbClr val="000000"/>
                        </a:solidFill>
                        <a:effectLst/>
                        <a:latin typeface="Calibri"/>
                      </a:endParaRPr>
                    </a:p>
                  </a:txBody>
                  <a:tcPr marL="9525" marR="9525" marT="9525" marB="0" anchor="b"/>
                </a:tc>
                <a:tc>
                  <a:txBody>
                    <a:bodyPr/>
                    <a:lstStyle/>
                    <a:p>
                      <a:pPr algn="r" fontAlgn="b"/>
                      <a:r>
                        <a:rPr lang="en-GB" sz="1100" u="none" strike="noStrike" dirty="0">
                          <a:effectLst/>
                        </a:rPr>
                        <a:t>2004</a:t>
                      </a:r>
                      <a:endParaRPr lang="en-GB" sz="1100" b="0" i="0" u="none" strike="noStrike" dirty="0">
                        <a:solidFill>
                          <a:srgbClr val="000000"/>
                        </a:solidFill>
                        <a:effectLst/>
                        <a:latin typeface="Calibri"/>
                      </a:endParaRPr>
                    </a:p>
                  </a:txBody>
                  <a:tcPr marL="9525" marR="9525" marT="9525" marB="0" anchor="b"/>
                </a:tc>
                <a:tc>
                  <a:txBody>
                    <a:bodyPr/>
                    <a:lstStyle/>
                    <a:p>
                      <a:pPr algn="r" fontAlgn="b"/>
                      <a:r>
                        <a:rPr lang="en-GB" sz="1100" u="none" strike="noStrike" dirty="0">
                          <a:effectLst/>
                        </a:rPr>
                        <a:t>2005</a:t>
                      </a:r>
                      <a:endParaRPr lang="en-GB" sz="1100" b="0" i="0" u="none" strike="noStrike" dirty="0">
                        <a:solidFill>
                          <a:srgbClr val="000000"/>
                        </a:solidFill>
                        <a:effectLst/>
                        <a:latin typeface="Calibri"/>
                      </a:endParaRPr>
                    </a:p>
                  </a:txBody>
                  <a:tcPr marL="9525" marR="9525" marT="9525" marB="0" anchor="b"/>
                </a:tc>
                <a:tc>
                  <a:txBody>
                    <a:bodyPr/>
                    <a:lstStyle/>
                    <a:p>
                      <a:pPr algn="r" fontAlgn="b"/>
                      <a:r>
                        <a:rPr lang="en-GB" sz="1100" u="none" strike="noStrike" dirty="0">
                          <a:effectLst/>
                        </a:rPr>
                        <a:t>2006</a:t>
                      </a:r>
                      <a:endParaRPr lang="en-GB" sz="1100" b="0" i="0" u="none" strike="noStrike" dirty="0">
                        <a:solidFill>
                          <a:srgbClr val="000000"/>
                        </a:solidFill>
                        <a:effectLst/>
                        <a:latin typeface="Calibri"/>
                      </a:endParaRPr>
                    </a:p>
                  </a:txBody>
                  <a:tcPr marL="9525" marR="9525" marT="9525" marB="0" anchor="b"/>
                </a:tc>
                <a:tc>
                  <a:txBody>
                    <a:bodyPr/>
                    <a:lstStyle/>
                    <a:p>
                      <a:pPr algn="r" fontAlgn="b"/>
                      <a:r>
                        <a:rPr lang="en-GB" sz="1100" u="none" strike="noStrike" dirty="0">
                          <a:effectLst/>
                        </a:rPr>
                        <a:t>2007</a:t>
                      </a:r>
                      <a:endParaRPr lang="en-GB" sz="1100" b="0" i="0" u="none" strike="noStrike" dirty="0">
                        <a:solidFill>
                          <a:srgbClr val="000000"/>
                        </a:solidFill>
                        <a:effectLst/>
                        <a:latin typeface="Calibri"/>
                      </a:endParaRPr>
                    </a:p>
                  </a:txBody>
                  <a:tcPr marL="9525" marR="9525" marT="9525" marB="0" anchor="b"/>
                </a:tc>
                <a:tc>
                  <a:txBody>
                    <a:bodyPr/>
                    <a:lstStyle/>
                    <a:p>
                      <a:pPr algn="r" fontAlgn="b"/>
                      <a:r>
                        <a:rPr lang="en-GB" sz="1100" u="none" strike="noStrike" dirty="0">
                          <a:effectLst/>
                        </a:rPr>
                        <a:t>2008</a:t>
                      </a:r>
                      <a:endParaRPr lang="en-GB" sz="1100" b="0" i="0" u="none" strike="noStrike" dirty="0">
                        <a:solidFill>
                          <a:srgbClr val="000000"/>
                        </a:solidFill>
                        <a:effectLst/>
                        <a:latin typeface="Calibri"/>
                      </a:endParaRPr>
                    </a:p>
                  </a:txBody>
                  <a:tcPr marL="9525" marR="9525" marT="9525" marB="0" anchor="b"/>
                </a:tc>
                <a:tc>
                  <a:txBody>
                    <a:bodyPr/>
                    <a:lstStyle/>
                    <a:p>
                      <a:pPr algn="r" fontAlgn="b"/>
                      <a:r>
                        <a:rPr lang="en-GB" sz="1100" u="none" strike="noStrike" dirty="0">
                          <a:effectLst/>
                        </a:rPr>
                        <a:t>2009</a:t>
                      </a:r>
                      <a:endParaRPr lang="en-GB" sz="1100" b="0" i="0" u="none" strike="noStrike" dirty="0">
                        <a:solidFill>
                          <a:srgbClr val="000000"/>
                        </a:solidFill>
                        <a:effectLst/>
                        <a:latin typeface="Calibri"/>
                      </a:endParaRPr>
                    </a:p>
                  </a:txBody>
                  <a:tcPr marL="9525" marR="9525" marT="9525" marB="0" anchor="b"/>
                </a:tc>
                <a:tc>
                  <a:txBody>
                    <a:bodyPr/>
                    <a:lstStyle/>
                    <a:p>
                      <a:pPr algn="r" fontAlgn="b"/>
                      <a:r>
                        <a:rPr lang="en-GB" sz="1100" u="none" strike="noStrike" dirty="0">
                          <a:effectLst/>
                        </a:rPr>
                        <a:t>2010</a:t>
                      </a:r>
                      <a:endParaRPr lang="en-GB" sz="1100" b="0" i="0" u="none" strike="noStrike" dirty="0">
                        <a:solidFill>
                          <a:srgbClr val="000000"/>
                        </a:solidFill>
                        <a:effectLst/>
                        <a:latin typeface="Calibri"/>
                      </a:endParaRPr>
                    </a:p>
                  </a:txBody>
                  <a:tcPr marL="9525" marR="9525" marT="9525" marB="0" anchor="b"/>
                </a:tc>
                <a:tc>
                  <a:txBody>
                    <a:bodyPr/>
                    <a:lstStyle/>
                    <a:p>
                      <a:pPr algn="r" fontAlgn="b"/>
                      <a:r>
                        <a:rPr lang="en-GB" sz="1100" u="none" strike="noStrike" dirty="0" smtClean="0">
                          <a:effectLst/>
                        </a:rPr>
                        <a:t>2011</a:t>
                      </a:r>
                      <a:endParaRPr lang="en-GB" sz="1100" b="0" i="0" u="none" strike="noStrike" dirty="0">
                        <a:solidFill>
                          <a:srgbClr val="000000"/>
                        </a:solidFill>
                        <a:effectLst/>
                        <a:latin typeface="Calibri"/>
                      </a:endParaRPr>
                    </a:p>
                  </a:txBody>
                  <a:tcPr marL="9525" marR="9525" marT="9525" marB="0" anchor="b"/>
                </a:tc>
                <a:tc>
                  <a:txBody>
                    <a:bodyPr/>
                    <a:lstStyle/>
                    <a:p>
                      <a:pPr algn="r" fontAlgn="b"/>
                      <a:r>
                        <a:rPr lang="en-GB" sz="1100" u="none" strike="noStrike" dirty="0" smtClean="0">
                          <a:effectLst/>
                        </a:rPr>
                        <a:t>2012</a:t>
                      </a:r>
                      <a:endParaRPr lang="en-GB" sz="1100" b="0" i="0" u="none" strike="noStrike" dirty="0">
                        <a:solidFill>
                          <a:srgbClr val="000000"/>
                        </a:solidFill>
                        <a:effectLst/>
                        <a:latin typeface="Calibri"/>
                      </a:endParaRPr>
                    </a:p>
                  </a:txBody>
                  <a:tcPr marL="9525" marR="9525" marT="9525" marB="0" anchor="b"/>
                </a:tc>
              </a:tr>
              <a:tr h="190500">
                <a:tc>
                  <a:txBody>
                    <a:bodyPr/>
                    <a:lstStyle/>
                    <a:p>
                      <a:pPr algn="l" fontAlgn="b"/>
                      <a:r>
                        <a:rPr lang="en-GB" sz="1100" u="none" strike="noStrike" dirty="0" smtClean="0">
                          <a:effectLst/>
                        </a:rPr>
                        <a:t>Shockwave Player</a:t>
                      </a:r>
                      <a:endParaRPr lang="en-GB" sz="1100" b="0" i="0" u="none" strike="noStrike" dirty="0">
                        <a:solidFill>
                          <a:srgbClr val="000000"/>
                        </a:solidFill>
                        <a:effectLst/>
                        <a:latin typeface="Calibri"/>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GB" sz="1100" u="none" strike="noStrike" dirty="0">
                          <a:effectLst/>
                        </a:rPr>
                        <a:t>0</a:t>
                      </a:r>
                      <a:endParaRPr lang="en-GB" sz="1100" b="0" i="0" u="none" strike="noStrike" dirty="0">
                        <a:solidFill>
                          <a:srgbClr val="000000"/>
                        </a:solidFill>
                        <a:effectLst/>
                        <a:latin typeface="Calibri"/>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GB" sz="1100" u="none" strike="noStrike" dirty="0" smtClean="0">
                          <a:effectLst/>
                        </a:rPr>
                        <a:t>0</a:t>
                      </a:r>
                      <a:endParaRPr lang="en-GB" sz="1100" b="0" i="0" u="none" strike="noStrike" dirty="0">
                        <a:solidFill>
                          <a:srgbClr val="000000"/>
                        </a:solidFill>
                        <a:effectLst/>
                        <a:latin typeface="Calibri"/>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GB" sz="1100" u="none" strike="noStrike" dirty="0" smtClean="0">
                          <a:effectLst/>
                        </a:rPr>
                        <a:t>0</a:t>
                      </a:r>
                      <a:endParaRPr lang="en-GB" sz="1100" b="0" i="0" u="none" strike="noStrike" dirty="0">
                        <a:solidFill>
                          <a:srgbClr val="000000"/>
                        </a:solidFill>
                        <a:effectLst/>
                        <a:latin typeface="Calibri"/>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GB" sz="1100" u="none" strike="noStrike" dirty="0" smtClean="0">
                          <a:effectLst/>
                        </a:rPr>
                        <a:t>1</a:t>
                      </a:r>
                      <a:endParaRPr lang="en-GB" sz="1100" b="0" i="0" u="none" strike="noStrike" dirty="0">
                        <a:solidFill>
                          <a:srgbClr val="000000"/>
                        </a:solidFill>
                        <a:effectLst/>
                        <a:latin typeface="Calibri"/>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GB" sz="1100" u="none" strike="noStrike" dirty="0" smtClean="0">
                          <a:effectLst/>
                        </a:rPr>
                        <a:t>0</a:t>
                      </a:r>
                      <a:endParaRPr lang="en-GB" sz="1100" b="0" i="0" u="none" strike="noStrike" dirty="0">
                        <a:solidFill>
                          <a:srgbClr val="000000"/>
                        </a:solidFill>
                        <a:effectLst/>
                        <a:latin typeface="Calibri"/>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GB" sz="1100" u="none" strike="noStrike" dirty="0">
                          <a:effectLst/>
                        </a:rPr>
                        <a:t>0</a:t>
                      </a:r>
                      <a:endParaRPr lang="en-GB" sz="1100" b="0" i="0" u="none" strike="noStrike" dirty="0">
                        <a:solidFill>
                          <a:srgbClr val="000000"/>
                        </a:solidFill>
                        <a:effectLst/>
                        <a:latin typeface="Calibri"/>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GB" sz="1100" u="none" strike="noStrike" dirty="0" smtClean="0">
                          <a:effectLst/>
                        </a:rPr>
                        <a:t>6</a:t>
                      </a:r>
                      <a:endParaRPr lang="en-GB" sz="1100" b="0" i="0" u="none" strike="noStrike" dirty="0">
                        <a:solidFill>
                          <a:srgbClr val="000000"/>
                        </a:solidFill>
                        <a:effectLst/>
                        <a:latin typeface="Calibri"/>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GB" sz="1100" u="none" strike="noStrike" dirty="0" smtClean="0">
                          <a:effectLst/>
                        </a:rPr>
                        <a:t>58</a:t>
                      </a:r>
                      <a:endParaRPr lang="en-GB" sz="1100" b="0" i="0" u="none" strike="noStrike" dirty="0">
                        <a:solidFill>
                          <a:srgbClr val="000000"/>
                        </a:solidFill>
                        <a:effectLst/>
                        <a:latin typeface="Calibri"/>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GB" sz="1100" u="none" strike="noStrike" dirty="0" smtClean="0">
                          <a:effectLst/>
                        </a:rPr>
                        <a:t>78</a:t>
                      </a:r>
                      <a:endParaRPr lang="en-GB" sz="1100" b="0" i="0" u="none" strike="noStrike" dirty="0">
                        <a:solidFill>
                          <a:srgbClr val="000000"/>
                        </a:solidFill>
                        <a:effectLst/>
                        <a:latin typeface="Calibri"/>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GB" sz="1100" b="0" i="0" u="none" strike="noStrike" dirty="0" smtClean="0">
                          <a:solidFill>
                            <a:schemeClr val="dk1"/>
                          </a:solidFill>
                          <a:effectLst/>
                          <a:latin typeface="+mn-lt"/>
                        </a:rPr>
                        <a:t>14</a:t>
                      </a:r>
                      <a:endParaRPr lang="en-GB" sz="1100" b="0" i="0" u="none" strike="noStrike" dirty="0">
                        <a:solidFill>
                          <a:srgbClr val="000000"/>
                        </a:solidFill>
                        <a:effectLst/>
                        <a:latin typeface="Calibri"/>
                      </a:endParaRPr>
                    </a:p>
                  </a:txBody>
                  <a:tcPr marL="9525" marR="9525" marT="9525" marB="0" anchor="b">
                    <a:lnB w="12700" cap="flat" cmpd="sng" algn="ctr">
                      <a:solidFill>
                        <a:schemeClr val="tx1"/>
                      </a:solidFill>
                      <a:prstDash val="solid"/>
                      <a:round/>
                      <a:headEnd type="none" w="med" len="med"/>
                      <a:tailEnd type="none" w="med" len="med"/>
                    </a:lnB>
                  </a:tcPr>
                </a:tc>
              </a:tr>
              <a:tr h="952500">
                <a:tc gridSpan="10">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GB" sz="1100" kern="1200" dirty="0" smtClean="0">
                        <a:solidFill>
                          <a:schemeClr val="dk1"/>
                        </a:solidFill>
                        <a:effectLst/>
                        <a:latin typeface="+mn-lt"/>
                        <a:ea typeface="+mn-ea"/>
                        <a:cs typeface="+mn-cs"/>
                      </a:endParaRPr>
                    </a:p>
                    <a:p>
                      <a:pPr marL="0" marR="0" indent="0" algn="l" defTabSz="914400" rtl="0" eaLnBrk="1" fontAlgn="b" latinLnBrk="0" hangingPunct="1">
                        <a:lnSpc>
                          <a:spcPct val="100000"/>
                        </a:lnSpc>
                        <a:spcBef>
                          <a:spcPts val="0"/>
                        </a:spcBef>
                        <a:spcAft>
                          <a:spcPts val="0"/>
                        </a:spcAft>
                        <a:buClrTx/>
                        <a:buSzTx/>
                        <a:buFontTx/>
                        <a:buNone/>
                        <a:tabLst/>
                        <a:defRPr/>
                      </a:pPr>
                      <a:r>
                        <a:rPr lang="en-GB" sz="1100" kern="1200" dirty="0" smtClean="0">
                          <a:solidFill>
                            <a:schemeClr val="dk1"/>
                          </a:solidFill>
                          <a:effectLst/>
                          <a:latin typeface="+mn-lt"/>
                          <a:ea typeface="+mn-ea"/>
                          <a:cs typeface="+mn-cs"/>
                        </a:rPr>
                        <a:t>Various researchers including Secunia Research starts focusing on Shockwave Player late 2009 / early 2010. General focus quickly picks up momentum in 2010 after initial disclosures. Over the next 1½ year b</a:t>
                      </a:r>
                      <a:r>
                        <a:rPr lang="en-GB" sz="1100" kern="1200" baseline="0" dirty="0" smtClean="0">
                          <a:solidFill>
                            <a:schemeClr val="dk1"/>
                          </a:solidFill>
                          <a:effectLst/>
                          <a:latin typeface="+mn-lt"/>
                          <a:ea typeface="+mn-ea"/>
                          <a:cs typeface="+mn-cs"/>
                        </a:rPr>
                        <a:t>oth Secunia Research and ZDI/DVLabs publish a large number of vulnerabilities.</a:t>
                      </a:r>
                    </a:p>
                    <a:p>
                      <a:pPr marL="0" marR="0" indent="0" algn="l" defTabSz="914400" rtl="0" eaLnBrk="1" fontAlgn="b" latinLnBrk="0" hangingPunct="1">
                        <a:lnSpc>
                          <a:spcPct val="100000"/>
                        </a:lnSpc>
                        <a:spcBef>
                          <a:spcPts val="0"/>
                        </a:spcBef>
                        <a:spcAft>
                          <a:spcPts val="0"/>
                        </a:spcAft>
                        <a:buClrTx/>
                        <a:buSzTx/>
                        <a:buFontTx/>
                        <a:buNone/>
                        <a:tabLst/>
                        <a:defRPr/>
                      </a:pPr>
                      <a:endParaRPr lang="en-GB" sz="1100" kern="1200" dirty="0" smtClean="0">
                        <a:solidFill>
                          <a:schemeClr val="dk1"/>
                        </a:solidFill>
                        <a:effectLst/>
                        <a:latin typeface="+mn-lt"/>
                        <a:ea typeface="+mn-ea"/>
                        <a:cs typeface="+mn-cs"/>
                      </a:endParaRPr>
                    </a:p>
                    <a:p>
                      <a:pPr marL="0" marR="0" indent="0" algn="l" defTabSz="914400" rtl="0" eaLnBrk="1" fontAlgn="b" latinLnBrk="0" hangingPunct="1">
                        <a:lnSpc>
                          <a:spcPct val="100000"/>
                        </a:lnSpc>
                        <a:spcBef>
                          <a:spcPts val="0"/>
                        </a:spcBef>
                        <a:spcAft>
                          <a:spcPts val="0"/>
                        </a:spcAft>
                        <a:buClrTx/>
                        <a:buSzTx/>
                        <a:buFontTx/>
                        <a:buNone/>
                        <a:tabLst/>
                        <a:defRPr/>
                      </a:pPr>
                      <a:r>
                        <a:rPr lang="en-GB" sz="1100" kern="1200" dirty="0" smtClean="0">
                          <a:solidFill>
                            <a:schemeClr val="dk1"/>
                          </a:solidFill>
                          <a:effectLst/>
                          <a:latin typeface="+mn-lt"/>
                          <a:ea typeface="+mn-ea"/>
                          <a:cs typeface="+mn-cs"/>
                        </a:rPr>
                        <a:t>After a major update (47 vulnerabilities) in June 2011, Secunia Research slowly shifts focus</a:t>
                      </a:r>
                      <a:r>
                        <a:rPr lang="en-GB" sz="1100" kern="1200" baseline="0" dirty="0" smtClean="0">
                          <a:solidFill>
                            <a:schemeClr val="dk1"/>
                          </a:solidFill>
                          <a:effectLst/>
                          <a:latin typeface="+mn-lt"/>
                          <a:ea typeface="+mn-ea"/>
                          <a:cs typeface="+mn-cs"/>
                        </a:rPr>
                        <a:t> away from Shockwave Player and </a:t>
                      </a:r>
                      <a:r>
                        <a:rPr lang="en-GB" sz="1100" kern="1200" dirty="0" smtClean="0">
                          <a:solidFill>
                            <a:schemeClr val="dk1"/>
                          </a:solidFill>
                          <a:effectLst/>
                          <a:latin typeface="+mn-lt"/>
                          <a:ea typeface="+mn-ea"/>
                          <a:cs typeface="+mn-cs"/>
                        </a:rPr>
                        <a:t>ZDI also stops accepting vulnerability submissions.</a:t>
                      </a:r>
                      <a:r>
                        <a:rPr lang="en-GB" sz="1100" kern="1200" baseline="0" dirty="0" smtClean="0">
                          <a:solidFill>
                            <a:schemeClr val="dk1"/>
                          </a:solidFill>
                          <a:effectLst/>
                          <a:latin typeface="+mn-lt"/>
                          <a:ea typeface="+mn-ea"/>
                          <a:cs typeface="+mn-cs"/>
                        </a:rPr>
                        <a:t> </a:t>
                      </a:r>
                      <a:r>
                        <a:rPr lang="en-GB" sz="1100" kern="1200" dirty="0" smtClean="0">
                          <a:solidFill>
                            <a:schemeClr val="dk1"/>
                          </a:solidFill>
                          <a:effectLst/>
                          <a:latin typeface="+mn-lt"/>
                          <a:ea typeface="+mn-ea"/>
                          <a:cs typeface="+mn-cs"/>
                        </a:rPr>
                        <a:t>During the 2nd half of 2011 "only" 11 vulnerabilities are reported.</a:t>
                      </a:r>
                    </a:p>
                    <a:p>
                      <a:pPr marL="0" marR="0" indent="0" algn="l" defTabSz="914400" rtl="0" eaLnBrk="1" fontAlgn="b" latinLnBrk="0" hangingPunct="1">
                        <a:lnSpc>
                          <a:spcPct val="100000"/>
                        </a:lnSpc>
                        <a:spcBef>
                          <a:spcPts val="0"/>
                        </a:spcBef>
                        <a:spcAft>
                          <a:spcPts val="0"/>
                        </a:spcAft>
                        <a:buClrTx/>
                        <a:buSzTx/>
                        <a:buFontTx/>
                        <a:buNone/>
                        <a:tabLst/>
                        <a:defRPr/>
                      </a:pPr>
                      <a:endParaRPr lang="en-GB" sz="1100" b="0" i="0" u="none" strike="noStrike" kern="1200" dirty="0" smtClean="0">
                        <a:solidFill>
                          <a:schemeClr val="dk1"/>
                        </a:solidFill>
                        <a:effectLst/>
                        <a:latin typeface="+mn-lt"/>
                        <a:ea typeface="+mn-ea"/>
                        <a:cs typeface="+mn-cs"/>
                      </a:endParaRPr>
                    </a:p>
                    <a:p>
                      <a:pPr marL="0" marR="0" indent="0" algn="l" defTabSz="914400" rtl="0" eaLnBrk="1" fontAlgn="b" latinLnBrk="0" hangingPunct="1">
                        <a:lnSpc>
                          <a:spcPct val="100000"/>
                        </a:lnSpc>
                        <a:spcBef>
                          <a:spcPts val="0"/>
                        </a:spcBef>
                        <a:spcAft>
                          <a:spcPts val="0"/>
                        </a:spcAft>
                        <a:buClrTx/>
                        <a:buSzTx/>
                        <a:buFontTx/>
                        <a:buNone/>
                        <a:tabLst/>
                        <a:defRPr/>
                      </a:pPr>
                      <a:r>
                        <a:rPr lang="en-GB" sz="1100" b="0" i="0" u="none" strike="noStrike" kern="1200" dirty="0" smtClean="0">
                          <a:solidFill>
                            <a:schemeClr val="dk1"/>
                          </a:solidFill>
                          <a:effectLst/>
                          <a:latin typeface="+mn-lt"/>
                          <a:ea typeface="+mn-ea"/>
                          <a:cs typeface="+mn-cs"/>
                        </a:rPr>
                        <a:t>Value for 2012 is per</a:t>
                      </a:r>
                      <a:r>
                        <a:rPr lang="en-GB" sz="1100" b="0" i="0" u="none" strike="noStrike" kern="1200" baseline="0" dirty="0" smtClean="0">
                          <a:solidFill>
                            <a:schemeClr val="dk1"/>
                          </a:solidFill>
                          <a:effectLst/>
                          <a:latin typeface="+mn-lt"/>
                          <a:ea typeface="+mn-ea"/>
                          <a:cs typeface="+mn-cs"/>
                        </a:rPr>
                        <a:t> 12</a:t>
                      </a:r>
                      <a:r>
                        <a:rPr lang="en-GB" sz="1100" b="0" i="0" u="none" strike="noStrike" kern="1200" baseline="30000" dirty="0" smtClean="0">
                          <a:solidFill>
                            <a:schemeClr val="dk1"/>
                          </a:solidFill>
                          <a:effectLst/>
                          <a:latin typeface="+mn-lt"/>
                          <a:ea typeface="+mn-ea"/>
                          <a:cs typeface="+mn-cs"/>
                        </a:rPr>
                        <a:t>th</a:t>
                      </a:r>
                      <a:r>
                        <a:rPr lang="en-GB" sz="1100" b="0" i="0" u="none" strike="noStrike" kern="1200" baseline="0" dirty="0" smtClean="0">
                          <a:solidFill>
                            <a:schemeClr val="dk1"/>
                          </a:solidFill>
                          <a:effectLst/>
                          <a:latin typeface="+mn-lt"/>
                          <a:ea typeface="+mn-ea"/>
                          <a:cs typeface="+mn-cs"/>
                        </a:rPr>
                        <a:t> June 2012.</a:t>
                      </a:r>
                      <a:endParaRPr lang="en-GB" sz="1100" b="0" i="0" u="none" strike="noStrike" dirty="0">
                        <a:solidFill>
                          <a:srgbClr val="000000"/>
                        </a:solidFill>
                        <a:effectLst/>
                        <a:latin typeface="Calibri"/>
                      </a:endParaRPr>
                    </a:p>
                  </a:txBody>
                  <a:tcPr marL="9525" marR="9525" marT="9525" marB="0" anchor="b">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pPr algn="l" fontAlgn="b"/>
                      <a:endParaRPr lang="en-GB" sz="1100" b="0" i="0" u="none" strike="noStrike" dirty="0">
                        <a:solidFill>
                          <a:srgbClr val="000000"/>
                        </a:solidFill>
                        <a:effectLst/>
                        <a:latin typeface="Calibri"/>
                      </a:endParaRPr>
                    </a:p>
                  </a:txBody>
                  <a:tcPr marL="9525" marR="9525" marT="9525" marB="0" anchor="b"/>
                </a:tc>
                <a:tc hMerge="1">
                  <a:txBody>
                    <a:bodyPr/>
                    <a:lstStyle/>
                    <a:p>
                      <a:pPr algn="l" fontAlgn="b"/>
                      <a:endParaRPr lang="en-GB" sz="1100" b="0" i="0" u="none" strike="noStrike" dirty="0">
                        <a:solidFill>
                          <a:srgbClr val="000000"/>
                        </a:solidFill>
                        <a:effectLst/>
                        <a:latin typeface="Calibri"/>
                      </a:endParaRPr>
                    </a:p>
                  </a:txBody>
                  <a:tcPr marL="9525" marR="9525" marT="9525" marB="0" anchor="b"/>
                </a:tc>
                <a:tc hMerge="1">
                  <a:txBody>
                    <a:bodyPr/>
                    <a:lstStyle/>
                    <a:p>
                      <a:pPr algn="l" fontAlgn="b"/>
                      <a:endParaRPr lang="en-GB" sz="1100" b="0" i="0" u="none" strike="noStrike" dirty="0">
                        <a:solidFill>
                          <a:srgbClr val="000000"/>
                        </a:solidFill>
                        <a:effectLst/>
                        <a:latin typeface="Calibri"/>
                      </a:endParaRPr>
                    </a:p>
                  </a:txBody>
                  <a:tcPr marL="9525" marR="9525" marT="9525" marB="0" anchor="b"/>
                </a:tc>
                <a:tc hMerge="1">
                  <a:txBody>
                    <a:bodyPr/>
                    <a:lstStyle/>
                    <a:p>
                      <a:pPr algn="l" fontAlgn="b"/>
                      <a:endParaRPr lang="en-GB" sz="1100" b="0" i="0" u="none" strike="noStrike" dirty="0">
                        <a:solidFill>
                          <a:srgbClr val="000000"/>
                        </a:solidFill>
                        <a:effectLst/>
                        <a:latin typeface="Calibri"/>
                      </a:endParaRPr>
                    </a:p>
                  </a:txBody>
                  <a:tcPr marL="9525" marR="9525" marT="9525" marB="0" anchor="b"/>
                </a:tc>
                <a:tc hMerge="1">
                  <a:txBody>
                    <a:bodyPr/>
                    <a:lstStyle/>
                    <a:p>
                      <a:pPr algn="l" fontAlgn="b"/>
                      <a:endParaRPr lang="en-GB" sz="1100" b="0" i="0" u="none" strike="noStrike" dirty="0">
                        <a:solidFill>
                          <a:srgbClr val="000000"/>
                        </a:solidFill>
                        <a:effectLst/>
                        <a:latin typeface="Calibri"/>
                      </a:endParaRPr>
                    </a:p>
                  </a:txBody>
                  <a:tcPr marL="9525" marR="9525" marT="9525" marB="0" anchor="b"/>
                </a:tc>
                <a:tc hMerge="1">
                  <a:txBody>
                    <a:bodyPr/>
                    <a:lstStyle/>
                    <a:p>
                      <a:pPr algn="l" fontAlgn="b"/>
                      <a:endParaRPr lang="en-GB" sz="1100" b="0" i="0" u="none" strike="noStrike" dirty="0">
                        <a:solidFill>
                          <a:srgbClr val="000000"/>
                        </a:solidFill>
                        <a:effectLst/>
                        <a:latin typeface="Calibri"/>
                      </a:endParaRPr>
                    </a:p>
                  </a:txBody>
                  <a:tcPr marL="9525" marR="9525" marT="9525" marB="0" anchor="b"/>
                </a:tc>
                <a:tc hMerge="1">
                  <a:txBody>
                    <a:bodyPr/>
                    <a:lstStyle/>
                    <a:p>
                      <a:pPr algn="l" fontAlgn="b"/>
                      <a:endParaRPr lang="en-GB" sz="1100" b="0" i="0" u="none" strike="noStrike" dirty="0">
                        <a:solidFill>
                          <a:srgbClr val="000000"/>
                        </a:solidFill>
                        <a:effectLst/>
                        <a:latin typeface="Calibri"/>
                      </a:endParaRPr>
                    </a:p>
                  </a:txBody>
                  <a:tcPr marL="9525" marR="9525" marT="9525" marB="0" anchor="b"/>
                </a:tc>
                <a:tc hMerge="1">
                  <a:txBody>
                    <a:bodyPr/>
                    <a:lstStyle/>
                    <a:p>
                      <a:pPr algn="l" fontAlgn="b"/>
                      <a:endParaRPr lang="en-GB" sz="1100" b="0" i="0" u="none" strike="noStrike" dirty="0">
                        <a:solidFill>
                          <a:srgbClr val="000000"/>
                        </a:solidFill>
                        <a:effectLst/>
                        <a:latin typeface="Calibri"/>
                      </a:endParaRPr>
                    </a:p>
                  </a:txBody>
                  <a:tcPr marL="9525" marR="9525" marT="9525" marB="0" anchor="b"/>
                </a:tc>
                <a:tc hMerge="1">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GB" sz="1100" b="0" i="0" u="none" strike="noStrike" dirty="0">
                        <a:solidFill>
                          <a:srgbClr val="000000"/>
                        </a:solidFill>
                        <a:effectLst/>
                        <a:latin typeface="Calibri"/>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GB" sz="1100" b="0" i="0" u="none" strike="noStrike" dirty="0">
                        <a:solidFill>
                          <a:srgbClr val="000000"/>
                        </a:solidFill>
                        <a:effectLst/>
                        <a:latin typeface="Calibri"/>
                      </a:endParaRPr>
                    </a:p>
                  </a:txBody>
                  <a:tcPr marL="9525" marR="9525" marT="9525"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7" name="Chart 6"/>
          <p:cNvGraphicFramePr/>
          <p:nvPr>
            <p:extLst>
              <p:ext uri="{D42A27DB-BD31-4B8C-83A1-F6EECF244321}">
                <p14:modId xmlns:p14="http://schemas.microsoft.com/office/powerpoint/2010/main" val="3158962162"/>
              </p:ext>
            </p:extLst>
          </p:nvPr>
        </p:nvGraphicFramePr>
        <p:xfrm>
          <a:off x="251520" y="1196752"/>
          <a:ext cx="8568952" cy="316835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91981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20</a:t>
            </a:fld>
            <a:endParaRPr lang="da-DK" dirty="0"/>
          </a:p>
        </p:txBody>
      </p:sp>
      <p:sp>
        <p:nvSpPr>
          <p:cNvPr id="4" name="Text Placeholder 3"/>
          <p:cNvSpPr>
            <a:spLocks noGrp="1"/>
          </p:cNvSpPr>
          <p:nvPr>
            <p:ph type="body" sz="quarter" idx="12"/>
          </p:nvPr>
        </p:nvSpPr>
        <p:spPr/>
        <p:txBody>
          <a:bodyPr/>
          <a:lstStyle/>
          <a:p>
            <a:pPr marL="0" indent="0">
              <a:buNone/>
            </a:pPr>
            <a:endParaRPr lang="da-DK" dirty="0" smtClean="0"/>
          </a:p>
          <a:p>
            <a:pPr marL="0" indent="0">
              <a:buNone/>
            </a:pPr>
            <a:r>
              <a:rPr lang="da-DK" dirty="0" smtClean="0"/>
              <a:t>Other potential factors impacting comparison could be:</a:t>
            </a:r>
          </a:p>
          <a:p>
            <a:pPr marL="0" indent="0">
              <a:buNone/>
            </a:pPr>
            <a:endParaRPr lang="da-DK" dirty="0" smtClean="0"/>
          </a:p>
          <a:p>
            <a:r>
              <a:rPr lang="da-DK" dirty="0" smtClean="0"/>
              <a:t>Microsoft fixed more reported vulnerabilities in the latest version prior to its official stable release.</a:t>
            </a:r>
          </a:p>
          <a:p>
            <a:endParaRPr lang="da-DK" dirty="0"/>
          </a:p>
          <a:p>
            <a:r>
              <a:rPr lang="da-DK" dirty="0"/>
              <a:t>Microsoft fixed more vulnerabilities as ”variants” (i.e. silent fixes).</a:t>
            </a:r>
          </a:p>
          <a:p>
            <a:pPr marL="0" indent="0">
              <a:buNone/>
            </a:pPr>
            <a:endParaRPr lang="da-DK" dirty="0" smtClean="0"/>
          </a:p>
          <a:p>
            <a:pPr marL="0" indent="0">
              <a:buNone/>
            </a:pPr>
            <a:endParaRPr lang="en-GB" dirty="0"/>
          </a:p>
          <a:p>
            <a:pPr marL="0" indent="0" algn="ctr">
              <a:buNone/>
            </a:pPr>
            <a:endParaRPr lang="da-DK" dirty="0" smtClean="0"/>
          </a:p>
          <a:p>
            <a:pPr marL="0" indent="0" algn="ctr">
              <a:buNone/>
            </a:pPr>
            <a:r>
              <a:rPr lang="da-DK" dirty="0" smtClean="0"/>
              <a:t>Vulnerability counts can also be used to ”prove” the opposite claim!</a:t>
            </a:r>
            <a:endParaRPr lang="da-DK" dirty="0"/>
          </a:p>
        </p:txBody>
      </p:sp>
      <p:sp>
        <p:nvSpPr>
          <p:cNvPr id="5" name="Text Placeholder 4"/>
          <p:cNvSpPr>
            <a:spLocks noGrp="1"/>
          </p:cNvSpPr>
          <p:nvPr>
            <p:ph type="body" sz="quarter" idx="14"/>
          </p:nvPr>
        </p:nvSpPr>
        <p:spPr/>
        <p:txBody>
          <a:bodyPr/>
          <a:lstStyle/>
          <a:p>
            <a:pPr algn="ctr"/>
            <a:r>
              <a:rPr lang="da-DK" dirty="0"/>
              <a:t>Microsoft SDL – Vulnerability Count Comparison</a:t>
            </a:r>
            <a:endParaRPr lang="en-GB" dirty="0"/>
          </a:p>
        </p:txBody>
      </p:sp>
    </p:spTree>
    <p:extLst>
      <p:ext uri="{BB962C8B-B14F-4D97-AF65-F5344CB8AC3E}">
        <p14:creationId xmlns:p14="http://schemas.microsoft.com/office/powerpoint/2010/main" val="2745499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21</a:t>
            </a:fld>
            <a:endParaRPr lang="da-DK" dirty="0"/>
          </a:p>
        </p:txBody>
      </p:sp>
      <p:sp>
        <p:nvSpPr>
          <p:cNvPr id="5" name="Text Placeholder 4"/>
          <p:cNvSpPr>
            <a:spLocks noGrp="1"/>
          </p:cNvSpPr>
          <p:nvPr>
            <p:ph type="body" sz="quarter" idx="14"/>
          </p:nvPr>
        </p:nvSpPr>
        <p:spPr/>
        <p:txBody>
          <a:bodyPr/>
          <a:lstStyle/>
          <a:p>
            <a:pPr algn="ctr"/>
            <a:r>
              <a:rPr lang="da-DK" dirty="0" smtClean="0"/>
              <a:t>Microsoft SDL – Vulnerability Count Comparison</a:t>
            </a:r>
            <a:endParaRPr lang="en-GB" dirty="0"/>
          </a:p>
        </p:txBody>
      </p:sp>
      <p:graphicFrame>
        <p:nvGraphicFramePr>
          <p:cNvPr id="6" name="Chart 5"/>
          <p:cNvGraphicFramePr/>
          <p:nvPr>
            <p:extLst>
              <p:ext uri="{D42A27DB-BD31-4B8C-83A1-F6EECF244321}">
                <p14:modId xmlns:p14="http://schemas.microsoft.com/office/powerpoint/2010/main" val="2083925062"/>
              </p:ext>
            </p:extLst>
          </p:nvPr>
        </p:nvGraphicFramePr>
        <p:xfrm>
          <a:off x="611560" y="980728"/>
          <a:ext cx="7704856" cy="4568056"/>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251520" y="5733256"/>
            <a:ext cx="8640960" cy="646331"/>
          </a:xfrm>
          <a:prstGeom prst="rect">
            <a:avLst/>
          </a:prstGeom>
          <a:noFill/>
        </p:spPr>
        <p:txBody>
          <a:bodyPr wrap="square" rtlCol="0">
            <a:spAutoFit/>
          </a:bodyPr>
          <a:lstStyle/>
          <a:p>
            <a:pPr algn="ctr"/>
            <a:r>
              <a:rPr lang="en-GB" dirty="0"/>
              <a:t>Number of vulnerabilities </a:t>
            </a:r>
            <a:r>
              <a:rPr lang="en-GB" dirty="0" smtClean="0"/>
              <a:t>disclosed in </a:t>
            </a:r>
            <a:r>
              <a:rPr lang="en-GB" dirty="0"/>
              <a:t>Office versions one year after initial product </a:t>
            </a:r>
            <a:r>
              <a:rPr lang="en-GB" dirty="0" smtClean="0"/>
              <a:t>release (based on Microsoft security bulletins)</a:t>
            </a:r>
            <a:endParaRPr lang="en-GB" dirty="0"/>
          </a:p>
        </p:txBody>
      </p:sp>
    </p:spTree>
    <p:extLst>
      <p:ext uri="{BB962C8B-B14F-4D97-AF65-F5344CB8AC3E}">
        <p14:creationId xmlns:p14="http://schemas.microsoft.com/office/powerpoint/2010/main" val="433807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22</a:t>
            </a:fld>
            <a:endParaRPr lang="da-DK" dirty="0"/>
          </a:p>
        </p:txBody>
      </p:sp>
      <p:sp>
        <p:nvSpPr>
          <p:cNvPr id="5" name="Text Placeholder 4"/>
          <p:cNvSpPr>
            <a:spLocks noGrp="1"/>
          </p:cNvSpPr>
          <p:nvPr>
            <p:ph type="body" sz="quarter" idx="14"/>
          </p:nvPr>
        </p:nvSpPr>
        <p:spPr/>
        <p:txBody>
          <a:bodyPr/>
          <a:lstStyle/>
          <a:p>
            <a:pPr algn="ctr"/>
            <a:r>
              <a:rPr lang="da-DK" dirty="0"/>
              <a:t>Microsoft SDL – Vulnerability Count Comparison</a:t>
            </a:r>
            <a:endParaRPr lang="en-GB" dirty="0"/>
          </a:p>
        </p:txBody>
      </p:sp>
      <p:graphicFrame>
        <p:nvGraphicFramePr>
          <p:cNvPr id="6" name="Chart 5"/>
          <p:cNvGraphicFramePr/>
          <p:nvPr>
            <p:extLst>
              <p:ext uri="{D42A27DB-BD31-4B8C-83A1-F6EECF244321}">
                <p14:modId xmlns:p14="http://schemas.microsoft.com/office/powerpoint/2010/main" val="3988634851"/>
              </p:ext>
            </p:extLst>
          </p:nvPr>
        </p:nvGraphicFramePr>
        <p:xfrm>
          <a:off x="611560" y="1124744"/>
          <a:ext cx="7992888" cy="496855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917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23</a:t>
            </a:fld>
            <a:endParaRPr lang="da-DK" dirty="0"/>
          </a:p>
        </p:txBody>
      </p:sp>
      <p:sp>
        <p:nvSpPr>
          <p:cNvPr id="4" name="Text Placeholder 3"/>
          <p:cNvSpPr>
            <a:spLocks noGrp="1"/>
          </p:cNvSpPr>
          <p:nvPr>
            <p:ph type="body" sz="quarter" idx="12"/>
          </p:nvPr>
        </p:nvSpPr>
        <p:spPr/>
        <p:txBody>
          <a:bodyPr/>
          <a:lstStyle/>
          <a:p>
            <a:endParaRPr lang="en-GB" dirty="0" smtClean="0"/>
          </a:p>
          <a:p>
            <a:r>
              <a:rPr lang="en-GB" dirty="0" smtClean="0"/>
              <a:t>Even though it is flawed and does not provide any real information (and we all know it), many still focus on the number of vulnerabilities discovered in a product when evaluating a product’s security state.</a:t>
            </a:r>
          </a:p>
          <a:p>
            <a:pPr marL="0" indent="0">
              <a:buNone/>
            </a:pPr>
            <a:endParaRPr lang="en-GB" dirty="0" smtClean="0"/>
          </a:p>
          <a:p>
            <a:r>
              <a:rPr lang="en-GB" dirty="0" smtClean="0"/>
              <a:t>Some may take into account details like severity, </a:t>
            </a:r>
            <a:r>
              <a:rPr lang="en-GB" dirty="0"/>
              <a:t>number of </a:t>
            </a:r>
            <a:r>
              <a:rPr lang="en-GB" dirty="0" smtClean="0"/>
              <a:t>0-days, Time-to-Patch, number of unpatched vulnerabilities etc. However, many of these metrics say more about the vendor’s responsiveness than the security state of the product. </a:t>
            </a:r>
          </a:p>
          <a:p>
            <a:endParaRPr lang="en-GB" dirty="0" smtClean="0"/>
          </a:p>
          <a:p>
            <a:r>
              <a:rPr lang="en-GB" dirty="0" smtClean="0"/>
              <a:t>Combining this information with the types and complexity of vulnerabilities being reported would be more interesting and says more about the security state of the software.</a:t>
            </a:r>
            <a:endParaRPr lang="en-GB" dirty="0"/>
          </a:p>
        </p:txBody>
      </p:sp>
      <p:sp>
        <p:nvSpPr>
          <p:cNvPr id="5" name="Text Placeholder 4"/>
          <p:cNvSpPr>
            <a:spLocks noGrp="1"/>
          </p:cNvSpPr>
          <p:nvPr>
            <p:ph type="body" sz="quarter" idx="14"/>
          </p:nvPr>
        </p:nvSpPr>
        <p:spPr/>
        <p:txBody>
          <a:bodyPr/>
          <a:lstStyle/>
          <a:p>
            <a:pPr algn="ctr"/>
            <a:r>
              <a:rPr lang="da-DK" dirty="0" smtClean="0"/>
              <a:t>Code Maturity</a:t>
            </a:r>
            <a:endParaRPr lang="en-GB" dirty="0"/>
          </a:p>
        </p:txBody>
      </p:sp>
    </p:spTree>
    <p:extLst>
      <p:ext uri="{BB962C8B-B14F-4D97-AF65-F5344CB8AC3E}">
        <p14:creationId xmlns:p14="http://schemas.microsoft.com/office/powerpoint/2010/main" val="3172001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en-GB" smtClean="0"/>
              <a:pPr/>
              <a:t>14/06/2012</a:t>
            </a:fld>
            <a:endParaRPr lang="en-GB"/>
          </a:p>
        </p:txBody>
      </p:sp>
      <p:sp>
        <p:nvSpPr>
          <p:cNvPr id="3" name="Slide Number Placeholder 2"/>
          <p:cNvSpPr>
            <a:spLocks noGrp="1"/>
          </p:cNvSpPr>
          <p:nvPr>
            <p:ph type="sldNum" sz="quarter" idx="4"/>
          </p:nvPr>
        </p:nvSpPr>
        <p:spPr/>
        <p:txBody>
          <a:bodyPr/>
          <a:lstStyle/>
          <a:p>
            <a:fld id="{2BAA97D9-9976-46D4-A464-9640EA54D84C}" type="slidenum">
              <a:rPr lang="en-GB" smtClean="0"/>
              <a:pPr/>
              <a:t>24</a:t>
            </a:fld>
            <a:endParaRPr lang="en-GB"/>
          </a:p>
        </p:txBody>
      </p:sp>
      <p:sp>
        <p:nvSpPr>
          <p:cNvPr id="4" name="Text Placeholder 3"/>
          <p:cNvSpPr>
            <a:spLocks noGrp="1"/>
          </p:cNvSpPr>
          <p:nvPr>
            <p:ph type="body" sz="quarter" idx="12"/>
          </p:nvPr>
        </p:nvSpPr>
        <p:spPr/>
        <p:txBody>
          <a:bodyPr/>
          <a:lstStyle/>
          <a:p>
            <a:pPr marL="0" indent="0" algn="ctr">
              <a:buNone/>
            </a:pPr>
            <a:endParaRPr lang="en-GB" smtClean="0"/>
          </a:p>
          <a:p>
            <a:pPr marL="0" indent="0" algn="ctr">
              <a:buNone/>
            </a:pPr>
            <a:endParaRPr lang="en-GB" smtClean="0"/>
          </a:p>
          <a:p>
            <a:pPr marL="0" indent="0" algn="ctr">
              <a:buNone/>
            </a:pPr>
            <a:r>
              <a:rPr lang="en-GB" smtClean="0"/>
              <a:t>This presentation will now discuss code maturity and strive to prove/disprove the effectiveness of Microsoft’s SDL implementation focusing on Microsoft Office.</a:t>
            </a:r>
            <a:endParaRPr lang="en-GB"/>
          </a:p>
        </p:txBody>
      </p:sp>
      <p:sp>
        <p:nvSpPr>
          <p:cNvPr id="5" name="Text Placeholder 4"/>
          <p:cNvSpPr>
            <a:spLocks noGrp="1"/>
          </p:cNvSpPr>
          <p:nvPr>
            <p:ph type="body" sz="quarter" idx="14"/>
          </p:nvPr>
        </p:nvSpPr>
        <p:spPr/>
        <p:txBody>
          <a:bodyPr/>
          <a:lstStyle/>
          <a:p>
            <a:pPr algn="ctr"/>
            <a:r>
              <a:rPr lang="en-GB" smtClean="0"/>
              <a:t>Code Maturity</a:t>
            </a:r>
            <a:endParaRPr lang="en-GB"/>
          </a:p>
        </p:txBody>
      </p:sp>
    </p:spTree>
    <p:extLst>
      <p:ext uri="{BB962C8B-B14F-4D97-AF65-F5344CB8AC3E}">
        <p14:creationId xmlns:p14="http://schemas.microsoft.com/office/powerpoint/2010/main" val="2642130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25</a:t>
            </a:fld>
            <a:endParaRPr lang="da-DK" dirty="0"/>
          </a:p>
        </p:txBody>
      </p:sp>
      <p:sp>
        <p:nvSpPr>
          <p:cNvPr id="4" name="Text Placeholder 3"/>
          <p:cNvSpPr>
            <a:spLocks noGrp="1"/>
          </p:cNvSpPr>
          <p:nvPr>
            <p:ph type="body" sz="quarter" idx="12"/>
          </p:nvPr>
        </p:nvSpPr>
        <p:spPr/>
        <p:txBody>
          <a:bodyPr/>
          <a:lstStyle/>
          <a:p>
            <a:pPr marL="0" indent="0">
              <a:buNone/>
            </a:pPr>
            <a:endParaRPr lang="en-GB" dirty="0"/>
          </a:p>
          <a:p>
            <a:r>
              <a:rPr lang="en-GB" dirty="0" smtClean="0"/>
              <a:t>What is the concept of code maturity?</a:t>
            </a:r>
          </a:p>
          <a:p>
            <a:pPr marL="0" indent="0">
              <a:buNone/>
            </a:pPr>
            <a:endParaRPr lang="en-GB" dirty="0" smtClean="0"/>
          </a:p>
          <a:p>
            <a:r>
              <a:rPr lang="da-DK" dirty="0" err="1" smtClean="0"/>
              <a:t>What</a:t>
            </a:r>
            <a:r>
              <a:rPr lang="da-DK" dirty="0" smtClean="0"/>
              <a:t> </a:t>
            </a:r>
            <a:r>
              <a:rPr lang="da-DK" dirty="0" err="1" smtClean="0"/>
              <a:t>are</a:t>
            </a:r>
            <a:r>
              <a:rPr lang="da-DK" dirty="0" smtClean="0"/>
              <a:t> the </a:t>
            </a:r>
            <a:r>
              <a:rPr lang="da-DK" dirty="0" err="1" smtClean="0"/>
              <a:t>premises</a:t>
            </a:r>
            <a:r>
              <a:rPr lang="da-DK" dirty="0" smtClean="0"/>
              <a:t> for </a:t>
            </a:r>
            <a:r>
              <a:rPr lang="da-DK" dirty="0" err="1" smtClean="0"/>
              <a:t>code</a:t>
            </a:r>
            <a:r>
              <a:rPr lang="da-DK" dirty="0" smtClean="0"/>
              <a:t> </a:t>
            </a:r>
            <a:r>
              <a:rPr lang="da-DK" dirty="0" err="1" smtClean="0"/>
              <a:t>maturity</a:t>
            </a:r>
            <a:r>
              <a:rPr lang="da-DK" dirty="0" smtClean="0"/>
              <a:t>?</a:t>
            </a:r>
          </a:p>
          <a:p>
            <a:pPr marL="0" indent="0">
              <a:buNone/>
            </a:pPr>
            <a:endParaRPr lang="en-GB" dirty="0" smtClean="0"/>
          </a:p>
          <a:p>
            <a:r>
              <a:rPr lang="da-DK" dirty="0" smtClean="0"/>
              <a:t>How </a:t>
            </a:r>
            <a:r>
              <a:rPr lang="da-DK" dirty="0" err="1" smtClean="0"/>
              <a:t>can</a:t>
            </a:r>
            <a:r>
              <a:rPr lang="da-DK" dirty="0" smtClean="0"/>
              <a:t> </a:t>
            </a:r>
            <a:r>
              <a:rPr lang="da-DK" dirty="0" err="1" smtClean="0"/>
              <a:t>we</a:t>
            </a:r>
            <a:r>
              <a:rPr lang="da-DK" dirty="0" smtClean="0"/>
              <a:t> measure </a:t>
            </a:r>
            <a:r>
              <a:rPr lang="da-DK" dirty="0" err="1" smtClean="0"/>
              <a:t>code</a:t>
            </a:r>
            <a:r>
              <a:rPr lang="da-DK" dirty="0" smtClean="0"/>
              <a:t> </a:t>
            </a:r>
            <a:r>
              <a:rPr lang="da-DK" dirty="0" err="1" smtClean="0"/>
              <a:t>maturity</a:t>
            </a:r>
            <a:r>
              <a:rPr lang="da-DK" dirty="0" smtClean="0"/>
              <a:t>?</a:t>
            </a:r>
            <a:endParaRPr lang="en-GB" dirty="0"/>
          </a:p>
        </p:txBody>
      </p:sp>
      <p:sp>
        <p:nvSpPr>
          <p:cNvPr id="5" name="Text Placeholder 4"/>
          <p:cNvSpPr>
            <a:spLocks noGrp="1"/>
          </p:cNvSpPr>
          <p:nvPr>
            <p:ph type="body" sz="quarter" idx="14"/>
          </p:nvPr>
        </p:nvSpPr>
        <p:spPr/>
        <p:txBody>
          <a:bodyPr/>
          <a:lstStyle/>
          <a:p>
            <a:pPr algn="ctr"/>
            <a:r>
              <a:rPr lang="da-DK" dirty="0" smtClean="0"/>
              <a:t>Code Maturity</a:t>
            </a:r>
            <a:endParaRPr lang="en-GB" dirty="0"/>
          </a:p>
        </p:txBody>
      </p:sp>
    </p:spTree>
    <p:extLst>
      <p:ext uri="{BB962C8B-B14F-4D97-AF65-F5344CB8AC3E}">
        <p14:creationId xmlns:p14="http://schemas.microsoft.com/office/powerpoint/2010/main" val="2248359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26</a:t>
            </a:fld>
            <a:endParaRPr lang="da-DK" dirty="0"/>
          </a:p>
        </p:txBody>
      </p:sp>
      <p:sp>
        <p:nvSpPr>
          <p:cNvPr id="4" name="Text Placeholder 3"/>
          <p:cNvSpPr>
            <a:spLocks noGrp="1"/>
          </p:cNvSpPr>
          <p:nvPr>
            <p:ph type="body" sz="quarter" idx="12"/>
          </p:nvPr>
        </p:nvSpPr>
        <p:spPr/>
        <p:txBody>
          <a:bodyPr/>
          <a:lstStyle/>
          <a:p>
            <a:r>
              <a:rPr lang="en-GB" dirty="0" smtClean="0"/>
              <a:t>The idea of </a:t>
            </a:r>
            <a:r>
              <a:rPr lang="en-GB" dirty="0"/>
              <a:t>code maturity is that </a:t>
            </a:r>
            <a:r>
              <a:rPr lang="en-GB" dirty="0" smtClean="0"/>
              <a:t>by evaluating the prevalence of the different vulnerability classes being discovered in a product, we can conclude the maturity of that product.  We</a:t>
            </a:r>
            <a:r>
              <a:rPr lang="en-GB" dirty="0"/>
              <a:t>, naturally, focus on it from a security </a:t>
            </a:r>
            <a:r>
              <a:rPr lang="en-GB" dirty="0" smtClean="0"/>
              <a:t>perspective.</a:t>
            </a:r>
          </a:p>
          <a:p>
            <a:endParaRPr lang="da-DK" dirty="0"/>
          </a:p>
          <a:p>
            <a:r>
              <a:rPr lang="da-DK" dirty="0" smtClean="0"/>
              <a:t>Some code may be in an infantile stage…</a:t>
            </a:r>
            <a:endParaRPr lang="en-GB" dirty="0"/>
          </a:p>
        </p:txBody>
      </p:sp>
      <p:sp>
        <p:nvSpPr>
          <p:cNvPr id="5" name="Text Placeholder 4"/>
          <p:cNvSpPr>
            <a:spLocks noGrp="1"/>
          </p:cNvSpPr>
          <p:nvPr>
            <p:ph type="body" sz="quarter" idx="14"/>
          </p:nvPr>
        </p:nvSpPr>
        <p:spPr/>
        <p:txBody>
          <a:bodyPr/>
          <a:lstStyle/>
          <a:p>
            <a:pPr algn="ctr"/>
            <a:r>
              <a:rPr lang="da-DK" dirty="0" smtClean="0"/>
              <a:t>Code Maturity</a:t>
            </a:r>
            <a:endParaRPr lang="en-GB" dirty="0"/>
          </a:p>
        </p:txBody>
      </p:sp>
      <p:pic>
        <p:nvPicPr>
          <p:cNvPr id="2050" name="Picture 2" descr="\\secunia.local\folders\che\Desktop\infan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2996952"/>
            <a:ext cx="4896544" cy="313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6300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27</a:t>
            </a:fld>
            <a:endParaRPr lang="da-DK" dirty="0"/>
          </a:p>
        </p:txBody>
      </p:sp>
      <p:sp>
        <p:nvSpPr>
          <p:cNvPr id="4" name="Text Placeholder 3"/>
          <p:cNvSpPr>
            <a:spLocks noGrp="1"/>
          </p:cNvSpPr>
          <p:nvPr>
            <p:ph type="body" sz="quarter" idx="12"/>
          </p:nvPr>
        </p:nvSpPr>
        <p:spPr/>
        <p:txBody>
          <a:bodyPr/>
          <a:lstStyle/>
          <a:p>
            <a:r>
              <a:rPr lang="en-GB" dirty="0" smtClean="0"/>
              <a:t>… and some code may be very mature!</a:t>
            </a:r>
          </a:p>
          <a:p>
            <a:endParaRPr lang="da-DK" dirty="0"/>
          </a:p>
          <a:p>
            <a:pPr marL="0" indent="0">
              <a:buNone/>
            </a:pPr>
            <a:endParaRPr lang="en-GB" dirty="0"/>
          </a:p>
        </p:txBody>
      </p:sp>
      <p:sp>
        <p:nvSpPr>
          <p:cNvPr id="5" name="Text Placeholder 4"/>
          <p:cNvSpPr>
            <a:spLocks noGrp="1"/>
          </p:cNvSpPr>
          <p:nvPr>
            <p:ph type="body" sz="quarter" idx="14"/>
          </p:nvPr>
        </p:nvSpPr>
        <p:spPr/>
        <p:txBody>
          <a:bodyPr/>
          <a:lstStyle/>
          <a:p>
            <a:pPr algn="ctr"/>
            <a:r>
              <a:rPr lang="da-DK" dirty="0" smtClean="0"/>
              <a:t>Code Maturity</a:t>
            </a:r>
            <a:endParaRPr lang="en-GB" dirty="0"/>
          </a:p>
        </p:txBody>
      </p:sp>
      <p:pic>
        <p:nvPicPr>
          <p:cNvPr id="1026" name="Picture 2" descr="\\secunia.local\folders\che\Desktop\matu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943305"/>
            <a:ext cx="4896544" cy="400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7667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28</a:t>
            </a:fld>
            <a:endParaRPr lang="da-DK" dirty="0"/>
          </a:p>
        </p:txBody>
      </p:sp>
      <p:sp>
        <p:nvSpPr>
          <p:cNvPr id="4" name="Text Placeholder 3"/>
          <p:cNvSpPr>
            <a:spLocks noGrp="1"/>
          </p:cNvSpPr>
          <p:nvPr>
            <p:ph type="body" sz="quarter" idx="12"/>
          </p:nvPr>
        </p:nvSpPr>
        <p:spPr/>
        <p:txBody>
          <a:bodyPr/>
          <a:lstStyle/>
          <a:p>
            <a:endParaRPr lang="en-GB" dirty="0" smtClean="0"/>
          </a:p>
          <a:p>
            <a:r>
              <a:rPr lang="en-GB" dirty="0" smtClean="0"/>
              <a:t>By </a:t>
            </a:r>
            <a:r>
              <a:rPr lang="en-GB" dirty="0"/>
              <a:t>looking at this historically for a specific piece of </a:t>
            </a:r>
            <a:r>
              <a:rPr lang="en-GB" dirty="0" smtClean="0"/>
              <a:t>software, we can determine the development (if any). Either </a:t>
            </a:r>
            <a:r>
              <a:rPr lang="en-GB" dirty="0"/>
              <a:t>a consistent, high code maturity or continuously improving code maturity is wanted</a:t>
            </a:r>
            <a:r>
              <a:rPr lang="en-GB" dirty="0" smtClean="0"/>
              <a:t>.</a:t>
            </a:r>
          </a:p>
          <a:p>
            <a:endParaRPr lang="da-DK" dirty="0"/>
          </a:p>
          <a:p>
            <a:r>
              <a:rPr lang="da-DK" dirty="0" smtClean="0"/>
              <a:t>Evaluating code maturity also provides a more detailed comparison of different products (or different components of the same product) than just looking at the number of vulnerabilities, time-to-patch information etc.</a:t>
            </a:r>
            <a:endParaRPr lang="en-GB" dirty="0"/>
          </a:p>
        </p:txBody>
      </p:sp>
      <p:sp>
        <p:nvSpPr>
          <p:cNvPr id="5" name="Text Placeholder 4"/>
          <p:cNvSpPr>
            <a:spLocks noGrp="1"/>
          </p:cNvSpPr>
          <p:nvPr>
            <p:ph type="body" sz="quarter" idx="14"/>
          </p:nvPr>
        </p:nvSpPr>
        <p:spPr/>
        <p:txBody>
          <a:bodyPr/>
          <a:lstStyle/>
          <a:p>
            <a:pPr algn="ctr"/>
            <a:r>
              <a:rPr lang="da-DK" dirty="0" smtClean="0"/>
              <a:t>Code Maturity – How to evaluate software</a:t>
            </a:r>
            <a:endParaRPr lang="en-GB" dirty="0"/>
          </a:p>
        </p:txBody>
      </p:sp>
    </p:spTree>
    <p:extLst>
      <p:ext uri="{BB962C8B-B14F-4D97-AF65-F5344CB8AC3E}">
        <p14:creationId xmlns:p14="http://schemas.microsoft.com/office/powerpoint/2010/main" val="240784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29</a:t>
            </a:fld>
            <a:endParaRPr lang="da-DK" dirty="0"/>
          </a:p>
        </p:txBody>
      </p:sp>
      <p:sp>
        <p:nvSpPr>
          <p:cNvPr id="4" name="Text Placeholder 3"/>
          <p:cNvSpPr>
            <a:spLocks noGrp="1"/>
          </p:cNvSpPr>
          <p:nvPr>
            <p:ph type="body" sz="quarter" idx="12"/>
          </p:nvPr>
        </p:nvSpPr>
        <p:spPr/>
        <p:txBody>
          <a:bodyPr/>
          <a:lstStyle/>
          <a:p>
            <a:r>
              <a:rPr lang="en-GB" dirty="0"/>
              <a:t>Each vulnerability can be scored based on the vulnerability type and to a certain extent an evaluation of how easy it would have been to discover</a:t>
            </a:r>
            <a:r>
              <a:rPr lang="en-GB" dirty="0" smtClean="0"/>
              <a:t>.</a:t>
            </a:r>
          </a:p>
          <a:p>
            <a:endParaRPr lang="da-DK" dirty="0"/>
          </a:p>
          <a:p>
            <a:r>
              <a:rPr lang="en-GB" dirty="0"/>
              <a:t>Researchers find simple </a:t>
            </a:r>
            <a:r>
              <a:rPr lang="en-GB" dirty="0" smtClean="0"/>
              <a:t>vulnerabilities first </a:t>
            </a:r>
            <a:r>
              <a:rPr lang="en-GB" dirty="0"/>
              <a:t>- as simple vulnerabilities are eliminated, researchers move on to finding more complex vulnerabilities</a:t>
            </a:r>
            <a:r>
              <a:rPr lang="en-GB" dirty="0" smtClean="0"/>
              <a:t>.</a:t>
            </a:r>
          </a:p>
          <a:p>
            <a:endParaRPr lang="da-DK" dirty="0"/>
          </a:p>
          <a:p>
            <a:r>
              <a:rPr lang="en-GB" dirty="0"/>
              <a:t>When a vendor secures the code, basic vulnerabilities are easier to spot and remedy or never introduce compared to more complex vulnerabilities</a:t>
            </a:r>
            <a:r>
              <a:rPr lang="en-GB" dirty="0" smtClean="0"/>
              <a:t>.</a:t>
            </a:r>
          </a:p>
          <a:p>
            <a:endParaRPr lang="da-DK" dirty="0"/>
          </a:p>
          <a:p>
            <a:r>
              <a:rPr lang="en-GB" dirty="0"/>
              <a:t>Use of automated source code auditing tools will easily spot simple, classic vulnerabilities. Very complex vulnerabilities will generate less hits.</a:t>
            </a:r>
          </a:p>
        </p:txBody>
      </p:sp>
      <p:sp>
        <p:nvSpPr>
          <p:cNvPr id="5" name="Text Placeholder 4"/>
          <p:cNvSpPr>
            <a:spLocks noGrp="1"/>
          </p:cNvSpPr>
          <p:nvPr>
            <p:ph type="body" sz="quarter" idx="14"/>
          </p:nvPr>
        </p:nvSpPr>
        <p:spPr/>
        <p:txBody>
          <a:bodyPr/>
          <a:lstStyle/>
          <a:p>
            <a:pPr algn="ctr"/>
            <a:r>
              <a:rPr lang="da-DK" dirty="0" smtClean="0"/>
              <a:t>Code Maturity - Scoring</a:t>
            </a:r>
            <a:endParaRPr lang="en-GB" dirty="0"/>
          </a:p>
        </p:txBody>
      </p:sp>
    </p:spTree>
    <p:extLst>
      <p:ext uri="{BB962C8B-B14F-4D97-AF65-F5344CB8AC3E}">
        <p14:creationId xmlns:p14="http://schemas.microsoft.com/office/powerpoint/2010/main" val="1489029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30</a:t>
            </a:fld>
            <a:endParaRPr lang="da-DK" dirty="0"/>
          </a:p>
        </p:txBody>
      </p:sp>
      <p:sp>
        <p:nvSpPr>
          <p:cNvPr id="4" name="Text Placeholder 3"/>
          <p:cNvSpPr>
            <a:spLocks noGrp="1"/>
          </p:cNvSpPr>
          <p:nvPr>
            <p:ph type="body" sz="quarter" idx="12"/>
          </p:nvPr>
        </p:nvSpPr>
        <p:spPr/>
        <p:txBody>
          <a:bodyPr/>
          <a:lstStyle/>
          <a:p>
            <a:r>
              <a:rPr lang="en-GB" dirty="0"/>
              <a:t>Makes sense from a </a:t>
            </a:r>
            <a:r>
              <a:rPr lang="en-GB" dirty="0" smtClean="0"/>
              <a:t>source </a:t>
            </a:r>
            <a:r>
              <a:rPr lang="en-GB" dirty="0"/>
              <a:t>code auditing or reversing perspective, but does fuzzing also follow this premise? It seems it would be random vulnerability classes being discovered.</a:t>
            </a:r>
          </a:p>
          <a:p>
            <a:pPr marL="0" indent="0">
              <a:buNone/>
            </a:pPr>
            <a:endParaRPr lang="en-GB" dirty="0"/>
          </a:p>
          <a:p>
            <a:r>
              <a:rPr lang="en-GB" dirty="0" smtClean="0"/>
              <a:t>Fuzzers </a:t>
            </a:r>
            <a:r>
              <a:rPr lang="en-GB" dirty="0"/>
              <a:t>are made more complex to search more complex parts of code and to find more complex vulnerabilities when needed. Starting point is usually a very basic fuzzer (e.g. string expanding, integer value manipulation, single byte-flipping).</a:t>
            </a:r>
          </a:p>
          <a:p>
            <a:endParaRPr lang="en-GB" dirty="0"/>
          </a:p>
          <a:p>
            <a:r>
              <a:rPr lang="en-GB" dirty="0" smtClean="0"/>
              <a:t>Fuzzers </a:t>
            </a:r>
            <a:r>
              <a:rPr lang="en-GB" dirty="0"/>
              <a:t>have come a long way in the past years when targeting high profile products as the simple fuzzers were no longer </a:t>
            </a:r>
            <a:r>
              <a:rPr lang="en-GB" dirty="0" smtClean="0"/>
              <a:t>that successful.</a:t>
            </a:r>
            <a:endParaRPr lang="en-GB" dirty="0"/>
          </a:p>
          <a:p>
            <a:endParaRPr lang="en-GB" dirty="0"/>
          </a:p>
        </p:txBody>
      </p:sp>
      <p:sp>
        <p:nvSpPr>
          <p:cNvPr id="5" name="Text Placeholder 4"/>
          <p:cNvSpPr>
            <a:spLocks noGrp="1"/>
          </p:cNvSpPr>
          <p:nvPr>
            <p:ph type="body" sz="quarter" idx="14"/>
          </p:nvPr>
        </p:nvSpPr>
        <p:spPr/>
        <p:txBody>
          <a:bodyPr/>
          <a:lstStyle/>
          <a:p>
            <a:pPr algn="ctr"/>
            <a:r>
              <a:rPr lang="da-DK" dirty="0" smtClean="0"/>
              <a:t>Code Maturity - Scoring</a:t>
            </a:r>
            <a:endParaRPr lang="en-GB" dirty="0"/>
          </a:p>
        </p:txBody>
      </p:sp>
    </p:spTree>
    <p:extLst>
      <p:ext uri="{BB962C8B-B14F-4D97-AF65-F5344CB8AC3E}">
        <p14:creationId xmlns:p14="http://schemas.microsoft.com/office/powerpoint/2010/main" val="549519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31</a:t>
            </a:fld>
            <a:endParaRPr lang="da-DK" dirty="0"/>
          </a:p>
        </p:txBody>
      </p:sp>
      <p:sp>
        <p:nvSpPr>
          <p:cNvPr id="4" name="Text Placeholder 3"/>
          <p:cNvSpPr>
            <a:spLocks noGrp="1"/>
          </p:cNvSpPr>
          <p:nvPr>
            <p:ph type="body" sz="quarter" idx="12"/>
          </p:nvPr>
        </p:nvSpPr>
        <p:spPr/>
        <p:txBody>
          <a:bodyPr/>
          <a:lstStyle/>
          <a:p>
            <a:r>
              <a:rPr lang="en-GB" dirty="0"/>
              <a:t>Level 0</a:t>
            </a:r>
            <a:r>
              <a:rPr lang="en-GB" dirty="0" smtClean="0"/>
              <a:t>: Vulnerabilities </a:t>
            </a:r>
            <a:r>
              <a:rPr lang="en-GB" dirty="0"/>
              <a:t>like </a:t>
            </a:r>
            <a:r>
              <a:rPr lang="en-GB" dirty="0" smtClean="0"/>
              <a:t>classic </a:t>
            </a:r>
            <a:r>
              <a:rPr lang="en-GB" dirty="0"/>
              <a:t>buffer overflows </a:t>
            </a:r>
            <a:r>
              <a:rPr lang="en-GB" dirty="0" smtClean="0"/>
              <a:t>(e.g. strcpy, sprintf, and sscanf) </a:t>
            </a:r>
            <a:r>
              <a:rPr lang="en-GB" dirty="0"/>
              <a:t>and format string vulnerabilities are prevalent</a:t>
            </a:r>
            <a:r>
              <a:rPr lang="en-GB" dirty="0" smtClean="0"/>
              <a:t>.</a:t>
            </a:r>
          </a:p>
          <a:p>
            <a:endParaRPr lang="en-GB" dirty="0"/>
          </a:p>
          <a:p>
            <a:r>
              <a:rPr lang="en-GB" dirty="0" smtClean="0"/>
              <a:t>Level </a:t>
            </a:r>
            <a:r>
              <a:rPr lang="en-GB" dirty="0"/>
              <a:t>1</a:t>
            </a:r>
            <a:r>
              <a:rPr lang="en-GB" dirty="0" smtClean="0"/>
              <a:t>: Vulnerabilities </a:t>
            </a:r>
            <a:r>
              <a:rPr lang="en-GB" dirty="0"/>
              <a:t>like </a:t>
            </a:r>
            <a:r>
              <a:rPr lang="en-GB" dirty="0" smtClean="0"/>
              <a:t>buffer </a:t>
            </a:r>
            <a:r>
              <a:rPr lang="en-GB" dirty="0"/>
              <a:t>overflows due to incorrect size </a:t>
            </a:r>
            <a:r>
              <a:rPr lang="en-GB" dirty="0" smtClean="0"/>
              <a:t>(e.g. memcpy and strncpy) and array-indexing errors are </a:t>
            </a:r>
            <a:r>
              <a:rPr lang="en-GB" dirty="0"/>
              <a:t>prevalent</a:t>
            </a:r>
            <a:r>
              <a:rPr lang="en-GB" dirty="0" smtClean="0"/>
              <a:t>.</a:t>
            </a:r>
          </a:p>
          <a:p>
            <a:endParaRPr lang="en-GB" dirty="0"/>
          </a:p>
          <a:p>
            <a:r>
              <a:rPr lang="en-GB" dirty="0" smtClean="0"/>
              <a:t>Level 2:Vulnerabilities </a:t>
            </a:r>
            <a:r>
              <a:rPr lang="en-GB" dirty="0"/>
              <a:t>like </a:t>
            </a:r>
            <a:r>
              <a:rPr lang="en-GB" dirty="0" smtClean="0"/>
              <a:t>integer overflows/underflows, type conversion, and signedness </a:t>
            </a:r>
            <a:r>
              <a:rPr lang="en-GB" dirty="0"/>
              <a:t>errors are prevalent</a:t>
            </a:r>
            <a:r>
              <a:rPr lang="en-GB" dirty="0" smtClean="0"/>
              <a:t>.</a:t>
            </a:r>
          </a:p>
          <a:p>
            <a:endParaRPr lang="en-GB" dirty="0"/>
          </a:p>
          <a:p>
            <a:r>
              <a:rPr lang="en-GB" dirty="0" smtClean="0"/>
              <a:t>Level </a:t>
            </a:r>
            <a:r>
              <a:rPr lang="en-GB" dirty="0"/>
              <a:t>3</a:t>
            </a:r>
            <a:r>
              <a:rPr lang="en-GB" dirty="0" smtClean="0"/>
              <a:t>: Vulnerabilities </a:t>
            </a:r>
            <a:r>
              <a:rPr lang="en-GB" dirty="0"/>
              <a:t>like uninitialised variable, </a:t>
            </a:r>
            <a:r>
              <a:rPr lang="en-GB" dirty="0" smtClean="0"/>
              <a:t>use-after-free</a:t>
            </a:r>
            <a:r>
              <a:rPr lang="en-GB" dirty="0"/>
              <a:t>, double-free, object type confusion, and various complex logic errors/design problems are prevalent</a:t>
            </a:r>
            <a:r>
              <a:rPr lang="en-GB" dirty="0" smtClean="0"/>
              <a:t>.</a:t>
            </a:r>
          </a:p>
          <a:p>
            <a:endParaRPr lang="en-GB" dirty="0"/>
          </a:p>
          <a:p>
            <a:r>
              <a:rPr lang="en-GB" dirty="0" smtClean="0"/>
              <a:t>Level </a:t>
            </a:r>
            <a:r>
              <a:rPr lang="en-GB" dirty="0"/>
              <a:t>4</a:t>
            </a:r>
            <a:r>
              <a:rPr lang="en-GB" dirty="0" smtClean="0"/>
              <a:t>: Reserved for Level </a:t>
            </a:r>
            <a:r>
              <a:rPr lang="en-GB" dirty="0"/>
              <a:t>3 vulnerabilities considered extra complex.</a:t>
            </a:r>
            <a:endParaRPr lang="da-DK" dirty="0"/>
          </a:p>
        </p:txBody>
      </p:sp>
      <p:sp>
        <p:nvSpPr>
          <p:cNvPr id="5" name="Text Placeholder 4"/>
          <p:cNvSpPr>
            <a:spLocks noGrp="1"/>
          </p:cNvSpPr>
          <p:nvPr>
            <p:ph type="body" sz="quarter" idx="14"/>
          </p:nvPr>
        </p:nvSpPr>
        <p:spPr/>
        <p:txBody>
          <a:bodyPr/>
          <a:lstStyle/>
          <a:p>
            <a:pPr algn="ctr"/>
            <a:r>
              <a:rPr lang="da-DK" dirty="0" smtClean="0"/>
              <a:t>Code Maturity - Scoring</a:t>
            </a:r>
            <a:endParaRPr lang="en-GB" dirty="0"/>
          </a:p>
        </p:txBody>
      </p:sp>
    </p:spTree>
    <p:extLst>
      <p:ext uri="{BB962C8B-B14F-4D97-AF65-F5344CB8AC3E}">
        <p14:creationId xmlns:p14="http://schemas.microsoft.com/office/powerpoint/2010/main" val="3080795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32</a:t>
            </a:fld>
            <a:endParaRPr lang="da-DK" dirty="0"/>
          </a:p>
        </p:txBody>
      </p:sp>
      <p:sp>
        <p:nvSpPr>
          <p:cNvPr id="4" name="Text Placeholder 3"/>
          <p:cNvSpPr>
            <a:spLocks noGrp="1"/>
          </p:cNvSpPr>
          <p:nvPr>
            <p:ph type="body" sz="quarter" idx="12"/>
          </p:nvPr>
        </p:nvSpPr>
        <p:spPr/>
        <p:txBody>
          <a:bodyPr/>
          <a:lstStyle/>
          <a:p>
            <a:endParaRPr lang="en-GB" dirty="0" smtClean="0"/>
          </a:p>
          <a:p>
            <a:r>
              <a:rPr lang="en-GB" dirty="0" smtClean="0"/>
              <a:t>A basic yet </a:t>
            </a:r>
            <a:r>
              <a:rPr lang="en-GB" dirty="0"/>
              <a:t>effective </a:t>
            </a:r>
            <a:r>
              <a:rPr lang="en-GB" dirty="0" smtClean="0"/>
              <a:t>approach for </a:t>
            </a:r>
            <a:r>
              <a:rPr lang="en-GB" dirty="0"/>
              <a:t>scoring </a:t>
            </a:r>
            <a:r>
              <a:rPr lang="en-GB" dirty="0" smtClean="0"/>
              <a:t>is by assigning a simple value based on the vulnerability class. This makes it easy to e.g. tie to CWE.</a:t>
            </a:r>
          </a:p>
          <a:p>
            <a:endParaRPr lang="en-GB" dirty="0"/>
          </a:p>
          <a:p>
            <a:r>
              <a:rPr lang="en-GB" dirty="0" smtClean="0"/>
              <a:t>Optional adjustment score of +1/-1 could be applied based </a:t>
            </a:r>
            <a:r>
              <a:rPr lang="en-GB" dirty="0"/>
              <a:t>on </a:t>
            </a:r>
            <a:r>
              <a:rPr lang="en-GB" dirty="0" smtClean="0"/>
              <a:t>evaluated complexity of discovery primarily via fuzzing (would e.g. simple string expansion trigger a use-after-free? If so it makes sense to decrement score accordingly).</a:t>
            </a:r>
          </a:p>
          <a:p>
            <a:pPr marL="0" indent="0">
              <a:buNone/>
            </a:pPr>
            <a:endParaRPr lang="da-DK" dirty="0"/>
          </a:p>
          <a:p>
            <a:r>
              <a:rPr lang="en-GB" dirty="0" smtClean="0"/>
              <a:t>When </a:t>
            </a:r>
            <a:r>
              <a:rPr lang="en-GB" dirty="0"/>
              <a:t>evaluating code maturity for the whole product, the sum of all the vulnerabilities’ code maturity scores is divided by the number of vulnerabilities. </a:t>
            </a:r>
          </a:p>
        </p:txBody>
      </p:sp>
      <p:sp>
        <p:nvSpPr>
          <p:cNvPr id="5" name="Text Placeholder 4"/>
          <p:cNvSpPr>
            <a:spLocks noGrp="1"/>
          </p:cNvSpPr>
          <p:nvPr>
            <p:ph type="body" sz="quarter" idx="14"/>
          </p:nvPr>
        </p:nvSpPr>
        <p:spPr/>
        <p:txBody>
          <a:bodyPr/>
          <a:lstStyle/>
          <a:p>
            <a:pPr algn="ctr"/>
            <a:r>
              <a:rPr lang="da-DK" dirty="0" smtClean="0"/>
              <a:t>Code Maturity - Scoring</a:t>
            </a:r>
            <a:endParaRPr lang="en-GB" dirty="0"/>
          </a:p>
        </p:txBody>
      </p:sp>
    </p:spTree>
    <p:extLst>
      <p:ext uri="{BB962C8B-B14F-4D97-AF65-F5344CB8AC3E}">
        <p14:creationId xmlns:p14="http://schemas.microsoft.com/office/powerpoint/2010/main" val="2619830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en-GB" smtClean="0"/>
              <a:pPr/>
              <a:t>14/06/2012</a:t>
            </a:fld>
            <a:endParaRPr lang="en-GB"/>
          </a:p>
        </p:txBody>
      </p:sp>
      <p:sp>
        <p:nvSpPr>
          <p:cNvPr id="3" name="Slide Number Placeholder 2"/>
          <p:cNvSpPr>
            <a:spLocks noGrp="1"/>
          </p:cNvSpPr>
          <p:nvPr>
            <p:ph type="sldNum" sz="quarter" idx="4"/>
          </p:nvPr>
        </p:nvSpPr>
        <p:spPr/>
        <p:txBody>
          <a:bodyPr/>
          <a:lstStyle/>
          <a:p>
            <a:fld id="{2BAA97D9-9976-46D4-A464-9640EA54D84C}" type="slidenum">
              <a:rPr lang="en-GB" smtClean="0"/>
              <a:pPr/>
              <a:t>33</a:t>
            </a:fld>
            <a:endParaRPr lang="en-GB"/>
          </a:p>
        </p:txBody>
      </p:sp>
      <p:sp>
        <p:nvSpPr>
          <p:cNvPr id="4" name="Text Placeholder 3"/>
          <p:cNvSpPr>
            <a:spLocks noGrp="1"/>
          </p:cNvSpPr>
          <p:nvPr>
            <p:ph type="body" sz="quarter" idx="12"/>
          </p:nvPr>
        </p:nvSpPr>
        <p:spPr/>
        <p:txBody>
          <a:bodyPr/>
          <a:lstStyle/>
          <a:p>
            <a:endParaRPr lang="en-GB" smtClean="0"/>
          </a:p>
          <a:p>
            <a:r>
              <a:rPr lang="en-GB" smtClean="0"/>
              <a:t>Let us look at an example of a Microsoft Office 2000 only vulnerability to understand how to apply a code maturity score.</a:t>
            </a:r>
          </a:p>
          <a:p>
            <a:endParaRPr lang="en-GB" smtClean="0"/>
          </a:p>
          <a:p>
            <a:r>
              <a:rPr lang="en-GB" smtClean="0"/>
              <a:t>Fixed May 12, 2009 as CVE-2009-1131 by MS09-017.</a:t>
            </a:r>
          </a:p>
          <a:p>
            <a:pPr marL="0" indent="0">
              <a:buNone/>
            </a:pPr>
            <a:endParaRPr lang="en-GB" smtClean="0"/>
          </a:p>
          <a:p>
            <a:r>
              <a:rPr lang="en-GB" smtClean="0"/>
              <a:t>Buffer overflow in POWERPNT.EXE when parsing user names in CurrentUserAtom records (record type 0FF6h) in the “Current User” stream.</a:t>
            </a:r>
          </a:p>
          <a:p>
            <a:pPr marL="0" indent="0">
              <a:buNone/>
            </a:pPr>
            <a:endParaRPr lang="en-GB" smtClean="0"/>
          </a:p>
          <a:p>
            <a:endParaRPr lang="en-GB"/>
          </a:p>
        </p:txBody>
      </p:sp>
      <p:sp>
        <p:nvSpPr>
          <p:cNvPr id="5" name="Text Placeholder 4"/>
          <p:cNvSpPr>
            <a:spLocks noGrp="1"/>
          </p:cNvSpPr>
          <p:nvPr>
            <p:ph type="body" sz="quarter" idx="14"/>
          </p:nvPr>
        </p:nvSpPr>
        <p:spPr/>
        <p:txBody>
          <a:bodyPr/>
          <a:lstStyle/>
          <a:p>
            <a:pPr algn="ctr"/>
            <a:r>
              <a:rPr lang="en-GB" smtClean="0"/>
              <a:t>Code Maturity – Scoring Applied (CVE-2009-1131)</a:t>
            </a:r>
            <a:endParaRPr lang="en-GB"/>
          </a:p>
        </p:txBody>
      </p:sp>
    </p:spTree>
    <p:extLst>
      <p:ext uri="{BB962C8B-B14F-4D97-AF65-F5344CB8AC3E}">
        <p14:creationId xmlns:p14="http://schemas.microsoft.com/office/powerpoint/2010/main" val="119254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34</a:t>
            </a:fld>
            <a:endParaRPr lang="da-DK" dirty="0"/>
          </a:p>
        </p:txBody>
      </p:sp>
      <p:sp>
        <p:nvSpPr>
          <p:cNvPr id="4" name="Text Placeholder 3"/>
          <p:cNvSpPr>
            <a:spLocks noGrp="1"/>
          </p:cNvSpPr>
          <p:nvPr>
            <p:ph type="body" sz="quarter" idx="12"/>
          </p:nvPr>
        </p:nvSpPr>
        <p:spPr/>
        <p:txBody>
          <a:bodyPr/>
          <a:lstStyle/>
          <a:p>
            <a:endParaRPr lang="da-DK" dirty="0" smtClean="0"/>
          </a:p>
          <a:p>
            <a:r>
              <a:rPr lang="da-DK" dirty="0" smtClean="0"/>
              <a:t>CurrentUserAtom record is defined as:</a:t>
            </a:r>
          </a:p>
          <a:p>
            <a:pPr marL="0" indent="0">
              <a:buNone/>
            </a:pPr>
            <a:endParaRPr lang="da-DK" dirty="0" smtClean="0"/>
          </a:p>
          <a:p>
            <a:endParaRPr lang="da-DK" dirty="0" smtClean="0"/>
          </a:p>
          <a:p>
            <a:endParaRPr lang="da-DK" dirty="0"/>
          </a:p>
          <a:p>
            <a:endParaRPr lang="da-DK" dirty="0" smtClean="0"/>
          </a:p>
          <a:p>
            <a:endParaRPr lang="da-DK" dirty="0"/>
          </a:p>
          <a:p>
            <a:endParaRPr lang="da-DK" dirty="0" smtClean="0"/>
          </a:p>
          <a:p>
            <a:pPr marL="0" indent="0">
              <a:buNone/>
            </a:pPr>
            <a:endParaRPr lang="en-GB" dirty="0" smtClean="0"/>
          </a:p>
          <a:p>
            <a:endParaRPr lang="en-GB" dirty="0" smtClean="0"/>
          </a:p>
          <a:p>
            <a:endParaRPr lang="en-GB" dirty="0"/>
          </a:p>
          <a:p>
            <a:endParaRPr lang="en-GB" dirty="0" smtClean="0"/>
          </a:p>
          <a:p>
            <a:r>
              <a:rPr lang="en-GB" dirty="0" smtClean="0"/>
              <a:t>We </a:t>
            </a:r>
            <a:r>
              <a:rPr lang="en-GB" dirty="0" smtClean="0"/>
              <a:t>specifically care about the unsigned short "lenUserName</a:t>
            </a:r>
            <a:r>
              <a:rPr lang="en-GB" dirty="0"/>
              <a:t>" </a:t>
            </a:r>
            <a:r>
              <a:rPr lang="en-GB" dirty="0" smtClean="0"/>
              <a:t>value.</a:t>
            </a:r>
            <a:endParaRPr lang="en-GB" dirty="0"/>
          </a:p>
        </p:txBody>
      </p:sp>
      <p:sp>
        <p:nvSpPr>
          <p:cNvPr id="5" name="Text Placeholder 4"/>
          <p:cNvSpPr>
            <a:spLocks noGrp="1"/>
          </p:cNvSpPr>
          <p:nvPr>
            <p:ph type="body" sz="quarter" idx="14"/>
          </p:nvPr>
        </p:nvSpPr>
        <p:spPr/>
        <p:txBody>
          <a:bodyPr/>
          <a:lstStyle/>
          <a:p>
            <a:pPr algn="ctr"/>
            <a:r>
              <a:rPr lang="da-DK" dirty="0"/>
              <a:t>Code Maturity – Scoring </a:t>
            </a:r>
            <a:r>
              <a:rPr lang="da-DK" dirty="0" smtClean="0"/>
              <a:t>Applied (CVE-2009-1131)</a:t>
            </a:r>
            <a:endParaRPr lang="en-GB"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104255"/>
            <a:ext cx="4104456" cy="2996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1562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4869160"/>
            <a:ext cx="4710857" cy="1544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35</a:t>
            </a:fld>
            <a:endParaRPr lang="da-DK" dirty="0"/>
          </a:p>
        </p:txBody>
      </p:sp>
      <p:sp>
        <p:nvSpPr>
          <p:cNvPr id="5" name="Text Placeholder 4"/>
          <p:cNvSpPr>
            <a:spLocks noGrp="1"/>
          </p:cNvSpPr>
          <p:nvPr>
            <p:ph type="body" sz="quarter" idx="14"/>
          </p:nvPr>
        </p:nvSpPr>
        <p:spPr/>
        <p:txBody>
          <a:bodyPr/>
          <a:lstStyle/>
          <a:p>
            <a:pPr algn="ctr"/>
            <a:r>
              <a:rPr lang="da-DK" dirty="0"/>
              <a:t>Code Maturity – Scoring </a:t>
            </a:r>
            <a:r>
              <a:rPr lang="da-DK" dirty="0" smtClean="0"/>
              <a:t>Applied</a:t>
            </a:r>
            <a:r>
              <a:rPr lang="en-GB" dirty="0" smtClean="0"/>
              <a:t> </a:t>
            </a:r>
            <a:r>
              <a:rPr lang="da-DK" dirty="0" smtClean="0"/>
              <a:t>(CVE-2009-1131)</a:t>
            </a:r>
            <a:endParaRPr lang="en-GB"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980728"/>
            <a:ext cx="7527404" cy="3930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769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36</a:t>
            </a:fld>
            <a:endParaRPr lang="da-DK" dirty="0"/>
          </a:p>
        </p:txBody>
      </p:sp>
      <p:sp>
        <p:nvSpPr>
          <p:cNvPr id="5" name="Text Placeholder 4"/>
          <p:cNvSpPr>
            <a:spLocks noGrp="1"/>
          </p:cNvSpPr>
          <p:nvPr>
            <p:ph type="body" sz="quarter" idx="14"/>
          </p:nvPr>
        </p:nvSpPr>
        <p:spPr/>
        <p:txBody>
          <a:bodyPr/>
          <a:lstStyle/>
          <a:p>
            <a:pPr algn="ctr"/>
            <a:r>
              <a:rPr lang="da-DK" dirty="0"/>
              <a:t>Code Maturity – Scoring </a:t>
            </a:r>
            <a:r>
              <a:rPr lang="da-DK" dirty="0" smtClean="0"/>
              <a:t>Applied</a:t>
            </a:r>
            <a:r>
              <a:rPr lang="en-GB" dirty="0" smtClean="0"/>
              <a:t> </a:t>
            </a:r>
            <a:r>
              <a:rPr lang="da-DK" dirty="0" smtClean="0"/>
              <a:t>(CVE-2009-1131)</a:t>
            </a:r>
            <a:endParaRPr lang="en-GB"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962283"/>
            <a:ext cx="8496944" cy="541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9065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37</a:t>
            </a:fld>
            <a:endParaRPr lang="da-DK" dirty="0"/>
          </a:p>
        </p:txBody>
      </p:sp>
      <p:sp>
        <p:nvSpPr>
          <p:cNvPr id="5" name="Text Placeholder 4"/>
          <p:cNvSpPr>
            <a:spLocks noGrp="1"/>
          </p:cNvSpPr>
          <p:nvPr>
            <p:ph type="body" sz="quarter" idx="14"/>
          </p:nvPr>
        </p:nvSpPr>
        <p:spPr/>
        <p:txBody>
          <a:bodyPr/>
          <a:lstStyle/>
          <a:p>
            <a:pPr algn="ctr"/>
            <a:r>
              <a:rPr lang="da-DK" dirty="0"/>
              <a:t>Code Maturity – Scoring </a:t>
            </a:r>
            <a:r>
              <a:rPr lang="da-DK" dirty="0" smtClean="0"/>
              <a:t>Applied</a:t>
            </a:r>
            <a:r>
              <a:rPr lang="en-GB" dirty="0" smtClean="0"/>
              <a:t> </a:t>
            </a:r>
            <a:r>
              <a:rPr lang="da-DK" dirty="0" smtClean="0"/>
              <a:t>(CVE-2009-1131)</a:t>
            </a:r>
            <a:endParaRPr lang="en-GB"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853574"/>
            <a:ext cx="8731113" cy="258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9880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38</a:t>
            </a:fld>
            <a:endParaRPr lang="da-DK" dirty="0"/>
          </a:p>
        </p:txBody>
      </p:sp>
      <p:sp>
        <p:nvSpPr>
          <p:cNvPr id="5" name="Text Placeholder 4"/>
          <p:cNvSpPr>
            <a:spLocks noGrp="1"/>
          </p:cNvSpPr>
          <p:nvPr>
            <p:ph type="body" sz="quarter" idx="14"/>
          </p:nvPr>
        </p:nvSpPr>
        <p:spPr/>
        <p:txBody>
          <a:bodyPr/>
          <a:lstStyle/>
          <a:p>
            <a:pPr algn="ctr"/>
            <a:r>
              <a:rPr lang="da-DK" dirty="0"/>
              <a:t>Code Maturity – Scoring </a:t>
            </a:r>
            <a:r>
              <a:rPr lang="da-DK" dirty="0" smtClean="0"/>
              <a:t>Applied</a:t>
            </a:r>
            <a:r>
              <a:rPr lang="en-GB" dirty="0" smtClean="0"/>
              <a:t> </a:t>
            </a:r>
            <a:r>
              <a:rPr lang="da-DK" dirty="0" smtClean="0"/>
              <a:t>(CVE-2009-1131)</a:t>
            </a:r>
            <a:endParaRPr lang="en-GB"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998969"/>
            <a:ext cx="7823051" cy="5238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p:cNvSpPr/>
          <p:nvPr/>
        </p:nvSpPr>
        <p:spPr>
          <a:xfrm>
            <a:off x="6156176" y="5589240"/>
            <a:ext cx="2664296" cy="864096"/>
          </a:xfrm>
          <a:prstGeom prst="ellipse">
            <a:avLst/>
          </a:prstGeom>
          <a:effectLst>
            <a:reflection blurRad="6350" stA="52000" endA="300" endPos="35000" dir="5400000" sy="-100000" algn="bl" rotWithShape="0"/>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da-DK" dirty="0" smtClean="0"/>
              <a:t>Code Maturity</a:t>
            </a:r>
            <a:r>
              <a:rPr lang="da-DK" dirty="0"/>
              <a:t> </a:t>
            </a:r>
            <a:r>
              <a:rPr lang="da-DK" dirty="0" smtClean="0"/>
              <a:t>Score: 1</a:t>
            </a:r>
            <a:endParaRPr lang="en-GB" dirty="0"/>
          </a:p>
        </p:txBody>
      </p:sp>
    </p:spTree>
    <p:extLst>
      <p:ext uri="{BB962C8B-B14F-4D97-AF65-F5344CB8AC3E}">
        <p14:creationId xmlns:p14="http://schemas.microsoft.com/office/powerpoint/2010/main" val="41052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39</a:t>
            </a:fld>
            <a:endParaRPr lang="da-DK" dirty="0"/>
          </a:p>
        </p:txBody>
      </p:sp>
      <p:sp>
        <p:nvSpPr>
          <p:cNvPr id="4" name="Text Placeholder 3"/>
          <p:cNvSpPr>
            <a:spLocks noGrp="1"/>
          </p:cNvSpPr>
          <p:nvPr>
            <p:ph type="body" sz="quarter" idx="12"/>
          </p:nvPr>
        </p:nvSpPr>
        <p:spPr/>
        <p:txBody>
          <a:bodyPr/>
          <a:lstStyle/>
          <a:p>
            <a:endParaRPr lang="en-GB" dirty="0" smtClean="0"/>
          </a:p>
          <a:p>
            <a:pPr marL="0" indent="0">
              <a:buNone/>
            </a:pPr>
            <a:endParaRPr lang="en-GB" dirty="0" smtClean="0"/>
          </a:p>
          <a:p>
            <a:pPr marL="0" indent="0" algn="ctr">
              <a:buNone/>
            </a:pPr>
            <a:endParaRPr lang="en-GB" dirty="0" smtClean="0"/>
          </a:p>
          <a:p>
            <a:pPr marL="0" indent="0" algn="ctr">
              <a:buNone/>
            </a:pPr>
            <a:r>
              <a:rPr lang="en-GB" dirty="0" smtClean="0"/>
              <a:t>Let </a:t>
            </a:r>
            <a:r>
              <a:rPr lang="en-GB" dirty="0"/>
              <a:t>us briefly look at a Novell iPrint Client to understand how to apply code maturity </a:t>
            </a:r>
            <a:r>
              <a:rPr lang="en-GB" dirty="0" smtClean="0"/>
              <a:t>scores and evaluate the security state of a whole product based on code maturity.</a:t>
            </a:r>
          </a:p>
        </p:txBody>
      </p:sp>
      <p:sp>
        <p:nvSpPr>
          <p:cNvPr id="5" name="Text Placeholder 4"/>
          <p:cNvSpPr>
            <a:spLocks noGrp="1"/>
          </p:cNvSpPr>
          <p:nvPr>
            <p:ph type="body" sz="quarter" idx="14"/>
          </p:nvPr>
        </p:nvSpPr>
        <p:spPr/>
        <p:txBody>
          <a:bodyPr/>
          <a:lstStyle/>
          <a:p>
            <a:pPr algn="ctr"/>
            <a:r>
              <a:rPr lang="da-DK" dirty="0" smtClean="0"/>
              <a:t>Code Maturity – Scoring Applied for Product</a:t>
            </a:r>
            <a:endParaRPr lang="en-GB" dirty="0"/>
          </a:p>
        </p:txBody>
      </p:sp>
    </p:spTree>
    <p:extLst>
      <p:ext uri="{BB962C8B-B14F-4D97-AF65-F5344CB8AC3E}">
        <p14:creationId xmlns:p14="http://schemas.microsoft.com/office/powerpoint/2010/main" val="1813255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40</a:t>
            </a:fld>
            <a:endParaRPr lang="da-DK" dirty="0"/>
          </a:p>
        </p:txBody>
      </p:sp>
      <p:sp>
        <p:nvSpPr>
          <p:cNvPr id="4" name="Text Placeholder 3"/>
          <p:cNvSpPr>
            <a:spLocks noGrp="1"/>
          </p:cNvSpPr>
          <p:nvPr>
            <p:ph type="body" sz="quarter" idx="12"/>
          </p:nvPr>
        </p:nvSpPr>
        <p:spPr/>
        <p:txBody>
          <a:bodyPr/>
          <a:lstStyle/>
          <a:p>
            <a:r>
              <a:rPr lang="en-GB" dirty="0"/>
              <a:t>SA27994: inline memcpy using src length as size (fixed: 4.34)</a:t>
            </a:r>
          </a:p>
          <a:p>
            <a:r>
              <a:rPr lang="en-GB" dirty="0"/>
              <a:t>SA30709: x3 inline memcpy using src length as size + x1 wsprintfA (fixed: 4.36)</a:t>
            </a:r>
          </a:p>
          <a:p>
            <a:r>
              <a:rPr lang="en-GB" dirty="0"/>
              <a:t>SA30667#1: inline memcpy using src length as size (fixed: 4.38 + 5.08)</a:t>
            </a:r>
          </a:p>
          <a:p>
            <a:r>
              <a:rPr lang="en-GB" dirty="0"/>
              <a:t>SA30667#2: x2 wsprintfA without any checks (fixed: 4.38 + 5.08)</a:t>
            </a:r>
          </a:p>
          <a:p>
            <a:r>
              <a:rPr lang="en-GB" dirty="0"/>
              <a:t>SA30667#3: lstrcpyA without checks (fixed: 4.38 + 5.08)</a:t>
            </a:r>
          </a:p>
          <a:p>
            <a:r>
              <a:rPr lang="en-GB" dirty="0"/>
              <a:t>SA30667#4: x2 strcpy (fixed: 4.38 + 5.08</a:t>
            </a:r>
            <a:r>
              <a:rPr lang="en-GB" dirty="0" smtClean="0"/>
              <a:t>)</a:t>
            </a:r>
            <a:endParaRPr lang="en-GB" dirty="0"/>
          </a:p>
          <a:p>
            <a:r>
              <a:rPr lang="en-GB" dirty="0"/>
              <a:t>SA30667#5: x3 wsprintfA (fixed: 4.38 + 5.08)</a:t>
            </a:r>
          </a:p>
          <a:p>
            <a:r>
              <a:rPr lang="en-GB" dirty="0"/>
              <a:t>SA30667#6: inline memcpy using src length as size (fixed: 4.38 + 5.08)</a:t>
            </a:r>
          </a:p>
          <a:p>
            <a:r>
              <a:rPr lang="en-GB" dirty="0"/>
              <a:t>SA30667#7: unsafe method (fixed: 4.38 + 5.08)</a:t>
            </a:r>
          </a:p>
          <a:p>
            <a:r>
              <a:rPr lang="en-GB" dirty="0"/>
              <a:t>SA30667#8: inline memcpy using src length as size (fixed: 4.38 + 5.08)</a:t>
            </a:r>
          </a:p>
          <a:p>
            <a:r>
              <a:rPr lang="en-GB" dirty="0"/>
              <a:t>SA30667#9: x3 strcpy (fixed: 4.38 + 5.08</a:t>
            </a:r>
            <a:r>
              <a:rPr lang="en-GB" dirty="0" smtClean="0"/>
              <a:t>)</a:t>
            </a:r>
            <a:endParaRPr lang="en-GB" dirty="0"/>
          </a:p>
          <a:p>
            <a:r>
              <a:rPr lang="en-GB" dirty="0"/>
              <a:t>SA30667#10: inline memcpy using src length as size (fixed: 4.38 + 5.08)</a:t>
            </a:r>
          </a:p>
          <a:p>
            <a:r>
              <a:rPr lang="en-GB" dirty="0"/>
              <a:t>SA31370: strcpy (fixed: 4.38 + 5.08)</a:t>
            </a:r>
          </a:p>
          <a:p>
            <a:pPr marL="0" indent="0">
              <a:buNone/>
            </a:pPr>
            <a:endParaRPr lang="en-GB" dirty="0" smtClean="0"/>
          </a:p>
          <a:p>
            <a:pPr marL="0" indent="0">
              <a:buNone/>
            </a:pPr>
            <a:r>
              <a:rPr lang="en-GB" sz="1000" dirty="0" smtClean="0"/>
              <a:t>NOTE</a:t>
            </a:r>
            <a:r>
              <a:rPr lang="en-GB" sz="1000" dirty="0" smtClean="0"/>
              <a:t>: All calls to </a:t>
            </a:r>
            <a:r>
              <a:rPr lang="en-GB" sz="1000" dirty="0" err="1" smtClean="0"/>
              <a:t>memcpy</a:t>
            </a:r>
            <a:r>
              <a:rPr lang="en-GB" sz="1000" dirty="0" smtClean="0"/>
              <a:t> just use length of source buffer as size argument and are, therefore, no different than classic </a:t>
            </a:r>
          </a:p>
          <a:p>
            <a:pPr marL="0" indent="0">
              <a:buNone/>
            </a:pPr>
            <a:r>
              <a:rPr lang="en-GB" sz="1000" dirty="0" smtClean="0"/>
              <a:t>buffer overflows e.g. caused by </a:t>
            </a:r>
            <a:r>
              <a:rPr lang="en-GB" sz="1000" dirty="0" err="1" smtClean="0"/>
              <a:t>strcpy</a:t>
            </a:r>
            <a:r>
              <a:rPr lang="en-GB" sz="1000" dirty="0" smtClean="0"/>
              <a:t>. For this reason, code maturity score is decremented for all of them.</a:t>
            </a:r>
            <a:endParaRPr lang="en-GB" sz="1000" dirty="0"/>
          </a:p>
        </p:txBody>
      </p:sp>
      <p:sp>
        <p:nvSpPr>
          <p:cNvPr id="5" name="Text Placeholder 4"/>
          <p:cNvSpPr>
            <a:spLocks noGrp="1"/>
          </p:cNvSpPr>
          <p:nvPr>
            <p:ph type="body" sz="quarter" idx="14"/>
          </p:nvPr>
        </p:nvSpPr>
        <p:spPr/>
        <p:txBody>
          <a:bodyPr/>
          <a:lstStyle/>
          <a:p>
            <a:pPr algn="ctr"/>
            <a:r>
              <a:rPr lang="da-DK" dirty="0" smtClean="0"/>
              <a:t>Code Maturity – Novell iPrint Client (2008)</a:t>
            </a:r>
            <a:endParaRPr lang="en-GB" dirty="0"/>
          </a:p>
        </p:txBody>
      </p:sp>
      <p:sp>
        <p:nvSpPr>
          <p:cNvPr id="6" name="Oval 5"/>
          <p:cNvSpPr/>
          <p:nvPr/>
        </p:nvSpPr>
        <p:spPr>
          <a:xfrm>
            <a:off x="7164288" y="5589240"/>
            <a:ext cx="1656184" cy="864096"/>
          </a:xfrm>
          <a:prstGeom prst="ellipse">
            <a:avLst/>
          </a:prstGeom>
          <a:effectLst>
            <a:reflection blurRad="6350" stA="52000" endA="300" endPos="35000" dir="5400000" sy="-100000" algn="bl" rotWithShape="0"/>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da-DK" dirty="0" smtClean="0"/>
              <a:t>1 points / 22 vulns</a:t>
            </a:r>
            <a:endParaRPr lang="en-GB" dirty="0"/>
          </a:p>
        </p:txBody>
      </p:sp>
    </p:spTree>
    <p:extLst>
      <p:ext uri="{BB962C8B-B14F-4D97-AF65-F5344CB8AC3E}">
        <p14:creationId xmlns:p14="http://schemas.microsoft.com/office/powerpoint/2010/main" val="2595154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41</a:t>
            </a:fld>
            <a:endParaRPr lang="da-DK" dirty="0"/>
          </a:p>
        </p:txBody>
      </p:sp>
      <p:sp>
        <p:nvSpPr>
          <p:cNvPr id="4" name="Text Placeholder 3"/>
          <p:cNvSpPr>
            <a:spLocks noGrp="1"/>
          </p:cNvSpPr>
          <p:nvPr>
            <p:ph type="body" sz="quarter" idx="12"/>
          </p:nvPr>
        </p:nvSpPr>
        <p:spPr/>
        <p:txBody>
          <a:bodyPr/>
          <a:lstStyle/>
          <a:p>
            <a:pPr marL="0" indent="0">
              <a:buNone/>
            </a:pPr>
            <a:endParaRPr lang="en-GB" dirty="0"/>
          </a:p>
          <a:p>
            <a:r>
              <a:rPr lang="en-GB" dirty="0"/>
              <a:t>SA37169#1: inline memcpy using src length as size (fixed: 5.32)</a:t>
            </a:r>
          </a:p>
          <a:p>
            <a:r>
              <a:rPr lang="en-GB" dirty="0"/>
              <a:t>SA37169#2: inline memcpy using src length as size (fixed: 5.32)</a:t>
            </a:r>
          </a:p>
          <a:p>
            <a:pPr marL="0" indent="0">
              <a:buNone/>
            </a:pPr>
            <a:endParaRPr lang="en-GB" dirty="0"/>
          </a:p>
        </p:txBody>
      </p:sp>
      <p:sp>
        <p:nvSpPr>
          <p:cNvPr id="5" name="Text Placeholder 4"/>
          <p:cNvSpPr>
            <a:spLocks noGrp="1"/>
          </p:cNvSpPr>
          <p:nvPr>
            <p:ph type="body" sz="quarter" idx="14"/>
          </p:nvPr>
        </p:nvSpPr>
        <p:spPr/>
        <p:txBody>
          <a:bodyPr/>
          <a:lstStyle/>
          <a:p>
            <a:pPr algn="ctr"/>
            <a:r>
              <a:rPr lang="da-DK" dirty="0" smtClean="0"/>
              <a:t>Code Maturity – Novell iPrint Client (2009)</a:t>
            </a:r>
            <a:endParaRPr lang="en-GB" dirty="0"/>
          </a:p>
        </p:txBody>
      </p:sp>
      <p:sp>
        <p:nvSpPr>
          <p:cNvPr id="6" name="Oval 5"/>
          <p:cNvSpPr/>
          <p:nvPr/>
        </p:nvSpPr>
        <p:spPr>
          <a:xfrm>
            <a:off x="7164288" y="5589240"/>
            <a:ext cx="1656184" cy="864096"/>
          </a:xfrm>
          <a:prstGeom prst="ellipse">
            <a:avLst/>
          </a:prstGeom>
          <a:effectLst>
            <a:reflection blurRad="6350" stA="52000" endA="300" endPos="35000" dir="5400000" sy="-100000" algn="bl" rotWithShape="0"/>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da-DK" dirty="0"/>
              <a:t>0</a:t>
            </a:r>
            <a:r>
              <a:rPr lang="da-DK" dirty="0" smtClean="0"/>
              <a:t> points / 2 vulns</a:t>
            </a:r>
            <a:endParaRPr lang="en-GB" dirty="0"/>
          </a:p>
        </p:txBody>
      </p:sp>
    </p:spTree>
    <p:extLst>
      <p:ext uri="{BB962C8B-B14F-4D97-AF65-F5344CB8AC3E}">
        <p14:creationId xmlns:p14="http://schemas.microsoft.com/office/powerpoint/2010/main" val="1748977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42</a:t>
            </a:fld>
            <a:endParaRPr lang="da-DK" dirty="0"/>
          </a:p>
        </p:txBody>
      </p:sp>
      <p:sp>
        <p:nvSpPr>
          <p:cNvPr id="4" name="Text Placeholder 3"/>
          <p:cNvSpPr>
            <a:spLocks noGrp="1"/>
          </p:cNvSpPr>
          <p:nvPr>
            <p:ph type="body" sz="quarter" idx="12"/>
          </p:nvPr>
        </p:nvSpPr>
        <p:spPr>
          <a:xfrm>
            <a:off x="395536" y="1268165"/>
            <a:ext cx="7908538" cy="3456979"/>
          </a:xfrm>
        </p:spPr>
        <p:txBody>
          <a:bodyPr/>
          <a:lstStyle/>
          <a:p>
            <a:endParaRPr lang="en-GB" dirty="0" smtClean="0"/>
          </a:p>
          <a:p>
            <a:r>
              <a:rPr lang="en-GB" dirty="0" smtClean="0"/>
              <a:t>SA40782#3</a:t>
            </a:r>
            <a:r>
              <a:rPr lang="en-GB" dirty="0"/>
              <a:t>: inline memcpy using src length as size (fixed: 5.42)</a:t>
            </a:r>
          </a:p>
          <a:p>
            <a:r>
              <a:rPr lang="en-GB" dirty="0" smtClean="0"/>
              <a:t>SA40805#1</a:t>
            </a:r>
            <a:r>
              <a:rPr lang="en-GB" dirty="0"/>
              <a:t>: wsprintfA (fixed: 5.44)</a:t>
            </a:r>
          </a:p>
          <a:p>
            <a:r>
              <a:rPr lang="en-GB" dirty="0"/>
              <a:t>SA40805#2: uninitialised pointer (fixed: 5.44)</a:t>
            </a:r>
          </a:p>
          <a:p>
            <a:r>
              <a:rPr lang="en-GB" dirty="0"/>
              <a:t>SA42298#1: strcpy (fixed: 5.56)</a:t>
            </a:r>
          </a:p>
          <a:p>
            <a:r>
              <a:rPr lang="en-GB" dirty="0" smtClean="0"/>
              <a:t>SA42298#4</a:t>
            </a:r>
            <a:r>
              <a:rPr lang="en-GB" dirty="0"/>
              <a:t>: strcpy (fixed: 5.56)</a:t>
            </a:r>
          </a:p>
          <a:p>
            <a:r>
              <a:rPr lang="en-GB" dirty="0" smtClean="0"/>
              <a:t>SA42298</a:t>
            </a:r>
            <a:r>
              <a:rPr lang="en-GB" dirty="0"/>
              <a:t>#?: wsprintfA (fixed: 5.56</a:t>
            </a:r>
            <a:r>
              <a:rPr lang="en-GB" dirty="0" smtClean="0"/>
              <a:t>)</a:t>
            </a:r>
          </a:p>
        </p:txBody>
      </p:sp>
      <p:sp>
        <p:nvSpPr>
          <p:cNvPr id="5" name="Text Placeholder 4"/>
          <p:cNvSpPr>
            <a:spLocks noGrp="1"/>
          </p:cNvSpPr>
          <p:nvPr>
            <p:ph type="body" sz="quarter" idx="14"/>
          </p:nvPr>
        </p:nvSpPr>
        <p:spPr/>
        <p:txBody>
          <a:bodyPr/>
          <a:lstStyle/>
          <a:p>
            <a:pPr algn="ctr"/>
            <a:r>
              <a:rPr lang="da-DK" dirty="0" smtClean="0"/>
              <a:t>Code Maturity – Novell iPrint Client (2010)</a:t>
            </a:r>
            <a:endParaRPr lang="en-GB" dirty="0"/>
          </a:p>
        </p:txBody>
      </p:sp>
      <p:sp>
        <p:nvSpPr>
          <p:cNvPr id="6" name="Oval 5"/>
          <p:cNvSpPr/>
          <p:nvPr/>
        </p:nvSpPr>
        <p:spPr>
          <a:xfrm>
            <a:off x="7164288" y="5589240"/>
            <a:ext cx="1656184" cy="864096"/>
          </a:xfrm>
          <a:prstGeom prst="ellipse">
            <a:avLst/>
          </a:prstGeom>
          <a:effectLst>
            <a:reflection blurRad="6350" stA="52000" endA="300" endPos="35000" dir="5400000" sy="-100000" algn="bl" rotWithShape="0"/>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da-DK" dirty="0" smtClean="0"/>
              <a:t>3 points / 6 vulns</a:t>
            </a:r>
            <a:endParaRPr lang="en-GB" dirty="0"/>
          </a:p>
        </p:txBody>
      </p:sp>
    </p:spTree>
    <p:extLst>
      <p:ext uri="{BB962C8B-B14F-4D97-AF65-F5344CB8AC3E}">
        <p14:creationId xmlns:p14="http://schemas.microsoft.com/office/powerpoint/2010/main" val="695160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43</a:t>
            </a:fld>
            <a:endParaRPr lang="da-DK" dirty="0"/>
          </a:p>
        </p:txBody>
      </p:sp>
      <p:sp>
        <p:nvSpPr>
          <p:cNvPr id="4" name="Text Placeholder 3"/>
          <p:cNvSpPr>
            <a:spLocks noGrp="1"/>
          </p:cNvSpPr>
          <p:nvPr>
            <p:ph type="body" sz="quarter" idx="12"/>
          </p:nvPr>
        </p:nvSpPr>
        <p:spPr/>
        <p:txBody>
          <a:bodyPr/>
          <a:lstStyle/>
          <a:p>
            <a:endParaRPr lang="en-GB" dirty="0" smtClean="0"/>
          </a:p>
          <a:p>
            <a:r>
              <a:rPr lang="en-GB" dirty="0" smtClean="0"/>
              <a:t>SA44811#1</a:t>
            </a:r>
            <a:r>
              <a:rPr lang="en-GB" dirty="0"/>
              <a:t>: strcpy (fixed: 5.64)</a:t>
            </a:r>
          </a:p>
          <a:p>
            <a:r>
              <a:rPr lang="en-GB" dirty="0"/>
              <a:t>SA44811#2: strcpy (fixed: 5.64)</a:t>
            </a:r>
          </a:p>
          <a:p>
            <a:r>
              <a:rPr lang="en-GB" dirty="0"/>
              <a:t>SA44811#3: strcpy (fixed: 5.64)</a:t>
            </a:r>
          </a:p>
          <a:p>
            <a:r>
              <a:rPr lang="en-GB" dirty="0"/>
              <a:t>SA44811#4: strcpy (fixed: 5.64)</a:t>
            </a:r>
          </a:p>
          <a:p>
            <a:r>
              <a:rPr lang="en-GB" dirty="0"/>
              <a:t>SA44811#5: strcpy (fixed: 5.64)</a:t>
            </a:r>
          </a:p>
          <a:p>
            <a:r>
              <a:rPr lang="en-GB" dirty="0"/>
              <a:t>SA44811#6: strcpy (fixed: 5.64)</a:t>
            </a:r>
          </a:p>
          <a:p>
            <a:r>
              <a:rPr lang="en-GB" dirty="0"/>
              <a:t>SA44811#7: strcpy (fixed: 5.64)</a:t>
            </a:r>
          </a:p>
          <a:p>
            <a:r>
              <a:rPr lang="en-GB" dirty="0" smtClean="0"/>
              <a:t>SA44811#10</a:t>
            </a:r>
            <a:r>
              <a:rPr lang="en-GB" dirty="0"/>
              <a:t>: custom copy </a:t>
            </a:r>
            <a:r>
              <a:rPr lang="en-GB" dirty="0" smtClean="0"/>
              <a:t>function </a:t>
            </a:r>
            <a:r>
              <a:rPr lang="en-GB" dirty="0"/>
              <a:t>with no size checks (fixed: 5.64</a:t>
            </a:r>
            <a:r>
              <a:rPr lang="en-GB" dirty="0" smtClean="0"/>
              <a:t>)</a:t>
            </a:r>
            <a:endParaRPr lang="en-GB" dirty="0"/>
          </a:p>
        </p:txBody>
      </p:sp>
      <p:sp>
        <p:nvSpPr>
          <p:cNvPr id="5" name="Text Placeholder 4"/>
          <p:cNvSpPr>
            <a:spLocks noGrp="1"/>
          </p:cNvSpPr>
          <p:nvPr>
            <p:ph type="body" sz="quarter" idx="14"/>
          </p:nvPr>
        </p:nvSpPr>
        <p:spPr/>
        <p:txBody>
          <a:bodyPr/>
          <a:lstStyle/>
          <a:p>
            <a:pPr algn="ctr"/>
            <a:r>
              <a:rPr lang="da-DK" dirty="0" smtClean="0"/>
              <a:t>Code Maturity – Novell iPrint Client (2011)</a:t>
            </a:r>
            <a:endParaRPr lang="en-GB" dirty="0"/>
          </a:p>
        </p:txBody>
      </p:sp>
      <p:sp>
        <p:nvSpPr>
          <p:cNvPr id="6" name="Oval 5"/>
          <p:cNvSpPr/>
          <p:nvPr/>
        </p:nvSpPr>
        <p:spPr>
          <a:xfrm>
            <a:off x="7164288" y="5589240"/>
            <a:ext cx="1656184" cy="864096"/>
          </a:xfrm>
          <a:prstGeom prst="ellipse">
            <a:avLst/>
          </a:prstGeom>
          <a:effectLst>
            <a:reflection blurRad="6350" stA="52000" endA="300" endPos="35000" dir="5400000" sy="-100000" algn="bl" rotWithShape="0"/>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da-DK" dirty="0" smtClean="0"/>
              <a:t>0 points / 8 vulns</a:t>
            </a:r>
            <a:endParaRPr lang="en-GB" dirty="0"/>
          </a:p>
        </p:txBody>
      </p:sp>
    </p:spTree>
    <p:extLst>
      <p:ext uri="{BB962C8B-B14F-4D97-AF65-F5344CB8AC3E}">
        <p14:creationId xmlns:p14="http://schemas.microsoft.com/office/powerpoint/2010/main" val="333824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44</a:t>
            </a:fld>
            <a:endParaRPr lang="da-DK" dirty="0"/>
          </a:p>
        </p:txBody>
      </p:sp>
      <p:sp>
        <p:nvSpPr>
          <p:cNvPr id="4" name="Text Placeholder 3"/>
          <p:cNvSpPr>
            <a:spLocks noGrp="1"/>
          </p:cNvSpPr>
          <p:nvPr>
            <p:ph type="body" sz="quarter" idx="12"/>
          </p:nvPr>
        </p:nvSpPr>
        <p:spPr/>
        <p:txBody>
          <a:bodyPr/>
          <a:lstStyle/>
          <a:p>
            <a:endParaRPr lang="en-GB" dirty="0" smtClean="0"/>
          </a:p>
          <a:p>
            <a:r>
              <a:rPr lang="en-GB" dirty="0" smtClean="0"/>
              <a:t>SA47867#1</a:t>
            </a:r>
            <a:r>
              <a:rPr lang="en-GB" dirty="0"/>
              <a:t>: strcat (fixed: 5.78)</a:t>
            </a:r>
          </a:p>
          <a:p>
            <a:r>
              <a:rPr lang="en-GB" dirty="0"/>
              <a:t>SA47867#2a: uninitialised stack variable (fixed: 5.78</a:t>
            </a:r>
            <a:r>
              <a:rPr lang="en-GB" dirty="0" smtClean="0"/>
              <a:t>)</a:t>
            </a:r>
            <a:r>
              <a:rPr lang="en-GB" baseline="30000" dirty="0" smtClean="0"/>
              <a:t>[1]</a:t>
            </a:r>
            <a:endParaRPr lang="en-GB" baseline="30000" dirty="0"/>
          </a:p>
          <a:p>
            <a:r>
              <a:rPr lang="en-GB" dirty="0"/>
              <a:t>SA47867#2b: uninitialised stack variable (fixed: 5.78</a:t>
            </a:r>
            <a:r>
              <a:rPr lang="en-GB" dirty="0" smtClean="0"/>
              <a:t>)</a:t>
            </a:r>
            <a:r>
              <a:rPr lang="en-GB" baseline="30000" dirty="0" smtClean="0"/>
              <a:t>[1]</a:t>
            </a:r>
          </a:p>
          <a:p>
            <a:endParaRPr lang="da-DK" dirty="0"/>
          </a:p>
          <a:p>
            <a:endParaRPr lang="da-DK" dirty="0" smtClean="0"/>
          </a:p>
          <a:p>
            <a:endParaRPr lang="da-DK" dirty="0"/>
          </a:p>
          <a:p>
            <a:pPr marL="0" indent="0">
              <a:buNone/>
            </a:pPr>
            <a:endParaRPr lang="da-DK" dirty="0" smtClean="0"/>
          </a:p>
          <a:p>
            <a:pPr marL="0" indent="0">
              <a:buNone/>
            </a:pPr>
            <a:endParaRPr lang="da-DK" dirty="0"/>
          </a:p>
          <a:p>
            <a:pPr marL="0" indent="0">
              <a:buNone/>
            </a:pPr>
            <a:endParaRPr lang="da-DK" dirty="0" smtClean="0"/>
          </a:p>
          <a:p>
            <a:pPr marL="0" indent="0">
              <a:buNone/>
            </a:pPr>
            <a:endParaRPr lang="da-DK" dirty="0"/>
          </a:p>
          <a:p>
            <a:pPr marL="0" indent="0">
              <a:buNone/>
            </a:pPr>
            <a:endParaRPr lang="da-DK" dirty="0" smtClean="0"/>
          </a:p>
          <a:p>
            <a:pPr marL="0" indent="0">
              <a:buNone/>
            </a:pPr>
            <a:endParaRPr lang="da-DK" dirty="0"/>
          </a:p>
          <a:p>
            <a:pPr marL="0" indent="0">
              <a:buNone/>
            </a:pPr>
            <a:endParaRPr lang="da-DK" dirty="0" smtClean="0"/>
          </a:p>
          <a:p>
            <a:pPr marL="0" indent="0">
              <a:buNone/>
            </a:pPr>
            <a:r>
              <a:rPr lang="da-DK" sz="1000" dirty="0" smtClean="0"/>
              <a:t>[</a:t>
            </a:r>
            <a:r>
              <a:rPr lang="da-DK" sz="1000" dirty="0" smtClean="0"/>
              <a:t>1]: Normally score would be 3, but vulnerability is easily triggered by just passing an overly long string (512 bytes or longer),</a:t>
            </a:r>
          </a:p>
          <a:p>
            <a:pPr marL="0" indent="0">
              <a:buNone/>
            </a:pPr>
            <a:r>
              <a:rPr lang="da-DK" sz="1000" dirty="0" smtClean="0"/>
              <a:t>      therefore, causing adjustment of -1.</a:t>
            </a:r>
            <a:endParaRPr lang="en-GB" sz="1000" dirty="0"/>
          </a:p>
        </p:txBody>
      </p:sp>
      <p:sp>
        <p:nvSpPr>
          <p:cNvPr id="5" name="Text Placeholder 4"/>
          <p:cNvSpPr>
            <a:spLocks noGrp="1"/>
          </p:cNvSpPr>
          <p:nvPr>
            <p:ph type="body" sz="quarter" idx="14"/>
          </p:nvPr>
        </p:nvSpPr>
        <p:spPr/>
        <p:txBody>
          <a:bodyPr/>
          <a:lstStyle/>
          <a:p>
            <a:pPr algn="ctr"/>
            <a:r>
              <a:rPr lang="da-DK" dirty="0" smtClean="0"/>
              <a:t>Code Maturity – Novell iPrint Client (2012)</a:t>
            </a:r>
            <a:endParaRPr lang="en-GB" dirty="0"/>
          </a:p>
        </p:txBody>
      </p:sp>
      <p:sp>
        <p:nvSpPr>
          <p:cNvPr id="6" name="Oval 5"/>
          <p:cNvSpPr/>
          <p:nvPr/>
        </p:nvSpPr>
        <p:spPr>
          <a:xfrm>
            <a:off x="7164288" y="5589240"/>
            <a:ext cx="1656184" cy="864096"/>
          </a:xfrm>
          <a:prstGeom prst="ellipse">
            <a:avLst/>
          </a:prstGeom>
          <a:effectLst>
            <a:reflection blurRad="6350" stA="52000" endA="300" endPos="35000" dir="5400000" sy="-100000" algn="bl" rotWithShape="0"/>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da-DK" dirty="0"/>
              <a:t>4</a:t>
            </a:r>
            <a:r>
              <a:rPr lang="da-DK" dirty="0" smtClean="0"/>
              <a:t> points / 3 vulns</a:t>
            </a:r>
            <a:endParaRPr lang="en-GB" dirty="0"/>
          </a:p>
        </p:txBody>
      </p:sp>
    </p:spTree>
    <p:extLst>
      <p:ext uri="{BB962C8B-B14F-4D97-AF65-F5344CB8AC3E}">
        <p14:creationId xmlns:p14="http://schemas.microsoft.com/office/powerpoint/2010/main" val="184323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45</a:t>
            </a:fld>
            <a:endParaRPr lang="da-DK" dirty="0"/>
          </a:p>
        </p:txBody>
      </p:sp>
      <p:sp>
        <p:nvSpPr>
          <p:cNvPr id="4" name="Text Placeholder 3"/>
          <p:cNvSpPr>
            <a:spLocks noGrp="1"/>
          </p:cNvSpPr>
          <p:nvPr>
            <p:ph type="body" sz="quarter" idx="12"/>
          </p:nvPr>
        </p:nvSpPr>
        <p:spPr/>
        <p:txBody>
          <a:bodyPr/>
          <a:lstStyle/>
          <a:p>
            <a:endParaRPr lang="da-DK" dirty="0" smtClean="0"/>
          </a:p>
          <a:p>
            <a:r>
              <a:rPr lang="da-DK" dirty="0" smtClean="0"/>
              <a:t>iPrint Client 4.x had a code (im)maturity score of 1/22 = 0.05</a:t>
            </a:r>
          </a:p>
          <a:p>
            <a:endParaRPr lang="da-DK" dirty="0"/>
          </a:p>
          <a:p>
            <a:r>
              <a:rPr lang="da-DK" dirty="0" smtClean="0"/>
              <a:t>iPrint Client 5.x currently has a code (im)maturity score of </a:t>
            </a:r>
            <a:r>
              <a:rPr lang="da-DK" dirty="0"/>
              <a:t>8</a:t>
            </a:r>
            <a:r>
              <a:rPr lang="da-DK" dirty="0" smtClean="0"/>
              <a:t>/36 = 0.22</a:t>
            </a:r>
          </a:p>
          <a:p>
            <a:endParaRPr lang="da-DK" dirty="0"/>
          </a:p>
          <a:p>
            <a:r>
              <a:rPr lang="en-GB" dirty="0" smtClean="0"/>
              <a:t>Basic vulnerabilities are prevalent in </a:t>
            </a:r>
            <a:r>
              <a:rPr lang="en-GB" dirty="0"/>
              <a:t>both ienipp.ocx </a:t>
            </a:r>
            <a:r>
              <a:rPr lang="en-GB" dirty="0" smtClean="0"/>
              <a:t>and nipplib.dll.</a:t>
            </a:r>
            <a:endParaRPr lang="da-DK" dirty="0" smtClean="0"/>
          </a:p>
          <a:p>
            <a:endParaRPr lang="da-DK" dirty="0"/>
          </a:p>
          <a:p>
            <a:r>
              <a:rPr lang="en-GB" dirty="0" smtClean="0"/>
              <a:t>Based </a:t>
            </a:r>
            <a:r>
              <a:rPr lang="en-GB" dirty="0"/>
              <a:t>on </a:t>
            </a:r>
            <a:r>
              <a:rPr lang="en-GB" dirty="0" smtClean="0"/>
              <a:t>the code </a:t>
            </a:r>
            <a:r>
              <a:rPr lang="en-GB" dirty="0"/>
              <a:t>maturity </a:t>
            </a:r>
            <a:r>
              <a:rPr lang="en-GB" dirty="0" smtClean="0"/>
              <a:t>there does not seem </a:t>
            </a:r>
            <a:r>
              <a:rPr lang="en-GB" dirty="0"/>
              <a:t>to be any real development in the security state of Novell iPrint Client. </a:t>
            </a:r>
            <a:endParaRPr lang="en-GB" dirty="0" smtClean="0"/>
          </a:p>
          <a:p>
            <a:endParaRPr lang="en-GB" dirty="0"/>
          </a:p>
          <a:p>
            <a:r>
              <a:rPr lang="en-GB" dirty="0" smtClean="0"/>
              <a:t>Novell’s approach to dealing with vulnerabilities in the product seems </a:t>
            </a:r>
            <a:r>
              <a:rPr lang="en-GB" dirty="0"/>
              <a:t>very much to be reactionary with no SDL in place.</a:t>
            </a:r>
          </a:p>
        </p:txBody>
      </p:sp>
      <p:sp>
        <p:nvSpPr>
          <p:cNvPr id="5" name="Text Placeholder 4"/>
          <p:cNvSpPr>
            <a:spLocks noGrp="1"/>
          </p:cNvSpPr>
          <p:nvPr>
            <p:ph type="body" sz="quarter" idx="14"/>
          </p:nvPr>
        </p:nvSpPr>
        <p:spPr/>
        <p:txBody>
          <a:bodyPr/>
          <a:lstStyle/>
          <a:p>
            <a:pPr algn="ctr"/>
            <a:r>
              <a:rPr lang="da-DK" dirty="0" smtClean="0"/>
              <a:t>Code Maturity – Novell iPrint Client</a:t>
            </a:r>
            <a:endParaRPr lang="en-GB" dirty="0"/>
          </a:p>
        </p:txBody>
      </p:sp>
    </p:spTree>
    <p:extLst>
      <p:ext uri="{BB962C8B-B14F-4D97-AF65-F5344CB8AC3E}">
        <p14:creationId xmlns:p14="http://schemas.microsoft.com/office/powerpoint/2010/main" val="1865419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46</a:t>
            </a:fld>
            <a:endParaRPr lang="da-DK" dirty="0"/>
          </a:p>
        </p:txBody>
      </p:sp>
      <p:sp>
        <p:nvSpPr>
          <p:cNvPr id="4" name="Text Placeholder 3"/>
          <p:cNvSpPr>
            <a:spLocks noGrp="1"/>
          </p:cNvSpPr>
          <p:nvPr>
            <p:ph type="body" sz="quarter" idx="12"/>
          </p:nvPr>
        </p:nvSpPr>
        <p:spPr/>
        <p:txBody>
          <a:bodyPr/>
          <a:lstStyle/>
          <a:p>
            <a:pPr marL="0" indent="0">
              <a:buNone/>
            </a:pPr>
            <a:endParaRPr lang="da-DK" dirty="0"/>
          </a:p>
          <a:p>
            <a:r>
              <a:rPr lang="da-DK" dirty="0" smtClean="0"/>
              <a:t>Many Office 2000 and Office XP vulnerabilities were usually caused by copy operations using an incorrect size </a:t>
            </a:r>
            <a:r>
              <a:rPr lang="da-DK" dirty="0"/>
              <a:t>– often using values read from file as a length values during copy operations without checks.</a:t>
            </a:r>
          </a:p>
          <a:p>
            <a:endParaRPr lang="da-DK" dirty="0" smtClean="0"/>
          </a:p>
          <a:p>
            <a:r>
              <a:rPr lang="da-DK" dirty="0" smtClean="0"/>
              <a:t>Are we still seeing these types of vulnerabilities or have they changed in type in the last couple of years?</a:t>
            </a:r>
            <a:endParaRPr lang="en-GB" dirty="0"/>
          </a:p>
        </p:txBody>
      </p:sp>
      <p:sp>
        <p:nvSpPr>
          <p:cNvPr id="5" name="Text Placeholder 4"/>
          <p:cNvSpPr>
            <a:spLocks noGrp="1"/>
          </p:cNvSpPr>
          <p:nvPr>
            <p:ph type="body" sz="quarter" idx="14"/>
          </p:nvPr>
        </p:nvSpPr>
        <p:spPr/>
        <p:txBody>
          <a:bodyPr/>
          <a:lstStyle/>
          <a:p>
            <a:pPr algn="ctr"/>
            <a:r>
              <a:rPr lang="da-DK" dirty="0" smtClean="0"/>
              <a:t>Microsoft SDL - Office</a:t>
            </a:r>
            <a:endParaRPr lang="en-GB" dirty="0"/>
          </a:p>
        </p:txBody>
      </p:sp>
    </p:spTree>
    <p:extLst>
      <p:ext uri="{BB962C8B-B14F-4D97-AF65-F5344CB8AC3E}">
        <p14:creationId xmlns:p14="http://schemas.microsoft.com/office/powerpoint/2010/main" val="3762691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47</a:t>
            </a:fld>
            <a:endParaRPr lang="da-DK" dirty="0"/>
          </a:p>
        </p:txBody>
      </p:sp>
      <p:sp>
        <p:nvSpPr>
          <p:cNvPr id="4" name="Text Placeholder 3"/>
          <p:cNvSpPr>
            <a:spLocks noGrp="1"/>
          </p:cNvSpPr>
          <p:nvPr>
            <p:ph type="body" sz="quarter" idx="12"/>
          </p:nvPr>
        </p:nvSpPr>
        <p:spPr/>
        <p:txBody>
          <a:bodyPr/>
          <a:lstStyle/>
          <a:p>
            <a:pPr marL="0" indent="0">
              <a:buNone/>
            </a:pPr>
            <a:endParaRPr lang="da-DK" dirty="0"/>
          </a:p>
          <a:p>
            <a:r>
              <a:rPr lang="da-DK" dirty="0" smtClean="0"/>
              <a:t>Office 2000:   62</a:t>
            </a:r>
          </a:p>
          <a:p>
            <a:endParaRPr lang="da-DK" dirty="0"/>
          </a:p>
          <a:p>
            <a:r>
              <a:rPr lang="da-DK" dirty="0" smtClean="0"/>
              <a:t>Office XP:    103</a:t>
            </a:r>
          </a:p>
          <a:p>
            <a:endParaRPr lang="da-DK" dirty="0"/>
          </a:p>
          <a:p>
            <a:r>
              <a:rPr lang="da-DK" dirty="0" smtClean="0"/>
              <a:t>Office 2003:   90</a:t>
            </a:r>
          </a:p>
          <a:p>
            <a:endParaRPr lang="da-DK" dirty="0"/>
          </a:p>
          <a:p>
            <a:r>
              <a:rPr lang="da-DK" dirty="0" smtClean="0"/>
              <a:t>Office 2007:   47</a:t>
            </a:r>
          </a:p>
          <a:p>
            <a:endParaRPr lang="da-DK" dirty="0"/>
          </a:p>
          <a:p>
            <a:r>
              <a:rPr lang="da-DK" dirty="0" smtClean="0"/>
              <a:t>Office 2010:   14</a:t>
            </a:r>
            <a:endParaRPr lang="en-GB" dirty="0"/>
          </a:p>
        </p:txBody>
      </p:sp>
      <p:sp>
        <p:nvSpPr>
          <p:cNvPr id="5" name="Text Placeholder 4"/>
          <p:cNvSpPr>
            <a:spLocks noGrp="1"/>
          </p:cNvSpPr>
          <p:nvPr>
            <p:ph type="body" sz="quarter" idx="14"/>
          </p:nvPr>
        </p:nvSpPr>
        <p:spPr/>
        <p:txBody>
          <a:bodyPr/>
          <a:lstStyle/>
          <a:p>
            <a:pPr algn="ctr"/>
            <a:r>
              <a:rPr lang="da-DK" dirty="0" smtClean="0"/>
              <a:t>Code Maturity – Office (Vulnerabilities Analysed)</a:t>
            </a:r>
            <a:endParaRPr lang="en-GB" dirty="0"/>
          </a:p>
        </p:txBody>
      </p:sp>
      <p:pic>
        <p:nvPicPr>
          <p:cNvPr id="1026" name="Picture 2" descr="\\secunia.local\folders\che\Desktop\MicrosoftOfficeHead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333" y="1484784"/>
            <a:ext cx="4400043" cy="3494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0023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48</a:t>
            </a:fld>
            <a:endParaRPr lang="da-DK" dirty="0"/>
          </a:p>
        </p:txBody>
      </p:sp>
      <p:sp>
        <p:nvSpPr>
          <p:cNvPr id="5" name="Text Placeholder 4"/>
          <p:cNvSpPr>
            <a:spLocks noGrp="1"/>
          </p:cNvSpPr>
          <p:nvPr>
            <p:ph type="body" sz="quarter" idx="14"/>
          </p:nvPr>
        </p:nvSpPr>
        <p:spPr/>
        <p:txBody>
          <a:bodyPr/>
          <a:lstStyle/>
          <a:p>
            <a:pPr algn="ctr"/>
            <a:r>
              <a:rPr lang="da-DK" dirty="0" smtClean="0"/>
              <a:t>Code Maturity – Office (Vulnerability Type Prevalence)</a:t>
            </a:r>
            <a:endParaRPr lang="en-GB" dirty="0"/>
          </a:p>
        </p:txBody>
      </p:sp>
      <p:graphicFrame>
        <p:nvGraphicFramePr>
          <p:cNvPr id="6" name="Chart 5"/>
          <p:cNvGraphicFramePr/>
          <p:nvPr>
            <p:extLst>
              <p:ext uri="{D42A27DB-BD31-4B8C-83A1-F6EECF244321}">
                <p14:modId xmlns:p14="http://schemas.microsoft.com/office/powerpoint/2010/main" val="2301743124"/>
              </p:ext>
            </p:extLst>
          </p:nvPr>
        </p:nvGraphicFramePr>
        <p:xfrm>
          <a:off x="251520" y="1052736"/>
          <a:ext cx="8568952" cy="525658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10188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49</a:t>
            </a:fld>
            <a:endParaRPr lang="da-DK" dirty="0"/>
          </a:p>
        </p:txBody>
      </p:sp>
      <p:sp>
        <p:nvSpPr>
          <p:cNvPr id="5" name="Text Placeholder 4"/>
          <p:cNvSpPr>
            <a:spLocks noGrp="1"/>
          </p:cNvSpPr>
          <p:nvPr>
            <p:ph type="body" sz="quarter" idx="14"/>
          </p:nvPr>
        </p:nvSpPr>
        <p:spPr/>
        <p:txBody>
          <a:bodyPr/>
          <a:lstStyle/>
          <a:p>
            <a:pPr algn="ctr"/>
            <a:r>
              <a:rPr lang="da-DK" dirty="0" smtClean="0"/>
              <a:t>Code Maturity – Office (Code Maturity Scores)</a:t>
            </a:r>
            <a:endParaRPr lang="en-GB" dirty="0"/>
          </a:p>
        </p:txBody>
      </p:sp>
      <p:graphicFrame>
        <p:nvGraphicFramePr>
          <p:cNvPr id="4" name="Chart 3"/>
          <p:cNvGraphicFramePr/>
          <p:nvPr>
            <p:extLst>
              <p:ext uri="{D42A27DB-BD31-4B8C-83A1-F6EECF244321}">
                <p14:modId xmlns:p14="http://schemas.microsoft.com/office/powerpoint/2010/main" val="3361960876"/>
              </p:ext>
            </p:extLst>
          </p:nvPr>
        </p:nvGraphicFramePr>
        <p:xfrm>
          <a:off x="683568" y="1196752"/>
          <a:ext cx="7536160" cy="482453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84361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50</a:t>
            </a:fld>
            <a:endParaRPr lang="da-DK" dirty="0"/>
          </a:p>
        </p:txBody>
      </p:sp>
      <p:sp>
        <p:nvSpPr>
          <p:cNvPr id="4" name="Text Placeholder 3"/>
          <p:cNvSpPr>
            <a:spLocks noGrp="1"/>
          </p:cNvSpPr>
          <p:nvPr>
            <p:ph type="body" sz="quarter" idx="12"/>
          </p:nvPr>
        </p:nvSpPr>
        <p:spPr>
          <a:xfrm>
            <a:off x="395536" y="1196752"/>
            <a:ext cx="7908538" cy="3456979"/>
          </a:xfrm>
        </p:spPr>
        <p:txBody>
          <a:bodyPr/>
          <a:lstStyle/>
          <a:p>
            <a:pPr marL="0" indent="0">
              <a:buNone/>
            </a:pPr>
            <a:endParaRPr lang="da-DK" dirty="0"/>
          </a:p>
          <a:p>
            <a:r>
              <a:rPr lang="da-DK" dirty="0" smtClean="0"/>
              <a:t>Office 2010:</a:t>
            </a:r>
          </a:p>
          <a:p>
            <a:pPr lvl="1"/>
            <a:r>
              <a:rPr lang="en-GB" sz="1400" dirty="0"/>
              <a:t>CVE-2011-2010 </a:t>
            </a:r>
            <a:r>
              <a:rPr lang="en-GB" sz="1400" dirty="0" smtClean="0"/>
              <a:t>(classic privilege escalation to SYSTEM – only Chinese versions)</a:t>
            </a:r>
          </a:p>
          <a:p>
            <a:pPr marL="0" indent="0">
              <a:buNone/>
            </a:pPr>
            <a:endParaRPr lang="da-DK" dirty="0" smtClean="0"/>
          </a:p>
          <a:p>
            <a:r>
              <a:rPr lang="en-GB" dirty="0"/>
              <a:t>Office 2007 only:</a:t>
            </a:r>
          </a:p>
          <a:p>
            <a:pPr lvl="1"/>
            <a:r>
              <a:rPr lang="da-DK" sz="1400" dirty="0" smtClean="0"/>
              <a:t>CVE-2007-1754 (logic error when encountering negative values allows bypassing sanitization code and use value from file as an </a:t>
            </a:r>
            <a:r>
              <a:rPr lang="en-GB" sz="1400" dirty="0" smtClean="0"/>
              <a:t>object pointer)</a:t>
            </a:r>
          </a:p>
          <a:p>
            <a:pPr lvl="1"/>
            <a:r>
              <a:rPr lang="en-GB" sz="1400" dirty="0" smtClean="0"/>
              <a:t>CVE-2011-1990 </a:t>
            </a:r>
            <a:r>
              <a:rPr lang="en-GB" sz="1400" dirty="0"/>
              <a:t>(array-indexing </a:t>
            </a:r>
            <a:r>
              <a:rPr lang="en-GB" sz="1400" dirty="0" smtClean="0"/>
              <a:t>error)</a:t>
            </a:r>
            <a:endParaRPr lang="en-GB" sz="1400" dirty="0"/>
          </a:p>
          <a:p>
            <a:pPr lvl="1"/>
            <a:r>
              <a:rPr lang="en-GB" sz="1400" dirty="0"/>
              <a:t>CVE-2011-3413 </a:t>
            </a:r>
            <a:r>
              <a:rPr lang="en-GB" sz="1400" dirty="0" smtClean="0"/>
              <a:t>(unknown – according to ZDI</a:t>
            </a:r>
            <a:r>
              <a:rPr lang="en-GB" sz="1400" dirty="0"/>
              <a:t>: “Due to the application not properly checking the types of elements within containers, the application will incorrectly modify a property of the object</a:t>
            </a:r>
            <a:r>
              <a:rPr lang="en-GB" sz="1400" dirty="0" smtClean="0"/>
              <a:t>.”</a:t>
            </a:r>
            <a:r>
              <a:rPr lang="en-GB" sz="1400" baseline="30000" dirty="0" smtClean="0"/>
              <a:t>[1]</a:t>
            </a:r>
            <a:r>
              <a:rPr lang="en-GB" sz="1400" dirty="0" smtClean="0"/>
              <a:t>)</a:t>
            </a:r>
            <a:endParaRPr lang="en-GB" sz="1400" dirty="0"/>
          </a:p>
          <a:p>
            <a:pPr marL="0" indent="0">
              <a:buNone/>
            </a:pPr>
            <a:endParaRPr lang="en-GB" dirty="0"/>
          </a:p>
          <a:p>
            <a:r>
              <a:rPr lang="en-GB" dirty="0" smtClean="0"/>
              <a:t>Office 2007 and 2010 </a:t>
            </a:r>
            <a:r>
              <a:rPr lang="en-GB" dirty="0"/>
              <a:t>only</a:t>
            </a:r>
            <a:r>
              <a:rPr lang="en-GB" dirty="0" smtClean="0"/>
              <a:t>:</a:t>
            </a:r>
          </a:p>
          <a:p>
            <a:pPr lvl="1"/>
            <a:r>
              <a:rPr lang="en-GB" sz="1400" dirty="0"/>
              <a:t>CVE-2011-0655 (use-after-free)</a:t>
            </a:r>
            <a:endParaRPr lang="en-GB" sz="1400" dirty="0" smtClean="0"/>
          </a:p>
          <a:p>
            <a:pPr lvl="1"/>
            <a:r>
              <a:rPr lang="en-GB" sz="1400" dirty="0"/>
              <a:t>CVE-2011-1982 (</a:t>
            </a:r>
            <a:r>
              <a:rPr lang="en-GB" sz="1400" dirty="0" smtClean="0"/>
              <a:t>uninitialized </a:t>
            </a:r>
            <a:r>
              <a:rPr lang="en-GB" sz="1400" dirty="0"/>
              <a:t>value used as object </a:t>
            </a:r>
            <a:r>
              <a:rPr lang="en-GB" sz="1400" dirty="0" smtClean="0"/>
              <a:t>pointer)</a:t>
            </a:r>
          </a:p>
          <a:p>
            <a:pPr lvl="1"/>
            <a:r>
              <a:rPr lang="en-GB" sz="1400" dirty="0"/>
              <a:t>CVE-2011-1983 (</a:t>
            </a:r>
            <a:r>
              <a:rPr lang="en-GB" sz="1400" dirty="0" smtClean="0"/>
              <a:t>use-after-free)</a:t>
            </a:r>
          </a:p>
          <a:p>
            <a:pPr lvl="1"/>
            <a:r>
              <a:rPr lang="en-GB" sz="1400" dirty="0"/>
              <a:t>CVE-2011-3396 (insecure library </a:t>
            </a:r>
            <a:r>
              <a:rPr lang="en-GB" sz="1400" dirty="0" smtClean="0"/>
              <a:t>loading)</a:t>
            </a:r>
          </a:p>
          <a:p>
            <a:pPr lvl="1"/>
            <a:endParaRPr lang="da-DK" sz="1200" dirty="0"/>
          </a:p>
          <a:p>
            <a:pPr marL="57150" indent="0">
              <a:buNone/>
            </a:pPr>
            <a:r>
              <a:rPr lang="da-DK" sz="1000" dirty="0" smtClean="0"/>
              <a:t>[</a:t>
            </a:r>
            <a:r>
              <a:rPr lang="da-DK" sz="1000" dirty="0"/>
              <a:t>1]: </a:t>
            </a:r>
            <a:r>
              <a:rPr lang="da-DK" sz="1000" dirty="0">
                <a:hlinkClick r:id="rId2"/>
              </a:rPr>
              <a:t>http://www.zerodayinitiative.com/advisories/ZDI-11-346</a:t>
            </a:r>
            <a:r>
              <a:rPr lang="da-DK" sz="1000" dirty="0" smtClean="0">
                <a:hlinkClick r:id="rId2"/>
              </a:rPr>
              <a:t>/</a:t>
            </a:r>
            <a:endParaRPr lang="da-DK" sz="1000" dirty="0" smtClean="0"/>
          </a:p>
          <a:p>
            <a:pPr marL="57150" indent="0">
              <a:buNone/>
            </a:pPr>
            <a:endParaRPr lang="en-GB" sz="1000" dirty="0" smtClean="0"/>
          </a:p>
          <a:p>
            <a:endParaRPr lang="en-GB" dirty="0"/>
          </a:p>
        </p:txBody>
      </p:sp>
      <p:sp>
        <p:nvSpPr>
          <p:cNvPr id="5" name="Text Placeholder 4"/>
          <p:cNvSpPr>
            <a:spLocks noGrp="1"/>
          </p:cNvSpPr>
          <p:nvPr>
            <p:ph type="body" sz="quarter" idx="14"/>
          </p:nvPr>
        </p:nvSpPr>
        <p:spPr/>
        <p:txBody>
          <a:bodyPr/>
          <a:lstStyle/>
          <a:p>
            <a:pPr algn="ctr"/>
            <a:r>
              <a:rPr lang="da-DK" dirty="0"/>
              <a:t>Code Maturity – Microsoft </a:t>
            </a:r>
            <a:r>
              <a:rPr lang="da-DK" dirty="0" smtClean="0"/>
              <a:t>Office </a:t>
            </a:r>
          </a:p>
          <a:p>
            <a:pPr algn="ctr"/>
            <a:r>
              <a:rPr lang="da-DK" dirty="0" smtClean="0"/>
              <a:t>(Vulnerabilities Only Present in Later Versions Including Type)</a:t>
            </a:r>
            <a:endParaRPr lang="en-GB" dirty="0"/>
          </a:p>
        </p:txBody>
      </p:sp>
    </p:spTree>
    <p:extLst>
      <p:ext uri="{BB962C8B-B14F-4D97-AF65-F5344CB8AC3E}">
        <p14:creationId xmlns:p14="http://schemas.microsoft.com/office/powerpoint/2010/main" val="149807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51</a:t>
            </a:fld>
            <a:endParaRPr lang="da-DK" dirty="0"/>
          </a:p>
        </p:txBody>
      </p:sp>
      <p:sp>
        <p:nvSpPr>
          <p:cNvPr id="4" name="Text Placeholder 3"/>
          <p:cNvSpPr>
            <a:spLocks noGrp="1"/>
          </p:cNvSpPr>
          <p:nvPr>
            <p:ph type="body" sz="quarter" idx="12"/>
          </p:nvPr>
        </p:nvSpPr>
        <p:spPr/>
        <p:txBody>
          <a:bodyPr/>
          <a:lstStyle/>
          <a:p>
            <a:r>
              <a:rPr lang="en-GB" dirty="0" smtClean="0"/>
              <a:t>Affects Office 2003 SP3 and Office 2007 SP2 and fixed by MS11-073. Introduced by MS11-023 and only affects installations without the Office File Validation add-in.</a:t>
            </a:r>
          </a:p>
          <a:p>
            <a:endParaRPr lang="en-GB" dirty="0" smtClean="0"/>
          </a:p>
          <a:p>
            <a:r>
              <a:rPr lang="en-GB" dirty="0" smtClean="0"/>
              <a:t>Microsoft Office included functionality in MSO.DLL to validate the storage of a file being opened. This can either occur via the included functionality or external libraries like the Office File Validation add-in. </a:t>
            </a:r>
          </a:p>
          <a:p>
            <a:endParaRPr lang="en-GB" dirty="0" smtClean="0"/>
          </a:p>
          <a:p>
            <a:r>
              <a:rPr lang="en-GB" dirty="0" smtClean="0"/>
              <a:t>If the Office File Validation add-in is not installed, a check returns a NULL string, which is passed to </a:t>
            </a:r>
            <a:r>
              <a:rPr lang="en-GB" dirty="0" err="1" smtClean="0"/>
              <a:t>LoadLibraryW</a:t>
            </a:r>
            <a:r>
              <a:rPr lang="en-GB" dirty="0" smtClean="0"/>
              <a:t> as a path, triggering an insecure library loading vulnerability.</a:t>
            </a:r>
          </a:p>
          <a:p>
            <a:endParaRPr lang="en-GB" dirty="0" smtClean="0"/>
          </a:p>
          <a:p>
            <a:r>
              <a:rPr lang="en-GB" dirty="0" smtClean="0"/>
              <a:t>Programmer likely expected that no library would be loaded, but </a:t>
            </a:r>
            <a:r>
              <a:rPr lang="en-GB" dirty="0" err="1" smtClean="0"/>
              <a:t>LoadLibraryW</a:t>
            </a:r>
            <a:r>
              <a:rPr lang="en-GB" dirty="0" smtClean="0"/>
              <a:t> searches the supplied path for a file extension. If not found, ”.</a:t>
            </a:r>
            <a:r>
              <a:rPr lang="en-GB" dirty="0" err="1" smtClean="0"/>
              <a:t>dll</a:t>
            </a:r>
            <a:r>
              <a:rPr lang="en-GB" dirty="0" smtClean="0"/>
              <a:t>” is appended and the API checks for the library using a search order, which includes CWD.</a:t>
            </a:r>
          </a:p>
          <a:p>
            <a:endParaRPr lang="en-GB" dirty="0" smtClean="0"/>
          </a:p>
          <a:p>
            <a:endParaRPr lang="en-GB" dirty="0"/>
          </a:p>
        </p:txBody>
      </p:sp>
      <p:sp>
        <p:nvSpPr>
          <p:cNvPr id="5" name="Text Placeholder 4"/>
          <p:cNvSpPr>
            <a:spLocks noGrp="1"/>
          </p:cNvSpPr>
          <p:nvPr>
            <p:ph type="body" sz="quarter" idx="14"/>
          </p:nvPr>
        </p:nvSpPr>
        <p:spPr/>
        <p:txBody>
          <a:bodyPr/>
          <a:lstStyle/>
          <a:p>
            <a:pPr algn="ctr"/>
            <a:r>
              <a:rPr lang="da-DK" dirty="0"/>
              <a:t>Code Maturity – Microsoft </a:t>
            </a:r>
            <a:r>
              <a:rPr lang="da-DK" dirty="0" smtClean="0"/>
              <a:t>Office (CVE-2011-1980)</a:t>
            </a:r>
            <a:endParaRPr lang="en-GB" dirty="0"/>
          </a:p>
        </p:txBody>
      </p:sp>
    </p:spTree>
    <p:extLst>
      <p:ext uri="{BB962C8B-B14F-4D97-AF65-F5344CB8AC3E}">
        <p14:creationId xmlns:p14="http://schemas.microsoft.com/office/powerpoint/2010/main" val="1350870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52</a:t>
            </a:fld>
            <a:endParaRPr lang="da-DK" dirty="0"/>
          </a:p>
        </p:txBody>
      </p:sp>
      <p:sp>
        <p:nvSpPr>
          <p:cNvPr id="4" name="Text Placeholder 3"/>
          <p:cNvSpPr>
            <a:spLocks noGrp="1"/>
          </p:cNvSpPr>
          <p:nvPr>
            <p:ph type="body" sz="quarter" idx="12"/>
          </p:nvPr>
        </p:nvSpPr>
        <p:spPr>
          <a:xfrm>
            <a:off x="395536" y="1052736"/>
            <a:ext cx="7908538" cy="3456979"/>
          </a:xfrm>
        </p:spPr>
        <p:txBody>
          <a:bodyPr/>
          <a:lstStyle/>
          <a:p>
            <a:r>
              <a:rPr lang="en-GB" dirty="0" smtClean="0"/>
              <a:t>Vulnerabilities are still present and will continue to be so. Even with a solid SDL, you are bound to miss something.</a:t>
            </a:r>
          </a:p>
          <a:p>
            <a:pPr marL="0" indent="0">
              <a:buNone/>
            </a:pPr>
            <a:endParaRPr lang="en-GB" dirty="0" smtClean="0"/>
          </a:p>
          <a:p>
            <a:r>
              <a:rPr lang="en-GB" dirty="0" smtClean="0"/>
              <a:t>Microsoft has successfully weeded out and prevented introduction of many simple vulnerability classes as well as ensured a significant reduction in arithmetic vulnerabilities with new custom copy and arithmetic functions.</a:t>
            </a:r>
          </a:p>
          <a:p>
            <a:endParaRPr lang="en-GB" dirty="0" smtClean="0"/>
          </a:p>
          <a:p>
            <a:r>
              <a:rPr lang="en-GB" dirty="0" smtClean="0"/>
              <a:t>Though described on page 717 in ”Appendix A: Dangerous APIs” of ”Writing Secure Code 2nd Edition”, Microsoft is still having problems with insecure library loading vulnerabilities. Need to implement proper checks in the SDL to ensure they are not introduced. </a:t>
            </a:r>
          </a:p>
          <a:p>
            <a:endParaRPr lang="en-GB" dirty="0" smtClean="0"/>
          </a:p>
          <a:p>
            <a:r>
              <a:rPr lang="en-GB" dirty="0" smtClean="0"/>
              <a:t>Overall, Microsoft are making a solid effort at securing their code and has </a:t>
            </a:r>
            <a:r>
              <a:rPr lang="en-GB" dirty="0" smtClean="0"/>
              <a:t>improved </a:t>
            </a:r>
            <a:r>
              <a:rPr lang="en-GB" dirty="0" smtClean="0"/>
              <a:t>the code maturity of their products. </a:t>
            </a:r>
          </a:p>
          <a:p>
            <a:endParaRPr lang="en-GB" dirty="0" smtClean="0"/>
          </a:p>
          <a:p>
            <a:r>
              <a:rPr lang="en-GB" dirty="0" smtClean="0"/>
              <a:t>Implementing SDL is </a:t>
            </a:r>
            <a:r>
              <a:rPr lang="en-GB" u="sng" dirty="0" smtClean="0"/>
              <a:t>not</a:t>
            </a:r>
            <a:r>
              <a:rPr lang="en-GB" dirty="0" smtClean="0"/>
              <a:t> a waste of time, but should be tailored to each organisation’s resources and requirements.</a:t>
            </a:r>
          </a:p>
          <a:p>
            <a:pPr marL="0" indent="0">
              <a:buNone/>
            </a:pPr>
            <a:endParaRPr lang="en-GB" dirty="0" smtClean="0"/>
          </a:p>
          <a:p>
            <a:endParaRPr lang="en-GB" dirty="0" smtClean="0"/>
          </a:p>
          <a:p>
            <a:endParaRPr lang="en-GB" dirty="0" smtClean="0"/>
          </a:p>
          <a:p>
            <a:endParaRPr lang="en-GB" dirty="0"/>
          </a:p>
        </p:txBody>
      </p:sp>
      <p:sp>
        <p:nvSpPr>
          <p:cNvPr id="5" name="Text Placeholder 4"/>
          <p:cNvSpPr>
            <a:spLocks noGrp="1"/>
          </p:cNvSpPr>
          <p:nvPr>
            <p:ph type="body" sz="quarter" idx="14"/>
          </p:nvPr>
        </p:nvSpPr>
        <p:spPr/>
        <p:txBody>
          <a:bodyPr/>
          <a:lstStyle/>
          <a:p>
            <a:pPr algn="ctr"/>
            <a:r>
              <a:rPr lang="da-DK" dirty="0" smtClean="0"/>
              <a:t>Code Maturity - Microsoft SDL Conclusion</a:t>
            </a:r>
            <a:endParaRPr lang="en-GB" dirty="0"/>
          </a:p>
        </p:txBody>
      </p:sp>
    </p:spTree>
    <p:extLst>
      <p:ext uri="{BB962C8B-B14F-4D97-AF65-F5344CB8AC3E}">
        <p14:creationId xmlns:p14="http://schemas.microsoft.com/office/powerpoint/2010/main" val="3337343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4F820689-4E4D-4A36-BBD2-A90649512F2F}" type="datetime1">
              <a:rPr lang="da-DK" smtClean="0"/>
              <a:pPr/>
              <a:t>14-06-2012</a:t>
            </a:fld>
            <a:endParaRPr lang="da-DK" dirty="0"/>
          </a:p>
        </p:txBody>
      </p:sp>
      <p:sp>
        <p:nvSpPr>
          <p:cNvPr id="3" name="Slide Number Placeholder 2"/>
          <p:cNvSpPr>
            <a:spLocks noGrp="1"/>
          </p:cNvSpPr>
          <p:nvPr>
            <p:ph type="sldNum" sz="quarter" idx="4"/>
          </p:nvPr>
        </p:nvSpPr>
        <p:spPr/>
        <p:txBody>
          <a:bodyPr/>
          <a:lstStyle/>
          <a:p>
            <a:fld id="{2BAA97D9-9976-46D4-A464-9640EA54D84C}" type="slidenum">
              <a:rPr lang="da-DK" smtClean="0"/>
              <a:pPr/>
              <a:t>53</a:t>
            </a:fld>
            <a:endParaRPr lang="da-DK" dirty="0"/>
          </a:p>
        </p:txBody>
      </p:sp>
      <p:sp>
        <p:nvSpPr>
          <p:cNvPr id="4" name="Text Placeholder 3"/>
          <p:cNvSpPr>
            <a:spLocks noGrp="1"/>
          </p:cNvSpPr>
          <p:nvPr>
            <p:ph type="body" sz="quarter" idx="12"/>
          </p:nvPr>
        </p:nvSpPr>
        <p:spPr>
          <a:xfrm>
            <a:off x="395536" y="980133"/>
            <a:ext cx="7908538" cy="3456979"/>
          </a:xfrm>
        </p:spPr>
        <p:txBody>
          <a:bodyPr/>
          <a:lstStyle/>
          <a:p>
            <a:r>
              <a:rPr lang="en-GB" dirty="0" smtClean="0"/>
              <a:t>Training: Make sure managers/team leaders understand importance of secure </a:t>
            </a:r>
            <a:r>
              <a:rPr lang="en-GB" dirty="0" smtClean="0"/>
              <a:t>coding. Train </a:t>
            </a:r>
            <a:r>
              <a:rPr lang="en-GB" dirty="0" smtClean="0"/>
              <a:t>developers/programmers and testers to develop/recognize secure code and </a:t>
            </a:r>
            <a:r>
              <a:rPr lang="en-GB" dirty="0" smtClean="0"/>
              <a:t>identify the </a:t>
            </a:r>
            <a:r>
              <a:rPr lang="en-GB" dirty="0" smtClean="0"/>
              <a:t>most </a:t>
            </a:r>
            <a:r>
              <a:rPr lang="en-GB" dirty="0" smtClean="0"/>
              <a:t>critical interfaces</a:t>
            </a:r>
            <a:r>
              <a:rPr lang="en-GB" dirty="0" smtClean="0"/>
              <a:t>. Many great resources are available </a:t>
            </a:r>
            <a:r>
              <a:rPr lang="en-GB" dirty="0" smtClean="0"/>
              <a:t>e.g. the free, annual “</a:t>
            </a:r>
            <a:r>
              <a:rPr lang="en-GB" dirty="0" smtClean="0"/>
              <a:t>CWE/SANS Top 25 Most Dangerous Software Errors” </a:t>
            </a:r>
            <a:r>
              <a:rPr lang="en-GB" dirty="0" smtClean="0"/>
              <a:t>list. </a:t>
            </a:r>
            <a:r>
              <a:rPr lang="en-GB" dirty="0" smtClean="0"/>
              <a:t>Maybe hire external consultants to assist in training.</a:t>
            </a:r>
          </a:p>
          <a:p>
            <a:endParaRPr lang="en-GB" dirty="0" smtClean="0"/>
          </a:p>
          <a:p>
            <a:r>
              <a:rPr lang="en-GB" dirty="0" smtClean="0"/>
              <a:t>Implementation: Deprecate historically problematic APIs </a:t>
            </a:r>
            <a:r>
              <a:rPr lang="en-GB" dirty="0"/>
              <a:t>and </a:t>
            </a:r>
            <a:r>
              <a:rPr lang="en-GB" dirty="0" smtClean="0"/>
              <a:t>use </a:t>
            </a:r>
            <a:r>
              <a:rPr lang="en-GB" dirty="0"/>
              <a:t>safer </a:t>
            </a:r>
            <a:r>
              <a:rPr lang="en-GB" dirty="0" smtClean="0"/>
              <a:t>versions instead for both copying input and arithmetic. Microsoft’s APIs are freely available.  As resources permit have code auditing days where focus is on checking existing code instead of writing </a:t>
            </a:r>
            <a:r>
              <a:rPr lang="en-GB" dirty="0" smtClean="0"/>
              <a:t>new.</a:t>
            </a:r>
            <a:endParaRPr lang="en-GB" dirty="0" smtClean="0"/>
          </a:p>
          <a:p>
            <a:endParaRPr lang="en-GB" dirty="0"/>
          </a:p>
          <a:p>
            <a:r>
              <a:rPr lang="en-GB" dirty="0" smtClean="0"/>
              <a:t>Verification:  At </a:t>
            </a:r>
            <a:r>
              <a:rPr lang="en-GB" dirty="0"/>
              <a:t>least </a:t>
            </a:r>
            <a:r>
              <a:rPr lang="en-GB" dirty="0" smtClean="0"/>
              <a:t>test code using </a:t>
            </a:r>
            <a:r>
              <a:rPr lang="en-GB" dirty="0"/>
              <a:t>publicly available </a:t>
            </a:r>
            <a:r>
              <a:rPr lang="en-GB" dirty="0" err="1" smtClean="0"/>
              <a:t>fuzzers</a:t>
            </a:r>
            <a:r>
              <a:rPr lang="en-GB" dirty="0" smtClean="0"/>
              <a:t>.  Application </a:t>
            </a:r>
            <a:r>
              <a:rPr lang="en-GB" dirty="0"/>
              <a:t>Verifier </a:t>
            </a:r>
            <a:r>
              <a:rPr lang="en-GB" dirty="0" smtClean="0"/>
              <a:t>is freely available for catching subtle memory corruption errors.</a:t>
            </a:r>
          </a:p>
          <a:p>
            <a:pPr marL="0" indent="0">
              <a:buNone/>
            </a:pPr>
            <a:r>
              <a:rPr lang="en-GB" dirty="0"/>
              <a:t> </a:t>
            </a:r>
          </a:p>
          <a:p>
            <a:r>
              <a:rPr lang="en-GB" dirty="0" smtClean="0"/>
              <a:t>Just </a:t>
            </a:r>
            <a:r>
              <a:rPr lang="en-GB" dirty="0"/>
              <a:t>starting there could help a </a:t>
            </a:r>
            <a:r>
              <a:rPr lang="en-GB" dirty="0" smtClean="0"/>
              <a:t>lot by weeding out Level 0 vulnerabilities and significantly reducing the number of Level 1 and Level 2 vulnerabilities…</a:t>
            </a:r>
          </a:p>
          <a:p>
            <a:pPr marL="0" indent="0">
              <a:buNone/>
            </a:pPr>
            <a:endParaRPr lang="en-GB" dirty="0" smtClean="0"/>
          </a:p>
          <a:p>
            <a:endParaRPr lang="en-GB" dirty="0" smtClean="0"/>
          </a:p>
          <a:p>
            <a:endParaRPr lang="en-GB" dirty="0" smtClean="0"/>
          </a:p>
          <a:p>
            <a:endParaRPr lang="en-GB" dirty="0"/>
          </a:p>
        </p:txBody>
      </p:sp>
      <p:sp>
        <p:nvSpPr>
          <p:cNvPr id="5" name="Text Placeholder 4"/>
          <p:cNvSpPr>
            <a:spLocks noGrp="1"/>
          </p:cNvSpPr>
          <p:nvPr>
            <p:ph type="body" sz="quarter" idx="14"/>
          </p:nvPr>
        </p:nvSpPr>
        <p:spPr/>
        <p:txBody>
          <a:bodyPr/>
          <a:lstStyle/>
          <a:p>
            <a:pPr algn="ctr"/>
            <a:r>
              <a:rPr lang="da-DK" dirty="0" smtClean="0"/>
              <a:t>SDL – How To </a:t>
            </a:r>
            <a:r>
              <a:rPr lang="da-DK" dirty="0" err="1" smtClean="0"/>
              <a:t>Get</a:t>
            </a:r>
            <a:r>
              <a:rPr lang="da-DK" dirty="0" smtClean="0"/>
              <a:t> </a:t>
            </a:r>
            <a:r>
              <a:rPr lang="da-DK" dirty="0" err="1" smtClean="0"/>
              <a:t>Started</a:t>
            </a:r>
            <a:endParaRPr lang="en-GB" dirty="0"/>
          </a:p>
        </p:txBody>
      </p:sp>
    </p:spTree>
    <p:extLst>
      <p:ext uri="{BB962C8B-B14F-4D97-AF65-F5344CB8AC3E}">
        <p14:creationId xmlns:p14="http://schemas.microsoft.com/office/powerpoint/2010/main" val="3359219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da-DK" dirty="0" smtClean="0"/>
              <a:t>Questions?</a:t>
            </a:r>
            <a:endParaRPr lang="da-DK" dirty="0"/>
          </a:p>
        </p:txBody>
      </p:sp>
      <p:sp>
        <p:nvSpPr>
          <p:cNvPr id="3" name="TextBox 2"/>
          <p:cNvSpPr txBox="1"/>
          <p:nvPr/>
        </p:nvSpPr>
        <p:spPr>
          <a:xfrm>
            <a:off x="124418" y="5589240"/>
            <a:ext cx="1919115" cy="738664"/>
          </a:xfrm>
          <a:prstGeom prst="rect">
            <a:avLst/>
          </a:prstGeom>
          <a:noFill/>
        </p:spPr>
        <p:txBody>
          <a:bodyPr wrap="none" rtlCol="0">
            <a:spAutoFit/>
          </a:bodyPr>
          <a:lstStyle/>
          <a:p>
            <a:r>
              <a:rPr lang="en-GB" sz="1400" dirty="0" smtClean="0"/>
              <a:t>Carsten Eiram</a:t>
            </a:r>
          </a:p>
          <a:p>
            <a:r>
              <a:rPr lang="en-GB" sz="1400" dirty="0" smtClean="0"/>
              <a:t>Chief Security Specialist</a:t>
            </a:r>
          </a:p>
          <a:p>
            <a:r>
              <a:rPr lang="en-GB" sz="1400" dirty="0" smtClean="0"/>
              <a:t>che@secunia.com</a:t>
            </a:r>
            <a:endParaRPr lang="en-GB" sz="1400" dirty="0"/>
          </a:p>
        </p:txBody>
      </p:sp>
    </p:spTree>
    <p:extLst>
      <p:ext uri="{BB962C8B-B14F-4D97-AF65-F5344CB8AC3E}">
        <p14:creationId xmlns:p14="http://schemas.microsoft.com/office/powerpoint/2010/main" val="250996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Secunia_ppt">
  <a:themeElements>
    <a:clrScheme name="Secunia Color theme">
      <a:dk1>
        <a:srgbClr val="3F3F3F"/>
      </a:dk1>
      <a:lt1>
        <a:srgbClr val="7F7F7F"/>
      </a:lt1>
      <a:dk2>
        <a:srgbClr val="FFFFFF"/>
      </a:dk2>
      <a:lt2>
        <a:srgbClr val="B2B2B2"/>
      </a:lt2>
      <a:accent1>
        <a:srgbClr val="9A1215"/>
      </a:accent1>
      <a:accent2>
        <a:srgbClr val="EC1C24"/>
      </a:accent2>
      <a:accent3>
        <a:srgbClr val="DFDEE6"/>
      </a:accent3>
      <a:accent4>
        <a:srgbClr val="FFEBCD"/>
      </a:accent4>
      <a:accent5>
        <a:srgbClr val="B9B8C8"/>
      </a:accent5>
      <a:accent6>
        <a:srgbClr val="DFDEE6"/>
      </a:accent6>
      <a:hlink>
        <a:srgbClr val="C3161C"/>
      </a:hlink>
      <a:folHlink>
        <a:srgbClr val="3F3F3F"/>
      </a:folHlink>
    </a:clrScheme>
    <a:fontScheme name="Secunia Heading">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effectLst>
          <a:reflection blurRad="6350" stA="52000" endA="300" endPos="35000" dir="5400000" sy="-100000" algn="bl" rotWithShape="0"/>
        </a:effectLst>
      </a:spPr>
      <a:bodyPr rtlCol="0" anchor="ctr"/>
      <a:lstStyle>
        <a:defPPr algn="ctr">
          <a:defRPr/>
        </a:defPPr>
      </a:lstStyle>
      <a:style>
        <a:lnRef idx="1">
          <a:schemeClr val="accent1"/>
        </a:lnRef>
        <a:fillRef idx="2">
          <a:schemeClr val="accent1"/>
        </a:fillRef>
        <a:effectRef idx="1">
          <a:schemeClr val="accent1"/>
        </a:effectRef>
        <a:fontRef idx="minor">
          <a:schemeClr val="dk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39" ma:contentTypeDescription="Create a new document." ma:contentTypeScope="" ma:versionID="f85c5a46215d9b05898194dbeb6180e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E1BCC532-970F-45A5-918F-08421D702D6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BB06755-F3F6-4720-BCEB-03EB9FAEFF53}">
  <ds:schemaRefs>
    <ds:schemaRef ds:uri="http://schemas.microsoft.com/office/2006/metadata/contentType"/>
    <ds:schemaRef ds:uri="http://schemas.microsoft.com/office/2006/metadata/properties/metaAttributes"/>
  </ds:schemaRefs>
</ds:datastoreItem>
</file>

<file path=customXml/itemProps3.xml><?xml version="1.0" encoding="utf-8"?>
<ds:datastoreItem xmlns:ds="http://schemas.openxmlformats.org/officeDocument/2006/customXml" ds:itemID="{24F903C2-9F74-451A-AF81-10BF32962AF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Secunia_ppt</Template>
  <TotalTime>1966</TotalTime>
  <Words>3317</Words>
  <Application>Microsoft Office PowerPoint</Application>
  <PresentationFormat>On-screen Show (4:3)</PresentationFormat>
  <Paragraphs>521</Paragraphs>
  <Slides>54</Slides>
  <Notes>0</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Secunia_ppt</vt:lpstr>
      <vt:lpstr>Code Maturity: Is SDL a Waste of Time?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vector>
  </TitlesOfParts>
  <Company>Secunia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Maturity: Is SDL a Waste of Time?</dc:title>
  <dc:creator>Carsten Eiram</dc:creator>
  <cp:lastModifiedBy>Carsten Eiram</cp:lastModifiedBy>
  <cp:revision>406</cp:revision>
  <dcterms:created xsi:type="dcterms:W3CDTF">2012-05-07T05:39:00Z</dcterms:created>
  <dcterms:modified xsi:type="dcterms:W3CDTF">2012-06-14T11:09:01Z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TC101929161</vt:lpwstr>
  </property>
  <property fmtid="{D5CDD505-2E9C-101B-9397-08002B2CF9AE}" pid="3" name="_MsoHelpTopicId">
    <vt:lpwstr/>
  </property>
</Properties>
</file>