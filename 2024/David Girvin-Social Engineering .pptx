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5143500" cx="9144000"/>
  <p:notesSz cx="6858000" cy="9144000"/>
  <p:embeddedFontLst>
    <p:embeddedFont>
      <p:font typeface="Roboto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RobotoMedium-regular.fnt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RobotoMedium-italic.fntdata"/><Relationship Id="rId14" Type="http://schemas.openxmlformats.org/officeDocument/2006/relationships/slide" Target="slides/slide10.xml"/><Relationship Id="rId36" Type="http://schemas.openxmlformats.org/officeDocument/2006/relationships/font" Target="fonts/RobotoMedium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RobotoMedium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W2WAEin9ikoT8vs1dVgSvEUIRBvH23llVLVyqF5M27U/edit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W2WAEin9ikoT8vs1dVgSvEUIRBvH23llVLVyqF5M27U/edit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W2WAEin9ikoT8vs1dVgSvEUIRBvH23llVLVyqF5M27U/edit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W2WAEin9ikoT8vs1dVgSvEUIRBvH23llVLVyqF5M27U/edit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2e7285ed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e2e7285ed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32b65ff6bf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132b65ff6b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2e7285ed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2e7285ed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2e7285ed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e2e7285ed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2b65ff6bf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132b65ff6b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0df8b97a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0df8b97a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0df8b97a3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0df8b97a3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0df8b97a30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20df8b97a3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306564a68c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1306564a68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3ff99426_0_2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13ff99426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31947ba46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1331947ba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32e9b9c052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132e9b9c05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2e7285edd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2e2e7285e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e2e7285ed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e2e7285ed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15fd43bd2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1315fd43bd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32e9b9c052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132e9b9c05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e2e7285ed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e2e7285ed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0df8b97a30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20df8b97a3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32b65ff6bf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132b65ff6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331947ba46_1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1331947ba46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698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sng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  <a:hlinkClick r:id="rId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32e9b9c05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132e9b9c0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95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331947ba46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331947ba46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Relationship Id="rId4" Type="http://schemas.openxmlformats.org/officeDocument/2006/relationships/image" Target="../media/image3.png"/><Relationship Id="rId5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Youneedabetteruseofyourtimethantocomplainaboutmytalk@hotmail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68739" l="0" r="28546" t="0"/>
          <a:stretch/>
        </p:blipFill>
        <p:spPr>
          <a:xfrm>
            <a:off x="2" y="0"/>
            <a:ext cx="9109556" cy="506806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" y="1758763"/>
            <a:ext cx="4562700" cy="98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1017625" y="2743350"/>
            <a:ext cx="8145300" cy="988800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rgbClr val="C306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017613" y="886802"/>
            <a:ext cx="1763688" cy="32673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082040" y="924560"/>
            <a:ext cx="18237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LIVE WEBINAR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750625" y="1758775"/>
            <a:ext cx="38121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Source Sans Pro"/>
              <a:buNone/>
            </a:pPr>
            <a:r>
              <a:rPr b="1" lang="en-US" sz="65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Software</a:t>
            </a:r>
            <a:endParaRPr b="1" i="0" sz="65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346150" y="2743350"/>
            <a:ext cx="7917300" cy="9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Source Sans Pro"/>
              <a:buNone/>
            </a:pPr>
            <a:r>
              <a:rPr b="1" lang="en-US" sz="30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You suck at buying it….and patching it, sorry</a:t>
            </a:r>
            <a:endParaRPr b="1" sz="30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descr="RC_Logo_1color_White.eps" id="61" name="Google Shape;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4536" y="4511040"/>
            <a:ext cx="1142359" cy="34448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7195550" y="4631700"/>
            <a:ext cx="1914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658150" y="2196850"/>
            <a:ext cx="2630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2250"/>
              <a:buFont typeface="Source Sans Pro"/>
              <a:buNone/>
            </a:pPr>
            <a:r>
              <a:t/>
            </a:r>
            <a:endParaRPr b="0" i="0" sz="2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050"/>
              <a:buFont typeface="Source Sans Pro"/>
              <a:buNone/>
            </a:pPr>
            <a:r>
              <a:rPr b="1" lang="en-US" sz="105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Senior Solutions Engineer</a:t>
            </a:r>
            <a:endParaRPr/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050"/>
              <a:buFont typeface="Source Sans Pro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050"/>
              <a:buFont typeface="Source Sans Pro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82250" y="359875"/>
            <a:ext cx="29547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40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Who am I?</a:t>
            </a:r>
            <a:endParaRPr i="0" sz="40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2642" l="0" r="0" t="2633"/>
          <a:stretch/>
        </p:blipFill>
        <p:spPr>
          <a:xfrm>
            <a:off x="853155" y="1141740"/>
            <a:ext cx="1326000" cy="13260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0" name="Google Shape;70;p14"/>
          <p:cNvSpPr txBox="1"/>
          <p:nvPr/>
        </p:nvSpPr>
        <p:spPr>
          <a:xfrm>
            <a:off x="3047675" y="900000"/>
            <a:ext cx="3158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Husband and Father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Surfer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Hydrofoiler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Brazilian Jiu Jitsu Nerd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Traveler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Builder of things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Destroyer of Code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330050" y="3040450"/>
            <a:ext cx="2002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21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Background:</a:t>
            </a:r>
            <a:endParaRPr sz="2150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330050" y="3405800"/>
            <a:ext cx="2735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Ship Captain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Pilot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Owner of Fabrication and Engineering company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Missionary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Late change to tech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6175700" y="3182100"/>
            <a:ext cx="992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Tech:</a:t>
            </a:r>
            <a:endParaRPr>
              <a:solidFill>
                <a:srgbClr val="000099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6085475" y="362120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1Password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We hack Purple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Bit Discovery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Red Canary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Sumo Logic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0" y="4710300"/>
            <a:ext cx="1569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58150" y="2618650"/>
            <a:ext cx="3000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2"/>
                </a:solidFill>
              </a:rPr>
              <a:t>   /david-a-girvin/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00" y="2681525"/>
            <a:ext cx="270900" cy="27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8475" y="152400"/>
            <a:ext cx="2157976" cy="287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0" y="0"/>
            <a:ext cx="8520600" cy="13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99"/>
                </a:solidFill>
              </a:rPr>
              <a:t>APOLOGIZE AGAIN</a:t>
            </a:r>
            <a:endParaRPr b="1">
              <a:solidFill>
                <a:srgbClr val="000099"/>
              </a:solidFill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250" y="1500200"/>
            <a:ext cx="3525000" cy="35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-9294" y="-14908"/>
            <a:ext cx="9162600" cy="5173200"/>
          </a:xfrm>
          <a:prstGeom prst="rect">
            <a:avLst/>
          </a:prstGeom>
          <a:solidFill>
            <a:srgbClr val="58585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22375" y="141225"/>
            <a:ext cx="35886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Source Sans Pro"/>
              <a:buNone/>
            </a:pPr>
            <a:r>
              <a:rPr lang="en-US" sz="6500">
                <a:solidFill>
                  <a:srgbClr val="D01F2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Warning!</a:t>
            </a:r>
            <a:endParaRPr i="0" sz="6500" u="none" cap="none" strike="noStrike">
              <a:solidFill>
                <a:srgbClr val="D01F2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933025" y="1244375"/>
            <a:ext cx="34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209400" y="1244375"/>
            <a:ext cx="6894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These concepts and thoughts are based on </a:t>
            </a:r>
            <a:r>
              <a:rPr lang="en-US">
                <a:solidFill>
                  <a:schemeClr val="lt1"/>
                </a:solidFill>
              </a:rPr>
              <a:t>anecdotal</a:t>
            </a:r>
            <a:r>
              <a:rPr lang="en-US">
                <a:solidFill>
                  <a:schemeClr val="lt1"/>
                </a:solidFill>
              </a:rPr>
              <a:t> experiences from building security </a:t>
            </a:r>
            <a:r>
              <a:rPr lang="en-US">
                <a:solidFill>
                  <a:schemeClr val="lt1"/>
                </a:solidFill>
              </a:rPr>
              <a:t>programs and selling security tools. They are my personal opinions.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If you disagree that is perfectly fine.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If you need to email me to complain about my talk: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Youneedabetteruseofyourtimethantocomplainaboutmytalk@hotmail.com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If you find me abrasive and sarcastic but somewhat charming…..You are not wrong.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If you hang toilet paper over the back of the roll, please leave this talk now.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75" y="25475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ctrTitle"/>
          </p:nvPr>
        </p:nvSpPr>
        <p:spPr>
          <a:xfrm>
            <a:off x="311700" y="-213250"/>
            <a:ext cx="8520600" cy="121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000099"/>
                </a:solidFill>
              </a:rPr>
              <a:t>Understanding the sales Bro</a:t>
            </a:r>
            <a:endParaRPr b="1" sz="4600">
              <a:solidFill>
                <a:srgbClr val="000099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699450" y="1305075"/>
            <a:ext cx="7847400" cy="3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You get the job by exuding confidence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You can be a winner one min and a loser the next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Its super hard in the crowded market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You get fired it you </a:t>
            </a:r>
            <a:r>
              <a:rPr lang="en-US" sz="1800">
                <a:solidFill>
                  <a:schemeClr val="dk2"/>
                </a:solidFill>
              </a:rPr>
              <a:t>don't</a:t>
            </a:r>
            <a:r>
              <a:rPr lang="en-US" sz="1800">
                <a:solidFill>
                  <a:schemeClr val="dk2"/>
                </a:solidFill>
              </a:rPr>
              <a:t> earn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It all start over every year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They encourage you to be in debt and like expensive shit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They don’t realize the social engineer a culture to never be satisfied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The more you buy into it the more </a:t>
            </a:r>
            <a:r>
              <a:rPr lang="en-US" sz="1800">
                <a:solidFill>
                  <a:schemeClr val="dk2"/>
                </a:solidFill>
              </a:rPr>
              <a:t>slimy</a:t>
            </a:r>
            <a:r>
              <a:rPr lang="en-US" sz="1800">
                <a:solidFill>
                  <a:schemeClr val="dk2"/>
                </a:solidFill>
              </a:rPr>
              <a:t> you come across to engineers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Honestly most of them are good people….I </a:t>
            </a:r>
            <a:r>
              <a:rPr lang="en-US" sz="1800">
                <a:solidFill>
                  <a:schemeClr val="dk2"/>
                </a:solidFill>
              </a:rPr>
              <a:t>can't</a:t>
            </a:r>
            <a:r>
              <a:rPr lang="en-US" sz="1800">
                <a:solidFill>
                  <a:schemeClr val="dk2"/>
                </a:solidFill>
              </a:rPr>
              <a:t> believe I said that…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68739" l="0" r="77978" t="0"/>
          <a:stretch/>
        </p:blipFill>
        <p:spPr>
          <a:xfrm>
            <a:off x="2" y="0"/>
            <a:ext cx="2807534" cy="506806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3271431" y="734691"/>
            <a:ext cx="23100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i="0" lang="en-US" sz="4050" u="sng" cap="none" strike="noStrike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Overview</a:t>
            </a:r>
            <a:endParaRPr u="sng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3315882" y="1653059"/>
            <a:ext cx="393238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 will explore the software buying </a:t>
            </a: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process</a:t>
            </a: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across</a:t>
            </a: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both sides of the table. Hopefully having a better understanding of the process and how both parties can benefit. 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Sales cycle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Sales peoples criteria for success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Sales peoples pay structure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Partners / resellers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Traps and pitfalls 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POVs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 to be a good buyer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How to not get screwed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-505925" y="4700050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460500" y="365775"/>
            <a:ext cx="82230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40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Social Engineering a Security Culture</a:t>
            </a:r>
            <a:endParaRPr i="0" sz="40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4309" y="4543631"/>
            <a:ext cx="1440509" cy="4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460500" y="1263675"/>
            <a:ext cx="33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Social Engineering</a:t>
            </a:r>
            <a:endParaRPr/>
          </a:p>
        </p:txBody>
      </p:sp>
      <p:cxnSp>
        <p:nvCxnSpPr>
          <p:cNvPr id="119" name="Google Shape;119;p20"/>
          <p:cNvCxnSpPr/>
          <p:nvPr/>
        </p:nvCxnSpPr>
        <p:spPr>
          <a:xfrm>
            <a:off x="4566825" y="1389250"/>
            <a:ext cx="2100" cy="3460500"/>
          </a:xfrm>
          <a:prstGeom prst="straightConnector1">
            <a:avLst/>
          </a:prstGeom>
          <a:noFill/>
          <a:ln cap="flat" cmpd="sng" w="28575">
            <a:solidFill>
              <a:srgbClr val="D01F2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20" name="Google Shape;120;p20"/>
          <p:cNvSpPr txBox="1"/>
          <p:nvPr/>
        </p:nvSpPr>
        <p:spPr>
          <a:xfrm>
            <a:off x="5546700" y="1263675"/>
            <a:ext cx="313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Bad</a:t>
            </a:r>
            <a:r>
              <a:rPr lang="en-US">
                <a:solidFill>
                  <a:schemeClr val="dk1"/>
                </a:solidFill>
              </a:rPr>
              <a:t> Social Engineering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370825" y="1977750"/>
            <a:ext cx="4154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Learns what is beneficial to both parties.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Knows their audience.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Has buy in from all parties needed.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Builds a culture based on trust and visibility.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Servant Leadership</a:t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4550" y="3344050"/>
            <a:ext cx="1799450" cy="17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4819875" y="2024825"/>
            <a:ext cx="4025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Self focused goals.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Does not</a:t>
            </a:r>
            <a:r>
              <a:rPr lang="en-US"/>
              <a:t> benefit all parties involved.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Manipulation and zero </a:t>
            </a:r>
            <a:r>
              <a:rPr lang="en-US"/>
              <a:t>visibility.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Using the stick instead of the carrot.</a:t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-664425" y="478847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/>
        </p:nvSpPr>
        <p:spPr>
          <a:xfrm>
            <a:off x="588550" y="3207225"/>
            <a:ext cx="20643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Appsec Engineer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1457500" y="2225788"/>
            <a:ext cx="1331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Architect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284050" y="2428750"/>
            <a:ext cx="1441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Pentester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6759625" y="2428750"/>
            <a:ext cx="20643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Account Executive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4191025" y="3338000"/>
            <a:ext cx="20643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Sale</a:t>
            </a:r>
            <a:r>
              <a:rPr b="1" lang="en-US" sz="1800">
                <a:solidFill>
                  <a:schemeClr val="lt1"/>
                </a:solidFill>
              </a:rPr>
              <a:t> Engineer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875" y="152400"/>
            <a:ext cx="7394259" cy="4838700"/>
          </a:xfrm>
          <a:prstGeom prst="rect">
            <a:avLst/>
          </a:prstGeom>
          <a:noFill/>
          <a:ln cap="flat" cmpd="sng" w="9525">
            <a:solidFill>
              <a:srgbClr val="C3061E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0" name="Google Shape;140;p22"/>
          <p:cNvCxnSpPr/>
          <p:nvPr/>
        </p:nvCxnSpPr>
        <p:spPr>
          <a:xfrm>
            <a:off x="5928250" y="2320000"/>
            <a:ext cx="1722900" cy="2277600"/>
          </a:xfrm>
          <a:prstGeom prst="straightConnector1">
            <a:avLst/>
          </a:prstGeom>
          <a:noFill/>
          <a:ln cap="flat" cmpd="sng" w="76200">
            <a:solidFill>
              <a:srgbClr val="C306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2"/>
          <p:cNvCxnSpPr/>
          <p:nvPr/>
        </p:nvCxnSpPr>
        <p:spPr>
          <a:xfrm flipH="1">
            <a:off x="1773000" y="2047275"/>
            <a:ext cx="1791300" cy="2482200"/>
          </a:xfrm>
          <a:prstGeom prst="straightConnector1">
            <a:avLst/>
          </a:prstGeom>
          <a:noFill/>
          <a:ln cap="flat" cmpd="sng" w="76200">
            <a:solidFill>
              <a:srgbClr val="C306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2"/>
          <p:cNvCxnSpPr/>
          <p:nvPr/>
        </p:nvCxnSpPr>
        <p:spPr>
          <a:xfrm flipH="1">
            <a:off x="6037975" y="2115400"/>
            <a:ext cx="1791300" cy="2482200"/>
          </a:xfrm>
          <a:prstGeom prst="straightConnector1">
            <a:avLst/>
          </a:prstGeom>
          <a:noFill/>
          <a:ln cap="flat" cmpd="sng" w="76200">
            <a:solidFill>
              <a:srgbClr val="C3061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2"/>
          <p:cNvCxnSpPr/>
          <p:nvPr/>
        </p:nvCxnSpPr>
        <p:spPr>
          <a:xfrm>
            <a:off x="1807200" y="2404275"/>
            <a:ext cx="1722900" cy="2277600"/>
          </a:xfrm>
          <a:prstGeom prst="straightConnector1">
            <a:avLst/>
          </a:prstGeom>
          <a:noFill/>
          <a:ln cap="flat" cmpd="sng" w="76200">
            <a:solidFill>
              <a:srgbClr val="C3061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/>
          <p:cNvPicPr preferRelativeResize="0"/>
          <p:nvPr/>
        </p:nvPicPr>
        <p:blipFill rotWithShape="1">
          <a:blip r:embed="rId3">
            <a:alphaModFix/>
          </a:blip>
          <a:srcRect b="68739" l="0" r="77977" t="0"/>
          <a:stretch/>
        </p:blipFill>
        <p:spPr>
          <a:xfrm>
            <a:off x="2" y="0"/>
            <a:ext cx="2807533" cy="506806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/>
          <p:nvPr/>
        </p:nvSpPr>
        <p:spPr>
          <a:xfrm>
            <a:off x="3271420" y="734700"/>
            <a:ext cx="40899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4050" u="sng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Sales Roles</a:t>
            </a:r>
            <a:endParaRPr u="sng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3315882" y="1653059"/>
            <a:ext cx="3932400" cy="30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Sales Development Representative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Account Executive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Sales Engineer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Regional</a:t>
            </a: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Director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Field</a:t>
            </a: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CTO / CISO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Actual E Suite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Lawyers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B"/>
              </a:buClr>
              <a:buSzPts val="1500"/>
              <a:buFont typeface="Source Sans Pro"/>
              <a:buChar char="●"/>
            </a:pPr>
            <a:r>
              <a:rPr lang="en-US" sz="1500">
                <a:solidFill>
                  <a:srgbClr val="58585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Professional Services</a:t>
            </a:r>
            <a:endParaRPr sz="1500">
              <a:solidFill>
                <a:srgbClr val="58585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-505925" y="4700050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7975" y="2072750"/>
            <a:ext cx="2446026" cy="3104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>
            <a:off x="135975" y="88925"/>
            <a:ext cx="82230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b="1" lang="en-US" sz="40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Tools!!!!</a:t>
            </a:r>
            <a:endParaRPr b="1" i="0" sz="40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6225" y="0"/>
            <a:ext cx="417195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158025" y="773025"/>
            <a:ext cx="4455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</a:t>
            </a:r>
            <a:r>
              <a:rPr lang="en-US"/>
              <a:t>acquisition</a:t>
            </a:r>
            <a:r>
              <a:rPr lang="en-US"/>
              <a:t> is long and hard. Do it right.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Don’t trust the hype! Sales can be a sketchy.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less tools to do your job </a:t>
            </a:r>
            <a:r>
              <a:rPr lang="en-US"/>
              <a:t>adequately the better. Looking at 17 different things a day is the path to dark side.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Build a plan BEFORE you acquire tools. Having a centralized location for data and vulnerabilities will make achievable goals.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Spend time testing tools before purchasing anything. Document the process and create a scoring system to be pragmatic about choosing.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Test the tools API before buying. Some fancy tools have shit APIs.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OWASP has a great chart with open source and commercial tools for all controls.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When you get a tool. Implement, tune and improve before you get another tool. Take your time it is a slow process.</a:t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6738125" y="4780650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4776725" y="4128450"/>
            <a:ext cx="30366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C3061E"/>
                </a:solidFill>
              </a:rPr>
              <a:t>Old Slide</a:t>
            </a:r>
            <a:endParaRPr b="1" sz="5000">
              <a:solidFill>
                <a:srgbClr val="C3061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/>
          <p:nvPr/>
        </p:nvSpPr>
        <p:spPr>
          <a:xfrm>
            <a:off x="215500" y="324100"/>
            <a:ext cx="8223000" cy="653400"/>
          </a:xfrm>
          <a:prstGeom prst="rect">
            <a:avLst/>
          </a:prstGeom>
          <a:noFill/>
          <a:ln>
            <a:noFill/>
          </a:ln>
          <a:effectLst>
            <a:outerShdw rotWithShape="0" algn="bl" dir="5400000" dist="19050">
              <a:srgbClr val="000000">
                <a:alpha val="44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40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What is the sales cycle?</a:t>
            </a:r>
            <a:endParaRPr i="0" sz="40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113700" y="1160675"/>
            <a:ext cx="895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The sales cycle can always be different but this is a basic outline for enterprise and mid market.</a:t>
            </a:r>
            <a:endParaRPr sz="1500"/>
          </a:p>
        </p:txBody>
      </p:sp>
      <p:sp>
        <p:nvSpPr>
          <p:cNvPr id="168" name="Google Shape;168;p25"/>
          <p:cNvSpPr txBox="1"/>
          <p:nvPr/>
        </p:nvSpPr>
        <p:spPr>
          <a:xfrm>
            <a:off x="113700" y="1663075"/>
            <a:ext cx="42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Prospecting and research 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113700" y="2051085"/>
            <a:ext cx="514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Discovery call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113700" y="2439096"/>
            <a:ext cx="477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113700" y="2827106"/>
            <a:ext cx="5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 of Value</a:t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113700" y="3603127"/>
            <a:ext cx="42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Financial and pricing </a:t>
            </a:r>
            <a:endParaRPr/>
          </a:p>
        </p:txBody>
      </p:sp>
      <p:cxnSp>
        <p:nvCxnSpPr>
          <p:cNvPr id="173" name="Google Shape;173;p25"/>
          <p:cNvCxnSpPr/>
          <p:nvPr/>
        </p:nvCxnSpPr>
        <p:spPr>
          <a:xfrm rot="10800000">
            <a:off x="4507275" y="1706500"/>
            <a:ext cx="5400" cy="2468100"/>
          </a:xfrm>
          <a:prstGeom prst="straightConnector1">
            <a:avLst/>
          </a:prstGeom>
          <a:noFill/>
          <a:ln cap="flat" cmpd="sng" w="12700">
            <a:solidFill>
              <a:srgbClr val="CE232E"/>
            </a:solidFill>
            <a:prstDash val="dash"/>
            <a:miter lim="400000"/>
            <a:headEnd len="sm" w="sm" type="none"/>
            <a:tailEnd len="sm" w="sm" type="none"/>
          </a:ln>
        </p:spPr>
      </p:cxnSp>
      <p:sp>
        <p:nvSpPr>
          <p:cNvPr id="174" name="Google Shape;174;p25"/>
          <p:cNvSpPr txBox="1"/>
          <p:nvPr/>
        </p:nvSpPr>
        <p:spPr>
          <a:xfrm>
            <a:off x="-699850" y="475517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113700" y="3991138"/>
            <a:ext cx="42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Procurement </a:t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113700" y="3215117"/>
            <a:ext cx="42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Executive alignment</a:t>
            </a:r>
            <a:endParaRPr/>
          </a:p>
        </p:txBody>
      </p:sp>
      <p:sp>
        <p:nvSpPr>
          <p:cNvPr id="177" name="Google Shape;177;p25"/>
          <p:cNvSpPr txBox="1"/>
          <p:nvPr/>
        </p:nvSpPr>
        <p:spPr>
          <a:xfrm>
            <a:off x="4886400" y="1703275"/>
            <a:ext cx="38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People sending you emails and cold calling </a:t>
            </a:r>
            <a:endParaRPr/>
          </a:p>
        </p:txBody>
      </p:sp>
      <p:sp>
        <p:nvSpPr>
          <p:cNvPr id="178" name="Google Shape;178;p25"/>
          <p:cNvSpPr txBox="1"/>
          <p:nvPr/>
        </p:nvSpPr>
        <p:spPr>
          <a:xfrm>
            <a:off x="4928850" y="2066704"/>
            <a:ext cx="38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 call to see if it is a good fit</a:t>
            </a:r>
            <a:endParaRPr/>
          </a:p>
        </p:txBody>
      </p:sp>
      <p:sp>
        <p:nvSpPr>
          <p:cNvPr id="179" name="Google Shape;179;p25"/>
          <p:cNvSpPr txBox="1"/>
          <p:nvPr/>
        </p:nvSpPr>
        <p:spPr>
          <a:xfrm>
            <a:off x="4928850" y="2430133"/>
            <a:ext cx="38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Longer call tailored to info from disco</a:t>
            </a:r>
            <a:endParaRPr/>
          </a:p>
        </p:txBody>
      </p:sp>
      <p:sp>
        <p:nvSpPr>
          <p:cNvPr id="180" name="Google Shape;180;p25"/>
          <p:cNvSpPr txBox="1"/>
          <p:nvPr/>
        </p:nvSpPr>
        <p:spPr>
          <a:xfrm>
            <a:off x="4928850" y="2793563"/>
            <a:ext cx="38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 to </a:t>
            </a:r>
            <a:r>
              <a:rPr lang="en-US"/>
              <a:t>multi</a:t>
            </a:r>
            <a:r>
              <a:rPr lang="en-US"/>
              <a:t> week proof of tool </a:t>
            </a:r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4928850" y="3156992"/>
            <a:ext cx="38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Aligning with actual </a:t>
            </a:r>
            <a:r>
              <a:rPr lang="en-US"/>
              <a:t>stakeholder</a:t>
            </a:r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4928850" y="3520421"/>
            <a:ext cx="38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Aligning final price to submit </a:t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4928850" y="3883850"/>
            <a:ext cx="38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Legal fighting over everything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/>
          <p:nvPr/>
        </p:nvSpPr>
        <p:spPr>
          <a:xfrm>
            <a:off x="660850" y="291475"/>
            <a:ext cx="82230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40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Prospecting</a:t>
            </a:r>
            <a:endParaRPr i="0" sz="40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400775" y="1381950"/>
            <a:ext cx="5035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>
                <a:solidFill>
                  <a:schemeClr val="dk1"/>
                </a:solidFill>
              </a:rPr>
              <a:t>SDRs get paid for booking meetings with qualified companies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If they dont they get fired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Most are early 20s and </a:t>
            </a:r>
            <a:r>
              <a:rPr lang="en-US" sz="1200">
                <a:solidFill>
                  <a:schemeClr val="dk1"/>
                </a:solidFill>
              </a:rPr>
              <a:t>don't</a:t>
            </a:r>
            <a:r>
              <a:rPr lang="en-US" sz="1200">
                <a:solidFill>
                  <a:schemeClr val="dk1"/>
                </a:solidFill>
              </a:rPr>
              <a:t> know shit about shit in tech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You hate emails and cold calls (everyone does)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They hate it too but it’s the only way in to real sales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Everyone hates linkedin but we all have to use it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-674575" y="479462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400775" y="3417625"/>
            <a:ext cx="48534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200">
                <a:solidFill>
                  <a:schemeClr val="dk2"/>
                </a:solidFill>
              </a:rPr>
              <a:t>There </a:t>
            </a:r>
            <a:r>
              <a:rPr lang="en-US" sz="1200">
                <a:solidFill>
                  <a:schemeClr val="dk2"/>
                </a:solidFill>
              </a:rPr>
              <a:t>isn't</a:t>
            </a:r>
            <a:r>
              <a:rPr lang="en-US" sz="1200">
                <a:solidFill>
                  <a:schemeClr val="dk2"/>
                </a:solidFill>
              </a:rPr>
              <a:t> a great solution currently.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200">
                <a:solidFill>
                  <a:schemeClr val="dk2"/>
                </a:solidFill>
              </a:rPr>
              <a:t>You need to hear from companies to know </a:t>
            </a:r>
            <a:r>
              <a:rPr lang="en-US" sz="1200">
                <a:solidFill>
                  <a:schemeClr val="dk2"/>
                </a:solidFill>
              </a:rPr>
              <a:t>what's</a:t>
            </a:r>
            <a:r>
              <a:rPr lang="en-US" sz="1200">
                <a:solidFill>
                  <a:schemeClr val="dk2"/>
                </a:solidFill>
              </a:rPr>
              <a:t> out there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b="1" lang="en-US" sz="1200">
                <a:solidFill>
                  <a:schemeClr val="dk2"/>
                </a:solidFill>
              </a:rPr>
              <a:t>The best solution I have seen is scheduled time</a:t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200">
                <a:solidFill>
                  <a:schemeClr val="dk2"/>
                </a:solidFill>
              </a:rPr>
              <a:t>Get to know your AEs if you can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-US" sz="1200">
                <a:solidFill>
                  <a:schemeClr val="dk2"/>
                </a:solidFill>
              </a:rPr>
              <a:t>Delegate to people who use the tools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660850" y="2734888"/>
            <a:ext cx="82230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24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Solution</a:t>
            </a:r>
            <a:endParaRPr i="0" sz="15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5575" y="1065613"/>
            <a:ext cx="3548426" cy="399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/>
          <p:nvPr/>
        </p:nvSpPr>
        <p:spPr>
          <a:xfrm>
            <a:off x="862025" y="390325"/>
            <a:ext cx="82230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32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LinkedIn CISO rant</a:t>
            </a:r>
            <a:endParaRPr i="0" sz="32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400775" y="1381950"/>
            <a:ext cx="5035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You get a budget, run a team, speak to the board etc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You usually aren’t really up to date with innovation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Your “friends” in the industry </a:t>
            </a:r>
            <a:r>
              <a:rPr lang="en-US" sz="1200">
                <a:solidFill>
                  <a:schemeClr val="dk1"/>
                </a:solidFill>
              </a:rPr>
              <a:t>aren't</a:t>
            </a:r>
            <a:r>
              <a:rPr lang="en-US" sz="1200">
                <a:solidFill>
                  <a:schemeClr val="dk1"/>
                </a:solidFill>
              </a:rPr>
              <a:t> either…..group think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Stop bitching about cold calls when you </a:t>
            </a:r>
            <a:r>
              <a:rPr lang="en-US" sz="1200">
                <a:solidFill>
                  <a:schemeClr val="dk1"/>
                </a:solidFill>
              </a:rPr>
              <a:t>don't</a:t>
            </a:r>
            <a:r>
              <a:rPr lang="en-US" sz="1200">
                <a:solidFill>
                  <a:schemeClr val="dk1"/>
                </a:solidFill>
              </a:rPr>
              <a:t> have a way to be reached professionally…..email obviously </a:t>
            </a:r>
            <a:r>
              <a:rPr lang="en-US" sz="1200">
                <a:solidFill>
                  <a:schemeClr val="dk1"/>
                </a:solidFill>
              </a:rPr>
              <a:t>doesn't</a:t>
            </a:r>
            <a:r>
              <a:rPr lang="en-US" sz="1200">
                <a:solidFill>
                  <a:schemeClr val="dk1"/>
                </a:solidFill>
              </a:rPr>
              <a:t> work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Good communication from the start will pay dividends here.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If we have a team to keep up with competitors </a:t>
            </a:r>
            <a:r>
              <a:rPr lang="en-US" sz="1200">
                <a:solidFill>
                  <a:schemeClr val="dk1"/>
                </a:solidFill>
              </a:rPr>
              <a:t>innovation</a:t>
            </a:r>
            <a:r>
              <a:rPr lang="en-US" sz="1200">
                <a:solidFill>
                  <a:schemeClr val="dk1"/>
                </a:solidFill>
              </a:rPr>
              <a:t> in the space I promise you </a:t>
            </a:r>
            <a:r>
              <a:rPr lang="en-US" sz="1200">
                <a:solidFill>
                  <a:schemeClr val="dk1"/>
                </a:solidFill>
              </a:rPr>
              <a:t>don't</a:t>
            </a:r>
            <a:r>
              <a:rPr lang="en-US" sz="1200">
                <a:solidFill>
                  <a:schemeClr val="dk1"/>
                </a:solidFill>
              </a:rPr>
              <a:t> know what you think you do.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All in all dont be a dick this </a:t>
            </a:r>
            <a:r>
              <a:rPr lang="en-US" sz="1200">
                <a:solidFill>
                  <a:schemeClr val="dk1"/>
                </a:solidFill>
              </a:rPr>
              <a:t>isn't</a:t>
            </a:r>
            <a:r>
              <a:rPr lang="en-US" sz="1200">
                <a:solidFill>
                  <a:schemeClr val="dk1"/>
                </a:solidFill>
              </a:rPr>
              <a:t> the old school security culture where people worship you. Make friends get invited to cool shit and enjoy the  industry that pays us all.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975" y="1159800"/>
            <a:ext cx="3231431" cy="323143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>
            <a:off x="5109775" y="1043725"/>
            <a:ext cx="4275000" cy="4099800"/>
          </a:xfrm>
          <a:prstGeom prst="donut">
            <a:avLst>
              <a:gd fmla="val 5200" name="adj"/>
            </a:avLst>
          </a:prstGeom>
          <a:solidFill>
            <a:srgbClr val="D01F2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2" name="Google Shape;202;p27"/>
          <p:cNvSpPr/>
          <p:nvPr/>
        </p:nvSpPr>
        <p:spPr>
          <a:xfrm rot="8103234">
            <a:off x="7037402" y="1317229"/>
            <a:ext cx="225496" cy="3767041"/>
          </a:xfrm>
          <a:prstGeom prst="rect">
            <a:avLst/>
          </a:prstGeom>
          <a:solidFill>
            <a:srgbClr val="D01F2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-674575" y="479777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/>
          <p:nvPr/>
        </p:nvSpPr>
        <p:spPr>
          <a:xfrm>
            <a:off x="-9294" y="-14908"/>
            <a:ext cx="9162600" cy="5173200"/>
          </a:xfrm>
          <a:prstGeom prst="rect">
            <a:avLst/>
          </a:prstGeom>
          <a:solidFill>
            <a:srgbClr val="58585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651900" y="0"/>
            <a:ext cx="3588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Source Sans Pro"/>
              <a:buNone/>
            </a:pPr>
            <a:r>
              <a:rPr lang="en-US" sz="65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Disco Call</a:t>
            </a:r>
            <a:endParaRPr i="0" sz="6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0" name="Google Shape;210;p28"/>
          <p:cNvSpPr txBox="1"/>
          <p:nvPr/>
        </p:nvSpPr>
        <p:spPr>
          <a:xfrm>
            <a:off x="5933025" y="1244375"/>
            <a:ext cx="34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75" y="2223525"/>
            <a:ext cx="3373825" cy="26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 txBox="1"/>
          <p:nvPr/>
        </p:nvSpPr>
        <p:spPr>
          <a:xfrm>
            <a:off x="209400" y="1244375"/>
            <a:ext cx="3803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Hot </a:t>
            </a:r>
            <a:r>
              <a:rPr lang="en-US">
                <a:solidFill>
                  <a:schemeClr val="lt1"/>
                </a:solidFill>
              </a:rPr>
              <a:t>controversial</a:t>
            </a:r>
            <a:r>
              <a:rPr lang="en-US">
                <a:solidFill>
                  <a:schemeClr val="lt1"/>
                </a:solidFill>
              </a:rPr>
              <a:t> Take: Good sales teams will know better than you if it is a good fit.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4108650" y="466875"/>
            <a:ext cx="48018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Nobody wants to waste time at this level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Sales Engineers time is stretched thin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Sales is looking for pain points that match their tools </a:t>
            </a:r>
            <a:r>
              <a:rPr lang="en-US">
                <a:solidFill>
                  <a:schemeClr val="lt1"/>
                </a:solidFill>
              </a:rPr>
              <a:t>benefits</a:t>
            </a:r>
            <a:r>
              <a:rPr lang="en-US">
                <a:solidFill>
                  <a:schemeClr val="lt1"/>
                </a:solidFill>
              </a:rPr>
              <a:t> this sometimes leads to </a:t>
            </a:r>
            <a:r>
              <a:rPr lang="en-US">
                <a:solidFill>
                  <a:schemeClr val="lt1"/>
                </a:solidFill>
              </a:rPr>
              <a:t>uncomfortable</a:t>
            </a:r>
            <a:r>
              <a:rPr lang="en-US">
                <a:solidFill>
                  <a:schemeClr val="lt1"/>
                </a:solidFill>
              </a:rPr>
              <a:t> questions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Matching </a:t>
            </a:r>
            <a:r>
              <a:rPr lang="en-US">
                <a:solidFill>
                  <a:schemeClr val="lt1"/>
                </a:solidFill>
              </a:rPr>
              <a:t>Technical</a:t>
            </a:r>
            <a:r>
              <a:rPr lang="en-US">
                <a:solidFill>
                  <a:schemeClr val="lt1"/>
                </a:solidFill>
              </a:rPr>
              <a:t> wins to pain and business use case will be the SEs goals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AE will be finding out timeline, budget </a:t>
            </a:r>
            <a:r>
              <a:rPr lang="en-US">
                <a:solidFill>
                  <a:schemeClr val="lt1"/>
                </a:solidFill>
              </a:rPr>
              <a:t>approved</a:t>
            </a:r>
            <a:r>
              <a:rPr lang="en-US">
                <a:solidFill>
                  <a:schemeClr val="lt1"/>
                </a:solidFill>
              </a:rPr>
              <a:t>, actual buyer, executive and champion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SDR will be praying its a real op so they can eat tonight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Good sales teams want to fail early so they will be seeing if </a:t>
            </a:r>
            <a:r>
              <a:rPr lang="en-US">
                <a:solidFill>
                  <a:schemeClr val="lt1"/>
                </a:solidFill>
              </a:rPr>
              <a:t>it's</a:t>
            </a:r>
            <a:r>
              <a:rPr lang="en-US">
                <a:solidFill>
                  <a:schemeClr val="lt1"/>
                </a:solidFill>
              </a:rPr>
              <a:t> worth the man hours to move forward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Pricing can be easy or hard depending on the tech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Be cool a good team can save you time if its not the right fit. I have ended ops but introduced them to something that is a better fit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/>
          <p:nvPr/>
        </p:nvSpPr>
        <p:spPr>
          <a:xfrm>
            <a:off x="-9294" y="-14908"/>
            <a:ext cx="9162600" cy="5173200"/>
          </a:xfrm>
          <a:prstGeom prst="rect">
            <a:avLst/>
          </a:prstGeom>
          <a:solidFill>
            <a:srgbClr val="58585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651900" y="0"/>
            <a:ext cx="5805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Source Sans Pro"/>
              <a:buNone/>
            </a:pPr>
            <a:r>
              <a:rPr lang="en-US" sz="65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Demo</a:t>
            </a:r>
            <a:endParaRPr i="0" sz="6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5933025" y="1244375"/>
            <a:ext cx="34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9"/>
          <p:cNvSpPr txBox="1"/>
          <p:nvPr/>
        </p:nvSpPr>
        <p:spPr>
          <a:xfrm>
            <a:off x="600325" y="1026525"/>
            <a:ext cx="4995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Sales Engineers version of only fans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They are trying to show you their best bits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600325" y="2500450"/>
            <a:ext cx="65817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How to get the most out of this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Have your pain points and </a:t>
            </a:r>
            <a:r>
              <a:rPr lang="en-US">
                <a:solidFill>
                  <a:schemeClr val="lt1"/>
                </a:solidFill>
              </a:rPr>
              <a:t>goals clearly explained and documented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I</a:t>
            </a:r>
            <a:r>
              <a:rPr lang="en-US">
                <a:solidFill>
                  <a:schemeClr val="lt1"/>
                </a:solidFill>
              </a:rPr>
              <a:t>nterrupting</a:t>
            </a:r>
            <a:r>
              <a:rPr lang="en-US">
                <a:solidFill>
                  <a:schemeClr val="lt1"/>
                </a:solidFill>
              </a:rPr>
              <a:t> is good if you actually have a question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Playing stump the chump is D bag behavior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SEs dont know everything but they should know who to ask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You </a:t>
            </a:r>
            <a:r>
              <a:rPr lang="en-US">
                <a:solidFill>
                  <a:schemeClr val="lt1"/>
                </a:solidFill>
              </a:rPr>
              <a:t>really</a:t>
            </a:r>
            <a:r>
              <a:rPr lang="en-US">
                <a:solidFill>
                  <a:schemeClr val="lt1"/>
                </a:solidFill>
              </a:rPr>
              <a:t> need to know your tech stack and infrastructure (many dont)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Look for BS and marketing stuff. Ask how things work / architecture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A lot of things can be faked here.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Build a </a:t>
            </a:r>
            <a:r>
              <a:rPr lang="en-US">
                <a:solidFill>
                  <a:schemeClr val="lt1"/>
                </a:solidFill>
              </a:rPr>
              <a:t>scorecard</a:t>
            </a:r>
            <a:r>
              <a:rPr lang="en-US">
                <a:solidFill>
                  <a:schemeClr val="lt1"/>
                </a:solidFill>
              </a:rPr>
              <a:t> for your goals so you </a:t>
            </a:r>
            <a:r>
              <a:rPr lang="en-US">
                <a:solidFill>
                  <a:schemeClr val="lt1"/>
                </a:solidFill>
              </a:rPr>
              <a:t>don't</a:t>
            </a:r>
            <a:r>
              <a:rPr lang="en-US">
                <a:solidFill>
                  <a:schemeClr val="lt1"/>
                </a:solidFill>
              </a:rPr>
              <a:t> get dazzled by a good demo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3" name="Google Shape;22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6925" y="259913"/>
            <a:ext cx="2504575" cy="25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/>
          <p:nvPr/>
        </p:nvSpPr>
        <p:spPr>
          <a:xfrm>
            <a:off x="-9294" y="-14858"/>
            <a:ext cx="9162600" cy="5173200"/>
          </a:xfrm>
          <a:prstGeom prst="rect">
            <a:avLst/>
          </a:prstGeom>
          <a:solidFill>
            <a:srgbClr val="58585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651900" y="0"/>
            <a:ext cx="82170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Source Sans Pro"/>
              <a:buNone/>
            </a:pPr>
            <a:r>
              <a:rPr lang="en-US" sz="65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Proof of Value</a:t>
            </a:r>
            <a:endParaRPr i="0" sz="6500" u="none" cap="none" strike="noStrike">
              <a:solidFill>
                <a:srgbClr val="FFFF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9926" y="4567800"/>
            <a:ext cx="1440526" cy="42814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 txBox="1"/>
          <p:nvPr/>
        </p:nvSpPr>
        <p:spPr>
          <a:xfrm>
            <a:off x="5933025" y="1244375"/>
            <a:ext cx="34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700375" y="1089100"/>
            <a:ext cx="735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This is a massive amount of work for both sides but </a:t>
            </a:r>
            <a:r>
              <a:rPr lang="en-US">
                <a:solidFill>
                  <a:schemeClr val="lt1"/>
                </a:solidFill>
              </a:rPr>
              <a:t>especially</a:t>
            </a:r>
            <a:r>
              <a:rPr lang="en-US">
                <a:solidFill>
                  <a:schemeClr val="lt1"/>
                </a:solidFill>
              </a:rPr>
              <a:t> the sales side. They have to account for the man hours lost if they dont get a technical win. Another reason why failing early is so important.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0400" y="2880050"/>
            <a:ext cx="3401299" cy="221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/>
        </p:nvSpPr>
        <p:spPr>
          <a:xfrm>
            <a:off x="479975" y="1920400"/>
            <a:ext cx="53199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Be ready!!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US">
                <a:solidFill>
                  <a:schemeClr val="lt1"/>
                </a:solidFill>
              </a:rPr>
              <a:t>Get stakeholders for tools ready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US">
                <a:solidFill>
                  <a:schemeClr val="lt1"/>
                </a:solidFill>
              </a:rPr>
              <a:t>Have a scoring system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US">
                <a:solidFill>
                  <a:schemeClr val="lt1"/>
                </a:solidFill>
              </a:rPr>
              <a:t>Make sure you have the man hours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Look out for BS from companies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Make a shared doc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US">
                <a:solidFill>
                  <a:schemeClr val="lt1"/>
                </a:solidFill>
              </a:rPr>
              <a:t>Success criteria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US">
                <a:solidFill>
                  <a:schemeClr val="lt1"/>
                </a:solidFill>
              </a:rPr>
              <a:t>Timeline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US">
                <a:solidFill>
                  <a:schemeClr val="lt1"/>
                </a:solidFill>
              </a:rPr>
              <a:t>Scope</a:t>
            </a:r>
            <a:endParaRPr>
              <a:solidFill>
                <a:schemeClr val="l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lang="en-US">
                <a:solidFill>
                  <a:schemeClr val="lt1"/>
                </a:solidFill>
              </a:rPr>
              <a:t>All tech info needed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Spend real time with the tools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Build relationships with SE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Make your team use the scoring system and notes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862025" y="390325"/>
            <a:ext cx="82230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lang="en-US" sz="32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Executive Wrap ups and Procurement</a:t>
            </a:r>
            <a:endParaRPr i="0" sz="32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400775" y="1381950"/>
            <a:ext cx="5035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Exec wrap is usually a what we did and how we benefit your company.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Sometimes there will be a BVA with this which is helpful on your end if it isnt pure bull shit.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Use this to show your boss you are busting your ass.  Sales will try and make you look good.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Let procurement do their job but it shouldn't take a month to redline some paperwork. You have to protect yourself and do good business.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Good communication from the start will pay dividends here.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-674575" y="479777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42" name="Google Shape;2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8975" y="1178088"/>
            <a:ext cx="3449650" cy="27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0099"/>
                </a:solidFill>
              </a:rPr>
              <a:t>Just Yell at marketing people…..</a:t>
            </a:r>
            <a:endParaRPr b="1" sz="33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/>
          <p:nvPr/>
        </p:nvSpPr>
        <p:spPr>
          <a:xfrm>
            <a:off x="-9294" y="-14908"/>
            <a:ext cx="9162600" cy="5173200"/>
          </a:xfrm>
          <a:prstGeom prst="rect">
            <a:avLst/>
          </a:prstGeom>
          <a:solidFill>
            <a:srgbClr val="58585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5933025" y="1244375"/>
            <a:ext cx="34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 txBox="1"/>
          <p:nvPr/>
        </p:nvSpPr>
        <p:spPr>
          <a:xfrm>
            <a:off x="304650" y="141350"/>
            <a:ext cx="8380800" cy="69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00099"/>
                </a:solidFill>
              </a:rPr>
              <a:t>Pitfalls and Traps</a:t>
            </a:r>
            <a:endParaRPr sz="3300">
              <a:solidFill>
                <a:srgbClr val="000099"/>
              </a:solidFill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153550" y="1492700"/>
            <a:ext cx="4256400" cy="30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Keeping the competition Secret 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after NDA not being open with tech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Not knowing your environment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no scoring system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not having budget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going strictly by price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trusting the easy button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Not introducing sales to the right person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4613525" y="1492700"/>
            <a:ext cx="4256400" cy="30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liars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POV environments that </a:t>
            </a:r>
            <a:r>
              <a:rPr lang="en-US" sz="1800">
                <a:solidFill>
                  <a:schemeClr val="lt1"/>
                </a:solidFill>
              </a:rPr>
              <a:t>aren't</a:t>
            </a:r>
            <a:r>
              <a:rPr lang="en-US" sz="1800">
                <a:solidFill>
                  <a:schemeClr val="lt1"/>
                </a:solidFill>
              </a:rPr>
              <a:t> real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Not having clear answers and using marketing terms 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Trying to sell things outside of your pain points and use cases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Marketing bullshit </a:t>
            </a:r>
            <a:r>
              <a:rPr lang="en-US" sz="1800">
                <a:solidFill>
                  <a:schemeClr val="lt1"/>
                </a:solidFill>
              </a:rPr>
              <a:t>especially</a:t>
            </a:r>
            <a:r>
              <a:rPr lang="en-US" sz="1800">
                <a:solidFill>
                  <a:schemeClr val="lt1"/>
                </a:solidFill>
              </a:rPr>
              <a:t> AI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Shady hidden costs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-US" sz="1800">
                <a:solidFill>
                  <a:schemeClr val="lt1"/>
                </a:solidFill>
              </a:rPr>
              <a:t>Not being transparent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/>
          <p:nvPr/>
        </p:nvSpPr>
        <p:spPr>
          <a:xfrm>
            <a:off x="-9294" y="-14908"/>
            <a:ext cx="9162600" cy="5173200"/>
          </a:xfrm>
          <a:prstGeom prst="rect">
            <a:avLst/>
          </a:prstGeom>
          <a:solidFill>
            <a:srgbClr val="58585B"/>
          </a:solidFill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5933025" y="1244375"/>
            <a:ext cx="34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304650" y="141350"/>
            <a:ext cx="8380800" cy="554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</a:rPr>
              <a:t>Partners</a:t>
            </a:r>
            <a:r>
              <a:rPr lang="en-US" sz="2400">
                <a:solidFill>
                  <a:srgbClr val="000099"/>
                </a:solidFill>
              </a:rPr>
              <a:t> and resellers</a:t>
            </a:r>
            <a:endParaRPr sz="2400">
              <a:solidFill>
                <a:srgbClr val="000099"/>
              </a:solidFill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536125" y="695450"/>
            <a:ext cx="80091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-US" sz="2200">
                <a:solidFill>
                  <a:schemeClr val="lt1"/>
                </a:solidFill>
              </a:rPr>
              <a:t>Find one that you trust and enjoy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-US" sz="2200">
                <a:solidFill>
                  <a:schemeClr val="lt1"/>
                </a:solidFill>
              </a:rPr>
              <a:t>They don't need to know everything but do need to understand your goals and how to articulate them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-US" sz="2200">
                <a:solidFill>
                  <a:schemeClr val="lt1"/>
                </a:solidFill>
              </a:rPr>
              <a:t>They should already have relationships with companies that sell tools relevant to you but also willing to look at new tech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-US" sz="2200">
                <a:solidFill>
                  <a:schemeClr val="lt1"/>
                </a:solidFill>
              </a:rPr>
              <a:t>They make money by adding a percentage to the price BUT they usually get a percentage taken off for bringing the deal to the table (so it evens out)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-US" sz="2200">
                <a:solidFill>
                  <a:schemeClr val="lt1"/>
                </a:solidFill>
              </a:rPr>
              <a:t>They also get Spiffs from product companies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en-US" sz="2200">
                <a:solidFill>
                  <a:schemeClr val="lt1"/>
                </a:solidFill>
              </a:rPr>
              <a:t>Find someone truthful and transparent</a:t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/>
        </p:nvSpPr>
        <p:spPr>
          <a:xfrm>
            <a:off x="460600" y="187650"/>
            <a:ext cx="8035200" cy="8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000099"/>
                </a:solidFill>
              </a:rPr>
              <a:t>Top Annoying shit that needs to stop</a:t>
            </a:r>
            <a:endParaRPr b="1" sz="3500">
              <a:solidFill>
                <a:srgbClr val="000099"/>
              </a:solidFill>
            </a:endParaRPr>
          </a:p>
        </p:txBody>
      </p:sp>
      <p:sp>
        <p:nvSpPr>
          <p:cNvPr id="270" name="Google Shape;270;p35"/>
          <p:cNvSpPr txBox="1"/>
          <p:nvPr/>
        </p:nvSpPr>
        <p:spPr>
          <a:xfrm>
            <a:off x="477675" y="1364775"/>
            <a:ext cx="7924200" cy="30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Engineers: Turn on your fucking camera on a call!!!!!!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Sales People: Learn a little something and stop being king dbag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CISO: I know you </a:t>
            </a:r>
            <a:r>
              <a:rPr lang="en-US" sz="1800">
                <a:solidFill>
                  <a:schemeClr val="dk2"/>
                </a:solidFill>
              </a:rPr>
              <a:t>aren't</a:t>
            </a:r>
            <a:r>
              <a:rPr lang="en-US" sz="1800">
                <a:solidFill>
                  <a:schemeClr val="dk2"/>
                </a:solidFill>
              </a:rPr>
              <a:t> that busy stop acting </a:t>
            </a:r>
            <a:r>
              <a:rPr lang="en-US" sz="1800">
                <a:solidFill>
                  <a:schemeClr val="dk2"/>
                </a:solidFill>
              </a:rPr>
              <a:t>special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SE: You are not the smartest person so stop trying to be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SDR: You call the wrong person at dinner….I will punch you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Marketing: This is a computer not an AI revolutionary cyber machine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RD: You where good at sales stop sucking at leadership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Procurement: You aren't a robot you can be nice and firm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Lawyers: I hate you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1" name="Google Shape;271;p35"/>
          <p:cNvSpPr txBox="1"/>
          <p:nvPr/>
        </p:nvSpPr>
        <p:spPr>
          <a:xfrm>
            <a:off x="486200" y="4665825"/>
            <a:ext cx="84447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None of these are my viewpoints post next round of layoffs……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/>
          <p:nvPr/>
        </p:nvSpPr>
        <p:spPr>
          <a:xfrm>
            <a:off x="38075" y="58123"/>
            <a:ext cx="8151000" cy="98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Source Sans Pro"/>
              <a:buNone/>
            </a:pPr>
            <a:r>
              <a:rPr b="1" lang="en-US" sz="500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Compensation</a:t>
            </a:r>
            <a:endParaRPr b="1" i="0" sz="500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-657700" y="481467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264425" y="793275"/>
            <a:ext cx="3121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OTE = on target earnings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392375" y="1595075"/>
            <a:ext cx="2610000" cy="23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SBRs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Small salary sometimes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Paid by qualified lead to meeting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Good ones are targeted and OSINT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80" name="Google Shape;280;p36"/>
          <p:cNvSpPr txBox="1"/>
          <p:nvPr/>
        </p:nvSpPr>
        <p:spPr>
          <a:xfrm>
            <a:off x="3223150" y="1730425"/>
            <a:ext cx="2610000" cy="23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SEs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around 70/30 OTE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Judged on technical wins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Makes a much smaller percent over OTE than the AE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5833150" y="1730425"/>
            <a:ext cx="2610000" cy="23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AEs</a:t>
            </a:r>
            <a:endParaRPr sz="18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40/60 OTE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Large </a:t>
            </a:r>
            <a:r>
              <a:rPr lang="en-US" sz="1500">
                <a:solidFill>
                  <a:schemeClr val="dk2"/>
                </a:solidFill>
              </a:rPr>
              <a:t>percentage</a:t>
            </a:r>
            <a:r>
              <a:rPr lang="en-US" sz="1500">
                <a:solidFill>
                  <a:schemeClr val="dk2"/>
                </a:solidFill>
              </a:rPr>
              <a:t> over OTE but sometimes capped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-US" sz="1500">
                <a:solidFill>
                  <a:schemeClr val="dk2"/>
                </a:solidFill>
              </a:rPr>
              <a:t>Has to start over every year with numbers </a:t>
            </a:r>
            <a:r>
              <a:rPr lang="en-US" sz="1500">
                <a:solidFill>
                  <a:schemeClr val="dk2"/>
                </a:solidFill>
              </a:rPr>
              <a:t>higher</a:t>
            </a:r>
            <a:r>
              <a:rPr lang="en-US" sz="1500">
                <a:solidFill>
                  <a:schemeClr val="dk2"/>
                </a:solidFill>
              </a:rPr>
              <a:t> than previous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/>
          <p:nvPr/>
        </p:nvSpPr>
        <p:spPr>
          <a:xfrm>
            <a:off x="38075" y="58123"/>
            <a:ext cx="8151000" cy="98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Source Sans Pro"/>
              <a:buNone/>
            </a:pPr>
            <a:r>
              <a:rPr b="1" lang="en-US" sz="500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Pricing</a:t>
            </a:r>
            <a:endParaRPr b="1" i="0" sz="500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-657700" y="481467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88" name="Google Shape;288;p37"/>
          <p:cNvSpPr txBox="1"/>
          <p:nvPr/>
        </p:nvSpPr>
        <p:spPr>
          <a:xfrm>
            <a:off x="247375" y="989475"/>
            <a:ext cx="6363300" cy="3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SAAS tools vary wildly on pricing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Bigger you are the bigger discount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70-85% </a:t>
            </a:r>
            <a:r>
              <a:rPr lang="en-US" sz="1800">
                <a:solidFill>
                  <a:schemeClr val="dk2"/>
                </a:solidFill>
              </a:rPr>
              <a:t>sometimes</a:t>
            </a:r>
            <a:r>
              <a:rPr lang="en-US" sz="1800">
                <a:solidFill>
                  <a:schemeClr val="dk2"/>
                </a:solidFill>
              </a:rPr>
              <a:t> for </a:t>
            </a:r>
            <a:r>
              <a:rPr lang="en-US" sz="1800">
                <a:solidFill>
                  <a:schemeClr val="dk2"/>
                </a:solidFill>
              </a:rPr>
              <a:t>special</a:t>
            </a:r>
            <a:r>
              <a:rPr lang="en-US" sz="1800">
                <a:solidFill>
                  <a:schemeClr val="dk2"/>
                </a:solidFill>
              </a:rPr>
              <a:t> </a:t>
            </a:r>
            <a:r>
              <a:rPr lang="en-US" sz="1800">
                <a:solidFill>
                  <a:schemeClr val="dk2"/>
                </a:solidFill>
              </a:rPr>
              <a:t>accounts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If you </a:t>
            </a:r>
            <a:r>
              <a:rPr lang="en-US" sz="1800">
                <a:solidFill>
                  <a:schemeClr val="dk2"/>
                </a:solidFill>
              </a:rPr>
              <a:t>aren't</a:t>
            </a:r>
            <a:r>
              <a:rPr lang="en-US" sz="1800">
                <a:solidFill>
                  <a:schemeClr val="dk2"/>
                </a:solidFill>
              </a:rPr>
              <a:t> a multi 7 figure deal you can’t get that pricing no matter how good you negotiate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ProServe is sometimes treated as a </a:t>
            </a:r>
            <a:r>
              <a:rPr lang="en-US" sz="1800">
                <a:solidFill>
                  <a:schemeClr val="dk2"/>
                </a:solidFill>
              </a:rPr>
              <a:t>separate</a:t>
            </a:r>
            <a:r>
              <a:rPr lang="en-US" sz="1800">
                <a:solidFill>
                  <a:schemeClr val="dk2"/>
                </a:solidFill>
              </a:rPr>
              <a:t> company even when </a:t>
            </a:r>
            <a:r>
              <a:rPr lang="en-US" sz="1800">
                <a:solidFill>
                  <a:schemeClr val="dk2"/>
                </a:solidFill>
              </a:rPr>
              <a:t>it's</a:t>
            </a:r>
            <a:r>
              <a:rPr lang="en-US" sz="1800">
                <a:solidFill>
                  <a:schemeClr val="dk2"/>
                </a:solidFill>
              </a:rPr>
              <a:t> the same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Pricing abstract things is a bit of an art since every company is different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US" sz="1800">
                <a:solidFill>
                  <a:schemeClr val="dk2"/>
                </a:solidFill>
              </a:rPr>
              <a:t>If you are just doing a pricing exercise to haggle with your current solution tell the sales people. Usually they will give that and it </a:t>
            </a:r>
            <a:r>
              <a:rPr lang="en-US" sz="1800">
                <a:solidFill>
                  <a:schemeClr val="dk2"/>
                </a:solidFill>
              </a:rPr>
              <a:t>won't</a:t>
            </a:r>
            <a:r>
              <a:rPr lang="en-US" sz="1800">
                <a:solidFill>
                  <a:schemeClr val="dk2"/>
                </a:solidFill>
              </a:rPr>
              <a:t> waste </a:t>
            </a:r>
            <a:r>
              <a:rPr lang="en-US" sz="1800">
                <a:solidFill>
                  <a:schemeClr val="dk2"/>
                </a:solidFill>
              </a:rPr>
              <a:t>everyone's</a:t>
            </a:r>
            <a:r>
              <a:rPr lang="en-US" sz="1800">
                <a:solidFill>
                  <a:schemeClr val="dk2"/>
                </a:solidFill>
              </a:rPr>
              <a:t> time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/>
          <p:nvPr/>
        </p:nvSpPr>
        <p:spPr>
          <a:xfrm>
            <a:off x="38075" y="58123"/>
            <a:ext cx="8151000" cy="98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50"/>
              <a:buFont typeface="Source Sans Pro"/>
              <a:buNone/>
            </a:pPr>
            <a:r>
              <a:rPr b="1" lang="en-US" sz="340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Services</a:t>
            </a:r>
            <a:endParaRPr b="1" sz="3400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Source Sans Pro"/>
              <a:buNone/>
            </a:pPr>
            <a:r>
              <a:t/>
            </a:r>
            <a:endParaRPr sz="5000">
              <a:solidFill>
                <a:srgbClr val="D01F2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4664250" y="2426075"/>
            <a:ext cx="36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8"/>
          <p:cNvSpPr txBox="1"/>
          <p:nvPr/>
        </p:nvSpPr>
        <p:spPr>
          <a:xfrm>
            <a:off x="284925" y="917675"/>
            <a:ext cx="7185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 need to be realistic with how fast your team works and how organized your </a:t>
            </a:r>
            <a:r>
              <a:rPr lang="en-US"/>
              <a:t>environment</a:t>
            </a:r>
            <a:r>
              <a:rPr lang="en-US"/>
              <a:t>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 good pro-serve will try and estimate number of hours for YOUR goals.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Don't</a:t>
            </a:r>
            <a:r>
              <a:rPr lang="en-US"/>
              <a:t> let them just throw a number at you. Dig into it.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First figure out what your team can do so you can give them a list to base hours and pricing off of. That will protect you from “packages”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Add a clause for buying extra hours at the same rate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Try and have </a:t>
            </a:r>
            <a:r>
              <a:rPr lang="en-US"/>
              <a:t>adjustable hours to fit your schedule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Have a meeting with the engineers you will be working with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Meet their lead as well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1k+ hours they need to be cool people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225" y="2426075"/>
            <a:ext cx="2543325" cy="25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8"/>
          <p:cNvSpPr txBox="1"/>
          <p:nvPr/>
        </p:nvSpPr>
        <p:spPr>
          <a:xfrm>
            <a:off x="-623925" y="474722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/>
          <p:nvPr/>
        </p:nvSpPr>
        <p:spPr>
          <a:xfrm>
            <a:off x="38075" y="58123"/>
            <a:ext cx="8151000" cy="98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17125" spcFirstLastPara="1" rIns="171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50"/>
              <a:buFont typeface="Source Sans Pro"/>
              <a:buNone/>
            </a:pPr>
            <a:r>
              <a:rPr b="1" lang="en-US" sz="340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What worked for me?</a:t>
            </a:r>
            <a:endParaRPr b="1" sz="3400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Source Sans Pro"/>
              <a:buNone/>
            </a:pPr>
            <a:r>
              <a:t/>
            </a:r>
            <a:endParaRPr sz="5000">
              <a:solidFill>
                <a:srgbClr val="D01F2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03" name="Google Shape;3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9926" y="4567800"/>
            <a:ext cx="1440526" cy="42814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9"/>
          <p:cNvSpPr txBox="1"/>
          <p:nvPr/>
        </p:nvSpPr>
        <p:spPr>
          <a:xfrm>
            <a:off x="4664250" y="2426075"/>
            <a:ext cx="36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9"/>
          <p:cNvSpPr txBox="1"/>
          <p:nvPr/>
        </p:nvSpPr>
        <p:spPr>
          <a:xfrm>
            <a:off x="284925" y="917675"/>
            <a:ext cx="7904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mix of self </a:t>
            </a:r>
            <a:r>
              <a:rPr lang="en-US"/>
              <a:t>deprecating</a:t>
            </a:r>
            <a:r>
              <a:rPr lang="en-US"/>
              <a:t> humor and </a:t>
            </a:r>
            <a:r>
              <a:rPr lang="en-US"/>
              <a:t>integrity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 try and be open when I don’t know something, I work in a deep part of security.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 try to actually be a human and not a sales robot.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 abide in value selling and being a solutions architect.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 will and have told people when its not a good fit.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 try and remember how hard it is to look at multiple tools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 keep mutual goals of ours and customers in balance</a:t>
            </a:r>
            <a:endParaRPr/>
          </a:p>
        </p:txBody>
      </p:sp>
      <p:pic>
        <p:nvPicPr>
          <p:cNvPr id="306" name="Google Shape;30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818" y="2826275"/>
            <a:ext cx="3743006" cy="21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9"/>
          <p:cNvSpPr txBox="1"/>
          <p:nvPr/>
        </p:nvSpPr>
        <p:spPr>
          <a:xfrm>
            <a:off x="-640825" y="4789350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"/>
          <p:cNvSpPr/>
          <p:nvPr/>
        </p:nvSpPr>
        <p:spPr>
          <a:xfrm>
            <a:off x="699950" y="354000"/>
            <a:ext cx="8223000" cy="6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17125" spcFirstLastPara="1" rIns="171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1F27"/>
              </a:buClr>
              <a:buSzPts val="4050"/>
              <a:buFont typeface="Source Sans Pro"/>
              <a:buNone/>
            </a:pPr>
            <a:r>
              <a:rPr b="1" lang="en-US" sz="4050">
                <a:solidFill>
                  <a:srgbClr val="0000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 Budget No Toys!</a:t>
            </a:r>
            <a:endParaRPr b="1" i="0" sz="4050" u="none" cap="none" strike="noStrike">
              <a:solidFill>
                <a:srgbClr val="0000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744575" y="1263675"/>
            <a:ext cx="6265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get budget for a program?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Sometimes you can’t. It’s you and the open source tools you implement.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You can slowly show value.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Don’t jam up engineering.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Plan everything out and implement controls slowly and efficiently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Keep metrics on your findings and remediation.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Build those bridges!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Now with some value, learn to communicate to a </a:t>
            </a:r>
            <a:r>
              <a:rPr lang="en-US"/>
              <a:t>business</a:t>
            </a:r>
            <a:r>
              <a:rPr lang="en-US"/>
              <a:t> based audience. If you can show executives why financially it is good for the company, you will get closer to a real budget.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Being able to communicate effectively with the C-suite and board what an </a:t>
            </a:r>
            <a:r>
              <a:rPr lang="en-US"/>
              <a:t>exploit</a:t>
            </a:r>
            <a:r>
              <a:rPr lang="en-US"/>
              <a:t> can cost the company is as important as talking to engineers.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0375" y="928550"/>
            <a:ext cx="2053325" cy="26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0"/>
          <p:cNvSpPr txBox="1"/>
          <p:nvPr/>
        </p:nvSpPr>
        <p:spPr>
          <a:xfrm>
            <a:off x="-695725" y="4776125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7028600" y="4307575"/>
            <a:ext cx="20532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C3061E"/>
                </a:solidFill>
              </a:rPr>
              <a:t>Old Slide</a:t>
            </a:r>
            <a:endParaRPr b="1" sz="3100">
              <a:solidFill>
                <a:srgbClr val="C3061E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 txBox="1"/>
          <p:nvPr/>
        </p:nvSpPr>
        <p:spPr>
          <a:xfrm>
            <a:off x="517925" y="2742800"/>
            <a:ext cx="40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425" y="84150"/>
            <a:ext cx="2895925" cy="343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1"/>
          <p:cNvSpPr txBox="1"/>
          <p:nvPr/>
        </p:nvSpPr>
        <p:spPr>
          <a:xfrm>
            <a:off x="469150" y="187650"/>
            <a:ext cx="5561400" cy="48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Liars, Snakes and Marketing teams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Look out for Bullshitters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Ask a ton of questions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Sometimes they </a:t>
            </a:r>
            <a:r>
              <a:rPr lang="en-US">
                <a:solidFill>
                  <a:schemeClr val="lt1"/>
                </a:solidFill>
              </a:rPr>
              <a:t>aren't</a:t>
            </a:r>
            <a:r>
              <a:rPr lang="en-US">
                <a:solidFill>
                  <a:schemeClr val="lt1"/>
                </a:solidFill>
              </a:rPr>
              <a:t> lying but just believe what marketing made up in their </a:t>
            </a:r>
            <a:r>
              <a:rPr lang="en-US">
                <a:solidFill>
                  <a:schemeClr val="lt1"/>
                </a:solidFill>
              </a:rPr>
              <a:t>fantasy</a:t>
            </a:r>
            <a:r>
              <a:rPr lang="en-US">
                <a:solidFill>
                  <a:schemeClr val="lt1"/>
                </a:solidFill>
              </a:rPr>
              <a:t> bullshit land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A lot of marketing people have their masters and no practitioner experience so </a:t>
            </a:r>
            <a:r>
              <a:rPr lang="en-US">
                <a:solidFill>
                  <a:schemeClr val="lt1"/>
                </a:solidFill>
              </a:rPr>
              <a:t>there is</a:t>
            </a:r>
            <a:r>
              <a:rPr lang="en-US">
                <a:solidFill>
                  <a:schemeClr val="lt1"/>
                </a:solidFill>
              </a:rPr>
              <a:t> a big gap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Slimy sales people suck but they </a:t>
            </a:r>
            <a:r>
              <a:rPr lang="en-US">
                <a:solidFill>
                  <a:schemeClr val="lt1"/>
                </a:solidFill>
              </a:rPr>
              <a:t>don't</a:t>
            </a:r>
            <a:r>
              <a:rPr lang="en-US">
                <a:solidFill>
                  <a:schemeClr val="lt1"/>
                </a:solidFill>
              </a:rPr>
              <a:t> tend to last that long at good places (</a:t>
            </a:r>
            <a:r>
              <a:rPr lang="en-US">
                <a:solidFill>
                  <a:schemeClr val="lt1"/>
                </a:solidFill>
              </a:rPr>
              <a:t>It's</a:t>
            </a:r>
            <a:r>
              <a:rPr lang="en-US">
                <a:solidFill>
                  <a:schemeClr val="lt1"/>
                </a:solidFill>
              </a:rPr>
              <a:t> a relationship game and a small pond)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Now dickheads on the other hand seem to stick around and keep selling…..avoid them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People make mistakes and do crazy shit when they need to make that mortgage payment. (RDs hire people with big payments on houses and cars)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/>
              <a:t>Questions?</a:t>
            </a:r>
            <a:endParaRPr sz="7100"/>
          </a:p>
        </p:txBody>
      </p:sp>
      <p:sp>
        <p:nvSpPr>
          <p:cNvPr id="329" name="Google Shape;329;p42"/>
          <p:cNvSpPr txBox="1"/>
          <p:nvPr/>
        </p:nvSpPr>
        <p:spPr>
          <a:xfrm>
            <a:off x="0" y="4527900"/>
            <a:ext cx="53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01F27"/>
                </a:solidFill>
              </a:rPr>
              <a:t>Warning: </a:t>
            </a:r>
            <a:r>
              <a:rPr lang="en-US">
                <a:solidFill>
                  <a:srgbClr val="D01F27"/>
                </a:solidFill>
              </a:rPr>
              <a:t>Answers</a:t>
            </a:r>
            <a:r>
              <a:rPr lang="en-US">
                <a:solidFill>
                  <a:srgbClr val="D01F27"/>
                </a:solidFill>
              </a:rPr>
              <a:t> may be </a:t>
            </a:r>
            <a:r>
              <a:rPr lang="en-US">
                <a:solidFill>
                  <a:srgbClr val="D01F27"/>
                </a:solidFill>
              </a:rPr>
              <a:t>opinion</a:t>
            </a:r>
            <a:r>
              <a:rPr lang="en-US">
                <a:solidFill>
                  <a:srgbClr val="D01F27"/>
                </a:solidFill>
              </a:rPr>
              <a:t> or flat out false. It is your fault for trusting a hacker.</a:t>
            </a:r>
            <a:endParaRPr>
              <a:solidFill>
                <a:srgbClr val="D01F27"/>
              </a:solidFill>
            </a:endParaRPr>
          </a:p>
        </p:txBody>
      </p:sp>
      <p:sp>
        <p:nvSpPr>
          <p:cNvPr id="330" name="Google Shape;330;p42"/>
          <p:cNvSpPr txBox="1"/>
          <p:nvPr/>
        </p:nvSpPr>
        <p:spPr>
          <a:xfrm>
            <a:off x="6816325" y="4768300"/>
            <a:ext cx="30000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99"/>
                </a:solidFill>
                <a:latin typeface="Roboto Medium"/>
                <a:ea typeface="Roboto Medium"/>
                <a:cs typeface="Roboto Medium"/>
                <a:sym typeface="Roboto Medium"/>
              </a:rPr>
              <a:t>Sumo Logic</a:t>
            </a:r>
            <a:endParaRPr sz="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