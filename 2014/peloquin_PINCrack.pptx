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61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-7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EE9DE-9F72-4A07-8732-3841431A607B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CDB08-F4FB-4F6A-9ECE-A3319C201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2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CDB08-F4FB-4F6A-9ECE-A3319C2014B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CDB08-F4FB-4F6A-9ECE-A3319C2014B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CDB08-F4FB-4F6A-9ECE-A3319C2014B1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CDB08-F4FB-4F6A-9ECE-A3319C2014B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CDB08-F4FB-4F6A-9ECE-A3319C2014B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DCDB08-F4FB-4F6A-9ECE-A3319C2014B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 cap="none" spc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43000"/>
          </a:xfrm>
        </p:spPr>
        <p:txBody>
          <a:bodyPr/>
          <a:lstStyle>
            <a:lvl1pPr marL="0" indent="0" algn="ctr">
              <a:buNone/>
              <a:defRPr b="1" cap="none" spc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/>
          <a:lstStyle>
            <a:lvl2pPr>
              <a:buFont typeface="Calibri" pitchFamily="34" charset="0"/>
              <a:buChar char="»"/>
              <a:defRPr/>
            </a:lvl2pPr>
            <a:lvl3pPr>
              <a:buFont typeface="Calibri" pitchFamily="34" charset="0"/>
              <a:buChar char="»"/>
              <a:defRPr/>
            </a:lvl3pPr>
            <a:lvl4pPr>
              <a:buFont typeface="Arial" pitchFamily="34" charset="0"/>
              <a:buChar char="»"/>
              <a:defRPr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BannerLight-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22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609600"/>
            <a:ext cx="9144000" cy="0"/>
          </a:xfrm>
          <a:prstGeom prst="line">
            <a:avLst/>
          </a:prstGeom>
          <a:ln w="254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nnerLight-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223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85800"/>
            <a:ext cx="4038600" cy="5440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85800"/>
            <a:ext cx="4038600" cy="5440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09600"/>
            <a:ext cx="9144000" cy="0"/>
          </a:xfrm>
          <a:prstGeom prst="line">
            <a:avLst/>
          </a:prstGeom>
          <a:ln w="254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8229600" cy="457200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BannerLight-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2239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09600"/>
            <a:ext cx="9144000" cy="0"/>
          </a:xfrm>
          <a:prstGeom prst="line">
            <a:avLst/>
          </a:prstGeom>
          <a:ln w="254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BannerLight-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2239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600"/>
            <a:ext cx="9144000" cy="0"/>
          </a:xfrm>
          <a:prstGeom prst="line">
            <a:avLst/>
          </a:prstGeom>
          <a:ln w="254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371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annerLight-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2239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09600"/>
            <a:ext cx="9144000" cy="0"/>
          </a:xfrm>
          <a:prstGeom prst="line">
            <a:avLst/>
          </a:prstGeom>
          <a:ln w="254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/>
          <a:lstStyle>
            <a:lvl2pPr>
              <a:buFont typeface="Calibri" pitchFamily="34" charset="0"/>
              <a:buChar char="»"/>
              <a:defRPr/>
            </a:lvl2pPr>
            <a:lvl3pPr>
              <a:buFont typeface="Calibri" pitchFamily="34" charset="0"/>
              <a:buChar char="»"/>
              <a:defRPr/>
            </a:lvl3pPr>
            <a:lvl4pPr>
              <a:buFont typeface="Arial" pitchFamily="34" charset="0"/>
              <a:buChar char="»"/>
              <a:defRPr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0E445-2141-415B-86C2-E86717FD13CE}" type="datetime1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3/21/14</a:t>
            </a:fld>
            <a:endParaRPr lang="en-US">
              <a:solidFill>
                <a:srgbClr val="F2F2F2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2F2F2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F2F2F2">
                  <a:tint val="75000"/>
                </a:srgbClr>
              </a:solidFill>
            </a:endParaRPr>
          </a:p>
        </p:txBody>
      </p:sp>
      <p:pic>
        <p:nvPicPr>
          <p:cNvPr id="7" name="Picture 6" descr="BannerLight-4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22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609600"/>
            <a:ext cx="9144000" cy="0"/>
          </a:xfrm>
          <a:prstGeom prst="line">
            <a:avLst/>
          </a:prstGeom>
          <a:ln w="254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64437-2D41-4CBB-BC2A-B5A0D9A35551}" type="datetimeFigureOut">
              <a:rPr lang="en-US" smtClean="0"/>
              <a:pPr/>
              <a:t>3/21/14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Cracking the PIN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138DB-EC63-4482-990B-A9B5B702D69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82376-595F-4F8F-AD03-AD0A24ACA8C1}" type="datetime1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3/21/14</a:t>
            </a:fld>
            <a:endParaRPr lang="en-US">
              <a:solidFill>
                <a:srgbClr val="F2F2F2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de.google.com/p/iphone-dataprotection/wiki/READM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elcomsoft.com/eift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21526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ill Sans"/>
                <a:cs typeface="Gill Sans"/>
              </a:rPr>
              <a:t>Subverting </a:t>
            </a:r>
            <a:r>
              <a:rPr lang="en-US" sz="6000" dirty="0" err="1" smtClean="0">
                <a:latin typeface="Gill Sans"/>
                <a:cs typeface="Gill Sans"/>
              </a:rPr>
              <a:t>iOS</a:t>
            </a:r>
            <a:r>
              <a:rPr lang="en-US" sz="6000" dirty="0" smtClean="0">
                <a:latin typeface="Gill Sans"/>
                <a:cs typeface="Gill Sans"/>
              </a:rPr>
              <a:t> Data Protection</a:t>
            </a:r>
            <a:endParaRPr lang="en-US" sz="6000" dirty="0">
              <a:latin typeface="Gill Sans"/>
              <a:cs typeface="Gill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6858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  <a:latin typeface="Gill Sans"/>
                <a:cs typeface="Gill Sans"/>
              </a:rPr>
              <a:t>Cracking the Passcode (PIN)</a:t>
            </a:r>
            <a:endParaRPr lang="en-US" dirty="0">
              <a:solidFill>
                <a:srgbClr val="FFFFFF"/>
              </a:solidFill>
              <a:latin typeface="Gill Sans"/>
              <a:cs typeface="Gill San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dirty="0" smtClean="0">
                <a:latin typeface="Gill Sans"/>
                <a:cs typeface="Gill Sans"/>
              </a:rPr>
              <a:t>Commands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2</a:t>
            </a:fld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876300"/>
            <a:ext cx="8229600" cy="5105400"/>
          </a:xfrm>
        </p:spPr>
        <p:txBody>
          <a:bodyPr/>
          <a:lstStyle/>
          <a:p>
            <a:r>
              <a:rPr lang="en-US" sz="2400" dirty="0" smtClean="0">
                <a:latin typeface="Gill Sans"/>
                <a:cs typeface="Gill Sans"/>
              </a:rPr>
              <a:t>Step 1:  Boot </a:t>
            </a:r>
            <a:r>
              <a:rPr lang="en-US" sz="2400" dirty="0" err="1" smtClean="0">
                <a:latin typeface="Gill Sans"/>
                <a:cs typeface="Gill Sans"/>
              </a:rPr>
              <a:t>ramdisk</a:t>
            </a:r>
            <a:r>
              <a:rPr lang="en-US" sz="2400" dirty="0" smtClean="0">
                <a:latin typeface="Gill Sans"/>
                <a:cs typeface="Gill Sans"/>
              </a:rPr>
              <a:t> and custom kernel on device</a:t>
            </a:r>
          </a:p>
          <a:p>
            <a:pPr lvl="1">
              <a:spcAft>
                <a:spcPts val="600"/>
              </a:spcAft>
            </a:pPr>
            <a:r>
              <a:rPr lang="en-US" sz="2000" b="1" dirty="0" smtClean="0">
                <a:latin typeface="Courier New"/>
                <a:cs typeface="Courier New"/>
              </a:rPr>
              <a:t>.</a:t>
            </a:r>
            <a:r>
              <a:rPr lang="en-US" sz="2000" b="1" dirty="0">
                <a:latin typeface="Courier New"/>
                <a:cs typeface="Courier New"/>
              </a:rPr>
              <a:t>/redsn0w_mac_0.9.15b3/redsn0w.app/Contents/</a:t>
            </a:r>
            <a:r>
              <a:rPr lang="en-US" sz="2000" b="1" dirty="0" err="1">
                <a:latin typeface="Courier New"/>
                <a:cs typeface="Courier New"/>
              </a:rPr>
              <a:t>MacOS</a:t>
            </a:r>
            <a:r>
              <a:rPr lang="en-US" sz="2000" b="1" dirty="0">
                <a:latin typeface="Courier New"/>
                <a:cs typeface="Courier New"/>
              </a:rPr>
              <a:t>/redsn0w -</a:t>
            </a:r>
            <a:r>
              <a:rPr lang="en-US" sz="2000" b="1" dirty="0" err="1">
                <a:latin typeface="Courier New"/>
                <a:cs typeface="Courier New"/>
              </a:rPr>
              <a:t>i</a:t>
            </a:r>
            <a:r>
              <a:rPr lang="en-US" sz="2000" b="1" dirty="0">
                <a:latin typeface="Courier New"/>
                <a:cs typeface="Courier New"/>
              </a:rPr>
              <a:t> iPhone3,3_5.1.1_9B206_Restore.ipsw -r myramdisk_n90ap.dmg -k kernelcache.release.n90.patched</a:t>
            </a:r>
          </a:p>
          <a:p>
            <a:r>
              <a:rPr lang="en-US" sz="2400" dirty="0" smtClean="0">
                <a:latin typeface="Gill Sans"/>
                <a:cs typeface="Gill Sans"/>
              </a:rPr>
              <a:t>Step 2:  Establish connection to phone (</a:t>
            </a:r>
            <a:r>
              <a:rPr lang="en-US" sz="2400" dirty="0" err="1" smtClean="0">
                <a:latin typeface="Gill Sans"/>
                <a:cs typeface="Gill Sans"/>
              </a:rPr>
              <a:t>ssh</a:t>
            </a:r>
            <a:r>
              <a:rPr lang="en-US" sz="2400" dirty="0" smtClean="0">
                <a:latin typeface="Gill Sans"/>
                <a:cs typeface="Gill Sans"/>
              </a:rPr>
              <a:t> over </a:t>
            </a:r>
            <a:r>
              <a:rPr lang="en-US" sz="2400" dirty="0" err="1" smtClean="0">
                <a:latin typeface="Gill Sans"/>
                <a:cs typeface="Gill Sans"/>
              </a:rPr>
              <a:t>usb</a:t>
            </a:r>
            <a:r>
              <a:rPr lang="en-US" sz="2400" dirty="0" smtClean="0">
                <a:latin typeface="Gill Sans"/>
                <a:cs typeface="Gill Sans"/>
              </a:rPr>
              <a:t> using </a:t>
            </a:r>
            <a:r>
              <a:rPr lang="en-US" sz="2400" dirty="0" err="1" smtClean="0">
                <a:latin typeface="Gill Sans"/>
                <a:cs typeface="Gill Sans"/>
              </a:rPr>
              <a:t>ssl</a:t>
            </a:r>
            <a:r>
              <a:rPr lang="en-US" sz="2400" dirty="0" smtClean="0">
                <a:latin typeface="Gill Sans"/>
                <a:cs typeface="Gill Sans"/>
              </a:rPr>
              <a:t>, aka </a:t>
            </a:r>
            <a:r>
              <a:rPr lang="en-US" sz="2400" dirty="0" err="1" smtClean="0">
                <a:latin typeface="Gill Sans"/>
                <a:cs typeface="Gill Sans"/>
              </a:rPr>
              <a:t>usbmux</a:t>
            </a:r>
            <a:r>
              <a:rPr lang="en-US" sz="2400" dirty="0" smtClean="0">
                <a:latin typeface="Gill Sans"/>
                <a:cs typeface="Gill Sans"/>
              </a:rPr>
              <a:t>, or USB Multiplexing)</a:t>
            </a:r>
          </a:p>
          <a:p>
            <a:pPr lvl="1">
              <a:spcAft>
                <a:spcPts val="600"/>
              </a:spcAft>
            </a:pPr>
            <a:r>
              <a:rPr lang="en-US" sz="2000" b="1" dirty="0" smtClean="0">
                <a:latin typeface="Courier New"/>
                <a:cs typeface="Courier New"/>
              </a:rPr>
              <a:t>python </a:t>
            </a:r>
            <a:r>
              <a:rPr lang="en-US" sz="2000" b="1" dirty="0" err="1">
                <a:latin typeface="Courier New"/>
                <a:cs typeface="Courier New"/>
              </a:rPr>
              <a:t>usbmuxd</a:t>
            </a:r>
            <a:r>
              <a:rPr lang="en-US" sz="2000" b="1" dirty="0">
                <a:latin typeface="Courier New"/>
                <a:cs typeface="Courier New"/>
              </a:rPr>
              <a:t>-python-client/</a:t>
            </a:r>
            <a:r>
              <a:rPr lang="en-US" sz="2000" b="1" dirty="0" err="1">
                <a:latin typeface="Courier New"/>
                <a:cs typeface="Courier New"/>
              </a:rPr>
              <a:t>tcprelay.py</a:t>
            </a:r>
            <a:r>
              <a:rPr lang="en-US" sz="2000" b="1" dirty="0">
                <a:latin typeface="Courier New"/>
                <a:cs typeface="Courier New"/>
              </a:rPr>
              <a:t> -t 22:2222 1999:</a:t>
            </a:r>
            <a:r>
              <a:rPr lang="en-US" sz="2000" b="1" dirty="0" smtClean="0">
                <a:latin typeface="Courier New"/>
                <a:cs typeface="Courier New"/>
              </a:rPr>
              <a:t>1999</a:t>
            </a:r>
          </a:p>
          <a:p>
            <a:r>
              <a:rPr lang="en-US" sz="2400" dirty="0" smtClean="0">
                <a:latin typeface="Gill Sans"/>
                <a:cs typeface="Gill Sans"/>
              </a:rPr>
              <a:t>Step 3: </a:t>
            </a:r>
            <a:r>
              <a:rPr lang="en-US" sz="2400" dirty="0" err="1" smtClean="0">
                <a:latin typeface="Gill Sans"/>
                <a:cs typeface="Gill Sans"/>
              </a:rPr>
              <a:t>Bruteforce</a:t>
            </a:r>
            <a:r>
              <a:rPr lang="en-US" sz="2400" dirty="0" smtClean="0">
                <a:latin typeface="Gill Sans"/>
                <a:cs typeface="Gill Sans"/>
              </a:rPr>
              <a:t> passcode</a:t>
            </a:r>
          </a:p>
          <a:p>
            <a:pPr lvl="1">
              <a:spcAft>
                <a:spcPts val="600"/>
              </a:spcAft>
            </a:pPr>
            <a:r>
              <a:rPr lang="en-US" sz="2000" b="1" dirty="0" smtClean="0">
                <a:latin typeface="Courier New"/>
                <a:cs typeface="Courier New"/>
              </a:rPr>
              <a:t>python </a:t>
            </a:r>
            <a:r>
              <a:rPr lang="en-US" sz="2000" b="1" dirty="0" err="1">
                <a:latin typeface="Courier New"/>
                <a:cs typeface="Courier New"/>
              </a:rPr>
              <a:t>python_scripts</a:t>
            </a:r>
            <a:r>
              <a:rPr lang="en-US" sz="2000" b="1" dirty="0">
                <a:latin typeface="Courier New"/>
                <a:cs typeface="Courier New"/>
              </a:rPr>
              <a:t>/</a:t>
            </a:r>
            <a:r>
              <a:rPr lang="en-US" sz="2000" b="1" dirty="0" err="1" smtClean="0">
                <a:latin typeface="Courier New"/>
                <a:cs typeface="Courier New"/>
              </a:rPr>
              <a:t>demo_bruteforce.py</a:t>
            </a:r>
            <a:endParaRPr lang="en-US" sz="2000" b="1" dirty="0" smtClean="0">
              <a:latin typeface="Courier New"/>
              <a:cs typeface="Courier New"/>
            </a:endParaRPr>
          </a:p>
          <a:p>
            <a:r>
              <a:rPr lang="en-US" sz="2400" dirty="0" smtClean="0">
                <a:latin typeface="Gill Sans"/>
                <a:cs typeface="Gill Sans"/>
              </a:rPr>
              <a:t>Step 4: Profit!</a:t>
            </a:r>
            <a:endParaRPr lang="en-US" sz="2400" dirty="0">
              <a:latin typeface="Gill Sans"/>
              <a:cs typeface="Gill San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064715"/>
              </p:ext>
            </p:extLst>
          </p:nvPr>
        </p:nvGraphicFramePr>
        <p:xfrm>
          <a:off x="457200" y="2286000"/>
          <a:ext cx="82296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Passcode</a:t>
                      </a:r>
                      <a:r>
                        <a:rPr lang="en-US" baseline="0" dirty="0" smtClean="0">
                          <a:latin typeface="Gill Sans"/>
                          <a:cs typeface="Gill Sans"/>
                        </a:rPr>
                        <a:t> Length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Complexity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Time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4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Numeric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18 minutes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4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Alphanumeric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19 days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6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Gill Sans"/>
                          <a:cs typeface="Gill Sans"/>
                        </a:rPr>
                        <a:t>Alphanumeric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196 years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8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Gill Sans"/>
                          <a:cs typeface="Gill Sans"/>
                        </a:rPr>
                        <a:t>Alphanumeric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755 thousand years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8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Gill Sans"/>
                          <a:cs typeface="Gill Sans"/>
                        </a:rPr>
                        <a:t>Alphanumeric</a:t>
                      </a:r>
                      <a:r>
                        <a:rPr lang="en-US" baseline="0" dirty="0" smtClean="0">
                          <a:latin typeface="Gill Sans"/>
                          <a:cs typeface="Gill Sans"/>
                        </a:rPr>
                        <a:t> Complex</a:t>
                      </a:r>
                      <a:endParaRPr lang="en-US" dirty="0" smtClean="0">
                        <a:latin typeface="Gill Sans"/>
                        <a:cs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ill Sans"/>
                          <a:cs typeface="Gill Sans"/>
                        </a:rPr>
                        <a:t>27 million Years</a:t>
                      </a:r>
                      <a:endParaRPr lang="en-US" dirty="0">
                        <a:latin typeface="Gill Sans"/>
                        <a:cs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dirty="0" smtClean="0">
                <a:latin typeface="Gill Sans"/>
                <a:cs typeface="Gill Sans"/>
              </a:rPr>
              <a:t>Passcode Complexity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3</a:t>
            </a:fld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4495800"/>
            <a:ext cx="18660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smtClean="0"/>
              <a:t>Source:  </a:t>
            </a:r>
            <a:r>
              <a:rPr lang="en-US" sz="1000" i="1" dirty="0" err="1" smtClean="0"/>
              <a:t>iOS</a:t>
            </a:r>
            <a:r>
              <a:rPr lang="en-US" sz="1000" i="1" dirty="0" smtClean="0"/>
              <a:t> Hacker’s Handbook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1631816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Gill Sans"/>
                <a:cs typeface="Gill Sans"/>
              </a:rPr>
              <a:t>FOSS</a:t>
            </a:r>
          </a:p>
          <a:p>
            <a:pPr lvl="1"/>
            <a:r>
              <a:rPr lang="en-US" dirty="0" smtClean="0">
                <a:latin typeface="Gill Sans"/>
                <a:cs typeface="Gill Sans"/>
              </a:rPr>
              <a:t>iPhone Data Protection Suite</a:t>
            </a:r>
          </a:p>
          <a:p>
            <a:pPr lvl="2"/>
            <a:r>
              <a:rPr lang="en-US" dirty="0" smtClean="0">
                <a:latin typeface="Gill Sans"/>
                <a:cs typeface="Gill Sans"/>
              </a:rPr>
              <a:t>Up to </a:t>
            </a:r>
            <a:r>
              <a:rPr lang="en-US" dirty="0" err="1" smtClean="0">
                <a:latin typeface="Gill Sans"/>
                <a:cs typeface="Gill Sans"/>
              </a:rPr>
              <a:t>iOS</a:t>
            </a:r>
            <a:r>
              <a:rPr lang="en-US" dirty="0" smtClean="0">
                <a:latin typeface="Gill Sans"/>
                <a:cs typeface="Gill Sans"/>
              </a:rPr>
              <a:t> 5.1.1</a:t>
            </a:r>
          </a:p>
          <a:p>
            <a:pPr lvl="2"/>
            <a:r>
              <a:rPr lang="en-US" dirty="0" smtClean="0">
                <a:latin typeface="Gill Sans"/>
                <a:cs typeface="Gill Sans"/>
              </a:rPr>
              <a:t>A4 chipset (3GS, iPhone4, iPod Touch 2,3,4)</a:t>
            </a:r>
          </a:p>
          <a:p>
            <a:pPr lvl="2"/>
            <a:r>
              <a:rPr lang="en-US" dirty="0" smtClean="0">
                <a:latin typeface="Gill Sans"/>
                <a:cs typeface="Gill Sans"/>
              </a:rPr>
              <a:t>Crack passcode, image device, decrypt image, recover deleted files (limited), file analysis</a:t>
            </a:r>
          </a:p>
          <a:p>
            <a:pPr lvl="2"/>
            <a:r>
              <a:rPr lang="en-US" dirty="0" smtClean="0">
                <a:latin typeface="Gill Sans"/>
                <a:cs typeface="Gill Sans"/>
                <a:hlinkClick r:id="rId3"/>
              </a:rPr>
              <a:t>https</a:t>
            </a:r>
            <a:r>
              <a:rPr lang="en-US" dirty="0">
                <a:latin typeface="Gill Sans"/>
                <a:cs typeface="Gill Sans"/>
                <a:hlinkClick r:id="rId3"/>
              </a:rPr>
              <a:t>://code.google.com/p/iphone-dataprotection/wiki/</a:t>
            </a:r>
            <a:r>
              <a:rPr lang="en-US" dirty="0" smtClean="0">
                <a:latin typeface="Gill Sans"/>
                <a:cs typeface="Gill Sans"/>
                <a:hlinkClick r:id="rId3"/>
              </a:rPr>
              <a:t>README</a:t>
            </a:r>
            <a:endParaRPr lang="en-US" dirty="0" smtClean="0">
              <a:latin typeface="Gill Sans"/>
              <a:cs typeface="Gill Sans"/>
            </a:endParaRPr>
          </a:p>
          <a:p>
            <a:pPr lvl="1"/>
            <a:r>
              <a:rPr lang="en-US" dirty="0" err="1">
                <a:latin typeface="Gill Sans"/>
                <a:cs typeface="Gill Sans"/>
              </a:rPr>
              <a:t>Zdziarski’s</a:t>
            </a:r>
            <a:r>
              <a:rPr lang="en-US" dirty="0">
                <a:latin typeface="Gill Sans"/>
                <a:cs typeface="Gill Sans"/>
              </a:rPr>
              <a:t> </a:t>
            </a:r>
            <a:r>
              <a:rPr lang="en-US" dirty="0" err="1">
                <a:latin typeface="Gill Sans"/>
                <a:cs typeface="Gill Sans"/>
              </a:rPr>
              <a:t>iOS</a:t>
            </a:r>
            <a:r>
              <a:rPr lang="en-US" dirty="0">
                <a:latin typeface="Gill Sans"/>
                <a:cs typeface="Gill Sans"/>
              </a:rPr>
              <a:t> forensic </a:t>
            </a:r>
            <a:r>
              <a:rPr lang="en-US" dirty="0" smtClean="0">
                <a:latin typeface="Gill Sans"/>
                <a:cs typeface="Gill Sans"/>
              </a:rPr>
              <a:t>tools</a:t>
            </a:r>
          </a:p>
          <a:p>
            <a:pPr lvl="2"/>
            <a:r>
              <a:rPr lang="en-US" dirty="0" smtClean="0">
                <a:latin typeface="Gill Sans"/>
                <a:cs typeface="Gill Sans"/>
              </a:rPr>
              <a:t>Acquisition, PIN bypass, decryption, analysis</a:t>
            </a:r>
          </a:p>
          <a:p>
            <a:pPr lvl="2"/>
            <a:r>
              <a:rPr lang="en-US" dirty="0" err="1" smtClean="0">
                <a:latin typeface="Gill Sans"/>
                <a:cs typeface="Gill Sans"/>
              </a:rPr>
              <a:t>iOS</a:t>
            </a:r>
            <a:r>
              <a:rPr lang="en-US" dirty="0" smtClean="0">
                <a:latin typeface="Gill Sans"/>
                <a:cs typeface="Gill Sans"/>
              </a:rPr>
              <a:t> 3.x / 4.x</a:t>
            </a:r>
            <a:endParaRPr lang="en-US" dirty="0">
              <a:latin typeface="Gill Sans"/>
              <a:cs typeface="Gill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dirty="0" smtClean="0">
                <a:latin typeface="Gill Sans"/>
                <a:cs typeface="Gill Sans"/>
              </a:rPr>
              <a:t>Tools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4</a:t>
            </a:fld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167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5900"/>
            <a:ext cx="8229600" cy="38862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Gill Sans"/>
                <a:cs typeface="Gill Sans"/>
              </a:rPr>
              <a:t>Commerical</a:t>
            </a:r>
            <a:endParaRPr lang="en-US" dirty="0" smtClean="0">
              <a:latin typeface="Gill Sans"/>
              <a:cs typeface="Gill Sans"/>
            </a:endParaRPr>
          </a:p>
          <a:p>
            <a:pPr lvl="1"/>
            <a:r>
              <a:rPr lang="en-US" dirty="0" err="1" smtClean="0">
                <a:latin typeface="Gill Sans"/>
                <a:cs typeface="Gill Sans"/>
              </a:rPr>
              <a:t>Elcomsoft</a:t>
            </a:r>
            <a:r>
              <a:rPr lang="en-US" dirty="0" smtClean="0">
                <a:latin typeface="Gill Sans"/>
                <a:cs typeface="Gill Sans"/>
              </a:rPr>
              <a:t> </a:t>
            </a:r>
            <a:r>
              <a:rPr lang="en-US" dirty="0" err="1" smtClean="0">
                <a:latin typeface="Gill Sans"/>
                <a:cs typeface="Gill Sans"/>
              </a:rPr>
              <a:t>iOS</a:t>
            </a:r>
            <a:r>
              <a:rPr lang="en-US" dirty="0" smtClean="0">
                <a:latin typeface="Gill Sans"/>
                <a:cs typeface="Gill Sans"/>
              </a:rPr>
              <a:t> Forensic Toolkit</a:t>
            </a:r>
          </a:p>
          <a:p>
            <a:pPr lvl="2"/>
            <a:r>
              <a:rPr lang="en-US" dirty="0" err="1" smtClean="0">
                <a:latin typeface="Gill Sans"/>
                <a:cs typeface="Gill Sans"/>
              </a:rPr>
              <a:t>iOS</a:t>
            </a:r>
            <a:r>
              <a:rPr lang="en-US" dirty="0" smtClean="0">
                <a:latin typeface="Gill Sans"/>
                <a:cs typeface="Gill Sans"/>
              </a:rPr>
              <a:t> 3.x to 7.x</a:t>
            </a:r>
          </a:p>
          <a:p>
            <a:pPr lvl="2"/>
            <a:r>
              <a:rPr lang="en-US" dirty="0" smtClean="0">
                <a:latin typeface="Gill Sans"/>
                <a:cs typeface="Gill Sans"/>
              </a:rPr>
              <a:t>A4 chipset, A5 requires </a:t>
            </a:r>
            <a:r>
              <a:rPr lang="en-US" dirty="0" err="1" smtClean="0">
                <a:latin typeface="Gill Sans"/>
                <a:cs typeface="Gill Sans"/>
              </a:rPr>
              <a:t>jailbroken</a:t>
            </a:r>
            <a:r>
              <a:rPr lang="en-US" dirty="0" smtClean="0">
                <a:latin typeface="Gill Sans"/>
                <a:cs typeface="Gill Sans"/>
              </a:rPr>
              <a:t> device</a:t>
            </a:r>
          </a:p>
          <a:p>
            <a:pPr lvl="2"/>
            <a:r>
              <a:rPr lang="en-US" dirty="0" smtClean="0">
                <a:latin typeface="Gill Sans"/>
                <a:cs typeface="Gill Sans"/>
              </a:rPr>
              <a:t>Crack simple passcode, image device, decrypt image, recover deleted files, file analysis</a:t>
            </a:r>
          </a:p>
          <a:p>
            <a:pPr lvl="2"/>
            <a:r>
              <a:rPr lang="en-US" dirty="0" smtClean="0">
                <a:latin typeface="Gill Sans"/>
                <a:cs typeface="Gill Sans"/>
                <a:hlinkClick r:id="rId3"/>
              </a:rPr>
              <a:t>http://www.elcomsoft.com/eift.html</a:t>
            </a:r>
            <a:endParaRPr lang="en-US" dirty="0" smtClean="0">
              <a:latin typeface="Gill Sans"/>
              <a:cs typeface="Gill Sans"/>
            </a:endParaRPr>
          </a:p>
          <a:p>
            <a:pPr lvl="1"/>
            <a:r>
              <a:rPr lang="en-US" dirty="0" err="1" smtClean="0">
                <a:latin typeface="Gill Sans"/>
                <a:cs typeface="Gill Sans"/>
              </a:rPr>
              <a:t>Paraben</a:t>
            </a:r>
            <a:r>
              <a:rPr lang="en-US" dirty="0" smtClean="0">
                <a:latin typeface="Gill Sans"/>
                <a:cs typeface="Gill Sans"/>
              </a:rPr>
              <a:t>, </a:t>
            </a:r>
            <a:r>
              <a:rPr lang="en-US" dirty="0" err="1" smtClean="0">
                <a:latin typeface="Gill Sans"/>
                <a:cs typeface="Gill Sans"/>
              </a:rPr>
              <a:t>Cellebrite</a:t>
            </a:r>
            <a:r>
              <a:rPr lang="en-US" dirty="0" smtClean="0">
                <a:latin typeface="Gill Sans"/>
                <a:cs typeface="Gill Sans"/>
              </a:rPr>
              <a:t>, Oxygen</a:t>
            </a:r>
            <a:endParaRPr lang="en-US" dirty="0">
              <a:latin typeface="Gill Sans"/>
              <a:cs typeface="Gill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dirty="0" smtClean="0">
                <a:latin typeface="Gill Sans"/>
                <a:cs typeface="Gill Sans"/>
              </a:rPr>
              <a:t>Tools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5</a:t>
            </a:fld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988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38600" y="1485900"/>
            <a:ext cx="4800600" cy="38862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Gill Sans"/>
                <a:cs typeface="Gill Sans"/>
              </a:rPr>
              <a:t>10,000 combinations of 4-digit PIN using 0-9</a:t>
            </a:r>
          </a:p>
          <a:p>
            <a:r>
              <a:rPr lang="en-US" dirty="0" smtClean="0">
                <a:latin typeface="Gill Sans"/>
                <a:cs typeface="Gill Sans"/>
              </a:rPr>
              <a:t>Out of 3 million PINs analyzed, 27% are represented by the dataset to the left</a:t>
            </a:r>
          </a:p>
          <a:p>
            <a:r>
              <a:rPr lang="en-US" dirty="0" smtClean="0">
                <a:latin typeface="Gill Sans"/>
                <a:cs typeface="Gill Sans"/>
              </a:rPr>
              <a:t>DOH!</a:t>
            </a:r>
            <a:endParaRPr lang="en-US" dirty="0" smtClean="0">
              <a:latin typeface="Gill Sans"/>
              <a:cs typeface="Gill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dirty="0" smtClean="0">
                <a:latin typeface="Gill Sans"/>
                <a:cs typeface="Gill Sans"/>
              </a:rPr>
              <a:t>Moral of the Story?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138DB-EC63-4482-990B-A9B5B702D699}" type="slidenum">
              <a:rPr lang="en-US" smtClean="0">
                <a:solidFill>
                  <a:srgbClr val="F2F2F2">
                    <a:tint val="75000"/>
                  </a:srgbClr>
                </a:solidFill>
              </a:rPr>
              <a:pPr/>
              <a:t>6</a:t>
            </a:fld>
            <a:endParaRPr lang="en-US" dirty="0">
              <a:solidFill>
                <a:srgbClr val="F2F2F2">
                  <a:tint val="75000"/>
                </a:srgbClr>
              </a:solidFill>
            </a:endParaRPr>
          </a:p>
        </p:txBody>
      </p:sp>
      <p:pic>
        <p:nvPicPr>
          <p:cNvPr id="4" name="Picture 3" descr="SimplePI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37" y="685800"/>
            <a:ext cx="3442563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27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InetSec">
      <a:dk1>
        <a:sysClr val="windowText" lastClr="000000"/>
      </a:dk1>
      <a:lt1>
        <a:srgbClr val="F2F2F2"/>
      </a:lt1>
      <a:dk2>
        <a:srgbClr val="0F243E"/>
      </a:dk2>
      <a:lt2>
        <a:srgbClr val="F2F2F2"/>
      </a:lt2>
      <a:accent1>
        <a:srgbClr val="4F81BD"/>
      </a:accent1>
      <a:accent2>
        <a:srgbClr val="1F497D"/>
      </a:accent2>
      <a:accent3>
        <a:srgbClr val="366092"/>
      </a:accent3>
      <a:accent4>
        <a:srgbClr val="B8CCE4"/>
      </a:accent4>
      <a:accent5>
        <a:srgbClr val="8DB3E2"/>
      </a:accent5>
      <a:accent6>
        <a:srgbClr val="548DD4"/>
      </a:accent6>
      <a:hlink>
        <a:srgbClr val="00FF00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InetSec">
      <a:dk1>
        <a:sysClr val="windowText" lastClr="000000"/>
      </a:dk1>
      <a:lt1>
        <a:srgbClr val="F2F2F2"/>
      </a:lt1>
      <a:dk2>
        <a:srgbClr val="0F243E"/>
      </a:dk2>
      <a:lt2>
        <a:srgbClr val="F2F2F2"/>
      </a:lt2>
      <a:accent1>
        <a:srgbClr val="4F81BD"/>
      </a:accent1>
      <a:accent2>
        <a:srgbClr val="1F497D"/>
      </a:accent2>
      <a:accent3>
        <a:srgbClr val="366092"/>
      </a:accent3>
      <a:accent4>
        <a:srgbClr val="B8CCE4"/>
      </a:accent4>
      <a:accent5>
        <a:srgbClr val="8DB3E2"/>
      </a:accent5>
      <a:accent6>
        <a:srgbClr val="548DD4"/>
      </a:accent6>
      <a:hlink>
        <a:srgbClr val="00FF00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</TotalTime>
  <Words>297</Words>
  <Application>Microsoft Macintosh PowerPoint</Application>
  <PresentationFormat>On-screen Show (4:3)</PresentationFormat>
  <Paragraphs>63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1_Office Theme</vt:lpstr>
      <vt:lpstr>Subverting iOS Data Protection</vt:lpstr>
      <vt:lpstr>Commands</vt:lpstr>
      <vt:lpstr>Passcode Complexity</vt:lpstr>
      <vt:lpstr>Tools</vt:lpstr>
      <vt:lpstr>Tools</vt:lpstr>
      <vt:lpstr>Moral of the Story?</vt:lpstr>
    </vt:vector>
  </TitlesOfParts>
  <Company>Fishnet Security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jpeloquin</dc:creator>
  <cp:lastModifiedBy>User</cp:lastModifiedBy>
  <cp:revision>111</cp:revision>
  <dcterms:created xsi:type="dcterms:W3CDTF">2011-05-15T20:02:36Z</dcterms:created>
  <dcterms:modified xsi:type="dcterms:W3CDTF">2014-03-21T18:12:05Z</dcterms:modified>
</cp:coreProperties>
</file>