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emf" ContentType="image/x-emf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804" r:id="rId1"/>
  </p:sldMasterIdLst>
  <p:notesMasterIdLst>
    <p:notesMasterId r:id="rId36"/>
  </p:notesMasterIdLst>
  <p:handoutMasterIdLst>
    <p:handoutMasterId r:id="rId37"/>
  </p:handoutMasterIdLst>
  <p:sldIdLst>
    <p:sldId id="677" r:id="rId2"/>
    <p:sldId id="678" r:id="rId3"/>
    <p:sldId id="605" r:id="rId4"/>
    <p:sldId id="607" r:id="rId5"/>
    <p:sldId id="715" r:id="rId6"/>
    <p:sldId id="714" r:id="rId7"/>
    <p:sldId id="611" r:id="rId8"/>
    <p:sldId id="695" r:id="rId9"/>
    <p:sldId id="696" r:id="rId10"/>
    <p:sldId id="613" r:id="rId11"/>
    <p:sldId id="698" r:id="rId12"/>
    <p:sldId id="699" r:id="rId13"/>
    <p:sldId id="709" r:id="rId14"/>
    <p:sldId id="701" r:id="rId15"/>
    <p:sldId id="652" r:id="rId16"/>
    <p:sldId id="702" r:id="rId17"/>
    <p:sldId id="621" r:id="rId18"/>
    <p:sldId id="618" r:id="rId19"/>
    <p:sldId id="620" r:id="rId20"/>
    <p:sldId id="717" r:id="rId21"/>
    <p:sldId id="704" r:id="rId22"/>
    <p:sldId id="705" r:id="rId23"/>
    <p:sldId id="706" r:id="rId24"/>
    <p:sldId id="703" r:id="rId25"/>
    <p:sldId id="624" r:id="rId26"/>
    <p:sldId id="707" r:id="rId27"/>
    <p:sldId id="708" r:id="rId28"/>
    <p:sldId id="716" r:id="rId29"/>
    <p:sldId id="710" r:id="rId30"/>
    <p:sldId id="711" r:id="rId31"/>
    <p:sldId id="712" r:id="rId32"/>
    <p:sldId id="713" r:id="rId33"/>
    <p:sldId id="566" r:id="rId34"/>
    <p:sldId id="682" r:id="rId35"/>
  </p:sldIdLst>
  <p:sldSz cx="9144000" cy="5143500" type="screen16x9"/>
  <p:notesSz cx="6858000" cy="9144000"/>
  <p:embeddedFontLst>
    <p:embeddedFont>
      <p:font typeface="Calibri" panose="020F0502020204030204" pitchFamily="34" charset="0"/>
      <p:regular r:id="rId38"/>
      <p:bold r:id="rId39"/>
      <p:italic r:id="rId40"/>
      <p:boldItalic r:id="rId41"/>
    </p:embeddedFont>
    <p:embeddedFont>
      <p:font typeface="HP Simplified" panose="020B0604020202020204" charset="0"/>
      <p:regular r:id="rId42"/>
      <p:bold r:id="rId43"/>
      <p:italic r:id="rId44"/>
      <p:boldItalic r:id="rId45"/>
    </p:embeddedFont>
    <p:embeddedFont>
      <p:font typeface="Lucida Grande" panose="020B0604020202020204" charset="0"/>
      <p:regular r:id="rId46"/>
      <p:bold r:id="rId47"/>
      <p:italic r:id="rId48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3083">
          <p15:clr>
            <a:srgbClr val="A4A3A4"/>
          </p15:clr>
        </p15:guide>
        <p15:guide id="2" orient="horz" pos="743">
          <p15:clr>
            <a:srgbClr val="A4A3A4"/>
          </p15:clr>
        </p15:guide>
        <p15:guide id="3" orient="horz" pos="893">
          <p15:clr>
            <a:srgbClr val="A4A3A4"/>
          </p15:clr>
        </p15:guide>
        <p15:guide id="4" orient="horz" pos="384">
          <p15:clr>
            <a:srgbClr val="A4A3A4"/>
          </p15:clr>
        </p15:guide>
        <p15:guide id="5" orient="horz" pos="1671">
          <p15:clr>
            <a:srgbClr val="A4A3A4"/>
          </p15:clr>
        </p15:guide>
        <p15:guide id="6" orient="horz" pos="3163">
          <p15:clr>
            <a:srgbClr val="A4A3A4"/>
          </p15:clr>
        </p15:guide>
        <p15:guide id="7" orient="horz" pos="146">
          <p15:clr>
            <a:srgbClr val="A4A3A4"/>
          </p15:clr>
        </p15:guide>
        <p15:guide id="8" orient="horz" pos="2443">
          <p15:clr>
            <a:srgbClr val="A4A3A4"/>
          </p15:clr>
        </p15:guide>
        <p15:guide id="9" orient="horz" pos="1839">
          <p15:clr>
            <a:srgbClr val="A4A3A4"/>
          </p15:clr>
        </p15:guide>
        <p15:guide id="10" pos="1794">
          <p15:clr>
            <a:srgbClr val="A4A3A4"/>
          </p15:clr>
        </p15:guide>
        <p15:guide id="11" pos="2736">
          <p15:clr>
            <a:srgbClr val="A4A3A4"/>
          </p15:clr>
        </p15:guide>
        <p15:guide id="12" pos="202">
          <p15:clr>
            <a:srgbClr val="A4A3A4"/>
          </p15:clr>
        </p15:guide>
        <p15:guide id="13" pos="5322">
          <p15:clr>
            <a:srgbClr val="A4A3A4"/>
          </p15:clr>
        </p15:guide>
        <p15:guide id="14" pos="4705">
          <p15:clr>
            <a:srgbClr val="A4A3A4"/>
          </p15:clr>
        </p15:guide>
        <p15:guide id="15" pos="2878">
          <p15:clr>
            <a:srgbClr val="A4A3A4"/>
          </p15:clr>
        </p15:guide>
        <p15:guide id="16" pos="3555">
          <p15:clr>
            <a:srgbClr val="A4A3A4"/>
          </p15:clr>
        </p15:guide>
        <p15:guide id="17" pos="1965">
          <p15:clr>
            <a:srgbClr val="A4A3A4"/>
          </p15:clr>
        </p15:guide>
        <p15:guide id="18" pos="3723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 xmlns="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/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  <a:srgbClr val="000000"/>
    <a:srgbClr val="B9B8BB"/>
    <a:srgbClr val="E5E8E8"/>
    <a:srgbClr val="822980"/>
    <a:srgbClr val="B9B9BB"/>
    <a:srgbClr val="B6B8BB"/>
    <a:srgbClr val="87898B"/>
    <a:srgbClr val="CCCCCC"/>
    <a:srgbClr val="9999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xmlns="" val="0"/>
    </p:ext>
  </p:extLst>
</p:presentationPr>
</file>

<file path=ppt/tableStyles.xml><?xml version="1.0" encoding="utf-8"?>
<a:tblStyleLst xmlns:a="http://schemas.openxmlformats.org/drawingml/2006/main" def="{073A0DAA-6AF3-43AB-8588-CEC1D06C72B9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912C8C85-51F0-491E-9774-3900AFEF0FD7}" styleName="Light Style 2 -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16D9F66E-5EB9-4882-86FB-DCBF35E3C3E4}" styleName="Medium Style 4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6"/>
              </a:solidFill>
            </a:ln>
          </a:top>
        </a:tcBdr>
        <a:fill>
          <a:solidFill>
            <a:schemeClr val="accent6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6">
              <a:tint val="20000"/>
            </a:schemeClr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5A111915-BE36-4E01-A7E5-04B1672EAD32}" styleName="Light Style 2 - Acc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17292A2E-F333-43FB-9621-5CBBE7FDCDCB}" styleName="Light Style 2 - Accent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1E171933-4619-4E11-9A3F-F7608DF75F80}" styleName="Medium Style 1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4">
              <a:tint val="20000"/>
            </a:schemeClr>
          </a:solidFill>
        </a:fill>
      </a:tcStyle>
    </a:band1H>
    <a:band1V>
      <a:tcStyle>
        <a:tcBdr/>
        <a:fill>
          <a:solidFill>
            <a:schemeClr val="accent4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775DCB02-9BB8-47FD-8907-85C794F793BA}" styleName="Themed Style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35758FB7-9AC5-4552-8A53-C91805E547FA}" styleName="Themed Style 1 - Accent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246" autoAdjust="0"/>
    <p:restoredTop sz="93107" autoAdjust="0"/>
  </p:normalViewPr>
  <p:slideViewPr>
    <p:cSldViewPr snapToGrid="0">
      <p:cViewPr varScale="1">
        <p:scale>
          <a:sx n="164" d="100"/>
          <a:sy n="164" d="100"/>
        </p:scale>
        <p:origin x="-102" y="-336"/>
      </p:cViewPr>
      <p:guideLst>
        <p:guide orient="horz" pos="3083"/>
        <p:guide orient="horz" pos="743"/>
        <p:guide orient="horz" pos="893"/>
        <p:guide orient="horz" pos="384"/>
        <p:guide orient="horz" pos="1671"/>
        <p:guide orient="horz" pos="3163"/>
        <p:guide orient="horz" pos="146"/>
        <p:guide orient="horz" pos="2443"/>
        <p:guide orient="horz" pos="1839"/>
        <p:guide pos="1794"/>
        <p:guide pos="2736"/>
        <p:guide pos="202"/>
        <p:guide pos="5322"/>
        <p:guide pos="4705"/>
        <p:guide pos="2878"/>
        <p:guide pos="3555"/>
        <p:guide pos="1965"/>
        <p:guide pos="3723"/>
      </p:guideLst>
    </p:cSldViewPr>
  </p:slideViewPr>
  <p:outlineViewPr>
    <p:cViewPr>
      <p:scale>
        <a:sx n="33" d="100"/>
        <a:sy n="33" d="100"/>
      </p:scale>
      <p:origin x="0" y="19848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 snapToObjects="1" showGuides="1">
      <p:cViewPr varScale="1">
        <p:scale>
          <a:sx n="123" d="100"/>
          <a:sy n="123" d="100"/>
        </p:scale>
        <p:origin x="4974" y="96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font" Target="fonts/font2.fntdata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font" Target="fonts/font5.fntdata"/><Relationship Id="rId47" Type="http://schemas.openxmlformats.org/officeDocument/2006/relationships/font" Target="fonts/font10.fntdata"/><Relationship Id="rId50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handoutMaster" Target="handoutMasters/handoutMaster1.xml"/><Relationship Id="rId40" Type="http://schemas.openxmlformats.org/officeDocument/2006/relationships/font" Target="fonts/font3.fntdata"/><Relationship Id="rId45" Type="http://schemas.openxmlformats.org/officeDocument/2006/relationships/font" Target="fonts/font8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notesMaster" Target="notesMasters/notesMaster1.xml"/><Relationship Id="rId49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font" Target="fonts/font7.fntdata"/><Relationship Id="rId52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font" Target="fonts/font6.fntdata"/><Relationship Id="rId48" Type="http://schemas.openxmlformats.org/officeDocument/2006/relationships/font" Target="fonts/font11.fntdata"/><Relationship Id="rId8" Type="http://schemas.openxmlformats.org/officeDocument/2006/relationships/slide" Target="slides/slide7.xml"/><Relationship Id="rId51" Type="http://schemas.openxmlformats.org/officeDocument/2006/relationships/theme" Target="theme/theme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font" Target="fonts/font1.fntdata"/><Relationship Id="rId46" Type="http://schemas.openxmlformats.org/officeDocument/2006/relationships/font" Target="fonts/font9.fntdata"/><Relationship Id="rId20" Type="http://schemas.openxmlformats.org/officeDocument/2006/relationships/slide" Target="slides/slide19.xml"/><Relationship Id="rId41" Type="http://schemas.openxmlformats.org/officeDocument/2006/relationships/font" Target="fonts/font4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5.e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6.e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 dirty="0">
              <a:latin typeface="HP Simplified"/>
              <a:cs typeface="HP Simplified"/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A678B55-319B-2D4F-AE49-6C1B6E1A4DDA}" type="datetimeFigureOut">
              <a:rPr lang="en-US" smtClean="0">
                <a:latin typeface="HP Simplified"/>
                <a:cs typeface="HP Simplified"/>
              </a:rPr>
              <a:pPr/>
              <a:t>5/22/2014</a:t>
            </a:fld>
            <a:endParaRPr lang="en-GB" dirty="0">
              <a:latin typeface="HP Simplified"/>
              <a:cs typeface="HP Simplified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 dirty="0">
              <a:latin typeface="HP Simplified"/>
              <a:cs typeface="HP Simplified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1B27340-60F0-7D46-BC5B-91B08A318A82}" type="slidenum">
              <a:rPr lang="en-GB" smtClean="0">
                <a:latin typeface="HP Simplified"/>
                <a:cs typeface="HP Simplified"/>
              </a:rPr>
              <a:pPr/>
              <a:t>‹#›</a:t>
            </a:fld>
            <a:endParaRPr lang="en-GB" dirty="0">
              <a:latin typeface="HP Simplified"/>
              <a:cs typeface="HP Simplified"/>
            </a:endParaRPr>
          </a:p>
        </p:txBody>
      </p:sp>
    </p:spTree>
    <p:extLst>
      <p:ext uri="{BB962C8B-B14F-4D97-AF65-F5344CB8AC3E}">
        <p14:creationId xmlns:p14="http://schemas.microsoft.com/office/powerpoint/2010/main" val="49321741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HP Simplified"/>
                <a:cs typeface="HP Simplified"/>
              </a:defRPr>
            </a:lvl1pPr>
          </a:lstStyle>
          <a:p>
            <a:endParaRPr lang="en-GB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HP Simplified"/>
                <a:cs typeface="HP Simplified"/>
              </a:defRPr>
            </a:lvl1pPr>
          </a:lstStyle>
          <a:p>
            <a:fld id="{2D9CAF8C-0805-8440-B43D-DCCAAA4D80CE}" type="datetimeFigureOut">
              <a:rPr lang="en-US" smtClean="0"/>
              <a:pPr/>
              <a:t>5/22/2014</a:t>
            </a:fld>
            <a:endParaRPr lang="en-GB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 dirty="0" smtClean="0"/>
              <a:t>Click to edit Master text styles</a:t>
            </a:r>
          </a:p>
          <a:p>
            <a:pPr lvl="1"/>
            <a:r>
              <a:rPr lang="en-GB" dirty="0" smtClean="0"/>
              <a:t>Second level</a:t>
            </a:r>
          </a:p>
          <a:p>
            <a:pPr lvl="2"/>
            <a:r>
              <a:rPr lang="en-GB" dirty="0" smtClean="0"/>
              <a:t>Third level</a:t>
            </a:r>
          </a:p>
          <a:p>
            <a:pPr lvl="3"/>
            <a:r>
              <a:rPr lang="en-GB" dirty="0" smtClean="0"/>
              <a:t>Fourth level</a:t>
            </a:r>
          </a:p>
          <a:p>
            <a:pPr lvl="4"/>
            <a:r>
              <a:rPr lang="en-GB" dirty="0" smtClean="0"/>
              <a:t>Fifth level</a:t>
            </a:r>
            <a:endParaRPr lang="en-GB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HP Simplified"/>
                <a:cs typeface="HP Simplified"/>
              </a:defRPr>
            </a:lvl1pPr>
          </a:lstStyle>
          <a:p>
            <a:endParaRPr lang="en-GB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HP Simplified"/>
                <a:cs typeface="HP Simplified"/>
              </a:defRPr>
            </a:lvl1pPr>
          </a:lstStyle>
          <a:p>
            <a:fld id="{22A853E8-D85F-5D49-95D2-E1D96ABFE2B9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688079807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457200" rtl="0" eaLnBrk="1" latinLnBrk="0" hangingPunct="1">
      <a:defRPr sz="1200" kern="1200">
        <a:solidFill>
          <a:schemeClr val="tx1"/>
        </a:solidFill>
        <a:latin typeface="HP Simplified"/>
        <a:ea typeface="+mn-ea"/>
        <a:cs typeface="HP Simplified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HP Simplified"/>
        <a:ea typeface="+mn-ea"/>
        <a:cs typeface="HP Simplified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HP Simplified"/>
        <a:ea typeface="+mn-ea"/>
        <a:cs typeface="HP Simplified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HP Simplified"/>
        <a:ea typeface="+mn-ea"/>
        <a:cs typeface="HP Simplified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HP Simplified"/>
        <a:ea typeface="+mn-ea"/>
        <a:cs typeface="HP Simplified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idx="11"/>
          </p:nvPr>
        </p:nvSpPr>
        <p:spPr/>
        <p:txBody>
          <a:bodyPr/>
          <a:lstStyle/>
          <a:p>
            <a:fld id="{E831FD69-BB7F-48A9-AD3C-0905D51AD404}" type="datetime3">
              <a:rPr lang="en-US" smtClean="0"/>
              <a:pPr/>
              <a:t>22 May 2014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 dirty="0" smtClean="0"/>
              <a:t>HP Confidential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84B04522-5E79-4620-978F-683F5015A639}" type="slidenum">
              <a:rPr lang="en-US" smtClean="0"/>
              <a:pPr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0673549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idx="11"/>
          </p:nvPr>
        </p:nvSpPr>
        <p:spPr/>
        <p:txBody>
          <a:bodyPr/>
          <a:lstStyle/>
          <a:p>
            <a:fld id="{E831FD69-BB7F-48A9-AD3C-0905D51AD404}" type="datetime3">
              <a:rPr lang="en-US" smtClean="0"/>
              <a:pPr/>
              <a:t>22 May 2014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 smtClean="0"/>
              <a:t>HP Confidential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84B04522-5E79-4620-978F-683F5015A639}" type="slidenum">
              <a:rPr lang="en-US" smtClean="0"/>
              <a:pPr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7121427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Why</a:t>
            </a:r>
            <a:r>
              <a:rPr lang="en-US" baseline="0" dirty="0" smtClean="0"/>
              <a:t> is there a problem, and why do you need application security?</a:t>
            </a:r>
          </a:p>
          <a:p>
            <a:endParaRPr lang="en-US" baseline="0" dirty="0" smtClean="0">
              <a:ea typeface="Arial" pitchFamily="-123" charset="0"/>
              <a:cs typeface="Arial" pitchFamily="-123" charset="0"/>
            </a:endParaRPr>
          </a:p>
          <a:p>
            <a:pPr>
              <a:buFont typeface="Arial" pitchFamily="34" charset="0"/>
              <a:buNone/>
            </a:pPr>
            <a:r>
              <a:rPr lang="en-US" dirty="0" smtClean="0">
                <a:ea typeface="Arial" pitchFamily="-123" charset="0"/>
                <a:cs typeface="Arial" pitchFamily="-123" charset="0"/>
              </a:rPr>
              <a:t>Like all organizations, you’ve undoubtedly, invested a lot of time and money attempting to insulate and protect your assets.</a:t>
            </a:r>
            <a:r>
              <a:rPr lang="en-US" baseline="0" dirty="0" smtClean="0">
                <a:ea typeface="Arial" pitchFamily="-123" charset="0"/>
                <a:cs typeface="Arial" pitchFamily="-123" charset="0"/>
              </a:rPr>
              <a:t> </a:t>
            </a:r>
          </a:p>
          <a:p>
            <a:pPr>
              <a:buFont typeface="Arial" pitchFamily="34" charset="0"/>
              <a:buChar char="•"/>
            </a:pPr>
            <a:r>
              <a:rPr lang="en-US" dirty="0" smtClean="0">
                <a:ea typeface="Arial" pitchFamily="-123" charset="0"/>
                <a:cs typeface="Arial" pitchFamily="-123" charset="0"/>
              </a:rPr>
              <a:t> Your networks are protected – firewalls are in nearly every devices that connects to a network.</a:t>
            </a:r>
          </a:p>
          <a:p>
            <a:pPr>
              <a:buFont typeface="Arial" pitchFamily="34" charset="0"/>
              <a:buChar char="•"/>
            </a:pPr>
            <a:r>
              <a:rPr lang="en-US" baseline="0" dirty="0" smtClean="0">
                <a:ea typeface="Arial" pitchFamily="-123" charset="0"/>
                <a:cs typeface="Arial" pitchFamily="-123" charset="0"/>
              </a:rPr>
              <a:t> Your </a:t>
            </a:r>
            <a:r>
              <a:rPr lang="en-US" dirty="0" smtClean="0">
                <a:ea typeface="Arial" pitchFamily="-123" charset="0"/>
                <a:cs typeface="Arial" pitchFamily="-123" charset="0"/>
              </a:rPr>
              <a:t>servers are protected, thanks to advances in intrusion prevention systems.</a:t>
            </a:r>
          </a:p>
          <a:p>
            <a:pPr>
              <a:buFont typeface="Arial" pitchFamily="34" charset="0"/>
              <a:buChar char="•"/>
            </a:pPr>
            <a:r>
              <a:rPr lang="en-US" baseline="0" dirty="0" smtClean="0">
                <a:ea typeface="Arial" pitchFamily="-123" charset="0"/>
                <a:cs typeface="Arial" pitchFamily="-123" charset="0"/>
              </a:rPr>
              <a:t> B</a:t>
            </a:r>
            <a:r>
              <a:rPr lang="en-US" dirty="0" smtClean="0">
                <a:ea typeface="Arial" pitchFamily="-123" charset="0"/>
                <a:cs typeface="Arial" pitchFamily="-123" charset="0"/>
              </a:rPr>
              <a:t>ut your software applications are still largely unprotected and vulnerable.</a:t>
            </a:r>
          </a:p>
          <a:p>
            <a:pPr>
              <a:buFont typeface="Arial" pitchFamily="34" charset="0"/>
              <a:buNone/>
            </a:pPr>
            <a:endParaRPr lang="en-US" dirty="0" smtClean="0">
              <a:ea typeface="Arial" pitchFamily="-123" charset="0"/>
              <a:cs typeface="Arial" pitchFamily="-123" charset="0"/>
            </a:endParaRPr>
          </a:p>
          <a:p>
            <a:pPr>
              <a:buFont typeface="Arial" pitchFamily="34" charset="0"/>
              <a:buNone/>
            </a:pPr>
            <a:r>
              <a:rPr lang="en-US" sz="1200" kern="1200" baseline="0" dirty="0" smtClean="0">
                <a:solidFill>
                  <a:schemeClr val="tx1"/>
                </a:solidFill>
                <a:latin typeface="HP Simplified"/>
                <a:ea typeface="+mn-ea"/>
                <a:cs typeface="HP Simplified"/>
              </a:rPr>
              <a:t>Companies believed that if you protect the perimeter (network and server), the software will be unreachable and therefore not </a:t>
            </a:r>
            <a:r>
              <a:rPr lang="en-US" sz="1200" kern="1200" baseline="0" dirty="0" err="1" smtClean="0">
                <a:solidFill>
                  <a:schemeClr val="tx1"/>
                </a:solidFill>
                <a:latin typeface="HP Simplified"/>
                <a:ea typeface="+mn-ea"/>
                <a:cs typeface="HP Simplified"/>
              </a:rPr>
              <a:t>breachable</a:t>
            </a:r>
            <a:r>
              <a:rPr lang="en-US" sz="1200" kern="1200" baseline="0" dirty="0" smtClean="0">
                <a:solidFill>
                  <a:schemeClr val="tx1"/>
                </a:solidFill>
                <a:latin typeface="HP Simplified"/>
                <a:ea typeface="+mn-ea"/>
                <a:cs typeface="HP Simplified"/>
              </a:rPr>
              <a:t>. However, that has not proven to be the case: software is</a:t>
            </a:r>
            <a:r>
              <a:rPr lang="en-US" sz="1200" kern="1200" dirty="0" smtClean="0">
                <a:solidFill>
                  <a:schemeClr val="tx1"/>
                </a:solidFill>
                <a:latin typeface="HP Simplified"/>
                <a:ea typeface="+mn-ea"/>
                <a:cs typeface="HP Simplified"/>
              </a:rPr>
              <a:t> the New Entry Point.</a:t>
            </a:r>
          </a:p>
          <a:p>
            <a:pPr>
              <a:buFont typeface="Arial" pitchFamily="34" charset="0"/>
              <a:buNone/>
            </a:pPr>
            <a:endParaRPr lang="en-US" dirty="0" smtClean="0">
              <a:ea typeface="Arial" pitchFamily="-123" charset="0"/>
              <a:cs typeface="Arial" pitchFamily="-123" charset="0"/>
            </a:endParaRPr>
          </a:p>
          <a:p>
            <a:pPr>
              <a:buFont typeface="Arial" pitchFamily="34" charset="0"/>
              <a:buNone/>
            </a:pPr>
            <a:r>
              <a:rPr lang="en-US" dirty="0" smtClean="0">
                <a:ea typeface="Arial" pitchFamily="-123" charset="0"/>
                <a:cs typeface="Arial" pitchFamily="-123" charset="0"/>
              </a:rPr>
              <a:t>Let’s take a look at how…</a:t>
            </a:r>
          </a:p>
          <a:p>
            <a:endParaRPr lang="en-US" dirty="0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idx="11"/>
          </p:nvPr>
        </p:nvSpPr>
        <p:spPr/>
        <p:txBody>
          <a:bodyPr/>
          <a:lstStyle/>
          <a:p>
            <a:fld id="{E831FD69-BB7F-48A9-AD3C-0905D51AD404}" type="datetime3">
              <a:rPr lang="en-US" smtClean="0"/>
              <a:pPr/>
              <a:t>22 May 2014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 smtClean="0"/>
              <a:t>HP Confidential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84B04522-5E79-4620-978F-683F5015A639}" type="slidenum">
              <a:rPr lang="en-US" smtClean="0"/>
              <a:pPr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397636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idx="11"/>
          </p:nvPr>
        </p:nvSpPr>
        <p:spPr/>
        <p:txBody>
          <a:bodyPr/>
          <a:lstStyle/>
          <a:p>
            <a:fld id="{E831FD69-BB7F-48A9-AD3C-0905D51AD404}" type="datetime3">
              <a:rPr lang="en-US" smtClean="0"/>
              <a:pPr/>
              <a:t>22 May 2014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 smtClean="0"/>
              <a:t>HP Confidential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84B04522-5E79-4620-978F-683F5015A639}" type="slidenum">
              <a:rPr lang="en-US" smtClean="0"/>
              <a:pPr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4857999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Why</a:t>
            </a:r>
            <a:r>
              <a:rPr lang="en-US" baseline="0" dirty="0" smtClean="0"/>
              <a:t> is there a problem, and why do you need application security?</a:t>
            </a:r>
          </a:p>
          <a:p>
            <a:endParaRPr lang="en-US" baseline="0" dirty="0" smtClean="0">
              <a:ea typeface="Arial" pitchFamily="-123" charset="0"/>
              <a:cs typeface="Arial" pitchFamily="-123" charset="0"/>
            </a:endParaRPr>
          </a:p>
          <a:p>
            <a:pPr>
              <a:buFont typeface="Arial" pitchFamily="34" charset="0"/>
              <a:buNone/>
            </a:pPr>
            <a:r>
              <a:rPr lang="en-US" dirty="0" smtClean="0">
                <a:ea typeface="Arial" pitchFamily="-123" charset="0"/>
                <a:cs typeface="Arial" pitchFamily="-123" charset="0"/>
              </a:rPr>
              <a:t>Like all organizations, you’ve undoubtedly, invested a lot of time and money attempting to insulate and protect your assets.</a:t>
            </a:r>
            <a:r>
              <a:rPr lang="en-US" baseline="0" dirty="0" smtClean="0">
                <a:ea typeface="Arial" pitchFamily="-123" charset="0"/>
                <a:cs typeface="Arial" pitchFamily="-123" charset="0"/>
              </a:rPr>
              <a:t> </a:t>
            </a:r>
          </a:p>
          <a:p>
            <a:pPr>
              <a:buFont typeface="Arial" pitchFamily="34" charset="0"/>
              <a:buChar char="•"/>
            </a:pPr>
            <a:r>
              <a:rPr lang="en-US" dirty="0" smtClean="0">
                <a:ea typeface="Arial" pitchFamily="-123" charset="0"/>
                <a:cs typeface="Arial" pitchFamily="-123" charset="0"/>
              </a:rPr>
              <a:t> Your networks are protected – firewalls are in nearly every devices that connects to a network.</a:t>
            </a:r>
          </a:p>
          <a:p>
            <a:pPr>
              <a:buFont typeface="Arial" pitchFamily="34" charset="0"/>
              <a:buChar char="•"/>
            </a:pPr>
            <a:r>
              <a:rPr lang="en-US" baseline="0" dirty="0" smtClean="0">
                <a:ea typeface="Arial" pitchFamily="-123" charset="0"/>
                <a:cs typeface="Arial" pitchFamily="-123" charset="0"/>
              </a:rPr>
              <a:t> Your </a:t>
            </a:r>
            <a:r>
              <a:rPr lang="en-US" dirty="0" smtClean="0">
                <a:ea typeface="Arial" pitchFamily="-123" charset="0"/>
                <a:cs typeface="Arial" pitchFamily="-123" charset="0"/>
              </a:rPr>
              <a:t>servers are protected, thanks to advances in intrusion prevention systems.</a:t>
            </a:r>
          </a:p>
          <a:p>
            <a:pPr>
              <a:buFont typeface="Arial" pitchFamily="34" charset="0"/>
              <a:buChar char="•"/>
            </a:pPr>
            <a:r>
              <a:rPr lang="en-US" baseline="0" dirty="0" smtClean="0">
                <a:ea typeface="Arial" pitchFamily="-123" charset="0"/>
                <a:cs typeface="Arial" pitchFamily="-123" charset="0"/>
              </a:rPr>
              <a:t> B</a:t>
            </a:r>
            <a:r>
              <a:rPr lang="en-US" dirty="0" smtClean="0">
                <a:ea typeface="Arial" pitchFamily="-123" charset="0"/>
                <a:cs typeface="Arial" pitchFamily="-123" charset="0"/>
              </a:rPr>
              <a:t>ut your software applications are still largely unprotected and vulnerable.</a:t>
            </a:r>
          </a:p>
          <a:p>
            <a:pPr>
              <a:buFont typeface="Arial" pitchFamily="34" charset="0"/>
              <a:buNone/>
            </a:pPr>
            <a:endParaRPr lang="en-US" dirty="0" smtClean="0">
              <a:ea typeface="Arial" pitchFamily="-123" charset="0"/>
              <a:cs typeface="Arial" pitchFamily="-123" charset="0"/>
            </a:endParaRPr>
          </a:p>
          <a:p>
            <a:pPr>
              <a:buFont typeface="Arial" pitchFamily="34" charset="0"/>
              <a:buNone/>
            </a:pPr>
            <a:r>
              <a:rPr lang="en-US" sz="1200" kern="1200" baseline="0" dirty="0" smtClean="0">
                <a:solidFill>
                  <a:schemeClr val="tx1"/>
                </a:solidFill>
                <a:latin typeface="HP Simplified"/>
                <a:ea typeface="+mn-ea"/>
                <a:cs typeface="HP Simplified"/>
              </a:rPr>
              <a:t>Companies believed that if you protect the perimeter (network and server), the software will be unreachable and therefore not </a:t>
            </a:r>
            <a:r>
              <a:rPr lang="en-US" sz="1200" kern="1200" baseline="0" dirty="0" err="1" smtClean="0">
                <a:solidFill>
                  <a:schemeClr val="tx1"/>
                </a:solidFill>
                <a:latin typeface="HP Simplified"/>
                <a:ea typeface="+mn-ea"/>
                <a:cs typeface="HP Simplified"/>
              </a:rPr>
              <a:t>breachable</a:t>
            </a:r>
            <a:r>
              <a:rPr lang="en-US" sz="1200" kern="1200" baseline="0" dirty="0" smtClean="0">
                <a:solidFill>
                  <a:schemeClr val="tx1"/>
                </a:solidFill>
                <a:latin typeface="HP Simplified"/>
                <a:ea typeface="+mn-ea"/>
                <a:cs typeface="HP Simplified"/>
              </a:rPr>
              <a:t>. However, that has not proven to be the case: software is</a:t>
            </a:r>
            <a:r>
              <a:rPr lang="en-US" sz="1200" kern="1200" dirty="0" smtClean="0">
                <a:solidFill>
                  <a:schemeClr val="tx1"/>
                </a:solidFill>
                <a:latin typeface="HP Simplified"/>
                <a:ea typeface="+mn-ea"/>
                <a:cs typeface="HP Simplified"/>
              </a:rPr>
              <a:t> the New Entry Point.</a:t>
            </a:r>
          </a:p>
          <a:p>
            <a:pPr>
              <a:buFont typeface="Arial" pitchFamily="34" charset="0"/>
              <a:buNone/>
            </a:pPr>
            <a:endParaRPr lang="en-US" dirty="0" smtClean="0">
              <a:ea typeface="Arial" pitchFamily="-123" charset="0"/>
              <a:cs typeface="Arial" pitchFamily="-123" charset="0"/>
            </a:endParaRPr>
          </a:p>
          <a:p>
            <a:pPr>
              <a:buFont typeface="Arial" pitchFamily="34" charset="0"/>
              <a:buNone/>
            </a:pPr>
            <a:r>
              <a:rPr lang="en-US" dirty="0" smtClean="0">
                <a:ea typeface="Arial" pitchFamily="-123" charset="0"/>
                <a:cs typeface="Arial" pitchFamily="-123" charset="0"/>
              </a:rPr>
              <a:t>Let’s take a look at how…</a:t>
            </a:r>
          </a:p>
          <a:p>
            <a:endParaRPr lang="en-US" dirty="0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idx="11"/>
          </p:nvPr>
        </p:nvSpPr>
        <p:spPr/>
        <p:txBody>
          <a:bodyPr/>
          <a:lstStyle/>
          <a:p>
            <a:fld id="{E831FD69-BB7F-48A9-AD3C-0905D51AD404}" type="datetime3">
              <a:rPr lang="en-US" smtClean="0"/>
              <a:pPr/>
              <a:t>22 May 2014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 smtClean="0"/>
              <a:t>HP Confidential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84B04522-5E79-4620-978F-683F5015A639}" type="slidenum">
              <a:rPr lang="en-US" smtClean="0"/>
              <a:pPr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397636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idx="11"/>
          </p:nvPr>
        </p:nvSpPr>
        <p:spPr/>
        <p:txBody>
          <a:bodyPr/>
          <a:lstStyle/>
          <a:p>
            <a:fld id="{E831FD69-BB7F-48A9-AD3C-0905D51AD404}" type="datetime3">
              <a:rPr lang="en-US" smtClean="0"/>
              <a:pPr/>
              <a:t>22 May 2014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 smtClean="0"/>
              <a:t>HP Confidential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84B04522-5E79-4620-978F-683F5015A639}" type="slidenum">
              <a:rPr lang="en-US" smtClean="0"/>
              <a:pPr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4857999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idx="11"/>
          </p:nvPr>
        </p:nvSpPr>
        <p:spPr/>
        <p:txBody>
          <a:bodyPr/>
          <a:lstStyle/>
          <a:p>
            <a:fld id="{E831FD69-BB7F-48A9-AD3C-0905D51AD404}" type="datetime3">
              <a:rPr lang="en-US" smtClean="0"/>
              <a:pPr/>
              <a:t>22 May 2014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 smtClean="0"/>
              <a:t>HP Confidential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84B04522-5E79-4620-978F-683F5015A639}" type="slidenum">
              <a:rPr lang="en-US" smtClean="0"/>
              <a:pPr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4819362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idx="11"/>
          </p:nvPr>
        </p:nvSpPr>
        <p:spPr/>
        <p:txBody>
          <a:bodyPr/>
          <a:lstStyle/>
          <a:p>
            <a:fld id="{E831FD69-BB7F-48A9-AD3C-0905D51AD404}" type="datetime3">
              <a:rPr lang="en-US" smtClean="0"/>
              <a:pPr/>
              <a:t>22 May 2014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 smtClean="0"/>
              <a:t>HP Confidential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84B04522-5E79-4620-978F-683F5015A639}" type="slidenum">
              <a:rPr lang="en-US" smtClean="0"/>
              <a:pPr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3654735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idx="11"/>
          </p:nvPr>
        </p:nvSpPr>
        <p:spPr/>
        <p:txBody>
          <a:bodyPr/>
          <a:lstStyle/>
          <a:p>
            <a:fld id="{E831FD69-BB7F-48A9-AD3C-0905D51AD404}" type="datetime3">
              <a:rPr lang="en-US" smtClean="0"/>
              <a:pPr/>
              <a:t>22 May 2014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 smtClean="0"/>
              <a:t>HP Confidential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84B04522-5E79-4620-978F-683F5015A639}" type="slidenum">
              <a:rPr lang="en-US" smtClean="0"/>
              <a:pPr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5731534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idx="11"/>
          </p:nvPr>
        </p:nvSpPr>
        <p:spPr/>
        <p:txBody>
          <a:bodyPr/>
          <a:lstStyle/>
          <a:p>
            <a:fld id="{E831FD69-BB7F-48A9-AD3C-0905D51AD404}" type="datetime3">
              <a:rPr lang="en-US" smtClean="0"/>
              <a:pPr/>
              <a:t>22 May 2014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 smtClean="0"/>
              <a:t>HP Confidential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84B04522-5E79-4620-978F-683F5015A639}" type="slidenum">
              <a:rPr lang="en-US" smtClean="0"/>
              <a:pPr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5731534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idx="11"/>
          </p:nvPr>
        </p:nvSpPr>
        <p:spPr/>
        <p:txBody>
          <a:bodyPr/>
          <a:lstStyle/>
          <a:p>
            <a:fld id="{E831FD69-BB7F-48A9-AD3C-0905D51AD404}" type="datetime3">
              <a:rPr lang="en-US" smtClean="0"/>
              <a:pPr/>
              <a:t>22 May 2014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 smtClean="0"/>
              <a:t>HP Confidential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84B04522-5E79-4620-978F-683F5015A639}" type="slidenum">
              <a:rPr lang="en-US" smtClean="0"/>
              <a:pPr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5731534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idx="11"/>
          </p:nvPr>
        </p:nvSpPr>
        <p:spPr/>
        <p:txBody>
          <a:bodyPr/>
          <a:lstStyle/>
          <a:p>
            <a:fld id="{E831FD69-BB7F-48A9-AD3C-0905D51AD404}" type="datetime3">
              <a:rPr lang="en-US" smtClean="0"/>
              <a:pPr/>
              <a:t>22 May 2014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 smtClean="0"/>
              <a:t>HP Confidential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84B04522-5E79-4620-978F-683F5015A639}" type="slidenum">
              <a:rPr lang="en-US" smtClean="0"/>
              <a:pPr/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5106469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What problem are we solving?</a:t>
            </a:r>
            <a:endParaRPr lang="en-US" dirty="0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idx="11"/>
          </p:nvPr>
        </p:nvSpPr>
        <p:spPr/>
        <p:txBody>
          <a:bodyPr/>
          <a:lstStyle/>
          <a:p>
            <a:fld id="{E831FD69-BB7F-48A9-AD3C-0905D51AD404}" type="datetime3">
              <a:rPr lang="en-US" smtClean="0"/>
              <a:pPr/>
              <a:t>22 May 2014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 dirty="0" smtClean="0"/>
              <a:t>HP Confidential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84B04522-5E79-4620-978F-683F5015A639}" type="slidenum">
              <a:rPr lang="en-US" smtClean="0"/>
              <a:pPr/>
              <a:t>14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8373534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idx="11"/>
          </p:nvPr>
        </p:nvSpPr>
        <p:spPr/>
        <p:txBody>
          <a:bodyPr/>
          <a:lstStyle/>
          <a:p>
            <a:fld id="{E831FD69-BB7F-48A9-AD3C-0905D51AD404}" type="datetime3">
              <a:rPr lang="en-US" smtClean="0"/>
              <a:pPr/>
              <a:t>22 May 2014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 smtClean="0"/>
              <a:t>HP Confidential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84B04522-5E79-4620-978F-683F5015A639}" type="slidenum">
              <a:rPr lang="en-US" smtClean="0"/>
              <a:pPr/>
              <a:t>15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4819362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idx="11"/>
          </p:nvPr>
        </p:nvSpPr>
        <p:spPr/>
        <p:txBody>
          <a:bodyPr/>
          <a:lstStyle/>
          <a:p>
            <a:fld id="{E831FD69-BB7F-48A9-AD3C-0905D51AD404}" type="datetime3">
              <a:rPr lang="en-US" smtClean="0"/>
              <a:pPr/>
              <a:t>22 May 2014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 smtClean="0"/>
              <a:t>HP Confidential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84B04522-5E79-4620-978F-683F5015A639}" type="slidenum">
              <a:rPr lang="en-US" smtClean="0"/>
              <a:pPr/>
              <a:t>16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4819362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What problem are we solving?</a:t>
            </a:r>
            <a:endParaRPr lang="en-US" dirty="0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idx="11"/>
          </p:nvPr>
        </p:nvSpPr>
        <p:spPr/>
        <p:txBody>
          <a:bodyPr/>
          <a:lstStyle/>
          <a:p>
            <a:fld id="{E831FD69-BB7F-48A9-AD3C-0905D51AD404}" type="datetime3">
              <a:rPr lang="en-US" smtClean="0"/>
              <a:pPr/>
              <a:t>22 May 2014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 dirty="0" smtClean="0"/>
              <a:t>HP Confidential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84B04522-5E79-4620-978F-683F5015A639}" type="slidenum">
              <a:rPr lang="en-US" smtClean="0"/>
              <a:pPr/>
              <a:t>17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8373534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idx="11"/>
          </p:nvPr>
        </p:nvSpPr>
        <p:spPr/>
        <p:txBody>
          <a:bodyPr/>
          <a:lstStyle/>
          <a:p>
            <a:fld id="{E831FD69-BB7F-48A9-AD3C-0905D51AD404}" type="datetime3">
              <a:rPr lang="en-US" smtClean="0"/>
              <a:pPr/>
              <a:t>22 May 2014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 smtClean="0"/>
              <a:t>HP Confidential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84B04522-5E79-4620-978F-683F5015A639}" type="slidenum">
              <a:rPr lang="en-US" smtClean="0"/>
              <a:pPr/>
              <a:t>18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9901925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idx="11"/>
          </p:nvPr>
        </p:nvSpPr>
        <p:spPr/>
        <p:txBody>
          <a:bodyPr/>
          <a:lstStyle/>
          <a:p>
            <a:fld id="{E831FD69-BB7F-48A9-AD3C-0905D51AD404}" type="datetime3">
              <a:rPr lang="en-US" smtClean="0"/>
              <a:pPr/>
              <a:t>22 May 2014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 smtClean="0"/>
              <a:t>HP Confidential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84B04522-5E79-4620-978F-683F5015A639}" type="slidenum">
              <a:rPr lang="en-US" smtClean="0"/>
              <a:pPr/>
              <a:t>19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55972730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idx="11"/>
          </p:nvPr>
        </p:nvSpPr>
        <p:spPr/>
        <p:txBody>
          <a:bodyPr/>
          <a:lstStyle/>
          <a:p>
            <a:fld id="{E831FD69-BB7F-48A9-AD3C-0905D51AD404}" type="datetime3">
              <a:rPr lang="en-US" smtClean="0"/>
              <a:pPr/>
              <a:t>22 May 2014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 smtClean="0"/>
              <a:t>HP Confidential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84B04522-5E79-4620-978F-683F5015A639}" type="slidenum">
              <a:rPr lang="en-US" smtClean="0"/>
              <a:pPr/>
              <a:t>20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55972730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idx="11"/>
          </p:nvPr>
        </p:nvSpPr>
        <p:spPr/>
        <p:txBody>
          <a:bodyPr/>
          <a:lstStyle/>
          <a:p>
            <a:fld id="{E831FD69-BB7F-48A9-AD3C-0905D51AD404}" type="datetime3">
              <a:rPr lang="en-US" smtClean="0"/>
              <a:pPr/>
              <a:t>22 May 2014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 smtClean="0"/>
              <a:t>HP Confidential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84B04522-5E79-4620-978F-683F5015A639}" type="slidenum">
              <a:rPr lang="en-US" smtClean="0"/>
              <a:pPr/>
              <a:t>21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55972730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idx="11"/>
          </p:nvPr>
        </p:nvSpPr>
        <p:spPr/>
        <p:txBody>
          <a:bodyPr/>
          <a:lstStyle/>
          <a:p>
            <a:fld id="{E831FD69-BB7F-48A9-AD3C-0905D51AD404}" type="datetime3">
              <a:rPr lang="en-US" smtClean="0"/>
              <a:pPr/>
              <a:t>22 May 2014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 smtClean="0"/>
              <a:t>HP Confidential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84B04522-5E79-4620-978F-683F5015A639}" type="slidenum">
              <a:rPr lang="en-US" smtClean="0"/>
              <a:pPr/>
              <a:t>22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55972730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idx="11"/>
          </p:nvPr>
        </p:nvSpPr>
        <p:spPr/>
        <p:txBody>
          <a:bodyPr/>
          <a:lstStyle/>
          <a:p>
            <a:fld id="{E831FD69-BB7F-48A9-AD3C-0905D51AD404}" type="datetime3">
              <a:rPr lang="en-US" smtClean="0"/>
              <a:pPr/>
              <a:t>22 May 2014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 smtClean="0"/>
              <a:t>HP Confidential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84B04522-5E79-4620-978F-683F5015A639}" type="slidenum">
              <a:rPr lang="en-US" smtClean="0"/>
              <a:pPr/>
              <a:t>23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55972730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What problem are we solving?</a:t>
            </a:r>
            <a:endParaRPr lang="en-US" dirty="0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idx="11"/>
          </p:nvPr>
        </p:nvSpPr>
        <p:spPr/>
        <p:txBody>
          <a:bodyPr/>
          <a:lstStyle/>
          <a:p>
            <a:fld id="{E831FD69-BB7F-48A9-AD3C-0905D51AD404}" type="datetime3">
              <a:rPr lang="en-US" smtClean="0"/>
              <a:pPr/>
              <a:t>22 May 2014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 dirty="0" smtClean="0"/>
              <a:t>HP Confidential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84B04522-5E79-4620-978F-683F5015A639}" type="slidenum">
              <a:rPr lang="en-US" smtClean="0"/>
              <a:pPr/>
              <a:t>24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8373534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idx="11"/>
          </p:nvPr>
        </p:nvSpPr>
        <p:spPr/>
        <p:txBody>
          <a:bodyPr/>
          <a:lstStyle/>
          <a:p>
            <a:fld id="{E831FD69-BB7F-48A9-AD3C-0905D51AD404}" type="datetime3">
              <a:rPr lang="en-US" smtClean="0"/>
              <a:pPr/>
              <a:t>22 May 2014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 smtClean="0"/>
              <a:t>HP Confidential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84B04522-5E79-4620-978F-683F5015A639}" type="slidenum">
              <a:rPr lang="en-US" smtClean="0"/>
              <a:pPr/>
              <a:t>25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68289682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idx="11"/>
          </p:nvPr>
        </p:nvSpPr>
        <p:spPr/>
        <p:txBody>
          <a:bodyPr/>
          <a:lstStyle/>
          <a:p>
            <a:fld id="{E831FD69-BB7F-48A9-AD3C-0905D51AD404}" type="datetime3">
              <a:rPr lang="en-US" smtClean="0"/>
              <a:pPr/>
              <a:t>22 May 2014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 smtClean="0"/>
              <a:t>HP Confidential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84B04522-5E79-4620-978F-683F5015A639}" type="slidenum">
              <a:rPr lang="en-US" smtClean="0"/>
              <a:pPr/>
              <a:t>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68289682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idx="11"/>
          </p:nvPr>
        </p:nvSpPr>
        <p:spPr/>
        <p:txBody>
          <a:bodyPr/>
          <a:lstStyle/>
          <a:p>
            <a:fld id="{E831FD69-BB7F-48A9-AD3C-0905D51AD404}" type="datetime3">
              <a:rPr lang="en-US" smtClean="0"/>
              <a:pPr/>
              <a:t>22 May 2014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 smtClean="0"/>
              <a:t>HP Confidential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84B04522-5E79-4620-978F-683F5015A639}" type="slidenum">
              <a:rPr lang="en-US" smtClean="0"/>
              <a:pPr/>
              <a:t>27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68289682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idx="11"/>
          </p:nvPr>
        </p:nvSpPr>
        <p:spPr/>
        <p:txBody>
          <a:bodyPr/>
          <a:lstStyle/>
          <a:p>
            <a:fld id="{E831FD69-BB7F-48A9-AD3C-0905D51AD404}" type="datetime3">
              <a:rPr lang="en-US" smtClean="0"/>
              <a:pPr/>
              <a:t>22 May 2014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 smtClean="0"/>
              <a:t>HP Confidential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84B04522-5E79-4620-978F-683F5015A639}" type="slidenum">
              <a:rPr lang="en-US" smtClean="0"/>
              <a:pPr/>
              <a:t>28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68289682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What problem are we solving?</a:t>
            </a:r>
            <a:endParaRPr lang="en-US" dirty="0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idx="11"/>
          </p:nvPr>
        </p:nvSpPr>
        <p:spPr/>
        <p:txBody>
          <a:bodyPr/>
          <a:lstStyle/>
          <a:p>
            <a:fld id="{E831FD69-BB7F-48A9-AD3C-0905D51AD404}" type="datetime3">
              <a:rPr lang="en-US" smtClean="0"/>
              <a:pPr/>
              <a:t>22 May 2014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 dirty="0" smtClean="0"/>
              <a:t>HP Confidential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84B04522-5E79-4620-978F-683F5015A639}" type="slidenum">
              <a:rPr lang="en-US" smtClean="0"/>
              <a:pPr/>
              <a:t>29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8373534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idx="11"/>
          </p:nvPr>
        </p:nvSpPr>
        <p:spPr/>
        <p:txBody>
          <a:bodyPr/>
          <a:lstStyle/>
          <a:p>
            <a:fld id="{E831FD69-BB7F-48A9-AD3C-0905D51AD404}" type="datetime3">
              <a:rPr lang="en-US" smtClean="0"/>
              <a:pPr/>
              <a:t>22 May 2014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 smtClean="0"/>
              <a:t>HP Confidential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84B04522-5E79-4620-978F-683F5015A639}" type="slidenum">
              <a:rPr lang="en-US" smtClean="0"/>
              <a:pPr/>
              <a:t>30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68289682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idx="11"/>
          </p:nvPr>
        </p:nvSpPr>
        <p:spPr/>
        <p:txBody>
          <a:bodyPr/>
          <a:lstStyle/>
          <a:p>
            <a:fld id="{E831FD69-BB7F-48A9-AD3C-0905D51AD404}" type="datetime3">
              <a:rPr lang="en-US" smtClean="0"/>
              <a:pPr/>
              <a:t>22 May 2014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 smtClean="0"/>
              <a:t>HP Confidential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84B04522-5E79-4620-978F-683F5015A639}" type="slidenum">
              <a:rPr lang="en-US" smtClean="0"/>
              <a:pPr/>
              <a:t>31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68289682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idx="11"/>
          </p:nvPr>
        </p:nvSpPr>
        <p:spPr/>
        <p:txBody>
          <a:bodyPr/>
          <a:lstStyle/>
          <a:p>
            <a:fld id="{E831FD69-BB7F-48A9-AD3C-0905D51AD404}" type="datetime3">
              <a:rPr lang="en-US" smtClean="0"/>
              <a:pPr/>
              <a:t>22 May 2014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 smtClean="0"/>
              <a:t>HP Confidential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84B04522-5E79-4620-978F-683F5015A639}" type="slidenum">
              <a:rPr lang="en-US" smtClean="0"/>
              <a:pPr/>
              <a:t>32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68289682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2A853E8-D85F-5D49-95D2-E1D96ABFE2B9}" type="slidenum">
              <a:rPr lang="en-GB" smtClean="0"/>
              <a:pPr/>
              <a:t>33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384933063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idx="11"/>
          </p:nvPr>
        </p:nvSpPr>
        <p:spPr/>
        <p:txBody>
          <a:bodyPr/>
          <a:lstStyle/>
          <a:p>
            <a:fld id="{E831FD69-BB7F-48A9-AD3C-0905D51AD404}" type="datetime3">
              <a:rPr lang="en-US" smtClean="0"/>
              <a:pPr/>
              <a:t>22 May 2014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 smtClean="0"/>
              <a:t>HP Confidential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84B04522-5E79-4620-978F-683F5015A639}" type="slidenum">
              <a:rPr lang="en-US" smtClean="0"/>
              <a:pPr/>
              <a:t>34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4070158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.bin"/><Relationship Id="rId3" Type="http://schemas.openxmlformats.org/officeDocument/2006/relationships/tags" Target="../tags/tag2.xml"/><Relationship Id="rId7" Type="http://schemas.openxmlformats.org/officeDocument/2006/relationships/slideMaster" Target="../slideMasters/slideMaster1.xml"/><Relationship Id="rId2" Type="http://schemas.openxmlformats.org/officeDocument/2006/relationships/tags" Target="../tags/tag1.xml"/><Relationship Id="rId1" Type="http://schemas.openxmlformats.org/officeDocument/2006/relationships/vmlDrawing" Target="../drawings/vmlDrawing1.vml"/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10" Type="http://schemas.openxmlformats.org/officeDocument/2006/relationships/image" Target="../media/image4.png"/><Relationship Id="rId4" Type="http://schemas.openxmlformats.org/officeDocument/2006/relationships/tags" Target="../tags/tag3.xml"/><Relationship Id="rId9" Type="http://schemas.openxmlformats.org/officeDocument/2006/relationships/image" Target="../media/image5.emf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.bin"/><Relationship Id="rId3" Type="http://schemas.openxmlformats.org/officeDocument/2006/relationships/tags" Target="../tags/tag7.xml"/><Relationship Id="rId7" Type="http://schemas.openxmlformats.org/officeDocument/2006/relationships/image" Target="../media/image7.jpeg"/><Relationship Id="rId2" Type="http://schemas.openxmlformats.org/officeDocument/2006/relationships/tags" Target="../tags/tag6.xml"/><Relationship Id="rId1" Type="http://schemas.openxmlformats.org/officeDocument/2006/relationships/vmlDrawing" Target="../drawings/vmlDrawing2.v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9" Type="http://schemas.openxmlformats.org/officeDocument/2006/relationships/image" Target="../media/image6.emf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lue title slide 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/>
          <p:cNvSpPr>
            <a:spLocks noGrp="1"/>
          </p:cNvSpPr>
          <p:nvPr>
            <p:ph type="ctrTitle" hasCustomPrompt="1"/>
          </p:nvPr>
        </p:nvSpPr>
        <p:spPr bwMode="black">
          <a:xfrm>
            <a:off x="329184" y="2036820"/>
            <a:ext cx="6858000" cy="1206484"/>
          </a:xfrm>
        </p:spPr>
        <p:txBody>
          <a:bodyPr anchor="b"/>
          <a:lstStyle>
            <a:lvl1pPr>
              <a:lnSpc>
                <a:spcPct val="90000"/>
              </a:lnSpc>
              <a:defRPr sz="4600" spc="-100">
                <a:solidFill>
                  <a:schemeClr val="bg1"/>
                </a:solidFill>
              </a:defRPr>
            </a:lvl1pPr>
          </a:lstStyle>
          <a:p>
            <a:r>
              <a:rPr lang="en-US" dirty="0" smtClean="0"/>
              <a:t>Click to edit master </a:t>
            </a:r>
            <a:br>
              <a:rPr lang="en-US" dirty="0" smtClean="0"/>
            </a:br>
            <a:r>
              <a:rPr lang="en-US" dirty="0" smtClean="0"/>
              <a:t>title style</a:t>
            </a:r>
            <a:endParaRPr lang="en-US" dirty="0"/>
          </a:p>
        </p:txBody>
      </p:sp>
      <p:sp>
        <p:nvSpPr>
          <p:cNvPr id="11" name="Subtitle 2"/>
          <p:cNvSpPr>
            <a:spLocks noGrp="1"/>
          </p:cNvSpPr>
          <p:nvPr>
            <p:ph type="subTitle" idx="1" hasCustomPrompt="1"/>
          </p:nvPr>
        </p:nvSpPr>
        <p:spPr bwMode="black">
          <a:xfrm>
            <a:off x="329184" y="3316628"/>
            <a:ext cx="6858000" cy="914400"/>
          </a:xfrm>
        </p:spPr>
        <p:txBody>
          <a:bodyPr/>
          <a:lstStyle>
            <a:lvl1pPr marL="0" indent="0" algn="l">
              <a:buNone/>
              <a:defRPr b="0">
                <a:solidFill>
                  <a:schemeClr val="bg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 smtClean="0"/>
              <a:t>Click to edit master subtitle style</a:t>
            </a:r>
            <a:endParaRPr lang="en-US" dirty="0"/>
          </a:p>
        </p:txBody>
      </p:sp>
      <p:pic>
        <p:nvPicPr>
          <p:cNvPr id="2" name="Picture 1" descr="HP_White_RGB_150_LG.png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49440" y="365760"/>
            <a:ext cx="1883664" cy="1883664"/>
          </a:xfrm>
          <a:prstGeom prst="rect">
            <a:avLst/>
          </a:prstGeom>
        </p:spPr>
      </p:pic>
      <p:sp>
        <p:nvSpPr>
          <p:cNvPr id="6" name="TextBox 5"/>
          <p:cNvSpPr txBox="1"/>
          <p:nvPr userDrawn="1"/>
        </p:nvSpPr>
        <p:spPr>
          <a:xfrm>
            <a:off x="329184" y="4758803"/>
            <a:ext cx="8012545" cy="228600"/>
          </a:xfrm>
          <a:prstGeom prst="rect">
            <a:avLst/>
          </a:prstGeom>
          <a:noFill/>
        </p:spPr>
        <p:txBody>
          <a:bodyPr wrap="square" lIns="0" rtlCol="0">
            <a:noAutofit/>
          </a:bodyPr>
          <a:lstStyle/>
          <a:p>
            <a:pPr marL="0" marR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700" b="0" i="0" dirty="0" smtClean="0">
                <a:solidFill>
                  <a:schemeClr val="bg1"/>
                </a:solidFill>
                <a:latin typeface="HP Simplified"/>
                <a:cs typeface="HP Simplified"/>
              </a:rPr>
              <a:t>© Copyright 2014 Hewlett-Packard Development Company, L.P. </a:t>
            </a:r>
            <a:r>
              <a:rPr lang="en-US" sz="700" b="0" i="0" baseline="0" dirty="0" smtClean="0">
                <a:solidFill>
                  <a:schemeClr val="bg1"/>
                </a:solidFill>
                <a:latin typeface="HP Simplified"/>
                <a:cs typeface="HP Simplified"/>
              </a:rPr>
              <a:t> </a:t>
            </a:r>
            <a:r>
              <a:rPr lang="en-US" sz="700" b="0" i="0" dirty="0" smtClean="0">
                <a:solidFill>
                  <a:schemeClr val="bg1"/>
                </a:solidFill>
                <a:latin typeface="HP Simplified"/>
                <a:cs typeface="HP Simplified"/>
              </a:rPr>
              <a:t>The information contained herein is subject to change without notice.</a:t>
            </a:r>
          </a:p>
        </p:txBody>
      </p:sp>
    </p:spTree>
    <p:extLst>
      <p:ext uri="{BB962C8B-B14F-4D97-AF65-F5344CB8AC3E}">
        <p14:creationId xmlns:p14="http://schemas.microsoft.com/office/powerpoint/2010/main" val="2276755735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Blue divider slid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le 1"/>
          <p:cNvSpPr>
            <a:spLocks noGrp="1"/>
          </p:cNvSpPr>
          <p:nvPr>
            <p:ph type="ctrTitle" hasCustomPrompt="1"/>
          </p:nvPr>
        </p:nvSpPr>
        <p:spPr bwMode="black">
          <a:xfrm>
            <a:off x="329184" y="238328"/>
            <a:ext cx="7222352" cy="2006703"/>
          </a:xfrm>
          <a:prstGeom prst="rect">
            <a:avLst/>
          </a:prstGeom>
        </p:spPr>
        <p:txBody>
          <a:bodyPr wrap="square" lIns="0" tIns="0" rIns="0" bIns="0" anchor="t" anchorCtr="0">
            <a:noAutofit/>
          </a:bodyPr>
          <a:lstStyle>
            <a:lvl1pPr algn="l">
              <a:lnSpc>
                <a:spcPct val="90000"/>
              </a:lnSpc>
              <a:defRPr sz="4000" b="1" i="0" spc="-100" baseline="0">
                <a:solidFill>
                  <a:schemeClr val="bg1"/>
                </a:solidFill>
                <a:latin typeface="HP Simplified" pitchFamily="34" charset="0"/>
                <a:cs typeface="HP Simplified" pitchFamily="34" charset="0"/>
              </a:defRPr>
            </a:lvl1pPr>
          </a:lstStyle>
          <a:p>
            <a:r>
              <a:rPr lang="en-US" noProof="0" dirty="0" smtClean="0"/>
              <a:t>Click to edit </a:t>
            </a:r>
            <a:br>
              <a:rPr lang="en-US" noProof="0" dirty="0" smtClean="0"/>
            </a:br>
            <a:r>
              <a:rPr lang="en-US" noProof="0" dirty="0" smtClean="0"/>
              <a:t>master </a:t>
            </a:r>
            <a:br>
              <a:rPr lang="en-US" noProof="0" dirty="0" smtClean="0"/>
            </a:br>
            <a:r>
              <a:rPr lang="en-US" noProof="0" dirty="0" smtClean="0"/>
              <a:t>title style</a:t>
            </a:r>
            <a:endParaRPr lang="en-US" noProof="0" dirty="0"/>
          </a:p>
        </p:txBody>
      </p:sp>
      <p:pic>
        <p:nvPicPr>
          <p:cNvPr id="7" name="Picture 6" descr="HP_White_RGB_150_SM.png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505214" y="4535424"/>
            <a:ext cx="365736" cy="365736"/>
          </a:xfrm>
          <a:prstGeom prst="rect">
            <a:avLst/>
          </a:prstGeom>
        </p:spPr>
      </p:pic>
      <p:sp>
        <p:nvSpPr>
          <p:cNvPr id="6" name="TextBox 5"/>
          <p:cNvSpPr txBox="1"/>
          <p:nvPr userDrawn="1"/>
        </p:nvSpPr>
        <p:spPr>
          <a:xfrm>
            <a:off x="329184" y="4758803"/>
            <a:ext cx="8012545" cy="228600"/>
          </a:xfrm>
          <a:prstGeom prst="rect">
            <a:avLst/>
          </a:prstGeom>
          <a:noFill/>
        </p:spPr>
        <p:txBody>
          <a:bodyPr wrap="square" lIns="0" rtlCol="0">
            <a:noAutofit/>
          </a:bodyPr>
          <a:lstStyle/>
          <a:p>
            <a:pPr marL="0" marR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700" b="0" i="0" dirty="0" smtClean="0">
                <a:solidFill>
                  <a:schemeClr val="bg1"/>
                </a:solidFill>
                <a:latin typeface="HP Simplified"/>
                <a:cs typeface="HP Simplified"/>
              </a:rPr>
              <a:t>© Copyright 2014 Hewlett-Packard Development Company, L.P. </a:t>
            </a:r>
            <a:r>
              <a:rPr lang="en-US" sz="700" b="0" i="0" baseline="0" dirty="0" smtClean="0">
                <a:solidFill>
                  <a:schemeClr val="bg1"/>
                </a:solidFill>
                <a:latin typeface="HP Simplified"/>
                <a:cs typeface="HP Simplified"/>
              </a:rPr>
              <a:t> </a:t>
            </a:r>
            <a:r>
              <a:rPr lang="en-US" sz="700" b="0" i="0" dirty="0" smtClean="0">
                <a:solidFill>
                  <a:schemeClr val="bg1"/>
                </a:solidFill>
                <a:latin typeface="HP Simplified"/>
                <a:cs typeface="HP Simplified"/>
              </a:rPr>
              <a:t>The information contained herein is subject to change without notice.</a:t>
            </a:r>
          </a:p>
        </p:txBody>
      </p:sp>
    </p:spTree>
    <p:extLst>
      <p:ext uri="{BB962C8B-B14F-4D97-AF65-F5344CB8AC3E}">
        <p14:creationId xmlns:p14="http://schemas.microsoft.com/office/powerpoint/2010/main" val="2320338752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White divider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HP_Blue_RGB_150_SM.png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03920" y="4535424"/>
            <a:ext cx="365760" cy="365760"/>
          </a:xfrm>
          <a:prstGeom prst="rect">
            <a:avLst/>
          </a:prstGeom>
        </p:spPr>
      </p:pic>
      <p:sp>
        <p:nvSpPr>
          <p:cNvPr id="16" name="Title 1"/>
          <p:cNvSpPr>
            <a:spLocks noGrp="1"/>
          </p:cNvSpPr>
          <p:nvPr>
            <p:ph type="ctrTitle" hasCustomPrompt="1"/>
          </p:nvPr>
        </p:nvSpPr>
        <p:spPr bwMode="black">
          <a:xfrm>
            <a:off x="329184" y="237744"/>
            <a:ext cx="7222352" cy="2006703"/>
          </a:xfrm>
          <a:prstGeom prst="rect">
            <a:avLst/>
          </a:prstGeom>
        </p:spPr>
        <p:txBody>
          <a:bodyPr wrap="square" lIns="0" tIns="0" rIns="0" bIns="0" anchor="t" anchorCtr="0">
            <a:noAutofit/>
          </a:bodyPr>
          <a:lstStyle>
            <a:lvl1pPr algn="l">
              <a:lnSpc>
                <a:spcPct val="90000"/>
              </a:lnSpc>
              <a:defRPr sz="4000" b="1" i="0" spc="-100">
                <a:solidFill>
                  <a:schemeClr val="tx1"/>
                </a:solidFill>
                <a:latin typeface="HP Simplified" pitchFamily="34" charset="0"/>
                <a:cs typeface="HP Simplified" pitchFamily="34" charset="0"/>
              </a:defRPr>
            </a:lvl1pPr>
          </a:lstStyle>
          <a:p>
            <a:r>
              <a:rPr lang="en-US" noProof="0" dirty="0" smtClean="0"/>
              <a:t>Click to edit </a:t>
            </a:r>
            <a:br>
              <a:rPr lang="en-US" noProof="0" dirty="0" smtClean="0"/>
            </a:br>
            <a:r>
              <a:rPr lang="en-US" noProof="0" dirty="0" smtClean="0"/>
              <a:t>master </a:t>
            </a:r>
            <a:br>
              <a:rPr lang="en-US" noProof="0" dirty="0" smtClean="0"/>
            </a:br>
            <a:r>
              <a:rPr lang="en-US" noProof="0" dirty="0" smtClean="0"/>
              <a:t>title style</a:t>
            </a:r>
            <a:endParaRPr lang="en-US" noProof="0" dirty="0"/>
          </a:p>
        </p:txBody>
      </p:sp>
      <p:sp>
        <p:nvSpPr>
          <p:cNvPr id="6" name="TextBox 5"/>
          <p:cNvSpPr txBox="1"/>
          <p:nvPr userDrawn="1"/>
        </p:nvSpPr>
        <p:spPr>
          <a:xfrm>
            <a:off x="329184" y="4758803"/>
            <a:ext cx="8012545" cy="228600"/>
          </a:xfrm>
          <a:prstGeom prst="rect">
            <a:avLst/>
          </a:prstGeom>
          <a:noFill/>
        </p:spPr>
        <p:txBody>
          <a:bodyPr wrap="square" lIns="0" rtlCol="0">
            <a:noAutofit/>
          </a:bodyPr>
          <a:lstStyle/>
          <a:p>
            <a:pPr marL="0" marR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700" b="0" i="0" dirty="0" smtClean="0">
                <a:solidFill>
                  <a:schemeClr val="accent5"/>
                </a:solidFill>
                <a:latin typeface="HP Simplified"/>
                <a:cs typeface="HP Simplified"/>
              </a:rPr>
              <a:t>© Copyright 2013 Hewlett-Packard Development Company, L.P. </a:t>
            </a:r>
            <a:r>
              <a:rPr lang="en-US" sz="700" b="0" i="0" baseline="0" dirty="0" smtClean="0">
                <a:solidFill>
                  <a:schemeClr val="accent5"/>
                </a:solidFill>
                <a:latin typeface="HP Simplified"/>
                <a:cs typeface="HP Simplified"/>
              </a:rPr>
              <a:t> </a:t>
            </a:r>
            <a:r>
              <a:rPr lang="en-US" sz="700" b="0" i="0" dirty="0" smtClean="0">
                <a:solidFill>
                  <a:schemeClr val="accent5"/>
                </a:solidFill>
                <a:latin typeface="HP Simplified"/>
                <a:cs typeface="HP Simplified"/>
              </a:rPr>
              <a:t>The information contained herein is subject to change without notice.</a:t>
            </a:r>
          </a:p>
        </p:txBody>
      </p:sp>
    </p:spTree>
    <p:extLst>
      <p:ext uri="{BB962C8B-B14F-4D97-AF65-F5344CB8AC3E}">
        <p14:creationId xmlns:p14="http://schemas.microsoft.com/office/powerpoint/2010/main" val="3574790563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lue quote slide with subtitl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le 1"/>
          <p:cNvSpPr>
            <a:spLocks noGrp="1"/>
          </p:cNvSpPr>
          <p:nvPr>
            <p:ph type="ctrTitle" hasCustomPrompt="1"/>
          </p:nvPr>
        </p:nvSpPr>
        <p:spPr bwMode="black">
          <a:xfrm>
            <a:off x="329184" y="240919"/>
            <a:ext cx="7222352" cy="2006703"/>
          </a:xfrm>
          <a:prstGeom prst="rect">
            <a:avLst/>
          </a:prstGeom>
        </p:spPr>
        <p:txBody>
          <a:bodyPr wrap="square" lIns="0" tIns="0" rIns="0" bIns="0" anchor="t" anchorCtr="0">
            <a:noAutofit/>
          </a:bodyPr>
          <a:lstStyle>
            <a:lvl1pPr algn="l" defTabSz="457200" rtl="0" eaLnBrk="1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None/>
              <a:defRPr lang="en-US" sz="4000" b="1" i="0" kern="1200" spc="-100" noProof="0" dirty="0">
                <a:solidFill>
                  <a:schemeClr val="bg1"/>
                </a:solidFill>
                <a:latin typeface="HP Simplified" pitchFamily="34" charset="0"/>
                <a:ea typeface="+mj-ea"/>
                <a:cs typeface="HP Simplified" pitchFamily="34" charset="0"/>
              </a:defRPr>
            </a:lvl1pPr>
          </a:lstStyle>
          <a:p>
            <a:r>
              <a:rPr lang="en-US" noProof="0" dirty="0" smtClean="0"/>
              <a:t>Click to edit </a:t>
            </a:r>
            <a:br>
              <a:rPr lang="en-US" noProof="0" dirty="0" smtClean="0"/>
            </a:br>
            <a:r>
              <a:rPr lang="en-US" noProof="0" dirty="0" smtClean="0"/>
              <a:t>master </a:t>
            </a:r>
            <a:br>
              <a:rPr lang="en-US" noProof="0" dirty="0" smtClean="0"/>
            </a:br>
            <a:r>
              <a:rPr lang="en-US" noProof="0" dirty="0" smtClean="0"/>
              <a:t>title style</a:t>
            </a:r>
            <a:endParaRPr lang="en-US" noProof="0" dirty="0"/>
          </a:p>
        </p:txBody>
      </p:sp>
      <p:pic>
        <p:nvPicPr>
          <p:cNvPr id="7" name="Picture 6" descr="HP_White_RGB_150_SM.png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505214" y="4535424"/>
            <a:ext cx="365736" cy="365736"/>
          </a:xfrm>
          <a:prstGeom prst="rect">
            <a:avLst/>
          </a:prstGeom>
        </p:spPr>
      </p:pic>
      <p:sp>
        <p:nvSpPr>
          <p:cNvPr id="6" name="TextBox 5"/>
          <p:cNvSpPr txBox="1"/>
          <p:nvPr userDrawn="1"/>
        </p:nvSpPr>
        <p:spPr>
          <a:xfrm>
            <a:off x="329184" y="4758803"/>
            <a:ext cx="8012545" cy="228600"/>
          </a:xfrm>
          <a:prstGeom prst="rect">
            <a:avLst/>
          </a:prstGeom>
          <a:noFill/>
        </p:spPr>
        <p:txBody>
          <a:bodyPr wrap="square" lIns="0" rtlCol="0">
            <a:noAutofit/>
          </a:bodyPr>
          <a:lstStyle/>
          <a:p>
            <a:pPr marL="0" marR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700" b="0" i="0" dirty="0" smtClean="0">
                <a:solidFill>
                  <a:schemeClr val="bg1"/>
                </a:solidFill>
                <a:latin typeface="HP Simplified"/>
                <a:cs typeface="HP Simplified"/>
              </a:rPr>
              <a:t>© Copyright 2014 Hewlett-Packard Development Company, L.P. </a:t>
            </a:r>
            <a:r>
              <a:rPr lang="en-US" sz="700" b="0" i="0" baseline="0" dirty="0" smtClean="0">
                <a:solidFill>
                  <a:schemeClr val="bg1"/>
                </a:solidFill>
                <a:latin typeface="HP Simplified"/>
                <a:cs typeface="HP Simplified"/>
              </a:rPr>
              <a:t> </a:t>
            </a:r>
            <a:r>
              <a:rPr lang="en-US" sz="700" b="0" i="0" dirty="0" smtClean="0">
                <a:solidFill>
                  <a:schemeClr val="bg1"/>
                </a:solidFill>
                <a:latin typeface="HP Simplified"/>
                <a:cs typeface="HP Simplified"/>
              </a:rPr>
              <a:t>The information contained herein is subject to change without notice.</a:t>
            </a:r>
          </a:p>
        </p:txBody>
      </p:sp>
      <p:sp>
        <p:nvSpPr>
          <p:cNvPr id="5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325269" y="3305361"/>
            <a:ext cx="5148072" cy="649224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 b="0">
                <a:solidFill>
                  <a:srgbClr val="FFFFFF"/>
                </a:solidFill>
                <a:latin typeface="+mn-lt"/>
                <a:cs typeface="Arial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noProof="0" dirty="0" smtClean="0"/>
              <a:t>Click to edit master subtitle style</a:t>
            </a: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158848588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title" hasCustomPrompt="1"/>
          </p:nvPr>
        </p:nvSpPr>
        <p:spPr bwMode="black">
          <a:xfrm>
            <a:off x="329184" y="235064"/>
            <a:ext cx="8117206" cy="430887"/>
          </a:xfrm>
        </p:spPr>
        <p:txBody>
          <a:bodyPr wrap="square">
            <a:noAutofit/>
          </a:bodyPr>
          <a:lstStyle>
            <a:lvl1pPr>
              <a:defRPr b="1" i="0">
                <a:solidFill>
                  <a:srgbClr val="000000"/>
                </a:solidFill>
                <a:latin typeface="HP Simplified" pitchFamily="34" charset="0"/>
                <a:cs typeface="HP Simplified" pitchFamily="34" charset="0"/>
              </a:defRPr>
            </a:lvl1pPr>
          </a:lstStyle>
          <a:p>
            <a:r>
              <a:rPr lang="en-US" noProof="0" dirty="0" smtClean="0"/>
              <a:t>Click to edit master title style</a:t>
            </a: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625252054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with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title" hasCustomPrompt="1"/>
          </p:nvPr>
        </p:nvSpPr>
        <p:spPr bwMode="black">
          <a:xfrm>
            <a:off x="329184" y="235064"/>
            <a:ext cx="8117206" cy="430887"/>
          </a:xfrm>
        </p:spPr>
        <p:txBody>
          <a:bodyPr wrap="square">
            <a:noAutofit/>
          </a:bodyPr>
          <a:lstStyle>
            <a:lvl1pPr>
              <a:defRPr b="1" i="0">
                <a:solidFill>
                  <a:srgbClr val="000000"/>
                </a:solidFill>
                <a:latin typeface="HP Simplified" pitchFamily="34" charset="0"/>
                <a:cs typeface="HP Simplified" pitchFamily="34" charset="0"/>
              </a:defRPr>
            </a:lvl1pPr>
          </a:lstStyle>
          <a:p>
            <a:r>
              <a:rPr lang="en-US" noProof="0" dirty="0" smtClean="0"/>
              <a:t>Click to edit master title style</a:t>
            </a:r>
            <a:endParaRPr lang="en-US" noProof="0" dirty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10"/>
          </p:nvPr>
        </p:nvSpPr>
        <p:spPr>
          <a:xfrm>
            <a:off x="329184" y="1188720"/>
            <a:ext cx="8117904" cy="3219768"/>
          </a:xfrm>
        </p:spPr>
        <p:txBody>
          <a:bodyPr wrap="square">
            <a:noAutofit/>
          </a:bodyPr>
          <a:lstStyle>
            <a:lvl2pPr>
              <a:defRPr>
                <a:solidFill>
                  <a:srgbClr val="000000"/>
                </a:solidFill>
              </a:defRPr>
            </a:lvl2pPr>
            <a:lvl3pPr>
              <a:defRPr>
                <a:solidFill>
                  <a:srgbClr val="000000"/>
                </a:solidFill>
              </a:defRPr>
            </a:lvl3pPr>
            <a:lvl4pPr>
              <a:defRPr>
                <a:solidFill>
                  <a:srgbClr val="000000"/>
                </a:solidFill>
              </a:defRPr>
            </a:lvl4pPr>
            <a:lvl5pPr>
              <a:defRPr>
                <a:solidFill>
                  <a:srgbClr val="000000"/>
                </a:solidFill>
              </a:defRPr>
            </a:lvl5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26214194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sub title with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 bwMode="black">
          <a:xfrm>
            <a:off x="329184" y="751390"/>
            <a:ext cx="8117206" cy="276999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 algn="l">
              <a:lnSpc>
                <a:spcPct val="100000"/>
              </a:lnSpc>
              <a:buNone/>
              <a:defRPr sz="1800" b="0" i="0">
                <a:solidFill>
                  <a:srgbClr val="000000"/>
                </a:solidFill>
                <a:latin typeface="HP Simplified" pitchFamily="34" charset="0"/>
                <a:cs typeface="HP Simplified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noProof="0" dirty="0" smtClean="0"/>
              <a:t>Click to edit master subtitle style</a:t>
            </a:r>
            <a:endParaRPr lang="en-US" noProof="0" dirty="0"/>
          </a:p>
        </p:txBody>
      </p:sp>
      <p:sp>
        <p:nvSpPr>
          <p:cNvPr id="7" name="Title 6"/>
          <p:cNvSpPr>
            <a:spLocks noGrp="1"/>
          </p:cNvSpPr>
          <p:nvPr>
            <p:ph type="title" hasCustomPrompt="1"/>
          </p:nvPr>
        </p:nvSpPr>
        <p:spPr bwMode="black">
          <a:xfrm>
            <a:off x="329184" y="235064"/>
            <a:ext cx="8117206" cy="430887"/>
          </a:xfrm>
        </p:spPr>
        <p:txBody>
          <a:bodyPr wrap="square">
            <a:noAutofit/>
          </a:bodyPr>
          <a:lstStyle>
            <a:lvl1pPr>
              <a:defRPr b="1" i="0">
                <a:solidFill>
                  <a:srgbClr val="000000"/>
                </a:solidFill>
                <a:latin typeface="HP Simplified" pitchFamily="34" charset="0"/>
                <a:cs typeface="HP Simplified" pitchFamily="34" charset="0"/>
              </a:defRPr>
            </a:lvl1pPr>
          </a:lstStyle>
          <a:p>
            <a:r>
              <a:rPr lang="en-US" noProof="0" dirty="0" smtClean="0"/>
              <a:t>Click to edit master title style</a:t>
            </a:r>
            <a:endParaRPr lang="en-US" noProof="0" dirty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10"/>
          </p:nvPr>
        </p:nvSpPr>
        <p:spPr>
          <a:xfrm>
            <a:off x="329184" y="1188721"/>
            <a:ext cx="8119872" cy="3228975"/>
          </a:xfrm>
        </p:spPr>
        <p:txBody>
          <a:bodyPr wrap="square">
            <a:noAutofit/>
          </a:bodyPr>
          <a:lstStyle>
            <a:lvl2pPr>
              <a:defRPr>
                <a:solidFill>
                  <a:srgbClr val="000000"/>
                </a:solidFill>
              </a:defRPr>
            </a:lvl2pPr>
            <a:lvl3pPr>
              <a:defRPr>
                <a:solidFill>
                  <a:srgbClr val="000000"/>
                </a:solidFill>
              </a:defRPr>
            </a:lvl3pPr>
            <a:lvl4pPr>
              <a:defRPr>
                <a:solidFill>
                  <a:srgbClr val="000000"/>
                </a:solidFill>
              </a:defRPr>
            </a:lvl4pPr>
            <a:lvl5pPr>
              <a:defRPr>
                <a:solidFill>
                  <a:srgbClr val="000000"/>
                </a:solidFill>
              </a:defRPr>
            </a:lvl5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19709994"/>
      </p:ext>
    </p:extLst>
  </p:cSld>
  <p:clrMapOvr>
    <a:masterClrMapping/>
  </p:clrMapOvr>
  <p:timing>
    <p:tnLst>
      <p:par>
        <p:cTn id="1" dur="indefinite" restart="never" nodeType="tmRoot"/>
      </p:par>
    </p:tnLst>
  </p:timing>
  <p:hf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sub title with bullet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 bwMode="black">
          <a:xfrm>
            <a:off x="329184" y="751390"/>
            <a:ext cx="8117206" cy="276999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 algn="l">
              <a:lnSpc>
                <a:spcPct val="100000"/>
              </a:lnSpc>
              <a:buNone/>
              <a:defRPr sz="1800" b="0" i="0">
                <a:solidFill>
                  <a:srgbClr val="000000"/>
                </a:solidFill>
                <a:latin typeface="HP Simplified" pitchFamily="34" charset="0"/>
                <a:cs typeface="HP Simplified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noProof="0" dirty="0" smtClean="0"/>
              <a:t>Click to edit master subtitle style</a:t>
            </a:r>
            <a:endParaRPr lang="en-US" noProof="0" dirty="0"/>
          </a:p>
        </p:txBody>
      </p:sp>
      <p:sp>
        <p:nvSpPr>
          <p:cNvPr id="7" name="Title 6"/>
          <p:cNvSpPr>
            <a:spLocks noGrp="1"/>
          </p:cNvSpPr>
          <p:nvPr>
            <p:ph type="title" hasCustomPrompt="1"/>
          </p:nvPr>
        </p:nvSpPr>
        <p:spPr bwMode="black">
          <a:xfrm>
            <a:off x="329184" y="235064"/>
            <a:ext cx="8117206" cy="430887"/>
          </a:xfrm>
        </p:spPr>
        <p:txBody>
          <a:bodyPr wrap="square">
            <a:noAutofit/>
          </a:bodyPr>
          <a:lstStyle>
            <a:lvl1pPr>
              <a:defRPr b="1" i="0">
                <a:solidFill>
                  <a:srgbClr val="000000"/>
                </a:solidFill>
                <a:latin typeface="HP Simplified" pitchFamily="34" charset="0"/>
                <a:cs typeface="HP Simplified" pitchFamily="34" charset="0"/>
              </a:defRPr>
            </a:lvl1pPr>
          </a:lstStyle>
          <a:p>
            <a:r>
              <a:rPr lang="en-US" noProof="0" dirty="0" smtClean="0"/>
              <a:t>Click to edit master title style</a:t>
            </a:r>
            <a:endParaRPr lang="en-US" noProof="0" dirty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10"/>
          </p:nvPr>
        </p:nvSpPr>
        <p:spPr>
          <a:xfrm>
            <a:off x="329184" y="1188721"/>
            <a:ext cx="8119872" cy="3228975"/>
          </a:xfrm>
        </p:spPr>
        <p:txBody>
          <a:bodyPr wrap="square">
            <a:noAutofit/>
          </a:bodyPr>
          <a:lstStyle>
            <a:lvl1pPr marL="171450" indent="-171450">
              <a:buFont typeface="HP Simplified" pitchFamily="34" charset="0"/>
              <a:buChar char="•"/>
              <a:defRPr sz="1400" b="0">
                <a:solidFill>
                  <a:schemeClr val="tx1"/>
                </a:solidFill>
              </a:defRPr>
            </a:lvl1pPr>
            <a:lvl2pPr marL="342900" indent="-171450">
              <a:buSzPct val="80000"/>
              <a:buFont typeface="HP Simplified" pitchFamily="34" charset="0"/>
              <a:buChar char="–"/>
              <a:defRPr sz="1400">
                <a:solidFill>
                  <a:srgbClr val="000000"/>
                </a:solidFill>
              </a:defRPr>
            </a:lvl2pPr>
            <a:lvl3pPr marL="512763" indent="-169863">
              <a:defRPr sz="1400">
                <a:solidFill>
                  <a:srgbClr val="000000"/>
                </a:solidFill>
              </a:defRPr>
            </a:lvl3pPr>
            <a:lvl4pPr marL="690563" indent="-180975">
              <a:defRPr sz="1400">
                <a:solidFill>
                  <a:srgbClr val="000000"/>
                </a:solidFill>
              </a:defRPr>
            </a:lvl4pPr>
            <a:lvl5pPr marL="833438" indent="-150813">
              <a:defRPr sz="1400">
                <a:solidFill>
                  <a:srgbClr val="000000"/>
                </a:solidFill>
              </a:defRPr>
            </a:lvl5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19709994"/>
      </p:ext>
    </p:extLst>
  </p:cSld>
  <p:clrMapOvr>
    <a:masterClrMapping/>
  </p:clrMapOvr>
  <p:timing>
    <p:tnLst>
      <p:par>
        <p:cTn id="1" dur="indefinite" restart="never" nodeType="tmRoot"/>
      </p:par>
    </p:tnLst>
  </p:timing>
  <p:hf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with 2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Placeholder 1"/>
          <p:cNvSpPr>
            <a:spLocks noGrp="1"/>
          </p:cNvSpPr>
          <p:nvPr>
            <p:ph type="title" hasCustomPrompt="1"/>
          </p:nvPr>
        </p:nvSpPr>
        <p:spPr bwMode="black">
          <a:xfrm>
            <a:off x="329184" y="235064"/>
            <a:ext cx="8117206" cy="430887"/>
          </a:xfrm>
          <a:prstGeom prst="rect">
            <a:avLst/>
          </a:prstGeom>
          <a:ln>
            <a:noFill/>
          </a:ln>
        </p:spPr>
        <p:txBody>
          <a:bodyPr vert="horz" wrap="square" lIns="0" tIns="0" rIns="0" bIns="0" rtlCol="0" anchor="t" anchorCtr="0">
            <a:spAutoFit/>
          </a:bodyPr>
          <a:lstStyle>
            <a:lvl1pPr>
              <a:defRPr>
                <a:solidFill>
                  <a:srgbClr val="000000"/>
                </a:solidFill>
              </a:defRPr>
            </a:lvl1pPr>
          </a:lstStyle>
          <a:p>
            <a:r>
              <a:rPr lang="en-US" noProof="0" dirty="0" smtClean="0"/>
              <a:t>Click to edit master title style</a:t>
            </a:r>
            <a:endParaRPr lang="en-US" noProof="0" dirty="0"/>
          </a:p>
        </p:txBody>
      </p:sp>
      <p:sp>
        <p:nvSpPr>
          <p:cNvPr id="8" name="Content Placeholder 7"/>
          <p:cNvSpPr>
            <a:spLocks noGrp="1"/>
          </p:cNvSpPr>
          <p:nvPr>
            <p:ph sz="quarter" idx="16"/>
          </p:nvPr>
        </p:nvSpPr>
        <p:spPr>
          <a:xfrm>
            <a:off x="329184" y="1188720"/>
            <a:ext cx="4030662" cy="3219769"/>
          </a:xfrm>
        </p:spPr>
        <p:txBody>
          <a:bodyPr/>
          <a:lstStyle>
            <a:lvl2pPr>
              <a:defRPr>
                <a:solidFill>
                  <a:srgbClr val="000000"/>
                </a:solidFill>
              </a:defRPr>
            </a:lvl2pPr>
            <a:lvl3pPr>
              <a:defRPr>
                <a:solidFill>
                  <a:srgbClr val="000000"/>
                </a:solidFill>
              </a:defRPr>
            </a:lvl3pPr>
            <a:lvl4pPr>
              <a:defRPr>
                <a:solidFill>
                  <a:srgbClr val="000000"/>
                </a:solidFill>
              </a:defRPr>
            </a:lvl4pPr>
            <a:lvl5pPr>
              <a:defRPr>
                <a:solidFill>
                  <a:srgbClr val="000000"/>
                </a:solidFill>
              </a:defRPr>
            </a:lvl5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10" name="Content Placeholder 9"/>
          <p:cNvSpPr>
            <a:spLocks noGrp="1"/>
          </p:cNvSpPr>
          <p:nvPr>
            <p:ph sz="quarter" idx="17"/>
          </p:nvPr>
        </p:nvSpPr>
        <p:spPr>
          <a:xfrm>
            <a:off x="4568825" y="1188720"/>
            <a:ext cx="3878264" cy="3222624"/>
          </a:xfrm>
        </p:spPr>
        <p:txBody>
          <a:bodyPr/>
          <a:lstStyle>
            <a:lvl2pPr>
              <a:defRPr>
                <a:solidFill>
                  <a:srgbClr val="000000"/>
                </a:solidFill>
              </a:defRPr>
            </a:lvl2pPr>
            <a:lvl3pPr>
              <a:defRPr>
                <a:solidFill>
                  <a:srgbClr val="000000"/>
                </a:solidFill>
              </a:defRPr>
            </a:lvl3pPr>
            <a:lvl4pPr>
              <a:defRPr>
                <a:solidFill>
                  <a:srgbClr val="000000"/>
                </a:solidFill>
              </a:defRPr>
            </a:lvl4pPr>
            <a:lvl5pPr>
              <a:defRPr>
                <a:solidFill>
                  <a:srgbClr val="000000"/>
                </a:solidFill>
              </a:defRPr>
            </a:lvl5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05757556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sub title with two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Placeholder 1"/>
          <p:cNvSpPr>
            <a:spLocks noGrp="1"/>
          </p:cNvSpPr>
          <p:nvPr>
            <p:ph type="title" hasCustomPrompt="1"/>
          </p:nvPr>
        </p:nvSpPr>
        <p:spPr bwMode="black">
          <a:xfrm>
            <a:off x="329184" y="235063"/>
            <a:ext cx="8460105" cy="430887"/>
          </a:xfrm>
          <a:prstGeom prst="rect">
            <a:avLst/>
          </a:prstGeom>
          <a:ln>
            <a:noFill/>
          </a:ln>
        </p:spPr>
        <p:txBody>
          <a:bodyPr vert="horz" wrap="square" lIns="0" tIns="0" rIns="0" bIns="0" rtlCol="0" anchor="t" anchorCtr="0">
            <a:spAutoFit/>
          </a:bodyPr>
          <a:lstStyle>
            <a:lvl1pPr>
              <a:defRPr>
                <a:solidFill>
                  <a:srgbClr val="000000"/>
                </a:solidFill>
              </a:defRPr>
            </a:lvl1pPr>
          </a:lstStyle>
          <a:p>
            <a:r>
              <a:rPr lang="en-US" noProof="0" dirty="0" smtClean="0"/>
              <a:t>Click to edit master title style</a:t>
            </a:r>
            <a:endParaRPr lang="en-US" noProof="0" dirty="0"/>
          </a:p>
        </p:txBody>
      </p:sp>
      <p:sp>
        <p:nvSpPr>
          <p:cNvPr id="8" name="Content Placeholder 7"/>
          <p:cNvSpPr>
            <a:spLocks noGrp="1"/>
          </p:cNvSpPr>
          <p:nvPr>
            <p:ph sz="quarter" idx="16"/>
          </p:nvPr>
        </p:nvSpPr>
        <p:spPr>
          <a:xfrm>
            <a:off x="329184" y="1188720"/>
            <a:ext cx="4030662" cy="3219769"/>
          </a:xfrm>
        </p:spPr>
        <p:txBody>
          <a:bodyPr/>
          <a:lstStyle>
            <a:lvl2pPr>
              <a:defRPr>
                <a:solidFill>
                  <a:srgbClr val="000000"/>
                </a:solidFill>
              </a:defRPr>
            </a:lvl2pPr>
            <a:lvl3pPr>
              <a:defRPr>
                <a:solidFill>
                  <a:srgbClr val="000000"/>
                </a:solidFill>
              </a:defRPr>
            </a:lvl3pPr>
            <a:lvl4pPr>
              <a:defRPr>
                <a:solidFill>
                  <a:srgbClr val="000000"/>
                </a:solidFill>
              </a:defRPr>
            </a:lvl4pPr>
            <a:lvl5pPr>
              <a:defRPr>
                <a:solidFill>
                  <a:srgbClr val="000000"/>
                </a:solidFill>
              </a:defRPr>
            </a:lvl5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10" name="Content Placeholder 9"/>
          <p:cNvSpPr>
            <a:spLocks noGrp="1"/>
          </p:cNvSpPr>
          <p:nvPr>
            <p:ph sz="quarter" idx="17"/>
          </p:nvPr>
        </p:nvSpPr>
        <p:spPr>
          <a:xfrm>
            <a:off x="4568825" y="1188720"/>
            <a:ext cx="3878264" cy="3222624"/>
          </a:xfrm>
        </p:spPr>
        <p:txBody>
          <a:bodyPr/>
          <a:lstStyle>
            <a:lvl2pPr>
              <a:defRPr>
                <a:solidFill>
                  <a:srgbClr val="000000"/>
                </a:solidFill>
              </a:defRPr>
            </a:lvl2pPr>
            <a:lvl3pPr>
              <a:defRPr>
                <a:solidFill>
                  <a:srgbClr val="000000"/>
                </a:solidFill>
              </a:defRPr>
            </a:lvl3pPr>
            <a:lvl4pPr>
              <a:defRPr>
                <a:solidFill>
                  <a:srgbClr val="000000"/>
                </a:solidFill>
              </a:defRPr>
            </a:lvl4pPr>
            <a:lvl5pPr>
              <a:defRPr>
                <a:solidFill>
                  <a:srgbClr val="000000"/>
                </a:solidFill>
              </a:defRPr>
            </a:lvl5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Subtitle 2"/>
          <p:cNvSpPr>
            <a:spLocks noGrp="1"/>
          </p:cNvSpPr>
          <p:nvPr>
            <p:ph type="subTitle" idx="1" hasCustomPrompt="1"/>
          </p:nvPr>
        </p:nvSpPr>
        <p:spPr bwMode="black">
          <a:xfrm>
            <a:off x="329184" y="751390"/>
            <a:ext cx="8460105" cy="276999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 algn="l">
              <a:lnSpc>
                <a:spcPct val="100000"/>
              </a:lnSpc>
              <a:buNone/>
              <a:defRPr sz="1800" b="0" i="0">
                <a:solidFill>
                  <a:srgbClr val="000000"/>
                </a:solidFill>
                <a:latin typeface="HP Simplified" pitchFamily="34" charset="0"/>
                <a:cs typeface="HP Simplified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noProof="0" dirty="0" smtClean="0"/>
              <a:t>Click to edit master subtitle style</a:t>
            </a: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284705722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alf page, sub title with imag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/>
          <p:cNvSpPr>
            <a:spLocks noGrp="1"/>
          </p:cNvSpPr>
          <p:nvPr>
            <p:ph type="pic" sz="quarter" idx="11"/>
          </p:nvPr>
        </p:nvSpPr>
        <p:spPr>
          <a:xfrm>
            <a:off x="4568827" y="1188000"/>
            <a:ext cx="3878263" cy="3222441"/>
          </a:xfrm>
        </p:spPr>
        <p:txBody>
          <a:bodyPr anchor="ctr"/>
          <a:lstStyle>
            <a:lvl1pPr algn="ctr">
              <a:defRPr b="0">
                <a:solidFill>
                  <a:schemeClr val="tx1"/>
                </a:solidFill>
              </a:defRPr>
            </a:lvl1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7" name="Title 6"/>
          <p:cNvSpPr>
            <a:spLocks noGrp="1"/>
          </p:cNvSpPr>
          <p:nvPr>
            <p:ph type="title" hasCustomPrompt="1"/>
          </p:nvPr>
        </p:nvSpPr>
        <p:spPr bwMode="black">
          <a:xfrm>
            <a:off x="329184" y="235063"/>
            <a:ext cx="8458200" cy="429768"/>
          </a:xfrm>
        </p:spPr>
        <p:txBody>
          <a:bodyPr/>
          <a:lstStyle>
            <a:lvl1pPr>
              <a:defRPr b="1" i="0">
                <a:solidFill>
                  <a:srgbClr val="000000"/>
                </a:solidFill>
                <a:latin typeface="HP Simplified" pitchFamily="34" charset="0"/>
                <a:cs typeface="HP Simplified" pitchFamily="34" charset="0"/>
              </a:defRPr>
            </a:lvl1pPr>
          </a:lstStyle>
          <a:p>
            <a:r>
              <a:rPr lang="en-US" noProof="0" dirty="0" smtClean="0"/>
              <a:t>Click to edit master title style</a:t>
            </a:r>
            <a:endParaRPr lang="en-US" noProof="0" dirty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10"/>
          </p:nvPr>
        </p:nvSpPr>
        <p:spPr>
          <a:xfrm>
            <a:off x="329184" y="1188720"/>
            <a:ext cx="4011612" cy="3219768"/>
          </a:xfrm>
        </p:spPr>
        <p:txBody>
          <a:bodyPr/>
          <a:lstStyle>
            <a:lvl2pPr>
              <a:defRPr>
                <a:solidFill>
                  <a:srgbClr val="000000"/>
                </a:solidFill>
              </a:defRPr>
            </a:lvl2pPr>
            <a:lvl3pPr>
              <a:defRPr>
                <a:solidFill>
                  <a:srgbClr val="000000"/>
                </a:solidFill>
              </a:defRPr>
            </a:lvl3pPr>
            <a:lvl4pPr>
              <a:defRPr>
                <a:solidFill>
                  <a:srgbClr val="000000"/>
                </a:solidFill>
              </a:defRPr>
            </a:lvl4pPr>
            <a:lvl5pPr>
              <a:defRPr>
                <a:solidFill>
                  <a:srgbClr val="000000"/>
                </a:solidFill>
              </a:defRPr>
            </a:lvl5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Subtitle 2"/>
          <p:cNvSpPr>
            <a:spLocks noGrp="1"/>
          </p:cNvSpPr>
          <p:nvPr>
            <p:ph type="subTitle" idx="1" hasCustomPrompt="1"/>
          </p:nvPr>
        </p:nvSpPr>
        <p:spPr bwMode="black">
          <a:xfrm>
            <a:off x="329184" y="751390"/>
            <a:ext cx="8460105" cy="276999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 algn="l">
              <a:lnSpc>
                <a:spcPct val="100000"/>
              </a:lnSpc>
              <a:buNone/>
              <a:defRPr sz="1800" b="0" i="0">
                <a:solidFill>
                  <a:srgbClr val="000000"/>
                </a:solidFill>
                <a:latin typeface="HP Simplified" pitchFamily="34" charset="0"/>
                <a:cs typeface="HP Simplified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noProof="0" dirty="0" smtClean="0"/>
              <a:t>Click to edit master subtitle style</a:t>
            </a: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650519867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title, sub title with three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title" hasCustomPrompt="1"/>
          </p:nvPr>
        </p:nvSpPr>
        <p:spPr bwMode="black">
          <a:xfrm>
            <a:off x="329184" y="235063"/>
            <a:ext cx="8460105" cy="429768"/>
          </a:xfrm>
        </p:spPr>
        <p:txBody>
          <a:bodyPr/>
          <a:lstStyle>
            <a:lvl1pPr>
              <a:defRPr>
                <a:solidFill>
                  <a:srgbClr val="000000"/>
                </a:solidFill>
              </a:defRPr>
            </a:lvl1pPr>
          </a:lstStyle>
          <a:p>
            <a:r>
              <a:rPr lang="en-US" noProof="0" dirty="0" smtClean="0"/>
              <a:t>Click to edit master title style</a:t>
            </a:r>
            <a:endParaRPr lang="en-US" noProof="0" dirty="0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6"/>
          </p:nvPr>
        </p:nvSpPr>
        <p:spPr>
          <a:xfrm>
            <a:off x="329184" y="1188720"/>
            <a:ext cx="2523744" cy="3222624"/>
          </a:xfrm>
        </p:spPr>
        <p:txBody>
          <a:bodyPr/>
          <a:lstStyle>
            <a:lvl2pPr>
              <a:defRPr>
                <a:solidFill>
                  <a:srgbClr val="000000"/>
                </a:solidFill>
              </a:defRPr>
            </a:lvl2pPr>
            <a:lvl3pPr>
              <a:defRPr>
                <a:solidFill>
                  <a:srgbClr val="000000"/>
                </a:solidFill>
              </a:defRPr>
            </a:lvl3pPr>
            <a:lvl4pPr>
              <a:defRPr>
                <a:solidFill>
                  <a:srgbClr val="000000"/>
                </a:solidFill>
              </a:defRPr>
            </a:lvl4pPr>
            <a:lvl5pPr>
              <a:defRPr>
                <a:solidFill>
                  <a:srgbClr val="000000"/>
                </a:solidFill>
              </a:defRPr>
            </a:lvl5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12" name="Content Placeholder 11"/>
          <p:cNvSpPr>
            <a:spLocks noGrp="1"/>
          </p:cNvSpPr>
          <p:nvPr>
            <p:ph sz="quarter" idx="17"/>
          </p:nvPr>
        </p:nvSpPr>
        <p:spPr>
          <a:xfrm>
            <a:off x="3124486" y="1188720"/>
            <a:ext cx="2523744" cy="3222625"/>
          </a:xfrm>
        </p:spPr>
        <p:txBody>
          <a:bodyPr/>
          <a:lstStyle>
            <a:lvl2pPr>
              <a:defRPr>
                <a:solidFill>
                  <a:srgbClr val="000000"/>
                </a:solidFill>
              </a:defRPr>
            </a:lvl2pPr>
            <a:lvl3pPr>
              <a:defRPr>
                <a:solidFill>
                  <a:srgbClr val="000000"/>
                </a:solidFill>
              </a:defRPr>
            </a:lvl3pPr>
            <a:lvl4pPr>
              <a:defRPr>
                <a:solidFill>
                  <a:srgbClr val="000000"/>
                </a:solidFill>
              </a:defRPr>
            </a:lvl4pPr>
            <a:lvl5pPr>
              <a:defRPr>
                <a:solidFill>
                  <a:srgbClr val="000000"/>
                </a:solidFill>
              </a:defRPr>
            </a:lvl5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14" name="Content Placeholder 13"/>
          <p:cNvSpPr>
            <a:spLocks noGrp="1"/>
          </p:cNvSpPr>
          <p:nvPr>
            <p:ph sz="quarter" idx="18"/>
          </p:nvPr>
        </p:nvSpPr>
        <p:spPr>
          <a:xfrm>
            <a:off x="5919788" y="1188720"/>
            <a:ext cx="2527300" cy="3222624"/>
          </a:xfrm>
        </p:spPr>
        <p:txBody>
          <a:bodyPr/>
          <a:lstStyle>
            <a:lvl2pPr>
              <a:defRPr>
                <a:solidFill>
                  <a:srgbClr val="000000"/>
                </a:solidFill>
              </a:defRPr>
            </a:lvl2pPr>
            <a:lvl3pPr>
              <a:defRPr>
                <a:solidFill>
                  <a:srgbClr val="000000"/>
                </a:solidFill>
              </a:defRPr>
            </a:lvl3pPr>
            <a:lvl4pPr>
              <a:defRPr>
                <a:solidFill>
                  <a:srgbClr val="000000"/>
                </a:solidFill>
              </a:defRPr>
            </a:lvl4pPr>
            <a:lvl5pPr>
              <a:defRPr>
                <a:solidFill>
                  <a:srgbClr val="000000"/>
                </a:solidFill>
              </a:defRPr>
            </a:lvl5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6" name="Subtitle 2"/>
          <p:cNvSpPr>
            <a:spLocks noGrp="1"/>
          </p:cNvSpPr>
          <p:nvPr>
            <p:ph type="subTitle" idx="1" hasCustomPrompt="1"/>
          </p:nvPr>
        </p:nvSpPr>
        <p:spPr bwMode="black">
          <a:xfrm>
            <a:off x="329184" y="751390"/>
            <a:ext cx="8460105" cy="276999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 algn="l">
              <a:lnSpc>
                <a:spcPct val="100000"/>
              </a:lnSpc>
              <a:buNone/>
              <a:defRPr sz="1800" b="0" i="0">
                <a:solidFill>
                  <a:srgbClr val="000000"/>
                </a:solidFill>
                <a:latin typeface="HP Simplified" pitchFamily="34" charset="0"/>
                <a:cs typeface="HP Simplified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noProof="0" dirty="0" smtClean="0"/>
              <a:t>Click to edit master subtitle style</a:t>
            </a: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87351219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7_Blue divider slid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le 1"/>
          <p:cNvSpPr>
            <a:spLocks noGrp="1"/>
          </p:cNvSpPr>
          <p:nvPr>
            <p:ph type="ctrTitle" hasCustomPrompt="1"/>
          </p:nvPr>
        </p:nvSpPr>
        <p:spPr bwMode="black">
          <a:xfrm>
            <a:off x="329184" y="238328"/>
            <a:ext cx="7222352" cy="2006703"/>
          </a:xfrm>
          <a:prstGeom prst="rect">
            <a:avLst/>
          </a:prstGeom>
        </p:spPr>
        <p:txBody>
          <a:bodyPr wrap="square" lIns="0" tIns="0" rIns="0" bIns="0" anchor="t" anchorCtr="0">
            <a:noAutofit/>
          </a:bodyPr>
          <a:lstStyle>
            <a:lvl1pPr algn="l">
              <a:lnSpc>
                <a:spcPct val="90000"/>
              </a:lnSpc>
              <a:defRPr sz="4000" b="1" i="0" spc="-100" baseline="0">
                <a:solidFill>
                  <a:schemeClr val="bg1"/>
                </a:solidFill>
                <a:latin typeface="HP Simplified" pitchFamily="34" charset="0"/>
                <a:cs typeface="HP Simplified" pitchFamily="34" charset="0"/>
              </a:defRPr>
            </a:lvl1pPr>
          </a:lstStyle>
          <a:p>
            <a:r>
              <a:rPr lang="en-US" noProof="0" dirty="0" smtClean="0"/>
              <a:t>Click to edit </a:t>
            </a:r>
            <a:br>
              <a:rPr lang="en-US" noProof="0" dirty="0" smtClean="0"/>
            </a:br>
            <a:r>
              <a:rPr lang="en-US" noProof="0" dirty="0" smtClean="0"/>
              <a:t>master </a:t>
            </a:r>
            <a:br>
              <a:rPr lang="en-US" noProof="0" dirty="0" smtClean="0"/>
            </a:br>
            <a:r>
              <a:rPr lang="en-US" noProof="0" dirty="0" smtClean="0"/>
              <a:t>title style</a:t>
            </a:r>
            <a:endParaRPr lang="en-US" noProof="0" dirty="0"/>
          </a:p>
        </p:txBody>
      </p:sp>
      <p:pic>
        <p:nvPicPr>
          <p:cNvPr id="7" name="Picture 6" descr="HP_White_RGB_150_SM.png"/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505214" y="4535424"/>
            <a:ext cx="365736" cy="365736"/>
          </a:xfrm>
          <a:prstGeom prst="rect">
            <a:avLst/>
          </a:prstGeom>
        </p:spPr>
      </p:pic>
      <p:sp>
        <p:nvSpPr>
          <p:cNvPr id="6" name="TextBox 5"/>
          <p:cNvSpPr txBox="1"/>
          <p:nvPr userDrawn="1"/>
        </p:nvSpPr>
        <p:spPr>
          <a:xfrm>
            <a:off x="329184" y="4758803"/>
            <a:ext cx="8012545" cy="228600"/>
          </a:xfrm>
          <a:prstGeom prst="rect">
            <a:avLst/>
          </a:prstGeom>
          <a:noFill/>
        </p:spPr>
        <p:txBody>
          <a:bodyPr wrap="square" lIns="0" rtlCol="0">
            <a:noAutofit/>
          </a:bodyPr>
          <a:lstStyle/>
          <a:p>
            <a:pPr marL="0" marR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700" b="0" i="0" dirty="0" smtClean="0">
                <a:solidFill>
                  <a:schemeClr val="bg1"/>
                </a:solidFill>
                <a:latin typeface="HP Simplified"/>
                <a:cs typeface="HP Simplified"/>
              </a:rPr>
              <a:t>© Copyright 2014 Hewlett-Packard Development Company, L.P. </a:t>
            </a:r>
            <a:r>
              <a:rPr lang="en-US" sz="700" b="0" i="0" baseline="0" dirty="0" smtClean="0">
                <a:solidFill>
                  <a:schemeClr val="bg1"/>
                </a:solidFill>
                <a:latin typeface="HP Simplified"/>
                <a:cs typeface="HP Simplified"/>
              </a:rPr>
              <a:t> </a:t>
            </a:r>
            <a:r>
              <a:rPr lang="en-US" sz="700" b="0" i="0" dirty="0" smtClean="0">
                <a:solidFill>
                  <a:schemeClr val="bg1"/>
                </a:solidFill>
                <a:latin typeface="HP Simplified"/>
                <a:cs typeface="HP Simplified"/>
              </a:rPr>
              <a:t>The information contained herein is subject to change without notice.</a:t>
            </a:r>
          </a:p>
        </p:txBody>
      </p:sp>
    </p:spTree>
    <p:extLst>
      <p:ext uri="{BB962C8B-B14F-4D97-AF65-F5344CB8AC3E}">
        <p14:creationId xmlns:p14="http://schemas.microsoft.com/office/powerpoint/2010/main" val="120815237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NEW Blue quote slide with subtitl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 hidden="1"/>
          <p:cNvGraphicFramePr>
            <a:graphicFrameLocks noChangeAspect="1"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1175690886"/>
              </p:ext>
            </p:extLst>
          </p:nvPr>
        </p:nvGraphicFramePr>
        <p:xfrm>
          <a:off x="0" y="0"/>
          <a:ext cx="158750" cy="158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57" name="think-cell Slide" r:id="rId8" imgW="360" imgH="360" progId="">
                  <p:embed/>
                </p:oleObj>
              </mc:Choice>
              <mc:Fallback>
                <p:oleObj name="think-cell Slide" r:id="rId8" imgW="360" imgH="360" progId="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0"/>
                        <a:ext cx="158750" cy="1587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" name="Title 1"/>
          <p:cNvSpPr>
            <a:spLocks noGrp="1"/>
          </p:cNvSpPr>
          <p:nvPr>
            <p:ph type="ctrTitle" hasCustomPrompt="1"/>
            <p:custDataLst>
              <p:tags r:id="rId3"/>
            </p:custDataLst>
          </p:nvPr>
        </p:nvSpPr>
        <p:spPr bwMode="black">
          <a:xfrm>
            <a:off x="329184" y="240919"/>
            <a:ext cx="7222352" cy="2006703"/>
          </a:xfrm>
          <a:prstGeom prst="rect">
            <a:avLst/>
          </a:prstGeom>
        </p:spPr>
        <p:txBody>
          <a:bodyPr wrap="square" lIns="0" tIns="0" rIns="0" bIns="0" anchor="t" anchorCtr="0">
            <a:noAutofit/>
          </a:bodyPr>
          <a:lstStyle>
            <a:lvl1pPr algn="l" defTabSz="457200" rtl="0" eaLnBrk="1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None/>
              <a:defRPr lang="en-US" sz="4000" b="1" i="0" kern="1200" spc="-100" noProof="0" dirty="0">
                <a:solidFill>
                  <a:schemeClr val="bg1"/>
                </a:solidFill>
                <a:latin typeface="HP Simplified" pitchFamily="34" charset="0"/>
                <a:ea typeface="+mj-ea"/>
                <a:cs typeface="HP Simplified" pitchFamily="34" charset="0"/>
              </a:defRPr>
            </a:lvl1pPr>
          </a:lstStyle>
          <a:p>
            <a:r>
              <a:rPr lang="en-US" noProof="0" dirty="0" smtClean="0"/>
              <a:t>Click to edit </a:t>
            </a:r>
            <a:br>
              <a:rPr lang="en-US" noProof="0" dirty="0" smtClean="0"/>
            </a:br>
            <a:r>
              <a:rPr lang="en-US" noProof="0" dirty="0" smtClean="0"/>
              <a:t>master </a:t>
            </a:r>
            <a:br>
              <a:rPr lang="en-US" noProof="0" dirty="0" smtClean="0"/>
            </a:br>
            <a:r>
              <a:rPr lang="en-US" noProof="0" dirty="0" smtClean="0"/>
              <a:t>title style</a:t>
            </a:r>
            <a:endParaRPr lang="en-US" noProof="0" dirty="0"/>
          </a:p>
        </p:txBody>
      </p:sp>
      <p:pic>
        <p:nvPicPr>
          <p:cNvPr id="7" name="Picture 6" descr="HP_White_RGB_150_SM.png"/>
          <p:cNvPicPr>
            <a:picLocks noChangeAspect="1"/>
          </p:cNvPicPr>
          <p:nvPr userDrawn="1">
            <p:custDataLst>
              <p:tags r:id="rId4"/>
            </p:custDataLst>
          </p:nvPr>
        </p:nvPicPr>
        <p:blipFill>
          <a:blip r:embed="rId10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505214" y="4535424"/>
            <a:ext cx="365736" cy="365736"/>
          </a:xfrm>
          <a:prstGeom prst="rect">
            <a:avLst/>
          </a:prstGeom>
        </p:spPr>
      </p:pic>
      <p:sp>
        <p:nvSpPr>
          <p:cNvPr id="6" name="TextBox 5"/>
          <p:cNvSpPr txBox="1"/>
          <p:nvPr userDrawn="1">
            <p:custDataLst>
              <p:tags r:id="rId5"/>
            </p:custDataLst>
          </p:nvPr>
        </p:nvSpPr>
        <p:spPr>
          <a:xfrm>
            <a:off x="329184" y="4758803"/>
            <a:ext cx="8012545" cy="228600"/>
          </a:xfrm>
          <a:prstGeom prst="rect">
            <a:avLst/>
          </a:prstGeom>
          <a:noFill/>
        </p:spPr>
        <p:txBody>
          <a:bodyPr wrap="square" lIns="0" rtlCol="0">
            <a:no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700" dirty="0" smtClean="0">
                <a:solidFill>
                  <a:prstClr val="white"/>
                </a:solidFill>
                <a:latin typeface="HP Simplified"/>
                <a:cs typeface="HP Simplified"/>
              </a:rPr>
              <a:t>© Copyright 2014 Hewlett-Packard Development Company, L.P.  The information contained herein is subject to change without notice.</a:t>
            </a:r>
          </a:p>
        </p:txBody>
      </p:sp>
      <p:sp>
        <p:nvSpPr>
          <p:cNvPr id="5" name="Subtitle 2"/>
          <p:cNvSpPr>
            <a:spLocks noGrp="1"/>
          </p:cNvSpPr>
          <p:nvPr>
            <p:ph type="subTitle" idx="1" hasCustomPrompt="1"/>
            <p:custDataLst>
              <p:tags r:id="rId6"/>
            </p:custDataLst>
          </p:nvPr>
        </p:nvSpPr>
        <p:spPr>
          <a:xfrm>
            <a:off x="325269" y="3305361"/>
            <a:ext cx="5148072" cy="649224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 b="0">
                <a:solidFill>
                  <a:srgbClr val="FFFFFF"/>
                </a:solidFill>
                <a:latin typeface="+mn-lt"/>
                <a:cs typeface="Arial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noProof="0" dirty="0" smtClean="0"/>
              <a:t>Click to edit master subtitle style</a:t>
            </a: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84446802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66833641"/>
      </p:ext>
    </p:extLst>
  </p:cSld>
  <p:clrMapOvr>
    <a:masterClrMapping/>
  </p:clrMapOvr>
  <p:transition>
    <p:fade thruBlk="1"/>
  </p:transition>
  <p:timing>
    <p:tnLst>
      <p:par>
        <p:cTn id="1" dur="indefinite" restart="never" nodeType="tmRoot"/>
      </p:par>
    </p:tnLst>
  </p:timing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1_White title slide">
    <p:bg>
      <p:bgPr>
        <a:blipFill dpi="0" rotWithShape="1">
          <a:blip r:embed="rId7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 hidden="1"/>
          <p:cNvGraphicFramePr>
            <a:graphicFrameLocks noChangeAspect="1"/>
          </p:cNvGraphicFramePr>
          <p:nvPr userDrawn="1">
            <p:custDataLst>
              <p:tags r:id="rId2"/>
            </p:custDataLst>
            <p:extLst/>
          </p:nvPr>
        </p:nvGraphicFramePr>
        <p:xfrm>
          <a:off x="0" y="0"/>
          <a:ext cx="158750" cy="158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60" name="think-cell Slide" r:id="rId8" imgW="270" imgH="270" progId="">
                  <p:embed/>
                </p:oleObj>
              </mc:Choice>
              <mc:Fallback>
                <p:oleObj name="think-cell Slide" r:id="rId8" imgW="270" imgH="270" progId="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0"/>
                        <a:ext cx="158750" cy="1587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Title 1"/>
          <p:cNvSpPr>
            <a:spLocks noGrp="1"/>
          </p:cNvSpPr>
          <p:nvPr>
            <p:ph type="ctrTitle" hasCustomPrompt="1"/>
            <p:custDataLst>
              <p:tags r:id="rId3"/>
            </p:custDataLst>
          </p:nvPr>
        </p:nvSpPr>
        <p:spPr bwMode="black">
          <a:xfrm>
            <a:off x="329184" y="2036820"/>
            <a:ext cx="6858000" cy="1206484"/>
          </a:xfrm>
        </p:spPr>
        <p:txBody>
          <a:bodyPr anchor="b"/>
          <a:lstStyle>
            <a:lvl1pPr>
              <a:lnSpc>
                <a:spcPct val="90000"/>
              </a:lnSpc>
              <a:defRPr sz="4600" spc="-100">
                <a:solidFill>
                  <a:sysClr val="windowText" lastClr="000000"/>
                </a:solidFill>
              </a:defRPr>
            </a:lvl1pPr>
          </a:lstStyle>
          <a:p>
            <a:r>
              <a:rPr lang="en-US" dirty="0" smtClean="0"/>
              <a:t>Click to edit master </a:t>
            </a:r>
            <a:br>
              <a:rPr lang="en-US" dirty="0" smtClean="0"/>
            </a:br>
            <a:r>
              <a:rPr lang="en-US" dirty="0" smtClean="0"/>
              <a:t>title style</a:t>
            </a:r>
            <a:endParaRPr lang="en-US" dirty="0"/>
          </a:p>
        </p:txBody>
      </p:sp>
      <p:sp>
        <p:nvSpPr>
          <p:cNvPr id="9" name="Subtitle 2"/>
          <p:cNvSpPr>
            <a:spLocks noGrp="1"/>
          </p:cNvSpPr>
          <p:nvPr>
            <p:ph type="subTitle" idx="1" hasCustomPrompt="1"/>
            <p:custDataLst>
              <p:tags r:id="rId4"/>
            </p:custDataLst>
          </p:nvPr>
        </p:nvSpPr>
        <p:spPr bwMode="black">
          <a:xfrm>
            <a:off x="329184" y="3251684"/>
            <a:ext cx="6858000" cy="914400"/>
          </a:xfrm>
        </p:spPr>
        <p:txBody>
          <a:bodyPr/>
          <a:lstStyle>
            <a:lvl1pPr marL="0" indent="0" algn="l">
              <a:buNone/>
              <a:defRPr>
                <a:solidFill>
                  <a:sysClr val="windowText" lastClr="000000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 smtClean="0"/>
              <a:t>Click to edit master subtitle style</a:t>
            </a:r>
            <a:endParaRPr lang="en-US" dirty="0"/>
          </a:p>
        </p:txBody>
      </p:sp>
      <p:sp>
        <p:nvSpPr>
          <p:cNvPr id="6" name="TextBox 5"/>
          <p:cNvSpPr txBox="1"/>
          <p:nvPr userDrawn="1">
            <p:custDataLst>
              <p:tags r:id="rId5"/>
            </p:custDataLst>
          </p:nvPr>
        </p:nvSpPr>
        <p:spPr>
          <a:xfrm>
            <a:off x="329184" y="4758803"/>
            <a:ext cx="8012545" cy="228600"/>
          </a:xfrm>
          <a:prstGeom prst="rect">
            <a:avLst/>
          </a:prstGeom>
          <a:noFill/>
        </p:spPr>
        <p:txBody>
          <a:bodyPr wrap="square" lIns="0" rtlCol="0">
            <a:noAutofit/>
          </a:bodyPr>
          <a:lstStyle/>
          <a:p>
            <a:pPr marL="0" marR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700" b="0" i="0" dirty="0" smtClean="0">
                <a:solidFill>
                  <a:srgbClr val="B9B8BB"/>
                </a:solidFill>
                <a:latin typeface="HP Simplified"/>
                <a:cs typeface="HP Simplified"/>
              </a:rPr>
              <a:t>© Copyright 2014 Hewlett-Packard Development Company, L.P. </a:t>
            </a:r>
            <a:r>
              <a:rPr lang="en-US" sz="700" b="0" i="0" baseline="0" dirty="0" smtClean="0">
                <a:solidFill>
                  <a:srgbClr val="B9B8BB"/>
                </a:solidFill>
                <a:latin typeface="HP Simplified"/>
                <a:cs typeface="HP Simplified"/>
              </a:rPr>
              <a:t> </a:t>
            </a:r>
            <a:r>
              <a:rPr lang="en-US" sz="700" b="0" i="0" dirty="0" smtClean="0">
                <a:solidFill>
                  <a:srgbClr val="B9B8BB"/>
                </a:solidFill>
                <a:latin typeface="HP Simplified"/>
                <a:cs typeface="HP Simplified"/>
              </a:rPr>
              <a:t>The information contained herein is subject to change without notice.</a:t>
            </a:r>
          </a:p>
        </p:txBody>
      </p:sp>
    </p:spTree>
    <p:extLst>
      <p:ext uri="{BB962C8B-B14F-4D97-AF65-F5344CB8AC3E}">
        <p14:creationId xmlns:p14="http://schemas.microsoft.com/office/powerpoint/2010/main" val="2896508366"/>
      </p:ext>
    </p:extLst>
  </p:cSld>
  <p:clrMapOvr>
    <a:masterClrMapping/>
  </p:clrMapOvr>
  <p:transition spd="med">
    <p:fade/>
  </p:transition>
  <p:timing>
    <p:tnLst>
      <p:par>
        <p:cTn id="1" dur="indefinite" restart="never" nodeType="tmRoot"/>
      </p:par>
    </p:tnLst>
  </p:timing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06276"/>
            <a:ext cx="8229600" cy="857250"/>
          </a:xfrm>
          <a:prstGeom prst="rect">
            <a:avLst/>
          </a:prstGeom>
        </p:spPr>
        <p:txBody>
          <a:bodyPr vert="horz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00150"/>
            <a:ext cx="8229600" cy="3394175"/>
          </a:xfrm>
          <a:prstGeom prst="rect">
            <a:avLst/>
          </a:prstGeom>
        </p:spPr>
        <p:txBody>
          <a:bodyPr vert="horz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1627993"/>
      </p:ext>
    </p:extLst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black">
          <a:xfrm>
            <a:off x="329184" y="235064"/>
            <a:ext cx="8123236" cy="430887"/>
          </a:xfrm>
          <a:prstGeom prst="rect">
            <a:avLst/>
          </a:prstGeom>
          <a:ln>
            <a:noFill/>
          </a:ln>
        </p:spPr>
        <p:txBody>
          <a:bodyPr vert="horz" wrap="square" lIns="0" tIns="0" rIns="0" bIns="0" rtlCol="0" anchor="t" anchorCtr="0">
            <a:noAutofit/>
          </a:bodyPr>
          <a:lstStyle/>
          <a:p>
            <a:r>
              <a:rPr lang="en-US" noProof="0" smtClean="0"/>
              <a:t>Click to edit Master title style</a:t>
            </a:r>
            <a:endParaRPr lang="en-US" noProof="0" dirty="0"/>
          </a:p>
        </p:txBody>
      </p:sp>
      <p:sp>
        <p:nvSpPr>
          <p:cNvPr id="7" name="Text Placeholder 6"/>
          <p:cNvSpPr>
            <a:spLocks noGrp="1"/>
          </p:cNvSpPr>
          <p:nvPr>
            <p:ph type="body" idx="1"/>
          </p:nvPr>
        </p:nvSpPr>
        <p:spPr bwMode="black">
          <a:xfrm>
            <a:off x="329184" y="1188720"/>
            <a:ext cx="8119872" cy="3219768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lvl="0"/>
            <a:r>
              <a:rPr lang="en-US" noProof="0" smtClean="0"/>
              <a:t>Click to 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  <a:endParaRPr lang="en-US" noProof="0" dirty="0"/>
          </a:p>
        </p:txBody>
      </p:sp>
      <p:sp>
        <p:nvSpPr>
          <p:cNvPr id="9" name="TextBox 8"/>
          <p:cNvSpPr txBox="1"/>
          <p:nvPr/>
        </p:nvSpPr>
        <p:spPr>
          <a:xfrm>
            <a:off x="444501" y="4758803"/>
            <a:ext cx="8012545" cy="22860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0" marR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700" b="0" i="0" dirty="0" smtClean="0">
                <a:solidFill>
                  <a:srgbClr val="B9B8BB"/>
                </a:solidFill>
                <a:latin typeface="HP Simplified"/>
                <a:cs typeface="HP Simplified"/>
              </a:rPr>
              <a:t>© Copyright 2014 Hewlett-Packard Development Company, L.P. </a:t>
            </a:r>
            <a:r>
              <a:rPr lang="en-US" sz="700" b="0" i="0" baseline="0" dirty="0" smtClean="0">
                <a:solidFill>
                  <a:srgbClr val="B9B8BB"/>
                </a:solidFill>
                <a:latin typeface="HP Simplified"/>
                <a:cs typeface="HP Simplified"/>
              </a:rPr>
              <a:t> </a:t>
            </a:r>
            <a:r>
              <a:rPr lang="en-US" sz="700" b="0" i="0" dirty="0" smtClean="0">
                <a:solidFill>
                  <a:srgbClr val="B9B8BB"/>
                </a:solidFill>
                <a:latin typeface="HP Simplified"/>
                <a:cs typeface="HP Simplified"/>
              </a:rPr>
              <a:t>The information contained herein is subject to change without notice.</a:t>
            </a:r>
          </a:p>
        </p:txBody>
      </p:sp>
      <p:sp>
        <p:nvSpPr>
          <p:cNvPr id="8" name="TextBox 7"/>
          <p:cNvSpPr txBox="1"/>
          <p:nvPr/>
        </p:nvSpPr>
        <p:spPr bwMode="gray">
          <a:xfrm>
            <a:off x="329184" y="4788485"/>
            <a:ext cx="323009" cy="149332"/>
          </a:xfrm>
          <a:prstGeom prst="rect">
            <a:avLst/>
          </a:prstGeom>
        </p:spPr>
        <p:txBody>
          <a:bodyPr vert="horz" wrap="none" lIns="0" tIns="45720" rIns="91440" bIns="45720" rtlCol="0" anchor="ctr">
            <a:noAutofit/>
          </a:bodyPr>
          <a:lstStyle/>
          <a:p>
            <a:pPr marL="0" algn="l" defTabSz="914400" rtl="0" eaLnBrk="1" latinLnBrk="0" hangingPunct="1"/>
            <a:fld id="{6C5AF65D-6854-49AF-ABC5-48B5BA0EA842}" type="slidenum">
              <a:rPr lang="en-US" sz="700" b="0" i="0" kern="1200" smtClean="0">
                <a:solidFill>
                  <a:srgbClr val="B9B8BB"/>
                </a:solidFill>
                <a:latin typeface="HP Simplified"/>
                <a:ea typeface="+mn-ea"/>
                <a:cs typeface="HP Simplified"/>
              </a:rPr>
              <a:pPr marL="0" algn="l" defTabSz="914400" rtl="0" eaLnBrk="1" latinLnBrk="0" hangingPunct="1"/>
              <a:t>‹#›</a:t>
            </a:fld>
            <a:endParaRPr lang="en-US" sz="700" b="0" i="0" kern="1200" dirty="0" smtClean="0">
              <a:solidFill>
                <a:srgbClr val="B9B8BB"/>
              </a:solidFill>
              <a:latin typeface="HP Simplified"/>
              <a:ea typeface="+mn-ea"/>
              <a:cs typeface="HP Simplified"/>
            </a:endParaRPr>
          </a:p>
        </p:txBody>
      </p:sp>
      <p:pic>
        <p:nvPicPr>
          <p:cNvPr id="4" name="Picture 3" descr="HP_Blue_RGB_150_SM.png"/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03920" y="4535424"/>
            <a:ext cx="365760" cy="3657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62758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30" r:id="rId1"/>
    <p:sldLayoutId id="2147483819" r:id="rId2"/>
    <p:sldLayoutId id="2147483834" r:id="rId3"/>
    <p:sldLayoutId id="2147483833" r:id="rId4"/>
    <p:sldLayoutId id="2147483837" r:id="rId5"/>
    <p:sldLayoutId id="2147483818" r:id="rId6"/>
    <p:sldLayoutId id="2147483809" r:id="rId7"/>
    <p:sldLayoutId id="2147483839" r:id="rId8"/>
    <p:sldLayoutId id="2147483820" r:id="rId9"/>
    <p:sldLayoutId id="2147483823" r:id="rId10"/>
    <p:sldLayoutId id="2147483824" r:id="rId11"/>
    <p:sldLayoutId id="2147483825" r:id="rId12"/>
    <p:sldLayoutId id="2147483845" r:id="rId13"/>
    <p:sldLayoutId id="2147483846" r:id="rId14"/>
    <p:sldLayoutId id="2147483847" r:id="rId15"/>
    <p:sldLayoutId id="2147483848" r:id="rId16"/>
    <p:sldLayoutId id="2147483849" r:id="rId17"/>
  </p:sldLayoutIdLst>
  <p:timing>
    <p:tnLst>
      <p:par>
        <p:cTn id="1" dur="indefinite" restart="never" nodeType="tmRoot"/>
      </p:par>
    </p:tnLst>
  </p:timing>
  <p:hf hdr="0" ftr="0" dt="0"/>
  <p:txStyles>
    <p:titleStyle>
      <a:lvl1pPr algn="l" defTabSz="457200" rtl="0" eaLnBrk="1" latinLnBrk="0" hangingPunct="1">
        <a:lnSpc>
          <a:spcPct val="100000"/>
        </a:lnSpc>
        <a:spcBef>
          <a:spcPct val="0"/>
        </a:spcBef>
        <a:spcAft>
          <a:spcPts val="0"/>
        </a:spcAft>
        <a:buNone/>
        <a:defRPr lang="en-GB" sz="2800" b="1" i="0" kern="1200" dirty="0" smtClean="0">
          <a:solidFill>
            <a:srgbClr val="000000"/>
          </a:solidFill>
          <a:latin typeface="HP Simplified" pitchFamily="34" charset="0"/>
          <a:ea typeface="+mj-ea"/>
          <a:cs typeface="HP Simplified" pitchFamily="34" charset="0"/>
        </a:defRPr>
      </a:lvl1pPr>
    </p:titleStyle>
    <p:bodyStyle>
      <a:lvl1pPr marL="0" indent="0" algn="l" defTabSz="457200" rtl="0" eaLnBrk="1" latinLnBrk="0" hangingPunct="1">
        <a:lnSpc>
          <a:spcPct val="100000"/>
        </a:lnSpc>
        <a:spcBef>
          <a:spcPts val="0"/>
        </a:spcBef>
        <a:spcAft>
          <a:spcPts val="400"/>
        </a:spcAft>
        <a:buSzPct val="100000"/>
        <a:buFont typeface="Arial"/>
        <a:buNone/>
        <a:defRPr sz="1800" b="1" i="0" kern="1200">
          <a:solidFill>
            <a:srgbClr val="0096D6"/>
          </a:solidFill>
          <a:latin typeface="HP Simplified" pitchFamily="34" charset="0"/>
          <a:ea typeface="+mn-ea"/>
          <a:cs typeface="HP Simplified" pitchFamily="34" charset="0"/>
        </a:defRPr>
      </a:lvl1pPr>
      <a:lvl2pPr marL="0" indent="0" algn="l" defTabSz="430213" rtl="0" eaLnBrk="1" latinLnBrk="0" hangingPunct="1">
        <a:lnSpc>
          <a:spcPct val="100000"/>
        </a:lnSpc>
        <a:spcBef>
          <a:spcPts val="0"/>
        </a:spcBef>
        <a:spcAft>
          <a:spcPts val="400"/>
        </a:spcAft>
        <a:buSzPct val="100000"/>
        <a:buFont typeface="Lucida Grande"/>
        <a:buNone/>
        <a:defRPr sz="1600" b="0" i="0" kern="1200">
          <a:solidFill>
            <a:srgbClr val="000000"/>
          </a:solidFill>
          <a:latin typeface="HP Simplified" pitchFamily="34" charset="0"/>
          <a:ea typeface="+mn-ea"/>
          <a:cs typeface="HP Simplified" pitchFamily="34" charset="0"/>
        </a:defRPr>
      </a:lvl2pPr>
      <a:lvl3pPr marL="169863" indent="-169863" algn="l" defTabSz="457200" rtl="0" eaLnBrk="1" latinLnBrk="0" hangingPunct="1">
        <a:lnSpc>
          <a:spcPct val="100000"/>
        </a:lnSpc>
        <a:spcBef>
          <a:spcPts val="0"/>
        </a:spcBef>
        <a:spcAft>
          <a:spcPts val="400"/>
        </a:spcAft>
        <a:buFont typeface="HP Simplified" pitchFamily="34" charset="0"/>
        <a:buChar char="•"/>
        <a:defRPr sz="1400" b="0" i="0" kern="1200">
          <a:solidFill>
            <a:srgbClr val="000000"/>
          </a:solidFill>
          <a:latin typeface="HP Simplified" pitchFamily="34" charset="0"/>
          <a:ea typeface="+mn-ea"/>
          <a:cs typeface="HP Simplified" pitchFamily="34" charset="0"/>
        </a:defRPr>
      </a:lvl3pPr>
      <a:lvl4pPr marL="341313" indent="-180975" algn="l" defTabSz="457200" rtl="0" eaLnBrk="1" latinLnBrk="0" hangingPunct="1">
        <a:lnSpc>
          <a:spcPct val="100000"/>
        </a:lnSpc>
        <a:spcBef>
          <a:spcPts val="0"/>
        </a:spcBef>
        <a:spcAft>
          <a:spcPts val="400"/>
        </a:spcAft>
        <a:buSzPct val="80000"/>
        <a:buFont typeface="HP Simplified" pitchFamily="34" charset="0"/>
        <a:buChar char="–"/>
        <a:defRPr lang="en-US" sz="1400" b="0" i="0" kern="1200" dirty="0" smtClean="0">
          <a:solidFill>
            <a:srgbClr val="000000"/>
          </a:solidFill>
          <a:latin typeface="HP Simplified" pitchFamily="34" charset="0"/>
          <a:ea typeface="+mn-ea"/>
          <a:cs typeface="HP Simplified" pitchFamily="34" charset="0"/>
        </a:defRPr>
      </a:lvl4pPr>
      <a:lvl5pPr marL="469900" indent="-150813" algn="l" defTabSz="457200" rtl="0" eaLnBrk="1" latinLnBrk="0" hangingPunct="1">
        <a:lnSpc>
          <a:spcPct val="100000"/>
        </a:lnSpc>
        <a:spcBef>
          <a:spcPts val="0"/>
        </a:spcBef>
        <a:spcAft>
          <a:spcPts val="400"/>
        </a:spcAft>
        <a:buFont typeface="HP Simplified" pitchFamily="34" charset="0"/>
        <a:buChar char="•"/>
        <a:tabLst/>
        <a:defRPr sz="1400" b="0" i="0" kern="1200">
          <a:solidFill>
            <a:srgbClr val="000000"/>
          </a:solidFill>
          <a:latin typeface="HP Simplified" pitchFamily="34" charset="0"/>
          <a:ea typeface="+mn-ea"/>
          <a:cs typeface="HP Simplified" pitchFamily="34" charset="0"/>
        </a:defRPr>
      </a:lvl5pPr>
      <a:lvl6pPr marL="2286000" indent="0" algn="l" defTabSz="457200" rtl="0" eaLnBrk="1" latinLnBrk="0" hangingPunct="1">
        <a:lnSpc>
          <a:spcPts val="2500"/>
        </a:lnSpc>
        <a:spcBef>
          <a:spcPct val="20000"/>
        </a:spcBef>
        <a:buFont typeface="Arial"/>
        <a:buNone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5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9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9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16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9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9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9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1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6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6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6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6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6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6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ctrTitle"/>
          </p:nvPr>
        </p:nvSpPr>
        <p:spPr>
          <a:xfrm>
            <a:off x="389500" y="811463"/>
            <a:ext cx="7313318" cy="1095221"/>
          </a:xfrm>
        </p:spPr>
        <p:txBody>
          <a:bodyPr>
            <a:noAutofit/>
          </a:bodyPr>
          <a:lstStyle/>
          <a:p>
            <a:r>
              <a:rPr lang="en-US" sz="4800" dirty="0" smtClean="0">
                <a:latin typeface="HP Simplified" panose="020B0604020204020204" pitchFamily="34" charset="0"/>
              </a:rPr>
              <a:t>Man-In-The-Front</a:t>
            </a:r>
            <a:endParaRPr lang="en-US" sz="4800" dirty="0"/>
          </a:p>
        </p:txBody>
      </p:sp>
      <p:sp>
        <p:nvSpPr>
          <p:cNvPr id="6" name="Subtitle 5"/>
          <p:cNvSpPr>
            <a:spLocks noGrp="1"/>
          </p:cNvSpPr>
          <p:nvPr>
            <p:ph type="subTitle" idx="1"/>
          </p:nvPr>
        </p:nvSpPr>
        <p:spPr>
          <a:xfrm>
            <a:off x="389500" y="3426177"/>
            <a:ext cx="3833731" cy="914400"/>
          </a:xfrm>
        </p:spPr>
        <p:txBody>
          <a:bodyPr/>
          <a:lstStyle/>
          <a:p>
            <a:r>
              <a:rPr lang="en-US" sz="1600" dirty="0" smtClean="0">
                <a:latin typeface="HP Simplified" panose="020B0604020204020204" pitchFamily="34" charset="0"/>
              </a:rPr>
              <a:t>Ray Kelly</a:t>
            </a:r>
            <a:r>
              <a:rPr lang="en-US" dirty="0" smtClean="0">
                <a:latin typeface="HP Simplified" panose="020B0604020204020204" pitchFamily="34" charset="0"/>
              </a:rPr>
              <a:t/>
            </a:r>
            <a:br>
              <a:rPr lang="en-US" dirty="0" smtClean="0">
                <a:latin typeface="HP Simplified" panose="020B0604020204020204" pitchFamily="34" charset="0"/>
              </a:rPr>
            </a:br>
            <a:r>
              <a:rPr lang="en-US" sz="1200" dirty="0" smtClean="0">
                <a:latin typeface="HP Simplified" panose="020B0604020204020204" pitchFamily="34" charset="0"/>
              </a:rPr>
              <a:t>Innovation and Research, HP Fortify on Demand</a:t>
            </a:r>
            <a:br>
              <a:rPr lang="en-US" sz="1200" dirty="0" smtClean="0">
                <a:latin typeface="HP Simplified" panose="020B0604020204020204" pitchFamily="34" charset="0"/>
              </a:rPr>
            </a:br>
            <a:r>
              <a:rPr lang="en-US" sz="1200" dirty="0" smtClean="0">
                <a:latin typeface="HP Simplified" panose="020B0604020204020204" pitchFamily="34" charset="0"/>
              </a:rPr>
              <a:t>March 2014</a:t>
            </a:r>
          </a:p>
        </p:txBody>
      </p:sp>
      <p:sp>
        <p:nvSpPr>
          <p:cNvPr id="4" name="Title 4"/>
          <p:cNvSpPr txBox="1">
            <a:spLocks/>
          </p:cNvSpPr>
          <p:nvPr/>
        </p:nvSpPr>
        <p:spPr bwMode="black">
          <a:xfrm>
            <a:off x="269689" y="2481725"/>
            <a:ext cx="5274392" cy="351311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kumimoji="0" lang="en-US" sz="4600" b="0" i="0" u="none" strike="noStrike" kern="1200" cap="none" spc="-10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ea typeface="+mj-ea"/>
                <a:cs typeface="Arial"/>
              </a:defRPr>
            </a:lvl1pPr>
          </a:lstStyle>
          <a:p>
            <a:endParaRPr lang="en-US" sz="2000" dirty="0"/>
          </a:p>
        </p:txBody>
      </p:sp>
      <p:sp>
        <p:nvSpPr>
          <p:cNvPr id="7" name="Subtitle 5"/>
          <p:cNvSpPr txBox="1">
            <a:spLocks/>
          </p:cNvSpPr>
          <p:nvPr/>
        </p:nvSpPr>
        <p:spPr bwMode="black">
          <a:xfrm>
            <a:off x="396243" y="2024525"/>
            <a:ext cx="3833731" cy="914400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>
            <a:lvl1pPr marL="0" indent="0" algn="l" defTabSz="4572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SzPct val="100000"/>
              <a:buFont typeface="Arial"/>
              <a:buNone/>
              <a:defRPr sz="1800" b="1" i="0" kern="1200">
                <a:solidFill>
                  <a:sysClr val="windowText" lastClr="000000"/>
                </a:solidFill>
                <a:latin typeface="HP Simplified" pitchFamily="34" charset="0"/>
                <a:ea typeface="+mn-ea"/>
                <a:cs typeface="HP Simplified" pitchFamily="34" charset="0"/>
              </a:defRPr>
            </a:lvl1pPr>
            <a:lvl2pPr marL="457200" indent="0" algn="ctr" defTabSz="430213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SzPct val="100000"/>
              <a:buFont typeface="Lucida Grande"/>
              <a:buNone/>
              <a:defRPr sz="1600" b="0" i="0" kern="1200">
                <a:solidFill>
                  <a:schemeClr val="tx1">
                    <a:tint val="75000"/>
                  </a:schemeClr>
                </a:solidFill>
                <a:latin typeface="HP Simplified" pitchFamily="34" charset="0"/>
                <a:ea typeface="+mn-ea"/>
                <a:cs typeface="HP Simplified" pitchFamily="34" charset="0"/>
              </a:defRPr>
            </a:lvl2pPr>
            <a:lvl3pPr marL="914400" indent="0" algn="ctr" defTabSz="4572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Font typeface="HP Simplified" pitchFamily="34" charset="0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HP Simplified" pitchFamily="34" charset="0"/>
                <a:ea typeface="+mn-ea"/>
                <a:cs typeface="HP Simplified" pitchFamily="34" charset="0"/>
              </a:defRPr>
            </a:lvl3pPr>
            <a:lvl4pPr marL="1371600" indent="0" algn="ctr" defTabSz="4572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SzPct val="80000"/>
              <a:buFont typeface="HP Simplified" pitchFamily="34" charset="0"/>
              <a:buNone/>
              <a:defRPr lang="en-US" sz="1400" b="0" i="0" kern="1200">
                <a:solidFill>
                  <a:schemeClr val="tx1">
                    <a:tint val="75000"/>
                  </a:schemeClr>
                </a:solidFill>
                <a:latin typeface="HP Simplified" pitchFamily="34" charset="0"/>
                <a:ea typeface="+mn-ea"/>
                <a:cs typeface="HP Simplified" pitchFamily="34" charset="0"/>
              </a:defRPr>
            </a:lvl4pPr>
            <a:lvl5pPr marL="1828800" indent="0" algn="ctr" defTabSz="4572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Font typeface="HP Simplified" pitchFamily="34" charset="0"/>
              <a:buNone/>
              <a:tabLst/>
              <a:defRPr sz="1400" b="0" i="0" kern="1200">
                <a:solidFill>
                  <a:schemeClr val="tx1">
                    <a:tint val="75000"/>
                  </a:schemeClr>
                </a:solidFill>
                <a:latin typeface="HP Simplified" pitchFamily="34" charset="0"/>
                <a:ea typeface="+mn-ea"/>
                <a:cs typeface="HP Simplified" pitchFamily="34" charset="0"/>
              </a:defRPr>
            </a:lvl5pPr>
            <a:lvl6pPr marL="2286000" indent="0" algn="ctr" defTabSz="457200" rtl="0" eaLnBrk="1" latinLnBrk="0" hangingPunct="1">
              <a:lnSpc>
                <a:spcPts val="2500"/>
              </a:lnSpc>
              <a:spcBef>
                <a:spcPct val="20000"/>
              </a:spcBef>
              <a:buFont typeface="Arial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dirty="0"/>
              <a:t>Modifying the Android OS for Mobile Application Testing</a:t>
            </a:r>
            <a:endParaRPr lang="en-US" sz="2400" dirty="0" smtClean="0"/>
          </a:p>
        </p:txBody>
      </p:sp>
    </p:spTree>
    <p:extLst>
      <p:ext uri="{BB962C8B-B14F-4D97-AF65-F5344CB8AC3E}">
        <p14:creationId xmlns:p14="http://schemas.microsoft.com/office/powerpoint/2010/main" val="1373516460"/>
      </p:ext>
    </p:extLst>
  </p:cSld>
  <p:clrMapOvr>
    <a:masterClrMapping/>
  </p:clrMapOvr>
  <p:transition spd="med">
    <p:fade/>
  </p:transition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225188" y="110688"/>
            <a:ext cx="8782334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dirty="0" smtClean="0">
                <a:latin typeface="HP Simplified" panose="020B0604020204020204" pitchFamily="34" charset="0"/>
              </a:rPr>
              <a:t>Introduction</a:t>
            </a:r>
            <a:endParaRPr lang="en-US" sz="2800" dirty="0">
              <a:solidFill>
                <a:srgbClr val="0070C0"/>
              </a:solidFill>
              <a:latin typeface="HP Simplified" panose="020B0604020204020204" pitchFamily="34" charset="0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4163717" y="1211253"/>
            <a:ext cx="4489114" cy="267765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 smtClean="0">
                <a:latin typeface="HP Simplified" panose="020B0604020204020204" pitchFamily="34" charset="0"/>
              </a:rPr>
              <a:t>Ray Kelly</a:t>
            </a:r>
            <a:r>
              <a:rPr lang="en-US" dirty="0" smtClean="0">
                <a:latin typeface="HP Simplified" panose="020B0604020204020204" pitchFamily="34" charset="0"/>
              </a:rPr>
              <a:t/>
            </a:r>
            <a:br>
              <a:rPr lang="en-US" dirty="0" smtClean="0">
                <a:latin typeface="HP Simplified" panose="020B0604020204020204" pitchFamily="34" charset="0"/>
              </a:rPr>
            </a:br>
            <a:r>
              <a:rPr lang="en-US" sz="1400" dirty="0" smtClean="0">
                <a:latin typeface="HP Simplified" panose="020B0604020204020204" pitchFamily="34" charset="0"/>
              </a:rPr>
              <a:t>Innovation and Research, HP Fortify on Demand</a:t>
            </a:r>
            <a:br>
              <a:rPr lang="en-US" sz="1400" dirty="0" smtClean="0">
                <a:latin typeface="HP Simplified" panose="020B0604020204020204" pitchFamily="34" charset="0"/>
              </a:rPr>
            </a:br>
            <a:endParaRPr lang="en-US" sz="1400" dirty="0" smtClean="0">
              <a:latin typeface="HP Simplified" panose="020B0604020204020204" pitchFamily="34" charset="0"/>
            </a:endParaRPr>
          </a:p>
          <a:p>
            <a:pPr marL="285750" indent="-285750">
              <a:buFontTx/>
              <a:buChar char="-"/>
            </a:pPr>
            <a:r>
              <a:rPr lang="en-US" sz="1600" dirty="0" smtClean="0">
                <a:latin typeface="HP Simplified" panose="020B0604020204020204" pitchFamily="34" charset="0"/>
              </a:rPr>
              <a:t>Lead Developer of WebInspect</a:t>
            </a:r>
          </a:p>
          <a:p>
            <a:pPr marL="285750" indent="-285750">
              <a:buFontTx/>
              <a:buChar char="-"/>
            </a:pPr>
            <a:r>
              <a:rPr lang="en-US" sz="1600" dirty="0" smtClean="0">
                <a:latin typeface="HP Simplified" panose="020B0604020204020204" pitchFamily="34" charset="0"/>
              </a:rPr>
              <a:t>Work with FoD Mobile Team</a:t>
            </a:r>
            <a:endParaRPr lang="en-US" sz="1600" dirty="0">
              <a:latin typeface="HP Simplified" panose="020B0604020204020204" pitchFamily="34" charset="0"/>
            </a:endParaRPr>
          </a:p>
          <a:p>
            <a:pPr marL="285750" indent="-285750">
              <a:buFontTx/>
              <a:buChar char="-"/>
            </a:pPr>
            <a:r>
              <a:rPr lang="en-US" sz="1600" dirty="0" smtClean="0">
                <a:latin typeface="HP Simplified" panose="020B0604020204020204" pitchFamily="34" charset="0"/>
              </a:rPr>
              <a:t>Penetration Testing Background</a:t>
            </a:r>
          </a:p>
          <a:p>
            <a:pPr marL="285750" indent="-285750">
              <a:buFontTx/>
              <a:buChar char="-"/>
            </a:pPr>
            <a:r>
              <a:rPr lang="en-US" sz="1600" dirty="0" smtClean="0">
                <a:latin typeface="HP Simplified" panose="020B0604020204020204" pitchFamily="34" charset="0"/>
              </a:rPr>
              <a:t>Web and Mobile Application Testing</a:t>
            </a:r>
          </a:p>
          <a:p>
            <a:pPr marL="285750" indent="-285750">
              <a:buFontTx/>
              <a:buChar char="-"/>
            </a:pPr>
            <a:r>
              <a:rPr lang="en-US" sz="1600" dirty="0" smtClean="0">
                <a:latin typeface="HP Simplified" panose="020B0604020204020204" pitchFamily="34" charset="0"/>
              </a:rPr>
              <a:t>Creator of MineChat for iOS and Windows Phone</a:t>
            </a:r>
            <a:r>
              <a:rPr lang="en-US" sz="1800" dirty="0" smtClean="0">
                <a:latin typeface="HP Simplified" panose="020B0604020204020204" pitchFamily="34" charset="0"/>
              </a:rPr>
              <a:t/>
            </a:r>
            <a:br>
              <a:rPr lang="en-US" sz="1800" dirty="0" smtClean="0">
                <a:latin typeface="HP Simplified" panose="020B0604020204020204" pitchFamily="34" charset="0"/>
              </a:rPr>
            </a:br>
            <a:endParaRPr lang="en-US" sz="1800" dirty="0" smtClean="0">
              <a:latin typeface="HP Simplified" panose="020B0604020204020204" pitchFamily="34" charset="0"/>
            </a:endParaRPr>
          </a:p>
          <a:p>
            <a:pPr lvl="2"/>
            <a:r>
              <a:rPr lang="en-US" u="sng" dirty="0" smtClean="0">
                <a:solidFill>
                  <a:srgbClr val="0070C0"/>
                </a:solidFill>
                <a:latin typeface="HP Simplified" panose="020B0604020204020204" pitchFamily="34" charset="0"/>
              </a:rPr>
              <a:t>r</a:t>
            </a:r>
            <a:r>
              <a:rPr lang="en-US" sz="1800" u="sng" dirty="0" smtClean="0">
                <a:solidFill>
                  <a:srgbClr val="0070C0"/>
                </a:solidFill>
                <a:latin typeface="HP Simplified" panose="020B0604020204020204" pitchFamily="34" charset="0"/>
              </a:rPr>
              <a:t>ay.kelly@hp.com</a:t>
            </a:r>
          </a:p>
        </p:txBody>
      </p:sp>
      <p:cxnSp>
        <p:nvCxnSpPr>
          <p:cNvPr id="13" name="Straight Connector 12"/>
          <p:cNvCxnSpPr/>
          <p:nvPr/>
        </p:nvCxnSpPr>
        <p:spPr bwMode="auto">
          <a:xfrm>
            <a:off x="3406099" y="1119054"/>
            <a:ext cx="0" cy="3028314"/>
          </a:xfrm>
          <a:prstGeom prst="line">
            <a:avLst/>
          </a:prstGeom>
          <a:ln w="1905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</p:spTree>
    <p:extLst>
      <p:ext uri="{BB962C8B-B14F-4D97-AF65-F5344CB8AC3E}">
        <p14:creationId xmlns:p14="http://schemas.microsoft.com/office/powerpoint/2010/main" val="3935657404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Agenda</a:t>
            </a:r>
            <a:endParaRPr lang="en-US" dirty="0"/>
          </a:p>
        </p:txBody>
      </p:sp>
      <p:sp>
        <p:nvSpPr>
          <p:cNvPr id="9" name="Content Placeholder 2"/>
          <p:cNvSpPr>
            <a:spLocks noGrp="1"/>
          </p:cNvSpPr>
          <p:nvPr>
            <p:ph sz="quarter" idx="10"/>
          </p:nvPr>
        </p:nvSpPr>
        <p:spPr>
          <a:xfrm>
            <a:off x="250852" y="1066148"/>
            <a:ext cx="4635335" cy="3219768"/>
          </a:xfrm>
        </p:spPr>
        <p:txBody>
          <a:bodyPr anchor="t" anchorCtr="0">
            <a:noAutofit/>
          </a:bodyPr>
          <a:lstStyle/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b="0" dirty="0" smtClean="0">
                <a:solidFill>
                  <a:schemeClr val="tx1"/>
                </a:solidFill>
                <a:ea typeface="Times New Roman"/>
                <a:cs typeface="Times New Roman"/>
              </a:rPr>
              <a:t>Challenges of Mobile Testing</a:t>
            </a:r>
            <a:endParaRPr lang="en-US" b="0" dirty="0" smtClean="0">
              <a:solidFill>
                <a:schemeClr val="tx1"/>
              </a:solidFill>
              <a:latin typeface="HP Simplified" panose="020B0604020204020204" pitchFamily="34" charset="0"/>
              <a:ea typeface="Times New Roman"/>
              <a:cs typeface="Times New Roman"/>
            </a:endParaRPr>
          </a:p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b="0" dirty="0">
                <a:solidFill>
                  <a:schemeClr val="tx1"/>
                </a:solidFill>
                <a:ea typeface="Times New Roman"/>
                <a:cs typeface="Times New Roman"/>
              </a:rPr>
              <a:t>Overview of the Android operating system</a:t>
            </a:r>
          </a:p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b="0" dirty="0" smtClean="0">
                <a:solidFill>
                  <a:schemeClr val="tx1"/>
                </a:solidFill>
                <a:ea typeface="Times New Roman"/>
                <a:cs typeface="Times New Roman"/>
              </a:rPr>
              <a:t>Identify </a:t>
            </a:r>
            <a:r>
              <a:rPr lang="en-US" b="0" dirty="0">
                <a:solidFill>
                  <a:schemeClr val="tx1"/>
                </a:solidFill>
                <a:ea typeface="Times New Roman"/>
                <a:cs typeface="Times New Roman"/>
              </a:rPr>
              <a:t>key Android source code files for modification</a:t>
            </a:r>
          </a:p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b="0" dirty="0" smtClean="0">
                <a:solidFill>
                  <a:schemeClr val="tx1"/>
                </a:solidFill>
                <a:ea typeface="Times New Roman"/>
                <a:cs typeface="Times New Roman"/>
              </a:rPr>
              <a:t>The </a:t>
            </a:r>
            <a:r>
              <a:rPr lang="en-US" b="0" dirty="0">
                <a:solidFill>
                  <a:schemeClr val="tx1"/>
                </a:solidFill>
                <a:ea typeface="Times New Roman"/>
                <a:cs typeface="Times New Roman"/>
              </a:rPr>
              <a:t>Android build </a:t>
            </a:r>
            <a:r>
              <a:rPr lang="en-US" b="0" dirty="0" smtClean="0">
                <a:solidFill>
                  <a:schemeClr val="tx1"/>
                </a:solidFill>
                <a:ea typeface="Times New Roman"/>
                <a:cs typeface="Times New Roman"/>
              </a:rPr>
              <a:t>process</a:t>
            </a:r>
          </a:p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pt-BR" b="0" dirty="0">
                <a:solidFill>
                  <a:schemeClr val="tx1"/>
                </a:solidFill>
                <a:ea typeface="Times New Roman"/>
                <a:cs typeface="Times New Roman"/>
              </a:rPr>
              <a:t>Demonstrate a custom Android </a:t>
            </a:r>
            <a:r>
              <a:rPr lang="pt-BR" b="0" dirty="0" smtClean="0">
                <a:solidFill>
                  <a:schemeClr val="tx1"/>
                </a:solidFill>
                <a:ea typeface="Times New Roman"/>
                <a:cs typeface="Times New Roman"/>
              </a:rPr>
              <a:t>OS with intercepting code</a:t>
            </a:r>
            <a:endParaRPr lang="en-US" b="0" dirty="0" smtClean="0">
              <a:solidFill>
                <a:schemeClr val="tx1"/>
              </a:solidFill>
              <a:latin typeface="HP Simplified" panose="020B0604020204020204" pitchFamily="34" charset="0"/>
              <a:ea typeface="Times New Roman"/>
              <a:cs typeface="Times New Roman"/>
            </a:endParaRPr>
          </a:p>
        </p:txBody>
      </p:sp>
      <p:cxnSp>
        <p:nvCxnSpPr>
          <p:cNvPr id="5" name="Straight Connector 4"/>
          <p:cNvCxnSpPr/>
          <p:nvPr/>
        </p:nvCxnSpPr>
        <p:spPr bwMode="auto">
          <a:xfrm>
            <a:off x="4886188" y="1349632"/>
            <a:ext cx="2968" cy="2450921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bg1">
                <a:lumMod val="65000"/>
              </a:schemeClr>
            </a:solidFill>
            <a:prstDash val="solid"/>
            <a:round/>
            <a:headEnd type="none" w="sm" len="sm"/>
            <a:tailEnd type="none" w="sm" len="sm"/>
          </a:ln>
          <a:effectLst/>
        </p:spPr>
      </p:cxnSp>
      <p:sp>
        <p:nvSpPr>
          <p:cNvPr id="6" name="Freeform 26"/>
          <p:cNvSpPr>
            <a:spLocks noEditPoints="1"/>
          </p:cNvSpPr>
          <p:nvPr/>
        </p:nvSpPr>
        <p:spPr bwMode="auto">
          <a:xfrm>
            <a:off x="5933736" y="1622483"/>
            <a:ext cx="1806026" cy="1755583"/>
          </a:xfrm>
          <a:custGeom>
            <a:avLst/>
            <a:gdLst>
              <a:gd name="T0" fmla="*/ 343 w 344"/>
              <a:gd name="T1" fmla="*/ 202 h 344"/>
              <a:gd name="T2" fmla="*/ 344 w 344"/>
              <a:gd name="T3" fmla="*/ 148 h 344"/>
              <a:gd name="T4" fmla="*/ 309 w 344"/>
              <a:gd name="T5" fmla="*/ 138 h 344"/>
              <a:gd name="T6" fmla="*/ 295 w 344"/>
              <a:gd name="T7" fmla="*/ 104 h 344"/>
              <a:gd name="T8" fmla="*/ 314 w 344"/>
              <a:gd name="T9" fmla="*/ 72 h 344"/>
              <a:gd name="T10" fmla="*/ 277 w 344"/>
              <a:gd name="T11" fmla="*/ 34 h 344"/>
              <a:gd name="T12" fmla="*/ 245 w 344"/>
              <a:gd name="T13" fmla="*/ 52 h 344"/>
              <a:gd name="T14" fmla="*/ 210 w 344"/>
              <a:gd name="T15" fmla="*/ 37 h 344"/>
              <a:gd name="T16" fmla="*/ 202 w 344"/>
              <a:gd name="T17" fmla="*/ 1 h 344"/>
              <a:gd name="T18" fmla="*/ 148 w 344"/>
              <a:gd name="T19" fmla="*/ 0 h 344"/>
              <a:gd name="T20" fmla="*/ 138 w 344"/>
              <a:gd name="T21" fmla="*/ 36 h 344"/>
              <a:gd name="T22" fmla="*/ 104 w 344"/>
              <a:gd name="T23" fmla="*/ 50 h 344"/>
              <a:gd name="T24" fmla="*/ 72 w 344"/>
              <a:gd name="T25" fmla="*/ 30 h 344"/>
              <a:gd name="T26" fmla="*/ 33 w 344"/>
              <a:gd name="T27" fmla="*/ 68 h 344"/>
              <a:gd name="T28" fmla="*/ 52 w 344"/>
              <a:gd name="T29" fmla="*/ 100 h 344"/>
              <a:gd name="T30" fmla="*/ 37 w 344"/>
              <a:gd name="T31" fmla="*/ 134 h 344"/>
              <a:gd name="T32" fmla="*/ 1 w 344"/>
              <a:gd name="T33" fmla="*/ 143 h 344"/>
              <a:gd name="T34" fmla="*/ 0 w 344"/>
              <a:gd name="T35" fmla="*/ 197 h 344"/>
              <a:gd name="T36" fmla="*/ 36 w 344"/>
              <a:gd name="T37" fmla="*/ 206 h 344"/>
              <a:gd name="T38" fmla="*/ 50 w 344"/>
              <a:gd name="T39" fmla="*/ 241 h 344"/>
              <a:gd name="T40" fmla="*/ 30 w 344"/>
              <a:gd name="T41" fmla="*/ 272 h 344"/>
              <a:gd name="T42" fmla="*/ 68 w 344"/>
              <a:gd name="T43" fmla="*/ 311 h 344"/>
              <a:gd name="T44" fmla="*/ 100 w 344"/>
              <a:gd name="T45" fmla="*/ 293 h 344"/>
              <a:gd name="T46" fmla="*/ 134 w 344"/>
              <a:gd name="T47" fmla="*/ 308 h 344"/>
              <a:gd name="T48" fmla="*/ 143 w 344"/>
              <a:gd name="T49" fmla="*/ 343 h 344"/>
              <a:gd name="T50" fmla="*/ 197 w 344"/>
              <a:gd name="T51" fmla="*/ 344 h 344"/>
              <a:gd name="T52" fmla="*/ 206 w 344"/>
              <a:gd name="T53" fmla="*/ 309 h 344"/>
              <a:gd name="T54" fmla="*/ 241 w 344"/>
              <a:gd name="T55" fmla="*/ 295 h 344"/>
              <a:gd name="T56" fmla="*/ 272 w 344"/>
              <a:gd name="T57" fmla="*/ 314 h 344"/>
              <a:gd name="T58" fmla="*/ 311 w 344"/>
              <a:gd name="T59" fmla="*/ 277 h 344"/>
              <a:gd name="T60" fmla="*/ 293 w 344"/>
              <a:gd name="T61" fmla="*/ 245 h 344"/>
              <a:gd name="T62" fmla="*/ 308 w 344"/>
              <a:gd name="T63" fmla="*/ 210 h 344"/>
              <a:gd name="T64" fmla="*/ 343 w 344"/>
              <a:gd name="T65" fmla="*/ 202 h 344"/>
              <a:gd name="T66" fmla="*/ 171 w 344"/>
              <a:gd name="T67" fmla="*/ 268 h 344"/>
              <a:gd name="T68" fmla="*/ 76 w 344"/>
              <a:gd name="T69" fmla="*/ 171 h 344"/>
              <a:gd name="T70" fmla="*/ 174 w 344"/>
              <a:gd name="T71" fmla="*/ 76 h 344"/>
              <a:gd name="T72" fmla="*/ 268 w 344"/>
              <a:gd name="T73" fmla="*/ 174 h 344"/>
              <a:gd name="T74" fmla="*/ 171 w 344"/>
              <a:gd name="T75" fmla="*/ 268 h 34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</a:cxnLst>
            <a:rect l="0" t="0" r="r" b="b"/>
            <a:pathLst>
              <a:path w="344" h="344">
                <a:moveTo>
                  <a:pt x="343" y="202"/>
                </a:moveTo>
                <a:cubicBezTo>
                  <a:pt x="344" y="148"/>
                  <a:pt x="344" y="148"/>
                  <a:pt x="344" y="148"/>
                </a:cubicBezTo>
                <a:cubicBezTo>
                  <a:pt x="309" y="138"/>
                  <a:pt x="309" y="138"/>
                  <a:pt x="309" y="138"/>
                </a:cubicBezTo>
                <a:cubicBezTo>
                  <a:pt x="306" y="126"/>
                  <a:pt x="301" y="114"/>
                  <a:pt x="295" y="104"/>
                </a:cubicBezTo>
                <a:cubicBezTo>
                  <a:pt x="314" y="72"/>
                  <a:pt x="314" y="72"/>
                  <a:pt x="314" y="72"/>
                </a:cubicBezTo>
                <a:cubicBezTo>
                  <a:pt x="277" y="34"/>
                  <a:pt x="277" y="34"/>
                  <a:pt x="277" y="34"/>
                </a:cubicBezTo>
                <a:cubicBezTo>
                  <a:pt x="245" y="52"/>
                  <a:pt x="245" y="52"/>
                  <a:pt x="245" y="52"/>
                </a:cubicBezTo>
                <a:cubicBezTo>
                  <a:pt x="234" y="46"/>
                  <a:pt x="223" y="41"/>
                  <a:pt x="210" y="37"/>
                </a:cubicBezTo>
                <a:cubicBezTo>
                  <a:pt x="202" y="1"/>
                  <a:pt x="202" y="1"/>
                  <a:pt x="202" y="1"/>
                </a:cubicBezTo>
                <a:cubicBezTo>
                  <a:pt x="148" y="0"/>
                  <a:pt x="148" y="0"/>
                  <a:pt x="148" y="0"/>
                </a:cubicBezTo>
                <a:cubicBezTo>
                  <a:pt x="138" y="36"/>
                  <a:pt x="138" y="36"/>
                  <a:pt x="138" y="36"/>
                </a:cubicBezTo>
                <a:cubicBezTo>
                  <a:pt x="126" y="39"/>
                  <a:pt x="114" y="44"/>
                  <a:pt x="104" y="50"/>
                </a:cubicBezTo>
                <a:cubicBezTo>
                  <a:pt x="72" y="30"/>
                  <a:pt x="72" y="30"/>
                  <a:pt x="72" y="30"/>
                </a:cubicBezTo>
                <a:cubicBezTo>
                  <a:pt x="33" y="68"/>
                  <a:pt x="33" y="68"/>
                  <a:pt x="33" y="68"/>
                </a:cubicBezTo>
                <a:cubicBezTo>
                  <a:pt x="52" y="100"/>
                  <a:pt x="52" y="100"/>
                  <a:pt x="52" y="100"/>
                </a:cubicBezTo>
                <a:cubicBezTo>
                  <a:pt x="45" y="111"/>
                  <a:pt x="40" y="122"/>
                  <a:pt x="37" y="134"/>
                </a:cubicBezTo>
                <a:cubicBezTo>
                  <a:pt x="1" y="143"/>
                  <a:pt x="1" y="143"/>
                  <a:pt x="1" y="143"/>
                </a:cubicBezTo>
                <a:cubicBezTo>
                  <a:pt x="0" y="197"/>
                  <a:pt x="0" y="197"/>
                  <a:pt x="0" y="197"/>
                </a:cubicBezTo>
                <a:cubicBezTo>
                  <a:pt x="36" y="206"/>
                  <a:pt x="36" y="206"/>
                  <a:pt x="36" y="206"/>
                </a:cubicBezTo>
                <a:cubicBezTo>
                  <a:pt x="39" y="219"/>
                  <a:pt x="44" y="230"/>
                  <a:pt x="50" y="241"/>
                </a:cubicBezTo>
                <a:cubicBezTo>
                  <a:pt x="30" y="272"/>
                  <a:pt x="30" y="272"/>
                  <a:pt x="30" y="272"/>
                </a:cubicBezTo>
                <a:cubicBezTo>
                  <a:pt x="68" y="311"/>
                  <a:pt x="68" y="311"/>
                  <a:pt x="68" y="311"/>
                </a:cubicBezTo>
                <a:cubicBezTo>
                  <a:pt x="100" y="293"/>
                  <a:pt x="100" y="293"/>
                  <a:pt x="100" y="293"/>
                </a:cubicBezTo>
                <a:cubicBezTo>
                  <a:pt x="110" y="299"/>
                  <a:pt x="122" y="304"/>
                  <a:pt x="134" y="308"/>
                </a:cubicBezTo>
                <a:cubicBezTo>
                  <a:pt x="143" y="343"/>
                  <a:pt x="143" y="343"/>
                  <a:pt x="143" y="343"/>
                </a:cubicBezTo>
                <a:cubicBezTo>
                  <a:pt x="197" y="344"/>
                  <a:pt x="197" y="344"/>
                  <a:pt x="197" y="344"/>
                </a:cubicBezTo>
                <a:cubicBezTo>
                  <a:pt x="206" y="309"/>
                  <a:pt x="206" y="309"/>
                  <a:pt x="206" y="309"/>
                </a:cubicBezTo>
                <a:cubicBezTo>
                  <a:pt x="219" y="306"/>
                  <a:pt x="230" y="301"/>
                  <a:pt x="241" y="295"/>
                </a:cubicBezTo>
                <a:cubicBezTo>
                  <a:pt x="272" y="314"/>
                  <a:pt x="272" y="314"/>
                  <a:pt x="272" y="314"/>
                </a:cubicBezTo>
                <a:cubicBezTo>
                  <a:pt x="311" y="277"/>
                  <a:pt x="311" y="277"/>
                  <a:pt x="311" y="277"/>
                </a:cubicBezTo>
                <a:cubicBezTo>
                  <a:pt x="293" y="245"/>
                  <a:pt x="293" y="245"/>
                  <a:pt x="293" y="245"/>
                </a:cubicBezTo>
                <a:cubicBezTo>
                  <a:pt x="299" y="234"/>
                  <a:pt x="304" y="223"/>
                  <a:pt x="308" y="210"/>
                </a:cubicBezTo>
                <a:lnTo>
                  <a:pt x="343" y="202"/>
                </a:lnTo>
                <a:close/>
                <a:moveTo>
                  <a:pt x="171" y="268"/>
                </a:moveTo>
                <a:cubicBezTo>
                  <a:pt x="118" y="268"/>
                  <a:pt x="76" y="224"/>
                  <a:pt x="76" y="171"/>
                </a:cubicBezTo>
                <a:cubicBezTo>
                  <a:pt x="77" y="118"/>
                  <a:pt x="121" y="76"/>
                  <a:pt x="174" y="76"/>
                </a:cubicBezTo>
                <a:cubicBezTo>
                  <a:pt x="227" y="77"/>
                  <a:pt x="269" y="121"/>
                  <a:pt x="268" y="174"/>
                </a:cubicBezTo>
                <a:cubicBezTo>
                  <a:pt x="267" y="227"/>
                  <a:pt x="224" y="269"/>
                  <a:pt x="171" y="268"/>
                </a:cubicBezTo>
                <a:close/>
              </a:path>
            </a:pathLst>
          </a:custGeom>
          <a:solidFill>
            <a:srgbClr val="0096D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81409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Inspiration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142506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tx2"/>
                </a:solidFill>
              </a:rPr>
              <a:t>Inspiration</a:t>
            </a:r>
            <a:r>
              <a:rPr lang="en-US" dirty="0">
                <a:solidFill>
                  <a:schemeClr val="tx2"/>
                </a:solidFill>
              </a:rPr>
              <a:t/>
            </a:r>
            <a:br>
              <a:rPr lang="en-US" dirty="0">
                <a:solidFill>
                  <a:schemeClr val="tx2"/>
                </a:solidFill>
              </a:rPr>
            </a:br>
            <a:endParaRPr lang="en-US" dirty="0">
              <a:solidFill>
                <a:schemeClr val="tx2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quarter" idx="10"/>
          </p:nvPr>
        </p:nvSpPr>
        <p:spPr>
          <a:xfrm>
            <a:off x="329184" y="969842"/>
            <a:ext cx="4893980" cy="3219768"/>
          </a:xfrm>
        </p:spPr>
        <p:txBody>
          <a:bodyPr/>
          <a:lstStyle/>
          <a:p>
            <a:pPr marL="285750" indent="-285750">
              <a:buFont typeface="Arial" pitchFamily="34" charset="0"/>
              <a:buChar char="•"/>
            </a:pPr>
            <a:endParaRPr lang="en-US" sz="1600" b="0" dirty="0">
              <a:solidFill>
                <a:schemeClr val="tx1"/>
              </a:solidFill>
            </a:endParaRPr>
          </a:p>
          <a:p>
            <a:endParaRPr lang="en-US" sz="1600" b="0" dirty="0">
              <a:solidFill>
                <a:schemeClr val="tx1"/>
              </a:solidFill>
            </a:endParaRPr>
          </a:p>
        </p:txBody>
      </p:sp>
      <p:pic>
        <p:nvPicPr>
          <p:cNvPr id="4098" name="Picture 2" descr="http://i.walmartimages.com/i/p/00/07/75/11/34/0007751134360_500X500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58994" y="1121159"/>
            <a:ext cx="3088506" cy="30885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835759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Challenges of Mobile Testing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212612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/>
          <p:cNvGrpSpPr/>
          <p:nvPr/>
        </p:nvGrpSpPr>
        <p:grpSpPr>
          <a:xfrm>
            <a:off x="6582776" y="2047378"/>
            <a:ext cx="844550" cy="844550"/>
            <a:chOff x="-1444625" y="1844675"/>
            <a:chExt cx="1341438" cy="1341438"/>
          </a:xfrm>
          <a:solidFill>
            <a:schemeClr val="accent1"/>
          </a:solidFill>
        </p:grpSpPr>
        <p:sp>
          <p:nvSpPr>
            <p:cNvPr id="9" name="Freeform 12"/>
            <p:cNvSpPr>
              <a:spLocks noEditPoints="1"/>
            </p:cNvSpPr>
            <p:nvPr/>
          </p:nvSpPr>
          <p:spPr bwMode="auto">
            <a:xfrm>
              <a:off x="-1444625" y="1844675"/>
              <a:ext cx="1341438" cy="1341438"/>
            </a:xfrm>
            <a:custGeom>
              <a:avLst/>
              <a:gdLst>
                <a:gd name="T0" fmla="*/ 179 w 358"/>
                <a:gd name="T1" fmla="*/ 0 h 358"/>
                <a:gd name="T2" fmla="*/ 358 w 358"/>
                <a:gd name="T3" fmla="*/ 179 h 358"/>
                <a:gd name="T4" fmla="*/ 179 w 358"/>
                <a:gd name="T5" fmla="*/ 358 h 358"/>
                <a:gd name="T6" fmla="*/ 0 w 358"/>
                <a:gd name="T7" fmla="*/ 179 h 358"/>
                <a:gd name="T8" fmla="*/ 179 w 358"/>
                <a:gd name="T9" fmla="*/ 0 h 358"/>
                <a:gd name="T10" fmla="*/ 179 w 358"/>
                <a:gd name="T11" fmla="*/ 41 h 358"/>
                <a:gd name="T12" fmla="*/ 41 w 358"/>
                <a:gd name="T13" fmla="*/ 179 h 358"/>
                <a:gd name="T14" fmla="*/ 179 w 358"/>
                <a:gd name="T15" fmla="*/ 317 h 358"/>
                <a:gd name="T16" fmla="*/ 317 w 358"/>
                <a:gd name="T17" fmla="*/ 179 h 358"/>
                <a:gd name="T18" fmla="*/ 179 w 358"/>
                <a:gd name="T19" fmla="*/ 41 h 3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358" h="358">
                  <a:moveTo>
                    <a:pt x="179" y="0"/>
                  </a:moveTo>
                  <a:cubicBezTo>
                    <a:pt x="278" y="0"/>
                    <a:pt x="358" y="80"/>
                    <a:pt x="358" y="179"/>
                  </a:cubicBezTo>
                  <a:cubicBezTo>
                    <a:pt x="358" y="278"/>
                    <a:pt x="278" y="358"/>
                    <a:pt x="179" y="358"/>
                  </a:cubicBezTo>
                  <a:cubicBezTo>
                    <a:pt x="80" y="358"/>
                    <a:pt x="0" y="278"/>
                    <a:pt x="0" y="179"/>
                  </a:cubicBezTo>
                  <a:cubicBezTo>
                    <a:pt x="0" y="80"/>
                    <a:pt x="80" y="0"/>
                    <a:pt x="179" y="0"/>
                  </a:cubicBezTo>
                  <a:moveTo>
                    <a:pt x="179" y="41"/>
                  </a:moveTo>
                  <a:cubicBezTo>
                    <a:pt x="103" y="41"/>
                    <a:pt x="41" y="103"/>
                    <a:pt x="41" y="179"/>
                  </a:cubicBezTo>
                  <a:cubicBezTo>
                    <a:pt x="41" y="255"/>
                    <a:pt x="103" y="317"/>
                    <a:pt x="179" y="317"/>
                  </a:cubicBezTo>
                  <a:cubicBezTo>
                    <a:pt x="255" y="317"/>
                    <a:pt x="317" y="255"/>
                    <a:pt x="317" y="179"/>
                  </a:cubicBezTo>
                  <a:cubicBezTo>
                    <a:pt x="317" y="103"/>
                    <a:pt x="255" y="41"/>
                    <a:pt x="179" y="4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" name="Freeform 13"/>
            <p:cNvSpPr>
              <a:spLocks noEditPoints="1"/>
            </p:cNvSpPr>
            <p:nvPr/>
          </p:nvSpPr>
          <p:spPr bwMode="auto">
            <a:xfrm>
              <a:off x="-860425" y="2203450"/>
              <a:ext cx="180975" cy="665163"/>
            </a:xfrm>
            <a:custGeom>
              <a:avLst/>
              <a:gdLst>
                <a:gd name="T0" fmla="*/ 48 w 48"/>
                <a:gd name="T1" fmla="*/ 155 h 177"/>
                <a:gd name="T2" fmla="*/ 43 w 48"/>
                <a:gd name="T3" fmla="*/ 172 h 177"/>
                <a:gd name="T4" fmla="*/ 24 w 48"/>
                <a:gd name="T5" fmla="*/ 177 h 177"/>
                <a:gd name="T6" fmla="*/ 5 w 48"/>
                <a:gd name="T7" fmla="*/ 172 h 177"/>
                <a:gd name="T8" fmla="*/ 0 w 48"/>
                <a:gd name="T9" fmla="*/ 155 h 177"/>
                <a:gd name="T10" fmla="*/ 5 w 48"/>
                <a:gd name="T11" fmla="*/ 138 h 177"/>
                <a:gd name="T12" fmla="*/ 24 w 48"/>
                <a:gd name="T13" fmla="*/ 132 h 177"/>
                <a:gd name="T14" fmla="*/ 43 w 48"/>
                <a:gd name="T15" fmla="*/ 138 h 177"/>
                <a:gd name="T16" fmla="*/ 48 w 48"/>
                <a:gd name="T17" fmla="*/ 155 h 177"/>
                <a:gd name="T18" fmla="*/ 8 w 48"/>
                <a:gd name="T19" fmla="*/ 108 h 177"/>
                <a:gd name="T20" fmla="*/ 6 w 48"/>
                <a:gd name="T21" fmla="*/ 90 h 177"/>
                <a:gd name="T22" fmla="*/ 4 w 48"/>
                <a:gd name="T23" fmla="*/ 70 h 177"/>
                <a:gd name="T24" fmla="*/ 3 w 48"/>
                <a:gd name="T25" fmla="*/ 52 h 177"/>
                <a:gd name="T26" fmla="*/ 2 w 48"/>
                <a:gd name="T27" fmla="*/ 37 h 177"/>
                <a:gd name="T28" fmla="*/ 2 w 48"/>
                <a:gd name="T29" fmla="*/ 0 h 177"/>
                <a:gd name="T30" fmla="*/ 36 w 48"/>
                <a:gd name="T31" fmla="*/ 0 h 177"/>
                <a:gd name="T32" fmla="*/ 46 w 48"/>
                <a:gd name="T33" fmla="*/ 9 h 177"/>
                <a:gd name="T34" fmla="*/ 46 w 48"/>
                <a:gd name="T35" fmla="*/ 36 h 177"/>
                <a:gd name="T36" fmla="*/ 45 w 48"/>
                <a:gd name="T37" fmla="*/ 53 h 177"/>
                <a:gd name="T38" fmla="*/ 43 w 48"/>
                <a:gd name="T39" fmla="*/ 75 h 177"/>
                <a:gd name="T40" fmla="*/ 41 w 48"/>
                <a:gd name="T41" fmla="*/ 98 h 177"/>
                <a:gd name="T42" fmla="*/ 39 w 48"/>
                <a:gd name="T43" fmla="*/ 118 h 177"/>
                <a:gd name="T44" fmla="*/ 17 w 48"/>
                <a:gd name="T45" fmla="*/ 118 h 177"/>
                <a:gd name="T46" fmla="*/ 11 w 48"/>
                <a:gd name="T47" fmla="*/ 115 h 177"/>
                <a:gd name="T48" fmla="*/ 8 w 48"/>
                <a:gd name="T49" fmla="*/ 108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48" h="177">
                  <a:moveTo>
                    <a:pt x="48" y="155"/>
                  </a:moveTo>
                  <a:cubicBezTo>
                    <a:pt x="48" y="163"/>
                    <a:pt x="46" y="168"/>
                    <a:pt x="43" y="172"/>
                  </a:cubicBezTo>
                  <a:cubicBezTo>
                    <a:pt x="39" y="176"/>
                    <a:pt x="33" y="177"/>
                    <a:pt x="24" y="177"/>
                  </a:cubicBezTo>
                  <a:cubicBezTo>
                    <a:pt x="15" y="177"/>
                    <a:pt x="9" y="176"/>
                    <a:pt x="5" y="172"/>
                  </a:cubicBezTo>
                  <a:cubicBezTo>
                    <a:pt x="1" y="168"/>
                    <a:pt x="0" y="163"/>
                    <a:pt x="0" y="155"/>
                  </a:cubicBezTo>
                  <a:cubicBezTo>
                    <a:pt x="0" y="147"/>
                    <a:pt x="1" y="141"/>
                    <a:pt x="5" y="138"/>
                  </a:cubicBezTo>
                  <a:cubicBezTo>
                    <a:pt x="9" y="134"/>
                    <a:pt x="15" y="132"/>
                    <a:pt x="24" y="132"/>
                  </a:cubicBezTo>
                  <a:cubicBezTo>
                    <a:pt x="33" y="132"/>
                    <a:pt x="39" y="134"/>
                    <a:pt x="43" y="138"/>
                  </a:cubicBezTo>
                  <a:cubicBezTo>
                    <a:pt x="46" y="141"/>
                    <a:pt x="48" y="147"/>
                    <a:pt x="48" y="155"/>
                  </a:cubicBezTo>
                  <a:close/>
                  <a:moveTo>
                    <a:pt x="8" y="108"/>
                  </a:moveTo>
                  <a:cubicBezTo>
                    <a:pt x="7" y="103"/>
                    <a:pt x="6" y="96"/>
                    <a:pt x="6" y="90"/>
                  </a:cubicBezTo>
                  <a:cubicBezTo>
                    <a:pt x="5" y="83"/>
                    <a:pt x="4" y="77"/>
                    <a:pt x="4" y="70"/>
                  </a:cubicBezTo>
                  <a:cubicBezTo>
                    <a:pt x="3" y="64"/>
                    <a:pt x="3" y="58"/>
                    <a:pt x="3" y="52"/>
                  </a:cubicBezTo>
                  <a:cubicBezTo>
                    <a:pt x="2" y="46"/>
                    <a:pt x="2" y="41"/>
                    <a:pt x="2" y="37"/>
                  </a:cubicBezTo>
                  <a:cubicBezTo>
                    <a:pt x="2" y="0"/>
                    <a:pt x="2" y="0"/>
                    <a:pt x="2" y="0"/>
                  </a:cubicBezTo>
                  <a:cubicBezTo>
                    <a:pt x="36" y="0"/>
                    <a:pt x="36" y="0"/>
                    <a:pt x="36" y="0"/>
                  </a:cubicBezTo>
                  <a:cubicBezTo>
                    <a:pt x="42" y="0"/>
                    <a:pt x="46" y="3"/>
                    <a:pt x="46" y="9"/>
                  </a:cubicBezTo>
                  <a:cubicBezTo>
                    <a:pt x="46" y="36"/>
                    <a:pt x="46" y="36"/>
                    <a:pt x="46" y="36"/>
                  </a:cubicBezTo>
                  <a:cubicBezTo>
                    <a:pt x="46" y="40"/>
                    <a:pt x="45" y="46"/>
                    <a:pt x="45" y="53"/>
                  </a:cubicBezTo>
                  <a:cubicBezTo>
                    <a:pt x="45" y="60"/>
                    <a:pt x="44" y="68"/>
                    <a:pt x="43" y="75"/>
                  </a:cubicBezTo>
                  <a:cubicBezTo>
                    <a:pt x="43" y="83"/>
                    <a:pt x="42" y="91"/>
                    <a:pt x="41" y="98"/>
                  </a:cubicBezTo>
                  <a:cubicBezTo>
                    <a:pt x="40" y="106"/>
                    <a:pt x="39" y="112"/>
                    <a:pt x="39" y="118"/>
                  </a:cubicBezTo>
                  <a:cubicBezTo>
                    <a:pt x="17" y="118"/>
                    <a:pt x="17" y="118"/>
                    <a:pt x="17" y="118"/>
                  </a:cubicBezTo>
                  <a:cubicBezTo>
                    <a:pt x="14" y="118"/>
                    <a:pt x="12" y="117"/>
                    <a:pt x="11" y="115"/>
                  </a:cubicBezTo>
                  <a:cubicBezTo>
                    <a:pt x="9" y="114"/>
                    <a:pt x="8" y="112"/>
                    <a:pt x="8" y="10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tx2"/>
                </a:solidFill>
              </a:rPr>
              <a:t>Why is Mobile Testing Important</a:t>
            </a:r>
            <a:r>
              <a:rPr lang="en-US" dirty="0">
                <a:solidFill>
                  <a:schemeClr val="tx2"/>
                </a:solidFill>
              </a:rPr>
              <a:t/>
            </a:r>
            <a:br>
              <a:rPr lang="en-US" dirty="0">
                <a:solidFill>
                  <a:schemeClr val="tx2"/>
                </a:solidFill>
              </a:rPr>
            </a:br>
            <a:endParaRPr lang="en-US" dirty="0">
              <a:solidFill>
                <a:schemeClr val="tx2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quarter" idx="10"/>
          </p:nvPr>
        </p:nvSpPr>
        <p:spPr>
          <a:xfrm>
            <a:off x="329184" y="969842"/>
            <a:ext cx="4893980" cy="3219768"/>
          </a:xfrm>
        </p:spPr>
        <p:txBody>
          <a:bodyPr/>
          <a:lstStyle/>
          <a:p>
            <a:pPr marL="285750" indent="-285750">
              <a:buFont typeface="Arial" pitchFamily="34" charset="0"/>
              <a:buChar char="•"/>
            </a:pPr>
            <a:r>
              <a:rPr lang="en-US" sz="1600" b="0" dirty="0">
                <a:solidFill>
                  <a:schemeClr val="tx1"/>
                </a:solidFill>
              </a:rPr>
              <a:t>Mobile development is the hottest type of development right now. </a:t>
            </a:r>
            <a:r>
              <a:rPr lang="en-US" sz="1600" b="0" dirty="0">
                <a:solidFill>
                  <a:schemeClr val="tx2"/>
                </a:solidFill>
              </a:rPr>
              <a:t>New surface area equals dangerous surface </a:t>
            </a:r>
            <a:r>
              <a:rPr lang="en-US" sz="1600" b="0" dirty="0" smtClean="0">
                <a:solidFill>
                  <a:schemeClr val="tx2"/>
                </a:solidFill>
              </a:rPr>
              <a:t>area</a:t>
            </a:r>
            <a:br>
              <a:rPr lang="en-US" sz="1600" b="0" dirty="0" smtClean="0">
                <a:solidFill>
                  <a:schemeClr val="tx2"/>
                </a:solidFill>
              </a:rPr>
            </a:br>
            <a:endParaRPr lang="en-US" sz="1600" b="0" dirty="0">
              <a:solidFill>
                <a:schemeClr val="tx1"/>
              </a:solidFill>
            </a:endParaRPr>
          </a:p>
          <a:p>
            <a:pPr marL="285750" indent="-285750">
              <a:buFont typeface="Arial" pitchFamily="34" charset="0"/>
              <a:buChar char="•"/>
            </a:pPr>
            <a:r>
              <a:rPr lang="en-US" sz="1600" b="0" dirty="0">
                <a:solidFill>
                  <a:schemeClr val="tx1"/>
                </a:solidFill>
              </a:rPr>
              <a:t>If anyone’s going to put features over security to get the product out the door, it’s likely to be a mobile </a:t>
            </a:r>
            <a:r>
              <a:rPr lang="en-US" sz="1600" b="0" dirty="0" smtClean="0">
                <a:solidFill>
                  <a:schemeClr val="tx1"/>
                </a:solidFill>
              </a:rPr>
              <a:t>team</a:t>
            </a:r>
            <a:br>
              <a:rPr lang="en-US" sz="1600" b="0" dirty="0" smtClean="0">
                <a:solidFill>
                  <a:schemeClr val="tx1"/>
                </a:solidFill>
              </a:rPr>
            </a:br>
            <a:endParaRPr lang="en-US" sz="1600" b="0" dirty="0">
              <a:solidFill>
                <a:schemeClr val="tx1"/>
              </a:solidFill>
            </a:endParaRPr>
          </a:p>
          <a:p>
            <a:pPr marL="285750" indent="-285750">
              <a:buFont typeface="Arial" pitchFamily="34" charset="0"/>
              <a:buChar char="•"/>
            </a:pPr>
            <a:r>
              <a:rPr lang="en-US" sz="1600" b="0" dirty="0">
                <a:solidFill>
                  <a:schemeClr val="tx1"/>
                </a:solidFill>
              </a:rPr>
              <a:t>Many enterprise mobile developers haven’t had the security training that other types of developers have </a:t>
            </a:r>
            <a:r>
              <a:rPr lang="en-US" sz="1600" b="0" dirty="0" smtClean="0">
                <a:solidFill>
                  <a:schemeClr val="tx1"/>
                </a:solidFill>
              </a:rPr>
              <a:t>had</a:t>
            </a:r>
            <a:br>
              <a:rPr lang="en-US" sz="1600" b="0" dirty="0" smtClean="0">
                <a:solidFill>
                  <a:schemeClr val="tx1"/>
                </a:solidFill>
              </a:rPr>
            </a:br>
            <a:endParaRPr lang="en-US" sz="1600" b="0" dirty="0">
              <a:solidFill>
                <a:schemeClr val="tx1"/>
              </a:solidFill>
            </a:endParaRPr>
          </a:p>
          <a:p>
            <a:pPr marL="285750" indent="-285750">
              <a:buFont typeface="Arial" pitchFamily="34" charset="0"/>
              <a:buChar char="•"/>
            </a:pPr>
            <a:r>
              <a:rPr lang="en-US" sz="1600" b="0" dirty="0">
                <a:solidFill>
                  <a:schemeClr val="tx1"/>
                </a:solidFill>
              </a:rPr>
              <a:t>Many assume that because mobile back ends aren’t visited directly they are more secure (obscurity assumption)</a:t>
            </a:r>
          </a:p>
          <a:p>
            <a:pPr marL="285750" indent="-285750">
              <a:buFont typeface="Arial" pitchFamily="34" charset="0"/>
              <a:buChar char="•"/>
            </a:pPr>
            <a:endParaRPr lang="en-US" sz="1600" b="0" dirty="0">
              <a:solidFill>
                <a:schemeClr val="tx1"/>
              </a:solidFill>
            </a:endParaRPr>
          </a:p>
          <a:p>
            <a:endParaRPr lang="en-US" sz="1600" b="0" dirty="0">
              <a:solidFill>
                <a:schemeClr val="tx1"/>
              </a:solidFill>
            </a:endParaRPr>
          </a:p>
        </p:txBody>
      </p:sp>
      <p:grpSp>
        <p:nvGrpSpPr>
          <p:cNvPr id="14" name="Group 13"/>
          <p:cNvGrpSpPr/>
          <p:nvPr/>
        </p:nvGrpSpPr>
        <p:grpSpPr>
          <a:xfrm>
            <a:off x="6334332" y="1682789"/>
            <a:ext cx="1341438" cy="1953701"/>
            <a:chOff x="4222751" y="2071688"/>
            <a:chExt cx="692150" cy="1008063"/>
          </a:xfrm>
          <a:solidFill>
            <a:schemeClr val="accent1"/>
          </a:solidFill>
        </p:grpSpPr>
        <p:sp>
          <p:nvSpPr>
            <p:cNvPr id="15" name="Oval 259"/>
            <p:cNvSpPr>
              <a:spLocks noChangeArrowheads="1"/>
            </p:cNvSpPr>
            <p:nvPr/>
          </p:nvSpPr>
          <p:spPr bwMode="auto">
            <a:xfrm>
              <a:off x="4527551" y="2846388"/>
              <a:ext cx="82550" cy="82550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6" name="Freeform 260"/>
            <p:cNvSpPr>
              <a:spLocks noEditPoints="1"/>
            </p:cNvSpPr>
            <p:nvPr/>
          </p:nvSpPr>
          <p:spPr bwMode="auto">
            <a:xfrm>
              <a:off x="4222751" y="2071688"/>
              <a:ext cx="692150" cy="1008063"/>
            </a:xfrm>
            <a:custGeom>
              <a:avLst/>
              <a:gdLst>
                <a:gd name="T0" fmla="*/ 144 w 184"/>
                <a:gd name="T1" fmla="*/ 0 h 268"/>
                <a:gd name="T2" fmla="*/ 88 w 184"/>
                <a:gd name="T3" fmla="*/ 0 h 268"/>
                <a:gd name="T4" fmla="*/ 0 w 184"/>
                <a:gd name="T5" fmla="*/ 0 h 268"/>
                <a:gd name="T6" fmla="*/ 0 w 184"/>
                <a:gd name="T7" fmla="*/ 79 h 268"/>
                <a:gd name="T8" fmla="*/ 0 w 184"/>
                <a:gd name="T9" fmla="*/ 228 h 268"/>
                <a:gd name="T10" fmla="*/ 40 w 184"/>
                <a:gd name="T11" fmla="*/ 268 h 268"/>
                <a:gd name="T12" fmla="*/ 101 w 184"/>
                <a:gd name="T13" fmla="*/ 268 h 268"/>
                <a:gd name="T14" fmla="*/ 184 w 184"/>
                <a:gd name="T15" fmla="*/ 268 h 268"/>
                <a:gd name="T16" fmla="*/ 184 w 184"/>
                <a:gd name="T17" fmla="*/ 189 h 268"/>
                <a:gd name="T18" fmla="*/ 184 w 184"/>
                <a:gd name="T19" fmla="*/ 40 h 268"/>
                <a:gd name="T20" fmla="*/ 144 w 184"/>
                <a:gd name="T21" fmla="*/ 0 h 268"/>
                <a:gd name="T22" fmla="*/ 44 w 184"/>
                <a:gd name="T23" fmla="*/ 244 h 268"/>
                <a:gd name="T24" fmla="*/ 24 w 184"/>
                <a:gd name="T25" fmla="*/ 224 h 268"/>
                <a:gd name="T26" fmla="*/ 24 w 184"/>
                <a:gd name="T27" fmla="*/ 24 h 268"/>
                <a:gd name="T28" fmla="*/ 140 w 184"/>
                <a:gd name="T29" fmla="*/ 24 h 268"/>
                <a:gd name="T30" fmla="*/ 160 w 184"/>
                <a:gd name="T31" fmla="*/ 44 h 268"/>
                <a:gd name="T32" fmla="*/ 160 w 184"/>
                <a:gd name="T33" fmla="*/ 244 h 268"/>
                <a:gd name="T34" fmla="*/ 44 w 184"/>
                <a:gd name="T35" fmla="*/ 244 h 2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184" h="268">
                  <a:moveTo>
                    <a:pt x="144" y="0"/>
                  </a:moveTo>
                  <a:cubicBezTo>
                    <a:pt x="88" y="0"/>
                    <a:pt x="88" y="0"/>
                    <a:pt x="88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79"/>
                    <a:pt x="0" y="79"/>
                    <a:pt x="0" y="79"/>
                  </a:cubicBezTo>
                  <a:cubicBezTo>
                    <a:pt x="0" y="228"/>
                    <a:pt x="0" y="228"/>
                    <a:pt x="0" y="228"/>
                  </a:cubicBezTo>
                  <a:cubicBezTo>
                    <a:pt x="0" y="252"/>
                    <a:pt x="16" y="268"/>
                    <a:pt x="40" y="268"/>
                  </a:cubicBezTo>
                  <a:cubicBezTo>
                    <a:pt x="101" y="268"/>
                    <a:pt x="101" y="268"/>
                    <a:pt x="101" y="268"/>
                  </a:cubicBezTo>
                  <a:cubicBezTo>
                    <a:pt x="184" y="268"/>
                    <a:pt x="184" y="268"/>
                    <a:pt x="184" y="268"/>
                  </a:cubicBezTo>
                  <a:cubicBezTo>
                    <a:pt x="184" y="189"/>
                    <a:pt x="184" y="189"/>
                    <a:pt x="184" y="189"/>
                  </a:cubicBezTo>
                  <a:cubicBezTo>
                    <a:pt x="184" y="40"/>
                    <a:pt x="184" y="40"/>
                    <a:pt x="184" y="40"/>
                  </a:cubicBezTo>
                  <a:cubicBezTo>
                    <a:pt x="184" y="16"/>
                    <a:pt x="168" y="0"/>
                    <a:pt x="144" y="0"/>
                  </a:cubicBezTo>
                  <a:moveTo>
                    <a:pt x="44" y="244"/>
                  </a:moveTo>
                  <a:cubicBezTo>
                    <a:pt x="32" y="244"/>
                    <a:pt x="24" y="236"/>
                    <a:pt x="24" y="224"/>
                  </a:cubicBezTo>
                  <a:cubicBezTo>
                    <a:pt x="24" y="217"/>
                    <a:pt x="24" y="24"/>
                    <a:pt x="24" y="24"/>
                  </a:cubicBezTo>
                  <a:cubicBezTo>
                    <a:pt x="140" y="24"/>
                    <a:pt x="140" y="24"/>
                    <a:pt x="140" y="24"/>
                  </a:cubicBezTo>
                  <a:cubicBezTo>
                    <a:pt x="152" y="24"/>
                    <a:pt x="160" y="32"/>
                    <a:pt x="160" y="44"/>
                  </a:cubicBezTo>
                  <a:cubicBezTo>
                    <a:pt x="160" y="244"/>
                    <a:pt x="160" y="244"/>
                    <a:pt x="160" y="244"/>
                  </a:cubicBezTo>
                  <a:lnTo>
                    <a:pt x="44" y="24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9250331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28700" y="1129298"/>
            <a:ext cx="69820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defTabSz="430213">
              <a:spcAft>
                <a:spcPts val="400"/>
              </a:spcAft>
              <a:buSzPct val="100000"/>
            </a:pPr>
            <a:r>
              <a:rPr lang="en-US" sz="1600" b="1" dirty="0" smtClean="0">
                <a:solidFill>
                  <a:srgbClr val="000000"/>
                </a:solidFill>
                <a:latin typeface="HP Simplified" pitchFamily="34" charset="0"/>
                <a:cs typeface="HP Simplified" pitchFamily="34" charset="0"/>
              </a:rPr>
              <a:t>Client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tx1"/>
                </a:solidFill>
              </a:rPr>
              <a:t>Challenges of Mobile Testing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3994150" y="1129298"/>
            <a:ext cx="94089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defTabSz="430213">
              <a:spcAft>
                <a:spcPts val="400"/>
              </a:spcAft>
              <a:buSzPct val="100000"/>
            </a:pPr>
            <a:r>
              <a:rPr lang="en-US" sz="1600" b="1" dirty="0" smtClean="0">
                <a:solidFill>
                  <a:srgbClr val="000000"/>
                </a:solidFill>
                <a:latin typeface="HP Simplified" pitchFamily="34" charset="0"/>
                <a:cs typeface="HP Simplified" pitchFamily="34" charset="0"/>
              </a:rPr>
              <a:t>Network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7042150" y="1129298"/>
            <a:ext cx="76540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defTabSz="430213">
              <a:spcAft>
                <a:spcPts val="400"/>
              </a:spcAft>
              <a:buSzPct val="100000"/>
            </a:pPr>
            <a:r>
              <a:rPr lang="en-US" sz="1600" b="1" dirty="0" smtClean="0">
                <a:solidFill>
                  <a:srgbClr val="000000"/>
                </a:solidFill>
                <a:latin typeface="HP Simplified" pitchFamily="34" charset="0"/>
                <a:cs typeface="HP Simplified" pitchFamily="34" charset="0"/>
              </a:rPr>
              <a:t>Server</a:t>
            </a:r>
          </a:p>
        </p:txBody>
      </p:sp>
      <p:sp>
        <p:nvSpPr>
          <p:cNvPr id="42" name="Left-Right Arrow 41"/>
          <p:cNvSpPr/>
          <p:nvPr/>
        </p:nvSpPr>
        <p:spPr>
          <a:xfrm>
            <a:off x="2536778" y="2424681"/>
            <a:ext cx="1003111" cy="206194"/>
          </a:xfrm>
          <a:prstGeom prst="leftRightArrow">
            <a:avLst/>
          </a:prstGeom>
          <a:solidFill>
            <a:schemeClr val="bg1">
              <a:lumMod val="5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dirty="0" smtClean="0">
              <a:solidFill>
                <a:schemeClr val="tx1"/>
              </a:solidFill>
            </a:endParaRPr>
          </a:p>
        </p:txBody>
      </p:sp>
      <p:sp>
        <p:nvSpPr>
          <p:cNvPr id="53" name="Left-Right Arrow 52"/>
          <p:cNvSpPr/>
          <p:nvPr/>
        </p:nvSpPr>
        <p:spPr>
          <a:xfrm>
            <a:off x="5589330" y="2454248"/>
            <a:ext cx="1003111" cy="206194"/>
          </a:xfrm>
          <a:prstGeom prst="leftRightArrow">
            <a:avLst/>
          </a:prstGeom>
          <a:solidFill>
            <a:schemeClr val="bg1">
              <a:lumMod val="5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dirty="0">
              <a:solidFill>
                <a:schemeClr val="tx1"/>
              </a:solidFill>
            </a:endParaRPr>
          </a:p>
        </p:txBody>
      </p:sp>
      <p:sp>
        <p:nvSpPr>
          <p:cNvPr id="63" name="Freeform 745"/>
          <p:cNvSpPr>
            <a:spLocks noEditPoints="1"/>
          </p:cNvSpPr>
          <p:nvPr/>
        </p:nvSpPr>
        <p:spPr bwMode="auto">
          <a:xfrm>
            <a:off x="1065051" y="3879849"/>
            <a:ext cx="594783" cy="709613"/>
          </a:xfrm>
          <a:custGeom>
            <a:avLst/>
            <a:gdLst>
              <a:gd name="T0" fmla="*/ 259 w 280"/>
              <a:gd name="T1" fmla="*/ 153 h 334"/>
              <a:gd name="T2" fmla="*/ 238 w 280"/>
              <a:gd name="T3" fmla="*/ 153 h 334"/>
              <a:gd name="T4" fmla="*/ 238 w 280"/>
              <a:gd name="T5" fmla="*/ 99 h 334"/>
              <a:gd name="T6" fmla="*/ 138 w 280"/>
              <a:gd name="T7" fmla="*/ 0 h 334"/>
              <a:gd name="T8" fmla="*/ 39 w 280"/>
              <a:gd name="T9" fmla="*/ 99 h 334"/>
              <a:gd name="T10" fmla="*/ 39 w 280"/>
              <a:gd name="T11" fmla="*/ 153 h 334"/>
              <a:gd name="T12" fmla="*/ 0 w 280"/>
              <a:gd name="T13" fmla="*/ 153 h 334"/>
              <a:gd name="T14" fmla="*/ 0 w 280"/>
              <a:gd name="T15" fmla="*/ 312 h 334"/>
              <a:gd name="T16" fmla="*/ 21 w 280"/>
              <a:gd name="T17" fmla="*/ 334 h 334"/>
              <a:gd name="T18" fmla="*/ 280 w 280"/>
              <a:gd name="T19" fmla="*/ 334 h 334"/>
              <a:gd name="T20" fmla="*/ 280 w 280"/>
              <a:gd name="T21" fmla="*/ 174 h 334"/>
              <a:gd name="T22" fmla="*/ 259 w 280"/>
              <a:gd name="T23" fmla="*/ 153 h 334"/>
              <a:gd name="T24" fmla="*/ 81 w 280"/>
              <a:gd name="T25" fmla="*/ 99 h 334"/>
              <a:gd name="T26" fmla="*/ 138 w 280"/>
              <a:gd name="T27" fmla="*/ 43 h 334"/>
              <a:gd name="T28" fmla="*/ 195 w 280"/>
              <a:gd name="T29" fmla="*/ 99 h 334"/>
              <a:gd name="T30" fmla="*/ 195 w 280"/>
              <a:gd name="T31" fmla="*/ 153 h 334"/>
              <a:gd name="T32" fmla="*/ 81 w 280"/>
              <a:gd name="T33" fmla="*/ 153 h 334"/>
              <a:gd name="T34" fmla="*/ 81 w 280"/>
              <a:gd name="T35" fmla="*/ 99 h 33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</a:cxnLst>
            <a:rect l="0" t="0" r="r" b="b"/>
            <a:pathLst>
              <a:path w="280" h="334">
                <a:moveTo>
                  <a:pt x="259" y="153"/>
                </a:moveTo>
                <a:cubicBezTo>
                  <a:pt x="238" y="153"/>
                  <a:pt x="238" y="153"/>
                  <a:pt x="238" y="153"/>
                </a:cubicBezTo>
                <a:cubicBezTo>
                  <a:pt x="238" y="99"/>
                  <a:pt x="238" y="99"/>
                  <a:pt x="238" y="99"/>
                </a:cubicBezTo>
                <a:cubicBezTo>
                  <a:pt x="238" y="45"/>
                  <a:pt x="193" y="0"/>
                  <a:pt x="138" y="0"/>
                </a:cubicBezTo>
                <a:cubicBezTo>
                  <a:pt x="83" y="0"/>
                  <a:pt x="39" y="45"/>
                  <a:pt x="39" y="99"/>
                </a:cubicBezTo>
                <a:cubicBezTo>
                  <a:pt x="39" y="153"/>
                  <a:pt x="39" y="153"/>
                  <a:pt x="39" y="153"/>
                </a:cubicBezTo>
                <a:cubicBezTo>
                  <a:pt x="0" y="153"/>
                  <a:pt x="0" y="153"/>
                  <a:pt x="0" y="153"/>
                </a:cubicBezTo>
                <a:cubicBezTo>
                  <a:pt x="0" y="312"/>
                  <a:pt x="0" y="312"/>
                  <a:pt x="0" y="312"/>
                </a:cubicBezTo>
                <a:cubicBezTo>
                  <a:pt x="0" y="324"/>
                  <a:pt x="9" y="334"/>
                  <a:pt x="21" y="334"/>
                </a:cubicBezTo>
                <a:cubicBezTo>
                  <a:pt x="280" y="334"/>
                  <a:pt x="280" y="334"/>
                  <a:pt x="280" y="334"/>
                </a:cubicBezTo>
                <a:cubicBezTo>
                  <a:pt x="280" y="174"/>
                  <a:pt x="280" y="174"/>
                  <a:pt x="280" y="174"/>
                </a:cubicBezTo>
                <a:cubicBezTo>
                  <a:pt x="280" y="162"/>
                  <a:pt x="271" y="153"/>
                  <a:pt x="259" y="153"/>
                </a:cubicBezTo>
                <a:moveTo>
                  <a:pt x="81" y="99"/>
                </a:moveTo>
                <a:cubicBezTo>
                  <a:pt x="81" y="68"/>
                  <a:pt x="107" y="43"/>
                  <a:pt x="138" y="43"/>
                </a:cubicBezTo>
                <a:cubicBezTo>
                  <a:pt x="169" y="43"/>
                  <a:pt x="195" y="68"/>
                  <a:pt x="195" y="99"/>
                </a:cubicBezTo>
                <a:cubicBezTo>
                  <a:pt x="195" y="153"/>
                  <a:pt x="195" y="153"/>
                  <a:pt x="195" y="153"/>
                </a:cubicBezTo>
                <a:cubicBezTo>
                  <a:pt x="81" y="153"/>
                  <a:pt x="81" y="153"/>
                  <a:pt x="81" y="153"/>
                </a:cubicBezTo>
                <a:lnTo>
                  <a:pt x="81" y="99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64" name="Freeform 745"/>
          <p:cNvSpPr>
            <a:spLocks noEditPoints="1"/>
          </p:cNvSpPr>
          <p:nvPr/>
        </p:nvSpPr>
        <p:spPr bwMode="auto">
          <a:xfrm>
            <a:off x="4163851" y="3879849"/>
            <a:ext cx="594783" cy="709613"/>
          </a:xfrm>
          <a:custGeom>
            <a:avLst/>
            <a:gdLst>
              <a:gd name="T0" fmla="*/ 259 w 280"/>
              <a:gd name="T1" fmla="*/ 153 h 334"/>
              <a:gd name="T2" fmla="*/ 238 w 280"/>
              <a:gd name="T3" fmla="*/ 153 h 334"/>
              <a:gd name="T4" fmla="*/ 238 w 280"/>
              <a:gd name="T5" fmla="*/ 99 h 334"/>
              <a:gd name="T6" fmla="*/ 138 w 280"/>
              <a:gd name="T7" fmla="*/ 0 h 334"/>
              <a:gd name="T8" fmla="*/ 39 w 280"/>
              <a:gd name="T9" fmla="*/ 99 h 334"/>
              <a:gd name="T10" fmla="*/ 39 w 280"/>
              <a:gd name="T11" fmla="*/ 153 h 334"/>
              <a:gd name="T12" fmla="*/ 0 w 280"/>
              <a:gd name="T13" fmla="*/ 153 h 334"/>
              <a:gd name="T14" fmla="*/ 0 w 280"/>
              <a:gd name="T15" fmla="*/ 312 h 334"/>
              <a:gd name="T16" fmla="*/ 21 w 280"/>
              <a:gd name="T17" fmla="*/ 334 h 334"/>
              <a:gd name="T18" fmla="*/ 280 w 280"/>
              <a:gd name="T19" fmla="*/ 334 h 334"/>
              <a:gd name="T20" fmla="*/ 280 w 280"/>
              <a:gd name="T21" fmla="*/ 174 h 334"/>
              <a:gd name="T22" fmla="*/ 259 w 280"/>
              <a:gd name="T23" fmla="*/ 153 h 334"/>
              <a:gd name="T24" fmla="*/ 81 w 280"/>
              <a:gd name="T25" fmla="*/ 99 h 334"/>
              <a:gd name="T26" fmla="*/ 138 w 280"/>
              <a:gd name="T27" fmla="*/ 43 h 334"/>
              <a:gd name="T28" fmla="*/ 195 w 280"/>
              <a:gd name="T29" fmla="*/ 99 h 334"/>
              <a:gd name="T30" fmla="*/ 195 w 280"/>
              <a:gd name="T31" fmla="*/ 153 h 334"/>
              <a:gd name="T32" fmla="*/ 81 w 280"/>
              <a:gd name="T33" fmla="*/ 153 h 334"/>
              <a:gd name="T34" fmla="*/ 81 w 280"/>
              <a:gd name="T35" fmla="*/ 99 h 33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</a:cxnLst>
            <a:rect l="0" t="0" r="r" b="b"/>
            <a:pathLst>
              <a:path w="280" h="334">
                <a:moveTo>
                  <a:pt x="259" y="153"/>
                </a:moveTo>
                <a:cubicBezTo>
                  <a:pt x="238" y="153"/>
                  <a:pt x="238" y="153"/>
                  <a:pt x="238" y="153"/>
                </a:cubicBezTo>
                <a:cubicBezTo>
                  <a:pt x="238" y="99"/>
                  <a:pt x="238" y="99"/>
                  <a:pt x="238" y="99"/>
                </a:cubicBezTo>
                <a:cubicBezTo>
                  <a:pt x="238" y="45"/>
                  <a:pt x="193" y="0"/>
                  <a:pt x="138" y="0"/>
                </a:cubicBezTo>
                <a:cubicBezTo>
                  <a:pt x="83" y="0"/>
                  <a:pt x="39" y="45"/>
                  <a:pt x="39" y="99"/>
                </a:cubicBezTo>
                <a:cubicBezTo>
                  <a:pt x="39" y="153"/>
                  <a:pt x="39" y="153"/>
                  <a:pt x="39" y="153"/>
                </a:cubicBezTo>
                <a:cubicBezTo>
                  <a:pt x="0" y="153"/>
                  <a:pt x="0" y="153"/>
                  <a:pt x="0" y="153"/>
                </a:cubicBezTo>
                <a:cubicBezTo>
                  <a:pt x="0" y="312"/>
                  <a:pt x="0" y="312"/>
                  <a:pt x="0" y="312"/>
                </a:cubicBezTo>
                <a:cubicBezTo>
                  <a:pt x="0" y="324"/>
                  <a:pt x="9" y="334"/>
                  <a:pt x="21" y="334"/>
                </a:cubicBezTo>
                <a:cubicBezTo>
                  <a:pt x="280" y="334"/>
                  <a:pt x="280" y="334"/>
                  <a:pt x="280" y="334"/>
                </a:cubicBezTo>
                <a:cubicBezTo>
                  <a:pt x="280" y="174"/>
                  <a:pt x="280" y="174"/>
                  <a:pt x="280" y="174"/>
                </a:cubicBezTo>
                <a:cubicBezTo>
                  <a:pt x="280" y="162"/>
                  <a:pt x="271" y="153"/>
                  <a:pt x="259" y="153"/>
                </a:cubicBezTo>
                <a:moveTo>
                  <a:pt x="81" y="99"/>
                </a:moveTo>
                <a:cubicBezTo>
                  <a:pt x="81" y="68"/>
                  <a:pt x="107" y="43"/>
                  <a:pt x="138" y="43"/>
                </a:cubicBezTo>
                <a:cubicBezTo>
                  <a:pt x="169" y="43"/>
                  <a:pt x="195" y="68"/>
                  <a:pt x="195" y="99"/>
                </a:cubicBezTo>
                <a:cubicBezTo>
                  <a:pt x="195" y="153"/>
                  <a:pt x="195" y="153"/>
                  <a:pt x="195" y="153"/>
                </a:cubicBezTo>
                <a:cubicBezTo>
                  <a:pt x="81" y="153"/>
                  <a:pt x="81" y="153"/>
                  <a:pt x="81" y="153"/>
                </a:cubicBezTo>
                <a:lnTo>
                  <a:pt x="81" y="99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65" name="Freeform 745"/>
          <p:cNvSpPr>
            <a:spLocks noEditPoints="1"/>
          </p:cNvSpPr>
          <p:nvPr/>
        </p:nvSpPr>
        <p:spPr bwMode="auto">
          <a:xfrm>
            <a:off x="7165894" y="3879849"/>
            <a:ext cx="594783" cy="709613"/>
          </a:xfrm>
          <a:custGeom>
            <a:avLst/>
            <a:gdLst>
              <a:gd name="T0" fmla="*/ 259 w 280"/>
              <a:gd name="T1" fmla="*/ 153 h 334"/>
              <a:gd name="T2" fmla="*/ 238 w 280"/>
              <a:gd name="T3" fmla="*/ 153 h 334"/>
              <a:gd name="T4" fmla="*/ 238 w 280"/>
              <a:gd name="T5" fmla="*/ 99 h 334"/>
              <a:gd name="T6" fmla="*/ 138 w 280"/>
              <a:gd name="T7" fmla="*/ 0 h 334"/>
              <a:gd name="T8" fmla="*/ 39 w 280"/>
              <a:gd name="T9" fmla="*/ 99 h 334"/>
              <a:gd name="T10" fmla="*/ 39 w 280"/>
              <a:gd name="T11" fmla="*/ 153 h 334"/>
              <a:gd name="T12" fmla="*/ 0 w 280"/>
              <a:gd name="T13" fmla="*/ 153 h 334"/>
              <a:gd name="T14" fmla="*/ 0 w 280"/>
              <a:gd name="T15" fmla="*/ 312 h 334"/>
              <a:gd name="T16" fmla="*/ 21 w 280"/>
              <a:gd name="T17" fmla="*/ 334 h 334"/>
              <a:gd name="T18" fmla="*/ 280 w 280"/>
              <a:gd name="T19" fmla="*/ 334 h 334"/>
              <a:gd name="T20" fmla="*/ 280 w 280"/>
              <a:gd name="T21" fmla="*/ 174 h 334"/>
              <a:gd name="T22" fmla="*/ 259 w 280"/>
              <a:gd name="T23" fmla="*/ 153 h 334"/>
              <a:gd name="T24" fmla="*/ 81 w 280"/>
              <a:gd name="T25" fmla="*/ 99 h 334"/>
              <a:gd name="T26" fmla="*/ 138 w 280"/>
              <a:gd name="T27" fmla="*/ 43 h 334"/>
              <a:gd name="T28" fmla="*/ 195 w 280"/>
              <a:gd name="T29" fmla="*/ 99 h 334"/>
              <a:gd name="T30" fmla="*/ 195 w 280"/>
              <a:gd name="T31" fmla="*/ 153 h 334"/>
              <a:gd name="T32" fmla="*/ 81 w 280"/>
              <a:gd name="T33" fmla="*/ 153 h 334"/>
              <a:gd name="T34" fmla="*/ 81 w 280"/>
              <a:gd name="T35" fmla="*/ 99 h 33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</a:cxnLst>
            <a:rect l="0" t="0" r="r" b="b"/>
            <a:pathLst>
              <a:path w="280" h="334">
                <a:moveTo>
                  <a:pt x="259" y="153"/>
                </a:moveTo>
                <a:cubicBezTo>
                  <a:pt x="238" y="153"/>
                  <a:pt x="238" y="153"/>
                  <a:pt x="238" y="153"/>
                </a:cubicBezTo>
                <a:cubicBezTo>
                  <a:pt x="238" y="99"/>
                  <a:pt x="238" y="99"/>
                  <a:pt x="238" y="99"/>
                </a:cubicBezTo>
                <a:cubicBezTo>
                  <a:pt x="238" y="45"/>
                  <a:pt x="193" y="0"/>
                  <a:pt x="138" y="0"/>
                </a:cubicBezTo>
                <a:cubicBezTo>
                  <a:pt x="83" y="0"/>
                  <a:pt x="39" y="45"/>
                  <a:pt x="39" y="99"/>
                </a:cubicBezTo>
                <a:cubicBezTo>
                  <a:pt x="39" y="153"/>
                  <a:pt x="39" y="153"/>
                  <a:pt x="39" y="153"/>
                </a:cubicBezTo>
                <a:cubicBezTo>
                  <a:pt x="0" y="153"/>
                  <a:pt x="0" y="153"/>
                  <a:pt x="0" y="153"/>
                </a:cubicBezTo>
                <a:cubicBezTo>
                  <a:pt x="0" y="312"/>
                  <a:pt x="0" y="312"/>
                  <a:pt x="0" y="312"/>
                </a:cubicBezTo>
                <a:cubicBezTo>
                  <a:pt x="0" y="324"/>
                  <a:pt x="9" y="334"/>
                  <a:pt x="21" y="334"/>
                </a:cubicBezTo>
                <a:cubicBezTo>
                  <a:pt x="280" y="334"/>
                  <a:pt x="280" y="334"/>
                  <a:pt x="280" y="334"/>
                </a:cubicBezTo>
                <a:cubicBezTo>
                  <a:pt x="280" y="174"/>
                  <a:pt x="280" y="174"/>
                  <a:pt x="280" y="174"/>
                </a:cubicBezTo>
                <a:cubicBezTo>
                  <a:pt x="280" y="162"/>
                  <a:pt x="271" y="153"/>
                  <a:pt x="259" y="153"/>
                </a:cubicBezTo>
                <a:moveTo>
                  <a:pt x="81" y="99"/>
                </a:moveTo>
                <a:cubicBezTo>
                  <a:pt x="81" y="68"/>
                  <a:pt x="107" y="43"/>
                  <a:pt x="138" y="43"/>
                </a:cubicBezTo>
                <a:cubicBezTo>
                  <a:pt x="169" y="43"/>
                  <a:pt x="195" y="68"/>
                  <a:pt x="195" y="99"/>
                </a:cubicBezTo>
                <a:cubicBezTo>
                  <a:pt x="195" y="153"/>
                  <a:pt x="195" y="153"/>
                  <a:pt x="195" y="153"/>
                </a:cubicBezTo>
                <a:cubicBezTo>
                  <a:pt x="81" y="153"/>
                  <a:pt x="81" y="153"/>
                  <a:pt x="81" y="153"/>
                </a:cubicBezTo>
                <a:lnTo>
                  <a:pt x="81" y="99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grpSp>
        <p:nvGrpSpPr>
          <p:cNvPr id="9" name="Group 8"/>
          <p:cNvGrpSpPr/>
          <p:nvPr/>
        </p:nvGrpSpPr>
        <p:grpSpPr>
          <a:xfrm>
            <a:off x="749300" y="1702931"/>
            <a:ext cx="1231900" cy="773570"/>
            <a:chOff x="685800" y="1950581"/>
            <a:chExt cx="1231900" cy="773570"/>
          </a:xfrm>
        </p:grpSpPr>
        <p:grpSp>
          <p:nvGrpSpPr>
            <p:cNvPr id="66" name="Group 65"/>
            <p:cNvGrpSpPr/>
            <p:nvPr/>
          </p:nvGrpSpPr>
          <p:grpSpPr>
            <a:xfrm>
              <a:off x="685800" y="2052638"/>
              <a:ext cx="869950" cy="656141"/>
              <a:chOff x="3781426" y="1973263"/>
              <a:chExt cx="1595438" cy="1203325"/>
            </a:xfrm>
            <a:solidFill>
              <a:schemeClr val="accent1"/>
            </a:solidFill>
          </p:grpSpPr>
          <p:sp>
            <p:nvSpPr>
              <p:cNvPr id="67" name="Freeform 227"/>
              <p:cNvSpPr>
                <a:spLocks noEditPoints="1"/>
              </p:cNvSpPr>
              <p:nvPr/>
            </p:nvSpPr>
            <p:spPr bwMode="auto">
              <a:xfrm>
                <a:off x="3781426" y="1973263"/>
                <a:ext cx="1158875" cy="815975"/>
              </a:xfrm>
              <a:custGeom>
                <a:avLst/>
                <a:gdLst>
                  <a:gd name="T0" fmla="*/ 284 w 308"/>
                  <a:gd name="T1" fmla="*/ 193 h 217"/>
                  <a:gd name="T2" fmla="*/ 24 w 308"/>
                  <a:gd name="T3" fmla="*/ 193 h 217"/>
                  <a:gd name="T4" fmla="*/ 24 w 308"/>
                  <a:gd name="T5" fmla="*/ 24 h 217"/>
                  <a:gd name="T6" fmla="*/ 284 w 308"/>
                  <a:gd name="T7" fmla="*/ 24 h 217"/>
                  <a:gd name="T8" fmla="*/ 284 w 308"/>
                  <a:gd name="T9" fmla="*/ 193 h 217"/>
                  <a:gd name="T10" fmla="*/ 284 w 308"/>
                  <a:gd name="T11" fmla="*/ 0 h 217"/>
                  <a:gd name="T12" fmla="*/ 0 w 308"/>
                  <a:gd name="T13" fmla="*/ 0 h 217"/>
                  <a:gd name="T14" fmla="*/ 0 w 308"/>
                  <a:gd name="T15" fmla="*/ 193 h 217"/>
                  <a:gd name="T16" fmla="*/ 24 w 308"/>
                  <a:gd name="T17" fmla="*/ 217 h 217"/>
                  <a:gd name="T18" fmla="*/ 308 w 308"/>
                  <a:gd name="T19" fmla="*/ 217 h 217"/>
                  <a:gd name="T20" fmla="*/ 308 w 308"/>
                  <a:gd name="T21" fmla="*/ 24 h 217"/>
                  <a:gd name="T22" fmla="*/ 284 w 308"/>
                  <a:gd name="T23" fmla="*/ 0 h 2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308" h="217">
                    <a:moveTo>
                      <a:pt x="284" y="193"/>
                    </a:moveTo>
                    <a:cubicBezTo>
                      <a:pt x="24" y="193"/>
                      <a:pt x="24" y="193"/>
                      <a:pt x="24" y="193"/>
                    </a:cubicBezTo>
                    <a:cubicBezTo>
                      <a:pt x="24" y="24"/>
                      <a:pt x="24" y="24"/>
                      <a:pt x="24" y="24"/>
                    </a:cubicBezTo>
                    <a:cubicBezTo>
                      <a:pt x="284" y="24"/>
                      <a:pt x="284" y="24"/>
                      <a:pt x="284" y="24"/>
                    </a:cubicBezTo>
                    <a:lnTo>
                      <a:pt x="284" y="193"/>
                    </a:lnTo>
                    <a:close/>
                    <a:moveTo>
                      <a:pt x="284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193"/>
                      <a:pt x="0" y="193"/>
                      <a:pt x="0" y="193"/>
                    </a:cubicBezTo>
                    <a:cubicBezTo>
                      <a:pt x="0" y="206"/>
                      <a:pt x="11" y="217"/>
                      <a:pt x="24" y="217"/>
                    </a:cubicBezTo>
                    <a:cubicBezTo>
                      <a:pt x="308" y="217"/>
                      <a:pt x="308" y="217"/>
                      <a:pt x="308" y="217"/>
                    </a:cubicBezTo>
                    <a:cubicBezTo>
                      <a:pt x="308" y="24"/>
                      <a:pt x="308" y="24"/>
                      <a:pt x="308" y="24"/>
                    </a:cubicBezTo>
                    <a:cubicBezTo>
                      <a:pt x="308" y="11"/>
                      <a:pt x="297" y="0"/>
                      <a:pt x="284" y="0"/>
                    </a:cubicBez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68" name="Freeform 228"/>
              <p:cNvSpPr>
                <a:spLocks/>
              </p:cNvSpPr>
              <p:nvPr/>
            </p:nvSpPr>
            <p:spPr bwMode="auto">
              <a:xfrm>
                <a:off x="3841751" y="2865438"/>
                <a:ext cx="1535113" cy="311150"/>
              </a:xfrm>
              <a:custGeom>
                <a:avLst/>
                <a:gdLst>
                  <a:gd name="T0" fmla="*/ 133 w 408"/>
                  <a:gd name="T1" fmla="*/ 83 h 83"/>
                  <a:gd name="T2" fmla="*/ 408 w 408"/>
                  <a:gd name="T3" fmla="*/ 83 h 83"/>
                  <a:gd name="T4" fmla="*/ 331 w 408"/>
                  <a:gd name="T5" fmla="*/ 22 h 83"/>
                  <a:gd name="T6" fmla="*/ 275 w 408"/>
                  <a:gd name="T7" fmla="*/ 0 h 83"/>
                  <a:gd name="T8" fmla="*/ 0 w 408"/>
                  <a:gd name="T9" fmla="*/ 0 h 83"/>
                  <a:gd name="T10" fmla="*/ 77 w 408"/>
                  <a:gd name="T11" fmla="*/ 62 h 83"/>
                  <a:gd name="T12" fmla="*/ 133 w 408"/>
                  <a:gd name="T13" fmla="*/ 83 h 8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408" h="83">
                    <a:moveTo>
                      <a:pt x="133" y="83"/>
                    </a:moveTo>
                    <a:cubicBezTo>
                      <a:pt x="408" y="83"/>
                      <a:pt x="408" y="83"/>
                      <a:pt x="408" y="83"/>
                    </a:cubicBezTo>
                    <a:cubicBezTo>
                      <a:pt x="331" y="22"/>
                      <a:pt x="331" y="22"/>
                      <a:pt x="331" y="22"/>
                    </a:cubicBezTo>
                    <a:cubicBezTo>
                      <a:pt x="312" y="7"/>
                      <a:pt x="291" y="0"/>
                      <a:pt x="275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77" y="62"/>
                      <a:pt x="77" y="62"/>
                      <a:pt x="77" y="62"/>
                    </a:cubicBezTo>
                    <a:cubicBezTo>
                      <a:pt x="91" y="74"/>
                      <a:pt x="117" y="83"/>
                      <a:pt x="133" y="83"/>
                    </a:cubicBez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</p:grpSp>
        <p:grpSp>
          <p:nvGrpSpPr>
            <p:cNvPr id="69" name="Group 68"/>
            <p:cNvGrpSpPr/>
            <p:nvPr/>
          </p:nvGrpSpPr>
          <p:grpSpPr>
            <a:xfrm>
              <a:off x="1619250" y="2289481"/>
              <a:ext cx="298450" cy="434670"/>
              <a:chOff x="4222751" y="2071688"/>
              <a:chExt cx="692150" cy="1008063"/>
            </a:xfrm>
            <a:solidFill>
              <a:schemeClr val="accent1"/>
            </a:solidFill>
          </p:grpSpPr>
          <p:sp>
            <p:nvSpPr>
              <p:cNvPr id="70" name="Oval 259"/>
              <p:cNvSpPr>
                <a:spLocks noChangeArrowheads="1"/>
              </p:cNvSpPr>
              <p:nvPr/>
            </p:nvSpPr>
            <p:spPr bwMode="auto">
              <a:xfrm>
                <a:off x="4527551" y="2846388"/>
                <a:ext cx="82550" cy="82550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71" name="Freeform 260"/>
              <p:cNvSpPr>
                <a:spLocks noEditPoints="1"/>
              </p:cNvSpPr>
              <p:nvPr/>
            </p:nvSpPr>
            <p:spPr bwMode="auto">
              <a:xfrm>
                <a:off x="4222751" y="2071688"/>
                <a:ext cx="692150" cy="1008063"/>
              </a:xfrm>
              <a:custGeom>
                <a:avLst/>
                <a:gdLst>
                  <a:gd name="T0" fmla="*/ 144 w 184"/>
                  <a:gd name="T1" fmla="*/ 0 h 268"/>
                  <a:gd name="T2" fmla="*/ 88 w 184"/>
                  <a:gd name="T3" fmla="*/ 0 h 268"/>
                  <a:gd name="T4" fmla="*/ 0 w 184"/>
                  <a:gd name="T5" fmla="*/ 0 h 268"/>
                  <a:gd name="T6" fmla="*/ 0 w 184"/>
                  <a:gd name="T7" fmla="*/ 79 h 268"/>
                  <a:gd name="T8" fmla="*/ 0 w 184"/>
                  <a:gd name="T9" fmla="*/ 228 h 268"/>
                  <a:gd name="T10" fmla="*/ 40 w 184"/>
                  <a:gd name="T11" fmla="*/ 268 h 268"/>
                  <a:gd name="T12" fmla="*/ 101 w 184"/>
                  <a:gd name="T13" fmla="*/ 268 h 268"/>
                  <a:gd name="T14" fmla="*/ 184 w 184"/>
                  <a:gd name="T15" fmla="*/ 268 h 268"/>
                  <a:gd name="T16" fmla="*/ 184 w 184"/>
                  <a:gd name="T17" fmla="*/ 189 h 268"/>
                  <a:gd name="T18" fmla="*/ 184 w 184"/>
                  <a:gd name="T19" fmla="*/ 40 h 268"/>
                  <a:gd name="T20" fmla="*/ 144 w 184"/>
                  <a:gd name="T21" fmla="*/ 0 h 268"/>
                  <a:gd name="T22" fmla="*/ 44 w 184"/>
                  <a:gd name="T23" fmla="*/ 244 h 268"/>
                  <a:gd name="T24" fmla="*/ 24 w 184"/>
                  <a:gd name="T25" fmla="*/ 224 h 268"/>
                  <a:gd name="T26" fmla="*/ 24 w 184"/>
                  <a:gd name="T27" fmla="*/ 24 h 268"/>
                  <a:gd name="T28" fmla="*/ 140 w 184"/>
                  <a:gd name="T29" fmla="*/ 24 h 268"/>
                  <a:gd name="T30" fmla="*/ 160 w 184"/>
                  <a:gd name="T31" fmla="*/ 44 h 268"/>
                  <a:gd name="T32" fmla="*/ 160 w 184"/>
                  <a:gd name="T33" fmla="*/ 244 h 268"/>
                  <a:gd name="T34" fmla="*/ 44 w 184"/>
                  <a:gd name="T35" fmla="*/ 244 h 26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</a:cxnLst>
                <a:rect l="0" t="0" r="r" b="b"/>
                <a:pathLst>
                  <a:path w="184" h="268">
                    <a:moveTo>
                      <a:pt x="144" y="0"/>
                    </a:moveTo>
                    <a:cubicBezTo>
                      <a:pt x="88" y="0"/>
                      <a:pt x="88" y="0"/>
                      <a:pt x="88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79"/>
                      <a:pt x="0" y="79"/>
                      <a:pt x="0" y="79"/>
                    </a:cubicBezTo>
                    <a:cubicBezTo>
                      <a:pt x="0" y="228"/>
                      <a:pt x="0" y="228"/>
                      <a:pt x="0" y="228"/>
                    </a:cubicBezTo>
                    <a:cubicBezTo>
                      <a:pt x="0" y="252"/>
                      <a:pt x="16" y="268"/>
                      <a:pt x="40" y="268"/>
                    </a:cubicBezTo>
                    <a:cubicBezTo>
                      <a:pt x="101" y="268"/>
                      <a:pt x="101" y="268"/>
                      <a:pt x="101" y="268"/>
                    </a:cubicBezTo>
                    <a:cubicBezTo>
                      <a:pt x="184" y="268"/>
                      <a:pt x="184" y="268"/>
                      <a:pt x="184" y="268"/>
                    </a:cubicBezTo>
                    <a:cubicBezTo>
                      <a:pt x="184" y="189"/>
                      <a:pt x="184" y="189"/>
                      <a:pt x="184" y="189"/>
                    </a:cubicBezTo>
                    <a:cubicBezTo>
                      <a:pt x="184" y="40"/>
                      <a:pt x="184" y="40"/>
                      <a:pt x="184" y="40"/>
                    </a:cubicBezTo>
                    <a:cubicBezTo>
                      <a:pt x="184" y="16"/>
                      <a:pt x="168" y="0"/>
                      <a:pt x="144" y="0"/>
                    </a:cubicBezTo>
                    <a:moveTo>
                      <a:pt x="44" y="244"/>
                    </a:moveTo>
                    <a:cubicBezTo>
                      <a:pt x="32" y="244"/>
                      <a:pt x="24" y="236"/>
                      <a:pt x="24" y="224"/>
                    </a:cubicBezTo>
                    <a:cubicBezTo>
                      <a:pt x="24" y="217"/>
                      <a:pt x="24" y="24"/>
                      <a:pt x="24" y="24"/>
                    </a:cubicBezTo>
                    <a:cubicBezTo>
                      <a:pt x="140" y="24"/>
                      <a:pt x="140" y="24"/>
                      <a:pt x="140" y="24"/>
                    </a:cubicBezTo>
                    <a:cubicBezTo>
                      <a:pt x="152" y="24"/>
                      <a:pt x="160" y="32"/>
                      <a:pt x="160" y="44"/>
                    </a:cubicBezTo>
                    <a:cubicBezTo>
                      <a:pt x="160" y="244"/>
                      <a:pt x="160" y="244"/>
                      <a:pt x="160" y="244"/>
                    </a:cubicBezTo>
                    <a:lnTo>
                      <a:pt x="44" y="244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</p:grpSp>
        <p:sp>
          <p:nvSpPr>
            <p:cNvPr id="72" name="Freeform 283"/>
            <p:cNvSpPr>
              <a:spLocks noEditPoints="1"/>
            </p:cNvSpPr>
            <p:nvPr/>
          </p:nvSpPr>
          <p:spPr bwMode="auto">
            <a:xfrm>
              <a:off x="1358901" y="1950581"/>
              <a:ext cx="420688" cy="312775"/>
            </a:xfrm>
            <a:custGeom>
              <a:avLst/>
              <a:gdLst>
                <a:gd name="T0" fmla="*/ 284 w 308"/>
                <a:gd name="T1" fmla="*/ 205 h 229"/>
                <a:gd name="T2" fmla="*/ 24 w 308"/>
                <a:gd name="T3" fmla="*/ 205 h 229"/>
                <a:gd name="T4" fmla="*/ 24 w 308"/>
                <a:gd name="T5" fmla="*/ 24 h 229"/>
                <a:gd name="T6" fmla="*/ 284 w 308"/>
                <a:gd name="T7" fmla="*/ 24 h 229"/>
                <a:gd name="T8" fmla="*/ 284 w 308"/>
                <a:gd name="T9" fmla="*/ 205 h 229"/>
                <a:gd name="T10" fmla="*/ 284 w 308"/>
                <a:gd name="T11" fmla="*/ 0 h 229"/>
                <a:gd name="T12" fmla="*/ 0 w 308"/>
                <a:gd name="T13" fmla="*/ 0 h 229"/>
                <a:gd name="T14" fmla="*/ 0 w 308"/>
                <a:gd name="T15" fmla="*/ 205 h 229"/>
                <a:gd name="T16" fmla="*/ 24 w 308"/>
                <a:gd name="T17" fmla="*/ 229 h 229"/>
                <a:gd name="T18" fmla="*/ 308 w 308"/>
                <a:gd name="T19" fmla="*/ 229 h 229"/>
                <a:gd name="T20" fmla="*/ 308 w 308"/>
                <a:gd name="T21" fmla="*/ 24 h 229"/>
                <a:gd name="T22" fmla="*/ 284 w 308"/>
                <a:gd name="T23" fmla="*/ 0 h 2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308" h="229">
                  <a:moveTo>
                    <a:pt x="284" y="205"/>
                  </a:moveTo>
                  <a:cubicBezTo>
                    <a:pt x="24" y="205"/>
                    <a:pt x="24" y="205"/>
                    <a:pt x="24" y="205"/>
                  </a:cubicBezTo>
                  <a:cubicBezTo>
                    <a:pt x="24" y="24"/>
                    <a:pt x="24" y="24"/>
                    <a:pt x="24" y="24"/>
                  </a:cubicBezTo>
                  <a:cubicBezTo>
                    <a:pt x="284" y="24"/>
                    <a:pt x="284" y="24"/>
                    <a:pt x="284" y="24"/>
                  </a:cubicBezTo>
                  <a:lnTo>
                    <a:pt x="284" y="205"/>
                  </a:lnTo>
                  <a:close/>
                  <a:moveTo>
                    <a:pt x="284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205"/>
                    <a:pt x="0" y="205"/>
                    <a:pt x="0" y="205"/>
                  </a:cubicBezTo>
                  <a:cubicBezTo>
                    <a:pt x="0" y="218"/>
                    <a:pt x="11" y="229"/>
                    <a:pt x="24" y="229"/>
                  </a:cubicBezTo>
                  <a:cubicBezTo>
                    <a:pt x="308" y="229"/>
                    <a:pt x="308" y="229"/>
                    <a:pt x="308" y="229"/>
                  </a:cubicBezTo>
                  <a:cubicBezTo>
                    <a:pt x="308" y="24"/>
                    <a:pt x="308" y="24"/>
                    <a:pt x="308" y="24"/>
                  </a:cubicBezTo>
                  <a:cubicBezTo>
                    <a:pt x="308" y="11"/>
                    <a:pt x="297" y="0"/>
                    <a:pt x="284" y="0"/>
                  </a:cubicBezTo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85" name="Freeform 84"/>
          <p:cNvSpPr>
            <a:spLocks noEditPoints="1"/>
          </p:cNvSpPr>
          <p:nvPr/>
        </p:nvSpPr>
        <p:spPr bwMode="auto">
          <a:xfrm>
            <a:off x="7683501" y="1593374"/>
            <a:ext cx="698500" cy="382380"/>
          </a:xfrm>
          <a:custGeom>
            <a:avLst/>
            <a:gdLst>
              <a:gd name="T0" fmla="*/ 77 w 427"/>
              <a:gd name="T1" fmla="*/ 234 h 234"/>
              <a:gd name="T2" fmla="*/ 47 w 427"/>
              <a:gd name="T3" fmla="*/ 227 h 234"/>
              <a:gd name="T4" fmla="*/ 0 w 427"/>
              <a:gd name="T5" fmla="*/ 156 h 234"/>
              <a:gd name="T6" fmla="*/ 7 w 427"/>
              <a:gd name="T7" fmla="*/ 125 h 234"/>
              <a:gd name="T8" fmla="*/ 78 w 427"/>
              <a:gd name="T9" fmla="*/ 79 h 234"/>
              <a:gd name="T10" fmla="*/ 79 w 427"/>
              <a:gd name="T11" fmla="*/ 79 h 234"/>
              <a:gd name="T12" fmla="*/ 84 w 427"/>
              <a:gd name="T13" fmla="*/ 62 h 234"/>
              <a:gd name="T14" fmla="*/ 179 w 427"/>
              <a:gd name="T15" fmla="*/ 0 h 234"/>
              <a:gd name="T16" fmla="*/ 220 w 427"/>
              <a:gd name="T17" fmla="*/ 8 h 234"/>
              <a:gd name="T18" fmla="*/ 277 w 427"/>
              <a:gd name="T19" fmla="*/ 70 h 234"/>
              <a:gd name="T20" fmla="*/ 301 w 427"/>
              <a:gd name="T21" fmla="*/ 67 h 234"/>
              <a:gd name="T22" fmla="*/ 334 w 427"/>
              <a:gd name="T23" fmla="*/ 74 h 234"/>
              <a:gd name="T24" fmla="*/ 382 w 427"/>
              <a:gd name="T25" fmla="*/ 133 h 234"/>
              <a:gd name="T26" fmla="*/ 397 w 427"/>
              <a:gd name="T27" fmla="*/ 137 h 234"/>
              <a:gd name="T28" fmla="*/ 397 w 427"/>
              <a:gd name="T29" fmla="*/ 137 h 234"/>
              <a:gd name="T30" fmla="*/ 427 w 427"/>
              <a:gd name="T31" fmla="*/ 183 h 234"/>
              <a:gd name="T32" fmla="*/ 423 w 427"/>
              <a:gd name="T33" fmla="*/ 203 h 234"/>
              <a:gd name="T34" fmla="*/ 382 w 427"/>
              <a:gd name="T35" fmla="*/ 234 h 234"/>
              <a:gd name="T36" fmla="*/ 77 w 427"/>
              <a:gd name="T37" fmla="*/ 234 h 234"/>
              <a:gd name="T38" fmla="*/ 404 w 427"/>
              <a:gd name="T39" fmla="*/ 195 h 234"/>
              <a:gd name="T40" fmla="*/ 407 w 427"/>
              <a:gd name="T41" fmla="*/ 183 h 234"/>
              <a:gd name="T42" fmla="*/ 389 w 427"/>
              <a:gd name="T43" fmla="*/ 155 h 234"/>
              <a:gd name="T44" fmla="*/ 389 w 427"/>
              <a:gd name="T45" fmla="*/ 155 h 234"/>
              <a:gd name="T46" fmla="*/ 377 w 427"/>
              <a:gd name="T47" fmla="*/ 153 h 234"/>
              <a:gd name="T48" fmla="*/ 375 w 427"/>
              <a:gd name="T49" fmla="*/ 153 h 234"/>
              <a:gd name="T50" fmla="*/ 364 w 427"/>
              <a:gd name="T51" fmla="*/ 144 h 234"/>
              <a:gd name="T52" fmla="*/ 326 w 427"/>
              <a:gd name="T53" fmla="*/ 92 h 234"/>
              <a:gd name="T54" fmla="*/ 301 w 427"/>
              <a:gd name="T55" fmla="*/ 87 h 234"/>
              <a:gd name="T56" fmla="*/ 274 w 427"/>
              <a:gd name="T57" fmla="*/ 93 h 234"/>
              <a:gd name="T58" fmla="*/ 261 w 427"/>
              <a:gd name="T59" fmla="*/ 86 h 234"/>
              <a:gd name="T60" fmla="*/ 212 w 427"/>
              <a:gd name="T61" fmla="*/ 27 h 234"/>
              <a:gd name="T62" fmla="*/ 179 w 427"/>
              <a:gd name="T63" fmla="*/ 20 h 234"/>
              <a:gd name="T64" fmla="*/ 103 w 427"/>
              <a:gd name="T65" fmla="*/ 70 h 234"/>
              <a:gd name="T66" fmla="*/ 97 w 427"/>
              <a:gd name="T67" fmla="*/ 91 h 234"/>
              <a:gd name="T68" fmla="*/ 86 w 427"/>
              <a:gd name="T69" fmla="*/ 99 h 234"/>
              <a:gd name="T70" fmla="*/ 78 w 427"/>
              <a:gd name="T71" fmla="*/ 99 h 234"/>
              <a:gd name="T72" fmla="*/ 25 w 427"/>
              <a:gd name="T73" fmla="*/ 133 h 234"/>
              <a:gd name="T74" fmla="*/ 20 w 427"/>
              <a:gd name="T75" fmla="*/ 156 h 234"/>
              <a:gd name="T76" fmla="*/ 55 w 427"/>
              <a:gd name="T77" fmla="*/ 209 h 234"/>
              <a:gd name="T78" fmla="*/ 78 w 427"/>
              <a:gd name="T79" fmla="*/ 214 h 234"/>
              <a:gd name="T80" fmla="*/ 78 w 427"/>
              <a:gd name="T81" fmla="*/ 214 h 234"/>
              <a:gd name="T82" fmla="*/ 380 w 427"/>
              <a:gd name="T83" fmla="*/ 214 h 23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</a:cxnLst>
            <a:rect l="0" t="0" r="r" b="b"/>
            <a:pathLst>
              <a:path w="427" h="234">
                <a:moveTo>
                  <a:pt x="77" y="234"/>
                </a:moveTo>
                <a:cubicBezTo>
                  <a:pt x="77" y="234"/>
                  <a:pt x="77" y="234"/>
                  <a:pt x="77" y="234"/>
                </a:cubicBezTo>
                <a:cubicBezTo>
                  <a:pt x="67" y="234"/>
                  <a:pt x="57" y="231"/>
                  <a:pt x="47" y="227"/>
                </a:cubicBezTo>
                <a:cubicBezTo>
                  <a:pt x="47" y="227"/>
                  <a:pt x="47" y="227"/>
                  <a:pt x="47" y="227"/>
                </a:cubicBezTo>
                <a:cubicBezTo>
                  <a:pt x="18" y="215"/>
                  <a:pt x="0" y="186"/>
                  <a:pt x="0" y="156"/>
                </a:cubicBezTo>
                <a:cubicBezTo>
                  <a:pt x="0" y="156"/>
                  <a:pt x="0" y="156"/>
                  <a:pt x="0" y="156"/>
                </a:cubicBezTo>
                <a:cubicBezTo>
                  <a:pt x="0" y="146"/>
                  <a:pt x="2" y="135"/>
                  <a:pt x="7" y="125"/>
                </a:cubicBezTo>
                <a:cubicBezTo>
                  <a:pt x="7" y="125"/>
                  <a:pt x="7" y="125"/>
                  <a:pt x="7" y="125"/>
                </a:cubicBezTo>
                <a:cubicBezTo>
                  <a:pt x="19" y="96"/>
                  <a:pt x="48" y="79"/>
                  <a:pt x="78" y="79"/>
                </a:cubicBezTo>
                <a:cubicBezTo>
                  <a:pt x="78" y="79"/>
                  <a:pt x="78" y="79"/>
                  <a:pt x="78" y="79"/>
                </a:cubicBezTo>
                <a:cubicBezTo>
                  <a:pt x="78" y="79"/>
                  <a:pt x="78" y="79"/>
                  <a:pt x="79" y="79"/>
                </a:cubicBezTo>
                <a:cubicBezTo>
                  <a:pt x="79" y="79"/>
                  <a:pt x="79" y="79"/>
                  <a:pt x="79" y="79"/>
                </a:cubicBezTo>
                <a:cubicBezTo>
                  <a:pt x="80" y="73"/>
                  <a:pt x="82" y="67"/>
                  <a:pt x="84" y="62"/>
                </a:cubicBezTo>
                <a:cubicBezTo>
                  <a:pt x="84" y="62"/>
                  <a:pt x="84" y="62"/>
                  <a:pt x="84" y="62"/>
                </a:cubicBezTo>
                <a:cubicBezTo>
                  <a:pt x="101" y="23"/>
                  <a:pt x="139" y="0"/>
                  <a:pt x="179" y="0"/>
                </a:cubicBezTo>
                <a:cubicBezTo>
                  <a:pt x="179" y="0"/>
                  <a:pt x="179" y="0"/>
                  <a:pt x="179" y="0"/>
                </a:cubicBezTo>
                <a:cubicBezTo>
                  <a:pt x="193" y="0"/>
                  <a:pt x="207" y="2"/>
                  <a:pt x="220" y="8"/>
                </a:cubicBezTo>
                <a:cubicBezTo>
                  <a:pt x="220" y="8"/>
                  <a:pt x="220" y="8"/>
                  <a:pt x="220" y="8"/>
                </a:cubicBezTo>
                <a:cubicBezTo>
                  <a:pt x="248" y="20"/>
                  <a:pt x="268" y="43"/>
                  <a:pt x="277" y="70"/>
                </a:cubicBezTo>
                <a:cubicBezTo>
                  <a:pt x="277" y="70"/>
                  <a:pt x="277" y="70"/>
                  <a:pt x="277" y="70"/>
                </a:cubicBezTo>
                <a:cubicBezTo>
                  <a:pt x="285" y="68"/>
                  <a:pt x="293" y="67"/>
                  <a:pt x="301" y="67"/>
                </a:cubicBezTo>
                <a:cubicBezTo>
                  <a:pt x="301" y="67"/>
                  <a:pt x="301" y="67"/>
                  <a:pt x="301" y="67"/>
                </a:cubicBezTo>
                <a:cubicBezTo>
                  <a:pt x="312" y="67"/>
                  <a:pt x="323" y="69"/>
                  <a:pt x="334" y="74"/>
                </a:cubicBezTo>
                <a:cubicBezTo>
                  <a:pt x="334" y="74"/>
                  <a:pt x="334" y="74"/>
                  <a:pt x="334" y="74"/>
                </a:cubicBezTo>
                <a:cubicBezTo>
                  <a:pt x="360" y="85"/>
                  <a:pt x="377" y="108"/>
                  <a:pt x="382" y="133"/>
                </a:cubicBezTo>
                <a:cubicBezTo>
                  <a:pt x="382" y="133"/>
                  <a:pt x="382" y="133"/>
                  <a:pt x="382" y="133"/>
                </a:cubicBezTo>
                <a:cubicBezTo>
                  <a:pt x="387" y="134"/>
                  <a:pt x="392" y="135"/>
                  <a:pt x="397" y="137"/>
                </a:cubicBezTo>
                <a:cubicBezTo>
                  <a:pt x="397" y="137"/>
                  <a:pt x="397" y="137"/>
                  <a:pt x="397" y="137"/>
                </a:cubicBezTo>
                <a:cubicBezTo>
                  <a:pt x="397" y="137"/>
                  <a:pt x="397" y="137"/>
                  <a:pt x="397" y="137"/>
                </a:cubicBezTo>
                <a:cubicBezTo>
                  <a:pt x="397" y="137"/>
                  <a:pt x="397" y="137"/>
                  <a:pt x="397" y="137"/>
                </a:cubicBezTo>
                <a:cubicBezTo>
                  <a:pt x="416" y="145"/>
                  <a:pt x="427" y="164"/>
                  <a:pt x="427" y="183"/>
                </a:cubicBezTo>
                <a:cubicBezTo>
                  <a:pt x="427" y="183"/>
                  <a:pt x="427" y="183"/>
                  <a:pt x="427" y="183"/>
                </a:cubicBezTo>
                <a:cubicBezTo>
                  <a:pt x="427" y="190"/>
                  <a:pt x="426" y="196"/>
                  <a:pt x="423" y="203"/>
                </a:cubicBezTo>
                <a:cubicBezTo>
                  <a:pt x="423" y="203"/>
                  <a:pt x="423" y="203"/>
                  <a:pt x="423" y="203"/>
                </a:cubicBezTo>
                <a:cubicBezTo>
                  <a:pt x="415" y="220"/>
                  <a:pt x="400" y="232"/>
                  <a:pt x="382" y="234"/>
                </a:cubicBezTo>
                <a:cubicBezTo>
                  <a:pt x="382" y="234"/>
                  <a:pt x="382" y="234"/>
                  <a:pt x="382" y="234"/>
                </a:cubicBezTo>
                <a:cubicBezTo>
                  <a:pt x="381" y="234"/>
                  <a:pt x="381" y="234"/>
                  <a:pt x="381" y="234"/>
                </a:cubicBezTo>
                <a:cubicBezTo>
                  <a:pt x="77" y="234"/>
                  <a:pt x="77" y="234"/>
                  <a:pt x="77" y="234"/>
                </a:cubicBezTo>
                <a:close/>
                <a:moveTo>
                  <a:pt x="380" y="214"/>
                </a:moveTo>
                <a:cubicBezTo>
                  <a:pt x="390" y="213"/>
                  <a:pt x="400" y="205"/>
                  <a:pt x="404" y="195"/>
                </a:cubicBezTo>
                <a:cubicBezTo>
                  <a:pt x="404" y="195"/>
                  <a:pt x="404" y="195"/>
                  <a:pt x="404" y="195"/>
                </a:cubicBezTo>
                <a:cubicBezTo>
                  <a:pt x="406" y="191"/>
                  <a:pt x="407" y="187"/>
                  <a:pt x="407" y="183"/>
                </a:cubicBezTo>
                <a:cubicBezTo>
                  <a:pt x="407" y="183"/>
                  <a:pt x="407" y="183"/>
                  <a:pt x="407" y="183"/>
                </a:cubicBezTo>
                <a:cubicBezTo>
                  <a:pt x="407" y="171"/>
                  <a:pt x="400" y="160"/>
                  <a:pt x="389" y="155"/>
                </a:cubicBezTo>
                <a:cubicBezTo>
                  <a:pt x="389" y="155"/>
                  <a:pt x="389" y="155"/>
                  <a:pt x="389" y="155"/>
                </a:cubicBezTo>
                <a:cubicBezTo>
                  <a:pt x="389" y="155"/>
                  <a:pt x="389" y="155"/>
                  <a:pt x="389" y="155"/>
                </a:cubicBezTo>
                <a:cubicBezTo>
                  <a:pt x="385" y="154"/>
                  <a:pt x="381" y="153"/>
                  <a:pt x="377" y="153"/>
                </a:cubicBezTo>
                <a:cubicBezTo>
                  <a:pt x="377" y="153"/>
                  <a:pt x="377" y="153"/>
                  <a:pt x="377" y="153"/>
                </a:cubicBezTo>
                <a:cubicBezTo>
                  <a:pt x="376" y="153"/>
                  <a:pt x="375" y="153"/>
                  <a:pt x="375" y="153"/>
                </a:cubicBezTo>
                <a:cubicBezTo>
                  <a:pt x="375" y="153"/>
                  <a:pt x="375" y="153"/>
                  <a:pt x="375" y="153"/>
                </a:cubicBezTo>
                <a:cubicBezTo>
                  <a:pt x="365" y="154"/>
                  <a:pt x="365" y="154"/>
                  <a:pt x="365" y="154"/>
                </a:cubicBezTo>
                <a:cubicBezTo>
                  <a:pt x="364" y="144"/>
                  <a:pt x="364" y="144"/>
                  <a:pt x="364" y="144"/>
                </a:cubicBezTo>
                <a:cubicBezTo>
                  <a:pt x="362" y="122"/>
                  <a:pt x="348" y="102"/>
                  <a:pt x="326" y="92"/>
                </a:cubicBezTo>
                <a:cubicBezTo>
                  <a:pt x="326" y="92"/>
                  <a:pt x="326" y="92"/>
                  <a:pt x="326" y="92"/>
                </a:cubicBezTo>
                <a:cubicBezTo>
                  <a:pt x="318" y="88"/>
                  <a:pt x="309" y="87"/>
                  <a:pt x="301" y="87"/>
                </a:cubicBezTo>
                <a:cubicBezTo>
                  <a:pt x="301" y="87"/>
                  <a:pt x="301" y="87"/>
                  <a:pt x="301" y="87"/>
                </a:cubicBezTo>
                <a:cubicBezTo>
                  <a:pt x="292" y="87"/>
                  <a:pt x="283" y="89"/>
                  <a:pt x="274" y="93"/>
                </a:cubicBezTo>
                <a:cubicBezTo>
                  <a:pt x="274" y="93"/>
                  <a:pt x="274" y="93"/>
                  <a:pt x="274" y="93"/>
                </a:cubicBezTo>
                <a:cubicBezTo>
                  <a:pt x="263" y="98"/>
                  <a:pt x="263" y="98"/>
                  <a:pt x="263" y="98"/>
                </a:cubicBezTo>
                <a:cubicBezTo>
                  <a:pt x="261" y="86"/>
                  <a:pt x="261" y="86"/>
                  <a:pt x="261" y="86"/>
                </a:cubicBezTo>
                <a:cubicBezTo>
                  <a:pt x="255" y="60"/>
                  <a:pt x="238" y="38"/>
                  <a:pt x="212" y="27"/>
                </a:cubicBezTo>
                <a:cubicBezTo>
                  <a:pt x="212" y="27"/>
                  <a:pt x="212" y="27"/>
                  <a:pt x="212" y="27"/>
                </a:cubicBezTo>
                <a:cubicBezTo>
                  <a:pt x="201" y="22"/>
                  <a:pt x="190" y="20"/>
                  <a:pt x="179" y="20"/>
                </a:cubicBezTo>
                <a:cubicBezTo>
                  <a:pt x="179" y="20"/>
                  <a:pt x="179" y="20"/>
                  <a:pt x="179" y="20"/>
                </a:cubicBezTo>
                <a:cubicBezTo>
                  <a:pt x="147" y="20"/>
                  <a:pt x="116" y="38"/>
                  <a:pt x="103" y="70"/>
                </a:cubicBezTo>
                <a:cubicBezTo>
                  <a:pt x="103" y="70"/>
                  <a:pt x="103" y="70"/>
                  <a:pt x="103" y="70"/>
                </a:cubicBezTo>
                <a:cubicBezTo>
                  <a:pt x="100" y="77"/>
                  <a:pt x="98" y="84"/>
                  <a:pt x="97" y="91"/>
                </a:cubicBezTo>
                <a:cubicBezTo>
                  <a:pt x="97" y="91"/>
                  <a:pt x="97" y="91"/>
                  <a:pt x="97" y="91"/>
                </a:cubicBezTo>
                <a:cubicBezTo>
                  <a:pt x="95" y="100"/>
                  <a:pt x="95" y="100"/>
                  <a:pt x="95" y="100"/>
                </a:cubicBezTo>
                <a:cubicBezTo>
                  <a:pt x="86" y="99"/>
                  <a:pt x="86" y="99"/>
                  <a:pt x="86" y="99"/>
                </a:cubicBezTo>
                <a:cubicBezTo>
                  <a:pt x="83" y="99"/>
                  <a:pt x="80" y="99"/>
                  <a:pt x="78" y="99"/>
                </a:cubicBezTo>
                <a:cubicBezTo>
                  <a:pt x="78" y="99"/>
                  <a:pt x="78" y="99"/>
                  <a:pt x="78" y="99"/>
                </a:cubicBezTo>
                <a:cubicBezTo>
                  <a:pt x="56" y="99"/>
                  <a:pt x="35" y="112"/>
                  <a:pt x="25" y="133"/>
                </a:cubicBezTo>
                <a:cubicBezTo>
                  <a:pt x="25" y="133"/>
                  <a:pt x="25" y="133"/>
                  <a:pt x="25" y="133"/>
                </a:cubicBezTo>
                <a:cubicBezTo>
                  <a:pt x="22" y="141"/>
                  <a:pt x="20" y="148"/>
                  <a:pt x="20" y="156"/>
                </a:cubicBezTo>
                <a:cubicBezTo>
                  <a:pt x="20" y="156"/>
                  <a:pt x="20" y="156"/>
                  <a:pt x="20" y="156"/>
                </a:cubicBezTo>
                <a:cubicBezTo>
                  <a:pt x="20" y="178"/>
                  <a:pt x="33" y="200"/>
                  <a:pt x="55" y="209"/>
                </a:cubicBezTo>
                <a:cubicBezTo>
                  <a:pt x="55" y="209"/>
                  <a:pt x="55" y="209"/>
                  <a:pt x="55" y="209"/>
                </a:cubicBezTo>
                <a:cubicBezTo>
                  <a:pt x="62" y="212"/>
                  <a:pt x="70" y="214"/>
                  <a:pt x="78" y="214"/>
                </a:cubicBezTo>
                <a:cubicBezTo>
                  <a:pt x="78" y="214"/>
                  <a:pt x="78" y="214"/>
                  <a:pt x="78" y="214"/>
                </a:cubicBezTo>
                <a:cubicBezTo>
                  <a:pt x="78" y="214"/>
                  <a:pt x="78" y="214"/>
                  <a:pt x="78" y="214"/>
                </a:cubicBezTo>
                <a:cubicBezTo>
                  <a:pt x="78" y="214"/>
                  <a:pt x="78" y="214"/>
                  <a:pt x="78" y="214"/>
                </a:cubicBezTo>
                <a:cubicBezTo>
                  <a:pt x="78" y="214"/>
                  <a:pt x="78" y="214"/>
                  <a:pt x="78" y="214"/>
                </a:cubicBezTo>
                <a:cubicBezTo>
                  <a:pt x="380" y="214"/>
                  <a:pt x="380" y="214"/>
                  <a:pt x="380" y="21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86" name="Freeform 756"/>
          <p:cNvSpPr>
            <a:spLocks noEditPoints="1"/>
          </p:cNvSpPr>
          <p:nvPr/>
        </p:nvSpPr>
        <p:spPr bwMode="auto">
          <a:xfrm>
            <a:off x="7274400" y="1817725"/>
            <a:ext cx="380464" cy="639725"/>
          </a:xfrm>
          <a:custGeom>
            <a:avLst/>
            <a:gdLst>
              <a:gd name="T0" fmla="*/ 176 w 200"/>
              <a:gd name="T1" fmla="*/ 0 h 336"/>
              <a:gd name="T2" fmla="*/ 0 w 200"/>
              <a:gd name="T3" fmla="*/ 0 h 336"/>
              <a:gd name="T4" fmla="*/ 0 w 200"/>
              <a:gd name="T5" fmla="*/ 312 h 336"/>
              <a:gd name="T6" fmla="*/ 24 w 200"/>
              <a:gd name="T7" fmla="*/ 336 h 336"/>
              <a:gd name="T8" fmla="*/ 200 w 200"/>
              <a:gd name="T9" fmla="*/ 336 h 336"/>
              <a:gd name="T10" fmla="*/ 200 w 200"/>
              <a:gd name="T11" fmla="*/ 24 h 336"/>
              <a:gd name="T12" fmla="*/ 176 w 200"/>
              <a:gd name="T13" fmla="*/ 0 h 336"/>
              <a:gd name="T14" fmla="*/ 180 w 200"/>
              <a:gd name="T15" fmla="*/ 216 h 336"/>
              <a:gd name="T16" fmla="*/ 24 w 200"/>
              <a:gd name="T17" fmla="*/ 216 h 336"/>
              <a:gd name="T18" fmla="*/ 24 w 200"/>
              <a:gd name="T19" fmla="*/ 200 h 336"/>
              <a:gd name="T20" fmla="*/ 180 w 200"/>
              <a:gd name="T21" fmla="*/ 200 h 336"/>
              <a:gd name="T22" fmla="*/ 180 w 200"/>
              <a:gd name="T23" fmla="*/ 216 h 336"/>
              <a:gd name="T24" fmla="*/ 180 w 200"/>
              <a:gd name="T25" fmla="*/ 176 h 336"/>
              <a:gd name="T26" fmla="*/ 24 w 200"/>
              <a:gd name="T27" fmla="*/ 176 h 336"/>
              <a:gd name="T28" fmla="*/ 24 w 200"/>
              <a:gd name="T29" fmla="*/ 160 h 336"/>
              <a:gd name="T30" fmla="*/ 180 w 200"/>
              <a:gd name="T31" fmla="*/ 160 h 336"/>
              <a:gd name="T32" fmla="*/ 180 w 200"/>
              <a:gd name="T33" fmla="*/ 176 h 336"/>
              <a:gd name="T34" fmla="*/ 180 w 200"/>
              <a:gd name="T35" fmla="*/ 136 h 336"/>
              <a:gd name="T36" fmla="*/ 24 w 200"/>
              <a:gd name="T37" fmla="*/ 136 h 336"/>
              <a:gd name="T38" fmla="*/ 24 w 200"/>
              <a:gd name="T39" fmla="*/ 120 h 336"/>
              <a:gd name="T40" fmla="*/ 180 w 200"/>
              <a:gd name="T41" fmla="*/ 120 h 336"/>
              <a:gd name="T42" fmla="*/ 180 w 200"/>
              <a:gd name="T43" fmla="*/ 136 h 336"/>
              <a:gd name="T44" fmla="*/ 180 w 200"/>
              <a:gd name="T45" fmla="*/ 72 h 336"/>
              <a:gd name="T46" fmla="*/ 168 w 200"/>
              <a:gd name="T47" fmla="*/ 84 h 336"/>
              <a:gd name="T48" fmla="*/ 32 w 200"/>
              <a:gd name="T49" fmla="*/ 84 h 336"/>
              <a:gd name="T50" fmla="*/ 20 w 200"/>
              <a:gd name="T51" fmla="*/ 72 h 336"/>
              <a:gd name="T52" fmla="*/ 20 w 200"/>
              <a:gd name="T53" fmla="*/ 32 h 336"/>
              <a:gd name="T54" fmla="*/ 32 w 200"/>
              <a:gd name="T55" fmla="*/ 20 h 336"/>
              <a:gd name="T56" fmla="*/ 168 w 200"/>
              <a:gd name="T57" fmla="*/ 20 h 336"/>
              <a:gd name="T58" fmla="*/ 180 w 200"/>
              <a:gd name="T59" fmla="*/ 32 h 336"/>
              <a:gd name="T60" fmla="*/ 180 w 200"/>
              <a:gd name="T61" fmla="*/ 72 h 33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</a:cxnLst>
            <a:rect l="0" t="0" r="r" b="b"/>
            <a:pathLst>
              <a:path w="200" h="336">
                <a:moveTo>
                  <a:pt x="176" y="0"/>
                </a:moveTo>
                <a:cubicBezTo>
                  <a:pt x="0" y="0"/>
                  <a:pt x="0" y="0"/>
                  <a:pt x="0" y="0"/>
                </a:cubicBezTo>
                <a:cubicBezTo>
                  <a:pt x="0" y="312"/>
                  <a:pt x="0" y="312"/>
                  <a:pt x="0" y="312"/>
                </a:cubicBezTo>
                <a:cubicBezTo>
                  <a:pt x="0" y="325"/>
                  <a:pt x="11" y="336"/>
                  <a:pt x="24" y="336"/>
                </a:cubicBezTo>
                <a:cubicBezTo>
                  <a:pt x="200" y="336"/>
                  <a:pt x="200" y="336"/>
                  <a:pt x="200" y="336"/>
                </a:cubicBezTo>
                <a:cubicBezTo>
                  <a:pt x="200" y="24"/>
                  <a:pt x="200" y="24"/>
                  <a:pt x="200" y="24"/>
                </a:cubicBezTo>
                <a:cubicBezTo>
                  <a:pt x="200" y="11"/>
                  <a:pt x="189" y="0"/>
                  <a:pt x="176" y="0"/>
                </a:cubicBezTo>
                <a:moveTo>
                  <a:pt x="180" y="216"/>
                </a:moveTo>
                <a:cubicBezTo>
                  <a:pt x="24" y="216"/>
                  <a:pt x="24" y="216"/>
                  <a:pt x="24" y="216"/>
                </a:cubicBezTo>
                <a:cubicBezTo>
                  <a:pt x="24" y="200"/>
                  <a:pt x="24" y="200"/>
                  <a:pt x="24" y="200"/>
                </a:cubicBezTo>
                <a:cubicBezTo>
                  <a:pt x="180" y="200"/>
                  <a:pt x="180" y="200"/>
                  <a:pt x="180" y="200"/>
                </a:cubicBezTo>
                <a:lnTo>
                  <a:pt x="180" y="216"/>
                </a:lnTo>
                <a:close/>
                <a:moveTo>
                  <a:pt x="180" y="176"/>
                </a:moveTo>
                <a:cubicBezTo>
                  <a:pt x="24" y="176"/>
                  <a:pt x="24" y="176"/>
                  <a:pt x="24" y="176"/>
                </a:cubicBezTo>
                <a:cubicBezTo>
                  <a:pt x="24" y="160"/>
                  <a:pt x="24" y="160"/>
                  <a:pt x="24" y="160"/>
                </a:cubicBezTo>
                <a:cubicBezTo>
                  <a:pt x="180" y="160"/>
                  <a:pt x="180" y="160"/>
                  <a:pt x="180" y="160"/>
                </a:cubicBezTo>
                <a:lnTo>
                  <a:pt x="180" y="176"/>
                </a:lnTo>
                <a:close/>
                <a:moveTo>
                  <a:pt x="180" y="136"/>
                </a:moveTo>
                <a:cubicBezTo>
                  <a:pt x="24" y="136"/>
                  <a:pt x="24" y="136"/>
                  <a:pt x="24" y="136"/>
                </a:cubicBezTo>
                <a:cubicBezTo>
                  <a:pt x="24" y="120"/>
                  <a:pt x="24" y="120"/>
                  <a:pt x="24" y="120"/>
                </a:cubicBezTo>
                <a:cubicBezTo>
                  <a:pt x="180" y="120"/>
                  <a:pt x="180" y="120"/>
                  <a:pt x="180" y="120"/>
                </a:cubicBezTo>
                <a:lnTo>
                  <a:pt x="180" y="136"/>
                </a:lnTo>
                <a:close/>
                <a:moveTo>
                  <a:pt x="180" y="72"/>
                </a:moveTo>
                <a:cubicBezTo>
                  <a:pt x="180" y="79"/>
                  <a:pt x="175" y="84"/>
                  <a:pt x="168" y="84"/>
                </a:cubicBezTo>
                <a:cubicBezTo>
                  <a:pt x="32" y="84"/>
                  <a:pt x="32" y="84"/>
                  <a:pt x="32" y="84"/>
                </a:cubicBezTo>
                <a:cubicBezTo>
                  <a:pt x="25" y="84"/>
                  <a:pt x="20" y="79"/>
                  <a:pt x="20" y="72"/>
                </a:cubicBezTo>
                <a:cubicBezTo>
                  <a:pt x="20" y="32"/>
                  <a:pt x="20" y="32"/>
                  <a:pt x="20" y="32"/>
                </a:cubicBezTo>
                <a:cubicBezTo>
                  <a:pt x="20" y="25"/>
                  <a:pt x="25" y="20"/>
                  <a:pt x="32" y="20"/>
                </a:cubicBezTo>
                <a:cubicBezTo>
                  <a:pt x="168" y="20"/>
                  <a:pt x="168" y="20"/>
                  <a:pt x="168" y="20"/>
                </a:cubicBezTo>
                <a:cubicBezTo>
                  <a:pt x="175" y="20"/>
                  <a:pt x="180" y="25"/>
                  <a:pt x="180" y="32"/>
                </a:cubicBezTo>
                <a:lnTo>
                  <a:pt x="180" y="72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3" name="Rectangle 32"/>
          <p:cNvSpPr/>
          <p:nvPr/>
        </p:nvSpPr>
        <p:spPr>
          <a:xfrm>
            <a:off x="359005" y="2800283"/>
            <a:ext cx="2155595" cy="830997"/>
          </a:xfrm>
          <a:prstGeom prst="rect">
            <a:avLst/>
          </a:prstGeom>
        </p:spPr>
        <p:txBody>
          <a:bodyPr wrap="square" lIns="182880">
            <a:spAutoFit/>
          </a:bodyPr>
          <a:lstStyle/>
          <a:p>
            <a:pPr marL="114300" lvl="2" indent="-114300" fontAlgn="auto">
              <a:spcBef>
                <a:spcPts val="0"/>
              </a:spcBef>
              <a:spcAft>
                <a:spcPts val="0"/>
              </a:spcAft>
              <a:buFont typeface="Arial"/>
              <a:buChar char="•"/>
            </a:pPr>
            <a:r>
              <a:rPr lang="en-US" sz="1200" b="1" dirty="0">
                <a:latin typeface="HP Simplified" pitchFamily="34" charset="0"/>
              </a:rPr>
              <a:t>Credentials in memory</a:t>
            </a:r>
          </a:p>
          <a:p>
            <a:pPr marL="114300" lvl="2" indent="-114300" fontAlgn="auto">
              <a:spcBef>
                <a:spcPts val="0"/>
              </a:spcBef>
              <a:spcAft>
                <a:spcPts val="0"/>
              </a:spcAft>
              <a:buFont typeface="Arial"/>
              <a:buChar char="•"/>
            </a:pPr>
            <a:r>
              <a:rPr lang="en-US" sz="1200" b="1" dirty="0">
                <a:latin typeface="HP Simplified" pitchFamily="34" charset="0"/>
              </a:rPr>
              <a:t>Credentials on </a:t>
            </a:r>
            <a:r>
              <a:rPr lang="en-US" sz="1200" b="1" dirty="0" err="1">
                <a:latin typeface="HP Simplified" pitchFamily="34" charset="0"/>
              </a:rPr>
              <a:t>filesystem</a:t>
            </a:r>
            <a:endParaRPr lang="en-US" sz="1200" b="1" dirty="0">
              <a:latin typeface="HP Simplified" pitchFamily="34" charset="0"/>
            </a:endParaRPr>
          </a:p>
          <a:p>
            <a:pPr marL="114300" lvl="2" indent="-114300" fontAlgn="auto">
              <a:spcBef>
                <a:spcPts val="0"/>
              </a:spcBef>
              <a:spcAft>
                <a:spcPts val="0"/>
              </a:spcAft>
              <a:buFont typeface="Arial"/>
              <a:buChar char="•"/>
            </a:pPr>
            <a:r>
              <a:rPr lang="en-US" sz="1200" b="1" dirty="0">
                <a:latin typeface="HP Simplified" pitchFamily="34" charset="0"/>
              </a:rPr>
              <a:t>Data stored on </a:t>
            </a:r>
            <a:r>
              <a:rPr lang="en-US" sz="1200" b="1" dirty="0" err="1">
                <a:latin typeface="HP Simplified" pitchFamily="34" charset="0"/>
              </a:rPr>
              <a:t>filesystem</a:t>
            </a:r>
            <a:endParaRPr lang="en-US" sz="1200" b="1" dirty="0">
              <a:latin typeface="HP Simplified" pitchFamily="34" charset="0"/>
            </a:endParaRPr>
          </a:p>
          <a:p>
            <a:pPr marL="114300" lvl="2" indent="-114300" fontAlgn="auto">
              <a:spcBef>
                <a:spcPts val="0"/>
              </a:spcBef>
              <a:spcAft>
                <a:spcPts val="0"/>
              </a:spcAft>
              <a:buFont typeface="Arial"/>
              <a:buChar char="•"/>
            </a:pPr>
            <a:r>
              <a:rPr lang="en-US" sz="1200" b="1" dirty="0">
                <a:latin typeface="HP Simplified" pitchFamily="34" charset="0"/>
              </a:rPr>
              <a:t>Poor cert </a:t>
            </a:r>
            <a:r>
              <a:rPr lang="en-US" sz="1200" b="1" dirty="0" smtClean="0">
                <a:latin typeface="HP Simplified" pitchFamily="34" charset="0"/>
              </a:rPr>
              <a:t>management</a:t>
            </a:r>
            <a:endParaRPr lang="en-US" sz="1200" b="1" dirty="0">
              <a:latin typeface="HP Simplified" pitchFamily="34" charset="0"/>
            </a:endParaRPr>
          </a:p>
        </p:txBody>
      </p:sp>
      <p:sp>
        <p:nvSpPr>
          <p:cNvPr id="34" name="Rectangle 33"/>
          <p:cNvSpPr/>
          <p:nvPr/>
        </p:nvSpPr>
        <p:spPr>
          <a:xfrm>
            <a:off x="3564464" y="2805204"/>
            <a:ext cx="1760525" cy="830997"/>
          </a:xfrm>
          <a:prstGeom prst="rect">
            <a:avLst/>
          </a:prstGeom>
        </p:spPr>
        <p:txBody>
          <a:bodyPr wrap="square" lIns="182880">
            <a:spAutoFit/>
          </a:bodyPr>
          <a:lstStyle/>
          <a:p>
            <a:pPr marL="114300" lvl="2" indent="-114300" fontAlgn="auto">
              <a:spcBef>
                <a:spcPts val="0"/>
              </a:spcBef>
              <a:spcAft>
                <a:spcPts val="0"/>
              </a:spcAft>
              <a:buFont typeface="Arial"/>
              <a:buChar char="•"/>
            </a:pPr>
            <a:r>
              <a:rPr lang="en-US" sz="1200" b="1" dirty="0" err="1">
                <a:latin typeface="HP Simplified" pitchFamily="34" charset="0"/>
              </a:rPr>
              <a:t>Cleartext</a:t>
            </a:r>
            <a:r>
              <a:rPr lang="en-US" sz="1200" b="1" dirty="0">
                <a:latin typeface="HP Simplified" pitchFamily="34" charset="0"/>
              </a:rPr>
              <a:t> credentials</a:t>
            </a:r>
          </a:p>
          <a:p>
            <a:pPr marL="114300" lvl="2" indent="-114300" fontAlgn="auto">
              <a:spcBef>
                <a:spcPts val="0"/>
              </a:spcBef>
              <a:spcAft>
                <a:spcPts val="0"/>
              </a:spcAft>
              <a:buFont typeface="Arial"/>
              <a:buChar char="•"/>
            </a:pPr>
            <a:r>
              <a:rPr lang="en-US" sz="1200" b="1" dirty="0" err="1">
                <a:latin typeface="HP Simplified" pitchFamily="34" charset="0"/>
              </a:rPr>
              <a:t>Cleartext</a:t>
            </a:r>
            <a:r>
              <a:rPr lang="en-US" sz="1200" b="1" dirty="0">
                <a:latin typeface="HP Simplified" pitchFamily="34" charset="0"/>
              </a:rPr>
              <a:t> data</a:t>
            </a:r>
          </a:p>
          <a:p>
            <a:pPr marL="114300" lvl="2" indent="-114300" fontAlgn="auto">
              <a:spcBef>
                <a:spcPts val="0"/>
              </a:spcBef>
              <a:spcAft>
                <a:spcPts val="0"/>
              </a:spcAft>
              <a:buFont typeface="Arial"/>
              <a:buChar char="•"/>
            </a:pPr>
            <a:r>
              <a:rPr lang="en-US" sz="1200" b="1" dirty="0">
                <a:latin typeface="HP Simplified" pitchFamily="34" charset="0"/>
              </a:rPr>
              <a:t>Backdoor data</a:t>
            </a:r>
          </a:p>
          <a:p>
            <a:pPr marL="114300" lvl="2" indent="-114300" fontAlgn="auto">
              <a:spcBef>
                <a:spcPts val="0"/>
              </a:spcBef>
              <a:spcAft>
                <a:spcPts val="0"/>
              </a:spcAft>
              <a:buFont typeface="Arial"/>
              <a:buChar char="•"/>
            </a:pPr>
            <a:r>
              <a:rPr lang="en-US" sz="1200" b="1" dirty="0">
                <a:latin typeface="HP Simplified" pitchFamily="34" charset="0"/>
              </a:rPr>
              <a:t>Data </a:t>
            </a:r>
            <a:r>
              <a:rPr lang="en-US" sz="1200" b="1" dirty="0" smtClean="0">
                <a:latin typeface="HP Simplified" pitchFamily="34" charset="0"/>
              </a:rPr>
              <a:t>leakage</a:t>
            </a:r>
            <a:endParaRPr lang="en-US" sz="1200" b="1" dirty="0">
              <a:latin typeface="HP Simplified" pitchFamily="34" charset="0"/>
            </a:endParaRPr>
          </a:p>
        </p:txBody>
      </p:sp>
      <p:sp>
        <p:nvSpPr>
          <p:cNvPr id="35" name="Rectangle 34"/>
          <p:cNvSpPr/>
          <p:nvPr/>
        </p:nvSpPr>
        <p:spPr>
          <a:xfrm>
            <a:off x="6708035" y="2612014"/>
            <a:ext cx="1972415" cy="1015663"/>
          </a:xfrm>
          <a:prstGeom prst="rect">
            <a:avLst/>
          </a:prstGeom>
        </p:spPr>
        <p:txBody>
          <a:bodyPr wrap="square" lIns="182880">
            <a:spAutoFit/>
          </a:bodyPr>
          <a:lstStyle/>
          <a:p>
            <a:pPr marL="114300" lvl="2" indent="-114300" fontAlgn="auto">
              <a:spcBef>
                <a:spcPts val="0"/>
              </a:spcBef>
              <a:spcAft>
                <a:spcPts val="0"/>
              </a:spcAft>
              <a:buFont typeface="Arial"/>
              <a:buChar char="•"/>
            </a:pPr>
            <a:r>
              <a:rPr lang="en-US" sz="1200" b="1" dirty="0" smtClean="0">
                <a:latin typeface="HP Simplified" pitchFamily="34" charset="0"/>
              </a:rPr>
              <a:t>Injection flaws</a:t>
            </a:r>
          </a:p>
          <a:p>
            <a:pPr marL="114300" lvl="2" indent="-114300" fontAlgn="auto">
              <a:spcBef>
                <a:spcPts val="0"/>
              </a:spcBef>
              <a:spcAft>
                <a:spcPts val="0"/>
              </a:spcAft>
              <a:buFont typeface="Arial"/>
              <a:buChar char="•"/>
            </a:pPr>
            <a:r>
              <a:rPr lang="en-US" sz="1200" b="1" dirty="0" smtClean="0">
                <a:latin typeface="HP Simplified" pitchFamily="34" charset="0"/>
              </a:rPr>
              <a:t>Authentication</a:t>
            </a:r>
          </a:p>
          <a:p>
            <a:pPr marL="114300" lvl="2" indent="-114300" fontAlgn="auto">
              <a:spcBef>
                <a:spcPts val="0"/>
              </a:spcBef>
              <a:spcAft>
                <a:spcPts val="0"/>
              </a:spcAft>
              <a:buFont typeface="Arial"/>
              <a:buChar char="•"/>
            </a:pPr>
            <a:r>
              <a:rPr lang="en-US" sz="1200" b="1" dirty="0" smtClean="0">
                <a:latin typeface="HP Simplified" pitchFamily="34" charset="0"/>
              </a:rPr>
              <a:t>Session management</a:t>
            </a:r>
          </a:p>
          <a:p>
            <a:pPr marL="114300" lvl="2" indent="-114300" fontAlgn="auto">
              <a:spcBef>
                <a:spcPts val="0"/>
              </a:spcBef>
              <a:spcAft>
                <a:spcPts val="0"/>
              </a:spcAft>
              <a:buFont typeface="Arial"/>
              <a:buChar char="•"/>
            </a:pPr>
            <a:r>
              <a:rPr lang="en-AU" sz="1200" b="1" dirty="0" smtClean="0">
                <a:latin typeface="HP Simplified" pitchFamily="34" charset="0"/>
              </a:rPr>
              <a:t>Access control</a:t>
            </a:r>
            <a:endParaRPr lang="en-US" sz="1200" b="1" dirty="0" smtClean="0">
              <a:latin typeface="HP Simplified" pitchFamily="34" charset="0"/>
            </a:endParaRPr>
          </a:p>
          <a:p>
            <a:pPr marL="114300" lvl="2" indent="-114300" fontAlgn="auto">
              <a:spcBef>
                <a:spcPts val="0"/>
              </a:spcBef>
              <a:spcAft>
                <a:spcPts val="0"/>
              </a:spcAft>
              <a:buFont typeface="Arial"/>
              <a:buChar char="•"/>
            </a:pPr>
            <a:r>
              <a:rPr lang="en-US" sz="1200" b="1" dirty="0" smtClean="0">
                <a:latin typeface="HP Simplified" pitchFamily="34" charset="0"/>
              </a:rPr>
              <a:t>Logic flaws</a:t>
            </a:r>
          </a:p>
        </p:txBody>
      </p:sp>
      <p:grpSp>
        <p:nvGrpSpPr>
          <p:cNvPr id="36" name="Group 35"/>
          <p:cNvGrpSpPr/>
          <p:nvPr/>
        </p:nvGrpSpPr>
        <p:grpSpPr>
          <a:xfrm>
            <a:off x="3865310" y="1617663"/>
            <a:ext cx="1399948" cy="848382"/>
            <a:chOff x="3865310" y="2043113"/>
            <a:chExt cx="1399948" cy="848382"/>
          </a:xfrm>
        </p:grpSpPr>
        <p:grpSp>
          <p:nvGrpSpPr>
            <p:cNvPr id="37" name="Group 36"/>
            <p:cNvGrpSpPr/>
            <p:nvPr/>
          </p:nvGrpSpPr>
          <p:grpSpPr>
            <a:xfrm>
              <a:off x="3865310" y="2160903"/>
              <a:ext cx="817815" cy="730592"/>
              <a:chOff x="3816351" y="1901826"/>
              <a:chExt cx="1503363" cy="1343025"/>
            </a:xfrm>
            <a:solidFill>
              <a:schemeClr val="accent1"/>
            </a:solidFill>
          </p:grpSpPr>
          <p:sp>
            <p:nvSpPr>
              <p:cNvPr id="39" name="Freeform 527"/>
              <p:cNvSpPr>
                <a:spLocks noEditPoints="1"/>
              </p:cNvSpPr>
              <p:nvPr/>
            </p:nvSpPr>
            <p:spPr bwMode="auto">
              <a:xfrm>
                <a:off x="4341813" y="1901826"/>
                <a:ext cx="433388" cy="301625"/>
              </a:xfrm>
              <a:custGeom>
                <a:avLst/>
                <a:gdLst>
                  <a:gd name="T0" fmla="*/ 10 w 115"/>
                  <a:gd name="T1" fmla="*/ 80 h 80"/>
                  <a:gd name="T2" fmla="*/ 115 w 115"/>
                  <a:gd name="T3" fmla="*/ 80 h 80"/>
                  <a:gd name="T4" fmla="*/ 115 w 115"/>
                  <a:gd name="T5" fmla="*/ 10 h 80"/>
                  <a:gd name="T6" fmla="*/ 105 w 115"/>
                  <a:gd name="T7" fmla="*/ 0 h 80"/>
                  <a:gd name="T8" fmla="*/ 0 w 115"/>
                  <a:gd name="T9" fmla="*/ 0 h 80"/>
                  <a:gd name="T10" fmla="*/ 0 w 115"/>
                  <a:gd name="T11" fmla="*/ 70 h 80"/>
                  <a:gd name="T12" fmla="*/ 10 w 115"/>
                  <a:gd name="T13" fmla="*/ 80 h 80"/>
                  <a:gd name="T14" fmla="*/ 12 w 115"/>
                  <a:gd name="T15" fmla="*/ 12 h 80"/>
                  <a:gd name="T16" fmla="*/ 103 w 115"/>
                  <a:gd name="T17" fmla="*/ 12 h 80"/>
                  <a:gd name="T18" fmla="*/ 103 w 115"/>
                  <a:gd name="T19" fmla="*/ 68 h 80"/>
                  <a:gd name="T20" fmla="*/ 12 w 115"/>
                  <a:gd name="T21" fmla="*/ 68 h 80"/>
                  <a:gd name="T22" fmla="*/ 12 w 115"/>
                  <a:gd name="T23" fmla="*/ 12 h 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115" h="80">
                    <a:moveTo>
                      <a:pt x="10" y="80"/>
                    </a:moveTo>
                    <a:cubicBezTo>
                      <a:pt x="115" y="80"/>
                      <a:pt x="115" y="80"/>
                      <a:pt x="115" y="80"/>
                    </a:cubicBezTo>
                    <a:cubicBezTo>
                      <a:pt x="115" y="10"/>
                      <a:pt x="115" y="10"/>
                      <a:pt x="115" y="10"/>
                    </a:cubicBezTo>
                    <a:cubicBezTo>
                      <a:pt x="115" y="4"/>
                      <a:pt x="111" y="0"/>
                      <a:pt x="105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70"/>
                      <a:pt x="0" y="70"/>
                      <a:pt x="0" y="70"/>
                    </a:cubicBezTo>
                    <a:cubicBezTo>
                      <a:pt x="0" y="75"/>
                      <a:pt x="5" y="80"/>
                      <a:pt x="10" y="80"/>
                    </a:cubicBezTo>
                    <a:close/>
                    <a:moveTo>
                      <a:pt x="12" y="12"/>
                    </a:moveTo>
                    <a:cubicBezTo>
                      <a:pt x="103" y="12"/>
                      <a:pt x="103" y="12"/>
                      <a:pt x="103" y="12"/>
                    </a:cubicBezTo>
                    <a:cubicBezTo>
                      <a:pt x="103" y="68"/>
                      <a:pt x="103" y="68"/>
                      <a:pt x="103" y="68"/>
                    </a:cubicBezTo>
                    <a:cubicBezTo>
                      <a:pt x="12" y="68"/>
                      <a:pt x="12" y="68"/>
                      <a:pt x="12" y="68"/>
                    </a:cubicBezTo>
                    <a:lnTo>
                      <a:pt x="12" y="1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40" name="Freeform 528"/>
              <p:cNvSpPr>
                <a:spLocks/>
              </p:cNvSpPr>
              <p:nvPr/>
            </p:nvSpPr>
            <p:spPr bwMode="auto">
              <a:xfrm>
                <a:off x="4341813" y="2239963"/>
                <a:ext cx="603250" cy="120650"/>
              </a:xfrm>
              <a:custGeom>
                <a:avLst/>
                <a:gdLst>
                  <a:gd name="T0" fmla="*/ 53 w 160"/>
                  <a:gd name="T1" fmla="*/ 32 h 32"/>
                  <a:gd name="T2" fmla="*/ 160 w 160"/>
                  <a:gd name="T3" fmla="*/ 32 h 32"/>
                  <a:gd name="T4" fmla="*/ 130 w 160"/>
                  <a:gd name="T5" fmla="*/ 8 h 32"/>
                  <a:gd name="T6" fmla="*/ 108 w 160"/>
                  <a:gd name="T7" fmla="*/ 0 h 32"/>
                  <a:gd name="T8" fmla="*/ 0 w 160"/>
                  <a:gd name="T9" fmla="*/ 0 h 32"/>
                  <a:gd name="T10" fmla="*/ 31 w 160"/>
                  <a:gd name="T11" fmla="*/ 24 h 32"/>
                  <a:gd name="T12" fmla="*/ 53 w 160"/>
                  <a:gd name="T13" fmla="*/ 32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60" h="32">
                    <a:moveTo>
                      <a:pt x="53" y="32"/>
                    </a:moveTo>
                    <a:cubicBezTo>
                      <a:pt x="160" y="32"/>
                      <a:pt x="160" y="32"/>
                      <a:pt x="160" y="32"/>
                    </a:cubicBezTo>
                    <a:cubicBezTo>
                      <a:pt x="130" y="8"/>
                      <a:pt x="130" y="8"/>
                      <a:pt x="130" y="8"/>
                    </a:cubicBezTo>
                    <a:cubicBezTo>
                      <a:pt x="125" y="3"/>
                      <a:pt x="115" y="0"/>
                      <a:pt x="108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31" y="24"/>
                      <a:pt x="31" y="24"/>
                      <a:pt x="31" y="24"/>
                    </a:cubicBezTo>
                    <a:cubicBezTo>
                      <a:pt x="36" y="28"/>
                      <a:pt x="46" y="32"/>
                      <a:pt x="53" y="3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41" name="Freeform 529"/>
              <p:cNvSpPr>
                <a:spLocks noEditPoints="1"/>
              </p:cNvSpPr>
              <p:nvPr/>
            </p:nvSpPr>
            <p:spPr bwMode="auto">
              <a:xfrm>
                <a:off x="4102101" y="2782888"/>
                <a:ext cx="431800" cy="300038"/>
              </a:xfrm>
              <a:custGeom>
                <a:avLst/>
                <a:gdLst>
                  <a:gd name="T0" fmla="*/ 115 w 115"/>
                  <a:gd name="T1" fmla="*/ 80 h 80"/>
                  <a:gd name="T2" fmla="*/ 115 w 115"/>
                  <a:gd name="T3" fmla="*/ 10 h 80"/>
                  <a:gd name="T4" fmla="*/ 105 w 115"/>
                  <a:gd name="T5" fmla="*/ 0 h 80"/>
                  <a:gd name="T6" fmla="*/ 0 w 115"/>
                  <a:gd name="T7" fmla="*/ 0 h 80"/>
                  <a:gd name="T8" fmla="*/ 0 w 115"/>
                  <a:gd name="T9" fmla="*/ 70 h 80"/>
                  <a:gd name="T10" fmla="*/ 10 w 115"/>
                  <a:gd name="T11" fmla="*/ 80 h 80"/>
                  <a:gd name="T12" fmla="*/ 115 w 115"/>
                  <a:gd name="T13" fmla="*/ 80 h 80"/>
                  <a:gd name="T14" fmla="*/ 12 w 115"/>
                  <a:gd name="T15" fmla="*/ 12 h 80"/>
                  <a:gd name="T16" fmla="*/ 103 w 115"/>
                  <a:gd name="T17" fmla="*/ 12 h 80"/>
                  <a:gd name="T18" fmla="*/ 103 w 115"/>
                  <a:gd name="T19" fmla="*/ 68 h 80"/>
                  <a:gd name="T20" fmla="*/ 12 w 115"/>
                  <a:gd name="T21" fmla="*/ 68 h 80"/>
                  <a:gd name="T22" fmla="*/ 12 w 115"/>
                  <a:gd name="T23" fmla="*/ 12 h 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115" h="80">
                    <a:moveTo>
                      <a:pt x="115" y="80"/>
                    </a:moveTo>
                    <a:cubicBezTo>
                      <a:pt x="115" y="10"/>
                      <a:pt x="115" y="10"/>
                      <a:pt x="115" y="10"/>
                    </a:cubicBezTo>
                    <a:cubicBezTo>
                      <a:pt x="115" y="5"/>
                      <a:pt x="111" y="0"/>
                      <a:pt x="105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70"/>
                      <a:pt x="0" y="70"/>
                      <a:pt x="0" y="70"/>
                    </a:cubicBezTo>
                    <a:cubicBezTo>
                      <a:pt x="0" y="76"/>
                      <a:pt x="5" y="80"/>
                      <a:pt x="10" y="80"/>
                    </a:cubicBezTo>
                    <a:lnTo>
                      <a:pt x="115" y="80"/>
                    </a:lnTo>
                    <a:close/>
                    <a:moveTo>
                      <a:pt x="12" y="12"/>
                    </a:moveTo>
                    <a:cubicBezTo>
                      <a:pt x="103" y="12"/>
                      <a:pt x="103" y="12"/>
                      <a:pt x="103" y="12"/>
                    </a:cubicBezTo>
                    <a:cubicBezTo>
                      <a:pt x="103" y="68"/>
                      <a:pt x="103" y="68"/>
                      <a:pt x="103" y="68"/>
                    </a:cubicBezTo>
                    <a:cubicBezTo>
                      <a:pt x="12" y="68"/>
                      <a:pt x="12" y="68"/>
                      <a:pt x="12" y="68"/>
                    </a:cubicBezTo>
                    <a:lnTo>
                      <a:pt x="12" y="1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43" name="Freeform 530"/>
              <p:cNvSpPr>
                <a:spLocks/>
              </p:cNvSpPr>
              <p:nvPr/>
            </p:nvSpPr>
            <p:spPr bwMode="auto">
              <a:xfrm>
                <a:off x="4102101" y="3121026"/>
                <a:ext cx="601663" cy="123825"/>
              </a:xfrm>
              <a:custGeom>
                <a:avLst/>
                <a:gdLst>
                  <a:gd name="T0" fmla="*/ 108 w 160"/>
                  <a:gd name="T1" fmla="*/ 0 h 33"/>
                  <a:gd name="T2" fmla="*/ 0 w 160"/>
                  <a:gd name="T3" fmla="*/ 0 h 33"/>
                  <a:gd name="T4" fmla="*/ 31 w 160"/>
                  <a:gd name="T5" fmla="*/ 24 h 33"/>
                  <a:gd name="T6" fmla="*/ 53 w 160"/>
                  <a:gd name="T7" fmla="*/ 33 h 33"/>
                  <a:gd name="T8" fmla="*/ 160 w 160"/>
                  <a:gd name="T9" fmla="*/ 33 h 33"/>
                  <a:gd name="T10" fmla="*/ 130 w 160"/>
                  <a:gd name="T11" fmla="*/ 9 h 33"/>
                  <a:gd name="T12" fmla="*/ 108 w 160"/>
                  <a:gd name="T13" fmla="*/ 0 h 3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60" h="33">
                    <a:moveTo>
                      <a:pt x="108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31" y="24"/>
                      <a:pt x="31" y="24"/>
                      <a:pt x="31" y="24"/>
                    </a:cubicBezTo>
                    <a:cubicBezTo>
                      <a:pt x="36" y="29"/>
                      <a:pt x="46" y="33"/>
                      <a:pt x="53" y="33"/>
                    </a:cubicBezTo>
                    <a:cubicBezTo>
                      <a:pt x="160" y="33"/>
                      <a:pt x="160" y="33"/>
                      <a:pt x="160" y="33"/>
                    </a:cubicBezTo>
                    <a:cubicBezTo>
                      <a:pt x="130" y="9"/>
                      <a:pt x="130" y="9"/>
                      <a:pt x="130" y="9"/>
                    </a:cubicBezTo>
                    <a:cubicBezTo>
                      <a:pt x="125" y="4"/>
                      <a:pt x="115" y="0"/>
                      <a:pt x="108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44" name="Freeform 531"/>
              <p:cNvSpPr>
                <a:spLocks noEditPoints="1"/>
              </p:cNvSpPr>
              <p:nvPr/>
            </p:nvSpPr>
            <p:spPr bwMode="auto">
              <a:xfrm>
                <a:off x="4718051" y="2782888"/>
                <a:ext cx="433388" cy="300038"/>
              </a:xfrm>
              <a:custGeom>
                <a:avLst/>
                <a:gdLst>
                  <a:gd name="T0" fmla="*/ 115 w 115"/>
                  <a:gd name="T1" fmla="*/ 80 h 80"/>
                  <a:gd name="T2" fmla="*/ 115 w 115"/>
                  <a:gd name="T3" fmla="*/ 10 h 80"/>
                  <a:gd name="T4" fmla="*/ 105 w 115"/>
                  <a:gd name="T5" fmla="*/ 0 h 80"/>
                  <a:gd name="T6" fmla="*/ 0 w 115"/>
                  <a:gd name="T7" fmla="*/ 0 h 80"/>
                  <a:gd name="T8" fmla="*/ 0 w 115"/>
                  <a:gd name="T9" fmla="*/ 70 h 80"/>
                  <a:gd name="T10" fmla="*/ 10 w 115"/>
                  <a:gd name="T11" fmla="*/ 80 h 80"/>
                  <a:gd name="T12" fmla="*/ 115 w 115"/>
                  <a:gd name="T13" fmla="*/ 80 h 80"/>
                  <a:gd name="T14" fmla="*/ 12 w 115"/>
                  <a:gd name="T15" fmla="*/ 12 h 80"/>
                  <a:gd name="T16" fmla="*/ 103 w 115"/>
                  <a:gd name="T17" fmla="*/ 12 h 80"/>
                  <a:gd name="T18" fmla="*/ 103 w 115"/>
                  <a:gd name="T19" fmla="*/ 68 h 80"/>
                  <a:gd name="T20" fmla="*/ 12 w 115"/>
                  <a:gd name="T21" fmla="*/ 68 h 80"/>
                  <a:gd name="T22" fmla="*/ 12 w 115"/>
                  <a:gd name="T23" fmla="*/ 12 h 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115" h="80">
                    <a:moveTo>
                      <a:pt x="115" y="80"/>
                    </a:moveTo>
                    <a:cubicBezTo>
                      <a:pt x="115" y="10"/>
                      <a:pt x="115" y="10"/>
                      <a:pt x="115" y="10"/>
                    </a:cubicBezTo>
                    <a:cubicBezTo>
                      <a:pt x="115" y="5"/>
                      <a:pt x="111" y="0"/>
                      <a:pt x="105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70"/>
                      <a:pt x="0" y="70"/>
                      <a:pt x="0" y="70"/>
                    </a:cubicBezTo>
                    <a:cubicBezTo>
                      <a:pt x="0" y="76"/>
                      <a:pt x="5" y="80"/>
                      <a:pt x="10" y="80"/>
                    </a:cubicBezTo>
                    <a:lnTo>
                      <a:pt x="115" y="80"/>
                    </a:lnTo>
                    <a:close/>
                    <a:moveTo>
                      <a:pt x="12" y="12"/>
                    </a:moveTo>
                    <a:cubicBezTo>
                      <a:pt x="103" y="12"/>
                      <a:pt x="103" y="12"/>
                      <a:pt x="103" y="12"/>
                    </a:cubicBezTo>
                    <a:cubicBezTo>
                      <a:pt x="103" y="68"/>
                      <a:pt x="103" y="68"/>
                      <a:pt x="103" y="68"/>
                    </a:cubicBezTo>
                    <a:cubicBezTo>
                      <a:pt x="12" y="68"/>
                      <a:pt x="12" y="68"/>
                      <a:pt x="12" y="68"/>
                    </a:cubicBezTo>
                    <a:lnTo>
                      <a:pt x="12" y="1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45" name="Freeform 532"/>
              <p:cNvSpPr>
                <a:spLocks/>
              </p:cNvSpPr>
              <p:nvPr/>
            </p:nvSpPr>
            <p:spPr bwMode="auto">
              <a:xfrm>
                <a:off x="4718051" y="3121026"/>
                <a:ext cx="601663" cy="123825"/>
              </a:xfrm>
              <a:custGeom>
                <a:avLst/>
                <a:gdLst>
                  <a:gd name="T0" fmla="*/ 108 w 160"/>
                  <a:gd name="T1" fmla="*/ 0 h 33"/>
                  <a:gd name="T2" fmla="*/ 0 w 160"/>
                  <a:gd name="T3" fmla="*/ 0 h 33"/>
                  <a:gd name="T4" fmla="*/ 31 w 160"/>
                  <a:gd name="T5" fmla="*/ 24 h 33"/>
                  <a:gd name="T6" fmla="*/ 53 w 160"/>
                  <a:gd name="T7" fmla="*/ 33 h 33"/>
                  <a:gd name="T8" fmla="*/ 160 w 160"/>
                  <a:gd name="T9" fmla="*/ 33 h 33"/>
                  <a:gd name="T10" fmla="*/ 130 w 160"/>
                  <a:gd name="T11" fmla="*/ 9 h 33"/>
                  <a:gd name="T12" fmla="*/ 108 w 160"/>
                  <a:gd name="T13" fmla="*/ 0 h 3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60" h="33">
                    <a:moveTo>
                      <a:pt x="108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31" y="24"/>
                      <a:pt x="31" y="24"/>
                      <a:pt x="31" y="24"/>
                    </a:cubicBezTo>
                    <a:cubicBezTo>
                      <a:pt x="36" y="29"/>
                      <a:pt x="46" y="33"/>
                      <a:pt x="53" y="33"/>
                    </a:cubicBezTo>
                    <a:cubicBezTo>
                      <a:pt x="160" y="33"/>
                      <a:pt x="160" y="33"/>
                      <a:pt x="160" y="33"/>
                    </a:cubicBezTo>
                    <a:cubicBezTo>
                      <a:pt x="130" y="9"/>
                      <a:pt x="130" y="9"/>
                      <a:pt x="130" y="9"/>
                    </a:cubicBezTo>
                    <a:cubicBezTo>
                      <a:pt x="125" y="4"/>
                      <a:pt x="115" y="0"/>
                      <a:pt x="108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46" name="Freeform 533"/>
              <p:cNvSpPr>
                <a:spLocks/>
              </p:cNvSpPr>
              <p:nvPr/>
            </p:nvSpPr>
            <p:spPr bwMode="auto">
              <a:xfrm>
                <a:off x="3816351" y="2406651"/>
                <a:ext cx="1503363" cy="330200"/>
              </a:xfrm>
              <a:custGeom>
                <a:avLst/>
                <a:gdLst>
                  <a:gd name="T0" fmla="*/ 224 w 400"/>
                  <a:gd name="T1" fmla="*/ 32 h 88"/>
                  <a:gd name="T2" fmla="*/ 224 w 400"/>
                  <a:gd name="T3" fmla="*/ 12 h 88"/>
                  <a:gd name="T4" fmla="*/ 224 w 400"/>
                  <a:gd name="T5" fmla="*/ 0 h 88"/>
                  <a:gd name="T6" fmla="*/ 212 w 400"/>
                  <a:gd name="T7" fmla="*/ 0 h 88"/>
                  <a:gd name="T8" fmla="*/ 200 w 400"/>
                  <a:gd name="T9" fmla="*/ 0 h 88"/>
                  <a:gd name="T10" fmla="*/ 200 w 400"/>
                  <a:gd name="T11" fmla="*/ 32 h 88"/>
                  <a:gd name="T12" fmla="*/ 62 w 400"/>
                  <a:gd name="T13" fmla="*/ 32 h 88"/>
                  <a:gd name="T14" fmla="*/ 32 w 400"/>
                  <a:gd name="T15" fmla="*/ 12 h 88"/>
                  <a:gd name="T16" fmla="*/ 0 w 400"/>
                  <a:gd name="T17" fmla="*/ 44 h 88"/>
                  <a:gd name="T18" fmla="*/ 32 w 400"/>
                  <a:gd name="T19" fmla="*/ 76 h 88"/>
                  <a:gd name="T20" fmla="*/ 62 w 400"/>
                  <a:gd name="T21" fmla="*/ 56 h 88"/>
                  <a:gd name="T22" fmla="*/ 120 w 400"/>
                  <a:gd name="T23" fmla="*/ 56 h 88"/>
                  <a:gd name="T24" fmla="*/ 120 w 400"/>
                  <a:gd name="T25" fmla="*/ 88 h 88"/>
                  <a:gd name="T26" fmla="*/ 144 w 400"/>
                  <a:gd name="T27" fmla="*/ 88 h 88"/>
                  <a:gd name="T28" fmla="*/ 144 w 400"/>
                  <a:gd name="T29" fmla="*/ 88 h 88"/>
                  <a:gd name="T30" fmla="*/ 144 w 400"/>
                  <a:gd name="T31" fmla="*/ 56 h 88"/>
                  <a:gd name="T32" fmla="*/ 280 w 400"/>
                  <a:gd name="T33" fmla="*/ 56 h 88"/>
                  <a:gd name="T34" fmla="*/ 280 w 400"/>
                  <a:gd name="T35" fmla="*/ 76 h 88"/>
                  <a:gd name="T36" fmla="*/ 280 w 400"/>
                  <a:gd name="T37" fmla="*/ 88 h 88"/>
                  <a:gd name="T38" fmla="*/ 292 w 400"/>
                  <a:gd name="T39" fmla="*/ 88 h 88"/>
                  <a:gd name="T40" fmla="*/ 304 w 400"/>
                  <a:gd name="T41" fmla="*/ 88 h 88"/>
                  <a:gd name="T42" fmla="*/ 304 w 400"/>
                  <a:gd name="T43" fmla="*/ 56 h 88"/>
                  <a:gd name="T44" fmla="*/ 400 w 400"/>
                  <a:gd name="T45" fmla="*/ 56 h 88"/>
                  <a:gd name="T46" fmla="*/ 400 w 400"/>
                  <a:gd name="T47" fmla="*/ 32 h 88"/>
                  <a:gd name="T48" fmla="*/ 224 w 400"/>
                  <a:gd name="T49" fmla="*/ 32 h 8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</a:cxnLst>
                <a:rect l="0" t="0" r="r" b="b"/>
                <a:pathLst>
                  <a:path w="400" h="88">
                    <a:moveTo>
                      <a:pt x="224" y="32"/>
                    </a:moveTo>
                    <a:cubicBezTo>
                      <a:pt x="224" y="12"/>
                      <a:pt x="224" y="12"/>
                      <a:pt x="224" y="12"/>
                    </a:cubicBezTo>
                    <a:cubicBezTo>
                      <a:pt x="224" y="0"/>
                      <a:pt x="224" y="0"/>
                      <a:pt x="224" y="0"/>
                    </a:cubicBezTo>
                    <a:cubicBezTo>
                      <a:pt x="212" y="0"/>
                      <a:pt x="212" y="0"/>
                      <a:pt x="212" y="0"/>
                    </a:cubicBezTo>
                    <a:cubicBezTo>
                      <a:pt x="200" y="0"/>
                      <a:pt x="200" y="0"/>
                      <a:pt x="200" y="0"/>
                    </a:cubicBezTo>
                    <a:cubicBezTo>
                      <a:pt x="200" y="32"/>
                      <a:pt x="200" y="32"/>
                      <a:pt x="200" y="32"/>
                    </a:cubicBezTo>
                    <a:cubicBezTo>
                      <a:pt x="62" y="32"/>
                      <a:pt x="62" y="32"/>
                      <a:pt x="62" y="32"/>
                    </a:cubicBezTo>
                    <a:cubicBezTo>
                      <a:pt x="57" y="20"/>
                      <a:pt x="46" y="12"/>
                      <a:pt x="32" y="12"/>
                    </a:cubicBezTo>
                    <a:cubicBezTo>
                      <a:pt x="15" y="12"/>
                      <a:pt x="0" y="27"/>
                      <a:pt x="0" y="44"/>
                    </a:cubicBezTo>
                    <a:cubicBezTo>
                      <a:pt x="0" y="62"/>
                      <a:pt x="15" y="76"/>
                      <a:pt x="32" y="76"/>
                    </a:cubicBezTo>
                    <a:cubicBezTo>
                      <a:pt x="46" y="76"/>
                      <a:pt x="57" y="68"/>
                      <a:pt x="62" y="56"/>
                    </a:cubicBezTo>
                    <a:cubicBezTo>
                      <a:pt x="120" y="56"/>
                      <a:pt x="120" y="56"/>
                      <a:pt x="120" y="56"/>
                    </a:cubicBezTo>
                    <a:cubicBezTo>
                      <a:pt x="120" y="88"/>
                      <a:pt x="120" y="88"/>
                      <a:pt x="120" y="88"/>
                    </a:cubicBezTo>
                    <a:cubicBezTo>
                      <a:pt x="144" y="88"/>
                      <a:pt x="144" y="88"/>
                      <a:pt x="144" y="88"/>
                    </a:cubicBezTo>
                    <a:cubicBezTo>
                      <a:pt x="144" y="88"/>
                      <a:pt x="144" y="88"/>
                      <a:pt x="144" y="88"/>
                    </a:cubicBezTo>
                    <a:cubicBezTo>
                      <a:pt x="144" y="56"/>
                      <a:pt x="144" y="56"/>
                      <a:pt x="144" y="56"/>
                    </a:cubicBezTo>
                    <a:cubicBezTo>
                      <a:pt x="280" y="56"/>
                      <a:pt x="280" y="56"/>
                      <a:pt x="280" y="56"/>
                    </a:cubicBezTo>
                    <a:cubicBezTo>
                      <a:pt x="280" y="76"/>
                      <a:pt x="280" y="76"/>
                      <a:pt x="280" y="76"/>
                    </a:cubicBezTo>
                    <a:cubicBezTo>
                      <a:pt x="280" y="88"/>
                      <a:pt x="280" y="88"/>
                      <a:pt x="280" y="88"/>
                    </a:cubicBezTo>
                    <a:cubicBezTo>
                      <a:pt x="292" y="88"/>
                      <a:pt x="292" y="88"/>
                      <a:pt x="292" y="88"/>
                    </a:cubicBezTo>
                    <a:cubicBezTo>
                      <a:pt x="304" y="88"/>
                      <a:pt x="304" y="88"/>
                      <a:pt x="304" y="88"/>
                    </a:cubicBezTo>
                    <a:cubicBezTo>
                      <a:pt x="304" y="56"/>
                      <a:pt x="304" y="56"/>
                      <a:pt x="304" y="56"/>
                    </a:cubicBezTo>
                    <a:cubicBezTo>
                      <a:pt x="400" y="56"/>
                      <a:pt x="400" y="56"/>
                      <a:pt x="400" y="56"/>
                    </a:cubicBezTo>
                    <a:cubicBezTo>
                      <a:pt x="400" y="32"/>
                      <a:pt x="400" y="32"/>
                      <a:pt x="400" y="32"/>
                    </a:cubicBezTo>
                    <a:lnTo>
                      <a:pt x="224" y="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</p:grpSp>
        <p:sp>
          <p:nvSpPr>
            <p:cNvPr id="38" name="Freeform 57"/>
            <p:cNvSpPr>
              <a:spLocks noEditPoints="1"/>
            </p:cNvSpPr>
            <p:nvPr/>
          </p:nvSpPr>
          <p:spPr bwMode="auto">
            <a:xfrm>
              <a:off x="4664075" y="2043113"/>
              <a:ext cx="601183" cy="636587"/>
            </a:xfrm>
            <a:custGeom>
              <a:avLst/>
              <a:gdLst>
                <a:gd name="T0" fmla="*/ 297 w 374"/>
                <a:gd name="T1" fmla="*/ 225 h 396"/>
                <a:gd name="T2" fmla="*/ 312 w 374"/>
                <a:gd name="T3" fmla="*/ 239 h 396"/>
                <a:gd name="T4" fmla="*/ 361 w 374"/>
                <a:gd name="T5" fmla="*/ 120 h 396"/>
                <a:gd name="T6" fmla="*/ 312 w 374"/>
                <a:gd name="T7" fmla="*/ 0 h 396"/>
                <a:gd name="T8" fmla="*/ 297 w 374"/>
                <a:gd name="T9" fmla="*/ 15 h 396"/>
                <a:gd name="T10" fmla="*/ 341 w 374"/>
                <a:gd name="T11" fmla="*/ 120 h 396"/>
                <a:gd name="T12" fmla="*/ 297 w 374"/>
                <a:gd name="T13" fmla="*/ 225 h 396"/>
                <a:gd name="T14" fmla="*/ 120 w 374"/>
                <a:gd name="T15" fmla="*/ 201 h 396"/>
                <a:gd name="T16" fmla="*/ 135 w 374"/>
                <a:gd name="T17" fmla="*/ 186 h 396"/>
                <a:gd name="T18" fmla="*/ 135 w 374"/>
                <a:gd name="T19" fmla="*/ 53 h 396"/>
                <a:gd name="T20" fmla="*/ 120 w 374"/>
                <a:gd name="T21" fmla="*/ 38 h 396"/>
                <a:gd name="T22" fmla="*/ 120 w 374"/>
                <a:gd name="T23" fmla="*/ 201 h 396"/>
                <a:gd name="T24" fmla="*/ 283 w 374"/>
                <a:gd name="T25" fmla="*/ 201 h 396"/>
                <a:gd name="T26" fmla="*/ 283 w 374"/>
                <a:gd name="T27" fmla="*/ 38 h 396"/>
                <a:gd name="T28" fmla="*/ 268 w 374"/>
                <a:gd name="T29" fmla="*/ 53 h 396"/>
                <a:gd name="T30" fmla="*/ 268 w 374"/>
                <a:gd name="T31" fmla="*/ 186 h 396"/>
                <a:gd name="T32" fmla="*/ 283 w 374"/>
                <a:gd name="T33" fmla="*/ 201 h 396"/>
                <a:gd name="T34" fmla="*/ 106 w 374"/>
                <a:gd name="T35" fmla="*/ 225 h 396"/>
                <a:gd name="T36" fmla="*/ 62 w 374"/>
                <a:gd name="T37" fmla="*/ 120 h 396"/>
                <a:gd name="T38" fmla="*/ 106 w 374"/>
                <a:gd name="T39" fmla="*/ 15 h 396"/>
                <a:gd name="T40" fmla="*/ 91 w 374"/>
                <a:gd name="T41" fmla="*/ 0 h 396"/>
                <a:gd name="T42" fmla="*/ 42 w 374"/>
                <a:gd name="T43" fmla="*/ 120 h 396"/>
                <a:gd name="T44" fmla="*/ 91 w 374"/>
                <a:gd name="T45" fmla="*/ 239 h 396"/>
                <a:gd name="T46" fmla="*/ 106 w 374"/>
                <a:gd name="T47" fmla="*/ 225 h 396"/>
                <a:gd name="T48" fmla="*/ 374 w 374"/>
                <a:gd name="T49" fmla="*/ 315 h 396"/>
                <a:gd name="T50" fmla="*/ 374 w 374"/>
                <a:gd name="T51" fmla="*/ 288 h 396"/>
                <a:gd name="T52" fmla="*/ 216 w 374"/>
                <a:gd name="T53" fmla="*/ 288 h 396"/>
                <a:gd name="T54" fmla="*/ 216 w 374"/>
                <a:gd name="T55" fmla="*/ 154 h 396"/>
                <a:gd name="T56" fmla="*/ 239 w 374"/>
                <a:gd name="T57" fmla="*/ 120 h 396"/>
                <a:gd name="T58" fmla="*/ 202 w 374"/>
                <a:gd name="T59" fmla="*/ 82 h 396"/>
                <a:gd name="T60" fmla="*/ 164 w 374"/>
                <a:gd name="T61" fmla="*/ 120 h 396"/>
                <a:gd name="T62" fmla="*/ 187 w 374"/>
                <a:gd name="T63" fmla="*/ 154 h 396"/>
                <a:gd name="T64" fmla="*/ 187 w 374"/>
                <a:gd name="T65" fmla="*/ 288 h 396"/>
                <a:gd name="T66" fmla="*/ 55 w 374"/>
                <a:gd name="T67" fmla="*/ 288 h 396"/>
                <a:gd name="T68" fmla="*/ 29 w 374"/>
                <a:gd name="T69" fmla="*/ 272 h 396"/>
                <a:gd name="T70" fmla="*/ 0 w 374"/>
                <a:gd name="T71" fmla="*/ 301 h 396"/>
                <a:gd name="T72" fmla="*/ 29 w 374"/>
                <a:gd name="T73" fmla="*/ 331 h 396"/>
                <a:gd name="T74" fmla="*/ 55 w 374"/>
                <a:gd name="T75" fmla="*/ 315 h 396"/>
                <a:gd name="T76" fmla="*/ 111 w 374"/>
                <a:gd name="T77" fmla="*/ 315 h 396"/>
                <a:gd name="T78" fmla="*/ 111 w 374"/>
                <a:gd name="T79" fmla="*/ 341 h 396"/>
                <a:gd name="T80" fmla="*/ 95 w 374"/>
                <a:gd name="T81" fmla="*/ 367 h 396"/>
                <a:gd name="T82" fmla="*/ 124 w 374"/>
                <a:gd name="T83" fmla="*/ 396 h 396"/>
                <a:gd name="T84" fmla="*/ 153 w 374"/>
                <a:gd name="T85" fmla="*/ 367 h 396"/>
                <a:gd name="T86" fmla="*/ 137 w 374"/>
                <a:gd name="T87" fmla="*/ 341 h 396"/>
                <a:gd name="T88" fmla="*/ 137 w 374"/>
                <a:gd name="T89" fmla="*/ 315 h 396"/>
                <a:gd name="T90" fmla="*/ 267 w 374"/>
                <a:gd name="T91" fmla="*/ 315 h 396"/>
                <a:gd name="T92" fmla="*/ 267 w 374"/>
                <a:gd name="T93" fmla="*/ 340 h 396"/>
                <a:gd name="T94" fmla="*/ 251 w 374"/>
                <a:gd name="T95" fmla="*/ 366 h 396"/>
                <a:gd name="T96" fmla="*/ 281 w 374"/>
                <a:gd name="T97" fmla="*/ 396 h 396"/>
                <a:gd name="T98" fmla="*/ 310 w 374"/>
                <a:gd name="T99" fmla="*/ 366 h 396"/>
                <a:gd name="T100" fmla="*/ 294 w 374"/>
                <a:gd name="T101" fmla="*/ 340 h 396"/>
                <a:gd name="T102" fmla="*/ 294 w 374"/>
                <a:gd name="T103" fmla="*/ 315 h 396"/>
                <a:gd name="T104" fmla="*/ 374 w 374"/>
                <a:gd name="T105" fmla="*/ 315 h 3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374" h="396">
                  <a:moveTo>
                    <a:pt x="297" y="225"/>
                  </a:moveTo>
                  <a:cubicBezTo>
                    <a:pt x="312" y="239"/>
                    <a:pt x="312" y="239"/>
                    <a:pt x="312" y="239"/>
                  </a:cubicBezTo>
                  <a:cubicBezTo>
                    <a:pt x="344" y="207"/>
                    <a:pt x="361" y="165"/>
                    <a:pt x="361" y="120"/>
                  </a:cubicBezTo>
                  <a:cubicBezTo>
                    <a:pt x="361" y="74"/>
                    <a:pt x="344" y="32"/>
                    <a:pt x="312" y="0"/>
                  </a:cubicBezTo>
                  <a:cubicBezTo>
                    <a:pt x="297" y="15"/>
                    <a:pt x="297" y="15"/>
                    <a:pt x="297" y="15"/>
                  </a:cubicBezTo>
                  <a:cubicBezTo>
                    <a:pt x="325" y="43"/>
                    <a:pt x="341" y="80"/>
                    <a:pt x="341" y="120"/>
                  </a:cubicBezTo>
                  <a:cubicBezTo>
                    <a:pt x="341" y="159"/>
                    <a:pt x="325" y="197"/>
                    <a:pt x="297" y="225"/>
                  </a:cubicBezTo>
                  <a:close/>
                  <a:moveTo>
                    <a:pt x="120" y="201"/>
                  </a:moveTo>
                  <a:cubicBezTo>
                    <a:pt x="135" y="186"/>
                    <a:pt x="135" y="186"/>
                    <a:pt x="135" y="186"/>
                  </a:cubicBezTo>
                  <a:cubicBezTo>
                    <a:pt x="98" y="150"/>
                    <a:pt x="98" y="90"/>
                    <a:pt x="135" y="53"/>
                  </a:cubicBezTo>
                  <a:cubicBezTo>
                    <a:pt x="120" y="38"/>
                    <a:pt x="120" y="38"/>
                    <a:pt x="120" y="38"/>
                  </a:cubicBezTo>
                  <a:cubicBezTo>
                    <a:pt x="75" y="83"/>
                    <a:pt x="75" y="156"/>
                    <a:pt x="120" y="201"/>
                  </a:cubicBezTo>
                  <a:close/>
                  <a:moveTo>
                    <a:pt x="283" y="201"/>
                  </a:moveTo>
                  <a:cubicBezTo>
                    <a:pt x="327" y="156"/>
                    <a:pt x="327" y="83"/>
                    <a:pt x="283" y="38"/>
                  </a:cubicBezTo>
                  <a:cubicBezTo>
                    <a:pt x="268" y="53"/>
                    <a:pt x="268" y="53"/>
                    <a:pt x="268" y="53"/>
                  </a:cubicBezTo>
                  <a:cubicBezTo>
                    <a:pt x="305" y="90"/>
                    <a:pt x="305" y="150"/>
                    <a:pt x="268" y="186"/>
                  </a:cubicBezTo>
                  <a:lnTo>
                    <a:pt x="283" y="201"/>
                  </a:lnTo>
                  <a:close/>
                  <a:moveTo>
                    <a:pt x="106" y="225"/>
                  </a:moveTo>
                  <a:cubicBezTo>
                    <a:pt x="78" y="197"/>
                    <a:pt x="62" y="159"/>
                    <a:pt x="62" y="120"/>
                  </a:cubicBezTo>
                  <a:cubicBezTo>
                    <a:pt x="62" y="80"/>
                    <a:pt x="78" y="43"/>
                    <a:pt x="106" y="15"/>
                  </a:cubicBezTo>
                  <a:cubicBezTo>
                    <a:pt x="91" y="0"/>
                    <a:pt x="91" y="0"/>
                    <a:pt x="91" y="0"/>
                  </a:cubicBezTo>
                  <a:cubicBezTo>
                    <a:pt x="59" y="32"/>
                    <a:pt x="42" y="74"/>
                    <a:pt x="42" y="120"/>
                  </a:cubicBezTo>
                  <a:cubicBezTo>
                    <a:pt x="42" y="165"/>
                    <a:pt x="59" y="207"/>
                    <a:pt x="91" y="239"/>
                  </a:cubicBezTo>
                  <a:lnTo>
                    <a:pt x="106" y="225"/>
                  </a:lnTo>
                  <a:close/>
                  <a:moveTo>
                    <a:pt x="374" y="315"/>
                  </a:moveTo>
                  <a:cubicBezTo>
                    <a:pt x="374" y="288"/>
                    <a:pt x="374" y="288"/>
                    <a:pt x="374" y="288"/>
                  </a:cubicBezTo>
                  <a:cubicBezTo>
                    <a:pt x="216" y="288"/>
                    <a:pt x="216" y="288"/>
                    <a:pt x="216" y="288"/>
                  </a:cubicBezTo>
                  <a:cubicBezTo>
                    <a:pt x="216" y="154"/>
                    <a:pt x="216" y="154"/>
                    <a:pt x="216" y="154"/>
                  </a:cubicBezTo>
                  <a:cubicBezTo>
                    <a:pt x="230" y="149"/>
                    <a:pt x="239" y="135"/>
                    <a:pt x="239" y="120"/>
                  </a:cubicBezTo>
                  <a:cubicBezTo>
                    <a:pt x="239" y="99"/>
                    <a:pt x="222" y="82"/>
                    <a:pt x="202" y="82"/>
                  </a:cubicBezTo>
                  <a:cubicBezTo>
                    <a:pt x="181" y="82"/>
                    <a:pt x="164" y="99"/>
                    <a:pt x="164" y="120"/>
                  </a:cubicBezTo>
                  <a:cubicBezTo>
                    <a:pt x="164" y="135"/>
                    <a:pt x="174" y="149"/>
                    <a:pt x="187" y="154"/>
                  </a:cubicBezTo>
                  <a:cubicBezTo>
                    <a:pt x="187" y="288"/>
                    <a:pt x="187" y="288"/>
                    <a:pt x="187" y="288"/>
                  </a:cubicBezTo>
                  <a:cubicBezTo>
                    <a:pt x="55" y="288"/>
                    <a:pt x="55" y="288"/>
                    <a:pt x="55" y="288"/>
                  </a:cubicBezTo>
                  <a:cubicBezTo>
                    <a:pt x="50" y="279"/>
                    <a:pt x="41" y="272"/>
                    <a:pt x="29" y="272"/>
                  </a:cubicBezTo>
                  <a:cubicBezTo>
                    <a:pt x="13" y="272"/>
                    <a:pt x="0" y="285"/>
                    <a:pt x="0" y="301"/>
                  </a:cubicBezTo>
                  <a:cubicBezTo>
                    <a:pt x="0" y="318"/>
                    <a:pt x="13" y="331"/>
                    <a:pt x="29" y="331"/>
                  </a:cubicBezTo>
                  <a:cubicBezTo>
                    <a:pt x="41" y="331"/>
                    <a:pt x="50" y="324"/>
                    <a:pt x="55" y="315"/>
                  </a:cubicBezTo>
                  <a:cubicBezTo>
                    <a:pt x="111" y="315"/>
                    <a:pt x="111" y="315"/>
                    <a:pt x="111" y="315"/>
                  </a:cubicBezTo>
                  <a:cubicBezTo>
                    <a:pt x="111" y="341"/>
                    <a:pt x="111" y="341"/>
                    <a:pt x="111" y="341"/>
                  </a:cubicBezTo>
                  <a:cubicBezTo>
                    <a:pt x="101" y="346"/>
                    <a:pt x="95" y="355"/>
                    <a:pt x="95" y="367"/>
                  </a:cubicBezTo>
                  <a:cubicBezTo>
                    <a:pt x="95" y="383"/>
                    <a:pt x="108" y="396"/>
                    <a:pt x="124" y="396"/>
                  </a:cubicBezTo>
                  <a:cubicBezTo>
                    <a:pt x="140" y="396"/>
                    <a:pt x="153" y="383"/>
                    <a:pt x="153" y="367"/>
                  </a:cubicBezTo>
                  <a:cubicBezTo>
                    <a:pt x="153" y="355"/>
                    <a:pt x="147" y="346"/>
                    <a:pt x="137" y="341"/>
                  </a:cubicBezTo>
                  <a:cubicBezTo>
                    <a:pt x="137" y="315"/>
                    <a:pt x="137" y="315"/>
                    <a:pt x="137" y="315"/>
                  </a:cubicBezTo>
                  <a:cubicBezTo>
                    <a:pt x="267" y="315"/>
                    <a:pt x="267" y="315"/>
                    <a:pt x="267" y="315"/>
                  </a:cubicBezTo>
                  <a:cubicBezTo>
                    <a:pt x="267" y="340"/>
                    <a:pt x="267" y="340"/>
                    <a:pt x="267" y="340"/>
                  </a:cubicBezTo>
                  <a:cubicBezTo>
                    <a:pt x="258" y="345"/>
                    <a:pt x="251" y="355"/>
                    <a:pt x="251" y="366"/>
                  </a:cubicBezTo>
                  <a:cubicBezTo>
                    <a:pt x="251" y="383"/>
                    <a:pt x="265" y="396"/>
                    <a:pt x="281" y="396"/>
                  </a:cubicBezTo>
                  <a:cubicBezTo>
                    <a:pt x="297" y="396"/>
                    <a:pt x="310" y="383"/>
                    <a:pt x="310" y="366"/>
                  </a:cubicBezTo>
                  <a:cubicBezTo>
                    <a:pt x="310" y="355"/>
                    <a:pt x="304" y="345"/>
                    <a:pt x="294" y="340"/>
                  </a:cubicBezTo>
                  <a:cubicBezTo>
                    <a:pt x="294" y="315"/>
                    <a:pt x="294" y="315"/>
                    <a:pt x="294" y="315"/>
                  </a:cubicBezTo>
                  <a:lnTo>
                    <a:pt x="374" y="315"/>
                  </a:lnTo>
                  <a:close/>
                </a:path>
              </a:pathLst>
            </a:custGeom>
            <a:solidFill>
              <a:srgbClr val="0096D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942565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2"/>
          <p:cNvSpPr txBox="1">
            <a:spLocks/>
          </p:cNvSpPr>
          <p:nvPr/>
        </p:nvSpPr>
        <p:spPr>
          <a:xfrm>
            <a:off x="914400" y="1337670"/>
            <a:ext cx="7772400" cy="3429000"/>
          </a:xfrm>
          <a:prstGeom prst="rect">
            <a:avLst/>
          </a:prstGeom>
        </p:spPr>
        <p:txBody>
          <a:bodyPr/>
          <a:lstStyle>
            <a:lvl1pPr marL="411480" indent="-342900" algn="l" rtl="0" eaLnBrk="1" latinLnBrk="0" hangingPunct="1">
              <a:spcBef>
                <a:spcPts val="700"/>
              </a:spcBef>
              <a:buClr>
                <a:schemeClr val="tx2"/>
              </a:buClr>
              <a:buSzPct val="95000"/>
              <a:buFont typeface="Wingdings"/>
              <a:buChar char=""/>
              <a:defRPr kumimoji="0" sz="3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0664" indent="-285750" algn="l" rtl="0" eaLnBrk="1" latinLnBrk="0" hangingPunct="1">
              <a:spcBef>
                <a:spcPct val="20000"/>
              </a:spcBef>
              <a:buClr>
                <a:schemeClr val="accent2"/>
              </a:buClr>
              <a:buSzPct val="90000"/>
              <a:buFont typeface="Wingdings"/>
              <a:buChar char=""/>
              <a:defRPr kumimoji="0"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96696" indent="-228600" algn="l" rtl="0" eaLnBrk="1" latinLnBrk="0" hangingPunct="1">
              <a:spcBef>
                <a:spcPct val="20000"/>
              </a:spcBef>
              <a:buClr>
                <a:schemeClr val="accent2"/>
              </a:buClr>
              <a:buFont typeface="Wingdings 2"/>
              <a:buChar char=""/>
              <a:defRPr kumimoji="0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61872" indent="-228600" algn="l" rtl="0" eaLnBrk="1" latinLnBrk="0" hangingPunct="1">
              <a:spcBef>
                <a:spcPct val="20000"/>
              </a:spcBef>
              <a:buClr>
                <a:schemeClr val="accent3"/>
              </a:buClr>
              <a:buFont typeface="Wingdings 3"/>
              <a:buChar char=""/>
              <a:defRPr kumimoji="0"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81328" indent="-210312" algn="l" rtl="0" eaLnBrk="1" latinLnBrk="0" hangingPunct="1">
              <a:spcBef>
                <a:spcPct val="20000"/>
              </a:spcBef>
              <a:buClr>
                <a:schemeClr val="accent3"/>
              </a:buClr>
              <a:buFont typeface="Wingdings 2"/>
              <a:buChar char="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09928" indent="-210312" algn="l" rtl="0" eaLnBrk="1" latinLnBrk="0" hangingPunct="1">
              <a:spcBef>
                <a:spcPct val="20000"/>
              </a:spcBef>
              <a:buClr>
                <a:schemeClr val="accent3"/>
              </a:buClr>
              <a:buFont typeface="Wingdings 2"/>
              <a:buChar char="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01952" indent="-182880" algn="l" rtl="0" eaLnBrk="1" latinLnBrk="0" hangingPunct="1">
              <a:spcBef>
                <a:spcPct val="20000"/>
              </a:spcBef>
              <a:buClr>
                <a:schemeClr val="accent4"/>
              </a:buClr>
              <a:buFont typeface="Wingdings 2"/>
              <a:buChar char="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093976" indent="-182880" algn="l" rtl="0" eaLnBrk="1" latinLnBrk="0" hangingPunct="1">
              <a:spcBef>
                <a:spcPct val="20000"/>
              </a:spcBef>
              <a:buClr>
                <a:schemeClr val="accent4"/>
              </a:buClr>
              <a:buFont typeface="Wingdings 2"/>
              <a:buChar char="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286000" indent="-182880" algn="l" rtl="0" eaLnBrk="1" latinLnBrk="0" hangingPunct="1">
              <a:spcBef>
                <a:spcPct val="20000"/>
              </a:spcBef>
              <a:buClr>
                <a:schemeClr val="accent4"/>
              </a:buClr>
              <a:buFont typeface="Wingdings 2"/>
              <a:buChar char="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  <a:extLst/>
          </a:lstStyle>
          <a:p>
            <a:endParaRPr lang="en-US" sz="1200" dirty="0"/>
          </a:p>
        </p:txBody>
      </p:sp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85554501"/>
              </p:ext>
            </p:extLst>
          </p:nvPr>
        </p:nvGraphicFramePr>
        <p:xfrm>
          <a:off x="118530" y="220135"/>
          <a:ext cx="8898470" cy="477519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449235"/>
                <a:gridCol w="4449235"/>
              </a:tblGrid>
              <a:tr h="934302">
                <a:tc gridSpan="2">
                  <a:txBody>
                    <a:bodyPr/>
                    <a:lstStyle/>
                    <a:p>
                      <a:pPr algn="l"/>
                      <a:r>
                        <a:rPr lang="en-US" sz="1800" dirty="0" smtClean="0">
                          <a:solidFill>
                            <a:schemeClr val="bg1"/>
                          </a:solidFill>
                          <a:latin typeface="HP Simplified" panose="020B0604020204020204" pitchFamily="34" charset="0"/>
                          <a:cs typeface="Calibri"/>
                        </a:rPr>
                        <a:t>OWASP</a:t>
                      </a:r>
                      <a:r>
                        <a:rPr lang="en-US" sz="1800" baseline="0" dirty="0" smtClean="0">
                          <a:solidFill>
                            <a:schemeClr val="bg1"/>
                          </a:solidFill>
                          <a:latin typeface="HP Simplified" panose="020B0604020204020204" pitchFamily="34" charset="0"/>
                          <a:cs typeface="Calibri"/>
                        </a:rPr>
                        <a:t> Mobile Top 10 Risks</a:t>
                      </a:r>
                      <a:endParaRPr lang="en-US" sz="1800" dirty="0">
                        <a:solidFill>
                          <a:schemeClr val="bg1"/>
                        </a:solidFill>
                        <a:latin typeface="HP Simplified" panose="020B0604020204020204" pitchFamily="34" charset="0"/>
                        <a:cs typeface="Calibri"/>
                      </a:endParaRP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</a:tr>
              <a:tr h="768179">
                <a:tc>
                  <a:txBody>
                    <a:bodyPr/>
                    <a:lstStyle/>
                    <a:p>
                      <a:r>
                        <a:rPr lang="en-US" sz="1400" dirty="0" smtClean="0">
                          <a:latin typeface="HP Simplified" panose="020B0604020204020204" pitchFamily="34" charset="0"/>
                          <a:cs typeface="Calibri"/>
                        </a:rPr>
                        <a:t>M1 – Insecure Data Storage</a:t>
                      </a:r>
                      <a:endParaRPr lang="en-US" sz="1400" dirty="0">
                        <a:latin typeface="HP Simplified" panose="020B0604020204020204" pitchFamily="34" charset="0"/>
                        <a:cs typeface="Calibri"/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 smtClean="0">
                          <a:latin typeface="HP Simplified" panose="020B0604020204020204" pitchFamily="34" charset="0"/>
                          <a:cs typeface="Calibri"/>
                        </a:rPr>
                        <a:t>M6</a:t>
                      </a:r>
                      <a:r>
                        <a:rPr lang="en-US" sz="1400" baseline="0" dirty="0" smtClean="0">
                          <a:latin typeface="HP Simplified" panose="020B0604020204020204" pitchFamily="34" charset="0"/>
                          <a:cs typeface="Calibri"/>
                        </a:rPr>
                        <a:t> – Improper Session Handling</a:t>
                      </a:r>
                      <a:endParaRPr lang="en-US" sz="1400" dirty="0">
                        <a:latin typeface="HP Simplified" panose="020B0604020204020204" pitchFamily="34" charset="0"/>
                        <a:cs typeface="Calibri"/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</a:tr>
              <a:tr h="768179">
                <a:tc>
                  <a:txBody>
                    <a:bodyPr/>
                    <a:lstStyle/>
                    <a:p>
                      <a:r>
                        <a:rPr lang="en-US" sz="1400" dirty="0" smtClean="0">
                          <a:latin typeface="HP Simplified" panose="020B0604020204020204" pitchFamily="34" charset="0"/>
                          <a:cs typeface="Calibri"/>
                        </a:rPr>
                        <a:t>M2 – </a:t>
                      </a:r>
                      <a:r>
                        <a:rPr lang="en-US" sz="1400" baseline="0" dirty="0" smtClean="0">
                          <a:latin typeface="HP Simplified" panose="020B0604020204020204" pitchFamily="34" charset="0"/>
                          <a:cs typeface="Calibri"/>
                        </a:rPr>
                        <a:t>Weak Server Side Controls</a:t>
                      </a:r>
                      <a:endParaRPr lang="en-US" sz="1400" dirty="0">
                        <a:latin typeface="HP Simplified" panose="020B0604020204020204" pitchFamily="34" charset="0"/>
                        <a:cs typeface="Calibri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400" dirty="0" smtClean="0">
                          <a:latin typeface="HP Simplified" panose="020B0604020204020204" pitchFamily="34" charset="0"/>
                          <a:cs typeface="Calibri"/>
                        </a:rPr>
                        <a:t>M7 – Security Decisions</a:t>
                      </a:r>
                      <a:r>
                        <a:rPr lang="en-US" sz="1400" baseline="0" dirty="0" smtClean="0">
                          <a:latin typeface="HP Simplified" panose="020B0604020204020204" pitchFamily="34" charset="0"/>
                          <a:cs typeface="Calibri"/>
                        </a:rPr>
                        <a:t> via Untrusted Inputs</a:t>
                      </a:r>
                      <a:endParaRPr lang="en-US" sz="1400" dirty="0">
                        <a:latin typeface="HP Simplified" panose="020B0604020204020204" pitchFamily="34" charset="0"/>
                        <a:cs typeface="Calibri"/>
                      </a:endParaRPr>
                    </a:p>
                  </a:txBody>
                  <a:tcPr anchor="ctr"/>
                </a:tc>
              </a:tr>
              <a:tr h="768179">
                <a:tc>
                  <a:txBody>
                    <a:bodyPr/>
                    <a:lstStyle/>
                    <a:p>
                      <a:r>
                        <a:rPr lang="en-US" sz="1400" dirty="0" smtClean="0">
                          <a:latin typeface="HP Simplified" panose="020B0604020204020204" pitchFamily="34" charset="0"/>
                          <a:cs typeface="Calibri"/>
                        </a:rPr>
                        <a:t>M3 – Insufficient</a:t>
                      </a:r>
                      <a:r>
                        <a:rPr lang="en-US" sz="1400" baseline="0" dirty="0" smtClean="0">
                          <a:latin typeface="HP Simplified" panose="020B0604020204020204" pitchFamily="34" charset="0"/>
                          <a:cs typeface="Calibri"/>
                        </a:rPr>
                        <a:t> Transport Layer Protection</a:t>
                      </a:r>
                      <a:endParaRPr lang="en-US" sz="1400" dirty="0">
                        <a:latin typeface="HP Simplified" panose="020B0604020204020204" pitchFamily="34" charset="0"/>
                        <a:cs typeface="Calibri"/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 smtClean="0">
                          <a:latin typeface="HP Simplified" panose="020B0604020204020204" pitchFamily="34" charset="0"/>
                          <a:cs typeface="Calibri"/>
                        </a:rPr>
                        <a:t>M8 – Side Channel Data Leakage</a:t>
                      </a:r>
                      <a:endParaRPr lang="en-US" sz="1400" dirty="0">
                        <a:latin typeface="HP Simplified" panose="020B0604020204020204" pitchFamily="34" charset="0"/>
                        <a:cs typeface="Calibri"/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</a:tr>
              <a:tr h="768179">
                <a:tc>
                  <a:txBody>
                    <a:bodyPr/>
                    <a:lstStyle/>
                    <a:p>
                      <a:r>
                        <a:rPr lang="en-US" sz="1400" dirty="0" smtClean="0">
                          <a:latin typeface="HP Simplified" panose="020B0604020204020204" pitchFamily="34" charset="0"/>
                          <a:cs typeface="Calibri"/>
                        </a:rPr>
                        <a:t>M4 – Client Side Injection</a:t>
                      </a:r>
                      <a:endParaRPr lang="en-US" sz="1400" dirty="0">
                        <a:latin typeface="HP Simplified" panose="020B0604020204020204" pitchFamily="34" charset="0"/>
                        <a:cs typeface="Calibri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400" dirty="0" smtClean="0">
                          <a:latin typeface="HP Simplified" panose="020B0604020204020204" pitchFamily="34" charset="0"/>
                          <a:cs typeface="Calibri"/>
                        </a:rPr>
                        <a:t>M9 – Broken</a:t>
                      </a:r>
                      <a:r>
                        <a:rPr lang="en-US" sz="1400" baseline="0" dirty="0" smtClean="0">
                          <a:latin typeface="HP Simplified" panose="020B0604020204020204" pitchFamily="34" charset="0"/>
                          <a:cs typeface="Calibri"/>
                        </a:rPr>
                        <a:t> Cryptography</a:t>
                      </a:r>
                      <a:endParaRPr lang="en-US" sz="1400" dirty="0">
                        <a:latin typeface="HP Simplified" panose="020B0604020204020204" pitchFamily="34" charset="0"/>
                        <a:cs typeface="Calibri"/>
                      </a:endParaRPr>
                    </a:p>
                  </a:txBody>
                  <a:tcPr anchor="ctr"/>
                </a:tc>
              </a:tr>
              <a:tr h="768179">
                <a:tc>
                  <a:txBody>
                    <a:bodyPr/>
                    <a:lstStyle/>
                    <a:p>
                      <a:r>
                        <a:rPr lang="en-US" sz="1400" dirty="0" smtClean="0">
                          <a:latin typeface="HP Simplified" panose="020B0604020204020204" pitchFamily="34" charset="0"/>
                          <a:cs typeface="Calibri"/>
                        </a:rPr>
                        <a:t>M5 – Poor Authorization and Authentication</a:t>
                      </a:r>
                      <a:endParaRPr lang="en-US" sz="1400" dirty="0">
                        <a:latin typeface="HP Simplified" panose="020B0604020204020204" pitchFamily="34" charset="0"/>
                        <a:cs typeface="Calibri"/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 smtClean="0">
                          <a:latin typeface="HP Simplified" panose="020B0604020204020204" pitchFamily="34" charset="0"/>
                          <a:cs typeface="Calibri"/>
                        </a:rPr>
                        <a:t>M10 – Sensitive Information Disclosure</a:t>
                      </a:r>
                      <a:endParaRPr lang="en-US" sz="1400" dirty="0">
                        <a:latin typeface="HP Simplified" panose="020B0604020204020204" pitchFamily="34" charset="0"/>
                        <a:cs typeface="Calibri"/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30935513"/>
      </p:ext>
    </p:extLst>
  </p:cSld>
  <p:clrMapOvr>
    <a:masterClrMapping/>
  </p:clrMapOvr>
  <p:transition>
    <p:fade thruBlk="1"/>
  </p:transition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tx1"/>
                </a:solidFill>
              </a:rPr>
              <a:t>Challenges of Mobile </a:t>
            </a:r>
            <a:r>
              <a:rPr lang="en-US" dirty="0" smtClean="0">
                <a:solidFill>
                  <a:schemeClr val="tx1"/>
                </a:solidFill>
              </a:rPr>
              <a:t>Testing: Server Side</a:t>
            </a:r>
            <a:endParaRPr lang="en-US" dirty="0"/>
          </a:p>
        </p:txBody>
      </p:sp>
      <p:sp>
        <p:nvSpPr>
          <p:cNvPr id="8" name="Freeform 7"/>
          <p:cNvSpPr>
            <a:spLocks noEditPoints="1"/>
          </p:cNvSpPr>
          <p:nvPr/>
        </p:nvSpPr>
        <p:spPr bwMode="auto">
          <a:xfrm>
            <a:off x="7711710" y="660207"/>
            <a:ext cx="1123184" cy="707347"/>
          </a:xfrm>
          <a:custGeom>
            <a:avLst/>
            <a:gdLst>
              <a:gd name="T0" fmla="*/ 77 w 427"/>
              <a:gd name="T1" fmla="*/ 234 h 234"/>
              <a:gd name="T2" fmla="*/ 47 w 427"/>
              <a:gd name="T3" fmla="*/ 227 h 234"/>
              <a:gd name="T4" fmla="*/ 0 w 427"/>
              <a:gd name="T5" fmla="*/ 156 h 234"/>
              <a:gd name="T6" fmla="*/ 7 w 427"/>
              <a:gd name="T7" fmla="*/ 125 h 234"/>
              <a:gd name="T8" fmla="*/ 78 w 427"/>
              <a:gd name="T9" fmla="*/ 79 h 234"/>
              <a:gd name="T10" fmla="*/ 79 w 427"/>
              <a:gd name="T11" fmla="*/ 79 h 234"/>
              <a:gd name="T12" fmla="*/ 84 w 427"/>
              <a:gd name="T13" fmla="*/ 62 h 234"/>
              <a:gd name="T14" fmla="*/ 179 w 427"/>
              <a:gd name="T15" fmla="*/ 0 h 234"/>
              <a:gd name="T16" fmla="*/ 220 w 427"/>
              <a:gd name="T17" fmla="*/ 8 h 234"/>
              <a:gd name="T18" fmla="*/ 277 w 427"/>
              <a:gd name="T19" fmla="*/ 70 h 234"/>
              <a:gd name="T20" fmla="*/ 301 w 427"/>
              <a:gd name="T21" fmla="*/ 67 h 234"/>
              <a:gd name="T22" fmla="*/ 334 w 427"/>
              <a:gd name="T23" fmla="*/ 74 h 234"/>
              <a:gd name="T24" fmla="*/ 382 w 427"/>
              <a:gd name="T25" fmla="*/ 133 h 234"/>
              <a:gd name="T26" fmla="*/ 397 w 427"/>
              <a:gd name="T27" fmla="*/ 137 h 234"/>
              <a:gd name="T28" fmla="*/ 397 w 427"/>
              <a:gd name="T29" fmla="*/ 137 h 234"/>
              <a:gd name="T30" fmla="*/ 427 w 427"/>
              <a:gd name="T31" fmla="*/ 183 h 234"/>
              <a:gd name="T32" fmla="*/ 423 w 427"/>
              <a:gd name="T33" fmla="*/ 203 h 234"/>
              <a:gd name="T34" fmla="*/ 382 w 427"/>
              <a:gd name="T35" fmla="*/ 234 h 234"/>
              <a:gd name="T36" fmla="*/ 77 w 427"/>
              <a:gd name="T37" fmla="*/ 234 h 234"/>
              <a:gd name="T38" fmla="*/ 404 w 427"/>
              <a:gd name="T39" fmla="*/ 195 h 234"/>
              <a:gd name="T40" fmla="*/ 407 w 427"/>
              <a:gd name="T41" fmla="*/ 183 h 234"/>
              <a:gd name="T42" fmla="*/ 389 w 427"/>
              <a:gd name="T43" fmla="*/ 155 h 234"/>
              <a:gd name="T44" fmla="*/ 389 w 427"/>
              <a:gd name="T45" fmla="*/ 155 h 234"/>
              <a:gd name="T46" fmla="*/ 377 w 427"/>
              <a:gd name="T47" fmla="*/ 153 h 234"/>
              <a:gd name="T48" fmla="*/ 375 w 427"/>
              <a:gd name="T49" fmla="*/ 153 h 234"/>
              <a:gd name="T50" fmla="*/ 364 w 427"/>
              <a:gd name="T51" fmla="*/ 144 h 234"/>
              <a:gd name="T52" fmla="*/ 326 w 427"/>
              <a:gd name="T53" fmla="*/ 92 h 234"/>
              <a:gd name="T54" fmla="*/ 301 w 427"/>
              <a:gd name="T55" fmla="*/ 87 h 234"/>
              <a:gd name="T56" fmla="*/ 274 w 427"/>
              <a:gd name="T57" fmla="*/ 93 h 234"/>
              <a:gd name="T58" fmla="*/ 261 w 427"/>
              <a:gd name="T59" fmla="*/ 86 h 234"/>
              <a:gd name="T60" fmla="*/ 212 w 427"/>
              <a:gd name="T61" fmla="*/ 27 h 234"/>
              <a:gd name="T62" fmla="*/ 179 w 427"/>
              <a:gd name="T63" fmla="*/ 20 h 234"/>
              <a:gd name="T64" fmla="*/ 103 w 427"/>
              <a:gd name="T65" fmla="*/ 70 h 234"/>
              <a:gd name="T66" fmla="*/ 97 w 427"/>
              <a:gd name="T67" fmla="*/ 91 h 234"/>
              <a:gd name="T68" fmla="*/ 86 w 427"/>
              <a:gd name="T69" fmla="*/ 99 h 234"/>
              <a:gd name="T70" fmla="*/ 78 w 427"/>
              <a:gd name="T71" fmla="*/ 99 h 234"/>
              <a:gd name="T72" fmla="*/ 25 w 427"/>
              <a:gd name="T73" fmla="*/ 133 h 234"/>
              <a:gd name="T74" fmla="*/ 20 w 427"/>
              <a:gd name="T75" fmla="*/ 156 h 234"/>
              <a:gd name="T76" fmla="*/ 55 w 427"/>
              <a:gd name="T77" fmla="*/ 209 h 234"/>
              <a:gd name="T78" fmla="*/ 78 w 427"/>
              <a:gd name="T79" fmla="*/ 214 h 234"/>
              <a:gd name="T80" fmla="*/ 78 w 427"/>
              <a:gd name="T81" fmla="*/ 214 h 234"/>
              <a:gd name="T82" fmla="*/ 380 w 427"/>
              <a:gd name="T83" fmla="*/ 214 h 23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</a:cxnLst>
            <a:rect l="0" t="0" r="r" b="b"/>
            <a:pathLst>
              <a:path w="427" h="234">
                <a:moveTo>
                  <a:pt x="77" y="234"/>
                </a:moveTo>
                <a:cubicBezTo>
                  <a:pt x="77" y="234"/>
                  <a:pt x="77" y="234"/>
                  <a:pt x="77" y="234"/>
                </a:cubicBezTo>
                <a:cubicBezTo>
                  <a:pt x="67" y="234"/>
                  <a:pt x="57" y="231"/>
                  <a:pt x="47" y="227"/>
                </a:cubicBezTo>
                <a:cubicBezTo>
                  <a:pt x="47" y="227"/>
                  <a:pt x="47" y="227"/>
                  <a:pt x="47" y="227"/>
                </a:cubicBezTo>
                <a:cubicBezTo>
                  <a:pt x="18" y="215"/>
                  <a:pt x="0" y="186"/>
                  <a:pt x="0" y="156"/>
                </a:cubicBezTo>
                <a:cubicBezTo>
                  <a:pt x="0" y="156"/>
                  <a:pt x="0" y="156"/>
                  <a:pt x="0" y="156"/>
                </a:cubicBezTo>
                <a:cubicBezTo>
                  <a:pt x="0" y="146"/>
                  <a:pt x="2" y="135"/>
                  <a:pt x="7" y="125"/>
                </a:cubicBezTo>
                <a:cubicBezTo>
                  <a:pt x="7" y="125"/>
                  <a:pt x="7" y="125"/>
                  <a:pt x="7" y="125"/>
                </a:cubicBezTo>
                <a:cubicBezTo>
                  <a:pt x="19" y="96"/>
                  <a:pt x="48" y="79"/>
                  <a:pt x="78" y="79"/>
                </a:cubicBezTo>
                <a:cubicBezTo>
                  <a:pt x="78" y="79"/>
                  <a:pt x="78" y="79"/>
                  <a:pt x="78" y="79"/>
                </a:cubicBezTo>
                <a:cubicBezTo>
                  <a:pt x="78" y="79"/>
                  <a:pt x="78" y="79"/>
                  <a:pt x="79" y="79"/>
                </a:cubicBezTo>
                <a:cubicBezTo>
                  <a:pt x="79" y="79"/>
                  <a:pt x="79" y="79"/>
                  <a:pt x="79" y="79"/>
                </a:cubicBezTo>
                <a:cubicBezTo>
                  <a:pt x="80" y="73"/>
                  <a:pt x="82" y="67"/>
                  <a:pt x="84" y="62"/>
                </a:cubicBezTo>
                <a:cubicBezTo>
                  <a:pt x="84" y="62"/>
                  <a:pt x="84" y="62"/>
                  <a:pt x="84" y="62"/>
                </a:cubicBezTo>
                <a:cubicBezTo>
                  <a:pt x="101" y="23"/>
                  <a:pt x="139" y="0"/>
                  <a:pt x="179" y="0"/>
                </a:cubicBezTo>
                <a:cubicBezTo>
                  <a:pt x="179" y="0"/>
                  <a:pt x="179" y="0"/>
                  <a:pt x="179" y="0"/>
                </a:cubicBezTo>
                <a:cubicBezTo>
                  <a:pt x="193" y="0"/>
                  <a:pt x="207" y="2"/>
                  <a:pt x="220" y="8"/>
                </a:cubicBezTo>
                <a:cubicBezTo>
                  <a:pt x="220" y="8"/>
                  <a:pt x="220" y="8"/>
                  <a:pt x="220" y="8"/>
                </a:cubicBezTo>
                <a:cubicBezTo>
                  <a:pt x="248" y="20"/>
                  <a:pt x="268" y="43"/>
                  <a:pt x="277" y="70"/>
                </a:cubicBezTo>
                <a:cubicBezTo>
                  <a:pt x="277" y="70"/>
                  <a:pt x="277" y="70"/>
                  <a:pt x="277" y="70"/>
                </a:cubicBezTo>
                <a:cubicBezTo>
                  <a:pt x="285" y="68"/>
                  <a:pt x="293" y="67"/>
                  <a:pt x="301" y="67"/>
                </a:cubicBezTo>
                <a:cubicBezTo>
                  <a:pt x="301" y="67"/>
                  <a:pt x="301" y="67"/>
                  <a:pt x="301" y="67"/>
                </a:cubicBezTo>
                <a:cubicBezTo>
                  <a:pt x="312" y="67"/>
                  <a:pt x="323" y="69"/>
                  <a:pt x="334" y="74"/>
                </a:cubicBezTo>
                <a:cubicBezTo>
                  <a:pt x="334" y="74"/>
                  <a:pt x="334" y="74"/>
                  <a:pt x="334" y="74"/>
                </a:cubicBezTo>
                <a:cubicBezTo>
                  <a:pt x="360" y="85"/>
                  <a:pt x="377" y="108"/>
                  <a:pt x="382" y="133"/>
                </a:cubicBezTo>
                <a:cubicBezTo>
                  <a:pt x="382" y="133"/>
                  <a:pt x="382" y="133"/>
                  <a:pt x="382" y="133"/>
                </a:cubicBezTo>
                <a:cubicBezTo>
                  <a:pt x="387" y="134"/>
                  <a:pt x="392" y="135"/>
                  <a:pt x="397" y="137"/>
                </a:cubicBezTo>
                <a:cubicBezTo>
                  <a:pt x="397" y="137"/>
                  <a:pt x="397" y="137"/>
                  <a:pt x="397" y="137"/>
                </a:cubicBezTo>
                <a:cubicBezTo>
                  <a:pt x="397" y="137"/>
                  <a:pt x="397" y="137"/>
                  <a:pt x="397" y="137"/>
                </a:cubicBezTo>
                <a:cubicBezTo>
                  <a:pt x="397" y="137"/>
                  <a:pt x="397" y="137"/>
                  <a:pt x="397" y="137"/>
                </a:cubicBezTo>
                <a:cubicBezTo>
                  <a:pt x="416" y="145"/>
                  <a:pt x="427" y="164"/>
                  <a:pt x="427" y="183"/>
                </a:cubicBezTo>
                <a:cubicBezTo>
                  <a:pt x="427" y="183"/>
                  <a:pt x="427" y="183"/>
                  <a:pt x="427" y="183"/>
                </a:cubicBezTo>
                <a:cubicBezTo>
                  <a:pt x="427" y="190"/>
                  <a:pt x="426" y="196"/>
                  <a:pt x="423" y="203"/>
                </a:cubicBezTo>
                <a:cubicBezTo>
                  <a:pt x="423" y="203"/>
                  <a:pt x="423" y="203"/>
                  <a:pt x="423" y="203"/>
                </a:cubicBezTo>
                <a:cubicBezTo>
                  <a:pt x="415" y="220"/>
                  <a:pt x="400" y="232"/>
                  <a:pt x="382" y="234"/>
                </a:cubicBezTo>
                <a:cubicBezTo>
                  <a:pt x="382" y="234"/>
                  <a:pt x="382" y="234"/>
                  <a:pt x="382" y="234"/>
                </a:cubicBezTo>
                <a:cubicBezTo>
                  <a:pt x="381" y="234"/>
                  <a:pt x="381" y="234"/>
                  <a:pt x="381" y="234"/>
                </a:cubicBezTo>
                <a:cubicBezTo>
                  <a:pt x="77" y="234"/>
                  <a:pt x="77" y="234"/>
                  <a:pt x="77" y="234"/>
                </a:cubicBezTo>
                <a:close/>
                <a:moveTo>
                  <a:pt x="380" y="214"/>
                </a:moveTo>
                <a:cubicBezTo>
                  <a:pt x="390" y="213"/>
                  <a:pt x="400" y="205"/>
                  <a:pt x="404" y="195"/>
                </a:cubicBezTo>
                <a:cubicBezTo>
                  <a:pt x="404" y="195"/>
                  <a:pt x="404" y="195"/>
                  <a:pt x="404" y="195"/>
                </a:cubicBezTo>
                <a:cubicBezTo>
                  <a:pt x="406" y="191"/>
                  <a:pt x="407" y="187"/>
                  <a:pt x="407" y="183"/>
                </a:cubicBezTo>
                <a:cubicBezTo>
                  <a:pt x="407" y="183"/>
                  <a:pt x="407" y="183"/>
                  <a:pt x="407" y="183"/>
                </a:cubicBezTo>
                <a:cubicBezTo>
                  <a:pt x="407" y="171"/>
                  <a:pt x="400" y="160"/>
                  <a:pt x="389" y="155"/>
                </a:cubicBezTo>
                <a:cubicBezTo>
                  <a:pt x="389" y="155"/>
                  <a:pt x="389" y="155"/>
                  <a:pt x="389" y="155"/>
                </a:cubicBezTo>
                <a:cubicBezTo>
                  <a:pt x="389" y="155"/>
                  <a:pt x="389" y="155"/>
                  <a:pt x="389" y="155"/>
                </a:cubicBezTo>
                <a:cubicBezTo>
                  <a:pt x="385" y="154"/>
                  <a:pt x="381" y="153"/>
                  <a:pt x="377" y="153"/>
                </a:cubicBezTo>
                <a:cubicBezTo>
                  <a:pt x="377" y="153"/>
                  <a:pt x="377" y="153"/>
                  <a:pt x="377" y="153"/>
                </a:cubicBezTo>
                <a:cubicBezTo>
                  <a:pt x="376" y="153"/>
                  <a:pt x="375" y="153"/>
                  <a:pt x="375" y="153"/>
                </a:cubicBezTo>
                <a:cubicBezTo>
                  <a:pt x="375" y="153"/>
                  <a:pt x="375" y="153"/>
                  <a:pt x="375" y="153"/>
                </a:cubicBezTo>
                <a:cubicBezTo>
                  <a:pt x="365" y="154"/>
                  <a:pt x="365" y="154"/>
                  <a:pt x="365" y="154"/>
                </a:cubicBezTo>
                <a:cubicBezTo>
                  <a:pt x="364" y="144"/>
                  <a:pt x="364" y="144"/>
                  <a:pt x="364" y="144"/>
                </a:cubicBezTo>
                <a:cubicBezTo>
                  <a:pt x="362" y="122"/>
                  <a:pt x="348" y="102"/>
                  <a:pt x="326" y="92"/>
                </a:cubicBezTo>
                <a:cubicBezTo>
                  <a:pt x="326" y="92"/>
                  <a:pt x="326" y="92"/>
                  <a:pt x="326" y="92"/>
                </a:cubicBezTo>
                <a:cubicBezTo>
                  <a:pt x="318" y="88"/>
                  <a:pt x="309" y="87"/>
                  <a:pt x="301" y="87"/>
                </a:cubicBezTo>
                <a:cubicBezTo>
                  <a:pt x="301" y="87"/>
                  <a:pt x="301" y="87"/>
                  <a:pt x="301" y="87"/>
                </a:cubicBezTo>
                <a:cubicBezTo>
                  <a:pt x="292" y="87"/>
                  <a:pt x="283" y="89"/>
                  <a:pt x="274" y="93"/>
                </a:cubicBezTo>
                <a:cubicBezTo>
                  <a:pt x="274" y="93"/>
                  <a:pt x="274" y="93"/>
                  <a:pt x="274" y="93"/>
                </a:cubicBezTo>
                <a:cubicBezTo>
                  <a:pt x="263" y="98"/>
                  <a:pt x="263" y="98"/>
                  <a:pt x="263" y="98"/>
                </a:cubicBezTo>
                <a:cubicBezTo>
                  <a:pt x="261" y="86"/>
                  <a:pt x="261" y="86"/>
                  <a:pt x="261" y="86"/>
                </a:cubicBezTo>
                <a:cubicBezTo>
                  <a:pt x="255" y="60"/>
                  <a:pt x="238" y="38"/>
                  <a:pt x="212" y="27"/>
                </a:cubicBezTo>
                <a:cubicBezTo>
                  <a:pt x="212" y="27"/>
                  <a:pt x="212" y="27"/>
                  <a:pt x="212" y="27"/>
                </a:cubicBezTo>
                <a:cubicBezTo>
                  <a:pt x="201" y="22"/>
                  <a:pt x="190" y="20"/>
                  <a:pt x="179" y="20"/>
                </a:cubicBezTo>
                <a:cubicBezTo>
                  <a:pt x="179" y="20"/>
                  <a:pt x="179" y="20"/>
                  <a:pt x="179" y="20"/>
                </a:cubicBezTo>
                <a:cubicBezTo>
                  <a:pt x="147" y="20"/>
                  <a:pt x="116" y="38"/>
                  <a:pt x="103" y="70"/>
                </a:cubicBezTo>
                <a:cubicBezTo>
                  <a:pt x="103" y="70"/>
                  <a:pt x="103" y="70"/>
                  <a:pt x="103" y="70"/>
                </a:cubicBezTo>
                <a:cubicBezTo>
                  <a:pt x="100" y="77"/>
                  <a:pt x="98" y="84"/>
                  <a:pt x="97" y="91"/>
                </a:cubicBezTo>
                <a:cubicBezTo>
                  <a:pt x="97" y="91"/>
                  <a:pt x="97" y="91"/>
                  <a:pt x="97" y="91"/>
                </a:cubicBezTo>
                <a:cubicBezTo>
                  <a:pt x="95" y="100"/>
                  <a:pt x="95" y="100"/>
                  <a:pt x="95" y="100"/>
                </a:cubicBezTo>
                <a:cubicBezTo>
                  <a:pt x="86" y="99"/>
                  <a:pt x="86" y="99"/>
                  <a:pt x="86" y="99"/>
                </a:cubicBezTo>
                <a:cubicBezTo>
                  <a:pt x="83" y="99"/>
                  <a:pt x="80" y="99"/>
                  <a:pt x="78" y="99"/>
                </a:cubicBezTo>
                <a:cubicBezTo>
                  <a:pt x="78" y="99"/>
                  <a:pt x="78" y="99"/>
                  <a:pt x="78" y="99"/>
                </a:cubicBezTo>
                <a:cubicBezTo>
                  <a:pt x="56" y="99"/>
                  <a:pt x="35" y="112"/>
                  <a:pt x="25" y="133"/>
                </a:cubicBezTo>
                <a:cubicBezTo>
                  <a:pt x="25" y="133"/>
                  <a:pt x="25" y="133"/>
                  <a:pt x="25" y="133"/>
                </a:cubicBezTo>
                <a:cubicBezTo>
                  <a:pt x="22" y="141"/>
                  <a:pt x="20" y="148"/>
                  <a:pt x="20" y="156"/>
                </a:cubicBezTo>
                <a:cubicBezTo>
                  <a:pt x="20" y="156"/>
                  <a:pt x="20" y="156"/>
                  <a:pt x="20" y="156"/>
                </a:cubicBezTo>
                <a:cubicBezTo>
                  <a:pt x="20" y="178"/>
                  <a:pt x="33" y="200"/>
                  <a:pt x="55" y="209"/>
                </a:cubicBezTo>
                <a:cubicBezTo>
                  <a:pt x="55" y="209"/>
                  <a:pt x="55" y="209"/>
                  <a:pt x="55" y="209"/>
                </a:cubicBezTo>
                <a:cubicBezTo>
                  <a:pt x="62" y="212"/>
                  <a:pt x="70" y="214"/>
                  <a:pt x="78" y="214"/>
                </a:cubicBezTo>
                <a:cubicBezTo>
                  <a:pt x="78" y="214"/>
                  <a:pt x="78" y="214"/>
                  <a:pt x="78" y="214"/>
                </a:cubicBezTo>
                <a:cubicBezTo>
                  <a:pt x="78" y="214"/>
                  <a:pt x="78" y="214"/>
                  <a:pt x="78" y="214"/>
                </a:cubicBezTo>
                <a:cubicBezTo>
                  <a:pt x="78" y="214"/>
                  <a:pt x="78" y="214"/>
                  <a:pt x="78" y="214"/>
                </a:cubicBezTo>
                <a:cubicBezTo>
                  <a:pt x="78" y="214"/>
                  <a:pt x="78" y="214"/>
                  <a:pt x="78" y="214"/>
                </a:cubicBezTo>
                <a:cubicBezTo>
                  <a:pt x="380" y="214"/>
                  <a:pt x="380" y="214"/>
                  <a:pt x="380" y="21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9" name="Freeform 756"/>
          <p:cNvSpPr>
            <a:spLocks noEditPoints="1"/>
          </p:cNvSpPr>
          <p:nvPr/>
        </p:nvSpPr>
        <p:spPr bwMode="auto">
          <a:xfrm>
            <a:off x="7088621" y="1200537"/>
            <a:ext cx="560667" cy="1186614"/>
          </a:xfrm>
          <a:custGeom>
            <a:avLst/>
            <a:gdLst>
              <a:gd name="T0" fmla="*/ 176 w 200"/>
              <a:gd name="T1" fmla="*/ 0 h 336"/>
              <a:gd name="T2" fmla="*/ 0 w 200"/>
              <a:gd name="T3" fmla="*/ 0 h 336"/>
              <a:gd name="T4" fmla="*/ 0 w 200"/>
              <a:gd name="T5" fmla="*/ 312 h 336"/>
              <a:gd name="T6" fmla="*/ 24 w 200"/>
              <a:gd name="T7" fmla="*/ 336 h 336"/>
              <a:gd name="T8" fmla="*/ 200 w 200"/>
              <a:gd name="T9" fmla="*/ 336 h 336"/>
              <a:gd name="T10" fmla="*/ 200 w 200"/>
              <a:gd name="T11" fmla="*/ 24 h 336"/>
              <a:gd name="T12" fmla="*/ 176 w 200"/>
              <a:gd name="T13" fmla="*/ 0 h 336"/>
              <a:gd name="T14" fmla="*/ 180 w 200"/>
              <a:gd name="T15" fmla="*/ 216 h 336"/>
              <a:gd name="T16" fmla="*/ 24 w 200"/>
              <a:gd name="T17" fmla="*/ 216 h 336"/>
              <a:gd name="T18" fmla="*/ 24 w 200"/>
              <a:gd name="T19" fmla="*/ 200 h 336"/>
              <a:gd name="T20" fmla="*/ 180 w 200"/>
              <a:gd name="T21" fmla="*/ 200 h 336"/>
              <a:gd name="T22" fmla="*/ 180 w 200"/>
              <a:gd name="T23" fmla="*/ 216 h 336"/>
              <a:gd name="T24" fmla="*/ 180 w 200"/>
              <a:gd name="T25" fmla="*/ 176 h 336"/>
              <a:gd name="T26" fmla="*/ 24 w 200"/>
              <a:gd name="T27" fmla="*/ 176 h 336"/>
              <a:gd name="T28" fmla="*/ 24 w 200"/>
              <a:gd name="T29" fmla="*/ 160 h 336"/>
              <a:gd name="T30" fmla="*/ 180 w 200"/>
              <a:gd name="T31" fmla="*/ 160 h 336"/>
              <a:gd name="T32" fmla="*/ 180 w 200"/>
              <a:gd name="T33" fmla="*/ 176 h 336"/>
              <a:gd name="T34" fmla="*/ 180 w 200"/>
              <a:gd name="T35" fmla="*/ 136 h 336"/>
              <a:gd name="T36" fmla="*/ 24 w 200"/>
              <a:gd name="T37" fmla="*/ 136 h 336"/>
              <a:gd name="T38" fmla="*/ 24 w 200"/>
              <a:gd name="T39" fmla="*/ 120 h 336"/>
              <a:gd name="T40" fmla="*/ 180 w 200"/>
              <a:gd name="T41" fmla="*/ 120 h 336"/>
              <a:gd name="T42" fmla="*/ 180 w 200"/>
              <a:gd name="T43" fmla="*/ 136 h 336"/>
              <a:gd name="T44" fmla="*/ 180 w 200"/>
              <a:gd name="T45" fmla="*/ 72 h 336"/>
              <a:gd name="T46" fmla="*/ 168 w 200"/>
              <a:gd name="T47" fmla="*/ 84 h 336"/>
              <a:gd name="T48" fmla="*/ 32 w 200"/>
              <a:gd name="T49" fmla="*/ 84 h 336"/>
              <a:gd name="T50" fmla="*/ 20 w 200"/>
              <a:gd name="T51" fmla="*/ 72 h 336"/>
              <a:gd name="T52" fmla="*/ 20 w 200"/>
              <a:gd name="T53" fmla="*/ 32 h 336"/>
              <a:gd name="T54" fmla="*/ 32 w 200"/>
              <a:gd name="T55" fmla="*/ 20 h 336"/>
              <a:gd name="T56" fmla="*/ 168 w 200"/>
              <a:gd name="T57" fmla="*/ 20 h 336"/>
              <a:gd name="T58" fmla="*/ 180 w 200"/>
              <a:gd name="T59" fmla="*/ 32 h 336"/>
              <a:gd name="T60" fmla="*/ 180 w 200"/>
              <a:gd name="T61" fmla="*/ 72 h 33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</a:cxnLst>
            <a:rect l="0" t="0" r="r" b="b"/>
            <a:pathLst>
              <a:path w="200" h="336">
                <a:moveTo>
                  <a:pt x="176" y="0"/>
                </a:moveTo>
                <a:cubicBezTo>
                  <a:pt x="0" y="0"/>
                  <a:pt x="0" y="0"/>
                  <a:pt x="0" y="0"/>
                </a:cubicBezTo>
                <a:cubicBezTo>
                  <a:pt x="0" y="312"/>
                  <a:pt x="0" y="312"/>
                  <a:pt x="0" y="312"/>
                </a:cubicBezTo>
                <a:cubicBezTo>
                  <a:pt x="0" y="325"/>
                  <a:pt x="11" y="336"/>
                  <a:pt x="24" y="336"/>
                </a:cubicBezTo>
                <a:cubicBezTo>
                  <a:pt x="200" y="336"/>
                  <a:pt x="200" y="336"/>
                  <a:pt x="200" y="336"/>
                </a:cubicBezTo>
                <a:cubicBezTo>
                  <a:pt x="200" y="24"/>
                  <a:pt x="200" y="24"/>
                  <a:pt x="200" y="24"/>
                </a:cubicBezTo>
                <a:cubicBezTo>
                  <a:pt x="200" y="11"/>
                  <a:pt x="189" y="0"/>
                  <a:pt x="176" y="0"/>
                </a:cubicBezTo>
                <a:moveTo>
                  <a:pt x="180" y="216"/>
                </a:moveTo>
                <a:cubicBezTo>
                  <a:pt x="24" y="216"/>
                  <a:pt x="24" y="216"/>
                  <a:pt x="24" y="216"/>
                </a:cubicBezTo>
                <a:cubicBezTo>
                  <a:pt x="24" y="200"/>
                  <a:pt x="24" y="200"/>
                  <a:pt x="24" y="200"/>
                </a:cubicBezTo>
                <a:cubicBezTo>
                  <a:pt x="180" y="200"/>
                  <a:pt x="180" y="200"/>
                  <a:pt x="180" y="200"/>
                </a:cubicBezTo>
                <a:lnTo>
                  <a:pt x="180" y="216"/>
                </a:lnTo>
                <a:close/>
                <a:moveTo>
                  <a:pt x="180" y="176"/>
                </a:moveTo>
                <a:cubicBezTo>
                  <a:pt x="24" y="176"/>
                  <a:pt x="24" y="176"/>
                  <a:pt x="24" y="176"/>
                </a:cubicBezTo>
                <a:cubicBezTo>
                  <a:pt x="24" y="160"/>
                  <a:pt x="24" y="160"/>
                  <a:pt x="24" y="160"/>
                </a:cubicBezTo>
                <a:cubicBezTo>
                  <a:pt x="180" y="160"/>
                  <a:pt x="180" y="160"/>
                  <a:pt x="180" y="160"/>
                </a:cubicBezTo>
                <a:lnTo>
                  <a:pt x="180" y="176"/>
                </a:lnTo>
                <a:close/>
                <a:moveTo>
                  <a:pt x="180" y="136"/>
                </a:moveTo>
                <a:cubicBezTo>
                  <a:pt x="24" y="136"/>
                  <a:pt x="24" y="136"/>
                  <a:pt x="24" y="136"/>
                </a:cubicBezTo>
                <a:cubicBezTo>
                  <a:pt x="24" y="120"/>
                  <a:pt x="24" y="120"/>
                  <a:pt x="24" y="120"/>
                </a:cubicBezTo>
                <a:cubicBezTo>
                  <a:pt x="180" y="120"/>
                  <a:pt x="180" y="120"/>
                  <a:pt x="180" y="120"/>
                </a:cubicBezTo>
                <a:lnTo>
                  <a:pt x="180" y="136"/>
                </a:lnTo>
                <a:close/>
                <a:moveTo>
                  <a:pt x="180" y="72"/>
                </a:moveTo>
                <a:cubicBezTo>
                  <a:pt x="180" y="79"/>
                  <a:pt x="175" y="84"/>
                  <a:pt x="168" y="84"/>
                </a:cubicBezTo>
                <a:cubicBezTo>
                  <a:pt x="32" y="84"/>
                  <a:pt x="32" y="84"/>
                  <a:pt x="32" y="84"/>
                </a:cubicBezTo>
                <a:cubicBezTo>
                  <a:pt x="25" y="84"/>
                  <a:pt x="20" y="79"/>
                  <a:pt x="20" y="72"/>
                </a:cubicBezTo>
                <a:cubicBezTo>
                  <a:pt x="20" y="32"/>
                  <a:pt x="20" y="32"/>
                  <a:pt x="20" y="32"/>
                </a:cubicBezTo>
                <a:cubicBezTo>
                  <a:pt x="20" y="25"/>
                  <a:pt x="25" y="20"/>
                  <a:pt x="32" y="20"/>
                </a:cubicBezTo>
                <a:cubicBezTo>
                  <a:pt x="168" y="20"/>
                  <a:pt x="168" y="20"/>
                  <a:pt x="168" y="20"/>
                </a:cubicBezTo>
                <a:cubicBezTo>
                  <a:pt x="175" y="20"/>
                  <a:pt x="180" y="25"/>
                  <a:pt x="180" y="32"/>
                </a:cubicBezTo>
                <a:lnTo>
                  <a:pt x="180" y="72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9" name="Content Placeholder 2"/>
          <p:cNvSpPr>
            <a:spLocks noGrp="1"/>
          </p:cNvSpPr>
          <p:nvPr>
            <p:ph sz="quarter" idx="10"/>
          </p:nvPr>
        </p:nvSpPr>
        <p:spPr>
          <a:xfrm>
            <a:off x="337276" y="1013880"/>
            <a:ext cx="4893980" cy="3577882"/>
          </a:xfrm>
        </p:spPr>
        <p:txBody>
          <a:bodyPr/>
          <a:lstStyle/>
          <a:p>
            <a:pPr marL="285750" indent="-285750">
              <a:buFont typeface="Arial" pitchFamily="34" charset="0"/>
              <a:buChar char="•"/>
            </a:pPr>
            <a:r>
              <a:rPr lang="en-US" sz="1400" b="0" dirty="0" smtClean="0">
                <a:solidFill>
                  <a:schemeClr val="tx1"/>
                </a:solidFill>
              </a:rPr>
              <a:t>Mobile API’s are vulnerable to most of the same vulnerabilities as standard websites e.g. SQL Injection, XSS, path traversal etc.</a:t>
            </a:r>
          </a:p>
          <a:p>
            <a:pPr marL="285750" indent="-285750">
              <a:buFont typeface="Arial" pitchFamily="34" charset="0"/>
              <a:buChar char="•"/>
            </a:pPr>
            <a:endParaRPr lang="en-US" sz="1400" b="0" dirty="0" smtClean="0">
              <a:solidFill>
                <a:schemeClr val="tx1"/>
              </a:solidFill>
            </a:endParaRPr>
          </a:p>
          <a:p>
            <a:pPr marL="285750" indent="-285750">
              <a:buFont typeface="Arial" pitchFamily="34" charset="0"/>
              <a:buChar char="•"/>
            </a:pPr>
            <a:r>
              <a:rPr lang="en-US" sz="1400" b="0" dirty="0" smtClean="0">
                <a:solidFill>
                  <a:schemeClr val="tx1"/>
                </a:solidFill>
              </a:rPr>
              <a:t>Testing JSON/XML based API’s should need to be tested with valid structures as well as invalid structures.</a:t>
            </a:r>
          </a:p>
          <a:p>
            <a:pPr marL="285750" indent="-285750">
              <a:buFont typeface="Arial" pitchFamily="34" charset="0"/>
              <a:buChar char="•"/>
            </a:pPr>
            <a:endParaRPr lang="en-US" sz="1400" b="0" dirty="0" smtClean="0">
              <a:solidFill>
                <a:schemeClr val="tx1"/>
              </a:solidFill>
            </a:endParaRPr>
          </a:p>
          <a:p>
            <a:pPr marL="285750" indent="-285750">
              <a:buFont typeface="Arial" pitchFamily="34" charset="0"/>
              <a:buChar char="•"/>
            </a:pPr>
            <a:r>
              <a:rPr lang="en-US" sz="1400" b="0" dirty="0" smtClean="0">
                <a:solidFill>
                  <a:schemeClr val="tx1"/>
                </a:solidFill>
              </a:rPr>
              <a:t>Need </a:t>
            </a:r>
            <a:r>
              <a:rPr lang="en-US" sz="1400" b="0" dirty="0">
                <a:solidFill>
                  <a:schemeClr val="tx1"/>
                </a:solidFill>
              </a:rPr>
              <a:t>to Man-In-The </a:t>
            </a:r>
            <a:r>
              <a:rPr lang="en-US" sz="1400" b="0" dirty="0" smtClean="0">
                <a:solidFill>
                  <a:schemeClr val="tx1"/>
                </a:solidFill>
              </a:rPr>
              <a:t>Middle – Set up proxy configuration</a:t>
            </a:r>
          </a:p>
          <a:p>
            <a:pPr marL="285750" indent="-285750">
              <a:buFont typeface="Arial" pitchFamily="34" charset="0"/>
              <a:buChar char="•"/>
            </a:pPr>
            <a:endParaRPr lang="en-US" sz="1400" b="0" dirty="0" smtClean="0">
              <a:solidFill>
                <a:schemeClr val="tx1"/>
              </a:solidFill>
            </a:endParaRPr>
          </a:p>
          <a:p>
            <a:pPr marL="285750" indent="-285750">
              <a:buFont typeface="Arial" pitchFamily="34" charset="0"/>
              <a:buChar char="•"/>
            </a:pPr>
            <a:r>
              <a:rPr lang="en-US" sz="1400" b="0" dirty="0" smtClean="0">
                <a:solidFill>
                  <a:schemeClr val="tx1"/>
                </a:solidFill>
              </a:rPr>
              <a:t>Not all app respect device proxy settings (especially Global HTTP proxy on iOS)</a:t>
            </a:r>
          </a:p>
          <a:p>
            <a:pPr marL="285750" indent="-285750">
              <a:buFont typeface="Arial" pitchFamily="34" charset="0"/>
              <a:buChar char="•"/>
            </a:pPr>
            <a:endParaRPr lang="en-US" sz="1400" b="0" dirty="0">
              <a:solidFill>
                <a:schemeClr val="tx1"/>
              </a:solidFill>
            </a:endParaRPr>
          </a:p>
          <a:p>
            <a:pPr marL="285750" indent="-285750">
              <a:buFont typeface="Arial" pitchFamily="34" charset="0"/>
              <a:buChar char="•"/>
            </a:pPr>
            <a:r>
              <a:rPr lang="en-US" sz="1400" b="0" dirty="0" smtClean="0">
                <a:solidFill>
                  <a:schemeClr val="tx1"/>
                </a:solidFill>
              </a:rPr>
              <a:t>Difficult </a:t>
            </a:r>
            <a:r>
              <a:rPr lang="en-US" sz="1400" b="0" dirty="0">
                <a:solidFill>
                  <a:schemeClr val="tx1"/>
                </a:solidFill>
              </a:rPr>
              <a:t>to test when using SSL and Certificate Pinning</a:t>
            </a:r>
            <a:endParaRPr lang="en-US" sz="1400" b="0" dirty="0" smtClean="0">
              <a:solidFill>
                <a:schemeClr val="tx1"/>
              </a:solidFill>
            </a:endParaRPr>
          </a:p>
          <a:p>
            <a:pPr marL="285750" indent="-285750">
              <a:buFont typeface="Arial" pitchFamily="34" charset="0"/>
              <a:buChar char="•"/>
            </a:pPr>
            <a:endParaRPr lang="en-US" sz="1600" b="0" dirty="0">
              <a:solidFill>
                <a:schemeClr val="tx1"/>
              </a:solidFill>
            </a:endParaRPr>
          </a:p>
          <a:p>
            <a:endParaRPr lang="en-US" sz="1600" b="0" dirty="0">
              <a:solidFill>
                <a:schemeClr val="tx1"/>
              </a:solidFill>
            </a:endParaRPr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44575" y="2839601"/>
            <a:ext cx="3400425" cy="1828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3351807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tx1"/>
                </a:solidFill>
              </a:rPr>
              <a:t>Challenges of Mobile Testing: </a:t>
            </a:r>
            <a:r>
              <a:rPr lang="en-US" dirty="0" smtClean="0">
                <a:solidFill>
                  <a:schemeClr val="tx1"/>
                </a:solidFill>
              </a:rPr>
              <a:t>Network</a:t>
            </a:r>
            <a:endParaRPr lang="en-US" dirty="0"/>
          </a:p>
        </p:txBody>
      </p:sp>
      <p:sp>
        <p:nvSpPr>
          <p:cNvPr id="19" name="Content Placeholder 2"/>
          <p:cNvSpPr>
            <a:spLocks noGrp="1"/>
          </p:cNvSpPr>
          <p:nvPr>
            <p:ph sz="quarter" idx="10"/>
          </p:nvPr>
        </p:nvSpPr>
        <p:spPr>
          <a:xfrm>
            <a:off x="329184" y="969842"/>
            <a:ext cx="4893980" cy="3577882"/>
          </a:xfrm>
        </p:spPr>
        <p:txBody>
          <a:bodyPr/>
          <a:lstStyle/>
          <a:p>
            <a:pPr marL="285750" indent="-285750">
              <a:buFont typeface="Arial" pitchFamily="34" charset="0"/>
              <a:buChar char="•"/>
            </a:pPr>
            <a:endParaRPr lang="en-US" sz="1600" b="0" dirty="0" smtClean="0">
              <a:solidFill>
                <a:schemeClr val="tx1"/>
              </a:solidFill>
            </a:endParaRPr>
          </a:p>
          <a:p>
            <a:pPr marL="285750" indent="-285750">
              <a:buFont typeface="Arial" pitchFamily="34" charset="0"/>
              <a:buChar char="•"/>
            </a:pPr>
            <a:endParaRPr lang="en-US" sz="1600" b="0" dirty="0" smtClean="0">
              <a:solidFill>
                <a:schemeClr val="tx1"/>
              </a:solidFill>
            </a:endParaRPr>
          </a:p>
          <a:p>
            <a:pPr marL="285750" indent="-285750">
              <a:buFont typeface="Arial" pitchFamily="34" charset="0"/>
              <a:buChar char="•"/>
            </a:pPr>
            <a:endParaRPr lang="en-US" sz="1600" b="0" dirty="0">
              <a:solidFill>
                <a:schemeClr val="tx1"/>
              </a:solidFill>
            </a:endParaRPr>
          </a:p>
          <a:p>
            <a:endParaRPr lang="en-US" sz="1600" b="0" dirty="0">
              <a:solidFill>
                <a:schemeClr val="tx1"/>
              </a:solidFill>
            </a:endParaRPr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7276" y="2209335"/>
            <a:ext cx="5551432" cy="175112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Content Placeholder 2"/>
          <p:cNvSpPr txBox="1">
            <a:spLocks/>
          </p:cNvSpPr>
          <p:nvPr/>
        </p:nvSpPr>
        <p:spPr bwMode="black">
          <a:xfrm>
            <a:off x="337276" y="883799"/>
            <a:ext cx="4893980" cy="1573114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>
            <a:lvl1pPr marL="0" indent="0" algn="l" defTabSz="4572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SzPct val="100000"/>
              <a:buFont typeface="Arial"/>
              <a:buNone/>
              <a:defRPr sz="1800" b="1" i="0" kern="1200">
                <a:solidFill>
                  <a:srgbClr val="0096D6"/>
                </a:solidFill>
                <a:latin typeface="HP Simplified" pitchFamily="34" charset="0"/>
                <a:ea typeface="+mn-ea"/>
                <a:cs typeface="HP Simplified" pitchFamily="34" charset="0"/>
              </a:defRPr>
            </a:lvl1pPr>
            <a:lvl2pPr marL="0" indent="0" algn="l" defTabSz="430213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SzPct val="100000"/>
              <a:buFont typeface="Lucida Grande"/>
              <a:buNone/>
              <a:defRPr sz="1600" b="0" i="0" kern="1200">
                <a:solidFill>
                  <a:srgbClr val="000000"/>
                </a:solidFill>
                <a:latin typeface="HP Simplified" pitchFamily="34" charset="0"/>
                <a:ea typeface="+mn-ea"/>
                <a:cs typeface="HP Simplified" pitchFamily="34" charset="0"/>
              </a:defRPr>
            </a:lvl2pPr>
            <a:lvl3pPr marL="169863" indent="-169863" algn="l" defTabSz="4572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Font typeface="HP Simplified" pitchFamily="34" charset="0"/>
              <a:buChar char="•"/>
              <a:defRPr sz="1400" b="0" i="0" kern="1200">
                <a:solidFill>
                  <a:srgbClr val="000000"/>
                </a:solidFill>
                <a:latin typeface="HP Simplified" pitchFamily="34" charset="0"/>
                <a:ea typeface="+mn-ea"/>
                <a:cs typeface="HP Simplified" pitchFamily="34" charset="0"/>
              </a:defRPr>
            </a:lvl3pPr>
            <a:lvl4pPr marL="341313" indent="-180975" algn="l" defTabSz="4572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SzPct val="80000"/>
              <a:buFont typeface="HP Simplified" pitchFamily="34" charset="0"/>
              <a:buChar char="–"/>
              <a:defRPr lang="en-US" sz="1400" b="0" i="0" kern="1200">
                <a:solidFill>
                  <a:srgbClr val="000000"/>
                </a:solidFill>
                <a:latin typeface="HP Simplified" pitchFamily="34" charset="0"/>
                <a:ea typeface="+mn-ea"/>
                <a:cs typeface="HP Simplified" pitchFamily="34" charset="0"/>
              </a:defRPr>
            </a:lvl4pPr>
            <a:lvl5pPr marL="469900" indent="-150813" algn="l" defTabSz="4572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Font typeface="HP Simplified" pitchFamily="34" charset="0"/>
              <a:buChar char="•"/>
              <a:tabLst/>
              <a:defRPr sz="1400" b="0" i="0" kern="1200">
                <a:solidFill>
                  <a:srgbClr val="000000"/>
                </a:solidFill>
                <a:latin typeface="HP Simplified" pitchFamily="34" charset="0"/>
                <a:ea typeface="+mn-ea"/>
                <a:cs typeface="HP Simplified" pitchFamily="34" charset="0"/>
              </a:defRPr>
            </a:lvl5pPr>
            <a:lvl6pPr marL="2286000" indent="0" algn="l" defTabSz="457200" rtl="0" eaLnBrk="1" latinLnBrk="0" hangingPunct="1">
              <a:lnSpc>
                <a:spcPts val="2500"/>
              </a:lnSpc>
              <a:spcBef>
                <a:spcPct val="20000"/>
              </a:spcBef>
              <a:buFont typeface="Arial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buFont typeface="Arial" pitchFamily="34" charset="0"/>
              <a:buChar char="•"/>
            </a:pPr>
            <a:r>
              <a:rPr lang="en-US" sz="1600" b="0" dirty="0" smtClean="0">
                <a:solidFill>
                  <a:schemeClr val="tx1"/>
                </a:solidFill>
              </a:rPr>
              <a:t>Privacy/data leakage, clear text data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en-US" sz="1600" b="0" dirty="0" smtClean="0">
                <a:solidFill>
                  <a:schemeClr val="tx1"/>
                </a:solidFill>
              </a:rPr>
              <a:t>Need </a:t>
            </a:r>
            <a:r>
              <a:rPr lang="en-US" sz="1600" b="0" dirty="0">
                <a:solidFill>
                  <a:schemeClr val="tx1"/>
                </a:solidFill>
              </a:rPr>
              <a:t>to </a:t>
            </a:r>
            <a:r>
              <a:rPr lang="en-US" sz="1600" b="0" dirty="0" err="1" smtClean="0">
                <a:solidFill>
                  <a:schemeClr val="tx1"/>
                </a:solidFill>
              </a:rPr>
              <a:t>MiTM</a:t>
            </a:r>
            <a:r>
              <a:rPr lang="en-US" sz="1600" b="0" dirty="0" smtClean="0">
                <a:solidFill>
                  <a:schemeClr val="tx1"/>
                </a:solidFill>
              </a:rPr>
              <a:t>, same challenges as server side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en-US" sz="1600" b="0" dirty="0" smtClean="0">
                <a:solidFill>
                  <a:schemeClr val="tx1"/>
                </a:solidFill>
              </a:rPr>
              <a:t>Difficult to test when using SSL and Certificate Pinning</a:t>
            </a:r>
          </a:p>
          <a:p>
            <a:pPr marL="285750" indent="-285750">
              <a:buFont typeface="Arial" pitchFamily="34" charset="0"/>
              <a:buChar char="•"/>
            </a:pPr>
            <a:endParaRPr lang="en-US" sz="1600" b="0" dirty="0" smtClean="0">
              <a:solidFill>
                <a:schemeClr val="tx1"/>
              </a:solidFill>
            </a:endParaRPr>
          </a:p>
          <a:p>
            <a:endParaRPr lang="en-US" sz="1600" b="0" dirty="0">
              <a:solidFill>
                <a:schemeClr val="tx1"/>
              </a:solidFill>
            </a:endParaRPr>
          </a:p>
        </p:txBody>
      </p:sp>
      <p:grpSp>
        <p:nvGrpSpPr>
          <p:cNvPr id="11" name="Group 10"/>
          <p:cNvGrpSpPr/>
          <p:nvPr/>
        </p:nvGrpSpPr>
        <p:grpSpPr>
          <a:xfrm>
            <a:off x="6635470" y="818229"/>
            <a:ext cx="2115268" cy="1263785"/>
            <a:chOff x="3865310" y="2043113"/>
            <a:chExt cx="1399948" cy="848382"/>
          </a:xfrm>
        </p:grpSpPr>
        <p:grpSp>
          <p:nvGrpSpPr>
            <p:cNvPr id="12" name="Group 11"/>
            <p:cNvGrpSpPr/>
            <p:nvPr/>
          </p:nvGrpSpPr>
          <p:grpSpPr>
            <a:xfrm>
              <a:off x="3865310" y="2160903"/>
              <a:ext cx="817815" cy="730592"/>
              <a:chOff x="3816351" y="1901826"/>
              <a:chExt cx="1503363" cy="1343025"/>
            </a:xfrm>
            <a:solidFill>
              <a:schemeClr val="accent1"/>
            </a:solidFill>
          </p:grpSpPr>
          <p:sp>
            <p:nvSpPr>
              <p:cNvPr id="14" name="Freeform 527"/>
              <p:cNvSpPr>
                <a:spLocks noEditPoints="1"/>
              </p:cNvSpPr>
              <p:nvPr/>
            </p:nvSpPr>
            <p:spPr bwMode="auto">
              <a:xfrm>
                <a:off x="4341813" y="1901826"/>
                <a:ext cx="433388" cy="301625"/>
              </a:xfrm>
              <a:custGeom>
                <a:avLst/>
                <a:gdLst>
                  <a:gd name="T0" fmla="*/ 10 w 115"/>
                  <a:gd name="T1" fmla="*/ 80 h 80"/>
                  <a:gd name="T2" fmla="*/ 115 w 115"/>
                  <a:gd name="T3" fmla="*/ 80 h 80"/>
                  <a:gd name="T4" fmla="*/ 115 w 115"/>
                  <a:gd name="T5" fmla="*/ 10 h 80"/>
                  <a:gd name="T6" fmla="*/ 105 w 115"/>
                  <a:gd name="T7" fmla="*/ 0 h 80"/>
                  <a:gd name="T8" fmla="*/ 0 w 115"/>
                  <a:gd name="T9" fmla="*/ 0 h 80"/>
                  <a:gd name="T10" fmla="*/ 0 w 115"/>
                  <a:gd name="T11" fmla="*/ 70 h 80"/>
                  <a:gd name="T12" fmla="*/ 10 w 115"/>
                  <a:gd name="T13" fmla="*/ 80 h 80"/>
                  <a:gd name="T14" fmla="*/ 12 w 115"/>
                  <a:gd name="T15" fmla="*/ 12 h 80"/>
                  <a:gd name="T16" fmla="*/ 103 w 115"/>
                  <a:gd name="T17" fmla="*/ 12 h 80"/>
                  <a:gd name="T18" fmla="*/ 103 w 115"/>
                  <a:gd name="T19" fmla="*/ 68 h 80"/>
                  <a:gd name="T20" fmla="*/ 12 w 115"/>
                  <a:gd name="T21" fmla="*/ 68 h 80"/>
                  <a:gd name="T22" fmla="*/ 12 w 115"/>
                  <a:gd name="T23" fmla="*/ 12 h 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115" h="80">
                    <a:moveTo>
                      <a:pt x="10" y="80"/>
                    </a:moveTo>
                    <a:cubicBezTo>
                      <a:pt x="115" y="80"/>
                      <a:pt x="115" y="80"/>
                      <a:pt x="115" y="80"/>
                    </a:cubicBezTo>
                    <a:cubicBezTo>
                      <a:pt x="115" y="10"/>
                      <a:pt x="115" y="10"/>
                      <a:pt x="115" y="10"/>
                    </a:cubicBezTo>
                    <a:cubicBezTo>
                      <a:pt x="115" y="4"/>
                      <a:pt x="111" y="0"/>
                      <a:pt x="105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70"/>
                      <a:pt x="0" y="70"/>
                      <a:pt x="0" y="70"/>
                    </a:cubicBezTo>
                    <a:cubicBezTo>
                      <a:pt x="0" y="75"/>
                      <a:pt x="5" y="80"/>
                      <a:pt x="10" y="80"/>
                    </a:cubicBezTo>
                    <a:close/>
                    <a:moveTo>
                      <a:pt x="12" y="12"/>
                    </a:moveTo>
                    <a:cubicBezTo>
                      <a:pt x="103" y="12"/>
                      <a:pt x="103" y="12"/>
                      <a:pt x="103" y="12"/>
                    </a:cubicBezTo>
                    <a:cubicBezTo>
                      <a:pt x="103" y="68"/>
                      <a:pt x="103" y="68"/>
                      <a:pt x="103" y="68"/>
                    </a:cubicBezTo>
                    <a:cubicBezTo>
                      <a:pt x="12" y="68"/>
                      <a:pt x="12" y="68"/>
                      <a:pt x="12" y="68"/>
                    </a:cubicBezTo>
                    <a:lnTo>
                      <a:pt x="12" y="1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5" name="Freeform 528"/>
              <p:cNvSpPr>
                <a:spLocks/>
              </p:cNvSpPr>
              <p:nvPr/>
            </p:nvSpPr>
            <p:spPr bwMode="auto">
              <a:xfrm>
                <a:off x="4341813" y="2239963"/>
                <a:ext cx="603250" cy="120650"/>
              </a:xfrm>
              <a:custGeom>
                <a:avLst/>
                <a:gdLst>
                  <a:gd name="T0" fmla="*/ 53 w 160"/>
                  <a:gd name="T1" fmla="*/ 32 h 32"/>
                  <a:gd name="T2" fmla="*/ 160 w 160"/>
                  <a:gd name="T3" fmla="*/ 32 h 32"/>
                  <a:gd name="T4" fmla="*/ 130 w 160"/>
                  <a:gd name="T5" fmla="*/ 8 h 32"/>
                  <a:gd name="T6" fmla="*/ 108 w 160"/>
                  <a:gd name="T7" fmla="*/ 0 h 32"/>
                  <a:gd name="T8" fmla="*/ 0 w 160"/>
                  <a:gd name="T9" fmla="*/ 0 h 32"/>
                  <a:gd name="T10" fmla="*/ 31 w 160"/>
                  <a:gd name="T11" fmla="*/ 24 h 32"/>
                  <a:gd name="T12" fmla="*/ 53 w 160"/>
                  <a:gd name="T13" fmla="*/ 32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60" h="32">
                    <a:moveTo>
                      <a:pt x="53" y="32"/>
                    </a:moveTo>
                    <a:cubicBezTo>
                      <a:pt x="160" y="32"/>
                      <a:pt x="160" y="32"/>
                      <a:pt x="160" y="32"/>
                    </a:cubicBezTo>
                    <a:cubicBezTo>
                      <a:pt x="130" y="8"/>
                      <a:pt x="130" y="8"/>
                      <a:pt x="130" y="8"/>
                    </a:cubicBezTo>
                    <a:cubicBezTo>
                      <a:pt x="125" y="3"/>
                      <a:pt x="115" y="0"/>
                      <a:pt x="108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31" y="24"/>
                      <a:pt x="31" y="24"/>
                      <a:pt x="31" y="24"/>
                    </a:cubicBezTo>
                    <a:cubicBezTo>
                      <a:pt x="36" y="28"/>
                      <a:pt x="46" y="32"/>
                      <a:pt x="53" y="3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6" name="Freeform 529"/>
              <p:cNvSpPr>
                <a:spLocks noEditPoints="1"/>
              </p:cNvSpPr>
              <p:nvPr/>
            </p:nvSpPr>
            <p:spPr bwMode="auto">
              <a:xfrm>
                <a:off x="4102101" y="2782888"/>
                <a:ext cx="431800" cy="300038"/>
              </a:xfrm>
              <a:custGeom>
                <a:avLst/>
                <a:gdLst>
                  <a:gd name="T0" fmla="*/ 115 w 115"/>
                  <a:gd name="T1" fmla="*/ 80 h 80"/>
                  <a:gd name="T2" fmla="*/ 115 w 115"/>
                  <a:gd name="T3" fmla="*/ 10 h 80"/>
                  <a:gd name="T4" fmla="*/ 105 w 115"/>
                  <a:gd name="T5" fmla="*/ 0 h 80"/>
                  <a:gd name="T6" fmla="*/ 0 w 115"/>
                  <a:gd name="T7" fmla="*/ 0 h 80"/>
                  <a:gd name="T8" fmla="*/ 0 w 115"/>
                  <a:gd name="T9" fmla="*/ 70 h 80"/>
                  <a:gd name="T10" fmla="*/ 10 w 115"/>
                  <a:gd name="T11" fmla="*/ 80 h 80"/>
                  <a:gd name="T12" fmla="*/ 115 w 115"/>
                  <a:gd name="T13" fmla="*/ 80 h 80"/>
                  <a:gd name="T14" fmla="*/ 12 w 115"/>
                  <a:gd name="T15" fmla="*/ 12 h 80"/>
                  <a:gd name="T16" fmla="*/ 103 w 115"/>
                  <a:gd name="T17" fmla="*/ 12 h 80"/>
                  <a:gd name="T18" fmla="*/ 103 w 115"/>
                  <a:gd name="T19" fmla="*/ 68 h 80"/>
                  <a:gd name="T20" fmla="*/ 12 w 115"/>
                  <a:gd name="T21" fmla="*/ 68 h 80"/>
                  <a:gd name="T22" fmla="*/ 12 w 115"/>
                  <a:gd name="T23" fmla="*/ 12 h 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115" h="80">
                    <a:moveTo>
                      <a:pt x="115" y="80"/>
                    </a:moveTo>
                    <a:cubicBezTo>
                      <a:pt x="115" y="10"/>
                      <a:pt x="115" y="10"/>
                      <a:pt x="115" y="10"/>
                    </a:cubicBezTo>
                    <a:cubicBezTo>
                      <a:pt x="115" y="5"/>
                      <a:pt x="111" y="0"/>
                      <a:pt x="105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70"/>
                      <a:pt x="0" y="70"/>
                      <a:pt x="0" y="70"/>
                    </a:cubicBezTo>
                    <a:cubicBezTo>
                      <a:pt x="0" y="76"/>
                      <a:pt x="5" y="80"/>
                      <a:pt x="10" y="80"/>
                    </a:cubicBezTo>
                    <a:lnTo>
                      <a:pt x="115" y="80"/>
                    </a:lnTo>
                    <a:close/>
                    <a:moveTo>
                      <a:pt x="12" y="12"/>
                    </a:moveTo>
                    <a:cubicBezTo>
                      <a:pt x="103" y="12"/>
                      <a:pt x="103" y="12"/>
                      <a:pt x="103" y="12"/>
                    </a:cubicBezTo>
                    <a:cubicBezTo>
                      <a:pt x="103" y="68"/>
                      <a:pt x="103" y="68"/>
                      <a:pt x="103" y="68"/>
                    </a:cubicBezTo>
                    <a:cubicBezTo>
                      <a:pt x="12" y="68"/>
                      <a:pt x="12" y="68"/>
                      <a:pt x="12" y="68"/>
                    </a:cubicBezTo>
                    <a:lnTo>
                      <a:pt x="12" y="1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7" name="Freeform 530"/>
              <p:cNvSpPr>
                <a:spLocks/>
              </p:cNvSpPr>
              <p:nvPr/>
            </p:nvSpPr>
            <p:spPr bwMode="auto">
              <a:xfrm>
                <a:off x="4102101" y="3121026"/>
                <a:ext cx="601663" cy="123825"/>
              </a:xfrm>
              <a:custGeom>
                <a:avLst/>
                <a:gdLst>
                  <a:gd name="T0" fmla="*/ 108 w 160"/>
                  <a:gd name="T1" fmla="*/ 0 h 33"/>
                  <a:gd name="T2" fmla="*/ 0 w 160"/>
                  <a:gd name="T3" fmla="*/ 0 h 33"/>
                  <a:gd name="T4" fmla="*/ 31 w 160"/>
                  <a:gd name="T5" fmla="*/ 24 h 33"/>
                  <a:gd name="T6" fmla="*/ 53 w 160"/>
                  <a:gd name="T7" fmla="*/ 33 h 33"/>
                  <a:gd name="T8" fmla="*/ 160 w 160"/>
                  <a:gd name="T9" fmla="*/ 33 h 33"/>
                  <a:gd name="T10" fmla="*/ 130 w 160"/>
                  <a:gd name="T11" fmla="*/ 9 h 33"/>
                  <a:gd name="T12" fmla="*/ 108 w 160"/>
                  <a:gd name="T13" fmla="*/ 0 h 3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60" h="33">
                    <a:moveTo>
                      <a:pt x="108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31" y="24"/>
                      <a:pt x="31" y="24"/>
                      <a:pt x="31" y="24"/>
                    </a:cubicBezTo>
                    <a:cubicBezTo>
                      <a:pt x="36" y="29"/>
                      <a:pt x="46" y="33"/>
                      <a:pt x="53" y="33"/>
                    </a:cubicBezTo>
                    <a:cubicBezTo>
                      <a:pt x="160" y="33"/>
                      <a:pt x="160" y="33"/>
                      <a:pt x="160" y="33"/>
                    </a:cubicBezTo>
                    <a:cubicBezTo>
                      <a:pt x="130" y="9"/>
                      <a:pt x="130" y="9"/>
                      <a:pt x="130" y="9"/>
                    </a:cubicBezTo>
                    <a:cubicBezTo>
                      <a:pt x="125" y="4"/>
                      <a:pt x="115" y="0"/>
                      <a:pt x="108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8" name="Freeform 531"/>
              <p:cNvSpPr>
                <a:spLocks noEditPoints="1"/>
              </p:cNvSpPr>
              <p:nvPr/>
            </p:nvSpPr>
            <p:spPr bwMode="auto">
              <a:xfrm>
                <a:off x="4718051" y="2782888"/>
                <a:ext cx="433388" cy="300038"/>
              </a:xfrm>
              <a:custGeom>
                <a:avLst/>
                <a:gdLst>
                  <a:gd name="T0" fmla="*/ 115 w 115"/>
                  <a:gd name="T1" fmla="*/ 80 h 80"/>
                  <a:gd name="T2" fmla="*/ 115 w 115"/>
                  <a:gd name="T3" fmla="*/ 10 h 80"/>
                  <a:gd name="T4" fmla="*/ 105 w 115"/>
                  <a:gd name="T5" fmla="*/ 0 h 80"/>
                  <a:gd name="T6" fmla="*/ 0 w 115"/>
                  <a:gd name="T7" fmla="*/ 0 h 80"/>
                  <a:gd name="T8" fmla="*/ 0 w 115"/>
                  <a:gd name="T9" fmla="*/ 70 h 80"/>
                  <a:gd name="T10" fmla="*/ 10 w 115"/>
                  <a:gd name="T11" fmla="*/ 80 h 80"/>
                  <a:gd name="T12" fmla="*/ 115 w 115"/>
                  <a:gd name="T13" fmla="*/ 80 h 80"/>
                  <a:gd name="T14" fmla="*/ 12 w 115"/>
                  <a:gd name="T15" fmla="*/ 12 h 80"/>
                  <a:gd name="T16" fmla="*/ 103 w 115"/>
                  <a:gd name="T17" fmla="*/ 12 h 80"/>
                  <a:gd name="T18" fmla="*/ 103 w 115"/>
                  <a:gd name="T19" fmla="*/ 68 h 80"/>
                  <a:gd name="T20" fmla="*/ 12 w 115"/>
                  <a:gd name="T21" fmla="*/ 68 h 80"/>
                  <a:gd name="T22" fmla="*/ 12 w 115"/>
                  <a:gd name="T23" fmla="*/ 12 h 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115" h="80">
                    <a:moveTo>
                      <a:pt x="115" y="80"/>
                    </a:moveTo>
                    <a:cubicBezTo>
                      <a:pt x="115" y="10"/>
                      <a:pt x="115" y="10"/>
                      <a:pt x="115" y="10"/>
                    </a:cubicBezTo>
                    <a:cubicBezTo>
                      <a:pt x="115" y="5"/>
                      <a:pt x="111" y="0"/>
                      <a:pt x="105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70"/>
                      <a:pt x="0" y="70"/>
                      <a:pt x="0" y="70"/>
                    </a:cubicBezTo>
                    <a:cubicBezTo>
                      <a:pt x="0" y="76"/>
                      <a:pt x="5" y="80"/>
                      <a:pt x="10" y="80"/>
                    </a:cubicBezTo>
                    <a:lnTo>
                      <a:pt x="115" y="80"/>
                    </a:lnTo>
                    <a:close/>
                    <a:moveTo>
                      <a:pt x="12" y="12"/>
                    </a:moveTo>
                    <a:cubicBezTo>
                      <a:pt x="103" y="12"/>
                      <a:pt x="103" y="12"/>
                      <a:pt x="103" y="12"/>
                    </a:cubicBezTo>
                    <a:cubicBezTo>
                      <a:pt x="103" y="68"/>
                      <a:pt x="103" y="68"/>
                      <a:pt x="103" y="68"/>
                    </a:cubicBezTo>
                    <a:cubicBezTo>
                      <a:pt x="12" y="68"/>
                      <a:pt x="12" y="68"/>
                      <a:pt x="12" y="68"/>
                    </a:cubicBezTo>
                    <a:lnTo>
                      <a:pt x="12" y="1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0" name="Freeform 532"/>
              <p:cNvSpPr>
                <a:spLocks/>
              </p:cNvSpPr>
              <p:nvPr/>
            </p:nvSpPr>
            <p:spPr bwMode="auto">
              <a:xfrm>
                <a:off x="4718051" y="3121026"/>
                <a:ext cx="601663" cy="123825"/>
              </a:xfrm>
              <a:custGeom>
                <a:avLst/>
                <a:gdLst>
                  <a:gd name="T0" fmla="*/ 108 w 160"/>
                  <a:gd name="T1" fmla="*/ 0 h 33"/>
                  <a:gd name="T2" fmla="*/ 0 w 160"/>
                  <a:gd name="T3" fmla="*/ 0 h 33"/>
                  <a:gd name="T4" fmla="*/ 31 w 160"/>
                  <a:gd name="T5" fmla="*/ 24 h 33"/>
                  <a:gd name="T6" fmla="*/ 53 w 160"/>
                  <a:gd name="T7" fmla="*/ 33 h 33"/>
                  <a:gd name="T8" fmla="*/ 160 w 160"/>
                  <a:gd name="T9" fmla="*/ 33 h 33"/>
                  <a:gd name="T10" fmla="*/ 130 w 160"/>
                  <a:gd name="T11" fmla="*/ 9 h 33"/>
                  <a:gd name="T12" fmla="*/ 108 w 160"/>
                  <a:gd name="T13" fmla="*/ 0 h 3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60" h="33">
                    <a:moveTo>
                      <a:pt x="108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31" y="24"/>
                      <a:pt x="31" y="24"/>
                      <a:pt x="31" y="24"/>
                    </a:cubicBezTo>
                    <a:cubicBezTo>
                      <a:pt x="36" y="29"/>
                      <a:pt x="46" y="33"/>
                      <a:pt x="53" y="33"/>
                    </a:cubicBezTo>
                    <a:cubicBezTo>
                      <a:pt x="160" y="33"/>
                      <a:pt x="160" y="33"/>
                      <a:pt x="160" y="33"/>
                    </a:cubicBezTo>
                    <a:cubicBezTo>
                      <a:pt x="130" y="9"/>
                      <a:pt x="130" y="9"/>
                      <a:pt x="130" y="9"/>
                    </a:cubicBezTo>
                    <a:cubicBezTo>
                      <a:pt x="125" y="4"/>
                      <a:pt x="115" y="0"/>
                      <a:pt x="108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1" name="Freeform 533"/>
              <p:cNvSpPr>
                <a:spLocks/>
              </p:cNvSpPr>
              <p:nvPr/>
            </p:nvSpPr>
            <p:spPr bwMode="auto">
              <a:xfrm>
                <a:off x="3816351" y="2406651"/>
                <a:ext cx="1503363" cy="330200"/>
              </a:xfrm>
              <a:custGeom>
                <a:avLst/>
                <a:gdLst>
                  <a:gd name="T0" fmla="*/ 224 w 400"/>
                  <a:gd name="T1" fmla="*/ 32 h 88"/>
                  <a:gd name="T2" fmla="*/ 224 w 400"/>
                  <a:gd name="T3" fmla="*/ 12 h 88"/>
                  <a:gd name="T4" fmla="*/ 224 w 400"/>
                  <a:gd name="T5" fmla="*/ 0 h 88"/>
                  <a:gd name="T6" fmla="*/ 212 w 400"/>
                  <a:gd name="T7" fmla="*/ 0 h 88"/>
                  <a:gd name="T8" fmla="*/ 200 w 400"/>
                  <a:gd name="T9" fmla="*/ 0 h 88"/>
                  <a:gd name="T10" fmla="*/ 200 w 400"/>
                  <a:gd name="T11" fmla="*/ 32 h 88"/>
                  <a:gd name="T12" fmla="*/ 62 w 400"/>
                  <a:gd name="T13" fmla="*/ 32 h 88"/>
                  <a:gd name="T14" fmla="*/ 32 w 400"/>
                  <a:gd name="T15" fmla="*/ 12 h 88"/>
                  <a:gd name="T16" fmla="*/ 0 w 400"/>
                  <a:gd name="T17" fmla="*/ 44 h 88"/>
                  <a:gd name="T18" fmla="*/ 32 w 400"/>
                  <a:gd name="T19" fmla="*/ 76 h 88"/>
                  <a:gd name="T20" fmla="*/ 62 w 400"/>
                  <a:gd name="T21" fmla="*/ 56 h 88"/>
                  <a:gd name="T22" fmla="*/ 120 w 400"/>
                  <a:gd name="T23" fmla="*/ 56 h 88"/>
                  <a:gd name="T24" fmla="*/ 120 w 400"/>
                  <a:gd name="T25" fmla="*/ 88 h 88"/>
                  <a:gd name="T26" fmla="*/ 144 w 400"/>
                  <a:gd name="T27" fmla="*/ 88 h 88"/>
                  <a:gd name="T28" fmla="*/ 144 w 400"/>
                  <a:gd name="T29" fmla="*/ 88 h 88"/>
                  <a:gd name="T30" fmla="*/ 144 w 400"/>
                  <a:gd name="T31" fmla="*/ 56 h 88"/>
                  <a:gd name="T32" fmla="*/ 280 w 400"/>
                  <a:gd name="T33" fmla="*/ 56 h 88"/>
                  <a:gd name="T34" fmla="*/ 280 w 400"/>
                  <a:gd name="T35" fmla="*/ 76 h 88"/>
                  <a:gd name="T36" fmla="*/ 280 w 400"/>
                  <a:gd name="T37" fmla="*/ 88 h 88"/>
                  <a:gd name="T38" fmla="*/ 292 w 400"/>
                  <a:gd name="T39" fmla="*/ 88 h 88"/>
                  <a:gd name="T40" fmla="*/ 304 w 400"/>
                  <a:gd name="T41" fmla="*/ 88 h 88"/>
                  <a:gd name="T42" fmla="*/ 304 w 400"/>
                  <a:gd name="T43" fmla="*/ 56 h 88"/>
                  <a:gd name="T44" fmla="*/ 400 w 400"/>
                  <a:gd name="T45" fmla="*/ 56 h 88"/>
                  <a:gd name="T46" fmla="*/ 400 w 400"/>
                  <a:gd name="T47" fmla="*/ 32 h 88"/>
                  <a:gd name="T48" fmla="*/ 224 w 400"/>
                  <a:gd name="T49" fmla="*/ 32 h 8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</a:cxnLst>
                <a:rect l="0" t="0" r="r" b="b"/>
                <a:pathLst>
                  <a:path w="400" h="88">
                    <a:moveTo>
                      <a:pt x="224" y="32"/>
                    </a:moveTo>
                    <a:cubicBezTo>
                      <a:pt x="224" y="12"/>
                      <a:pt x="224" y="12"/>
                      <a:pt x="224" y="12"/>
                    </a:cubicBezTo>
                    <a:cubicBezTo>
                      <a:pt x="224" y="0"/>
                      <a:pt x="224" y="0"/>
                      <a:pt x="224" y="0"/>
                    </a:cubicBezTo>
                    <a:cubicBezTo>
                      <a:pt x="212" y="0"/>
                      <a:pt x="212" y="0"/>
                      <a:pt x="212" y="0"/>
                    </a:cubicBezTo>
                    <a:cubicBezTo>
                      <a:pt x="200" y="0"/>
                      <a:pt x="200" y="0"/>
                      <a:pt x="200" y="0"/>
                    </a:cubicBezTo>
                    <a:cubicBezTo>
                      <a:pt x="200" y="32"/>
                      <a:pt x="200" y="32"/>
                      <a:pt x="200" y="32"/>
                    </a:cubicBezTo>
                    <a:cubicBezTo>
                      <a:pt x="62" y="32"/>
                      <a:pt x="62" y="32"/>
                      <a:pt x="62" y="32"/>
                    </a:cubicBezTo>
                    <a:cubicBezTo>
                      <a:pt x="57" y="20"/>
                      <a:pt x="46" y="12"/>
                      <a:pt x="32" y="12"/>
                    </a:cubicBezTo>
                    <a:cubicBezTo>
                      <a:pt x="15" y="12"/>
                      <a:pt x="0" y="27"/>
                      <a:pt x="0" y="44"/>
                    </a:cubicBezTo>
                    <a:cubicBezTo>
                      <a:pt x="0" y="62"/>
                      <a:pt x="15" y="76"/>
                      <a:pt x="32" y="76"/>
                    </a:cubicBezTo>
                    <a:cubicBezTo>
                      <a:pt x="46" y="76"/>
                      <a:pt x="57" y="68"/>
                      <a:pt x="62" y="56"/>
                    </a:cubicBezTo>
                    <a:cubicBezTo>
                      <a:pt x="120" y="56"/>
                      <a:pt x="120" y="56"/>
                      <a:pt x="120" y="56"/>
                    </a:cubicBezTo>
                    <a:cubicBezTo>
                      <a:pt x="120" y="88"/>
                      <a:pt x="120" y="88"/>
                      <a:pt x="120" y="88"/>
                    </a:cubicBezTo>
                    <a:cubicBezTo>
                      <a:pt x="144" y="88"/>
                      <a:pt x="144" y="88"/>
                      <a:pt x="144" y="88"/>
                    </a:cubicBezTo>
                    <a:cubicBezTo>
                      <a:pt x="144" y="88"/>
                      <a:pt x="144" y="88"/>
                      <a:pt x="144" y="88"/>
                    </a:cubicBezTo>
                    <a:cubicBezTo>
                      <a:pt x="144" y="56"/>
                      <a:pt x="144" y="56"/>
                      <a:pt x="144" y="56"/>
                    </a:cubicBezTo>
                    <a:cubicBezTo>
                      <a:pt x="280" y="56"/>
                      <a:pt x="280" y="56"/>
                      <a:pt x="280" y="56"/>
                    </a:cubicBezTo>
                    <a:cubicBezTo>
                      <a:pt x="280" y="76"/>
                      <a:pt x="280" y="76"/>
                      <a:pt x="280" y="76"/>
                    </a:cubicBezTo>
                    <a:cubicBezTo>
                      <a:pt x="280" y="88"/>
                      <a:pt x="280" y="88"/>
                      <a:pt x="280" y="88"/>
                    </a:cubicBezTo>
                    <a:cubicBezTo>
                      <a:pt x="292" y="88"/>
                      <a:pt x="292" y="88"/>
                      <a:pt x="292" y="88"/>
                    </a:cubicBezTo>
                    <a:cubicBezTo>
                      <a:pt x="304" y="88"/>
                      <a:pt x="304" y="88"/>
                      <a:pt x="304" y="88"/>
                    </a:cubicBezTo>
                    <a:cubicBezTo>
                      <a:pt x="304" y="56"/>
                      <a:pt x="304" y="56"/>
                      <a:pt x="304" y="56"/>
                    </a:cubicBezTo>
                    <a:cubicBezTo>
                      <a:pt x="400" y="56"/>
                      <a:pt x="400" y="56"/>
                      <a:pt x="400" y="56"/>
                    </a:cubicBezTo>
                    <a:cubicBezTo>
                      <a:pt x="400" y="32"/>
                      <a:pt x="400" y="32"/>
                      <a:pt x="400" y="32"/>
                    </a:cubicBezTo>
                    <a:lnTo>
                      <a:pt x="224" y="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</p:grpSp>
        <p:sp>
          <p:nvSpPr>
            <p:cNvPr id="13" name="Freeform 57"/>
            <p:cNvSpPr>
              <a:spLocks noEditPoints="1"/>
            </p:cNvSpPr>
            <p:nvPr/>
          </p:nvSpPr>
          <p:spPr bwMode="auto">
            <a:xfrm>
              <a:off x="4664075" y="2043113"/>
              <a:ext cx="601183" cy="636587"/>
            </a:xfrm>
            <a:custGeom>
              <a:avLst/>
              <a:gdLst>
                <a:gd name="T0" fmla="*/ 297 w 374"/>
                <a:gd name="T1" fmla="*/ 225 h 396"/>
                <a:gd name="T2" fmla="*/ 312 w 374"/>
                <a:gd name="T3" fmla="*/ 239 h 396"/>
                <a:gd name="T4" fmla="*/ 361 w 374"/>
                <a:gd name="T5" fmla="*/ 120 h 396"/>
                <a:gd name="T6" fmla="*/ 312 w 374"/>
                <a:gd name="T7" fmla="*/ 0 h 396"/>
                <a:gd name="T8" fmla="*/ 297 w 374"/>
                <a:gd name="T9" fmla="*/ 15 h 396"/>
                <a:gd name="T10" fmla="*/ 341 w 374"/>
                <a:gd name="T11" fmla="*/ 120 h 396"/>
                <a:gd name="T12" fmla="*/ 297 w 374"/>
                <a:gd name="T13" fmla="*/ 225 h 396"/>
                <a:gd name="T14" fmla="*/ 120 w 374"/>
                <a:gd name="T15" fmla="*/ 201 h 396"/>
                <a:gd name="T16" fmla="*/ 135 w 374"/>
                <a:gd name="T17" fmla="*/ 186 h 396"/>
                <a:gd name="T18" fmla="*/ 135 w 374"/>
                <a:gd name="T19" fmla="*/ 53 h 396"/>
                <a:gd name="T20" fmla="*/ 120 w 374"/>
                <a:gd name="T21" fmla="*/ 38 h 396"/>
                <a:gd name="T22" fmla="*/ 120 w 374"/>
                <a:gd name="T23" fmla="*/ 201 h 396"/>
                <a:gd name="T24" fmla="*/ 283 w 374"/>
                <a:gd name="T25" fmla="*/ 201 h 396"/>
                <a:gd name="T26" fmla="*/ 283 w 374"/>
                <a:gd name="T27" fmla="*/ 38 h 396"/>
                <a:gd name="T28" fmla="*/ 268 w 374"/>
                <a:gd name="T29" fmla="*/ 53 h 396"/>
                <a:gd name="T30" fmla="*/ 268 w 374"/>
                <a:gd name="T31" fmla="*/ 186 h 396"/>
                <a:gd name="T32" fmla="*/ 283 w 374"/>
                <a:gd name="T33" fmla="*/ 201 h 396"/>
                <a:gd name="T34" fmla="*/ 106 w 374"/>
                <a:gd name="T35" fmla="*/ 225 h 396"/>
                <a:gd name="T36" fmla="*/ 62 w 374"/>
                <a:gd name="T37" fmla="*/ 120 h 396"/>
                <a:gd name="T38" fmla="*/ 106 w 374"/>
                <a:gd name="T39" fmla="*/ 15 h 396"/>
                <a:gd name="T40" fmla="*/ 91 w 374"/>
                <a:gd name="T41" fmla="*/ 0 h 396"/>
                <a:gd name="T42" fmla="*/ 42 w 374"/>
                <a:gd name="T43" fmla="*/ 120 h 396"/>
                <a:gd name="T44" fmla="*/ 91 w 374"/>
                <a:gd name="T45" fmla="*/ 239 h 396"/>
                <a:gd name="T46" fmla="*/ 106 w 374"/>
                <a:gd name="T47" fmla="*/ 225 h 396"/>
                <a:gd name="T48" fmla="*/ 374 w 374"/>
                <a:gd name="T49" fmla="*/ 315 h 396"/>
                <a:gd name="T50" fmla="*/ 374 w 374"/>
                <a:gd name="T51" fmla="*/ 288 h 396"/>
                <a:gd name="T52" fmla="*/ 216 w 374"/>
                <a:gd name="T53" fmla="*/ 288 h 396"/>
                <a:gd name="T54" fmla="*/ 216 w 374"/>
                <a:gd name="T55" fmla="*/ 154 h 396"/>
                <a:gd name="T56" fmla="*/ 239 w 374"/>
                <a:gd name="T57" fmla="*/ 120 h 396"/>
                <a:gd name="T58" fmla="*/ 202 w 374"/>
                <a:gd name="T59" fmla="*/ 82 h 396"/>
                <a:gd name="T60" fmla="*/ 164 w 374"/>
                <a:gd name="T61" fmla="*/ 120 h 396"/>
                <a:gd name="T62" fmla="*/ 187 w 374"/>
                <a:gd name="T63" fmla="*/ 154 h 396"/>
                <a:gd name="T64" fmla="*/ 187 w 374"/>
                <a:gd name="T65" fmla="*/ 288 h 396"/>
                <a:gd name="T66" fmla="*/ 55 w 374"/>
                <a:gd name="T67" fmla="*/ 288 h 396"/>
                <a:gd name="T68" fmla="*/ 29 w 374"/>
                <a:gd name="T69" fmla="*/ 272 h 396"/>
                <a:gd name="T70" fmla="*/ 0 w 374"/>
                <a:gd name="T71" fmla="*/ 301 h 396"/>
                <a:gd name="T72" fmla="*/ 29 w 374"/>
                <a:gd name="T73" fmla="*/ 331 h 396"/>
                <a:gd name="T74" fmla="*/ 55 w 374"/>
                <a:gd name="T75" fmla="*/ 315 h 396"/>
                <a:gd name="T76" fmla="*/ 111 w 374"/>
                <a:gd name="T77" fmla="*/ 315 h 396"/>
                <a:gd name="T78" fmla="*/ 111 w 374"/>
                <a:gd name="T79" fmla="*/ 341 h 396"/>
                <a:gd name="T80" fmla="*/ 95 w 374"/>
                <a:gd name="T81" fmla="*/ 367 h 396"/>
                <a:gd name="T82" fmla="*/ 124 w 374"/>
                <a:gd name="T83" fmla="*/ 396 h 396"/>
                <a:gd name="T84" fmla="*/ 153 w 374"/>
                <a:gd name="T85" fmla="*/ 367 h 396"/>
                <a:gd name="T86" fmla="*/ 137 w 374"/>
                <a:gd name="T87" fmla="*/ 341 h 396"/>
                <a:gd name="T88" fmla="*/ 137 w 374"/>
                <a:gd name="T89" fmla="*/ 315 h 396"/>
                <a:gd name="T90" fmla="*/ 267 w 374"/>
                <a:gd name="T91" fmla="*/ 315 h 396"/>
                <a:gd name="T92" fmla="*/ 267 w 374"/>
                <a:gd name="T93" fmla="*/ 340 h 396"/>
                <a:gd name="T94" fmla="*/ 251 w 374"/>
                <a:gd name="T95" fmla="*/ 366 h 396"/>
                <a:gd name="T96" fmla="*/ 281 w 374"/>
                <a:gd name="T97" fmla="*/ 396 h 396"/>
                <a:gd name="T98" fmla="*/ 310 w 374"/>
                <a:gd name="T99" fmla="*/ 366 h 396"/>
                <a:gd name="T100" fmla="*/ 294 w 374"/>
                <a:gd name="T101" fmla="*/ 340 h 396"/>
                <a:gd name="T102" fmla="*/ 294 w 374"/>
                <a:gd name="T103" fmla="*/ 315 h 396"/>
                <a:gd name="T104" fmla="*/ 374 w 374"/>
                <a:gd name="T105" fmla="*/ 315 h 3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374" h="396">
                  <a:moveTo>
                    <a:pt x="297" y="225"/>
                  </a:moveTo>
                  <a:cubicBezTo>
                    <a:pt x="312" y="239"/>
                    <a:pt x="312" y="239"/>
                    <a:pt x="312" y="239"/>
                  </a:cubicBezTo>
                  <a:cubicBezTo>
                    <a:pt x="344" y="207"/>
                    <a:pt x="361" y="165"/>
                    <a:pt x="361" y="120"/>
                  </a:cubicBezTo>
                  <a:cubicBezTo>
                    <a:pt x="361" y="74"/>
                    <a:pt x="344" y="32"/>
                    <a:pt x="312" y="0"/>
                  </a:cubicBezTo>
                  <a:cubicBezTo>
                    <a:pt x="297" y="15"/>
                    <a:pt x="297" y="15"/>
                    <a:pt x="297" y="15"/>
                  </a:cubicBezTo>
                  <a:cubicBezTo>
                    <a:pt x="325" y="43"/>
                    <a:pt x="341" y="80"/>
                    <a:pt x="341" y="120"/>
                  </a:cubicBezTo>
                  <a:cubicBezTo>
                    <a:pt x="341" y="159"/>
                    <a:pt x="325" y="197"/>
                    <a:pt x="297" y="225"/>
                  </a:cubicBezTo>
                  <a:close/>
                  <a:moveTo>
                    <a:pt x="120" y="201"/>
                  </a:moveTo>
                  <a:cubicBezTo>
                    <a:pt x="135" y="186"/>
                    <a:pt x="135" y="186"/>
                    <a:pt x="135" y="186"/>
                  </a:cubicBezTo>
                  <a:cubicBezTo>
                    <a:pt x="98" y="150"/>
                    <a:pt x="98" y="90"/>
                    <a:pt x="135" y="53"/>
                  </a:cubicBezTo>
                  <a:cubicBezTo>
                    <a:pt x="120" y="38"/>
                    <a:pt x="120" y="38"/>
                    <a:pt x="120" y="38"/>
                  </a:cubicBezTo>
                  <a:cubicBezTo>
                    <a:pt x="75" y="83"/>
                    <a:pt x="75" y="156"/>
                    <a:pt x="120" y="201"/>
                  </a:cubicBezTo>
                  <a:close/>
                  <a:moveTo>
                    <a:pt x="283" y="201"/>
                  </a:moveTo>
                  <a:cubicBezTo>
                    <a:pt x="327" y="156"/>
                    <a:pt x="327" y="83"/>
                    <a:pt x="283" y="38"/>
                  </a:cubicBezTo>
                  <a:cubicBezTo>
                    <a:pt x="268" y="53"/>
                    <a:pt x="268" y="53"/>
                    <a:pt x="268" y="53"/>
                  </a:cubicBezTo>
                  <a:cubicBezTo>
                    <a:pt x="305" y="90"/>
                    <a:pt x="305" y="150"/>
                    <a:pt x="268" y="186"/>
                  </a:cubicBezTo>
                  <a:lnTo>
                    <a:pt x="283" y="201"/>
                  </a:lnTo>
                  <a:close/>
                  <a:moveTo>
                    <a:pt x="106" y="225"/>
                  </a:moveTo>
                  <a:cubicBezTo>
                    <a:pt x="78" y="197"/>
                    <a:pt x="62" y="159"/>
                    <a:pt x="62" y="120"/>
                  </a:cubicBezTo>
                  <a:cubicBezTo>
                    <a:pt x="62" y="80"/>
                    <a:pt x="78" y="43"/>
                    <a:pt x="106" y="15"/>
                  </a:cubicBezTo>
                  <a:cubicBezTo>
                    <a:pt x="91" y="0"/>
                    <a:pt x="91" y="0"/>
                    <a:pt x="91" y="0"/>
                  </a:cubicBezTo>
                  <a:cubicBezTo>
                    <a:pt x="59" y="32"/>
                    <a:pt x="42" y="74"/>
                    <a:pt x="42" y="120"/>
                  </a:cubicBezTo>
                  <a:cubicBezTo>
                    <a:pt x="42" y="165"/>
                    <a:pt x="59" y="207"/>
                    <a:pt x="91" y="239"/>
                  </a:cubicBezTo>
                  <a:lnTo>
                    <a:pt x="106" y="225"/>
                  </a:lnTo>
                  <a:close/>
                  <a:moveTo>
                    <a:pt x="374" y="315"/>
                  </a:moveTo>
                  <a:cubicBezTo>
                    <a:pt x="374" y="288"/>
                    <a:pt x="374" y="288"/>
                    <a:pt x="374" y="288"/>
                  </a:cubicBezTo>
                  <a:cubicBezTo>
                    <a:pt x="216" y="288"/>
                    <a:pt x="216" y="288"/>
                    <a:pt x="216" y="288"/>
                  </a:cubicBezTo>
                  <a:cubicBezTo>
                    <a:pt x="216" y="154"/>
                    <a:pt x="216" y="154"/>
                    <a:pt x="216" y="154"/>
                  </a:cubicBezTo>
                  <a:cubicBezTo>
                    <a:pt x="230" y="149"/>
                    <a:pt x="239" y="135"/>
                    <a:pt x="239" y="120"/>
                  </a:cubicBezTo>
                  <a:cubicBezTo>
                    <a:pt x="239" y="99"/>
                    <a:pt x="222" y="82"/>
                    <a:pt x="202" y="82"/>
                  </a:cubicBezTo>
                  <a:cubicBezTo>
                    <a:pt x="181" y="82"/>
                    <a:pt x="164" y="99"/>
                    <a:pt x="164" y="120"/>
                  </a:cubicBezTo>
                  <a:cubicBezTo>
                    <a:pt x="164" y="135"/>
                    <a:pt x="174" y="149"/>
                    <a:pt x="187" y="154"/>
                  </a:cubicBezTo>
                  <a:cubicBezTo>
                    <a:pt x="187" y="288"/>
                    <a:pt x="187" y="288"/>
                    <a:pt x="187" y="288"/>
                  </a:cubicBezTo>
                  <a:cubicBezTo>
                    <a:pt x="55" y="288"/>
                    <a:pt x="55" y="288"/>
                    <a:pt x="55" y="288"/>
                  </a:cubicBezTo>
                  <a:cubicBezTo>
                    <a:pt x="50" y="279"/>
                    <a:pt x="41" y="272"/>
                    <a:pt x="29" y="272"/>
                  </a:cubicBezTo>
                  <a:cubicBezTo>
                    <a:pt x="13" y="272"/>
                    <a:pt x="0" y="285"/>
                    <a:pt x="0" y="301"/>
                  </a:cubicBezTo>
                  <a:cubicBezTo>
                    <a:pt x="0" y="318"/>
                    <a:pt x="13" y="331"/>
                    <a:pt x="29" y="331"/>
                  </a:cubicBezTo>
                  <a:cubicBezTo>
                    <a:pt x="41" y="331"/>
                    <a:pt x="50" y="324"/>
                    <a:pt x="55" y="315"/>
                  </a:cubicBezTo>
                  <a:cubicBezTo>
                    <a:pt x="111" y="315"/>
                    <a:pt x="111" y="315"/>
                    <a:pt x="111" y="315"/>
                  </a:cubicBezTo>
                  <a:cubicBezTo>
                    <a:pt x="111" y="341"/>
                    <a:pt x="111" y="341"/>
                    <a:pt x="111" y="341"/>
                  </a:cubicBezTo>
                  <a:cubicBezTo>
                    <a:pt x="101" y="346"/>
                    <a:pt x="95" y="355"/>
                    <a:pt x="95" y="367"/>
                  </a:cubicBezTo>
                  <a:cubicBezTo>
                    <a:pt x="95" y="383"/>
                    <a:pt x="108" y="396"/>
                    <a:pt x="124" y="396"/>
                  </a:cubicBezTo>
                  <a:cubicBezTo>
                    <a:pt x="140" y="396"/>
                    <a:pt x="153" y="383"/>
                    <a:pt x="153" y="367"/>
                  </a:cubicBezTo>
                  <a:cubicBezTo>
                    <a:pt x="153" y="355"/>
                    <a:pt x="147" y="346"/>
                    <a:pt x="137" y="341"/>
                  </a:cubicBezTo>
                  <a:cubicBezTo>
                    <a:pt x="137" y="315"/>
                    <a:pt x="137" y="315"/>
                    <a:pt x="137" y="315"/>
                  </a:cubicBezTo>
                  <a:cubicBezTo>
                    <a:pt x="267" y="315"/>
                    <a:pt x="267" y="315"/>
                    <a:pt x="267" y="315"/>
                  </a:cubicBezTo>
                  <a:cubicBezTo>
                    <a:pt x="267" y="340"/>
                    <a:pt x="267" y="340"/>
                    <a:pt x="267" y="340"/>
                  </a:cubicBezTo>
                  <a:cubicBezTo>
                    <a:pt x="258" y="345"/>
                    <a:pt x="251" y="355"/>
                    <a:pt x="251" y="366"/>
                  </a:cubicBezTo>
                  <a:cubicBezTo>
                    <a:pt x="251" y="383"/>
                    <a:pt x="265" y="396"/>
                    <a:pt x="281" y="396"/>
                  </a:cubicBezTo>
                  <a:cubicBezTo>
                    <a:pt x="297" y="396"/>
                    <a:pt x="310" y="383"/>
                    <a:pt x="310" y="366"/>
                  </a:cubicBezTo>
                  <a:cubicBezTo>
                    <a:pt x="310" y="355"/>
                    <a:pt x="304" y="345"/>
                    <a:pt x="294" y="340"/>
                  </a:cubicBezTo>
                  <a:cubicBezTo>
                    <a:pt x="294" y="315"/>
                    <a:pt x="294" y="315"/>
                    <a:pt x="294" y="315"/>
                  </a:cubicBezTo>
                  <a:lnTo>
                    <a:pt x="374" y="315"/>
                  </a:lnTo>
                  <a:close/>
                </a:path>
              </a:pathLst>
            </a:custGeom>
            <a:solidFill>
              <a:srgbClr val="0096D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3" name="Rectangle 2"/>
          <p:cNvSpPr/>
          <p:nvPr/>
        </p:nvSpPr>
        <p:spPr>
          <a:xfrm>
            <a:off x="1438578" y="2754848"/>
            <a:ext cx="856158" cy="116484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885279" y="3203312"/>
            <a:ext cx="652311" cy="128133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1106599" y="3855623"/>
            <a:ext cx="760058" cy="104836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3057707" y="3267378"/>
            <a:ext cx="693080" cy="13395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19186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tx1"/>
                </a:solidFill>
              </a:rPr>
              <a:t>Challenges of Mobile Testing: </a:t>
            </a:r>
            <a:r>
              <a:rPr lang="en-US" dirty="0" smtClean="0">
                <a:solidFill>
                  <a:schemeClr val="tx1"/>
                </a:solidFill>
              </a:rPr>
              <a:t>Client</a:t>
            </a:r>
            <a:endParaRPr lang="en-US" dirty="0"/>
          </a:p>
        </p:txBody>
      </p:sp>
      <p:sp>
        <p:nvSpPr>
          <p:cNvPr id="19" name="Content Placeholder 2"/>
          <p:cNvSpPr>
            <a:spLocks noGrp="1"/>
          </p:cNvSpPr>
          <p:nvPr>
            <p:ph sz="quarter" idx="10"/>
          </p:nvPr>
        </p:nvSpPr>
        <p:spPr>
          <a:xfrm>
            <a:off x="329184" y="969842"/>
            <a:ext cx="4893980" cy="3577882"/>
          </a:xfrm>
        </p:spPr>
        <p:txBody>
          <a:bodyPr/>
          <a:lstStyle/>
          <a:p>
            <a:pPr marL="285750" indent="-285750">
              <a:buFont typeface="Arial" pitchFamily="34" charset="0"/>
              <a:buChar char="•"/>
            </a:pPr>
            <a:endParaRPr lang="en-US" sz="1600" b="0" dirty="0" smtClean="0">
              <a:solidFill>
                <a:schemeClr val="tx1"/>
              </a:solidFill>
            </a:endParaRPr>
          </a:p>
          <a:p>
            <a:pPr marL="285750" indent="-285750">
              <a:buFont typeface="Arial" pitchFamily="34" charset="0"/>
              <a:buChar char="•"/>
            </a:pPr>
            <a:endParaRPr lang="en-US" sz="1600" b="0" dirty="0" smtClean="0">
              <a:solidFill>
                <a:schemeClr val="tx1"/>
              </a:solidFill>
            </a:endParaRPr>
          </a:p>
          <a:p>
            <a:pPr marL="285750" indent="-285750">
              <a:buFont typeface="Arial" pitchFamily="34" charset="0"/>
              <a:buChar char="•"/>
            </a:pPr>
            <a:endParaRPr lang="en-US" sz="1600" b="0" dirty="0">
              <a:solidFill>
                <a:schemeClr val="tx1"/>
              </a:solidFill>
            </a:endParaRPr>
          </a:p>
          <a:p>
            <a:endParaRPr lang="en-US" sz="1600" b="0" dirty="0">
              <a:solidFill>
                <a:schemeClr val="tx1"/>
              </a:solidFill>
            </a:endParaRPr>
          </a:p>
        </p:txBody>
      </p:sp>
      <p:sp>
        <p:nvSpPr>
          <p:cNvPr id="10" name="Content Placeholder 2"/>
          <p:cNvSpPr txBox="1">
            <a:spLocks/>
          </p:cNvSpPr>
          <p:nvPr/>
        </p:nvSpPr>
        <p:spPr bwMode="black">
          <a:xfrm>
            <a:off x="337276" y="774040"/>
            <a:ext cx="4893980" cy="3972686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>
            <a:lvl1pPr marL="0" indent="0" algn="l" defTabSz="4572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SzPct val="100000"/>
              <a:buFont typeface="Arial"/>
              <a:buNone/>
              <a:defRPr sz="1800" b="1" i="0" kern="1200">
                <a:solidFill>
                  <a:srgbClr val="0096D6"/>
                </a:solidFill>
                <a:latin typeface="HP Simplified" pitchFamily="34" charset="0"/>
                <a:ea typeface="+mn-ea"/>
                <a:cs typeface="HP Simplified" pitchFamily="34" charset="0"/>
              </a:defRPr>
            </a:lvl1pPr>
            <a:lvl2pPr marL="0" indent="0" algn="l" defTabSz="430213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SzPct val="100000"/>
              <a:buFont typeface="Lucida Grande"/>
              <a:buNone/>
              <a:defRPr sz="1600" b="0" i="0" kern="1200">
                <a:solidFill>
                  <a:srgbClr val="000000"/>
                </a:solidFill>
                <a:latin typeface="HP Simplified" pitchFamily="34" charset="0"/>
                <a:ea typeface="+mn-ea"/>
                <a:cs typeface="HP Simplified" pitchFamily="34" charset="0"/>
              </a:defRPr>
            </a:lvl2pPr>
            <a:lvl3pPr marL="169863" indent="-169863" algn="l" defTabSz="4572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Font typeface="HP Simplified" pitchFamily="34" charset="0"/>
              <a:buChar char="•"/>
              <a:defRPr sz="1400" b="0" i="0" kern="1200">
                <a:solidFill>
                  <a:srgbClr val="000000"/>
                </a:solidFill>
                <a:latin typeface="HP Simplified" pitchFamily="34" charset="0"/>
                <a:ea typeface="+mn-ea"/>
                <a:cs typeface="HP Simplified" pitchFamily="34" charset="0"/>
              </a:defRPr>
            </a:lvl3pPr>
            <a:lvl4pPr marL="341313" indent="-180975" algn="l" defTabSz="4572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SzPct val="80000"/>
              <a:buFont typeface="HP Simplified" pitchFamily="34" charset="0"/>
              <a:buChar char="–"/>
              <a:defRPr lang="en-US" sz="1400" b="0" i="0" kern="1200">
                <a:solidFill>
                  <a:srgbClr val="000000"/>
                </a:solidFill>
                <a:latin typeface="HP Simplified" pitchFamily="34" charset="0"/>
                <a:ea typeface="+mn-ea"/>
                <a:cs typeface="HP Simplified" pitchFamily="34" charset="0"/>
              </a:defRPr>
            </a:lvl4pPr>
            <a:lvl5pPr marL="469900" indent="-150813" algn="l" defTabSz="4572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Font typeface="HP Simplified" pitchFamily="34" charset="0"/>
              <a:buChar char="•"/>
              <a:tabLst/>
              <a:defRPr sz="1400" b="0" i="0" kern="1200">
                <a:solidFill>
                  <a:srgbClr val="000000"/>
                </a:solidFill>
                <a:latin typeface="HP Simplified" pitchFamily="34" charset="0"/>
                <a:ea typeface="+mn-ea"/>
                <a:cs typeface="HP Simplified" pitchFamily="34" charset="0"/>
              </a:defRPr>
            </a:lvl5pPr>
            <a:lvl6pPr marL="2286000" indent="0" algn="l" defTabSz="457200" rtl="0" eaLnBrk="1" latinLnBrk="0" hangingPunct="1">
              <a:lnSpc>
                <a:spcPts val="2500"/>
              </a:lnSpc>
              <a:spcBef>
                <a:spcPct val="20000"/>
              </a:spcBef>
              <a:buFont typeface="Arial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buFont typeface="Arial" pitchFamily="34" charset="0"/>
              <a:buChar char="•"/>
            </a:pPr>
            <a:r>
              <a:rPr lang="en-US" sz="1400" b="0" dirty="0" smtClean="0">
                <a:solidFill>
                  <a:schemeClr val="tx1"/>
                </a:solidFill>
              </a:rPr>
              <a:t>The big unknown especially without source code.  Even with source code its not always easy (what is sensitive input?)</a:t>
            </a:r>
          </a:p>
          <a:p>
            <a:pPr marL="285750" indent="-285750">
              <a:buFont typeface="Arial" pitchFamily="34" charset="0"/>
              <a:buChar char="•"/>
            </a:pPr>
            <a:endParaRPr lang="en-US" sz="1600" b="0" dirty="0">
              <a:solidFill>
                <a:schemeClr val="tx1"/>
              </a:solidFill>
            </a:endParaRPr>
          </a:p>
          <a:p>
            <a:pPr marL="285750" indent="-285750">
              <a:buFont typeface="Arial" pitchFamily="34" charset="0"/>
              <a:buChar char="•"/>
            </a:pPr>
            <a:r>
              <a:rPr lang="en-US" sz="1400" b="0" dirty="0" smtClean="0">
                <a:solidFill>
                  <a:schemeClr val="tx1"/>
                </a:solidFill>
              </a:rPr>
              <a:t>What’s the concern, my data safe right?   Once jail broken, all bets are off</a:t>
            </a:r>
            <a:r>
              <a:rPr lang="en-US" sz="1600" b="0" dirty="0" smtClean="0">
                <a:solidFill>
                  <a:schemeClr val="tx1"/>
                </a:solidFill>
              </a:rPr>
              <a:t>.</a:t>
            </a:r>
          </a:p>
          <a:p>
            <a:pPr marL="285750" indent="-285750">
              <a:buFont typeface="Arial" pitchFamily="34" charset="0"/>
              <a:buChar char="•"/>
            </a:pPr>
            <a:endParaRPr lang="en-US" sz="1600" b="0" dirty="0" smtClean="0">
              <a:solidFill>
                <a:schemeClr val="tx1"/>
              </a:solidFill>
            </a:endParaRPr>
          </a:p>
          <a:p>
            <a:pPr marL="285750" indent="-285750">
              <a:buFont typeface="Arial" pitchFamily="34" charset="0"/>
              <a:buChar char="•"/>
            </a:pPr>
            <a:r>
              <a:rPr lang="en-US" sz="1400" b="0" dirty="0" smtClean="0">
                <a:solidFill>
                  <a:schemeClr val="tx1"/>
                </a:solidFill>
              </a:rPr>
              <a:t>What is being written to the file system?</a:t>
            </a:r>
          </a:p>
          <a:p>
            <a:pPr marL="455613" lvl="2" indent="-285750">
              <a:buFont typeface="Courier New" panose="02070309020205020404" pitchFamily="49" charset="0"/>
              <a:buChar char="o"/>
            </a:pPr>
            <a:r>
              <a:rPr lang="en-US" sz="1200" dirty="0" smtClean="0">
                <a:solidFill>
                  <a:schemeClr val="tx1"/>
                </a:solidFill>
              </a:rPr>
              <a:t>Credentials</a:t>
            </a:r>
          </a:p>
          <a:p>
            <a:pPr marL="455613" lvl="2" indent="-285750">
              <a:buFont typeface="Courier New" panose="02070309020205020404" pitchFamily="49" charset="0"/>
              <a:buChar char="o"/>
            </a:pPr>
            <a:r>
              <a:rPr lang="en-US" sz="1200" b="0" dirty="0" smtClean="0">
                <a:solidFill>
                  <a:schemeClr val="tx1"/>
                </a:solidFill>
              </a:rPr>
              <a:t>Private information</a:t>
            </a:r>
          </a:p>
          <a:p>
            <a:pPr marL="455613" lvl="2" indent="-285750">
              <a:buFont typeface="Courier New" panose="02070309020205020404" pitchFamily="49" charset="0"/>
              <a:buChar char="o"/>
            </a:pPr>
            <a:r>
              <a:rPr lang="en-US" sz="1200" dirty="0" smtClean="0">
                <a:solidFill>
                  <a:schemeClr val="tx1"/>
                </a:solidFill>
              </a:rPr>
              <a:t>Sensitive photos outside of sandbox</a:t>
            </a:r>
          </a:p>
          <a:p>
            <a:pPr marL="455613" lvl="2" indent="-285750">
              <a:buFont typeface="Arial" pitchFamily="34" charset="0"/>
              <a:buChar char="•"/>
            </a:pPr>
            <a:endParaRPr lang="en-US" sz="1200" b="0" dirty="0" smtClean="0">
              <a:solidFill>
                <a:schemeClr val="tx1"/>
              </a:solidFill>
            </a:endParaRPr>
          </a:p>
          <a:p>
            <a:pPr marL="285750" indent="-285750">
              <a:buFont typeface="Arial" pitchFamily="34" charset="0"/>
              <a:buChar char="•"/>
            </a:pPr>
            <a:r>
              <a:rPr lang="en-US" sz="1400" b="0" dirty="0" smtClean="0">
                <a:solidFill>
                  <a:schemeClr val="tx1"/>
                </a:solidFill>
              </a:rPr>
              <a:t>SQL Lite</a:t>
            </a:r>
          </a:p>
          <a:p>
            <a:pPr marL="455613" lvl="2" indent="-285750">
              <a:buFont typeface="Courier New" panose="02070309020205020404" pitchFamily="49" charset="0"/>
              <a:buChar char="o"/>
            </a:pPr>
            <a:r>
              <a:rPr lang="en-US" sz="1200" b="0" dirty="0" smtClean="0">
                <a:solidFill>
                  <a:schemeClr val="tx1"/>
                </a:solidFill>
              </a:rPr>
              <a:t>Application storage</a:t>
            </a:r>
          </a:p>
          <a:p>
            <a:pPr marL="455613" lvl="2" indent="-285750">
              <a:buFont typeface="Courier New" panose="02070309020205020404" pitchFamily="49" charset="0"/>
              <a:buChar char="o"/>
            </a:pPr>
            <a:r>
              <a:rPr lang="en-US" sz="1200" dirty="0" smtClean="0">
                <a:solidFill>
                  <a:schemeClr val="tx1"/>
                </a:solidFill>
              </a:rPr>
              <a:t>iOS </a:t>
            </a:r>
            <a:r>
              <a:rPr lang="en-US" sz="1200" dirty="0" err="1" smtClean="0">
                <a:solidFill>
                  <a:schemeClr val="tx1"/>
                </a:solidFill>
              </a:rPr>
              <a:t>WebKit</a:t>
            </a:r>
            <a:r>
              <a:rPr lang="en-US" sz="1200" dirty="0" smtClean="0">
                <a:solidFill>
                  <a:schemeClr val="tx1"/>
                </a:solidFill>
              </a:rPr>
              <a:t> cache (includes query string)</a:t>
            </a:r>
          </a:p>
          <a:p>
            <a:pPr marL="455613" lvl="2" indent="-285750">
              <a:buFont typeface="Courier New" panose="02070309020205020404" pitchFamily="49" charset="0"/>
              <a:buChar char="o"/>
            </a:pPr>
            <a:r>
              <a:rPr lang="en-US" sz="1200" b="0" dirty="0" smtClean="0">
                <a:solidFill>
                  <a:schemeClr val="tx1"/>
                </a:solidFill>
              </a:rPr>
              <a:t>Example, RSA 2014 Mobile App</a:t>
            </a:r>
          </a:p>
          <a:p>
            <a:endParaRPr lang="en-US" sz="1600" b="0" dirty="0">
              <a:solidFill>
                <a:schemeClr val="tx1"/>
              </a:solidFill>
            </a:endParaRPr>
          </a:p>
        </p:txBody>
      </p:sp>
      <p:grpSp>
        <p:nvGrpSpPr>
          <p:cNvPr id="22" name="Group 21"/>
          <p:cNvGrpSpPr/>
          <p:nvPr/>
        </p:nvGrpSpPr>
        <p:grpSpPr>
          <a:xfrm>
            <a:off x="8050179" y="771852"/>
            <a:ext cx="476746" cy="479230"/>
            <a:chOff x="-1444625" y="1844675"/>
            <a:chExt cx="1341438" cy="1341438"/>
          </a:xfrm>
          <a:solidFill>
            <a:schemeClr val="accent1"/>
          </a:solidFill>
        </p:grpSpPr>
        <p:sp>
          <p:nvSpPr>
            <p:cNvPr id="23" name="Freeform 12"/>
            <p:cNvSpPr>
              <a:spLocks noEditPoints="1"/>
            </p:cNvSpPr>
            <p:nvPr/>
          </p:nvSpPr>
          <p:spPr bwMode="auto">
            <a:xfrm>
              <a:off x="-1444625" y="1844675"/>
              <a:ext cx="1341438" cy="1341438"/>
            </a:xfrm>
            <a:custGeom>
              <a:avLst/>
              <a:gdLst>
                <a:gd name="T0" fmla="*/ 179 w 358"/>
                <a:gd name="T1" fmla="*/ 0 h 358"/>
                <a:gd name="T2" fmla="*/ 358 w 358"/>
                <a:gd name="T3" fmla="*/ 179 h 358"/>
                <a:gd name="T4" fmla="*/ 179 w 358"/>
                <a:gd name="T5" fmla="*/ 358 h 358"/>
                <a:gd name="T6" fmla="*/ 0 w 358"/>
                <a:gd name="T7" fmla="*/ 179 h 358"/>
                <a:gd name="T8" fmla="*/ 179 w 358"/>
                <a:gd name="T9" fmla="*/ 0 h 358"/>
                <a:gd name="T10" fmla="*/ 179 w 358"/>
                <a:gd name="T11" fmla="*/ 41 h 358"/>
                <a:gd name="T12" fmla="*/ 41 w 358"/>
                <a:gd name="T13" fmla="*/ 179 h 358"/>
                <a:gd name="T14" fmla="*/ 179 w 358"/>
                <a:gd name="T15" fmla="*/ 317 h 358"/>
                <a:gd name="T16" fmla="*/ 317 w 358"/>
                <a:gd name="T17" fmla="*/ 179 h 358"/>
                <a:gd name="T18" fmla="*/ 179 w 358"/>
                <a:gd name="T19" fmla="*/ 41 h 3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358" h="358">
                  <a:moveTo>
                    <a:pt x="179" y="0"/>
                  </a:moveTo>
                  <a:cubicBezTo>
                    <a:pt x="278" y="0"/>
                    <a:pt x="358" y="80"/>
                    <a:pt x="358" y="179"/>
                  </a:cubicBezTo>
                  <a:cubicBezTo>
                    <a:pt x="358" y="278"/>
                    <a:pt x="278" y="358"/>
                    <a:pt x="179" y="358"/>
                  </a:cubicBezTo>
                  <a:cubicBezTo>
                    <a:pt x="80" y="358"/>
                    <a:pt x="0" y="278"/>
                    <a:pt x="0" y="179"/>
                  </a:cubicBezTo>
                  <a:cubicBezTo>
                    <a:pt x="0" y="80"/>
                    <a:pt x="80" y="0"/>
                    <a:pt x="179" y="0"/>
                  </a:cubicBezTo>
                  <a:moveTo>
                    <a:pt x="179" y="41"/>
                  </a:moveTo>
                  <a:cubicBezTo>
                    <a:pt x="103" y="41"/>
                    <a:pt x="41" y="103"/>
                    <a:pt x="41" y="179"/>
                  </a:cubicBezTo>
                  <a:cubicBezTo>
                    <a:pt x="41" y="255"/>
                    <a:pt x="103" y="317"/>
                    <a:pt x="179" y="317"/>
                  </a:cubicBezTo>
                  <a:cubicBezTo>
                    <a:pt x="255" y="317"/>
                    <a:pt x="317" y="255"/>
                    <a:pt x="317" y="179"/>
                  </a:cubicBezTo>
                  <a:cubicBezTo>
                    <a:pt x="317" y="103"/>
                    <a:pt x="255" y="41"/>
                    <a:pt x="179" y="4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4" name="Freeform 13"/>
            <p:cNvSpPr>
              <a:spLocks noEditPoints="1"/>
            </p:cNvSpPr>
            <p:nvPr/>
          </p:nvSpPr>
          <p:spPr bwMode="auto">
            <a:xfrm>
              <a:off x="-860425" y="2203450"/>
              <a:ext cx="180975" cy="665163"/>
            </a:xfrm>
            <a:custGeom>
              <a:avLst/>
              <a:gdLst>
                <a:gd name="T0" fmla="*/ 48 w 48"/>
                <a:gd name="T1" fmla="*/ 155 h 177"/>
                <a:gd name="T2" fmla="*/ 43 w 48"/>
                <a:gd name="T3" fmla="*/ 172 h 177"/>
                <a:gd name="T4" fmla="*/ 24 w 48"/>
                <a:gd name="T5" fmla="*/ 177 h 177"/>
                <a:gd name="T6" fmla="*/ 5 w 48"/>
                <a:gd name="T7" fmla="*/ 172 h 177"/>
                <a:gd name="T8" fmla="*/ 0 w 48"/>
                <a:gd name="T9" fmla="*/ 155 h 177"/>
                <a:gd name="T10" fmla="*/ 5 w 48"/>
                <a:gd name="T11" fmla="*/ 138 h 177"/>
                <a:gd name="T12" fmla="*/ 24 w 48"/>
                <a:gd name="T13" fmla="*/ 132 h 177"/>
                <a:gd name="T14" fmla="*/ 43 w 48"/>
                <a:gd name="T15" fmla="*/ 138 h 177"/>
                <a:gd name="T16" fmla="*/ 48 w 48"/>
                <a:gd name="T17" fmla="*/ 155 h 177"/>
                <a:gd name="T18" fmla="*/ 8 w 48"/>
                <a:gd name="T19" fmla="*/ 108 h 177"/>
                <a:gd name="T20" fmla="*/ 6 w 48"/>
                <a:gd name="T21" fmla="*/ 90 h 177"/>
                <a:gd name="T22" fmla="*/ 4 w 48"/>
                <a:gd name="T23" fmla="*/ 70 h 177"/>
                <a:gd name="T24" fmla="*/ 3 w 48"/>
                <a:gd name="T25" fmla="*/ 52 h 177"/>
                <a:gd name="T26" fmla="*/ 2 w 48"/>
                <a:gd name="T27" fmla="*/ 37 h 177"/>
                <a:gd name="T28" fmla="*/ 2 w 48"/>
                <a:gd name="T29" fmla="*/ 0 h 177"/>
                <a:gd name="T30" fmla="*/ 36 w 48"/>
                <a:gd name="T31" fmla="*/ 0 h 177"/>
                <a:gd name="T32" fmla="*/ 46 w 48"/>
                <a:gd name="T33" fmla="*/ 9 h 177"/>
                <a:gd name="T34" fmla="*/ 46 w 48"/>
                <a:gd name="T35" fmla="*/ 36 h 177"/>
                <a:gd name="T36" fmla="*/ 45 w 48"/>
                <a:gd name="T37" fmla="*/ 53 h 177"/>
                <a:gd name="T38" fmla="*/ 43 w 48"/>
                <a:gd name="T39" fmla="*/ 75 h 177"/>
                <a:gd name="T40" fmla="*/ 41 w 48"/>
                <a:gd name="T41" fmla="*/ 98 h 177"/>
                <a:gd name="T42" fmla="*/ 39 w 48"/>
                <a:gd name="T43" fmla="*/ 118 h 177"/>
                <a:gd name="T44" fmla="*/ 17 w 48"/>
                <a:gd name="T45" fmla="*/ 118 h 177"/>
                <a:gd name="T46" fmla="*/ 11 w 48"/>
                <a:gd name="T47" fmla="*/ 115 h 177"/>
                <a:gd name="T48" fmla="*/ 8 w 48"/>
                <a:gd name="T49" fmla="*/ 108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48" h="177">
                  <a:moveTo>
                    <a:pt x="48" y="155"/>
                  </a:moveTo>
                  <a:cubicBezTo>
                    <a:pt x="48" y="163"/>
                    <a:pt x="46" y="168"/>
                    <a:pt x="43" y="172"/>
                  </a:cubicBezTo>
                  <a:cubicBezTo>
                    <a:pt x="39" y="176"/>
                    <a:pt x="33" y="177"/>
                    <a:pt x="24" y="177"/>
                  </a:cubicBezTo>
                  <a:cubicBezTo>
                    <a:pt x="15" y="177"/>
                    <a:pt x="9" y="176"/>
                    <a:pt x="5" y="172"/>
                  </a:cubicBezTo>
                  <a:cubicBezTo>
                    <a:pt x="1" y="168"/>
                    <a:pt x="0" y="163"/>
                    <a:pt x="0" y="155"/>
                  </a:cubicBezTo>
                  <a:cubicBezTo>
                    <a:pt x="0" y="147"/>
                    <a:pt x="1" y="141"/>
                    <a:pt x="5" y="138"/>
                  </a:cubicBezTo>
                  <a:cubicBezTo>
                    <a:pt x="9" y="134"/>
                    <a:pt x="15" y="132"/>
                    <a:pt x="24" y="132"/>
                  </a:cubicBezTo>
                  <a:cubicBezTo>
                    <a:pt x="33" y="132"/>
                    <a:pt x="39" y="134"/>
                    <a:pt x="43" y="138"/>
                  </a:cubicBezTo>
                  <a:cubicBezTo>
                    <a:pt x="46" y="141"/>
                    <a:pt x="48" y="147"/>
                    <a:pt x="48" y="155"/>
                  </a:cubicBezTo>
                  <a:close/>
                  <a:moveTo>
                    <a:pt x="8" y="108"/>
                  </a:moveTo>
                  <a:cubicBezTo>
                    <a:pt x="7" y="103"/>
                    <a:pt x="6" y="96"/>
                    <a:pt x="6" y="90"/>
                  </a:cubicBezTo>
                  <a:cubicBezTo>
                    <a:pt x="5" y="83"/>
                    <a:pt x="4" y="77"/>
                    <a:pt x="4" y="70"/>
                  </a:cubicBezTo>
                  <a:cubicBezTo>
                    <a:pt x="3" y="64"/>
                    <a:pt x="3" y="58"/>
                    <a:pt x="3" y="52"/>
                  </a:cubicBezTo>
                  <a:cubicBezTo>
                    <a:pt x="2" y="46"/>
                    <a:pt x="2" y="41"/>
                    <a:pt x="2" y="37"/>
                  </a:cubicBezTo>
                  <a:cubicBezTo>
                    <a:pt x="2" y="0"/>
                    <a:pt x="2" y="0"/>
                    <a:pt x="2" y="0"/>
                  </a:cubicBezTo>
                  <a:cubicBezTo>
                    <a:pt x="36" y="0"/>
                    <a:pt x="36" y="0"/>
                    <a:pt x="36" y="0"/>
                  </a:cubicBezTo>
                  <a:cubicBezTo>
                    <a:pt x="42" y="0"/>
                    <a:pt x="46" y="3"/>
                    <a:pt x="46" y="9"/>
                  </a:cubicBezTo>
                  <a:cubicBezTo>
                    <a:pt x="46" y="36"/>
                    <a:pt x="46" y="36"/>
                    <a:pt x="46" y="36"/>
                  </a:cubicBezTo>
                  <a:cubicBezTo>
                    <a:pt x="46" y="40"/>
                    <a:pt x="45" y="46"/>
                    <a:pt x="45" y="53"/>
                  </a:cubicBezTo>
                  <a:cubicBezTo>
                    <a:pt x="45" y="60"/>
                    <a:pt x="44" y="68"/>
                    <a:pt x="43" y="75"/>
                  </a:cubicBezTo>
                  <a:cubicBezTo>
                    <a:pt x="43" y="83"/>
                    <a:pt x="42" y="91"/>
                    <a:pt x="41" y="98"/>
                  </a:cubicBezTo>
                  <a:cubicBezTo>
                    <a:pt x="40" y="106"/>
                    <a:pt x="39" y="112"/>
                    <a:pt x="39" y="118"/>
                  </a:cubicBezTo>
                  <a:cubicBezTo>
                    <a:pt x="17" y="118"/>
                    <a:pt x="17" y="118"/>
                    <a:pt x="17" y="118"/>
                  </a:cubicBezTo>
                  <a:cubicBezTo>
                    <a:pt x="14" y="118"/>
                    <a:pt x="12" y="117"/>
                    <a:pt x="11" y="115"/>
                  </a:cubicBezTo>
                  <a:cubicBezTo>
                    <a:pt x="9" y="114"/>
                    <a:pt x="8" y="112"/>
                    <a:pt x="8" y="10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grpSp>
        <p:nvGrpSpPr>
          <p:cNvPr id="25" name="Group 24"/>
          <p:cNvGrpSpPr/>
          <p:nvPr/>
        </p:nvGrpSpPr>
        <p:grpSpPr>
          <a:xfrm>
            <a:off x="7982927" y="519959"/>
            <a:ext cx="611251" cy="1073667"/>
            <a:chOff x="4222751" y="2071688"/>
            <a:chExt cx="692150" cy="1008063"/>
          </a:xfrm>
          <a:solidFill>
            <a:schemeClr val="accent1"/>
          </a:solidFill>
        </p:grpSpPr>
        <p:sp>
          <p:nvSpPr>
            <p:cNvPr id="26" name="Oval 259"/>
            <p:cNvSpPr>
              <a:spLocks noChangeArrowheads="1"/>
            </p:cNvSpPr>
            <p:nvPr/>
          </p:nvSpPr>
          <p:spPr bwMode="auto">
            <a:xfrm>
              <a:off x="4527551" y="2846388"/>
              <a:ext cx="82550" cy="82550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7" name="Freeform 260"/>
            <p:cNvSpPr>
              <a:spLocks noEditPoints="1"/>
            </p:cNvSpPr>
            <p:nvPr/>
          </p:nvSpPr>
          <p:spPr bwMode="auto">
            <a:xfrm>
              <a:off x="4222751" y="2071688"/>
              <a:ext cx="692150" cy="1008063"/>
            </a:xfrm>
            <a:custGeom>
              <a:avLst/>
              <a:gdLst>
                <a:gd name="T0" fmla="*/ 144 w 184"/>
                <a:gd name="T1" fmla="*/ 0 h 268"/>
                <a:gd name="T2" fmla="*/ 88 w 184"/>
                <a:gd name="T3" fmla="*/ 0 h 268"/>
                <a:gd name="T4" fmla="*/ 0 w 184"/>
                <a:gd name="T5" fmla="*/ 0 h 268"/>
                <a:gd name="T6" fmla="*/ 0 w 184"/>
                <a:gd name="T7" fmla="*/ 79 h 268"/>
                <a:gd name="T8" fmla="*/ 0 w 184"/>
                <a:gd name="T9" fmla="*/ 228 h 268"/>
                <a:gd name="T10" fmla="*/ 40 w 184"/>
                <a:gd name="T11" fmla="*/ 268 h 268"/>
                <a:gd name="T12" fmla="*/ 101 w 184"/>
                <a:gd name="T13" fmla="*/ 268 h 268"/>
                <a:gd name="T14" fmla="*/ 184 w 184"/>
                <a:gd name="T15" fmla="*/ 268 h 268"/>
                <a:gd name="T16" fmla="*/ 184 w 184"/>
                <a:gd name="T17" fmla="*/ 189 h 268"/>
                <a:gd name="T18" fmla="*/ 184 w 184"/>
                <a:gd name="T19" fmla="*/ 40 h 268"/>
                <a:gd name="T20" fmla="*/ 144 w 184"/>
                <a:gd name="T21" fmla="*/ 0 h 268"/>
                <a:gd name="T22" fmla="*/ 44 w 184"/>
                <a:gd name="T23" fmla="*/ 244 h 268"/>
                <a:gd name="T24" fmla="*/ 24 w 184"/>
                <a:gd name="T25" fmla="*/ 224 h 268"/>
                <a:gd name="T26" fmla="*/ 24 w 184"/>
                <a:gd name="T27" fmla="*/ 24 h 268"/>
                <a:gd name="T28" fmla="*/ 140 w 184"/>
                <a:gd name="T29" fmla="*/ 24 h 268"/>
                <a:gd name="T30" fmla="*/ 160 w 184"/>
                <a:gd name="T31" fmla="*/ 44 h 268"/>
                <a:gd name="T32" fmla="*/ 160 w 184"/>
                <a:gd name="T33" fmla="*/ 244 h 268"/>
                <a:gd name="T34" fmla="*/ 44 w 184"/>
                <a:gd name="T35" fmla="*/ 244 h 2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184" h="268">
                  <a:moveTo>
                    <a:pt x="144" y="0"/>
                  </a:moveTo>
                  <a:cubicBezTo>
                    <a:pt x="88" y="0"/>
                    <a:pt x="88" y="0"/>
                    <a:pt x="88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79"/>
                    <a:pt x="0" y="79"/>
                    <a:pt x="0" y="79"/>
                  </a:cubicBezTo>
                  <a:cubicBezTo>
                    <a:pt x="0" y="228"/>
                    <a:pt x="0" y="228"/>
                    <a:pt x="0" y="228"/>
                  </a:cubicBezTo>
                  <a:cubicBezTo>
                    <a:pt x="0" y="252"/>
                    <a:pt x="16" y="268"/>
                    <a:pt x="40" y="268"/>
                  </a:cubicBezTo>
                  <a:cubicBezTo>
                    <a:pt x="101" y="268"/>
                    <a:pt x="101" y="268"/>
                    <a:pt x="101" y="268"/>
                  </a:cubicBezTo>
                  <a:cubicBezTo>
                    <a:pt x="184" y="268"/>
                    <a:pt x="184" y="268"/>
                    <a:pt x="184" y="268"/>
                  </a:cubicBezTo>
                  <a:cubicBezTo>
                    <a:pt x="184" y="189"/>
                    <a:pt x="184" y="189"/>
                    <a:pt x="184" y="189"/>
                  </a:cubicBezTo>
                  <a:cubicBezTo>
                    <a:pt x="184" y="40"/>
                    <a:pt x="184" y="40"/>
                    <a:pt x="184" y="40"/>
                  </a:cubicBezTo>
                  <a:cubicBezTo>
                    <a:pt x="184" y="16"/>
                    <a:pt x="168" y="0"/>
                    <a:pt x="144" y="0"/>
                  </a:cubicBezTo>
                  <a:moveTo>
                    <a:pt x="44" y="244"/>
                  </a:moveTo>
                  <a:cubicBezTo>
                    <a:pt x="32" y="244"/>
                    <a:pt x="24" y="236"/>
                    <a:pt x="24" y="224"/>
                  </a:cubicBezTo>
                  <a:cubicBezTo>
                    <a:pt x="24" y="217"/>
                    <a:pt x="24" y="24"/>
                    <a:pt x="24" y="24"/>
                  </a:cubicBezTo>
                  <a:cubicBezTo>
                    <a:pt x="140" y="24"/>
                    <a:pt x="140" y="24"/>
                    <a:pt x="140" y="24"/>
                  </a:cubicBezTo>
                  <a:cubicBezTo>
                    <a:pt x="152" y="24"/>
                    <a:pt x="160" y="32"/>
                    <a:pt x="160" y="44"/>
                  </a:cubicBezTo>
                  <a:cubicBezTo>
                    <a:pt x="160" y="244"/>
                    <a:pt x="160" y="244"/>
                    <a:pt x="160" y="244"/>
                  </a:cubicBezTo>
                  <a:lnTo>
                    <a:pt x="44" y="24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pic>
        <p:nvPicPr>
          <p:cNvPr id="4099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56496" y="2284154"/>
            <a:ext cx="4080132" cy="20855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TextBox 2"/>
          <p:cNvSpPr txBox="1"/>
          <p:nvPr/>
        </p:nvSpPr>
        <p:spPr>
          <a:xfrm>
            <a:off x="4556496" y="4446806"/>
            <a:ext cx="2456693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defTabSz="430213">
              <a:spcAft>
                <a:spcPts val="400"/>
              </a:spcAft>
              <a:buSzPct val="100000"/>
            </a:pPr>
            <a:r>
              <a:rPr lang="en-US" sz="800" dirty="0">
                <a:solidFill>
                  <a:srgbClr val="000000"/>
                </a:solidFill>
                <a:latin typeface="HP Simplified" pitchFamily="34" charset="0"/>
                <a:cs typeface="HP Simplified" pitchFamily="34" charset="0"/>
              </a:rPr>
              <a:t>s</a:t>
            </a:r>
            <a:r>
              <a:rPr lang="en-US" sz="800" dirty="0" smtClean="0">
                <a:solidFill>
                  <a:srgbClr val="000000"/>
                </a:solidFill>
                <a:latin typeface="HP Simplified" pitchFamily="34" charset="0"/>
                <a:cs typeface="HP Simplified" pitchFamily="34" charset="0"/>
              </a:rPr>
              <a:t>ource: </a:t>
            </a:r>
            <a:r>
              <a:rPr lang="en-US" sz="800" dirty="0" err="1">
                <a:solidFill>
                  <a:srgbClr val="000000"/>
                </a:solidFill>
                <a:latin typeface="HP Simplified" pitchFamily="34" charset="0"/>
                <a:cs typeface="HP Simplified" pitchFamily="34" charset="0"/>
              </a:rPr>
              <a:t>I</a:t>
            </a:r>
            <a:r>
              <a:rPr lang="en-US" sz="800" dirty="0" err="1" smtClean="0">
                <a:solidFill>
                  <a:srgbClr val="000000"/>
                </a:solidFill>
                <a:latin typeface="HP Simplified" pitchFamily="34" charset="0"/>
                <a:cs typeface="HP Simplified" pitchFamily="34" charset="0"/>
              </a:rPr>
              <a:t>OActive</a:t>
            </a:r>
            <a:endParaRPr lang="en-US" sz="800" dirty="0" smtClean="0">
              <a:solidFill>
                <a:srgbClr val="000000"/>
              </a:solidFill>
              <a:latin typeface="HP Simplified" pitchFamily="34" charset="0"/>
              <a:cs typeface="HP Simplified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443534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9184" y="235064"/>
            <a:ext cx="8117206" cy="861774"/>
          </a:xfrm>
        </p:spPr>
        <p:txBody>
          <a:bodyPr/>
          <a:lstStyle/>
          <a:p>
            <a:r>
              <a:rPr lang="en-US" dirty="0"/>
              <a:t>Common v</a:t>
            </a:r>
            <a:r>
              <a:rPr lang="en-US" dirty="0" smtClean="0"/>
              <a:t>ulnerabilities</a:t>
            </a:r>
            <a:r>
              <a:rPr lang="en-US" dirty="0"/>
              <a:t>: 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>Promiscuous client-side storage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6"/>
          </p:nvPr>
        </p:nvSpPr>
        <p:spPr/>
        <p:txBody>
          <a:bodyPr/>
          <a:lstStyle/>
          <a:p>
            <a:r>
              <a:rPr lang="en-US" b="0" dirty="0">
                <a:solidFill>
                  <a:schemeClr val="tx2"/>
                </a:solidFill>
              </a:rPr>
              <a:t>Perhaps the most abused functionality is client-side storage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17"/>
          </p:nvPr>
        </p:nvSpPr>
        <p:spPr/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0" dirty="0">
                <a:solidFill>
                  <a:schemeClr val="tx1"/>
                </a:solidFill>
              </a:rPr>
              <a:t>Storage of credentials in </a:t>
            </a:r>
            <a:r>
              <a:rPr lang="en-US" sz="1600" b="0" dirty="0" err="1">
                <a:solidFill>
                  <a:schemeClr val="tx1"/>
                </a:solidFill>
              </a:rPr>
              <a:t>plist</a:t>
            </a:r>
            <a:r>
              <a:rPr lang="en-US" sz="1600" b="0" dirty="0">
                <a:solidFill>
                  <a:schemeClr val="tx1"/>
                </a:solidFill>
              </a:rPr>
              <a:t> files, SQLite databases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0" dirty="0">
                <a:solidFill>
                  <a:schemeClr val="tx1"/>
                </a:solidFill>
              </a:rPr>
              <a:t>Failure to use </a:t>
            </a:r>
            <a:r>
              <a:rPr lang="en-US" sz="1600" b="0" dirty="0" err="1">
                <a:solidFill>
                  <a:schemeClr val="tx1"/>
                </a:solidFill>
              </a:rPr>
              <a:t>KeyChain</a:t>
            </a:r>
            <a:r>
              <a:rPr lang="en-US" sz="1600" b="0" dirty="0">
                <a:solidFill>
                  <a:schemeClr val="tx1"/>
                </a:solidFill>
              </a:rPr>
              <a:t> to store credentials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0" dirty="0">
                <a:solidFill>
                  <a:schemeClr val="tx1"/>
                </a:solidFill>
              </a:rPr>
              <a:t>Storage of sensitive application data on </a:t>
            </a:r>
            <a:r>
              <a:rPr lang="en-US" sz="1600" b="0" dirty="0" err="1">
                <a:solidFill>
                  <a:schemeClr val="tx1"/>
                </a:solidFill>
              </a:rPr>
              <a:t>filesystem</a:t>
            </a:r>
            <a:endParaRPr lang="en-US" sz="1600" b="0" dirty="0">
              <a:solidFill>
                <a:schemeClr val="tx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0" dirty="0">
                <a:solidFill>
                  <a:schemeClr val="tx1"/>
                </a:solidFill>
              </a:rPr>
              <a:t>Apps (e.g.: banks) storing their images in the public folder rather than in their sandbox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0" dirty="0">
                <a:solidFill>
                  <a:schemeClr val="tx1"/>
                </a:solidFill>
              </a:rPr>
              <a:t>Applications logging to the system log, but sending sensitive app data along with it</a:t>
            </a:r>
          </a:p>
        </p:txBody>
      </p:sp>
      <p:sp>
        <p:nvSpPr>
          <p:cNvPr id="5" name="Freeform 49"/>
          <p:cNvSpPr>
            <a:spLocks noEditPoints="1"/>
          </p:cNvSpPr>
          <p:nvPr/>
        </p:nvSpPr>
        <p:spPr bwMode="auto">
          <a:xfrm>
            <a:off x="1794164" y="2384309"/>
            <a:ext cx="1100550" cy="1210946"/>
          </a:xfrm>
          <a:custGeom>
            <a:avLst/>
            <a:gdLst>
              <a:gd name="T0" fmla="*/ 301 w 326"/>
              <a:gd name="T1" fmla="*/ 177 h 388"/>
              <a:gd name="T2" fmla="*/ 277 w 326"/>
              <a:gd name="T3" fmla="*/ 177 h 388"/>
              <a:gd name="T4" fmla="*/ 277 w 326"/>
              <a:gd name="T5" fmla="*/ 116 h 388"/>
              <a:gd name="T6" fmla="*/ 161 w 326"/>
              <a:gd name="T7" fmla="*/ 0 h 388"/>
              <a:gd name="T8" fmla="*/ 45 w 326"/>
              <a:gd name="T9" fmla="*/ 116 h 388"/>
              <a:gd name="T10" fmla="*/ 45 w 326"/>
              <a:gd name="T11" fmla="*/ 177 h 388"/>
              <a:gd name="T12" fmla="*/ 0 w 326"/>
              <a:gd name="T13" fmla="*/ 177 h 388"/>
              <a:gd name="T14" fmla="*/ 0 w 326"/>
              <a:gd name="T15" fmla="*/ 363 h 388"/>
              <a:gd name="T16" fmla="*/ 25 w 326"/>
              <a:gd name="T17" fmla="*/ 388 h 388"/>
              <a:gd name="T18" fmla="*/ 326 w 326"/>
              <a:gd name="T19" fmla="*/ 388 h 388"/>
              <a:gd name="T20" fmla="*/ 326 w 326"/>
              <a:gd name="T21" fmla="*/ 202 h 388"/>
              <a:gd name="T22" fmla="*/ 301 w 326"/>
              <a:gd name="T23" fmla="*/ 177 h 388"/>
              <a:gd name="T24" fmla="*/ 95 w 326"/>
              <a:gd name="T25" fmla="*/ 116 h 388"/>
              <a:gd name="T26" fmla="*/ 161 w 326"/>
              <a:gd name="T27" fmla="*/ 49 h 388"/>
              <a:gd name="T28" fmla="*/ 227 w 326"/>
              <a:gd name="T29" fmla="*/ 116 h 388"/>
              <a:gd name="T30" fmla="*/ 227 w 326"/>
              <a:gd name="T31" fmla="*/ 177 h 388"/>
              <a:gd name="T32" fmla="*/ 95 w 326"/>
              <a:gd name="T33" fmla="*/ 177 h 388"/>
              <a:gd name="T34" fmla="*/ 95 w 326"/>
              <a:gd name="T35" fmla="*/ 116 h 388"/>
              <a:gd name="T36" fmla="*/ 292 w 326"/>
              <a:gd name="T37" fmla="*/ 296 h 388"/>
              <a:gd name="T38" fmla="*/ 182 w 326"/>
              <a:gd name="T39" fmla="*/ 296 h 388"/>
              <a:gd name="T40" fmla="*/ 182 w 326"/>
              <a:gd name="T41" fmla="*/ 314 h 388"/>
              <a:gd name="T42" fmla="*/ 193 w 326"/>
              <a:gd name="T43" fmla="*/ 332 h 388"/>
              <a:gd name="T44" fmla="*/ 173 w 326"/>
              <a:gd name="T45" fmla="*/ 352 h 388"/>
              <a:gd name="T46" fmla="*/ 153 w 326"/>
              <a:gd name="T47" fmla="*/ 332 h 388"/>
              <a:gd name="T48" fmla="*/ 164 w 326"/>
              <a:gd name="T49" fmla="*/ 314 h 388"/>
              <a:gd name="T50" fmla="*/ 164 w 326"/>
              <a:gd name="T51" fmla="*/ 296 h 388"/>
              <a:gd name="T52" fmla="*/ 71 w 326"/>
              <a:gd name="T53" fmla="*/ 296 h 388"/>
              <a:gd name="T54" fmla="*/ 53 w 326"/>
              <a:gd name="T55" fmla="*/ 307 h 388"/>
              <a:gd name="T56" fmla="*/ 33 w 326"/>
              <a:gd name="T57" fmla="*/ 286 h 388"/>
              <a:gd name="T58" fmla="*/ 53 w 326"/>
              <a:gd name="T59" fmla="*/ 266 h 388"/>
              <a:gd name="T60" fmla="*/ 71 w 326"/>
              <a:gd name="T61" fmla="*/ 277 h 388"/>
              <a:gd name="T62" fmla="*/ 110 w 326"/>
              <a:gd name="T63" fmla="*/ 277 h 388"/>
              <a:gd name="T64" fmla="*/ 110 w 326"/>
              <a:gd name="T65" fmla="*/ 259 h 388"/>
              <a:gd name="T66" fmla="*/ 99 w 326"/>
              <a:gd name="T67" fmla="*/ 241 h 388"/>
              <a:gd name="T68" fmla="*/ 119 w 326"/>
              <a:gd name="T69" fmla="*/ 221 h 388"/>
              <a:gd name="T70" fmla="*/ 139 w 326"/>
              <a:gd name="T71" fmla="*/ 241 h 388"/>
              <a:gd name="T72" fmla="*/ 128 w 326"/>
              <a:gd name="T73" fmla="*/ 259 h 388"/>
              <a:gd name="T74" fmla="*/ 128 w 326"/>
              <a:gd name="T75" fmla="*/ 277 h 388"/>
              <a:gd name="T76" fmla="*/ 218 w 326"/>
              <a:gd name="T77" fmla="*/ 277 h 388"/>
              <a:gd name="T78" fmla="*/ 218 w 326"/>
              <a:gd name="T79" fmla="*/ 259 h 388"/>
              <a:gd name="T80" fmla="*/ 207 w 326"/>
              <a:gd name="T81" fmla="*/ 242 h 388"/>
              <a:gd name="T82" fmla="*/ 227 w 326"/>
              <a:gd name="T83" fmla="*/ 221 h 388"/>
              <a:gd name="T84" fmla="*/ 248 w 326"/>
              <a:gd name="T85" fmla="*/ 242 h 388"/>
              <a:gd name="T86" fmla="*/ 237 w 326"/>
              <a:gd name="T87" fmla="*/ 259 h 388"/>
              <a:gd name="T88" fmla="*/ 237 w 326"/>
              <a:gd name="T89" fmla="*/ 277 h 388"/>
              <a:gd name="T90" fmla="*/ 292 w 326"/>
              <a:gd name="T91" fmla="*/ 277 h 388"/>
              <a:gd name="T92" fmla="*/ 292 w 326"/>
              <a:gd name="T93" fmla="*/ 296 h 38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</a:cxnLst>
            <a:rect l="0" t="0" r="r" b="b"/>
            <a:pathLst>
              <a:path w="326" h="388">
                <a:moveTo>
                  <a:pt x="301" y="177"/>
                </a:moveTo>
                <a:cubicBezTo>
                  <a:pt x="277" y="177"/>
                  <a:pt x="277" y="177"/>
                  <a:pt x="277" y="177"/>
                </a:cubicBezTo>
                <a:cubicBezTo>
                  <a:pt x="277" y="116"/>
                  <a:pt x="277" y="116"/>
                  <a:pt x="277" y="116"/>
                </a:cubicBezTo>
                <a:cubicBezTo>
                  <a:pt x="277" y="52"/>
                  <a:pt x="225" y="0"/>
                  <a:pt x="161" y="0"/>
                </a:cubicBezTo>
                <a:cubicBezTo>
                  <a:pt x="97" y="0"/>
                  <a:pt x="45" y="52"/>
                  <a:pt x="45" y="116"/>
                </a:cubicBezTo>
                <a:cubicBezTo>
                  <a:pt x="45" y="177"/>
                  <a:pt x="45" y="177"/>
                  <a:pt x="45" y="177"/>
                </a:cubicBezTo>
                <a:cubicBezTo>
                  <a:pt x="0" y="177"/>
                  <a:pt x="0" y="177"/>
                  <a:pt x="0" y="177"/>
                </a:cubicBezTo>
                <a:cubicBezTo>
                  <a:pt x="0" y="363"/>
                  <a:pt x="0" y="363"/>
                  <a:pt x="0" y="363"/>
                </a:cubicBezTo>
                <a:cubicBezTo>
                  <a:pt x="0" y="377"/>
                  <a:pt x="11" y="388"/>
                  <a:pt x="25" y="388"/>
                </a:cubicBezTo>
                <a:cubicBezTo>
                  <a:pt x="326" y="388"/>
                  <a:pt x="326" y="388"/>
                  <a:pt x="326" y="388"/>
                </a:cubicBezTo>
                <a:cubicBezTo>
                  <a:pt x="326" y="202"/>
                  <a:pt x="326" y="202"/>
                  <a:pt x="326" y="202"/>
                </a:cubicBezTo>
                <a:cubicBezTo>
                  <a:pt x="326" y="189"/>
                  <a:pt x="315" y="177"/>
                  <a:pt x="301" y="177"/>
                </a:cubicBezTo>
                <a:close/>
                <a:moveTo>
                  <a:pt x="95" y="116"/>
                </a:moveTo>
                <a:cubicBezTo>
                  <a:pt x="95" y="79"/>
                  <a:pt x="124" y="49"/>
                  <a:pt x="161" y="49"/>
                </a:cubicBezTo>
                <a:cubicBezTo>
                  <a:pt x="197" y="49"/>
                  <a:pt x="227" y="79"/>
                  <a:pt x="227" y="116"/>
                </a:cubicBezTo>
                <a:cubicBezTo>
                  <a:pt x="227" y="177"/>
                  <a:pt x="227" y="177"/>
                  <a:pt x="227" y="177"/>
                </a:cubicBezTo>
                <a:cubicBezTo>
                  <a:pt x="95" y="177"/>
                  <a:pt x="95" y="177"/>
                  <a:pt x="95" y="177"/>
                </a:cubicBezTo>
                <a:lnTo>
                  <a:pt x="95" y="116"/>
                </a:lnTo>
                <a:close/>
                <a:moveTo>
                  <a:pt x="292" y="296"/>
                </a:moveTo>
                <a:cubicBezTo>
                  <a:pt x="182" y="296"/>
                  <a:pt x="182" y="296"/>
                  <a:pt x="182" y="296"/>
                </a:cubicBezTo>
                <a:cubicBezTo>
                  <a:pt x="182" y="314"/>
                  <a:pt x="182" y="314"/>
                  <a:pt x="182" y="314"/>
                </a:cubicBezTo>
                <a:cubicBezTo>
                  <a:pt x="189" y="317"/>
                  <a:pt x="193" y="324"/>
                  <a:pt x="193" y="332"/>
                </a:cubicBezTo>
                <a:cubicBezTo>
                  <a:pt x="193" y="343"/>
                  <a:pt x="184" y="352"/>
                  <a:pt x="173" y="352"/>
                </a:cubicBezTo>
                <a:cubicBezTo>
                  <a:pt x="162" y="352"/>
                  <a:pt x="153" y="343"/>
                  <a:pt x="153" y="332"/>
                </a:cubicBezTo>
                <a:cubicBezTo>
                  <a:pt x="153" y="324"/>
                  <a:pt x="157" y="317"/>
                  <a:pt x="164" y="314"/>
                </a:cubicBezTo>
                <a:cubicBezTo>
                  <a:pt x="164" y="296"/>
                  <a:pt x="164" y="296"/>
                  <a:pt x="164" y="296"/>
                </a:cubicBezTo>
                <a:cubicBezTo>
                  <a:pt x="71" y="296"/>
                  <a:pt x="71" y="296"/>
                  <a:pt x="71" y="296"/>
                </a:cubicBezTo>
                <a:cubicBezTo>
                  <a:pt x="68" y="302"/>
                  <a:pt x="61" y="307"/>
                  <a:pt x="53" y="307"/>
                </a:cubicBezTo>
                <a:cubicBezTo>
                  <a:pt x="42" y="307"/>
                  <a:pt x="33" y="298"/>
                  <a:pt x="33" y="286"/>
                </a:cubicBezTo>
                <a:cubicBezTo>
                  <a:pt x="33" y="275"/>
                  <a:pt x="42" y="266"/>
                  <a:pt x="53" y="266"/>
                </a:cubicBezTo>
                <a:cubicBezTo>
                  <a:pt x="61" y="266"/>
                  <a:pt x="68" y="271"/>
                  <a:pt x="71" y="277"/>
                </a:cubicBezTo>
                <a:cubicBezTo>
                  <a:pt x="110" y="277"/>
                  <a:pt x="110" y="277"/>
                  <a:pt x="110" y="277"/>
                </a:cubicBezTo>
                <a:cubicBezTo>
                  <a:pt x="110" y="259"/>
                  <a:pt x="110" y="259"/>
                  <a:pt x="110" y="259"/>
                </a:cubicBezTo>
                <a:cubicBezTo>
                  <a:pt x="103" y="256"/>
                  <a:pt x="99" y="249"/>
                  <a:pt x="99" y="241"/>
                </a:cubicBezTo>
                <a:cubicBezTo>
                  <a:pt x="99" y="230"/>
                  <a:pt x="108" y="221"/>
                  <a:pt x="119" y="221"/>
                </a:cubicBezTo>
                <a:cubicBezTo>
                  <a:pt x="130" y="221"/>
                  <a:pt x="139" y="230"/>
                  <a:pt x="139" y="241"/>
                </a:cubicBezTo>
                <a:cubicBezTo>
                  <a:pt x="139" y="249"/>
                  <a:pt x="135" y="256"/>
                  <a:pt x="128" y="259"/>
                </a:cubicBezTo>
                <a:cubicBezTo>
                  <a:pt x="128" y="277"/>
                  <a:pt x="128" y="277"/>
                  <a:pt x="128" y="277"/>
                </a:cubicBezTo>
                <a:cubicBezTo>
                  <a:pt x="218" y="277"/>
                  <a:pt x="218" y="277"/>
                  <a:pt x="218" y="277"/>
                </a:cubicBezTo>
                <a:cubicBezTo>
                  <a:pt x="218" y="259"/>
                  <a:pt x="218" y="259"/>
                  <a:pt x="218" y="259"/>
                </a:cubicBezTo>
                <a:cubicBezTo>
                  <a:pt x="211" y="256"/>
                  <a:pt x="207" y="249"/>
                  <a:pt x="207" y="242"/>
                </a:cubicBezTo>
                <a:cubicBezTo>
                  <a:pt x="207" y="230"/>
                  <a:pt x="216" y="221"/>
                  <a:pt x="227" y="221"/>
                </a:cubicBezTo>
                <a:cubicBezTo>
                  <a:pt x="238" y="221"/>
                  <a:pt x="248" y="230"/>
                  <a:pt x="248" y="242"/>
                </a:cubicBezTo>
                <a:cubicBezTo>
                  <a:pt x="248" y="249"/>
                  <a:pt x="243" y="256"/>
                  <a:pt x="237" y="259"/>
                </a:cubicBezTo>
                <a:cubicBezTo>
                  <a:pt x="237" y="277"/>
                  <a:pt x="237" y="277"/>
                  <a:pt x="237" y="277"/>
                </a:cubicBezTo>
                <a:cubicBezTo>
                  <a:pt x="292" y="277"/>
                  <a:pt x="292" y="277"/>
                  <a:pt x="292" y="277"/>
                </a:cubicBezTo>
                <a:lnTo>
                  <a:pt x="292" y="29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19934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The Android OS</a:t>
            </a:r>
            <a:br>
              <a:rPr lang="en-US" dirty="0" smtClean="0"/>
            </a:br>
            <a:r>
              <a:rPr lang="en-US" dirty="0" smtClean="0"/>
              <a:t/>
            </a:r>
            <a:br>
              <a:rPr lang="en-US" dirty="0" smtClean="0"/>
            </a:b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40133125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tx1"/>
                </a:solidFill>
              </a:rPr>
              <a:t>The Android OS: How Low Can We Go</a:t>
            </a:r>
            <a:endParaRPr lang="en-US" dirty="0">
              <a:solidFill>
                <a:schemeClr val="tx1"/>
              </a:solidFill>
            </a:endParaRPr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72703" y="760508"/>
            <a:ext cx="4967962" cy="403352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7" name="TextBox 46"/>
          <p:cNvSpPr txBox="1"/>
          <p:nvPr/>
        </p:nvSpPr>
        <p:spPr>
          <a:xfrm>
            <a:off x="6830100" y="4532426"/>
            <a:ext cx="308264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lvl="1"/>
            <a:r>
              <a:rPr lang="en-US" sz="1100" dirty="0"/>
              <a:t>s</a:t>
            </a:r>
            <a:r>
              <a:rPr lang="en-US" sz="1100" dirty="0" smtClean="0"/>
              <a:t>ource: Wikipedia</a:t>
            </a:r>
            <a:endParaRPr lang="en-US" sz="1100" dirty="0"/>
          </a:p>
          <a:p>
            <a:pPr defTabSz="430213">
              <a:spcAft>
                <a:spcPts val="400"/>
              </a:spcAft>
              <a:buSzPct val="100000"/>
            </a:pPr>
            <a:endParaRPr lang="en-US" sz="1600" dirty="0" smtClean="0">
              <a:solidFill>
                <a:srgbClr val="000000"/>
              </a:solidFill>
              <a:latin typeface="HP Simplified" pitchFamily="34" charset="0"/>
              <a:cs typeface="HP Simplified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559098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tx1"/>
                </a:solidFill>
              </a:rPr>
              <a:t>The Android OS: How Low Can We Go</a:t>
            </a:r>
            <a:endParaRPr lang="en-US" dirty="0">
              <a:solidFill>
                <a:schemeClr val="tx1"/>
              </a:solidFill>
            </a:endParaRPr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72703" y="760508"/>
            <a:ext cx="4967962" cy="403352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7" name="TextBox 46"/>
          <p:cNvSpPr txBox="1"/>
          <p:nvPr/>
        </p:nvSpPr>
        <p:spPr>
          <a:xfrm>
            <a:off x="6830100" y="4532426"/>
            <a:ext cx="308264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lvl="1"/>
            <a:r>
              <a:rPr lang="en-US" sz="1100" dirty="0" smtClean="0"/>
              <a:t>Source: Wikipedia</a:t>
            </a:r>
            <a:endParaRPr lang="en-US" sz="1100" dirty="0"/>
          </a:p>
          <a:p>
            <a:pPr defTabSz="430213">
              <a:spcAft>
                <a:spcPts val="400"/>
              </a:spcAft>
              <a:buSzPct val="100000"/>
            </a:pPr>
            <a:endParaRPr lang="en-US" sz="1600" dirty="0" smtClean="0">
              <a:solidFill>
                <a:srgbClr val="000000"/>
              </a:solidFill>
              <a:latin typeface="HP Simplified" pitchFamily="34" charset="0"/>
              <a:cs typeface="HP Simplified" pitchFamily="34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381204" y="2638004"/>
            <a:ext cx="857756" cy="377984"/>
          </a:xfrm>
          <a:prstGeom prst="rect">
            <a:avLst/>
          </a:prstGeom>
          <a:noFill/>
          <a:ln w="19050">
            <a:solidFill>
              <a:schemeClr val="accent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1881829" y="1450837"/>
            <a:ext cx="4769412" cy="925438"/>
          </a:xfrm>
          <a:prstGeom prst="rect">
            <a:avLst/>
          </a:prstGeom>
          <a:noFill/>
          <a:ln w="19050">
            <a:solidFill>
              <a:schemeClr val="accent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/>
          <p:cNvSpPr txBox="1"/>
          <p:nvPr/>
        </p:nvSpPr>
        <p:spPr>
          <a:xfrm>
            <a:off x="238791" y="1606857"/>
            <a:ext cx="785087" cy="636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defTabSz="430213">
              <a:spcAft>
                <a:spcPts val="400"/>
              </a:spcAft>
              <a:buSzPct val="100000"/>
            </a:pPr>
            <a:r>
              <a:rPr lang="en-US" sz="1600" dirty="0" err="1" smtClean="0">
                <a:solidFill>
                  <a:srgbClr val="000000"/>
                </a:solidFill>
                <a:latin typeface="HP Simplified" pitchFamily="34" charset="0"/>
                <a:cs typeface="HP Simplified" pitchFamily="34" charset="0"/>
              </a:rPr>
              <a:t>WebKit</a:t>
            </a:r>
            <a:endParaRPr lang="en-US" sz="1600" dirty="0" smtClean="0">
              <a:solidFill>
                <a:srgbClr val="000000"/>
              </a:solidFill>
              <a:latin typeface="HP Simplified" pitchFamily="34" charset="0"/>
              <a:cs typeface="HP Simplified" pitchFamily="34" charset="0"/>
            </a:endParaRPr>
          </a:p>
          <a:p>
            <a:pPr marL="0" defTabSz="430213">
              <a:spcAft>
                <a:spcPts val="400"/>
              </a:spcAft>
              <a:buSzPct val="100000"/>
            </a:pPr>
            <a:r>
              <a:rPr lang="en-US" sz="1600" dirty="0" smtClean="0">
                <a:solidFill>
                  <a:srgbClr val="000000"/>
                </a:solidFill>
                <a:latin typeface="HP Simplified" pitchFamily="34" charset="0"/>
                <a:cs typeface="HP Simplified" pitchFamily="34" charset="0"/>
              </a:rPr>
              <a:t>SQLite</a:t>
            </a:r>
          </a:p>
        </p:txBody>
      </p:sp>
      <p:cxnSp>
        <p:nvCxnSpPr>
          <p:cNvPr id="10" name="Straight Arrow Connector 9"/>
          <p:cNvCxnSpPr>
            <a:stCxn id="2" idx="3"/>
          </p:cNvCxnSpPr>
          <p:nvPr/>
        </p:nvCxnSpPr>
        <p:spPr>
          <a:xfrm flipV="1">
            <a:off x="1023878" y="1913556"/>
            <a:ext cx="612723" cy="11337"/>
          </a:xfrm>
          <a:prstGeom prst="straightConnector1">
            <a:avLst/>
          </a:prstGeom>
          <a:ln w="12700" cmpd="sng"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7406637" y="2459236"/>
            <a:ext cx="1122038" cy="636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defTabSz="430213">
              <a:spcAft>
                <a:spcPts val="400"/>
              </a:spcAft>
              <a:buSzPct val="100000"/>
            </a:pPr>
            <a:r>
              <a:rPr lang="en-US" sz="1600" dirty="0" err="1" smtClean="0">
                <a:solidFill>
                  <a:srgbClr val="000000"/>
                </a:solidFill>
                <a:latin typeface="HP Simplified" pitchFamily="34" charset="0"/>
                <a:cs typeface="HP Simplified" pitchFamily="34" charset="0"/>
              </a:rPr>
              <a:t>HTTPClient</a:t>
            </a:r>
            <a:endParaRPr lang="en-US" sz="1600" dirty="0" smtClean="0">
              <a:solidFill>
                <a:srgbClr val="000000"/>
              </a:solidFill>
              <a:latin typeface="HP Simplified" pitchFamily="34" charset="0"/>
              <a:cs typeface="HP Simplified" pitchFamily="34" charset="0"/>
            </a:endParaRPr>
          </a:p>
          <a:p>
            <a:pPr marL="0" defTabSz="430213">
              <a:spcAft>
                <a:spcPts val="400"/>
              </a:spcAft>
              <a:buSzPct val="100000"/>
            </a:pPr>
            <a:r>
              <a:rPr lang="en-US" sz="1600" dirty="0" smtClean="0">
                <a:solidFill>
                  <a:srgbClr val="000000"/>
                </a:solidFill>
                <a:latin typeface="HP Simplified" pitchFamily="34" charset="0"/>
                <a:cs typeface="HP Simplified" pitchFamily="34" charset="0"/>
              </a:rPr>
              <a:t>File Access</a:t>
            </a:r>
          </a:p>
        </p:txBody>
      </p:sp>
      <p:cxnSp>
        <p:nvCxnSpPr>
          <p:cNvPr id="13" name="Straight Arrow Connector 12"/>
          <p:cNvCxnSpPr/>
          <p:nvPr/>
        </p:nvCxnSpPr>
        <p:spPr>
          <a:xfrm flipH="1">
            <a:off x="6895857" y="2779928"/>
            <a:ext cx="510780" cy="0"/>
          </a:xfrm>
          <a:prstGeom prst="straightConnector1">
            <a:avLst/>
          </a:prstGeom>
          <a:ln w="12700" cmpd="sng"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341578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Building the Android OS</a:t>
            </a:r>
            <a:br>
              <a:rPr lang="en-US" dirty="0" smtClean="0"/>
            </a:br>
            <a:r>
              <a:rPr lang="en-US" dirty="0" smtClean="0"/>
              <a:t/>
            </a:r>
            <a:br>
              <a:rPr lang="en-US" dirty="0" smtClean="0"/>
            </a:b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22774154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The Host </a:t>
            </a:r>
            <a:r>
              <a:rPr lang="en-US" dirty="0"/>
              <a:t>A</a:t>
            </a:r>
            <a:r>
              <a:rPr lang="en-US" dirty="0" smtClean="0"/>
              <a:t>nd </a:t>
            </a:r>
            <a:r>
              <a:rPr lang="en-US" dirty="0"/>
              <a:t>E</a:t>
            </a:r>
            <a:r>
              <a:rPr lang="en-US" dirty="0" smtClean="0"/>
              <a:t>nvironment</a:t>
            </a:r>
            <a:endParaRPr lang="en-US" dirty="0"/>
          </a:p>
        </p:txBody>
      </p:sp>
      <p:sp>
        <p:nvSpPr>
          <p:cNvPr id="10" name="TextBox 9"/>
          <p:cNvSpPr txBox="1"/>
          <p:nvPr/>
        </p:nvSpPr>
        <p:spPr>
          <a:xfrm>
            <a:off x="363123" y="837988"/>
            <a:ext cx="6130864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lvl="1" indent="-285750" defTabSz="430213">
              <a:spcAft>
                <a:spcPts val="4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dirty="0" smtClean="0">
                <a:latin typeface="HP Simplified" panose="020B0604020204020204" pitchFamily="34" charset="0"/>
              </a:rPr>
              <a:t>Ubuntu 12.04 64bit </a:t>
            </a:r>
          </a:p>
          <a:p>
            <a:pPr marL="285750" lvl="1" indent="-285750" defTabSz="430213">
              <a:spcAft>
                <a:spcPts val="4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dirty="0" smtClean="0">
                <a:latin typeface="HP Simplified" panose="020B0604020204020204" pitchFamily="34" charset="0"/>
              </a:rPr>
              <a:t>Sounds crazy, but </a:t>
            </a:r>
            <a:r>
              <a:rPr lang="en-US" dirty="0">
                <a:latin typeface="HP Simplified" panose="020B0604020204020204" pitchFamily="34" charset="0"/>
              </a:rPr>
              <a:t>f</a:t>
            </a:r>
            <a:r>
              <a:rPr lang="en-US" dirty="0" smtClean="0">
                <a:latin typeface="HP Simplified" panose="020B0604020204020204" pitchFamily="34" charset="0"/>
              </a:rPr>
              <a:t>ollow the instructions!</a:t>
            </a:r>
          </a:p>
          <a:p>
            <a:pPr marL="285750" lvl="1" indent="-285750" defTabSz="430213">
              <a:spcAft>
                <a:spcPts val="4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dirty="0">
                <a:latin typeface="HP Simplified" panose="020B0604020204020204" pitchFamily="34" charset="0"/>
              </a:rPr>
              <a:t>http://source.android.com/source/downloading.html</a:t>
            </a:r>
          </a:p>
          <a:p>
            <a:pPr marL="0" defTabSz="430213">
              <a:spcAft>
                <a:spcPts val="400"/>
              </a:spcAft>
              <a:buSzPct val="100000"/>
            </a:pPr>
            <a:endParaRPr lang="en-US" sz="1600" dirty="0" smtClean="0">
              <a:solidFill>
                <a:srgbClr val="000000"/>
              </a:solidFill>
              <a:latin typeface="HP Simplified" pitchFamily="34" charset="0"/>
              <a:cs typeface="HP Simplified" pitchFamily="34" charset="0"/>
            </a:endParaRPr>
          </a:p>
        </p:txBody>
      </p:sp>
      <p:pic>
        <p:nvPicPr>
          <p:cNvPr id="4099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94816" y="1955439"/>
            <a:ext cx="5137964" cy="26822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1972618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tx1"/>
                </a:solidFill>
              </a:rPr>
              <a:t>Building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363123" y="837988"/>
            <a:ext cx="61308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lvl="1" indent="-285750" defTabSz="430213">
              <a:spcAft>
                <a:spcPts val="4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dirty="0" smtClean="0">
                <a:latin typeface="HP Simplified" panose="020B0604020204020204" pitchFamily="34" charset="0"/>
              </a:rPr>
              <a:t>Run “</a:t>
            </a:r>
            <a:r>
              <a:rPr lang="en-US" dirty="0" smtClean="0">
                <a:solidFill>
                  <a:srgbClr val="000000"/>
                </a:solidFill>
                <a:cs typeface="Courier New" panose="02070309020205020404" pitchFamily="49" charset="0"/>
              </a:rPr>
              <a:t>build/envsetup.sh</a:t>
            </a:r>
            <a:r>
              <a:rPr lang="en-US" dirty="0" smtClean="0">
                <a:latin typeface="HP Simplified" panose="020B0604020204020204" pitchFamily="34" charset="0"/>
              </a:rPr>
              <a:t>” to setup the environment</a:t>
            </a:r>
          </a:p>
        </p:txBody>
      </p:sp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33588" y="1685925"/>
            <a:ext cx="5076825" cy="1771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1384885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tx1"/>
                </a:solidFill>
              </a:rPr>
              <a:t>Building</a:t>
            </a:r>
            <a:endParaRPr lang="en-US" dirty="0">
              <a:solidFill>
                <a:schemeClr val="tx1"/>
              </a:solidFill>
            </a:endParaRPr>
          </a:p>
        </p:txBody>
      </p:sp>
      <p:pic>
        <p:nvPicPr>
          <p:cNvPr id="5123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41226" y="1693151"/>
            <a:ext cx="4847495" cy="254047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3" name="TextBox 12"/>
          <p:cNvSpPr txBox="1"/>
          <p:nvPr/>
        </p:nvSpPr>
        <p:spPr>
          <a:xfrm>
            <a:off x="363123" y="837988"/>
            <a:ext cx="6130864" cy="6976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lvl="1" indent="-285750" defTabSz="430213">
              <a:spcAft>
                <a:spcPts val="4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dirty="0" smtClean="0">
                <a:latin typeface="HP Simplified" panose="020B0604020204020204" pitchFamily="34" charset="0"/>
              </a:rPr>
              <a:t>Run “lunch </a:t>
            </a:r>
            <a:r>
              <a:rPr lang="en-US" dirty="0" err="1" smtClean="0">
                <a:latin typeface="HP Simplified" panose="020B0604020204020204" pitchFamily="34" charset="0"/>
              </a:rPr>
              <a:t>sdk-eng</a:t>
            </a:r>
            <a:r>
              <a:rPr lang="en-US" dirty="0" smtClean="0">
                <a:latin typeface="HP Simplified" panose="020B0604020204020204" pitchFamily="34" charset="0"/>
              </a:rPr>
              <a:t>” to select the </a:t>
            </a:r>
            <a:r>
              <a:rPr lang="en-US" dirty="0" err="1" smtClean="0">
                <a:latin typeface="HP Simplified" panose="020B0604020204020204" pitchFamily="34" charset="0"/>
              </a:rPr>
              <a:t>sdk</a:t>
            </a:r>
            <a:r>
              <a:rPr lang="en-US" dirty="0" smtClean="0">
                <a:latin typeface="HP Simplified" panose="020B0604020204020204" pitchFamily="34" charset="0"/>
              </a:rPr>
              <a:t> target and images</a:t>
            </a:r>
          </a:p>
          <a:p>
            <a:pPr marL="285750" lvl="1" indent="-285750" defTabSz="430213">
              <a:spcAft>
                <a:spcPts val="4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dirty="0" smtClean="0">
                <a:latin typeface="HP Simplified" panose="020B0604020204020204" pitchFamily="34" charset="0"/>
              </a:rPr>
              <a:t>Don’t bother with the lunch menu</a:t>
            </a:r>
          </a:p>
        </p:txBody>
      </p:sp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9608" y="1756644"/>
            <a:ext cx="3179303" cy="241348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Multiply 6"/>
          <p:cNvSpPr/>
          <p:nvPr/>
        </p:nvSpPr>
        <p:spPr>
          <a:xfrm>
            <a:off x="1129896" y="2242318"/>
            <a:ext cx="1467699" cy="1590008"/>
          </a:xfrm>
          <a:prstGeom prst="mathMultiply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02396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tx1"/>
                </a:solidFill>
              </a:rPr>
              <a:t>Building</a:t>
            </a:r>
            <a:endParaRPr lang="en-US" dirty="0">
              <a:solidFill>
                <a:schemeClr val="tx1"/>
              </a:solidFill>
            </a:endParaRPr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89820" y="1787394"/>
            <a:ext cx="5286587" cy="251703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TextBox 4"/>
          <p:cNvSpPr txBox="1"/>
          <p:nvPr/>
        </p:nvSpPr>
        <p:spPr>
          <a:xfrm>
            <a:off x="363123" y="837988"/>
            <a:ext cx="61308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lvl="1" indent="-285750" defTabSz="430213">
              <a:spcAft>
                <a:spcPts val="4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dirty="0" smtClean="0">
                <a:latin typeface="HP Simplified" panose="020B0604020204020204" pitchFamily="34" charset="0"/>
              </a:rPr>
              <a:t>Start the build “</a:t>
            </a:r>
            <a:r>
              <a:rPr lang="en-US" dirty="0" err="1" smtClean="0">
                <a:latin typeface="HP Simplified" panose="020B0604020204020204" pitchFamily="34" charset="0"/>
              </a:rPr>
              <a:t>win_sdk</a:t>
            </a:r>
            <a:r>
              <a:rPr lang="en-US" dirty="0" smtClean="0">
                <a:latin typeface="HP Simplified" panose="020B0604020204020204" pitchFamily="34" charset="0"/>
              </a:rPr>
              <a:t>” or “</a:t>
            </a:r>
            <a:r>
              <a:rPr lang="en-US" dirty="0" err="1" smtClean="0">
                <a:latin typeface="HP Simplified" panose="020B0604020204020204" pitchFamily="34" charset="0"/>
              </a:rPr>
              <a:t>sdk</a:t>
            </a:r>
            <a:r>
              <a:rPr lang="en-US" dirty="0" smtClean="0">
                <a:latin typeface="HP Simplified" panose="020B0604020204020204" pitchFamily="34" charset="0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4769258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tx1"/>
                </a:solidFill>
              </a:rPr>
              <a:t>Building</a:t>
            </a:r>
            <a:endParaRPr lang="en-US" dirty="0">
              <a:solidFill>
                <a:schemeClr val="tx1"/>
              </a:solidFill>
            </a:endParaRPr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98130" y="1785119"/>
            <a:ext cx="6244213" cy="19306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TextBox 3"/>
          <p:cNvSpPr txBox="1"/>
          <p:nvPr/>
        </p:nvSpPr>
        <p:spPr>
          <a:xfrm>
            <a:off x="363123" y="837988"/>
            <a:ext cx="61308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lvl="1" indent="-285750" defTabSz="430213">
              <a:spcAft>
                <a:spcPts val="4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dirty="0" smtClean="0">
                <a:latin typeface="HP Simplified" panose="020B0604020204020204" pitchFamily="34" charset="0"/>
              </a:rPr>
              <a:t>Success!</a:t>
            </a:r>
          </a:p>
        </p:txBody>
      </p:sp>
    </p:spTree>
    <p:extLst>
      <p:ext uri="{BB962C8B-B14F-4D97-AF65-F5344CB8AC3E}">
        <p14:creationId xmlns:p14="http://schemas.microsoft.com/office/powerpoint/2010/main" val="24769258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tx1"/>
                </a:solidFill>
              </a:rPr>
              <a:t>Building For x86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363123" y="837988"/>
            <a:ext cx="6130864" cy="20108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lvl="1" indent="-285750" defTabSz="430213">
              <a:spcAft>
                <a:spcPts val="4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dirty="0" smtClean="0">
                <a:latin typeface="HP Simplified" panose="020B0604020204020204" pitchFamily="34" charset="0"/>
              </a:rPr>
              <a:t>Use x86 build target for better emulator performance</a:t>
            </a:r>
          </a:p>
          <a:p>
            <a:pPr marL="285750" lvl="1" indent="-285750" defTabSz="430213">
              <a:spcAft>
                <a:spcPts val="4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dirty="0" smtClean="0">
                <a:latin typeface="HP Simplified" panose="020B0604020204020204" pitchFamily="34" charset="0"/>
              </a:rPr>
              <a:t>Little to no documentation</a:t>
            </a:r>
          </a:p>
          <a:p>
            <a:pPr marL="285750" lvl="1" indent="-285750" defTabSz="430213">
              <a:spcAft>
                <a:spcPts val="4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dirty="0" smtClean="0">
                <a:latin typeface="HP Simplified" panose="020B0604020204020204" pitchFamily="34" charset="0"/>
              </a:rPr>
              <a:t>Another hidden “lunch” target</a:t>
            </a:r>
          </a:p>
          <a:p>
            <a:pPr marL="285750" lvl="1" indent="-285750" defTabSz="430213">
              <a:spcAft>
                <a:spcPts val="4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dirty="0" err="1" smtClean="0">
                <a:latin typeface="HP Simplified" panose="020B0604020204020204" pitchFamily="34" charset="0"/>
              </a:rPr>
              <a:t>win_sdk</a:t>
            </a:r>
            <a:r>
              <a:rPr lang="en-US" dirty="0" smtClean="0">
                <a:latin typeface="HP Simplified" panose="020B0604020204020204" pitchFamily="34" charset="0"/>
              </a:rPr>
              <a:t> target does not build x86</a:t>
            </a:r>
          </a:p>
          <a:p>
            <a:pPr marL="285750" lvl="1" indent="-285750" defTabSz="430213">
              <a:spcAft>
                <a:spcPts val="4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dirty="0" smtClean="0">
                <a:latin typeface="HP Simplified" panose="020B0604020204020204" pitchFamily="34" charset="0"/>
              </a:rPr>
              <a:t>Copy </a:t>
            </a:r>
            <a:r>
              <a:rPr lang="en-US" dirty="0" err="1" smtClean="0">
                <a:latin typeface="HP Simplified" panose="020B0604020204020204" pitchFamily="34" charset="0"/>
              </a:rPr>
              <a:t>linux</a:t>
            </a:r>
            <a:r>
              <a:rPr lang="en-US" dirty="0" smtClean="0">
                <a:latin typeface="HP Simplified" panose="020B0604020204020204" pitchFamily="34" charset="0"/>
              </a:rPr>
              <a:t> x86 system-images folder</a:t>
            </a:r>
          </a:p>
          <a:p>
            <a:pPr marL="285750" lvl="1" indent="-285750" defTabSz="430213">
              <a:spcAft>
                <a:spcPts val="400"/>
              </a:spcAft>
              <a:buSzPct val="100000"/>
              <a:buFont typeface="Arial" panose="020B0604020202020204" pitchFamily="34" charset="0"/>
              <a:buChar char="•"/>
            </a:pPr>
            <a:endParaRPr lang="en-US" dirty="0" smtClean="0">
              <a:latin typeface="HP Simplified" panose="020B0604020204020204" pitchFamily="34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363123" y="2743199"/>
            <a:ext cx="4785756" cy="13029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430213">
              <a:spcAft>
                <a:spcPts val="400"/>
              </a:spcAft>
              <a:buSzPct val="100000"/>
            </a:pPr>
            <a:r>
              <a:rPr lang="en-US" sz="2400" dirty="0" smtClean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build/envsetup.sh</a:t>
            </a:r>
            <a:endParaRPr lang="en-US" sz="2400" dirty="0">
              <a:solidFill>
                <a:srgbClr val="00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defTabSz="430213">
              <a:spcAft>
                <a:spcPts val="400"/>
              </a:spcAft>
              <a:buSzPct val="100000"/>
            </a:pPr>
            <a:r>
              <a:rPr lang="en-US" sz="24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lunch sdk_x86-eng</a:t>
            </a:r>
          </a:p>
          <a:p>
            <a:pPr defTabSz="430213">
              <a:spcAft>
                <a:spcPts val="400"/>
              </a:spcAft>
              <a:buSzPct val="100000"/>
            </a:pPr>
            <a:r>
              <a:rPr lang="en-US" sz="24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make </a:t>
            </a:r>
            <a:r>
              <a:rPr lang="en-US" sz="2400" dirty="0" err="1" smtClean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sdk</a:t>
            </a:r>
            <a:endParaRPr lang="en-US" sz="2400" dirty="0" smtClean="0">
              <a:solidFill>
                <a:srgbClr val="00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30162" y="736772"/>
            <a:ext cx="2683835" cy="356745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2107911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Modifications</a:t>
            </a:r>
            <a:br>
              <a:rPr lang="en-US" dirty="0" smtClean="0"/>
            </a:br>
            <a:r>
              <a:rPr lang="en-US" dirty="0" smtClean="0"/>
              <a:t/>
            </a:r>
            <a:br>
              <a:rPr lang="en-US" dirty="0" smtClean="0"/>
            </a:b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28908119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tx1"/>
                </a:solidFill>
              </a:rPr>
              <a:t>Modifications Helper Class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quarter" idx="10"/>
          </p:nvPr>
        </p:nvSpPr>
        <p:spPr>
          <a:xfrm>
            <a:off x="317537" y="987016"/>
            <a:ext cx="8648560" cy="853836"/>
          </a:xfrm>
        </p:spPr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0" dirty="0" smtClean="0">
                <a:solidFill>
                  <a:schemeClr val="tx1"/>
                </a:solidFill>
              </a:rPr>
              <a:t>Co</a:t>
            </a:r>
            <a:r>
              <a:rPr lang="en-US" sz="1600" b="0" dirty="0" smtClean="0">
                <a:solidFill>
                  <a:schemeClr val="tx1"/>
                </a:solidFill>
              </a:rPr>
              <a:t>mmon class for logging and monitoring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0" dirty="0" smtClean="0">
                <a:solidFill>
                  <a:schemeClr val="tx1"/>
                </a:solidFill>
              </a:rPr>
              <a:t>Place class in java.io</a:t>
            </a:r>
          </a:p>
        </p:txBody>
      </p:sp>
      <p:pic>
        <p:nvPicPr>
          <p:cNvPr id="9218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64091" y="1045259"/>
            <a:ext cx="3447929" cy="302872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219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1515" y="1912885"/>
            <a:ext cx="4761452" cy="216110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0406388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tx1"/>
                </a:solidFill>
              </a:rPr>
              <a:t>Modifications HTTP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quarter" idx="10"/>
          </p:nvPr>
        </p:nvSpPr>
        <p:spPr>
          <a:xfrm>
            <a:off x="311712" y="832556"/>
            <a:ext cx="8648560" cy="1364475"/>
          </a:xfrm>
        </p:spPr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0" dirty="0" smtClean="0">
                <a:solidFill>
                  <a:schemeClr val="tx1"/>
                </a:solidFill>
              </a:rPr>
              <a:t>There are a few places to capture HTTP traffic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0" dirty="0" smtClean="0">
                <a:solidFill>
                  <a:schemeClr val="tx1"/>
                </a:solidFill>
              </a:rPr>
              <a:t>Most apps utilize </a:t>
            </a:r>
            <a:r>
              <a:rPr lang="en-US" sz="1600" b="0" dirty="0" err="1" smtClean="0">
                <a:solidFill>
                  <a:schemeClr val="tx1"/>
                </a:solidFill>
              </a:rPr>
              <a:t>Java.Net</a:t>
            </a:r>
            <a:r>
              <a:rPr lang="en-US" sz="1600" b="0" dirty="0" smtClean="0">
                <a:solidFill>
                  <a:schemeClr val="tx1"/>
                </a:solidFill>
              </a:rPr>
              <a:t> and </a:t>
            </a:r>
            <a:r>
              <a:rPr lang="en-US" sz="1600" b="0" dirty="0" err="1" smtClean="0">
                <a:solidFill>
                  <a:schemeClr val="tx1"/>
                </a:solidFill>
              </a:rPr>
              <a:t>Apache.HTTP</a:t>
            </a:r>
            <a:endParaRPr lang="en-US" sz="1600" b="0" dirty="0" smtClean="0">
              <a:solidFill>
                <a:schemeClr val="tx1"/>
              </a:solidFill>
            </a:endParaRPr>
          </a:p>
          <a:p>
            <a:pPr marL="341313" lvl="2" indent="-171450">
              <a:buFont typeface="Courier New" panose="02070309020205020404" pitchFamily="49" charset="0"/>
              <a:buChar char="o"/>
            </a:pPr>
            <a:r>
              <a:rPr lang="en-US" sz="1200" b="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</a:t>
            </a:r>
            <a:r>
              <a:rPr lang="en-US" sz="1200" b="0" dirty="0" err="1" smtClean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libcore</a:t>
            </a:r>
            <a:r>
              <a:rPr lang="en-US" sz="1200" b="0" dirty="0" smtClean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</a:t>
            </a:r>
            <a:r>
              <a:rPr lang="en-US" sz="1200" b="0" dirty="0" err="1" smtClean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luni</a:t>
            </a:r>
            <a:r>
              <a:rPr lang="en-US" sz="1200" b="0" dirty="0" smtClean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</a:t>
            </a:r>
            <a:r>
              <a:rPr lang="en-US" sz="1200" b="0" dirty="0" err="1" smtClean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src</a:t>
            </a:r>
            <a:r>
              <a:rPr lang="en-US" sz="1200" b="0" dirty="0" smtClean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/main/java/</a:t>
            </a:r>
            <a:r>
              <a:rPr lang="en-US" sz="1200" b="0" dirty="0" err="1" smtClean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libcore</a:t>
            </a:r>
            <a:r>
              <a:rPr lang="en-US" sz="1200" b="0" dirty="0" smtClean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/net/http/HttpEngine.java</a:t>
            </a:r>
          </a:p>
          <a:p>
            <a:pPr marL="341313" lvl="2" indent="-171450">
              <a:buFont typeface="Courier New" panose="02070309020205020404" pitchFamily="49" charset="0"/>
              <a:buChar char="o"/>
            </a:pPr>
            <a:r>
              <a:rPr lang="en-US" sz="1200" b="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</a:t>
            </a:r>
            <a:r>
              <a:rPr lang="en-US" sz="1200" b="0" dirty="0" smtClean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external/apache-http/</a:t>
            </a:r>
            <a:r>
              <a:rPr lang="en-US" sz="1200" b="0" dirty="0" err="1" smtClean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src</a:t>
            </a:r>
            <a:r>
              <a:rPr lang="en-US" sz="1200" b="0" dirty="0" smtClean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/org/apache/http/protocol/HttpRequestExecutor.java</a:t>
            </a:r>
            <a:endParaRPr lang="en-US" sz="12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26930" y="2021533"/>
            <a:ext cx="5824203" cy="2547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6170233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tx1"/>
                </a:solidFill>
              </a:rPr>
              <a:t>Modifications File System</a:t>
            </a:r>
            <a:endParaRPr lang="en-US" dirty="0">
              <a:solidFill>
                <a:schemeClr val="tx1"/>
              </a:solidFill>
            </a:endParaRPr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10709" y="2219559"/>
            <a:ext cx="3770747" cy="217680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Content Placeholder 2"/>
          <p:cNvSpPr>
            <a:spLocks noGrp="1"/>
          </p:cNvSpPr>
          <p:nvPr>
            <p:ph sz="quarter" idx="10"/>
          </p:nvPr>
        </p:nvSpPr>
        <p:spPr>
          <a:xfrm>
            <a:off x="328613" y="932773"/>
            <a:ext cx="8648700" cy="1363662"/>
          </a:xfrm>
        </p:spPr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0" dirty="0" smtClean="0">
                <a:solidFill>
                  <a:schemeClr val="tx1"/>
                </a:solidFill>
              </a:rPr>
              <a:t>Common read/write functions</a:t>
            </a:r>
          </a:p>
          <a:p>
            <a:pPr marL="455613" lvl="2" indent="-285750">
              <a:buFont typeface="Courier New" panose="02070309020205020404" pitchFamily="49" charset="0"/>
              <a:buChar char="o"/>
            </a:pPr>
            <a:r>
              <a:rPr lang="en-US" sz="1200" b="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</a:t>
            </a:r>
            <a:r>
              <a:rPr lang="en-US" sz="1200" b="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libcore</a:t>
            </a:r>
            <a:r>
              <a:rPr lang="en-US" sz="1200" b="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</a:t>
            </a:r>
            <a:r>
              <a:rPr lang="en-US" sz="1200" b="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luni</a:t>
            </a:r>
            <a:r>
              <a:rPr lang="en-US" sz="1200" b="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</a:t>
            </a:r>
            <a:r>
              <a:rPr lang="en-US" sz="1200" b="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src</a:t>
            </a:r>
            <a:r>
              <a:rPr lang="en-US" sz="1200" b="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/main/java/java/</a:t>
            </a:r>
            <a:r>
              <a:rPr lang="en-US" sz="1200" b="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io</a:t>
            </a:r>
            <a:r>
              <a:rPr lang="en-US" sz="1200" b="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/FileInputStream.java</a:t>
            </a:r>
          </a:p>
          <a:p>
            <a:pPr marL="455613" lvl="2" indent="-285750">
              <a:buFont typeface="Courier New" panose="02070309020205020404" pitchFamily="49" charset="0"/>
              <a:buChar char="o"/>
            </a:pPr>
            <a:r>
              <a:rPr lang="en-US" sz="1200" b="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</a:t>
            </a:r>
            <a:r>
              <a:rPr lang="en-US" sz="1200" b="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libcore</a:t>
            </a:r>
            <a:r>
              <a:rPr lang="en-US" sz="1200" b="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</a:t>
            </a:r>
            <a:r>
              <a:rPr lang="en-US" sz="1200" b="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luni</a:t>
            </a:r>
            <a:r>
              <a:rPr lang="en-US" sz="1200" b="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</a:t>
            </a:r>
            <a:r>
              <a:rPr lang="en-US" sz="1200" b="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src</a:t>
            </a:r>
            <a:r>
              <a:rPr lang="en-US" sz="1200" b="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/main/java/java/</a:t>
            </a:r>
            <a:r>
              <a:rPr lang="en-US" sz="1200" b="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io</a:t>
            </a:r>
            <a:r>
              <a:rPr lang="en-US" sz="1200" b="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/FileOutputStream.java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b="0" dirty="0" smtClean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705156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tx1"/>
                </a:solidFill>
              </a:rPr>
              <a:t>Modifications SQLite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5" name="Content Placeholder 2"/>
          <p:cNvSpPr>
            <a:spLocks noGrp="1"/>
          </p:cNvSpPr>
          <p:nvPr>
            <p:ph sz="quarter" idx="10"/>
          </p:nvPr>
        </p:nvSpPr>
        <p:spPr>
          <a:xfrm>
            <a:off x="340262" y="857057"/>
            <a:ext cx="8648700" cy="2200649"/>
          </a:xfrm>
        </p:spPr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0" dirty="0" smtClean="0">
                <a:solidFill>
                  <a:schemeClr val="tx1"/>
                </a:solidFill>
              </a:rPr>
              <a:t>One main SQLite class</a:t>
            </a:r>
          </a:p>
          <a:p>
            <a:pPr marL="455613" lvl="2" indent="-285750">
              <a:buFont typeface="Courier New" panose="02070309020205020404" pitchFamily="49" charset="0"/>
              <a:buChar char="o"/>
            </a:pPr>
            <a:r>
              <a:rPr lang="en-US" sz="1200" b="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/frameworks/base/core/java/android/database/</a:t>
            </a:r>
            <a:r>
              <a:rPr lang="en-US" sz="1200" b="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sqlite</a:t>
            </a:r>
            <a:r>
              <a:rPr lang="en-US" sz="1200" b="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/SQLiteDatabase.java</a:t>
            </a:r>
          </a:p>
          <a:p>
            <a:endParaRPr lang="en-US" sz="1100" b="0" dirty="0">
              <a:solidFill>
                <a:schemeClr val="tx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600" b="0" dirty="0" smtClean="0">
                <a:solidFill>
                  <a:schemeClr val="tx1"/>
                </a:solidFill>
                <a:latin typeface="+mn-lt"/>
                <a:cs typeface="Courier New" panose="02070309020205020404" pitchFamily="49" charset="0"/>
              </a:rPr>
              <a:t>Main functions for logging</a:t>
            </a:r>
          </a:p>
          <a:p>
            <a:pPr marL="341313" lvl="2" indent="-171450">
              <a:buFont typeface="Courier New" panose="02070309020205020404" pitchFamily="49" charset="0"/>
              <a:buChar char="o"/>
            </a:pPr>
            <a:r>
              <a:rPr lang="en-US" sz="1200" b="0" dirty="0" smtClean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Constructor </a:t>
            </a:r>
            <a:r>
              <a:rPr lang="en-US" sz="1200" b="0" dirty="0" err="1" smtClean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SQLiteDatabase</a:t>
            </a:r>
            <a:r>
              <a:rPr lang="en-US" sz="1200" b="0" dirty="0" smtClean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for Open</a:t>
            </a:r>
          </a:p>
          <a:p>
            <a:pPr marL="341313" lvl="2" indent="-171450">
              <a:buFont typeface="Courier New" panose="02070309020205020404" pitchFamily="49" charset="0"/>
              <a:buChar char="o"/>
            </a:pPr>
            <a:r>
              <a:rPr lang="en-US" sz="1200" b="0" dirty="0" err="1" smtClean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insertWithOnConflict</a:t>
            </a:r>
            <a:r>
              <a:rPr lang="en-US" sz="1200" b="0" dirty="0" smtClean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for Insert</a:t>
            </a:r>
          </a:p>
          <a:p>
            <a:pPr marL="341313" lvl="2" indent="-171450">
              <a:buFont typeface="Courier New" panose="02070309020205020404" pitchFamily="49" charset="0"/>
              <a:buChar char="o"/>
            </a:pPr>
            <a:r>
              <a:rPr lang="en-US" sz="1200" b="0" dirty="0" err="1" smtClean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updateWithOnConflict</a:t>
            </a:r>
            <a:r>
              <a:rPr lang="en-US" sz="1200" b="0" dirty="0" smtClean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for Update</a:t>
            </a:r>
          </a:p>
        </p:txBody>
      </p:sp>
      <p:pic>
        <p:nvPicPr>
          <p:cNvPr id="10242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08655" y="2858311"/>
            <a:ext cx="5261047" cy="17378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1083955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Monitoring</a:t>
            </a:r>
            <a:br>
              <a:rPr lang="en-US" dirty="0" smtClean="0"/>
            </a:br>
            <a:r>
              <a:rPr lang="en-US" dirty="0" smtClean="0"/>
              <a:t/>
            </a:r>
            <a:br>
              <a:rPr lang="en-US" dirty="0" smtClean="0"/>
            </a:b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8106774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tx1"/>
                </a:solidFill>
              </a:rPr>
              <a:t>Monitoring With </a:t>
            </a:r>
            <a:r>
              <a:rPr lang="en-US" dirty="0" err="1" smtClean="0">
                <a:solidFill>
                  <a:schemeClr val="tx1"/>
                </a:solidFill>
              </a:rPr>
              <a:t>logcat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" name="Content Placeholder 2"/>
          <p:cNvSpPr>
            <a:spLocks noGrp="1"/>
          </p:cNvSpPr>
          <p:nvPr>
            <p:ph sz="quarter" idx="10"/>
          </p:nvPr>
        </p:nvSpPr>
        <p:spPr>
          <a:xfrm>
            <a:off x="340834" y="885861"/>
            <a:ext cx="8648560" cy="1364475"/>
          </a:xfrm>
        </p:spPr>
        <p:txBody>
          <a:bodyPr/>
          <a:lstStyle/>
          <a:p>
            <a:r>
              <a:rPr lang="en-US" b="0" dirty="0" smtClean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adb.exe </a:t>
            </a:r>
            <a:r>
              <a:rPr lang="en-US" b="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logcat</a:t>
            </a:r>
            <a:r>
              <a:rPr lang="en-US" b="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-s "</a:t>
            </a:r>
            <a:r>
              <a:rPr lang="en-US" b="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ShadowOS</a:t>
            </a:r>
            <a:r>
              <a:rPr lang="en-US" b="0" dirty="0" smtClean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</a:t>
            </a:r>
          </a:p>
        </p:txBody>
      </p:sp>
      <p:pic>
        <p:nvPicPr>
          <p:cNvPr id="1126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32921" y="1269820"/>
            <a:ext cx="4664913" cy="35315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774464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tx1"/>
                </a:solidFill>
              </a:rPr>
              <a:t>Monitoring With </a:t>
            </a:r>
            <a:r>
              <a:rPr lang="en-US" smtClean="0">
                <a:solidFill>
                  <a:schemeClr val="tx1"/>
                </a:solidFill>
              </a:rPr>
              <a:t>Remote Monitor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5" name="Content Placeholder 2"/>
          <p:cNvSpPr>
            <a:spLocks noGrp="1"/>
          </p:cNvSpPr>
          <p:nvPr>
            <p:ph sz="quarter" idx="10"/>
          </p:nvPr>
        </p:nvSpPr>
        <p:spPr>
          <a:xfrm>
            <a:off x="329185" y="1188720"/>
            <a:ext cx="8648560" cy="1364475"/>
          </a:xfrm>
        </p:spPr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0" dirty="0" smtClean="0">
                <a:solidFill>
                  <a:schemeClr val="tx1"/>
                </a:solidFill>
              </a:rPr>
              <a:t>Using socket connection to specific port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0" dirty="0" smtClean="0">
                <a:solidFill>
                  <a:schemeClr val="tx1"/>
                </a:solidFill>
              </a:rPr>
              <a:t>Data formatted in XML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0" dirty="0" smtClean="0">
                <a:solidFill>
                  <a:schemeClr val="tx1"/>
                </a:solidFill>
              </a:rPr>
              <a:t>Configure hosts file and push with </a:t>
            </a:r>
            <a:r>
              <a:rPr lang="en-US" b="0" dirty="0" err="1" smtClean="0">
                <a:solidFill>
                  <a:schemeClr val="tx1"/>
                </a:solidFill>
              </a:rPr>
              <a:t>adb</a:t>
            </a:r>
            <a:endParaRPr lang="en-US" b="0" dirty="0" smtClean="0">
              <a:solidFill>
                <a:schemeClr val="tx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0" dirty="0" smtClean="0">
                <a:solidFill>
                  <a:schemeClr val="tx1"/>
                </a:solidFill>
              </a:rPr>
              <a:t>Must start emulator with “partition-size” parameter to avoid “Out Of Memory” error</a:t>
            </a:r>
          </a:p>
          <a:p>
            <a:endParaRPr lang="en-US" b="0" dirty="0" smtClean="0">
              <a:solidFill>
                <a:schemeClr val="tx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b="0" dirty="0" smtClean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emulator </a:t>
            </a:r>
            <a:r>
              <a:rPr lang="en-US" b="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-</a:t>
            </a:r>
            <a:r>
              <a:rPr lang="en-US" b="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avd</a:t>
            </a:r>
            <a:r>
              <a:rPr lang="en-US" b="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Test -partition-size </a:t>
            </a:r>
            <a:r>
              <a:rPr lang="en-US" b="0" dirty="0" smtClean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512</a:t>
            </a:r>
          </a:p>
          <a:p>
            <a:r>
              <a:rPr lang="en-US" b="0" dirty="0" smtClean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adb.exe </a:t>
            </a:r>
            <a:r>
              <a:rPr lang="en-US" b="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push hosts /system/</a:t>
            </a:r>
            <a:r>
              <a:rPr lang="en-US" b="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etc</a:t>
            </a:r>
            <a:r>
              <a:rPr lang="en-US" b="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endParaRPr lang="en-US" b="0" dirty="0" smtClean="0">
              <a:solidFill>
                <a:schemeClr val="tx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085937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tx1"/>
                </a:solidFill>
              </a:rPr>
              <a:t>To Do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5" name="Content Placeholder 2"/>
          <p:cNvSpPr>
            <a:spLocks noGrp="1"/>
          </p:cNvSpPr>
          <p:nvPr>
            <p:ph sz="quarter" idx="10"/>
          </p:nvPr>
        </p:nvSpPr>
        <p:spPr>
          <a:xfrm>
            <a:off x="329185" y="1188720"/>
            <a:ext cx="8648560" cy="2666903"/>
          </a:xfrm>
        </p:spPr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0" dirty="0" smtClean="0">
                <a:solidFill>
                  <a:schemeClr val="tx1"/>
                </a:solidFill>
              </a:rPr>
              <a:t>Two way communication (filters)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0" dirty="0" smtClean="0">
                <a:solidFill>
                  <a:schemeClr val="tx1"/>
                </a:solidFill>
              </a:rPr>
              <a:t>Interception of more content e.g. Contacts, Sockets, </a:t>
            </a:r>
            <a:r>
              <a:rPr lang="en-US" b="0" dirty="0" err="1" smtClean="0">
                <a:solidFill>
                  <a:schemeClr val="tx1"/>
                </a:solidFill>
              </a:rPr>
              <a:t>Geolocation</a:t>
            </a:r>
            <a:endParaRPr lang="en-US" b="0" dirty="0" smtClean="0">
              <a:solidFill>
                <a:schemeClr val="tx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0" dirty="0" smtClean="0">
                <a:solidFill>
                  <a:schemeClr val="tx1"/>
                </a:solidFill>
              </a:rPr>
              <a:t>Logger integrations (WebInspect, Burp, Encoders/Decoders)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0" dirty="0" smtClean="0">
                <a:solidFill>
                  <a:schemeClr val="tx1"/>
                </a:solidFill>
              </a:rPr>
              <a:t>Logger modify and push hosts file (adb.exe)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0" dirty="0" smtClean="0">
                <a:solidFill>
                  <a:schemeClr val="tx1"/>
                </a:solidFill>
              </a:rPr>
              <a:t>Logger upload of applications (adb.exe)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b="0" dirty="0" smtClean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176457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Reach out</a:t>
            </a:r>
            <a:endParaRPr lang="en-US" sz="2800" dirty="0"/>
          </a:p>
        </p:txBody>
      </p:sp>
      <p:grpSp>
        <p:nvGrpSpPr>
          <p:cNvPr id="3" name="Group 2"/>
          <p:cNvGrpSpPr/>
          <p:nvPr/>
        </p:nvGrpSpPr>
        <p:grpSpPr>
          <a:xfrm>
            <a:off x="6011140" y="1671002"/>
            <a:ext cx="1395499" cy="1313267"/>
            <a:chOff x="3606800" y="5751513"/>
            <a:chExt cx="1462088" cy="1477963"/>
          </a:xfrm>
          <a:solidFill>
            <a:schemeClr val="bg1"/>
          </a:solidFill>
        </p:grpSpPr>
        <p:sp>
          <p:nvSpPr>
            <p:cNvPr id="4" name="Freeform 39"/>
            <p:cNvSpPr>
              <a:spLocks/>
            </p:cNvSpPr>
            <p:nvPr/>
          </p:nvSpPr>
          <p:spPr bwMode="auto">
            <a:xfrm>
              <a:off x="3606800" y="5751513"/>
              <a:ext cx="1079500" cy="1039813"/>
            </a:xfrm>
            <a:custGeom>
              <a:avLst/>
              <a:gdLst>
                <a:gd name="T0" fmla="*/ 218 w 288"/>
                <a:gd name="T1" fmla="*/ 277 h 277"/>
                <a:gd name="T2" fmla="*/ 252 w 288"/>
                <a:gd name="T3" fmla="*/ 254 h 277"/>
                <a:gd name="T4" fmla="*/ 255 w 288"/>
                <a:gd name="T5" fmla="*/ 251 h 277"/>
                <a:gd name="T6" fmla="*/ 288 w 288"/>
                <a:gd name="T7" fmla="*/ 172 h 277"/>
                <a:gd name="T8" fmla="*/ 257 w 288"/>
                <a:gd name="T9" fmla="*/ 95 h 277"/>
                <a:gd name="T10" fmla="*/ 193 w 288"/>
                <a:gd name="T11" fmla="*/ 31 h 277"/>
                <a:gd name="T12" fmla="*/ 117 w 288"/>
                <a:gd name="T13" fmla="*/ 0 h 277"/>
                <a:gd name="T14" fmla="*/ 37 w 288"/>
                <a:gd name="T15" fmla="*/ 33 h 277"/>
                <a:gd name="T16" fmla="*/ 34 w 288"/>
                <a:gd name="T17" fmla="*/ 36 h 277"/>
                <a:gd name="T18" fmla="*/ 1 w 288"/>
                <a:gd name="T19" fmla="*/ 115 h 277"/>
                <a:gd name="T20" fmla="*/ 32 w 288"/>
                <a:gd name="T21" fmla="*/ 192 h 277"/>
                <a:gd name="T22" fmla="*/ 76 w 288"/>
                <a:gd name="T23" fmla="*/ 236 h 277"/>
                <a:gd name="T24" fmla="*/ 75 w 288"/>
                <a:gd name="T25" fmla="*/ 222 h 277"/>
                <a:gd name="T26" fmla="*/ 84 w 288"/>
                <a:gd name="T27" fmla="*/ 175 h 277"/>
                <a:gd name="T28" fmla="*/ 67 w 288"/>
                <a:gd name="T29" fmla="*/ 158 h 277"/>
                <a:gd name="T30" fmla="*/ 50 w 288"/>
                <a:gd name="T31" fmla="*/ 115 h 277"/>
                <a:gd name="T32" fmla="*/ 69 w 288"/>
                <a:gd name="T33" fmla="*/ 71 h 277"/>
                <a:gd name="T34" fmla="*/ 72 w 288"/>
                <a:gd name="T35" fmla="*/ 68 h 277"/>
                <a:gd name="T36" fmla="*/ 117 w 288"/>
                <a:gd name="T37" fmla="*/ 49 h 277"/>
                <a:gd name="T38" fmla="*/ 158 w 288"/>
                <a:gd name="T39" fmla="*/ 66 h 277"/>
                <a:gd name="T40" fmla="*/ 222 w 288"/>
                <a:gd name="T41" fmla="*/ 129 h 277"/>
                <a:gd name="T42" fmla="*/ 220 w 288"/>
                <a:gd name="T43" fmla="*/ 216 h 277"/>
                <a:gd name="T44" fmla="*/ 217 w 288"/>
                <a:gd name="T45" fmla="*/ 219 h 277"/>
                <a:gd name="T46" fmla="*/ 181 w 288"/>
                <a:gd name="T47" fmla="*/ 237 h 277"/>
                <a:gd name="T48" fmla="*/ 188 w 288"/>
                <a:gd name="T49" fmla="*/ 246 h 277"/>
                <a:gd name="T50" fmla="*/ 218 w 288"/>
                <a:gd name="T51" fmla="*/ 277 h 2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288" h="277">
                  <a:moveTo>
                    <a:pt x="218" y="277"/>
                  </a:moveTo>
                  <a:cubicBezTo>
                    <a:pt x="231" y="272"/>
                    <a:pt x="242" y="264"/>
                    <a:pt x="252" y="254"/>
                  </a:cubicBezTo>
                  <a:cubicBezTo>
                    <a:pt x="255" y="251"/>
                    <a:pt x="255" y="251"/>
                    <a:pt x="255" y="251"/>
                  </a:cubicBezTo>
                  <a:cubicBezTo>
                    <a:pt x="276" y="230"/>
                    <a:pt x="288" y="202"/>
                    <a:pt x="288" y="172"/>
                  </a:cubicBezTo>
                  <a:cubicBezTo>
                    <a:pt x="288" y="143"/>
                    <a:pt x="277" y="115"/>
                    <a:pt x="257" y="95"/>
                  </a:cubicBezTo>
                  <a:cubicBezTo>
                    <a:pt x="193" y="31"/>
                    <a:pt x="193" y="31"/>
                    <a:pt x="193" y="31"/>
                  </a:cubicBezTo>
                  <a:cubicBezTo>
                    <a:pt x="173" y="11"/>
                    <a:pt x="146" y="0"/>
                    <a:pt x="117" y="0"/>
                  </a:cubicBezTo>
                  <a:cubicBezTo>
                    <a:pt x="87" y="0"/>
                    <a:pt x="59" y="12"/>
                    <a:pt x="37" y="33"/>
                  </a:cubicBezTo>
                  <a:cubicBezTo>
                    <a:pt x="34" y="36"/>
                    <a:pt x="34" y="36"/>
                    <a:pt x="34" y="36"/>
                  </a:cubicBezTo>
                  <a:cubicBezTo>
                    <a:pt x="13" y="57"/>
                    <a:pt x="1" y="85"/>
                    <a:pt x="1" y="115"/>
                  </a:cubicBezTo>
                  <a:cubicBezTo>
                    <a:pt x="0" y="144"/>
                    <a:pt x="12" y="172"/>
                    <a:pt x="32" y="192"/>
                  </a:cubicBezTo>
                  <a:cubicBezTo>
                    <a:pt x="76" y="236"/>
                    <a:pt x="76" y="236"/>
                    <a:pt x="76" y="236"/>
                  </a:cubicBezTo>
                  <a:cubicBezTo>
                    <a:pt x="75" y="231"/>
                    <a:pt x="75" y="226"/>
                    <a:pt x="75" y="222"/>
                  </a:cubicBezTo>
                  <a:cubicBezTo>
                    <a:pt x="75" y="206"/>
                    <a:pt x="78" y="190"/>
                    <a:pt x="84" y="175"/>
                  </a:cubicBezTo>
                  <a:cubicBezTo>
                    <a:pt x="67" y="158"/>
                    <a:pt x="67" y="158"/>
                    <a:pt x="67" y="158"/>
                  </a:cubicBezTo>
                  <a:cubicBezTo>
                    <a:pt x="56" y="146"/>
                    <a:pt x="50" y="131"/>
                    <a:pt x="50" y="115"/>
                  </a:cubicBezTo>
                  <a:cubicBezTo>
                    <a:pt x="50" y="99"/>
                    <a:pt x="57" y="83"/>
                    <a:pt x="69" y="71"/>
                  </a:cubicBezTo>
                  <a:cubicBezTo>
                    <a:pt x="72" y="68"/>
                    <a:pt x="72" y="68"/>
                    <a:pt x="72" y="68"/>
                  </a:cubicBezTo>
                  <a:cubicBezTo>
                    <a:pt x="84" y="56"/>
                    <a:pt x="100" y="49"/>
                    <a:pt x="117" y="49"/>
                  </a:cubicBezTo>
                  <a:cubicBezTo>
                    <a:pt x="133" y="49"/>
                    <a:pt x="147" y="55"/>
                    <a:pt x="158" y="66"/>
                  </a:cubicBezTo>
                  <a:cubicBezTo>
                    <a:pt x="222" y="129"/>
                    <a:pt x="222" y="129"/>
                    <a:pt x="222" y="129"/>
                  </a:cubicBezTo>
                  <a:cubicBezTo>
                    <a:pt x="245" y="153"/>
                    <a:pt x="245" y="192"/>
                    <a:pt x="220" y="216"/>
                  </a:cubicBezTo>
                  <a:cubicBezTo>
                    <a:pt x="217" y="219"/>
                    <a:pt x="217" y="219"/>
                    <a:pt x="217" y="219"/>
                  </a:cubicBezTo>
                  <a:cubicBezTo>
                    <a:pt x="207" y="229"/>
                    <a:pt x="195" y="235"/>
                    <a:pt x="181" y="237"/>
                  </a:cubicBezTo>
                  <a:cubicBezTo>
                    <a:pt x="183" y="241"/>
                    <a:pt x="185" y="244"/>
                    <a:pt x="188" y="246"/>
                  </a:cubicBezTo>
                  <a:lnTo>
                    <a:pt x="218" y="27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" name="Freeform 40"/>
            <p:cNvSpPr>
              <a:spLocks/>
            </p:cNvSpPr>
            <p:nvPr/>
          </p:nvSpPr>
          <p:spPr bwMode="auto">
            <a:xfrm>
              <a:off x="3948113" y="6189663"/>
              <a:ext cx="1120775" cy="1039813"/>
            </a:xfrm>
            <a:custGeom>
              <a:avLst/>
              <a:gdLst>
                <a:gd name="T0" fmla="*/ 267 w 299"/>
                <a:gd name="T1" fmla="*/ 85 h 277"/>
                <a:gd name="T2" fmla="*/ 223 w 299"/>
                <a:gd name="T3" fmla="*/ 41 h 277"/>
                <a:gd name="T4" fmla="*/ 224 w 299"/>
                <a:gd name="T5" fmla="*/ 55 h 277"/>
                <a:gd name="T6" fmla="*/ 215 w 299"/>
                <a:gd name="T7" fmla="*/ 102 h 277"/>
                <a:gd name="T8" fmla="*/ 232 w 299"/>
                <a:gd name="T9" fmla="*/ 119 h 277"/>
                <a:gd name="T10" fmla="*/ 249 w 299"/>
                <a:gd name="T11" fmla="*/ 162 h 277"/>
                <a:gd name="T12" fmla="*/ 230 w 299"/>
                <a:gd name="T13" fmla="*/ 206 h 277"/>
                <a:gd name="T14" fmla="*/ 227 w 299"/>
                <a:gd name="T15" fmla="*/ 209 h 277"/>
                <a:gd name="T16" fmla="*/ 182 w 299"/>
                <a:gd name="T17" fmla="*/ 228 h 277"/>
                <a:gd name="T18" fmla="*/ 141 w 299"/>
                <a:gd name="T19" fmla="*/ 211 h 277"/>
                <a:gd name="T20" fmla="*/ 77 w 299"/>
                <a:gd name="T21" fmla="*/ 148 h 277"/>
                <a:gd name="T22" fmla="*/ 79 w 299"/>
                <a:gd name="T23" fmla="*/ 61 h 277"/>
                <a:gd name="T24" fmla="*/ 82 w 299"/>
                <a:gd name="T25" fmla="*/ 58 h 277"/>
                <a:gd name="T26" fmla="*/ 118 w 299"/>
                <a:gd name="T27" fmla="*/ 40 h 277"/>
                <a:gd name="T28" fmla="*/ 112 w 299"/>
                <a:gd name="T29" fmla="*/ 31 h 277"/>
                <a:gd name="T30" fmla="*/ 81 w 299"/>
                <a:gd name="T31" fmla="*/ 0 h 277"/>
                <a:gd name="T32" fmla="*/ 47 w 299"/>
                <a:gd name="T33" fmla="*/ 23 h 277"/>
                <a:gd name="T34" fmla="*/ 44 w 299"/>
                <a:gd name="T35" fmla="*/ 26 h 277"/>
                <a:gd name="T36" fmla="*/ 42 w 299"/>
                <a:gd name="T37" fmla="*/ 182 h 277"/>
                <a:gd name="T38" fmla="*/ 106 w 299"/>
                <a:gd name="T39" fmla="*/ 246 h 277"/>
                <a:gd name="T40" fmla="*/ 182 w 299"/>
                <a:gd name="T41" fmla="*/ 277 h 277"/>
                <a:gd name="T42" fmla="*/ 262 w 299"/>
                <a:gd name="T43" fmla="*/ 244 h 277"/>
                <a:gd name="T44" fmla="*/ 265 w 299"/>
                <a:gd name="T45" fmla="*/ 241 h 277"/>
                <a:gd name="T46" fmla="*/ 298 w 299"/>
                <a:gd name="T47" fmla="*/ 162 h 277"/>
                <a:gd name="T48" fmla="*/ 267 w 299"/>
                <a:gd name="T49" fmla="*/ 85 h 2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299" h="277">
                  <a:moveTo>
                    <a:pt x="267" y="85"/>
                  </a:moveTo>
                  <a:cubicBezTo>
                    <a:pt x="223" y="41"/>
                    <a:pt x="223" y="41"/>
                    <a:pt x="223" y="41"/>
                  </a:cubicBezTo>
                  <a:cubicBezTo>
                    <a:pt x="223" y="46"/>
                    <a:pt x="224" y="50"/>
                    <a:pt x="224" y="55"/>
                  </a:cubicBezTo>
                  <a:cubicBezTo>
                    <a:pt x="223" y="71"/>
                    <a:pt x="220" y="87"/>
                    <a:pt x="215" y="102"/>
                  </a:cubicBezTo>
                  <a:cubicBezTo>
                    <a:pt x="232" y="119"/>
                    <a:pt x="232" y="119"/>
                    <a:pt x="232" y="119"/>
                  </a:cubicBezTo>
                  <a:cubicBezTo>
                    <a:pt x="243" y="131"/>
                    <a:pt x="249" y="146"/>
                    <a:pt x="249" y="162"/>
                  </a:cubicBezTo>
                  <a:cubicBezTo>
                    <a:pt x="249" y="178"/>
                    <a:pt x="242" y="194"/>
                    <a:pt x="230" y="206"/>
                  </a:cubicBezTo>
                  <a:cubicBezTo>
                    <a:pt x="227" y="209"/>
                    <a:pt x="227" y="209"/>
                    <a:pt x="227" y="209"/>
                  </a:cubicBezTo>
                  <a:cubicBezTo>
                    <a:pt x="215" y="221"/>
                    <a:pt x="199" y="228"/>
                    <a:pt x="182" y="228"/>
                  </a:cubicBezTo>
                  <a:cubicBezTo>
                    <a:pt x="166" y="228"/>
                    <a:pt x="152" y="222"/>
                    <a:pt x="141" y="211"/>
                  </a:cubicBezTo>
                  <a:cubicBezTo>
                    <a:pt x="77" y="148"/>
                    <a:pt x="77" y="148"/>
                    <a:pt x="77" y="148"/>
                  </a:cubicBezTo>
                  <a:cubicBezTo>
                    <a:pt x="54" y="124"/>
                    <a:pt x="55" y="85"/>
                    <a:pt x="79" y="61"/>
                  </a:cubicBezTo>
                  <a:cubicBezTo>
                    <a:pt x="82" y="58"/>
                    <a:pt x="82" y="58"/>
                    <a:pt x="82" y="58"/>
                  </a:cubicBezTo>
                  <a:cubicBezTo>
                    <a:pt x="92" y="48"/>
                    <a:pt x="105" y="42"/>
                    <a:pt x="118" y="40"/>
                  </a:cubicBezTo>
                  <a:cubicBezTo>
                    <a:pt x="117" y="36"/>
                    <a:pt x="114" y="33"/>
                    <a:pt x="112" y="31"/>
                  </a:cubicBezTo>
                  <a:cubicBezTo>
                    <a:pt x="81" y="0"/>
                    <a:pt x="81" y="0"/>
                    <a:pt x="81" y="0"/>
                  </a:cubicBezTo>
                  <a:cubicBezTo>
                    <a:pt x="68" y="5"/>
                    <a:pt x="57" y="13"/>
                    <a:pt x="47" y="23"/>
                  </a:cubicBezTo>
                  <a:cubicBezTo>
                    <a:pt x="44" y="26"/>
                    <a:pt x="44" y="26"/>
                    <a:pt x="44" y="26"/>
                  </a:cubicBezTo>
                  <a:cubicBezTo>
                    <a:pt x="1" y="70"/>
                    <a:pt x="0" y="140"/>
                    <a:pt x="42" y="182"/>
                  </a:cubicBezTo>
                  <a:cubicBezTo>
                    <a:pt x="106" y="246"/>
                    <a:pt x="106" y="246"/>
                    <a:pt x="106" y="246"/>
                  </a:cubicBezTo>
                  <a:cubicBezTo>
                    <a:pt x="126" y="266"/>
                    <a:pt x="153" y="277"/>
                    <a:pt x="182" y="277"/>
                  </a:cubicBezTo>
                  <a:cubicBezTo>
                    <a:pt x="212" y="277"/>
                    <a:pt x="240" y="265"/>
                    <a:pt x="262" y="244"/>
                  </a:cubicBezTo>
                  <a:cubicBezTo>
                    <a:pt x="265" y="241"/>
                    <a:pt x="265" y="241"/>
                    <a:pt x="265" y="241"/>
                  </a:cubicBezTo>
                  <a:cubicBezTo>
                    <a:pt x="286" y="220"/>
                    <a:pt x="298" y="192"/>
                    <a:pt x="298" y="162"/>
                  </a:cubicBezTo>
                  <a:cubicBezTo>
                    <a:pt x="299" y="133"/>
                    <a:pt x="287" y="105"/>
                    <a:pt x="267" y="85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6" name="Rectangle 5"/>
          <p:cNvSpPr/>
          <p:nvPr/>
        </p:nvSpPr>
        <p:spPr>
          <a:xfrm>
            <a:off x="1471135" y="2029874"/>
            <a:ext cx="3249992" cy="107721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200" u="sng" dirty="0" smtClean="0">
                <a:solidFill>
                  <a:schemeClr val="bg1"/>
                </a:solidFill>
              </a:rPr>
              <a:t>Ray.kelly@hp.com</a:t>
            </a:r>
          </a:p>
          <a:p>
            <a:r>
              <a:rPr lang="en-US" sz="3200" u="sng" dirty="0" smtClean="0">
                <a:solidFill>
                  <a:schemeClr val="bg1"/>
                </a:solidFill>
              </a:rPr>
              <a:t>@</a:t>
            </a:r>
            <a:r>
              <a:rPr lang="en-US" sz="3200" u="sng" dirty="0" err="1" smtClean="0">
                <a:solidFill>
                  <a:schemeClr val="bg1"/>
                </a:solidFill>
              </a:rPr>
              <a:t>vbisbest</a:t>
            </a:r>
            <a:endParaRPr lang="en-US" sz="3200" u="sng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953997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Questions</a:t>
            </a:r>
            <a:br>
              <a:rPr lang="en-US" dirty="0" smtClean="0"/>
            </a:br>
            <a:r>
              <a:rPr lang="en-US" dirty="0" smtClean="0"/>
              <a:t/>
            </a:r>
            <a:br>
              <a:rPr lang="en-US" dirty="0" smtClean="0"/>
            </a:br>
            <a:r>
              <a:rPr lang="en-US" sz="2400" dirty="0" smtClean="0"/>
              <a:t> </a:t>
            </a:r>
            <a:r>
              <a:rPr lang="en-US" sz="1400" dirty="0" smtClean="0"/>
              <a:t/>
            </a:r>
            <a:br>
              <a:rPr lang="en-US" sz="1400" dirty="0" smtClean="0"/>
            </a:br>
            <a:r>
              <a:rPr lang="en-US" sz="1400" dirty="0" smtClean="0"/>
              <a:t/>
            </a:r>
            <a:br>
              <a:rPr lang="en-US" sz="1400" dirty="0" smtClean="0"/>
            </a:br>
            <a:r>
              <a:rPr lang="en-US" sz="1400" dirty="0" smtClean="0"/>
              <a:t/>
            </a:r>
            <a:br>
              <a:rPr lang="en-US" sz="1400" dirty="0" smtClean="0"/>
            </a:br>
            <a:r>
              <a:rPr lang="en-US" sz="1400" dirty="0" smtClean="0"/>
              <a:t/>
            </a:r>
            <a:br>
              <a:rPr lang="en-US" sz="1400" dirty="0" smtClean="0"/>
            </a:br>
            <a:endParaRPr lang="en-US" sz="1400" b="0" spc="0" dirty="0">
              <a:latin typeface="+mj-lt"/>
            </a:endParaRPr>
          </a:p>
        </p:txBody>
      </p:sp>
      <p:pic>
        <p:nvPicPr>
          <p:cNvPr id="5" name="Picture 4" descr="E:\mobility_icons\mobility_icon_white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64741" y="1379913"/>
            <a:ext cx="3002404" cy="24777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234159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dYHAxeai7kGkYbpkeeBnqw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3z.QU3QrzUu6cCR4K5xmLw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zcsqsasUB0iy3lliu3dyOw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w2rKrf55jk.gETpyV9o7pg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7EBOo8olmE2DrICfghsN_Q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pW31YZ0iq02NsZBivkNn2w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TfL8Eb4E7kmcoaa4Yqu2jQ"/>
</p:tagLst>
</file>

<file path=ppt/theme/theme1.xml><?xml version="1.0" encoding="utf-8"?>
<a:theme xmlns:a="http://schemas.openxmlformats.org/drawingml/2006/main" name="HP_PPT_Standard_template_16x9_Jan2013">
  <a:themeElements>
    <a:clrScheme name="Custom 214">
      <a:dk1>
        <a:sysClr val="windowText" lastClr="000000"/>
      </a:dk1>
      <a:lt1>
        <a:sysClr val="window" lastClr="FFFFFF"/>
      </a:lt1>
      <a:dk2>
        <a:srgbClr val="0096D6"/>
      </a:dk2>
      <a:lt2>
        <a:srgbClr val="E5E8E8"/>
      </a:lt2>
      <a:accent1>
        <a:srgbClr val="0096D6"/>
      </a:accent1>
      <a:accent2>
        <a:srgbClr val="F05332"/>
      </a:accent2>
      <a:accent3>
        <a:srgbClr val="822980"/>
      </a:accent3>
      <a:accent4>
        <a:srgbClr val="87898B"/>
      </a:accent4>
      <a:accent5>
        <a:srgbClr val="B9B8BB"/>
      </a:accent5>
      <a:accent6>
        <a:srgbClr val="008B2B"/>
      </a:accent6>
      <a:hlink>
        <a:srgbClr val="0096D6"/>
      </a:hlink>
      <a:folHlink>
        <a:srgbClr val="0096D6"/>
      </a:folHlink>
    </a:clrScheme>
    <a:fontScheme name="HP Simplified">
      <a:majorFont>
        <a:latin typeface="HP Simplified"/>
        <a:ea typeface=""/>
        <a:cs typeface=""/>
      </a:majorFont>
      <a:minorFont>
        <a:latin typeface="HP Simplified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1"/>
        </a:solidFill>
        <a:ln>
          <a:noFill/>
        </a:ln>
        <a:effectLst/>
      </a:spPr>
      <a:bodyPr rtlCol="0" anchor="ctr"/>
      <a:lstStyle>
        <a:defPPr algn="ctr">
          <a:defRPr/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>
        <a:ln w="12700" cmpd="sng">
          <a:solidFill>
            <a:schemeClr val="tx1"/>
          </a:solidFill>
        </a:ln>
        <a:effectLst/>
      </a:spPr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noFill/>
      </a:spPr>
      <a:bodyPr wrap="none" rtlCol="0">
        <a:spAutoFit/>
      </a:bodyPr>
      <a:lstStyle>
        <a:defPPr marL="0" defTabSz="430213">
          <a:spcAft>
            <a:spcPts val="400"/>
          </a:spcAft>
          <a:buSzPct val="100000"/>
          <a:defRPr sz="1600" dirty="0" smtClean="0">
            <a:solidFill>
              <a:srgbClr val="000000"/>
            </a:solidFill>
            <a:latin typeface="HP Simplified" pitchFamily="34" charset="0"/>
            <a:cs typeface="HP Simplified" pitchFamily="34" charset="0"/>
          </a:defRPr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HP Theme colors">
      <a:dk1>
        <a:sysClr val="windowText" lastClr="000000"/>
      </a:dk1>
      <a:lt1>
        <a:sysClr val="window" lastClr="FFFFFF"/>
      </a:lt1>
      <a:dk2>
        <a:srgbClr val="000000"/>
      </a:dk2>
      <a:lt2>
        <a:srgbClr val="EEECE1"/>
      </a:lt2>
      <a:accent1>
        <a:srgbClr val="0096D6"/>
      </a:accent1>
      <a:accent2>
        <a:srgbClr val="F05332"/>
      </a:accent2>
      <a:accent3>
        <a:srgbClr val="B7CA34"/>
      </a:accent3>
      <a:accent4>
        <a:srgbClr val="87898B"/>
      </a:accent4>
      <a:accent5>
        <a:srgbClr val="B9B8BB"/>
      </a:accent5>
      <a:accent6>
        <a:srgbClr val="E5E8E8"/>
      </a:accent6>
      <a:hlink>
        <a:srgbClr val="0096D6"/>
      </a:hlink>
      <a:folHlink>
        <a:srgbClr val="0096D6"/>
      </a:folHlink>
    </a:clrScheme>
    <a:fontScheme name="HP Simplified">
      <a:majorFont>
        <a:latin typeface="HP Simplified"/>
        <a:ea typeface=""/>
        <a:cs typeface=""/>
      </a:majorFont>
      <a:minorFont>
        <a:latin typeface="HP Simplified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HP_PPT_Standard_template_16x9_Jan2013</Template>
  <TotalTime>10442</TotalTime>
  <Words>1153</Words>
  <Application>Microsoft Office PowerPoint</Application>
  <PresentationFormat>On-screen Show (16:9)</PresentationFormat>
  <Paragraphs>288</Paragraphs>
  <Slides>34</Slides>
  <Notes>33</Notes>
  <HiddenSlides>0</HiddenSlides>
  <MMClips>0</MMClips>
  <ScaleCrop>false</ScaleCrop>
  <HeadingPairs>
    <vt:vector size="8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34</vt:i4>
      </vt:variant>
    </vt:vector>
  </HeadingPairs>
  <TitlesOfParts>
    <vt:vector size="43" baseType="lpstr">
      <vt:lpstr>Arial</vt:lpstr>
      <vt:lpstr>Courier New</vt:lpstr>
      <vt:lpstr>Calibri</vt:lpstr>
      <vt:lpstr>HP Simplified</vt:lpstr>
      <vt:lpstr>Lucida Grande</vt:lpstr>
      <vt:lpstr>Times New Roman</vt:lpstr>
      <vt:lpstr>Wingdings</vt:lpstr>
      <vt:lpstr>HP_PPT_Standard_template_16x9_Jan2013</vt:lpstr>
      <vt:lpstr>think-cell Slide</vt:lpstr>
      <vt:lpstr>Man-In-The-Front</vt:lpstr>
      <vt:lpstr>PowerPoint Presentation</vt:lpstr>
      <vt:lpstr>Agenda</vt:lpstr>
      <vt:lpstr>Inspiration</vt:lpstr>
      <vt:lpstr>Inspiration </vt:lpstr>
      <vt:lpstr>Challenges of Mobile Testing </vt:lpstr>
      <vt:lpstr>Why is Mobile Testing Important </vt:lpstr>
      <vt:lpstr>Challenges of Mobile Testing</vt:lpstr>
      <vt:lpstr>PowerPoint Presentation</vt:lpstr>
      <vt:lpstr>Challenges of Mobile Testing: Server Side</vt:lpstr>
      <vt:lpstr>Challenges of Mobile Testing: Network</vt:lpstr>
      <vt:lpstr>Challenges of Mobile Testing: Client</vt:lpstr>
      <vt:lpstr>Common vulnerabilities:  Promiscuous client-side storage</vt:lpstr>
      <vt:lpstr>The Android OS  </vt:lpstr>
      <vt:lpstr>The Android OS: How Low Can We Go</vt:lpstr>
      <vt:lpstr>The Android OS: How Low Can We Go</vt:lpstr>
      <vt:lpstr>Building the Android OS  </vt:lpstr>
      <vt:lpstr>The Host And Environment</vt:lpstr>
      <vt:lpstr>Building</vt:lpstr>
      <vt:lpstr>Building</vt:lpstr>
      <vt:lpstr>Building</vt:lpstr>
      <vt:lpstr>Building</vt:lpstr>
      <vt:lpstr>Building For x86</vt:lpstr>
      <vt:lpstr>Modifications  </vt:lpstr>
      <vt:lpstr>Modifications Helper Class</vt:lpstr>
      <vt:lpstr>Modifications HTTP</vt:lpstr>
      <vt:lpstr>Modifications File System</vt:lpstr>
      <vt:lpstr>Modifications SQLite</vt:lpstr>
      <vt:lpstr>Monitoring  </vt:lpstr>
      <vt:lpstr>Monitoring With logcat</vt:lpstr>
      <vt:lpstr>Monitoring With Remote Monitor</vt:lpstr>
      <vt:lpstr>To Do</vt:lpstr>
      <vt:lpstr>Reach out</vt:lpstr>
      <vt:lpstr>Questions       </vt:lpstr>
    </vt:vector>
  </TitlesOfParts>
  <Company>HP</Company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Breakout session title here</dc:title>
  <dc:creator>Philippa Mars</dc:creator>
  <cp:lastModifiedBy>Kelly, Ray</cp:lastModifiedBy>
  <cp:revision>137</cp:revision>
  <cp:lastPrinted>2012-04-13T15:38:33Z</cp:lastPrinted>
  <dcterms:created xsi:type="dcterms:W3CDTF">2013-07-09T20:54:57Z</dcterms:created>
  <dcterms:modified xsi:type="dcterms:W3CDTF">2014-05-22T17:20:27Z</dcterms:modified>
</cp:coreProperties>
</file>