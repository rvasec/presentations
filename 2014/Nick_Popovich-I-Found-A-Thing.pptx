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notesMasterIdLst>
    <p:notesMasterId r:id="rId41"/>
  </p:notesMasterIdLst>
  <p:sldIdLst>
    <p:sldId id="256" r:id="rId2"/>
    <p:sldId id="261" r:id="rId3"/>
    <p:sldId id="257" r:id="rId4"/>
    <p:sldId id="258" r:id="rId5"/>
    <p:sldId id="295" r:id="rId6"/>
    <p:sldId id="260" r:id="rId7"/>
    <p:sldId id="262" r:id="rId8"/>
    <p:sldId id="263" r:id="rId9"/>
    <p:sldId id="264" r:id="rId10"/>
    <p:sldId id="285" r:id="rId11"/>
    <p:sldId id="284" r:id="rId12"/>
    <p:sldId id="286" r:id="rId13"/>
    <p:sldId id="266" r:id="rId14"/>
    <p:sldId id="267" r:id="rId15"/>
    <p:sldId id="268" r:id="rId16"/>
    <p:sldId id="269" r:id="rId17"/>
    <p:sldId id="270" r:id="rId18"/>
    <p:sldId id="271" r:id="rId19"/>
    <p:sldId id="277" r:id="rId20"/>
    <p:sldId id="278" r:id="rId21"/>
    <p:sldId id="289" r:id="rId22"/>
    <p:sldId id="290" r:id="rId23"/>
    <p:sldId id="272" r:id="rId24"/>
    <p:sldId id="273" r:id="rId25"/>
    <p:sldId id="274" r:id="rId26"/>
    <p:sldId id="275" r:id="rId27"/>
    <p:sldId id="287" r:id="rId28"/>
    <p:sldId id="288" r:id="rId29"/>
    <p:sldId id="279" r:id="rId30"/>
    <p:sldId id="280" r:id="rId31"/>
    <p:sldId id="281" r:id="rId32"/>
    <p:sldId id="282" r:id="rId33"/>
    <p:sldId id="283" r:id="rId34"/>
    <p:sldId id="291" r:id="rId35"/>
    <p:sldId id="292" r:id="rId36"/>
    <p:sldId id="296" r:id="rId37"/>
    <p:sldId id="293" r:id="rId38"/>
    <p:sldId id="294" r:id="rId39"/>
    <p:sldId id="297" r:id="rId4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58" autoAdjust="0"/>
    <p:restoredTop sz="94634" autoAdjust="0"/>
  </p:normalViewPr>
  <p:slideViewPr>
    <p:cSldViewPr>
      <p:cViewPr varScale="1">
        <p:scale>
          <a:sx n="77" d="100"/>
          <a:sy n="77" d="100"/>
        </p:scale>
        <p:origin x="-1686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FCA26B-CA38-422D-898F-01FECAA6F920}" type="datetimeFigureOut">
              <a:rPr lang="en-US" smtClean="0"/>
              <a:pPr/>
              <a:t>1/17/2014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812272-48BE-4B4E-80E3-8849F0C34A6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812272-48BE-4B4E-80E3-8849F0C34A60}" type="slidenum">
              <a:rPr lang="en-US" smtClean="0"/>
              <a:pPr/>
              <a:t>31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3568" y="836712"/>
            <a:ext cx="7772400" cy="1470025"/>
          </a:xfrm>
        </p:spPr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03648" y="2492896"/>
            <a:ext cx="6400800" cy="100811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 smtClean="0"/>
              <a:t>Click to edit Master subtitle style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9D057-7255-4B14-BFC1-298DA7B4F6EE}" type="datetimeFigureOut">
              <a:rPr lang="en-US" smtClean="0"/>
              <a:pPr/>
              <a:t>1/17/2014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BD6B4-CC7C-41DE-A537-F4920DC8C30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6248960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9D057-7255-4B14-BFC1-298DA7B4F6EE}" type="datetimeFigureOut">
              <a:rPr lang="en-US" smtClean="0"/>
              <a:pPr/>
              <a:t>1/17/2014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BD6B4-CC7C-41DE-A537-F4920DC8C30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52819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9D057-7255-4B14-BFC1-298DA7B4F6EE}" type="datetimeFigureOut">
              <a:rPr lang="en-US" smtClean="0"/>
              <a:pPr/>
              <a:t>1/17/2014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BD6B4-CC7C-41DE-A537-F4920DC8C30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395078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9D057-7255-4B14-BFC1-298DA7B4F6EE}" type="datetimeFigureOut">
              <a:rPr lang="en-US" smtClean="0"/>
              <a:pPr/>
              <a:t>1/17/2014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BD6B4-CC7C-41DE-A537-F4920DC8C30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6938976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9D057-7255-4B14-BFC1-298DA7B4F6EE}" type="datetimeFigureOut">
              <a:rPr lang="en-US" smtClean="0"/>
              <a:pPr/>
              <a:t>1/17/2014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BD6B4-CC7C-41DE-A537-F4920DC8C30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1425086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9D057-7255-4B14-BFC1-298DA7B4F6EE}" type="datetimeFigureOut">
              <a:rPr lang="en-US" smtClean="0"/>
              <a:pPr/>
              <a:t>1/17/2014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BD6B4-CC7C-41DE-A537-F4920DC8C30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708252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9D057-7255-4B14-BFC1-298DA7B4F6EE}" type="datetimeFigureOut">
              <a:rPr lang="en-US" smtClean="0"/>
              <a:pPr/>
              <a:t>1/17/2014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BD6B4-CC7C-41DE-A537-F4920DC8C30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016499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9D057-7255-4B14-BFC1-298DA7B4F6EE}" type="datetimeFigureOut">
              <a:rPr lang="en-US" smtClean="0"/>
              <a:pPr/>
              <a:t>1/17/2014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BD6B4-CC7C-41DE-A537-F4920DC8C30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2546105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CN" dirty="0" smtClean="0"/>
              <a:t>Click icon to add picture</a:t>
            </a:r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9D057-7255-4B14-BFC1-298DA7B4F6EE}" type="datetimeFigureOut">
              <a:rPr lang="en-US" smtClean="0"/>
              <a:pPr/>
              <a:t>1/17/2014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BD6B4-CC7C-41DE-A537-F4920DC8C30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786650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9D057-7255-4B14-BFC1-298DA7B4F6EE}" type="datetimeFigureOut">
              <a:rPr lang="en-US" smtClean="0"/>
              <a:pPr/>
              <a:t>1/17/2014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BD6B4-CC7C-41DE-A537-F4920DC8C30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6416551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9D057-7255-4B14-BFC1-298DA7B4F6EE}" type="datetimeFigureOut">
              <a:rPr lang="en-US" smtClean="0"/>
              <a:pPr/>
              <a:t>1/17/2014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BD6B4-CC7C-41DE-A537-F4920DC8C30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936934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29D057-7255-4B14-BFC1-298DA7B4F6EE}" type="datetimeFigureOut">
              <a:rPr lang="en-US" smtClean="0"/>
              <a:pPr/>
              <a:t>1/17/2014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BBD6B4-CC7C-41DE-A537-F4920DC8C30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0649003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proxifier.com/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://blog.portswigger.net/2008/11/mobp-invisible-proxying.html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3568" y="1374304"/>
            <a:ext cx="7772400" cy="1470025"/>
          </a:xfrm>
        </p:spPr>
        <p:txBody>
          <a:bodyPr>
            <a:noAutofit/>
          </a:bodyPr>
          <a:lstStyle/>
          <a:p>
            <a:r>
              <a:rPr lang="en-US" sz="2800" dirty="0" smtClean="0"/>
              <a:t>I Found a Thing and You Can (Should) Too: ISP's</a:t>
            </a:r>
            <a:br>
              <a:rPr lang="en-US" sz="2800" dirty="0" smtClean="0"/>
            </a:br>
            <a:r>
              <a:rPr lang="en-US" sz="2800" dirty="0" smtClean="0"/>
              <a:t>Unauthenticated SOAP Service = Find (almost) All</a:t>
            </a:r>
            <a:br>
              <a:rPr lang="en-US" sz="2800" dirty="0" smtClean="0"/>
            </a:br>
            <a:r>
              <a:rPr lang="en-US" sz="2800" dirty="0" smtClean="0"/>
              <a:t>the Things!</a:t>
            </a:r>
            <a:br>
              <a:rPr lang="en-US" sz="2800" dirty="0" smtClean="0"/>
            </a:br>
            <a:endParaRPr lang="en-US" sz="2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03648" y="3030488"/>
            <a:ext cx="6400800" cy="1008112"/>
          </a:xfrm>
        </p:spPr>
        <p:txBody>
          <a:bodyPr>
            <a:normAutofit/>
          </a:bodyPr>
          <a:lstStyle/>
          <a:p>
            <a:r>
              <a:rPr lang="en-US" sz="1800" dirty="0" smtClean="0">
                <a:solidFill>
                  <a:schemeClr val="tx1"/>
                </a:solidFill>
              </a:rPr>
              <a:t>Nick Popovich</a:t>
            </a:r>
          </a:p>
          <a:p>
            <a:r>
              <a:rPr lang="en-US" sz="1800" dirty="0" smtClean="0">
                <a:solidFill>
                  <a:schemeClr val="tx1"/>
                </a:solidFill>
              </a:rPr>
              <a:t>@pipefish_</a:t>
            </a:r>
            <a:endParaRPr lang="en-US" sz="1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TL;DR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175" indent="-3175">
              <a:buNone/>
            </a:pPr>
            <a:r>
              <a:rPr lang="en-US" dirty="0" smtClean="0"/>
              <a:t>Used ISP’s own software to identify a flaw that allowed me to associate wireless SSID’s with public IP addresses, and gather wireless encryption keys, among other things.</a:t>
            </a:r>
          </a:p>
          <a:p>
            <a:pPr marL="3175" indent="-3175">
              <a:buNone/>
            </a:pP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900" dirty="0" smtClean="0"/>
              <a:t>About Me</a:t>
            </a:r>
            <a:endParaRPr lang="en-US" sz="9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Background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Penetration Tester for Sunera, LLC</a:t>
            </a:r>
          </a:p>
          <a:p>
            <a:r>
              <a:rPr lang="en-US" dirty="0" smtClean="0"/>
              <a:t>Background in Military, DoD, financial, and retail sectors as a consultant and employee (both offense and defense)</a:t>
            </a:r>
          </a:p>
          <a:p>
            <a:r>
              <a:rPr lang="en-US" dirty="0" smtClean="0"/>
              <a:t>Father (of two)</a:t>
            </a:r>
          </a:p>
          <a:p>
            <a:r>
              <a:rPr lang="en-US" dirty="0" smtClean="0"/>
              <a:t>Husband (to one)</a:t>
            </a:r>
          </a:p>
          <a:p>
            <a:r>
              <a:rPr lang="en-US" dirty="0" smtClean="0"/>
              <a:t>Suffers from “Curious Hermit Syndrome”</a:t>
            </a:r>
          </a:p>
          <a:p>
            <a:pPr lvl="1"/>
            <a:r>
              <a:rPr lang="en-US" sz="1200" dirty="0" smtClean="0"/>
              <a:t>I need a non-technical hobby… please see me with suggestions!</a:t>
            </a:r>
          </a:p>
          <a:p>
            <a:r>
              <a:rPr lang="en-US" dirty="0" smtClean="0"/>
              <a:t>Veteran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Point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SOHO gear/apps sometimes overlooked.</a:t>
            </a:r>
          </a:p>
          <a:p>
            <a:r>
              <a:rPr lang="en-US" dirty="0" smtClean="0"/>
              <a:t>Encourage research.</a:t>
            </a:r>
          </a:p>
          <a:p>
            <a:r>
              <a:rPr lang="en-US" dirty="0" smtClean="0"/>
              <a:t>Talk about what I think was cool tinkering.</a:t>
            </a:r>
          </a:p>
          <a:p>
            <a:r>
              <a:rPr lang="en-US" dirty="0" smtClean="0"/>
              <a:t>Go over </a:t>
            </a:r>
            <a:r>
              <a:rPr lang="en-US" i="1" dirty="0" smtClean="0"/>
              <a:t>my </a:t>
            </a:r>
            <a:r>
              <a:rPr lang="en-US" dirty="0" smtClean="0"/>
              <a:t>disclosure experience and lessons learned.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Story Time</a:t>
            </a:r>
            <a:endParaRPr lang="en-US" dirty="0"/>
          </a:p>
        </p:txBody>
      </p:sp>
      <p:pic>
        <p:nvPicPr>
          <p:cNvPr id="4" name="Picture 3" descr="moving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295400"/>
            <a:ext cx="2895600" cy="1894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1066800"/>
            <a:ext cx="9396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 moved</a:t>
            </a:r>
            <a:endParaRPr lang="en-US" dirty="0"/>
          </a:p>
        </p:txBody>
      </p:sp>
      <p:pic>
        <p:nvPicPr>
          <p:cNvPr id="7" name="Picture 6" descr="cables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276600" y="2667000"/>
            <a:ext cx="2133314" cy="142398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048000" y="2209800"/>
            <a:ext cx="27253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Transferred my ISP services</a:t>
            </a:r>
            <a:endParaRPr lang="en-US" dirty="0"/>
          </a:p>
        </p:txBody>
      </p:sp>
      <p:pic>
        <p:nvPicPr>
          <p:cNvPr id="9" name="Picture 8" descr="SubtitlesComputerRepairmen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343400" y="3352800"/>
            <a:ext cx="3977997" cy="296968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48400" y="3886200"/>
            <a:ext cx="22913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ISP tech came for visit</a:t>
            </a:r>
            <a:endParaRPr lang="en-US" dirty="0"/>
          </a:p>
        </p:txBody>
      </p:sp>
      <p:cxnSp>
        <p:nvCxnSpPr>
          <p:cNvPr id="13" name="Straight Connector 12"/>
          <p:cNvCxnSpPr/>
          <p:nvPr/>
        </p:nvCxnSpPr>
        <p:spPr>
          <a:xfrm flipH="1">
            <a:off x="5257800" y="4648200"/>
            <a:ext cx="762000" cy="228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267200" y="4876800"/>
            <a:ext cx="146546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>
                <a:latin typeface="Gulim" pitchFamily="34" charset="-127"/>
                <a:ea typeface="Gulim" pitchFamily="34" charset="-127"/>
              </a:rPr>
              <a:t>put this in your slot…</a:t>
            </a:r>
            <a:endParaRPr lang="en-US" sz="1000" dirty="0">
              <a:latin typeface="Gulim" pitchFamily="34" charset="-127"/>
              <a:ea typeface="Gulim" pitchFamily="34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Content Placeholder 3" descr="welp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509837" y="1839119"/>
            <a:ext cx="4124325" cy="4048125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wireshark1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457200" y="914400"/>
            <a:ext cx="8461090" cy="5555709"/>
          </a:xfrm>
        </p:spPr>
      </p:pic>
      <p:sp>
        <p:nvSpPr>
          <p:cNvPr id="5" name="TextBox 4"/>
          <p:cNvSpPr txBox="1"/>
          <p:nvPr/>
        </p:nvSpPr>
        <p:spPr>
          <a:xfrm>
            <a:off x="1981200" y="392668"/>
            <a:ext cx="5409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Watching the traffic in Wireshark raised more questions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wireshark2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304800" y="838200"/>
            <a:ext cx="8666953" cy="5867400"/>
          </a:xfrm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 smtClean="0"/>
              <a:t>Wut?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What’s This?</a:t>
            </a:r>
            <a:endParaRPr lang="en-US" dirty="0"/>
          </a:p>
        </p:txBody>
      </p:sp>
      <p:pic>
        <p:nvPicPr>
          <p:cNvPr id="6" name="Content Placeholder 5" descr="wirehsark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524000" y="1147865"/>
            <a:ext cx="6113012" cy="5633935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Proxify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70037"/>
            <a:ext cx="8229600" cy="4525963"/>
          </a:xfrm>
        </p:spPr>
        <p:txBody>
          <a:bodyPr>
            <a:normAutofit fontScale="85000" lnSpcReduction="20000"/>
          </a:bodyPr>
          <a:lstStyle/>
          <a:p>
            <a:pPr marL="3175" indent="-3175">
              <a:buNone/>
            </a:pPr>
            <a:r>
              <a:rPr lang="en-US" dirty="0" smtClean="0"/>
              <a:t>I wanted to see the application’s traffic but it was encrypted, wireshark was not the way. </a:t>
            </a:r>
          </a:p>
          <a:p>
            <a:pPr marL="3175" indent="-3175">
              <a:buNone/>
            </a:pPr>
            <a:endParaRPr lang="en-US" dirty="0" smtClean="0"/>
          </a:p>
          <a:p>
            <a:pPr lvl="1"/>
            <a:r>
              <a:rPr lang="en-US" dirty="0" smtClean="0"/>
              <a:t>Proxified all connections from VM to pass through burp. (</a:t>
            </a:r>
            <a:r>
              <a:rPr lang="en-US" dirty="0" smtClean="0">
                <a:hlinkClick r:id="rId2"/>
              </a:rPr>
              <a:t>http://www.proxifier.com/</a:t>
            </a:r>
            <a:r>
              <a:rPr lang="en-US" dirty="0" smtClean="0"/>
              <a:t> -&gt; trial)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Installed Burp CA on VM 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Configured Burp to use SSL cert with the name of the host I wanted to look into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Set Burp proxy to invisible (important!)</a:t>
            </a:r>
          </a:p>
          <a:p>
            <a:pPr marL="3175" indent="-3175">
              <a:buNone/>
            </a:pPr>
            <a:endParaRPr lang="en-US" dirty="0" smtClean="0"/>
          </a:p>
          <a:p>
            <a:pPr marL="3175" indent="-3175"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Invisible Proxy Settings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 smtClean="0"/>
              <a:t>This was crucial, and simple. But I didn’t know it at the time.</a:t>
            </a:r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r>
              <a:rPr lang="en-US" sz="2000" dirty="0" smtClean="0"/>
              <a:t>First Google result for “invisible proxying” results in a blog post from PortSwigger. </a:t>
            </a:r>
            <a:r>
              <a:rPr lang="en-US" sz="2000" dirty="0" smtClean="0">
                <a:hlinkClick r:id="rId2"/>
              </a:rPr>
              <a:t>http://blog.portswigger.net/2008/11/mobp-invisible-proxying.html</a:t>
            </a:r>
            <a:r>
              <a:rPr lang="en-US" sz="2000" dirty="0" smtClean="0"/>
              <a:t> </a:t>
            </a:r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r>
              <a:rPr lang="en-US" sz="2000" dirty="0" smtClean="0"/>
              <a:t>From PortSwigger blog:</a:t>
            </a:r>
          </a:p>
          <a:p>
            <a:pPr marL="0" indent="0">
              <a:buNone/>
            </a:pPr>
            <a:r>
              <a:rPr lang="en-US" sz="2000" b="1" dirty="0" smtClean="0"/>
              <a:t>A proxy-style request looks like this:</a:t>
            </a:r>
          </a:p>
          <a:p>
            <a:pPr marL="0" indent="0">
              <a:buNone/>
            </a:pPr>
            <a:r>
              <a:rPr lang="en-US" sz="2000" dirty="0" smtClean="0"/>
              <a:t>GET http://myapp.com/foo.php HTTP/1.1</a:t>
            </a:r>
          </a:p>
          <a:p>
            <a:pPr marL="0" indent="0">
              <a:buNone/>
            </a:pPr>
            <a:r>
              <a:rPr lang="en-US" sz="2000" dirty="0" smtClean="0"/>
              <a:t>Host: myapp.com</a:t>
            </a:r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r>
              <a:rPr lang="en-US" sz="2000" b="1" dirty="0" smtClean="0"/>
              <a:t>A non-proxy request looks like this:</a:t>
            </a:r>
          </a:p>
          <a:p>
            <a:pPr marL="0" indent="0">
              <a:buNone/>
            </a:pPr>
            <a:r>
              <a:rPr lang="en-US" sz="2000" dirty="0" smtClean="0"/>
              <a:t>GET /foo.php HTTP/1.1</a:t>
            </a:r>
          </a:p>
          <a:p>
            <a:pPr marL="0" indent="0">
              <a:buNone/>
            </a:pPr>
            <a:r>
              <a:rPr lang="en-US" sz="2000" dirty="0" smtClean="0"/>
              <a:t>Host: myapp.com</a:t>
            </a:r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r>
              <a:rPr lang="en-US" sz="2000" dirty="0" smtClean="0"/>
              <a:t>HTTP Proxies do not look at the HTTP HOST header to determine the host to send the request to.</a:t>
            </a:r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r>
              <a:rPr lang="en-US" sz="2000" dirty="0" smtClean="0"/>
              <a:t>Setting the proxy to “invisible” will enable Burp to deal with non-proxy aware applications being forced through it.</a:t>
            </a:r>
          </a:p>
          <a:p>
            <a:pPr marL="0" indent="0">
              <a:buNone/>
            </a:pPr>
            <a:endParaRPr lang="en-US" sz="2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2286000" y="457200"/>
            <a:ext cx="56762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Response to this SOAP “echo” is simply my WAN IP. Notice </a:t>
            </a:r>
          </a:p>
          <a:p>
            <a:r>
              <a:rPr lang="en-US" dirty="0" smtClean="0"/>
              <a:t>the GUID looking string…</a:t>
            </a:r>
            <a:endParaRPr lang="en-US" dirty="0"/>
          </a:p>
        </p:txBody>
      </p:sp>
      <p:pic>
        <p:nvPicPr>
          <p:cNvPr id="6" name="Content Placeholder 5" descr="first_burp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304800" y="1295400"/>
            <a:ext cx="8772760" cy="5148087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2112348" y="572869"/>
            <a:ext cx="61172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GUISESSIONID looks familiar, but has my WAN IP in the middle. </a:t>
            </a:r>
          </a:p>
          <a:p>
            <a:r>
              <a:rPr lang="en-US" dirty="0" smtClean="0"/>
              <a:t>Response doesn’t have anything cool in it. </a:t>
            </a:r>
            <a:endParaRPr lang="en-US" dirty="0"/>
          </a:p>
        </p:txBody>
      </p:sp>
      <p:pic>
        <p:nvPicPr>
          <p:cNvPr id="5" name="Picture 4" descr="burp2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556926"/>
            <a:ext cx="9144000" cy="374414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219200" y="697468"/>
            <a:ext cx="72132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 little annoyed at the data I’M sending to ISP… Privacy hackles are up a bit.</a:t>
            </a:r>
            <a:endParaRPr lang="en-US" dirty="0"/>
          </a:p>
        </p:txBody>
      </p:sp>
      <p:pic>
        <p:nvPicPr>
          <p:cNvPr id="8" name="Picture 7" descr="show_win_username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218947"/>
            <a:ext cx="9144000" cy="442010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752600" y="533400"/>
            <a:ext cx="70439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Response contained my zip code, my state, my city and my ISP username </a:t>
            </a:r>
          </a:p>
          <a:p>
            <a:r>
              <a:rPr lang="en-US" dirty="0" smtClean="0"/>
              <a:t>(which happened to be first.last)</a:t>
            </a:r>
            <a:endParaRPr lang="en-US" dirty="0"/>
          </a:p>
        </p:txBody>
      </p:sp>
      <p:pic>
        <p:nvPicPr>
          <p:cNvPr id="5" name="Picture 4" descr="show_zip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504136"/>
            <a:ext cx="9144000" cy="436326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c_iha_wifi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447800"/>
            <a:ext cx="9144000" cy="437321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53584" y="609600"/>
            <a:ext cx="64522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This is the POST that lead to a real “oh sh**” moment.</a:t>
            </a:r>
          </a:p>
          <a:p>
            <a:r>
              <a:rPr lang="en-US" dirty="0" smtClean="0"/>
              <a:t>Take note this POST only sends the GUISESSIONID and the keyword.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wifi_showme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510808"/>
            <a:ext cx="9144000" cy="383638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908190" y="609600"/>
            <a:ext cx="63214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The response contained my SSID and my WPA2 PSK. Keep in mind</a:t>
            </a:r>
          </a:p>
          <a:p>
            <a:r>
              <a:rPr lang="en-US" dirty="0" smtClean="0"/>
              <a:t>this response came from an Internet IP, not my local router.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676400" y="5638800"/>
            <a:ext cx="64652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Rinse and repeat; I used repeater and sent the same request and</a:t>
            </a:r>
          </a:p>
          <a:p>
            <a:r>
              <a:rPr lang="en-US" dirty="0" smtClean="0"/>
              <a:t>received the same response every time.  But it was only my data…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ISP Logs All The Things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81000" y="1143000"/>
            <a:ext cx="88035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These are formatted snips from the requests – too much data to show original request. This </a:t>
            </a:r>
          </a:p>
          <a:p>
            <a:r>
              <a:rPr lang="en-US" dirty="0" smtClean="0"/>
              <a:t>is data within a POST from my machine to the ISP Internet IP address.</a:t>
            </a:r>
          </a:p>
        </p:txBody>
      </p:sp>
      <p:pic>
        <p:nvPicPr>
          <p:cNvPr id="5" name="Content Placeholder 3" descr="big_infoz1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0" y="1939757"/>
            <a:ext cx="9066841" cy="4003843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ram_disks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76200" y="1752009"/>
            <a:ext cx="8915400" cy="4333460"/>
          </a:xfrm>
        </p:spPr>
      </p:pic>
      <p:sp>
        <p:nvSpPr>
          <p:cNvPr id="5" name="TextBox 4"/>
          <p:cNvSpPr txBox="1"/>
          <p:nvPr/>
        </p:nvSpPr>
        <p:spPr>
          <a:xfrm>
            <a:off x="1477576" y="685800"/>
            <a:ext cx="58376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Memory on my machine, as well as disk space and drive info</a:t>
            </a:r>
          </a:p>
          <a:p>
            <a:r>
              <a:rPr lang="en-US" dirty="0" smtClean="0"/>
              <a:t>(including mapped network drives).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Change Router Pass</a:t>
            </a:r>
            <a:endParaRPr lang="en-US" dirty="0"/>
          </a:p>
        </p:txBody>
      </p:sp>
      <p:pic>
        <p:nvPicPr>
          <p:cNvPr id="4" name="Content Placeholder 3" descr="change1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9773" y="2286000"/>
            <a:ext cx="9165020" cy="2862231"/>
          </a:xfr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Content Placeholder 3" descr="Wat8 (1)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188730" y="1600200"/>
            <a:ext cx="6766539" cy="4525963"/>
          </a:xfr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Curious (Selfish Phase)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175" indent="-3175">
              <a:buNone/>
            </a:pPr>
            <a:r>
              <a:rPr lang="en-US" dirty="0" smtClean="0"/>
              <a:t>At this point I’m only thinking about myself, and I’m a bit peeved.</a:t>
            </a:r>
          </a:p>
          <a:p>
            <a:pPr>
              <a:buNone/>
            </a:pPr>
            <a:r>
              <a:rPr lang="en-US" dirty="0" smtClean="0"/>
              <a:t>Why did my ISP have/need my:</a:t>
            </a:r>
          </a:p>
          <a:p>
            <a:pPr lvl="1"/>
            <a:r>
              <a:rPr lang="en-US" dirty="0" smtClean="0"/>
              <a:t>SSID name</a:t>
            </a:r>
          </a:p>
          <a:p>
            <a:pPr lvl="1"/>
            <a:r>
              <a:rPr lang="en-US" dirty="0" smtClean="0"/>
              <a:t>SSID password (pre-shared key)</a:t>
            </a:r>
          </a:p>
          <a:p>
            <a:pPr lvl="1"/>
            <a:r>
              <a:rPr lang="en-US" dirty="0" smtClean="0"/>
              <a:t>Windows username</a:t>
            </a:r>
          </a:p>
          <a:p>
            <a:pPr lvl="1"/>
            <a:r>
              <a:rPr lang="en-US" dirty="0" smtClean="0"/>
              <a:t>Computer MAC address</a:t>
            </a:r>
          </a:p>
          <a:p>
            <a:pPr lvl="1"/>
            <a:r>
              <a:rPr lang="en-US" dirty="0" smtClean="0"/>
              <a:t>Router password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Curious (Info Disclosure?)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What was used as authentication for this information? It wasn’t cookies, I checked.</a:t>
            </a:r>
          </a:p>
          <a:p>
            <a:r>
              <a:rPr lang="en-US" dirty="0" smtClean="0"/>
              <a:t>Must be some secret sauce tied to my line or circuit ID… yeah it has to be secure/authenticated.</a:t>
            </a:r>
          </a:p>
          <a:p>
            <a:r>
              <a:rPr lang="en-US" dirty="0" smtClean="0"/>
              <a:t>I wonder if I can see anyone else’s data like this? Nah…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533400"/>
            <a:ext cx="8305800" cy="5592763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I want moar infoz… to the SOAP!</a:t>
            </a:r>
          </a:p>
          <a:p>
            <a:pPr>
              <a:buNone/>
            </a:pPr>
            <a:endParaRPr lang="en-US" dirty="0" smtClean="0"/>
          </a:p>
          <a:p>
            <a:pPr marL="3175" indent="-3175">
              <a:buNone/>
            </a:pPr>
            <a:endParaRPr lang="en-US" dirty="0" smtClean="0"/>
          </a:p>
          <a:p>
            <a:pPr marL="3175" indent="-3175">
              <a:buNone/>
            </a:pPr>
            <a:endParaRPr lang="en-US" dirty="0" smtClean="0"/>
          </a:p>
          <a:p>
            <a:pPr marL="3175" indent="-3175">
              <a:buNone/>
            </a:pPr>
            <a:endParaRPr lang="en-US" dirty="0" smtClean="0"/>
          </a:p>
          <a:p>
            <a:pPr marL="3175" indent="-3175">
              <a:buNone/>
            </a:pPr>
            <a:r>
              <a:rPr lang="en-US" dirty="0" smtClean="0"/>
              <a:t>I played with all of the features of the software, so that I could better understand </a:t>
            </a:r>
            <a:r>
              <a:rPr lang="en-US" dirty="0" smtClean="0"/>
              <a:t>its </a:t>
            </a:r>
            <a:r>
              <a:rPr lang="en-US" dirty="0" smtClean="0"/>
              <a:t>logic. </a:t>
            </a:r>
            <a:endParaRPr lang="en-US" dirty="0"/>
          </a:p>
        </p:txBody>
      </p:sp>
      <p:pic>
        <p:nvPicPr>
          <p:cNvPr id="4" name="Picture 3" descr="soad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124200" y="1600200"/>
            <a:ext cx="2867945" cy="179543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Watched and Listened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Process Hacker</a:t>
            </a:r>
          </a:p>
          <a:p>
            <a:pPr lvl="1"/>
            <a:r>
              <a:rPr lang="en-US" dirty="0" smtClean="0"/>
              <a:t>Watched what files and registry keys were accessed, changed, modified, etc.</a:t>
            </a:r>
          </a:p>
          <a:p>
            <a:r>
              <a:rPr lang="en-US" dirty="0" smtClean="0"/>
              <a:t>Burp</a:t>
            </a:r>
          </a:p>
          <a:p>
            <a:pPr lvl="1"/>
            <a:r>
              <a:rPr lang="en-US" dirty="0" smtClean="0"/>
              <a:t>Continued to monitor all HTTP requests as I used the software. Started to find a lot of “keywords” sent to the service.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Discovered AutoIT Binary</a:t>
            </a:r>
            <a:endParaRPr lang="en-US" dirty="0"/>
          </a:p>
        </p:txBody>
      </p:sp>
      <p:pic>
        <p:nvPicPr>
          <p:cNvPr id="4" name="Content Placeholder 3" descr="auto_it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990600" y="1371600"/>
            <a:ext cx="7013026" cy="5002626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“Reversed” AutoIT Binary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Not really, ran app called MyEXEtoAut. </a:t>
            </a:r>
          </a:p>
          <a:p>
            <a:pPr marL="0" indent="0">
              <a:buNone/>
            </a:pPr>
            <a:r>
              <a:rPr lang="en-US" dirty="0" smtClean="0"/>
              <a:t>Trivial to get source of AutoIT Binaries unless specific steps have been taken to make it harder.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 descr="genguid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-16328" y="3810000"/>
            <a:ext cx="9160328" cy="129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Accident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Accidently tested theory that GUISESSIONID was randomly generated value that simply needed to conform to a certain format.</a:t>
            </a:r>
          </a:p>
          <a:p>
            <a:r>
              <a:rPr lang="en-US" dirty="0" smtClean="0"/>
              <a:t>Also confirmed no other mechanism was used for authentication.</a:t>
            </a:r>
          </a:p>
          <a:p>
            <a:r>
              <a:rPr lang="en-US" dirty="0" smtClean="0"/>
              <a:t>Pulled some info that I shouldn’t have had access to, by accident (seriously!)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Oops</a:t>
            </a:r>
            <a:endParaRPr lang="en-US" dirty="0"/>
          </a:p>
        </p:txBody>
      </p:sp>
      <p:pic>
        <p:nvPicPr>
          <p:cNvPr id="4" name="Picture 3" descr="midlo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461006"/>
            <a:ext cx="9144000" cy="471119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Oops!</a:t>
            </a:r>
            <a:endParaRPr lang="en-US" dirty="0"/>
          </a:p>
        </p:txBody>
      </p:sp>
      <p:pic>
        <p:nvPicPr>
          <p:cNvPr id="5" name="Picture 4" descr="midlo2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1760408"/>
            <a:ext cx="9144000" cy="333718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Coup de Grace</a:t>
            </a:r>
            <a:endParaRPr lang="en-US" dirty="0"/>
          </a:p>
        </p:txBody>
      </p:sp>
      <p:pic>
        <p:nvPicPr>
          <p:cNvPr id="3" name="Picture 2" descr="midlo_wifi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908208"/>
            <a:ext cx="9144000" cy="304158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Some cat’s SSID and Key</a:t>
            </a:r>
            <a:endParaRPr lang="en-US" dirty="0"/>
          </a:p>
        </p:txBody>
      </p:sp>
      <p:pic>
        <p:nvPicPr>
          <p:cNvPr id="4" name="Content Placeholder 3" descr="midlo_wifi_response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76200" y="2040232"/>
            <a:ext cx="9029971" cy="3349055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Now What?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 want to tell ISP… but</a:t>
            </a:r>
          </a:p>
          <a:p>
            <a:pPr lvl="1"/>
            <a:r>
              <a:rPr lang="en-US" sz="2000" dirty="0" smtClean="0"/>
              <a:t>Will I get in trouble? (thoughts of Weev danced through my head</a:t>
            </a:r>
            <a:r>
              <a:rPr lang="en-US" sz="2000" dirty="0" smtClean="0"/>
              <a:t>)</a:t>
            </a:r>
          </a:p>
          <a:p>
            <a:pPr lvl="1">
              <a:buNone/>
            </a:pPr>
            <a:endParaRPr lang="en-US" sz="2000" dirty="0" smtClean="0"/>
          </a:p>
          <a:p>
            <a:pPr lvl="1"/>
            <a:r>
              <a:rPr lang="en-US" sz="2000" dirty="0" smtClean="0"/>
              <a:t>Will they care</a:t>
            </a:r>
            <a:r>
              <a:rPr lang="en-US" sz="2000" dirty="0" smtClean="0"/>
              <a:t>?</a:t>
            </a:r>
          </a:p>
          <a:p>
            <a:pPr lvl="1">
              <a:buNone/>
            </a:pPr>
            <a:endParaRPr lang="en-US" sz="2000" dirty="0" smtClean="0"/>
          </a:p>
          <a:p>
            <a:pPr lvl="1"/>
            <a:r>
              <a:rPr lang="en-US" sz="2000" dirty="0" smtClean="0"/>
              <a:t>What if they don’t fix it, what then?</a:t>
            </a:r>
          </a:p>
          <a:p>
            <a:r>
              <a:rPr lang="en-US" dirty="0" smtClean="0"/>
              <a:t>Sat on it for awhile while I thought it through</a:t>
            </a:r>
          </a:p>
          <a:p>
            <a:r>
              <a:rPr lang="en-US" dirty="0" smtClean="0"/>
              <a:t>Decided to approach as a concerned customer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Disclosure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Tough to find right POC at </a:t>
            </a:r>
            <a:r>
              <a:rPr lang="en-US" dirty="0" smtClean="0"/>
              <a:t>first.</a:t>
            </a:r>
            <a:endParaRPr lang="en-US" dirty="0" smtClean="0"/>
          </a:p>
          <a:p>
            <a:r>
              <a:rPr lang="en-US" dirty="0" smtClean="0"/>
              <a:t>When I did reaction was </a:t>
            </a:r>
            <a:r>
              <a:rPr lang="en-US" dirty="0" smtClean="0"/>
              <a:t>FAST.</a:t>
            </a:r>
            <a:endParaRPr lang="en-US" dirty="0" smtClean="0"/>
          </a:p>
          <a:p>
            <a:r>
              <a:rPr lang="en-US" dirty="0" smtClean="0"/>
              <a:t>Focused on </a:t>
            </a:r>
            <a:r>
              <a:rPr lang="en-US" dirty="0" smtClean="0"/>
              <a:t>professionalism/tact.</a:t>
            </a:r>
            <a:endParaRPr lang="en-US" sz="2400" dirty="0" smtClean="0"/>
          </a:p>
          <a:p>
            <a:r>
              <a:rPr lang="en-US" dirty="0" smtClean="0"/>
              <a:t>In this case the ISP was very </a:t>
            </a:r>
            <a:r>
              <a:rPr lang="en-US" dirty="0" smtClean="0"/>
              <a:t>appreciative.</a:t>
            </a:r>
            <a:endParaRPr lang="en-US" dirty="0" smtClean="0"/>
          </a:p>
          <a:p>
            <a:r>
              <a:rPr lang="en-US" dirty="0" smtClean="0"/>
              <a:t>Fixed the issue within a few days after some back and </a:t>
            </a:r>
            <a:r>
              <a:rPr lang="en-US" dirty="0" smtClean="0"/>
              <a:t>forth.</a:t>
            </a:r>
            <a:endParaRPr lang="en-US" sz="2600" dirty="0" smtClean="0"/>
          </a:p>
          <a:p>
            <a:r>
              <a:rPr lang="en-US" dirty="0" smtClean="0"/>
              <a:t>Gave me mad props and a discount on </a:t>
            </a:r>
            <a:r>
              <a:rPr lang="en-US" dirty="0" smtClean="0"/>
              <a:t>service (which was nice).</a:t>
            </a:r>
            <a:endParaRPr lang="en-US" dirty="0" smtClean="0"/>
          </a:p>
          <a:p>
            <a:endParaRPr lang="en-US" dirty="0" smtClean="0"/>
          </a:p>
          <a:p>
            <a:pPr lvl="2">
              <a:buNone/>
            </a:pPr>
            <a:endParaRPr lang="en-US" dirty="0" smtClean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Research 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 smtClean="0"/>
              <a:t>Note: </a:t>
            </a:r>
            <a:r>
              <a:rPr lang="en-US" dirty="0" smtClean="0"/>
              <a:t>This is based only on what I observed during my research.</a:t>
            </a:r>
          </a:p>
          <a:p>
            <a:r>
              <a:rPr lang="en-US" dirty="0" smtClean="0"/>
              <a:t>Those </a:t>
            </a:r>
            <a:r>
              <a:rPr lang="en-US" dirty="0" smtClean="0"/>
              <a:t>affected:</a:t>
            </a:r>
          </a:p>
          <a:p>
            <a:pPr lvl="1"/>
            <a:r>
              <a:rPr lang="en-US" dirty="0" smtClean="0"/>
              <a:t>Entities </a:t>
            </a:r>
            <a:r>
              <a:rPr lang="en-US" dirty="0" smtClean="0"/>
              <a:t>using ISP provided SOHO router, that had run this agent application</a:t>
            </a:r>
            <a:r>
              <a:rPr lang="en-US" dirty="0" smtClean="0"/>
              <a:t>.</a:t>
            </a:r>
          </a:p>
          <a:p>
            <a:r>
              <a:rPr lang="en-US" dirty="0" smtClean="0"/>
              <a:t>What was the fix?</a:t>
            </a:r>
          </a:p>
          <a:p>
            <a:pPr lvl="1"/>
            <a:r>
              <a:rPr lang="en-US" dirty="0" smtClean="0"/>
              <a:t>I could only confirm that I could no longer pull others’ info without authentication.</a:t>
            </a:r>
          </a:p>
          <a:p>
            <a:pPr lvl="1"/>
            <a:r>
              <a:rPr lang="en-US" dirty="0" smtClean="0"/>
              <a:t>The data is still being sent to ISP if you use the agent application.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Wrap Up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Further proof that implicit trust in {services, software, applications, et al} is bad</a:t>
            </a:r>
          </a:p>
          <a:p>
            <a:r>
              <a:rPr lang="en-US" dirty="0" smtClean="0"/>
              <a:t>It’s up to the infosec community to look under the hood</a:t>
            </a:r>
          </a:p>
          <a:p>
            <a:r>
              <a:rPr lang="en-US" dirty="0" smtClean="0"/>
              <a:t>Everything I did can be done with free </a:t>
            </a:r>
            <a:r>
              <a:rPr lang="en-US" dirty="0" smtClean="0"/>
              <a:t>tools</a:t>
            </a:r>
          </a:p>
          <a:p>
            <a:pPr>
              <a:buNone/>
            </a:pPr>
            <a:endParaRPr lang="en-US" dirty="0" smtClean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Warning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Be careful!</a:t>
            </a:r>
          </a:p>
          <a:p>
            <a:pPr lvl="1"/>
            <a:r>
              <a:rPr lang="en-US" sz="2400" dirty="0" smtClean="0"/>
              <a:t>In this situation the disclosure went well, it could just have easily taken a turn for the </a:t>
            </a:r>
            <a:r>
              <a:rPr lang="en-US" sz="2400" dirty="0" smtClean="0"/>
              <a:t>worse.</a:t>
            </a:r>
            <a:endParaRPr lang="en-US" sz="2400" dirty="0" smtClean="0"/>
          </a:p>
          <a:p>
            <a:pPr lvl="1">
              <a:buNone/>
            </a:pPr>
            <a:endParaRPr lang="en-US" sz="2400" dirty="0" smtClean="0"/>
          </a:p>
          <a:p>
            <a:pPr lvl="1"/>
            <a:r>
              <a:rPr lang="en-US" sz="2400" dirty="0" smtClean="0"/>
              <a:t>Take each disclosure on a case by case </a:t>
            </a:r>
            <a:r>
              <a:rPr lang="en-US" sz="2400" dirty="0" smtClean="0"/>
              <a:t>basis.</a:t>
            </a:r>
            <a:endParaRPr lang="en-US" sz="2400" dirty="0" smtClean="0"/>
          </a:p>
          <a:p>
            <a:pPr lvl="1">
              <a:buNone/>
            </a:pPr>
            <a:endParaRPr lang="en-US" sz="2400" dirty="0" smtClean="0"/>
          </a:p>
          <a:p>
            <a:r>
              <a:rPr lang="en-US" dirty="0" smtClean="0"/>
              <a:t>Cyber crime laws seem open to prosecutorial discretion (until cyber laws change). That means:</a:t>
            </a:r>
          </a:p>
          <a:p>
            <a:pPr lvl="1"/>
            <a:r>
              <a:rPr lang="en-US" sz="2400" dirty="0" smtClean="0"/>
              <a:t>If you come at that “them” hard, they may come at you </a:t>
            </a:r>
            <a:r>
              <a:rPr lang="en-US" sz="2400" dirty="0" smtClean="0"/>
              <a:t>hard.</a:t>
            </a:r>
            <a:endParaRPr lang="en-US" sz="2400" dirty="0" smtClean="0"/>
          </a:p>
          <a:p>
            <a:pPr lvl="1">
              <a:buNone/>
            </a:pPr>
            <a:endParaRPr lang="en-US" sz="2400" dirty="0" smtClean="0"/>
          </a:p>
          <a:p>
            <a:pPr lvl="1"/>
            <a:r>
              <a:rPr lang="en-US" sz="2400" dirty="0" smtClean="0"/>
              <a:t>In this case I was a customer, not just some random </a:t>
            </a:r>
            <a:r>
              <a:rPr lang="en-US" sz="2400" dirty="0" smtClean="0"/>
              <a:t>guy.</a:t>
            </a:r>
            <a:endParaRPr lang="en-US" sz="2400" dirty="0" smtClean="0"/>
          </a:p>
          <a:p>
            <a:pPr lvl="1">
              <a:buNone/>
            </a:pPr>
            <a:endParaRPr lang="en-US" sz="2400" dirty="0" smtClean="0"/>
          </a:p>
          <a:p>
            <a:r>
              <a:rPr lang="en-US" dirty="0" smtClean="0"/>
              <a:t>Use discretion and common </a:t>
            </a:r>
            <a:r>
              <a:rPr lang="en-US" dirty="0" smtClean="0"/>
              <a:t>sense.</a:t>
            </a:r>
            <a:endParaRPr lang="en-US" dirty="0" smtClean="0"/>
          </a:p>
          <a:p>
            <a:r>
              <a:rPr lang="en-US" dirty="0" smtClean="0"/>
              <a:t>Get guidance from respected peers, colleagues, etc.</a:t>
            </a:r>
          </a:p>
          <a:p>
            <a:r>
              <a:rPr lang="en-US" dirty="0" smtClean="0"/>
              <a:t>When in doubt you can always disclose </a:t>
            </a:r>
            <a:r>
              <a:rPr lang="en-US" dirty="0" smtClean="0"/>
              <a:t>anonymously</a:t>
            </a:r>
            <a:r>
              <a:rPr lang="en-US" dirty="0" smtClean="0"/>
              <a:t>.</a:t>
            </a:r>
            <a:endParaRPr lang="en-US" dirty="0" smtClean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yber_it6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Cyber_it6</Template>
  <TotalTime>13042</TotalTime>
  <Words>1165</Words>
  <Application>Microsoft Office PowerPoint</Application>
  <PresentationFormat>On-screen Show (4:3)</PresentationFormat>
  <Paragraphs>152</Paragraphs>
  <Slides>39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0" baseType="lpstr">
      <vt:lpstr>Cyber_it6</vt:lpstr>
      <vt:lpstr>I Found a Thing and You Can (Should) Too: ISP's Unauthenticated SOAP Service = Find (almost) All the Things! </vt:lpstr>
      <vt:lpstr>TL;DR</vt:lpstr>
      <vt:lpstr>About Me</vt:lpstr>
      <vt:lpstr>Background</vt:lpstr>
      <vt:lpstr>The Point</vt:lpstr>
      <vt:lpstr>Story Time</vt:lpstr>
      <vt:lpstr>Slide 7</vt:lpstr>
      <vt:lpstr>Slide 8</vt:lpstr>
      <vt:lpstr>Wut?</vt:lpstr>
      <vt:lpstr>What’s This?</vt:lpstr>
      <vt:lpstr>Proxify</vt:lpstr>
      <vt:lpstr>Invisible Proxy Settings</vt:lpstr>
      <vt:lpstr>Slide 13</vt:lpstr>
      <vt:lpstr>Slide 14</vt:lpstr>
      <vt:lpstr>Slide 15</vt:lpstr>
      <vt:lpstr>Slide 16</vt:lpstr>
      <vt:lpstr>Slide 17</vt:lpstr>
      <vt:lpstr>Slide 18</vt:lpstr>
      <vt:lpstr>ISP Logs All The Things</vt:lpstr>
      <vt:lpstr>Slide 20</vt:lpstr>
      <vt:lpstr>Change Router Pass</vt:lpstr>
      <vt:lpstr>Slide 22</vt:lpstr>
      <vt:lpstr>Curious (Selfish Phase)</vt:lpstr>
      <vt:lpstr>Curious (Info Disclosure?)</vt:lpstr>
      <vt:lpstr>Slide 25</vt:lpstr>
      <vt:lpstr>Watched and Listened </vt:lpstr>
      <vt:lpstr>Discovered AutoIT Binary</vt:lpstr>
      <vt:lpstr>“Reversed” AutoIT Binary</vt:lpstr>
      <vt:lpstr>The Accident</vt:lpstr>
      <vt:lpstr>Oops</vt:lpstr>
      <vt:lpstr>Oops!</vt:lpstr>
      <vt:lpstr>Coup de Grace</vt:lpstr>
      <vt:lpstr>Some cat’s SSID and Key</vt:lpstr>
      <vt:lpstr>Now What?</vt:lpstr>
      <vt:lpstr>The Disclosure</vt:lpstr>
      <vt:lpstr>Research Summary</vt:lpstr>
      <vt:lpstr>Wrap Up</vt:lpstr>
      <vt:lpstr>Warning</vt:lpstr>
      <vt:lpstr>Questions?</vt:lpstr>
    </vt:vector>
  </TitlesOfParts>
  <Company>Sunera LLC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Nick Popovich</dc:creator>
  <cp:lastModifiedBy>Nick Popovich</cp:lastModifiedBy>
  <cp:revision>496</cp:revision>
  <dcterms:created xsi:type="dcterms:W3CDTF">2013-12-07T19:25:46Z</dcterms:created>
  <dcterms:modified xsi:type="dcterms:W3CDTF">2014-01-17T05:55:26Z</dcterms:modified>
</cp:coreProperties>
</file>