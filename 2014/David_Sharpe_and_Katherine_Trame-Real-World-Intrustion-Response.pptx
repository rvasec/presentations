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95" r:id="rId3"/>
    <p:sldId id="316" r:id="rId4"/>
    <p:sldId id="257" r:id="rId5"/>
    <p:sldId id="258" r:id="rId6"/>
    <p:sldId id="259" r:id="rId7"/>
    <p:sldId id="317" r:id="rId8"/>
    <p:sldId id="318" r:id="rId9"/>
    <p:sldId id="297" r:id="rId10"/>
    <p:sldId id="319" r:id="rId11"/>
    <p:sldId id="296" r:id="rId12"/>
    <p:sldId id="334" r:id="rId13"/>
    <p:sldId id="335" r:id="rId14"/>
    <p:sldId id="263" r:id="rId15"/>
    <p:sldId id="264" r:id="rId16"/>
    <p:sldId id="320" r:id="rId17"/>
    <p:sldId id="303" r:id="rId18"/>
    <p:sldId id="343" r:id="rId19"/>
    <p:sldId id="345" r:id="rId20"/>
    <p:sldId id="346" r:id="rId21"/>
    <p:sldId id="298" r:id="rId22"/>
    <p:sldId id="321" r:id="rId23"/>
    <p:sldId id="312" r:id="rId24"/>
    <p:sldId id="337" r:id="rId25"/>
    <p:sldId id="338" r:id="rId26"/>
    <p:sldId id="306" r:id="rId27"/>
    <p:sldId id="322" r:id="rId28"/>
    <p:sldId id="339" r:id="rId29"/>
    <p:sldId id="311" r:id="rId30"/>
    <p:sldId id="358" r:id="rId31"/>
    <p:sldId id="310" r:id="rId32"/>
    <p:sldId id="340" r:id="rId33"/>
    <p:sldId id="341" r:id="rId34"/>
    <p:sldId id="347" r:id="rId35"/>
    <p:sldId id="313" r:id="rId36"/>
    <p:sldId id="314" r:id="rId37"/>
    <p:sldId id="349" r:id="rId38"/>
    <p:sldId id="368" r:id="rId39"/>
    <p:sldId id="362" r:id="rId40"/>
    <p:sldId id="361" r:id="rId41"/>
    <p:sldId id="363" r:id="rId42"/>
    <p:sldId id="367" r:id="rId43"/>
    <p:sldId id="369" r:id="rId44"/>
    <p:sldId id="352" r:id="rId45"/>
    <p:sldId id="273" r:id="rId46"/>
    <p:sldId id="274" r:id="rId47"/>
    <p:sldId id="324" r:id="rId48"/>
    <p:sldId id="353" r:id="rId49"/>
    <p:sldId id="326" r:id="rId50"/>
    <p:sldId id="333" r:id="rId51"/>
    <p:sldId id="354" r:id="rId52"/>
    <p:sldId id="325" r:id="rId53"/>
    <p:sldId id="357" r:id="rId54"/>
    <p:sldId id="356" r:id="rId55"/>
    <p:sldId id="336" r:id="rId56"/>
    <p:sldId id="360" r:id="rId57"/>
    <p:sldId id="370" r:id="rId58"/>
    <p:sldId id="279" r:id="rId59"/>
    <p:sldId id="275" r:id="rId60"/>
    <p:sldId id="328" r:id="rId61"/>
    <p:sldId id="330" r:id="rId62"/>
    <p:sldId id="329" r:id="rId63"/>
    <p:sldId id="277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4" autoAdjust="0"/>
    <p:restoredTop sz="90698" autoAdjust="0"/>
  </p:normalViewPr>
  <p:slideViewPr>
    <p:cSldViewPr snapToGrid="0" snapToObjects="1">
      <p:cViewPr varScale="1">
        <p:scale>
          <a:sx n="96" d="100"/>
          <a:sy n="96" d="100"/>
        </p:scale>
        <p:origin x="-200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4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2"/>
    </p:cViewPr>
  </p:sorterViewPr>
  <p:notesViewPr>
    <p:cSldViewPr snapToGrid="0" snapToObjects="1">
      <p:cViewPr varScale="1">
        <p:scale>
          <a:sx n="10" d="100"/>
          <a:sy n="10" d="100"/>
        </p:scale>
        <p:origin x="-920" y="4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interSettings" Target="printerSettings/printerSettings1.bin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txPr>
              <a:bodyPr/>
              <a:lstStyle/>
              <a:p>
                <a:pPr>
                  <a:defRPr sz="2400" b="1" i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Sheet1!$A$1:$A$3</c:f>
              <c:strCache>
                <c:ptCount val="3"/>
                <c:pt idx="0">
                  <c:v>Internet-facing asset</c:v>
                </c:pt>
                <c:pt idx="1">
                  <c:v>Watering hole</c:v>
                </c:pt>
                <c:pt idx="2">
                  <c:v>Phish</c:v>
                </c:pt>
              </c:strCache>
            </c:strRef>
          </c:cat>
          <c:val>
            <c:numRef>
              <c:f>Sheet1!$B$1:$B$3</c:f>
              <c:numCache>
                <c:formatCode>0%</c:formatCode>
                <c:ptCount val="3"/>
                <c:pt idx="0">
                  <c:v>0.633333333333333</c:v>
                </c:pt>
                <c:pt idx="1">
                  <c:v>0.266666666666667</c:v>
                </c:pt>
                <c:pt idx="2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576368869066035"/>
          <c:y val="0.283960838760768"/>
          <c:w val="0.410615176781895"/>
          <c:h val="0.347593279026186"/>
        </c:manualLayout>
      </c:layout>
      <c:overlay val="0"/>
      <c:txPr>
        <a:bodyPr/>
        <a:lstStyle/>
        <a:p>
          <a:pPr>
            <a:defRPr sz="2400" b="1" i="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>
        <a:noFill/>
        <a:ln>
          <a:noFill/>
        </a:ln>
        <a:effectLst>
          <a:glow rad="101600">
            <a:srgbClr val="FF0000">
              <a:alpha val="40000"/>
            </a:srgbClr>
          </a:glow>
        </a:effectLst>
        <a:scene3d>
          <a:camera prst="perspectiveAbove"/>
          <a:lightRig rig="threePt" dir="t"/>
        </a:scene3d>
      </dgm:spPr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 custScaleY="534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 custLinFactNeighborX="426"/>
      <dgm:spPr/>
      <dgm:t>
        <a:bodyPr/>
        <a:lstStyle/>
        <a:p>
          <a:endParaRPr lang="en-US"/>
        </a:p>
      </dgm:t>
    </dgm:pt>
  </dgm:ptLst>
  <dgm:cxnLst>
    <dgm:cxn modelId="{81534F32-4907-3E48-A9F2-5F7DCB4DC477}" type="presOf" srcId="{AB4FCA0B-B439-D54F-B96F-C41FD45ADE85}" destId="{71DAF3B9-D052-2148-91BA-20DF28A05BA6}" srcOrd="0" destOrd="0" presId="urn:microsoft.com/office/officeart/2005/8/layout/cycle1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B3868F9A-466F-0849-8624-961116056D1F}" type="presOf" srcId="{ACB64397-55B2-CC45-9BD0-C0B1F2960055}" destId="{EA67CF0B-EDB4-3648-9F73-8E093E43A2AB}" srcOrd="0" destOrd="0" presId="urn:microsoft.com/office/officeart/2005/8/layout/cycle1"/>
    <dgm:cxn modelId="{5CEE0389-E620-F34C-AE53-09A0E03B0AF2}" type="presOf" srcId="{F9470122-F22D-6548-99E6-D1E4EDE27527}" destId="{B16D6C61-F41A-224F-AABD-5EB6E96267E7}" srcOrd="0" destOrd="0" presId="urn:microsoft.com/office/officeart/2005/8/layout/cycle1"/>
    <dgm:cxn modelId="{62688DB4-1642-5B49-96D8-B7C414508A0F}" type="presOf" srcId="{F6BA4FDA-6665-9547-AC89-5B08E78B306B}" destId="{32A278A7-50F2-4740-9172-36F2CB64B2ED}" srcOrd="0" destOrd="0" presId="urn:microsoft.com/office/officeart/2005/8/layout/cycle1"/>
    <dgm:cxn modelId="{07BBAF57-EB89-C447-A65C-FEAE37F44CB5}" type="presOf" srcId="{62BAA472-0F92-6440-9382-A54629F01E44}" destId="{C079F55B-F99E-F34F-B0D8-493315F09995}" srcOrd="0" destOrd="0" presId="urn:microsoft.com/office/officeart/2005/8/layout/cycle1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6E015A47-0976-A443-A605-C61BE0472801}" type="presOf" srcId="{E4807543-92A2-5B48-950D-F5B1C30475A5}" destId="{E5265FC8-A380-7344-9720-EC2791909CCB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918AC62A-DB6F-2842-868F-FE068C037EA9}" type="presOf" srcId="{7E50EA18-011A-1E45-9F3F-6CDDEFB01ED6}" destId="{419C75DD-620A-144C-B4B4-72EC9D8D14C2}" srcOrd="0" destOrd="0" presId="urn:microsoft.com/office/officeart/2005/8/layout/cycle1"/>
    <dgm:cxn modelId="{F51A49AE-2867-BA4A-83EA-3E45291686B4}" type="presOf" srcId="{B3030BE5-3FC1-EB48-B134-F6D35BB49B50}" destId="{0C37353C-EFB7-B045-9AB3-604D173CB3D5}" srcOrd="0" destOrd="0" presId="urn:microsoft.com/office/officeart/2005/8/layout/cycle1"/>
    <dgm:cxn modelId="{B9548767-7436-384F-B774-414816C8AF39}" type="presOf" srcId="{BB8B7978-31B7-7242-93C5-BBDAFBC45F35}" destId="{5445E6C8-77DF-E341-A87D-0F5E7096A9EF}" srcOrd="0" destOrd="0" presId="urn:microsoft.com/office/officeart/2005/8/layout/cycle1"/>
    <dgm:cxn modelId="{BE50462F-1588-2445-8388-0CCB495B8706}" type="presOf" srcId="{F1B0F05F-B6B4-5B47-A0F1-4E4EC509CBE6}" destId="{F602909C-7B9D-8E4A-8A72-C00F9CB3D2D0}" srcOrd="0" destOrd="0" presId="urn:microsoft.com/office/officeart/2005/8/layout/cycle1"/>
    <dgm:cxn modelId="{E9BF058E-AF3E-B942-A8B3-223A291424B8}" type="presOf" srcId="{B8DE69A7-EA35-D04C-ACBC-D9AD7F021215}" destId="{D2FD7792-2BFA-B84D-985B-D947E620AC84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29E018C6-1B41-9E4B-A951-96EA4147C269}" type="presParOf" srcId="{0C37353C-EFB7-B045-9AB3-604D173CB3D5}" destId="{663FEE7C-246B-BA47-8912-424CA99BB8A8}" srcOrd="0" destOrd="0" presId="urn:microsoft.com/office/officeart/2005/8/layout/cycle1"/>
    <dgm:cxn modelId="{161E67AB-CEC6-794A-B388-E42F08E61A7B}" type="presParOf" srcId="{0C37353C-EFB7-B045-9AB3-604D173CB3D5}" destId="{B16D6C61-F41A-224F-AABD-5EB6E96267E7}" srcOrd="1" destOrd="0" presId="urn:microsoft.com/office/officeart/2005/8/layout/cycle1"/>
    <dgm:cxn modelId="{C245EEBE-B2EB-244C-B2D4-FE4D7B721944}" type="presParOf" srcId="{0C37353C-EFB7-B045-9AB3-604D173CB3D5}" destId="{5445E6C8-77DF-E341-A87D-0F5E7096A9EF}" srcOrd="2" destOrd="0" presId="urn:microsoft.com/office/officeart/2005/8/layout/cycle1"/>
    <dgm:cxn modelId="{850F957D-E794-924A-BBAB-DD68E3C8665C}" type="presParOf" srcId="{0C37353C-EFB7-B045-9AB3-604D173CB3D5}" destId="{FE9F8501-792B-6940-BF56-0D293658EDC4}" srcOrd="3" destOrd="0" presId="urn:microsoft.com/office/officeart/2005/8/layout/cycle1"/>
    <dgm:cxn modelId="{8404F4FD-F3AD-AA4F-903B-23F509498B32}" type="presParOf" srcId="{0C37353C-EFB7-B045-9AB3-604D173CB3D5}" destId="{32A278A7-50F2-4740-9172-36F2CB64B2ED}" srcOrd="4" destOrd="0" presId="urn:microsoft.com/office/officeart/2005/8/layout/cycle1"/>
    <dgm:cxn modelId="{649C1E1C-9368-9044-9BDF-7CE219126EBC}" type="presParOf" srcId="{0C37353C-EFB7-B045-9AB3-604D173CB3D5}" destId="{419C75DD-620A-144C-B4B4-72EC9D8D14C2}" srcOrd="5" destOrd="0" presId="urn:microsoft.com/office/officeart/2005/8/layout/cycle1"/>
    <dgm:cxn modelId="{11797236-D325-4F4C-9C47-B761A5D596D5}" type="presParOf" srcId="{0C37353C-EFB7-B045-9AB3-604D173CB3D5}" destId="{56F08260-75C0-3244-80A8-DE640BFFE496}" srcOrd="6" destOrd="0" presId="urn:microsoft.com/office/officeart/2005/8/layout/cycle1"/>
    <dgm:cxn modelId="{35FD833E-6FC7-334D-BAED-90A71C66EA6A}" type="presParOf" srcId="{0C37353C-EFB7-B045-9AB3-604D173CB3D5}" destId="{C079F55B-F99E-F34F-B0D8-493315F09995}" srcOrd="7" destOrd="0" presId="urn:microsoft.com/office/officeart/2005/8/layout/cycle1"/>
    <dgm:cxn modelId="{66E7B570-27F2-B64C-B90D-8F298F2155F7}" type="presParOf" srcId="{0C37353C-EFB7-B045-9AB3-604D173CB3D5}" destId="{EA67CF0B-EDB4-3648-9F73-8E093E43A2AB}" srcOrd="8" destOrd="0" presId="urn:microsoft.com/office/officeart/2005/8/layout/cycle1"/>
    <dgm:cxn modelId="{A06BD857-AA45-214B-97C7-917C6DB33075}" type="presParOf" srcId="{0C37353C-EFB7-B045-9AB3-604D173CB3D5}" destId="{3A7E1AE7-2940-064C-82B7-C51C3830FDE8}" srcOrd="9" destOrd="0" presId="urn:microsoft.com/office/officeart/2005/8/layout/cycle1"/>
    <dgm:cxn modelId="{89CB7DF9-B917-4A47-A7B9-0F24B1B8FD6A}" type="presParOf" srcId="{0C37353C-EFB7-B045-9AB3-604D173CB3D5}" destId="{E5265FC8-A380-7344-9720-EC2791909CCB}" srcOrd="10" destOrd="0" presId="urn:microsoft.com/office/officeart/2005/8/layout/cycle1"/>
    <dgm:cxn modelId="{3E6A067A-92AF-B74D-A328-E5E9D5664B76}" type="presParOf" srcId="{0C37353C-EFB7-B045-9AB3-604D173CB3D5}" destId="{D2FD7792-2BFA-B84D-985B-D947E620AC84}" srcOrd="11" destOrd="0" presId="urn:microsoft.com/office/officeart/2005/8/layout/cycle1"/>
    <dgm:cxn modelId="{FA9585F7-BB75-3A45-AEAB-F9BF020278AD}" type="presParOf" srcId="{0C37353C-EFB7-B045-9AB3-604D173CB3D5}" destId="{0B8F424C-6863-B449-9FAD-FFCA269E06B8}" srcOrd="12" destOrd="0" presId="urn:microsoft.com/office/officeart/2005/8/layout/cycle1"/>
    <dgm:cxn modelId="{2F8FD950-C239-CB44-A344-C8B73DF417D3}" type="presParOf" srcId="{0C37353C-EFB7-B045-9AB3-604D173CB3D5}" destId="{F602909C-7B9D-8E4A-8A72-C00F9CB3D2D0}" srcOrd="13" destOrd="0" presId="urn:microsoft.com/office/officeart/2005/8/layout/cycle1"/>
    <dgm:cxn modelId="{A249E437-C817-6E45-A93D-22308468FC52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gm:spPr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/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 custScaleX="73222" custScaleY="39765" custRadScaleRad="100000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 custLinFactNeighborY="598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 custRadScaleRad="99965" custRadScaleInc="-137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 custLinFactNeighborX="-2835"/>
      <dgm:spPr/>
      <dgm:t>
        <a:bodyPr/>
        <a:lstStyle/>
        <a:p>
          <a:endParaRPr lang="en-US"/>
        </a:p>
      </dgm:t>
    </dgm:pt>
  </dgm:ptLst>
  <dgm:cxnLst>
    <dgm:cxn modelId="{7BB27226-9CE5-9847-B125-CF282CD01C1D}" type="presOf" srcId="{F6BA4FDA-6665-9547-AC89-5B08E78B306B}" destId="{32A278A7-50F2-4740-9172-36F2CB64B2ED}" srcOrd="0" destOrd="0" presId="urn:microsoft.com/office/officeart/2005/8/layout/cycle1"/>
    <dgm:cxn modelId="{A621A6AB-5AE1-C343-B819-8A31A2ED0ADC}" type="presOf" srcId="{B8DE69A7-EA35-D04C-ACBC-D9AD7F021215}" destId="{D2FD7792-2BFA-B84D-985B-D947E620AC84}" srcOrd="0" destOrd="0" presId="urn:microsoft.com/office/officeart/2005/8/layout/cycle1"/>
    <dgm:cxn modelId="{646665E3-8997-8140-8F06-F5E3EF342F6E}" type="presOf" srcId="{F9470122-F22D-6548-99E6-D1E4EDE27527}" destId="{B16D6C61-F41A-224F-AABD-5EB6E96267E7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FA2001DB-92B5-BF4A-9173-8492851F5ADA}" type="presOf" srcId="{62BAA472-0F92-6440-9382-A54629F01E44}" destId="{C079F55B-F99E-F34F-B0D8-493315F09995}" srcOrd="0" destOrd="0" presId="urn:microsoft.com/office/officeart/2005/8/layout/cycle1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10B1639D-9290-EB4C-B6C4-36845F3371D5}" type="presOf" srcId="{F1B0F05F-B6B4-5B47-A0F1-4E4EC509CBE6}" destId="{F602909C-7B9D-8E4A-8A72-C00F9CB3D2D0}" srcOrd="0" destOrd="0" presId="urn:microsoft.com/office/officeart/2005/8/layout/cycle1"/>
    <dgm:cxn modelId="{9A8791BD-758E-8841-BB59-F3292B5AB381}" type="presOf" srcId="{ACB64397-55B2-CC45-9BD0-C0B1F2960055}" destId="{EA67CF0B-EDB4-3648-9F73-8E093E43A2AB}" srcOrd="0" destOrd="0" presId="urn:microsoft.com/office/officeart/2005/8/layout/cycle1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637E889F-27AE-4C4A-B853-C6900974EF95}" type="presOf" srcId="{BB8B7978-31B7-7242-93C5-BBDAFBC45F35}" destId="{5445E6C8-77DF-E341-A87D-0F5E7096A9EF}" srcOrd="0" destOrd="0" presId="urn:microsoft.com/office/officeart/2005/8/layout/cycle1"/>
    <dgm:cxn modelId="{002FDB98-53CB-0846-8ACC-349391F83AC0}" type="presOf" srcId="{7E50EA18-011A-1E45-9F3F-6CDDEFB01ED6}" destId="{419C75DD-620A-144C-B4B4-72EC9D8D14C2}" srcOrd="0" destOrd="0" presId="urn:microsoft.com/office/officeart/2005/8/layout/cycle1"/>
    <dgm:cxn modelId="{0ACB26C0-5AA6-124A-A324-0D33E54CA94D}" type="presOf" srcId="{E4807543-92A2-5B48-950D-F5B1C30475A5}" destId="{E5265FC8-A380-7344-9720-EC2791909CCB}" srcOrd="0" destOrd="0" presId="urn:microsoft.com/office/officeart/2005/8/layout/cycle1"/>
    <dgm:cxn modelId="{B9CBAF15-14EC-FA4A-BFC6-9E85D4E5E217}" type="presOf" srcId="{B3030BE5-3FC1-EB48-B134-F6D35BB49B50}" destId="{0C37353C-EFB7-B045-9AB3-604D173CB3D5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76E8C99F-D39A-6448-944B-26561EA0AD84}" type="presOf" srcId="{AB4FCA0B-B439-D54F-B96F-C41FD45ADE85}" destId="{71DAF3B9-D052-2148-91BA-20DF28A05BA6}" srcOrd="0" destOrd="0" presId="urn:microsoft.com/office/officeart/2005/8/layout/cycle1"/>
    <dgm:cxn modelId="{FCDEF423-5102-9E44-86F5-FA96BEA8141D}" type="presParOf" srcId="{0C37353C-EFB7-B045-9AB3-604D173CB3D5}" destId="{663FEE7C-246B-BA47-8912-424CA99BB8A8}" srcOrd="0" destOrd="0" presId="urn:microsoft.com/office/officeart/2005/8/layout/cycle1"/>
    <dgm:cxn modelId="{FE1C3415-E0C8-0142-84CA-DC3F22026C71}" type="presParOf" srcId="{0C37353C-EFB7-B045-9AB3-604D173CB3D5}" destId="{B16D6C61-F41A-224F-AABD-5EB6E96267E7}" srcOrd="1" destOrd="0" presId="urn:microsoft.com/office/officeart/2005/8/layout/cycle1"/>
    <dgm:cxn modelId="{2960BD19-E8B5-D74D-A167-8D2BF79AEB21}" type="presParOf" srcId="{0C37353C-EFB7-B045-9AB3-604D173CB3D5}" destId="{5445E6C8-77DF-E341-A87D-0F5E7096A9EF}" srcOrd="2" destOrd="0" presId="urn:microsoft.com/office/officeart/2005/8/layout/cycle1"/>
    <dgm:cxn modelId="{00427933-7859-3446-9702-C5D12F5C2C98}" type="presParOf" srcId="{0C37353C-EFB7-B045-9AB3-604D173CB3D5}" destId="{FE9F8501-792B-6940-BF56-0D293658EDC4}" srcOrd="3" destOrd="0" presId="urn:microsoft.com/office/officeart/2005/8/layout/cycle1"/>
    <dgm:cxn modelId="{34B735CB-370C-154E-A733-DDA4452065DA}" type="presParOf" srcId="{0C37353C-EFB7-B045-9AB3-604D173CB3D5}" destId="{32A278A7-50F2-4740-9172-36F2CB64B2ED}" srcOrd="4" destOrd="0" presId="urn:microsoft.com/office/officeart/2005/8/layout/cycle1"/>
    <dgm:cxn modelId="{853A76D5-E539-C341-9F2A-604CA3BD8801}" type="presParOf" srcId="{0C37353C-EFB7-B045-9AB3-604D173CB3D5}" destId="{419C75DD-620A-144C-B4B4-72EC9D8D14C2}" srcOrd="5" destOrd="0" presId="urn:microsoft.com/office/officeart/2005/8/layout/cycle1"/>
    <dgm:cxn modelId="{32F8428C-AD0B-F143-92C9-FBF56085322D}" type="presParOf" srcId="{0C37353C-EFB7-B045-9AB3-604D173CB3D5}" destId="{56F08260-75C0-3244-80A8-DE640BFFE496}" srcOrd="6" destOrd="0" presId="urn:microsoft.com/office/officeart/2005/8/layout/cycle1"/>
    <dgm:cxn modelId="{47FB0484-D3FA-D546-9B51-33E03D6CA342}" type="presParOf" srcId="{0C37353C-EFB7-B045-9AB3-604D173CB3D5}" destId="{C079F55B-F99E-F34F-B0D8-493315F09995}" srcOrd="7" destOrd="0" presId="urn:microsoft.com/office/officeart/2005/8/layout/cycle1"/>
    <dgm:cxn modelId="{9FFAB8E5-C443-F644-B810-B1C5B1D172C8}" type="presParOf" srcId="{0C37353C-EFB7-B045-9AB3-604D173CB3D5}" destId="{EA67CF0B-EDB4-3648-9F73-8E093E43A2AB}" srcOrd="8" destOrd="0" presId="urn:microsoft.com/office/officeart/2005/8/layout/cycle1"/>
    <dgm:cxn modelId="{BCC7D197-08F0-0F4C-996B-83DA78A71536}" type="presParOf" srcId="{0C37353C-EFB7-B045-9AB3-604D173CB3D5}" destId="{3A7E1AE7-2940-064C-82B7-C51C3830FDE8}" srcOrd="9" destOrd="0" presId="urn:microsoft.com/office/officeart/2005/8/layout/cycle1"/>
    <dgm:cxn modelId="{02E30C39-5E8F-1642-9051-1D34912E5E6A}" type="presParOf" srcId="{0C37353C-EFB7-B045-9AB3-604D173CB3D5}" destId="{E5265FC8-A380-7344-9720-EC2791909CCB}" srcOrd="10" destOrd="0" presId="urn:microsoft.com/office/officeart/2005/8/layout/cycle1"/>
    <dgm:cxn modelId="{84306313-2BE3-3D49-A031-D47EB113DBC8}" type="presParOf" srcId="{0C37353C-EFB7-B045-9AB3-604D173CB3D5}" destId="{D2FD7792-2BFA-B84D-985B-D947E620AC84}" srcOrd="11" destOrd="0" presId="urn:microsoft.com/office/officeart/2005/8/layout/cycle1"/>
    <dgm:cxn modelId="{66F852E5-6052-AE46-ADED-7F14A12062E1}" type="presParOf" srcId="{0C37353C-EFB7-B045-9AB3-604D173CB3D5}" destId="{0B8F424C-6863-B449-9FAD-FFCA269E06B8}" srcOrd="12" destOrd="0" presId="urn:microsoft.com/office/officeart/2005/8/layout/cycle1"/>
    <dgm:cxn modelId="{5C21EC87-7BB2-7549-BB43-74542721B161}" type="presParOf" srcId="{0C37353C-EFB7-B045-9AB3-604D173CB3D5}" destId="{F602909C-7B9D-8E4A-8A72-C00F9CB3D2D0}" srcOrd="13" destOrd="0" presId="urn:microsoft.com/office/officeart/2005/8/layout/cycle1"/>
    <dgm:cxn modelId="{505F4C55-963E-DA40-A99A-B50DCD0615F2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gm:spPr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/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 custScaleX="99710" custScaleY="6906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11BEC621-2140-134B-A409-D4A316A83B41}" type="presOf" srcId="{F6BA4FDA-6665-9547-AC89-5B08E78B306B}" destId="{32A278A7-50F2-4740-9172-36F2CB64B2ED}" srcOrd="0" destOrd="0" presId="urn:microsoft.com/office/officeart/2005/8/layout/cycle1"/>
    <dgm:cxn modelId="{D22BAF13-1C9A-8547-9AD9-8198C0628D15}" type="presOf" srcId="{B3030BE5-3FC1-EB48-B134-F6D35BB49B50}" destId="{0C37353C-EFB7-B045-9AB3-604D173CB3D5}" srcOrd="0" destOrd="0" presId="urn:microsoft.com/office/officeart/2005/8/layout/cycle1"/>
    <dgm:cxn modelId="{FB1AED71-F38D-F746-979B-A19963D8BDF9}" type="presOf" srcId="{AB4FCA0B-B439-D54F-B96F-C41FD45ADE85}" destId="{71DAF3B9-D052-2148-91BA-20DF28A05BA6}" srcOrd="0" destOrd="0" presId="urn:microsoft.com/office/officeart/2005/8/layout/cycle1"/>
    <dgm:cxn modelId="{0049594C-3A27-264C-B238-555C37FBC1E6}" type="presOf" srcId="{BB8B7978-31B7-7242-93C5-BBDAFBC45F35}" destId="{5445E6C8-77DF-E341-A87D-0F5E7096A9EF}" srcOrd="0" destOrd="0" presId="urn:microsoft.com/office/officeart/2005/8/layout/cycle1"/>
    <dgm:cxn modelId="{15773F8B-2A0C-4447-A304-B7937332D5DA}" type="presOf" srcId="{62BAA472-0F92-6440-9382-A54629F01E44}" destId="{C079F55B-F99E-F34F-B0D8-493315F09995}" srcOrd="0" destOrd="0" presId="urn:microsoft.com/office/officeart/2005/8/layout/cycle1"/>
    <dgm:cxn modelId="{C9B9CB5A-8C1C-724B-8F8E-FB8BA0E4783A}" type="presOf" srcId="{B8DE69A7-EA35-D04C-ACBC-D9AD7F021215}" destId="{D2FD7792-2BFA-B84D-985B-D947E620AC84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EDD93A5C-B0AD-A249-9F82-D60C64AACDDD}" type="presOf" srcId="{ACB64397-55B2-CC45-9BD0-C0B1F2960055}" destId="{EA67CF0B-EDB4-3648-9F73-8E093E43A2AB}" srcOrd="0" destOrd="0" presId="urn:microsoft.com/office/officeart/2005/8/layout/cycle1"/>
    <dgm:cxn modelId="{15466CAB-BFEF-3342-881E-E92E1968DE89}" type="presOf" srcId="{7E50EA18-011A-1E45-9F3F-6CDDEFB01ED6}" destId="{419C75DD-620A-144C-B4B4-72EC9D8D14C2}" srcOrd="0" destOrd="0" presId="urn:microsoft.com/office/officeart/2005/8/layout/cycle1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F34E38E2-C2FF-7E47-8592-D553E4BA9B4A}" type="presOf" srcId="{F9470122-F22D-6548-99E6-D1E4EDE27527}" destId="{B16D6C61-F41A-224F-AABD-5EB6E96267E7}" srcOrd="0" destOrd="0" presId="urn:microsoft.com/office/officeart/2005/8/layout/cycle1"/>
    <dgm:cxn modelId="{C6931AB1-766D-A34F-9244-7998A8F30F6F}" type="presOf" srcId="{F1B0F05F-B6B4-5B47-A0F1-4E4EC509CBE6}" destId="{F602909C-7B9D-8E4A-8A72-C00F9CB3D2D0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36E2DC31-F024-8143-BA15-BEF60160CBB6}" type="presOf" srcId="{E4807543-92A2-5B48-950D-F5B1C30475A5}" destId="{E5265FC8-A380-7344-9720-EC2791909CCB}" srcOrd="0" destOrd="0" presId="urn:microsoft.com/office/officeart/2005/8/layout/cycle1"/>
    <dgm:cxn modelId="{B498348E-F3D4-694E-B1FB-9ECE93400171}" type="presParOf" srcId="{0C37353C-EFB7-B045-9AB3-604D173CB3D5}" destId="{663FEE7C-246B-BA47-8912-424CA99BB8A8}" srcOrd="0" destOrd="0" presId="urn:microsoft.com/office/officeart/2005/8/layout/cycle1"/>
    <dgm:cxn modelId="{2EC22EB1-CD63-934C-8898-1575A72FA589}" type="presParOf" srcId="{0C37353C-EFB7-B045-9AB3-604D173CB3D5}" destId="{B16D6C61-F41A-224F-AABD-5EB6E96267E7}" srcOrd="1" destOrd="0" presId="urn:microsoft.com/office/officeart/2005/8/layout/cycle1"/>
    <dgm:cxn modelId="{536AA159-83D1-C94E-A986-B9BE2D51CB51}" type="presParOf" srcId="{0C37353C-EFB7-B045-9AB3-604D173CB3D5}" destId="{5445E6C8-77DF-E341-A87D-0F5E7096A9EF}" srcOrd="2" destOrd="0" presId="urn:microsoft.com/office/officeart/2005/8/layout/cycle1"/>
    <dgm:cxn modelId="{1C7A2D08-7D5D-C04F-B49C-C8A657ECEFE8}" type="presParOf" srcId="{0C37353C-EFB7-B045-9AB3-604D173CB3D5}" destId="{FE9F8501-792B-6940-BF56-0D293658EDC4}" srcOrd="3" destOrd="0" presId="urn:microsoft.com/office/officeart/2005/8/layout/cycle1"/>
    <dgm:cxn modelId="{E189A7A6-FAA4-2143-AF14-BC0D734F6A53}" type="presParOf" srcId="{0C37353C-EFB7-B045-9AB3-604D173CB3D5}" destId="{32A278A7-50F2-4740-9172-36F2CB64B2ED}" srcOrd="4" destOrd="0" presId="urn:microsoft.com/office/officeart/2005/8/layout/cycle1"/>
    <dgm:cxn modelId="{CD12B6BE-0DA4-B644-A75B-30730BE19A84}" type="presParOf" srcId="{0C37353C-EFB7-B045-9AB3-604D173CB3D5}" destId="{419C75DD-620A-144C-B4B4-72EC9D8D14C2}" srcOrd="5" destOrd="0" presId="urn:microsoft.com/office/officeart/2005/8/layout/cycle1"/>
    <dgm:cxn modelId="{6781F3C5-6A43-6248-908A-CC2CABC5B839}" type="presParOf" srcId="{0C37353C-EFB7-B045-9AB3-604D173CB3D5}" destId="{56F08260-75C0-3244-80A8-DE640BFFE496}" srcOrd="6" destOrd="0" presId="urn:microsoft.com/office/officeart/2005/8/layout/cycle1"/>
    <dgm:cxn modelId="{6887DE2C-AA73-764B-8320-B9E3884EE1C4}" type="presParOf" srcId="{0C37353C-EFB7-B045-9AB3-604D173CB3D5}" destId="{C079F55B-F99E-F34F-B0D8-493315F09995}" srcOrd="7" destOrd="0" presId="urn:microsoft.com/office/officeart/2005/8/layout/cycle1"/>
    <dgm:cxn modelId="{6E6F9445-5303-1543-9F17-ACA26AFC01B5}" type="presParOf" srcId="{0C37353C-EFB7-B045-9AB3-604D173CB3D5}" destId="{EA67CF0B-EDB4-3648-9F73-8E093E43A2AB}" srcOrd="8" destOrd="0" presId="urn:microsoft.com/office/officeart/2005/8/layout/cycle1"/>
    <dgm:cxn modelId="{8FFD20F8-75DF-FB49-AF15-0B5E2CF29A85}" type="presParOf" srcId="{0C37353C-EFB7-B045-9AB3-604D173CB3D5}" destId="{3A7E1AE7-2940-064C-82B7-C51C3830FDE8}" srcOrd="9" destOrd="0" presId="urn:microsoft.com/office/officeart/2005/8/layout/cycle1"/>
    <dgm:cxn modelId="{928EB6E7-8EBD-F645-9F80-E208D1E4ADDC}" type="presParOf" srcId="{0C37353C-EFB7-B045-9AB3-604D173CB3D5}" destId="{E5265FC8-A380-7344-9720-EC2791909CCB}" srcOrd="10" destOrd="0" presId="urn:microsoft.com/office/officeart/2005/8/layout/cycle1"/>
    <dgm:cxn modelId="{CCF34B12-B452-124C-B894-04AAC2AC461D}" type="presParOf" srcId="{0C37353C-EFB7-B045-9AB3-604D173CB3D5}" destId="{D2FD7792-2BFA-B84D-985B-D947E620AC84}" srcOrd="11" destOrd="0" presId="urn:microsoft.com/office/officeart/2005/8/layout/cycle1"/>
    <dgm:cxn modelId="{0DC2426D-1D24-644D-B598-21C53528F67F}" type="presParOf" srcId="{0C37353C-EFB7-B045-9AB3-604D173CB3D5}" destId="{0B8F424C-6863-B449-9FAD-FFCA269E06B8}" srcOrd="12" destOrd="0" presId="urn:microsoft.com/office/officeart/2005/8/layout/cycle1"/>
    <dgm:cxn modelId="{D64E4650-A9E4-694A-A243-53EB169D6034}" type="presParOf" srcId="{0C37353C-EFB7-B045-9AB3-604D173CB3D5}" destId="{F602909C-7B9D-8E4A-8A72-C00F9CB3D2D0}" srcOrd="13" destOrd="0" presId="urn:microsoft.com/office/officeart/2005/8/layout/cycle1"/>
    <dgm:cxn modelId="{D9D91CB6-08F9-B44B-B3B2-35C4B1BD0376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gm:spPr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/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 custScaleY="635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8EBF36B3-4483-D447-90C7-A4BBDF2AC052}" type="presOf" srcId="{B8DE69A7-EA35-D04C-ACBC-D9AD7F021215}" destId="{D2FD7792-2BFA-B84D-985B-D947E620AC84}" srcOrd="0" destOrd="0" presId="urn:microsoft.com/office/officeart/2005/8/layout/cycle1"/>
    <dgm:cxn modelId="{EE48A08B-BF74-104D-877F-C209C7C33F1B}" type="presOf" srcId="{62BAA472-0F92-6440-9382-A54629F01E44}" destId="{C079F55B-F99E-F34F-B0D8-493315F09995}" srcOrd="0" destOrd="0" presId="urn:microsoft.com/office/officeart/2005/8/layout/cycle1"/>
    <dgm:cxn modelId="{5A35ECAE-419F-FC40-98E3-66FF75D776F1}" type="presOf" srcId="{F6BA4FDA-6665-9547-AC89-5B08E78B306B}" destId="{32A278A7-50F2-4740-9172-36F2CB64B2ED}" srcOrd="0" destOrd="0" presId="urn:microsoft.com/office/officeart/2005/8/layout/cycle1"/>
    <dgm:cxn modelId="{7D9638E2-AFEA-AE48-BE4E-D2AD096D3B13}" type="presOf" srcId="{E4807543-92A2-5B48-950D-F5B1C30475A5}" destId="{E5265FC8-A380-7344-9720-EC2791909CCB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2FA1B1F2-DF73-C646-8829-C2773DA3F632}" type="presOf" srcId="{F1B0F05F-B6B4-5B47-A0F1-4E4EC509CBE6}" destId="{F602909C-7B9D-8E4A-8A72-C00F9CB3D2D0}" srcOrd="0" destOrd="0" presId="urn:microsoft.com/office/officeart/2005/8/layout/cycle1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9C05E6AD-256A-A140-A906-7734BCA9EE25}" type="presOf" srcId="{B3030BE5-3FC1-EB48-B134-F6D35BB49B50}" destId="{0C37353C-EFB7-B045-9AB3-604D173CB3D5}" srcOrd="0" destOrd="0" presId="urn:microsoft.com/office/officeart/2005/8/layout/cycle1"/>
    <dgm:cxn modelId="{79F7970F-7E90-6344-BC9D-BB7C95BA6E2D}" type="presOf" srcId="{AB4FCA0B-B439-D54F-B96F-C41FD45ADE85}" destId="{71DAF3B9-D052-2148-91BA-20DF28A05BA6}" srcOrd="0" destOrd="0" presId="urn:microsoft.com/office/officeart/2005/8/layout/cycle1"/>
    <dgm:cxn modelId="{31FA149B-665D-244F-B27F-20989421FCB0}" type="presOf" srcId="{ACB64397-55B2-CC45-9BD0-C0B1F2960055}" destId="{EA67CF0B-EDB4-3648-9F73-8E093E43A2AB}" srcOrd="0" destOrd="0" presId="urn:microsoft.com/office/officeart/2005/8/layout/cycle1"/>
    <dgm:cxn modelId="{F1E5EFEB-2AD6-D541-89C1-46184439C46A}" type="presOf" srcId="{F9470122-F22D-6548-99E6-D1E4EDE27527}" destId="{B16D6C61-F41A-224F-AABD-5EB6E96267E7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0E0B3AB2-6240-9A40-9E11-31355A6359D1}" type="presOf" srcId="{BB8B7978-31B7-7242-93C5-BBDAFBC45F35}" destId="{5445E6C8-77DF-E341-A87D-0F5E7096A9EF}" srcOrd="0" destOrd="0" presId="urn:microsoft.com/office/officeart/2005/8/layout/cycle1"/>
    <dgm:cxn modelId="{3F3856EC-20A6-E545-BA27-4705DAFEBFE6}" type="presOf" srcId="{7E50EA18-011A-1E45-9F3F-6CDDEFB01ED6}" destId="{419C75DD-620A-144C-B4B4-72EC9D8D14C2}" srcOrd="0" destOrd="0" presId="urn:microsoft.com/office/officeart/2005/8/layout/cycle1"/>
    <dgm:cxn modelId="{490AE8F2-CFE9-8140-BB6E-4367DA0BAA0C}" type="presParOf" srcId="{0C37353C-EFB7-B045-9AB3-604D173CB3D5}" destId="{663FEE7C-246B-BA47-8912-424CA99BB8A8}" srcOrd="0" destOrd="0" presId="urn:microsoft.com/office/officeart/2005/8/layout/cycle1"/>
    <dgm:cxn modelId="{C6079E36-94DB-B448-B1A9-1DC09062407B}" type="presParOf" srcId="{0C37353C-EFB7-B045-9AB3-604D173CB3D5}" destId="{B16D6C61-F41A-224F-AABD-5EB6E96267E7}" srcOrd="1" destOrd="0" presId="urn:microsoft.com/office/officeart/2005/8/layout/cycle1"/>
    <dgm:cxn modelId="{D1D12ED4-E6AA-6843-BD10-D4EED3536520}" type="presParOf" srcId="{0C37353C-EFB7-B045-9AB3-604D173CB3D5}" destId="{5445E6C8-77DF-E341-A87D-0F5E7096A9EF}" srcOrd="2" destOrd="0" presId="urn:microsoft.com/office/officeart/2005/8/layout/cycle1"/>
    <dgm:cxn modelId="{AD1474CB-2E0D-B543-8EDB-0AD7DC653FC1}" type="presParOf" srcId="{0C37353C-EFB7-B045-9AB3-604D173CB3D5}" destId="{FE9F8501-792B-6940-BF56-0D293658EDC4}" srcOrd="3" destOrd="0" presId="urn:microsoft.com/office/officeart/2005/8/layout/cycle1"/>
    <dgm:cxn modelId="{52EADF2D-75C5-7243-ABEF-D64D76479674}" type="presParOf" srcId="{0C37353C-EFB7-B045-9AB3-604D173CB3D5}" destId="{32A278A7-50F2-4740-9172-36F2CB64B2ED}" srcOrd="4" destOrd="0" presId="urn:microsoft.com/office/officeart/2005/8/layout/cycle1"/>
    <dgm:cxn modelId="{59D34FEA-85F0-1247-8254-AA787F5156FB}" type="presParOf" srcId="{0C37353C-EFB7-B045-9AB3-604D173CB3D5}" destId="{419C75DD-620A-144C-B4B4-72EC9D8D14C2}" srcOrd="5" destOrd="0" presId="urn:microsoft.com/office/officeart/2005/8/layout/cycle1"/>
    <dgm:cxn modelId="{2A62BD5F-6603-2246-965F-6D75276C2A96}" type="presParOf" srcId="{0C37353C-EFB7-B045-9AB3-604D173CB3D5}" destId="{56F08260-75C0-3244-80A8-DE640BFFE496}" srcOrd="6" destOrd="0" presId="urn:microsoft.com/office/officeart/2005/8/layout/cycle1"/>
    <dgm:cxn modelId="{0E30827C-EE58-584F-89F2-F96DCC47436F}" type="presParOf" srcId="{0C37353C-EFB7-B045-9AB3-604D173CB3D5}" destId="{C079F55B-F99E-F34F-B0D8-493315F09995}" srcOrd="7" destOrd="0" presId="urn:microsoft.com/office/officeart/2005/8/layout/cycle1"/>
    <dgm:cxn modelId="{9DD72110-68DA-574E-8477-AB5177E79E3D}" type="presParOf" srcId="{0C37353C-EFB7-B045-9AB3-604D173CB3D5}" destId="{EA67CF0B-EDB4-3648-9F73-8E093E43A2AB}" srcOrd="8" destOrd="0" presId="urn:microsoft.com/office/officeart/2005/8/layout/cycle1"/>
    <dgm:cxn modelId="{0C3CD67A-D00D-894C-B5DA-0B8A700B702F}" type="presParOf" srcId="{0C37353C-EFB7-B045-9AB3-604D173CB3D5}" destId="{3A7E1AE7-2940-064C-82B7-C51C3830FDE8}" srcOrd="9" destOrd="0" presId="urn:microsoft.com/office/officeart/2005/8/layout/cycle1"/>
    <dgm:cxn modelId="{97B1B22D-5EA9-D941-A3FB-736189B4DB60}" type="presParOf" srcId="{0C37353C-EFB7-B045-9AB3-604D173CB3D5}" destId="{E5265FC8-A380-7344-9720-EC2791909CCB}" srcOrd="10" destOrd="0" presId="urn:microsoft.com/office/officeart/2005/8/layout/cycle1"/>
    <dgm:cxn modelId="{0E28DD71-9CA6-EB42-BC0A-B57A13E6FA3A}" type="presParOf" srcId="{0C37353C-EFB7-B045-9AB3-604D173CB3D5}" destId="{D2FD7792-2BFA-B84D-985B-D947E620AC84}" srcOrd="11" destOrd="0" presId="urn:microsoft.com/office/officeart/2005/8/layout/cycle1"/>
    <dgm:cxn modelId="{B3600395-4E31-2343-9E9E-AED86674E0CE}" type="presParOf" srcId="{0C37353C-EFB7-B045-9AB3-604D173CB3D5}" destId="{0B8F424C-6863-B449-9FAD-FFCA269E06B8}" srcOrd="12" destOrd="0" presId="urn:microsoft.com/office/officeart/2005/8/layout/cycle1"/>
    <dgm:cxn modelId="{E188F0D2-C31E-A44E-B58D-DC0BDF3602AF}" type="presParOf" srcId="{0C37353C-EFB7-B045-9AB3-604D173CB3D5}" destId="{F602909C-7B9D-8E4A-8A72-C00F9CB3D2D0}" srcOrd="13" destOrd="0" presId="urn:microsoft.com/office/officeart/2005/8/layout/cycle1"/>
    <dgm:cxn modelId="{5E601BF1-A6FF-9746-8F0D-4BEBD8008891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gm:spPr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/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 custScaleY="632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DE19C10C-B61E-CD4F-9453-F891EEB4B500}" type="presOf" srcId="{7E50EA18-011A-1E45-9F3F-6CDDEFB01ED6}" destId="{419C75DD-620A-144C-B4B4-72EC9D8D14C2}" srcOrd="0" destOrd="0" presId="urn:microsoft.com/office/officeart/2005/8/layout/cycle1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DCB19E21-0290-8B49-920C-C17CE67C2816}" type="presOf" srcId="{BB8B7978-31B7-7242-93C5-BBDAFBC45F35}" destId="{5445E6C8-77DF-E341-A87D-0F5E7096A9EF}" srcOrd="0" destOrd="0" presId="urn:microsoft.com/office/officeart/2005/8/layout/cycle1"/>
    <dgm:cxn modelId="{14358C72-D73F-AC40-B909-9135B108FE55}" type="presOf" srcId="{ACB64397-55B2-CC45-9BD0-C0B1F2960055}" destId="{EA67CF0B-EDB4-3648-9F73-8E093E43A2AB}" srcOrd="0" destOrd="0" presId="urn:microsoft.com/office/officeart/2005/8/layout/cycle1"/>
    <dgm:cxn modelId="{9158C4BC-0916-7A48-8C8D-F34F78F14FC9}" type="presOf" srcId="{62BAA472-0F92-6440-9382-A54629F01E44}" destId="{C079F55B-F99E-F34F-B0D8-493315F09995}" srcOrd="0" destOrd="0" presId="urn:microsoft.com/office/officeart/2005/8/layout/cycle1"/>
    <dgm:cxn modelId="{B92246D1-95B8-BC48-A418-A8BE5EC80039}" type="presOf" srcId="{F1B0F05F-B6B4-5B47-A0F1-4E4EC509CBE6}" destId="{F602909C-7B9D-8E4A-8A72-C00F9CB3D2D0}" srcOrd="0" destOrd="0" presId="urn:microsoft.com/office/officeart/2005/8/layout/cycle1"/>
    <dgm:cxn modelId="{C3BAFD78-C121-484A-AD83-2771DA575609}" type="presOf" srcId="{AB4FCA0B-B439-D54F-B96F-C41FD45ADE85}" destId="{71DAF3B9-D052-2148-91BA-20DF28A05BA6}" srcOrd="0" destOrd="0" presId="urn:microsoft.com/office/officeart/2005/8/layout/cycle1"/>
    <dgm:cxn modelId="{A8CB05CC-653F-6045-9A6B-41B0A189878C}" type="presOf" srcId="{B8DE69A7-EA35-D04C-ACBC-D9AD7F021215}" destId="{D2FD7792-2BFA-B84D-985B-D947E620AC84}" srcOrd="0" destOrd="0" presId="urn:microsoft.com/office/officeart/2005/8/layout/cycle1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2CDB0A90-6C27-2C43-8AED-7A60B5B58EBA}" type="presOf" srcId="{F6BA4FDA-6665-9547-AC89-5B08E78B306B}" destId="{32A278A7-50F2-4740-9172-36F2CB64B2ED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7E6BE32D-7E16-EC46-996C-4AEB4AEB6E6E}" type="presOf" srcId="{B3030BE5-3FC1-EB48-B134-F6D35BB49B50}" destId="{0C37353C-EFB7-B045-9AB3-604D173CB3D5}" srcOrd="0" destOrd="0" presId="urn:microsoft.com/office/officeart/2005/8/layout/cycle1"/>
    <dgm:cxn modelId="{2E908A9A-08BD-0C45-A907-FEA3123179EF}" type="presOf" srcId="{F9470122-F22D-6548-99E6-D1E4EDE27527}" destId="{B16D6C61-F41A-224F-AABD-5EB6E96267E7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F9ADE7C4-C5C0-A24C-BB1B-7114DDEA29F2}" type="presOf" srcId="{E4807543-92A2-5B48-950D-F5B1C30475A5}" destId="{E5265FC8-A380-7344-9720-EC2791909CCB}" srcOrd="0" destOrd="0" presId="urn:microsoft.com/office/officeart/2005/8/layout/cycle1"/>
    <dgm:cxn modelId="{6D5EB1B9-F9AC-8A4E-B245-4618390FBB3C}" type="presParOf" srcId="{0C37353C-EFB7-B045-9AB3-604D173CB3D5}" destId="{663FEE7C-246B-BA47-8912-424CA99BB8A8}" srcOrd="0" destOrd="0" presId="urn:microsoft.com/office/officeart/2005/8/layout/cycle1"/>
    <dgm:cxn modelId="{E5BFAFBC-E786-9C48-8B54-0449E7AB4972}" type="presParOf" srcId="{0C37353C-EFB7-B045-9AB3-604D173CB3D5}" destId="{B16D6C61-F41A-224F-AABD-5EB6E96267E7}" srcOrd="1" destOrd="0" presId="urn:microsoft.com/office/officeart/2005/8/layout/cycle1"/>
    <dgm:cxn modelId="{B534EF62-B445-A644-8B3D-5397F19FDDBB}" type="presParOf" srcId="{0C37353C-EFB7-B045-9AB3-604D173CB3D5}" destId="{5445E6C8-77DF-E341-A87D-0F5E7096A9EF}" srcOrd="2" destOrd="0" presId="urn:microsoft.com/office/officeart/2005/8/layout/cycle1"/>
    <dgm:cxn modelId="{A68157CC-926A-944D-A7D9-224636D4443A}" type="presParOf" srcId="{0C37353C-EFB7-B045-9AB3-604D173CB3D5}" destId="{FE9F8501-792B-6940-BF56-0D293658EDC4}" srcOrd="3" destOrd="0" presId="urn:microsoft.com/office/officeart/2005/8/layout/cycle1"/>
    <dgm:cxn modelId="{9B27D5E9-D68A-8143-BFC5-AF59AB0467D0}" type="presParOf" srcId="{0C37353C-EFB7-B045-9AB3-604D173CB3D5}" destId="{32A278A7-50F2-4740-9172-36F2CB64B2ED}" srcOrd="4" destOrd="0" presId="urn:microsoft.com/office/officeart/2005/8/layout/cycle1"/>
    <dgm:cxn modelId="{73180B3E-43CA-594A-A8AE-0864786ACE54}" type="presParOf" srcId="{0C37353C-EFB7-B045-9AB3-604D173CB3D5}" destId="{419C75DD-620A-144C-B4B4-72EC9D8D14C2}" srcOrd="5" destOrd="0" presId="urn:microsoft.com/office/officeart/2005/8/layout/cycle1"/>
    <dgm:cxn modelId="{703EE092-1162-2748-B92D-52B85AAF8A76}" type="presParOf" srcId="{0C37353C-EFB7-B045-9AB3-604D173CB3D5}" destId="{56F08260-75C0-3244-80A8-DE640BFFE496}" srcOrd="6" destOrd="0" presId="urn:microsoft.com/office/officeart/2005/8/layout/cycle1"/>
    <dgm:cxn modelId="{F57B101F-7151-B24C-B6F1-B8BB2B596B0B}" type="presParOf" srcId="{0C37353C-EFB7-B045-9AB3-604D173CB3D5}" destId="{C079F55B-F99E-F34F-B0D8-493315F09995}" srcOrd="7" destOrd="0" presId="urn:microsoft.com/office/officeart/2005/8/layout/cycle1"/>
    <dgm:cxn modelId="{198FB18F-D212-F647-BCA9-B4EA8C7CBB22}" type="presParOf" srcId="{0C37353C-EFB7-B045-9AB3-604D173CB3D5}" destId="{EA67CF0B-EDB4-3648-9F73-8E093E43A2AB}" srcOrd="8" destOrd="0" presId="urn:microsoft.com/office/officeart/2005/8/layout/cycle1"/>
    <dgm:cxn modelId="{6CECD35D-860F-7A4D-9CCE-E946DC7739CF}" type="presParOf" srcId="{0C37353C-EFB7-B045-9AB3-604D173CB3D5}" destId="{3A7E1AE7-2940-064C-82B7-C51C3830FDE8}" srcOrd="9" destOrd="0" presId="urn:microsoft.com/office/officeart/2005/8/layout/cycle1"/>
    <dgm:cxn modelId="{295E482D-ACAF-1B41-B363-FD7AA436F7C9}" type="presParOf" srcId="{0C37353C-EFB7-B045-9AB3-604D173CB3D5}" destId="{E5265FC8-A380-7344-9720-EC2791909CCB}" srcOrd="10" destOrd="0" presId="urn:microsoft.com/office/officeart/2005/8/layout/cycle1"/>
    <dgm:cxn modelId="{F3C0F644-A015-354C-B698-A79C8E8E6BFC}" type="presParOf" srcId="{0C37353C-EFB7-B045-9AB3-604D173CB3D5}" destId="{D2FD7792-2BFA-B84D-985B-D947E620AC84}" srcOrd="11" destOrd="0" presId="urn:microsoft.com/office/officeart/2005/8/layout/cycle1"/>
    <dgm:cxn modelId="{A96E7A95-43E1-FB48-91E0-AB3BAFE5BFCD}" type="presParOf" srcId="{0C37353C-EFB7-B045-9AB3-604D173CB3D5}" destId="{0B8F424C-6863-B449-9FAD-FFCA269E06B8}" srcOrd="12" destOrd="0" presId="urn:microsoft.com/office/officeart/2005/8/layout/cycle1"/>
    <dgm:cxn modelId="{CB288A1D-4B8A-BC4A-9E42-639D146371E7}" type="presParOf" srcId="{0C37353C-EFB7-B045-9AB3-604D173CB3D5}" destId="{F602909C-7B9D-8E4A-8A72-C00F9CB3D2D0}" srcOrd="13" destOrd="0" presId="urn:microsoft.com/office/officeart/2005/8/layout/cycle1"/>
    <dgm:cxn modelId="{47B4DCC6-3593-484C-A88B-26CA393725D8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/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2F44EE9F-A7A3-1B40-BF0A-64D2154F0617}" type="presOf" srcId="{7E50EA18-011A-1E45-9F3F-6CDDEFB01ED6}" destId="{419C75DD-620A-144C-B4B4-72EC9D8D14C2}" srcOrd="0" destOrd="0" presId="urn:microsoft.com/office/officeart/2005/8/layout/cycle1"/>
    <dgm:cxn modelId="{0C4587F2-0863-2F4F-BA18-5A7FB58BA65C}" type="presOf" srcId="{AB4FCA0B-B439-D54F-B96F-C41FD45ADE85}" destId="{71DAF3B9-D052-2148-91BA-20DF28A05BA6}" srcOrd="0" destOrd="0" presId="urn:microsoft.com/office/officeart/2005/8/layout/cycle1"/>
    <dgm:cxn modelId="{F8B3D6A3-47FB-1A49-A467-344D0E871282}" type="presOf" srcId="{B8DE69A7-EA35-D04C-ACBC-D9AD7F021215}" destId="{D2FD7792-2BFA-B84D-985B-D947E620AC84}" srcOrd="0" destOrd="0" presId="urn:microsoft.com/office/officeart/2005/8/layout/cycle1"/>
    <dgm:cxn modelId="{4731A564-BDEB-1E4D-9503-12958FAA9241}" type="presOf" srcId="{E4807543-92A2-5B48-950D-F5B1C30475A5}" destId="{E5265FC8-A380-7344-9720-EC2791909CCB}" srcOrd="0" destOrd="0" presId="urn:microsoft.com/office/officeart/2005/8/layout/cycle1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AA75F907-EC08-544A-ACB2-31A0A59EEE06}" type="presOf" srcId="{BB8B7978-31B7-7242-93C5-BBDAFBC45F35}" destId="{5445E6C8-77DF-E341-A87D-0F5E7096A9EF}" srcOrd="0" destOrd="0" presId="urn:microsoft.com/office/officeart/2005/8/layout/cycle1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53077865-AC9A-0F48-A4D6-401DBE796C04}" type="presOf" srcId="{F9470122-F22D-6548-99E6-D1E4EDE27527}" destId="{B16D6C61-F41A-224F-AABD-5EB6E96267E7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2BC4DB27-4210-2B4C-A663-A8FABBCC87B4}" type="presOf" srcId="{F6BA4FDA-6665-9547-AC89-5B08E78B306B}" destId="{32A278A7-50F2-4740-9172-36F2CB64B2ED}" srcOrd="0" destOrd="0" presId="urn:microsoft.com/office/officeart/2005/8/layout/cycle1"/>
    <dgm:cxn modelId="{47986C45-3315-064A-B297-55D48C4A9BDB}" type="presOf" srcId="{62BAA472-0F92-6440-9382-A54629F01E44}" destId="{C079F55B-F99E-F34F-B0D8-493315F09995}" srcOrd="0" destOrd="0" presId="urn:microsoft.com/office/officeart/2005/8/layout/cycle1"/>
    <dgm:cxn modelId="{BDBEB2A9-F99F-9A42-A0C0-A74B02B97D2E}" type="presOf" srcId="{F1B0F05F-B6B4-5B47-A0F1-4E4EC509CBE6}" destId="{F602909C-7B9D-8E4A-8A72-C00F9CB3D2D0}" srcOrd="0" destOrd="0" presId="urn:microsoft.com/office/officeart/2005/8/layout/cycle1"/>
    <dgm:cxn modelId="{53040F9C-9210-434A-9CC1-D1DDAFB25845}" type="presOf" srcId="{ACB64397-55B2-CC45-9BD0-C0B1F2960055}" destId="{EA67CF0B-EDB4-3648-9F73-8E093E43A2AB}" srcOrd="0" destOrd="0" presId="urn:microsoft.com/office/officeart/2005/8/layout/cycle1"/>
    <dgm:cxn modelId="{1986A7B1-0D0B-B94F-B94B-4CF88F4DB724}" type="presOf" srcId="{B3030BE5-3FC1-EB48-B134-F6D35BB49B50}" destId="{0C37353C-EFB7-B045-9AB3-604D173CB3D5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6353771C-C03F-B84A-8F72-852DE10C118F}" type="presParOf" srcId="{0C37353C-EFB7-B045-9AB3-604D173CB3D5}" destId="{663FEE7C-246B-BA47-8912-424CA99BB8A8}" srcOrd="0" destOrd="0" presId="urn:microsoft.com/office/officeart/2005/8/layout/cycle1"/>
    <dgm:cxn modelId="{2EC78752-F3EA-E641-BDA0-3B903B63B85C}" type="presParOf" srcId="{0C37353C-EFB7-B045-9AB3-604D173CB3D5}" destId="{B16D6C61-F41A-224F-AABD-5EB6E96267E7}" srcOrd="1" destOrd="0" presId="urn:microsoft.com/office/officeart/2005/8/layout/cycle1"/>
    <dgm:cxn modelId="{F99C9DF2-5F11-FA4C-BA8C-ADE64DE07B05}" type="presParOf" srcId="{0C37353C-EFB7-B045-9AB3-604D173CB3D5}" destId="{5445E6C8-77DF-E341-A87D-0F5E7096A9EF}" srcOrd="2" destOrd="0" presId="urn:microsoft.com/office/officeart/2005/8/layout/cycle1"/>
    <dgm:cxn modelId="{DFFC1042-CFBE-7A45-8810-FA46D7F718F5}" type="presParOf" srcId="{0C37353C-EFB7-B045-9AB3-604D173CB3D5}" destId="{FE9F8501-792B-6940-BF56-0D293658EDC4}" srcOrd="3" destOrd="0" presId="urn:microsoft.com/office/officeart/2005/8/layout/cycle1"/>
    <dgm:cxn modelId="{72280490-60E6-FB44-B871-AC812E1BECEC}" type="presParOf" srcId="{0C37353C-EFB7-B045-9AB3-604D173CB3D5}" destId="{32A278A7-50F2-4740-9172-36F2CB64B2ED}" srcOrd="4" destOrd="0" presId="urn:microsoft.com/office/officeart/2005/8/layout/cycle1"/>
    <dgm:cxn modelId="{B992A356-5B5A-F44E-B185-D8277A158A64}" type="presParOf" srcId="{0C37353C-EFB7-B045-9AB3-604D173CB3D5}" destId="{419C75DD-620A-144C-B4B4-72EC9D8D14C2}" srcOrd="5" destOrd="0" presId="urn:microsoft.com/office/officeart/2005/8/layout/cycle1"/>
    <dgm:cxn modelId="{9647D837-C606-3E40-A0C7-6668648A8FF2}" type="presParOf" srcId="{0C37353C-EFB7-B045-9AB3-604D173CB3D5}" destId="{56F08260-75C0-3244-80A8-DE640BFFE496}" srcOrd="6" destOrd="0" presId="urn:microsoft.com/office/officeart/2005/8/layout/cycle1"/>
    <dgm:cxn modelId="{974E2BF8-4E61-3E49-9BC3-1FA6D97E13C6}" type="presParOf" srcId="{0C37353C-EFB7-B045-9AB3-604D173CB3D5}" destId="{C079F55B-F99E-F34F-B0D8-493315F09995}" srcOrd="7" destOrd="0" presId="urn:microsoft.com/office/officeart/2005/8/layout/cycle1"/>
    <dgm:cxn modelId="{0CD37BA5-408D-F14D-B29E-CEBB4E907EFC}" type="presParOf" srcId="{0C37353C-EFB7-B045-9AB3-604D173CB3D5}" destId="{EA67CF0B-EDB4-3648-9F73-8E093E43A2AB}" srcOrd="8" destOrd="0" presId="urn:microsoft.com/office/officeart/2005/8/layout/cycle1"/>
    <dgm:cxn modelId="{BE8AB451-69EF-DD4D-B0BE-06153BF9E741}" type="presParOf" srcId="{0C37353C-EFB7-B045-9AB3-604D173CB3D5}" destId="{3A7E1AE7-2940-064C-82B7-C51C3830FDE8}" srcOrd="9" destOrd="0" presId="urn:microsoft.com/office/officeart/2005/8/layout/cycle1"/>
    <dgm:cxn modelId="{B533D737-3FE2-9242-AA75-4F6BA9EE7A2A}" type="presParOf" srcId="{0C37353C-EFB7-B045-9AB3-604D173CB3D5}" destId="{E5265FC8-A380-7344-9720-EC2791909CCB}" srcOrd="10" destOrd="0" presId="urn:microsoft.com/office/officeart/2005/8/layout/cycle1"/>
    <dgm:cxn modelId="{05F9C7B1-5FB4-9548-BA09-B5F002E07375}" type="presParOf" srcId="{0C37353C-EFB7-B045-9AB3-604D173CB3D5}" destId="{D2FD7792-2BFA-B84D-985B-D947E620AC84}" srcOrd="11" destOrd="0" presId="urn:microsoft.com/office/officeart/2005/8/layout/cycle1"/>
    <dgm:cxn modelId="{48F447C3-4C6C-9449-8F15-654B5B8C033B}" type="presParOf" srcId="{0C37353C-EFB7-B045-9AB3-604D173CB3D5}" destId="{0B8F424C-6863-B449-9FAD-FFCA269E06B8}" srcOrd="12" destOrd="0" presId="urn:microsoft.com/office/officeart/2005/8/layout/cycle1"/>
    <dgm:cxn modelId="{1F42321E-275A-8849-898F-6B7A5F1C73D7}" type="presParOf" srcId="{0C37353C-EFB7-B045-9AB3-604D173CB3D5}" destId="{F602909C-7B9D-8E4A-8A72-C00F9CB3D2D0}" srcOrd="13" destOrd="0" presId="urn:microsoft.com/office/officeart/2005/8/layout/cycle1"/>
    <dgm:cxn modelId="{C9CBE4E0-700A-9942-9BC9-37B537E6ECF0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030BE5-3FC1-EB48-B134-F6D35BB49B50}" type="doc">
      <dgm:prSet loTypeId="urn:microsoft.com/office/officeart/2005/8/layout/cycle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470122-F22D-6548-99E6-D1E4EDE27527}">
      <dgm:prSet phldrT="[Text]"/>
      <dgm:spPr/>
      <dgm:t>
        <a:bodyPr/>
        <a:lstStyle/>
        <a:p>
          <a:r>
            <a:rPr lang="en-US" dirty="0" smtClean="0"/>
            <a:t>Intel</a:t>
          </a:r>
          <a:endParaRPr lang="en-US" dirty="0"/>
        </a:p>
      </dgm:t>
    </dgm:pt>
    <dgm:pt modelId="{3FB6C14A-345B-9840-AE0D-CBFE704676AB}" type="parTrans" cxnId="{F6A933AA-26C3-C64A-AF0D-A1FC08784086}">
      <dgm:prSet/>
      <dgm:spPr/>
      <dgm:t>
        <a:bodyPr/>
        <a:lstStyle/>
        <a:p>
          <a:endParaRPr lang="en-US"/>
        </a:p>
      </dgm:t>
    </dgm:pt>
    <dgm:pt modelId="{BB8B7978-31B7-7242-93C5-BBDAFBC45F35}" type="sibTrans" cxnId="{F6A933AA-26C3-C64A-AF0D-A1FC08784086}">
      <dgm:prSet/>
      <dgm:spPr/>
      <dgm:t>
        <a:bodyPr/>
        <a:lstStyle/>
        <a:p>
          <a:endParaRPr lang="en-US"/>
        </a:p>
      </dgm:t>
    </dgm:pt>
    <dgm:pt modelId="{F6BA4FDA-6665-9547-AC89-5B08E78B306B}">
      <dgm:prSet phldrT="[Text]"/>
      <dgm:spPr/>
      <dgm:t>
        <a:bodyPr/>
        <a:lstStyle/>
        <a:p>
          <a:r>
            <a:rPr lang="en-US" dirty="0" smtClean="0"/>
            <a:t>Detect</a:t>
          </a:r>
          <a:endParaRPr lang="en-US" dirty="0"/>
        </a:p>
      </dgm:t>
    </dgm:pt>
    <dgm:pt modelId="{6A71A291-38CF-B948-BED8-F30B15629E91}" type="parTrans" cxnId="{55C3BCD3-CF3C-ED45-AE91-9B5F47536081}">
      <dgm:prSet/>
      <dgm:spPr/>
      <dgm:t>
        <a:bodyPr/>
        <a:lstStyle/>
        <a:p>
          <a:endParaRPr lang="en-US"/>
        </a:p>
      </dgm:t>
    </dgm:pt>
    <dgm:pt modelId="{7E50EA18-011A-1E45-9F3F-6CDDEFB01ED6}" type="sibTrans" cxnId="{55C3BCD3-CF3C-ED45-AE91-9B5F47536081}">
      <dgm:prSet/>
      <dgm:spPr/>
      <dgm:t>
        <a:bodyPr/>
        <a:lstStyle/>
        <a:p>
          <a:endParaRPr lang="en-US"/>
        </a:p>
      </dgm:t>
    </dgm:pt>
    <dgm:pt modelId="{62BAA472-0F92-6440-9382-A54629F01E44}">
      <dgm:prSet phldrT="[Text]"/>
      <dgm:spPr/>
      <dgm:t>
        <a:bodyPr/>
        <a:lstStyle/>
        <a:p>
          <a:r>
            <a:rPr lang="en-US" dirty="0" smtClean="0"/>
            <a:t>Respond</a:t>
          </a:r>
          <a:endParaRPr lang="en-US" dirty="0"/>
        </a:p>
      </dgm:t>
    </dgm:pt>
    <dgm:pt modelId="{B84F06AC-E268-B946-AB9F-7201AD1B33F5}" type="parTrans" cxnId="{49F774CF-655B-EF4B-B5D3-758C438C1503}">
      <dgm:prSet/>
      <dgm:spPr/>
      <dgm:t>
        <a:bodyPr/>
        <a:lstStyle/>
        <a:p>
          <a:endParaRPr lang="en-US"/>
        </a:p>
      </dgm:t>
    </dgm:pt>
    <dgm:pt modelId="{ACB64397-55B2-CC45-9BD0-C0B1F2960055}" type="sibTrans" cxnId="{49F774CF-655B-EF4B-B5D3-758C438C1503}">
      <dgm:prSet/>
      <dgm:spPr/>
      <dgm:t>
        <a:bodyPr/>
        <a:lstStyle/>
        <a:p>
          <a:endParaRPr lang="en-US"/>
        </a:p>
      </dgm:t>
    </dgm:pt>
    <dgm:pt modelId="{E4807543-92A2-5B48-950D-F5B1C30475A5}">
      <dgm:prSet phldrT="[Text]"/>
      <dgm:spPr/>
      <dgm:t>
        <a:bodyPr/>
        <a:lstStyle/>
        <a:p>
          <a:r>
            <a:rPr lang="en-US" dirty="0" smtClean="0"/>
            <a:t>Prevent</a:t>
          </a:r>
          <a:endParaRPr lang="en-US" dirty="0"/>
        </a:p>
      </dgm:t>
    </dgm:pt>
    <dgm:pt modelId="{743586AD-9A21-1F45-9D9A-6C6D762DB2E9}" type="parTrans" cxnId="{6BFF9245-ECE3-854B-8C98-DB459239E949}">
      <dgm:prSet/>
      <dgm:spPr/>
      <dgm:t>
        <a:bodyPr/>
        <a:lstStyle/>
        <a:p>
          <a:endParaRPr lang="en-US"/>
        </a:p>
      </dgm:t>
    </dgm:pt>
    <dgm:pt modelId="{B8DE69A7-EA35-D04C-ACBC-D9AD7F021215}" type="sibTrans" cxnId="{6BFF9245-ECE3-854B-8C98-DB459239E949}">
      <dgm:prSet/>
      <dgm:spPr/>
      <dgm:t>
        <a:bodyPr/>
        <a:lstStyle/>
        <a:p>
          <a:endParaRPr lang="en-US"/>
        </a:p>
      </dgm:t>
    </dgm:pt>
    <dgm:pt modelId="{F1B0F05F-B6B4-5B47-A0F1-4E4EC509CBE6}">
      <dgm:prSet phldrT="[Text]"/>
      <dgm:spPr>
        <a:effectLst>
          <a:glow rad="1016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dirty="0" smtClean="0"/>
            <a:t>Prepare</a:t>
          </a:r>
          <a:endParaRPr lang="en-US" dirty="0"/>
        </a:p>
      </dgm:t>
    </dgm:pt>
    <dgm:pt modelId="{AEA0BE0B-D132-224D-B6A9-E26B39C695CB}" type="parTrans" cxnId="{1CA5B92C-1A75-834C-A350-4541BEF35E31}">
      <dgm:prSet/>
      <dgm:spPr/>
      <dgm:t>
        <a:bodyPr/>
        <a:lstStyle/>
        <a:p>
          <a:endParaRPr lang="en-US"/>
        </a:p>
      </dgm:t>
    </dgm:pt>
    <dgm:pt modelId="{AB4FCA0B-B439-D54F-B96F-C41FD45ADE85}" type="sibTrans" cxnId="{1CA5B92C-1A75-834C-A350-4541BEF35E31}">
      <dgm:prSet/>
      <dgm:spPr/>
      <dgm:t>
        <a:bodyPr/>
        <a:lstStyle/>
        <a:p>
          <a:endParaRPr lang="en-US"/>
        </a:p>
      </dgm:t>
    </dgm:pt>
    <dgm:pt modelId="{0C37353C-EFB7-B045-9AB3-604D173CB3D5}" type="pres">
      <dgm:prSet presAssocID="{B3030BE5-3FC1-EB48-B134-F6D35BB49B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3FEE7C-246B-BA47-8912-424CA99BB8A8}" type="pres">
      <dgm:prSet presAssocID="{F9470122-F22D-6548-99E6-D1E4EDE27527}" presName="dummy" presStyleCnt="0"/>
      <dgm:spPr/>
    </dgm:pt>
    <dgm:pt modelId="{B16D6C61-F41A-224F-AABD-5EB6E96267E7}" type="pres">
      <dgm:prSet presAssocID="{F9470122-F22D-6548-99E6-D1E4EDE2752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5E6C8-77DF-E341-A87D-0F5E7096A9EF}" type="pres">
      <dgm:prSet presAssocID="{BB8B7978-31B7-7242-93C5-BBDAFBC45F35}" presName="sibTrans" presStyleLbl="node1" presStyleIdx="0" presStyleCnt="5"/>
      <dgm:spPr/>
      <dgm:t>
        <a:bodyPr/>
        <a:lstStyle/>
        <a:p>
          <a:endParaRPr lang="en-US"/>
        </a:p>
      </dgm:t>
    </dgm:pt>
    <dgm:pt modelId="{FE9F8501-792B-6940-BF56-0D293658EDC4}" type="pres">
      <dgm:prSet presAssocID="{F6BA4FDA-6665-9547-AC89-5B08E78B306B}" presName="dummy" presStyleCnt="0"/>
      <dgm:spPr/>
    </dgm:pt>
    <dgm:pt modelId="{32A278A7-50F2-4740-9172-36F2CB64B2ED}" type="pres">
      <dgm:prSet presAssocID="{F6BA4FDA-6665-9547-AC89-5B08E78B306B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9C75DD-620A-144C-B4B4-72EC9D8D14C2}" type="pres">
      <dgm:prSet presAssocID="{7E50EA18-011A-1E45-9F3F-6CDDEFB01ED6}" presName="sibTrans" presStyleLbl="node1" presStyleIdx="1" presStyleCnt="5"/>
      <dgm:spPr/>
      <dgm:t>
        <a:bodyPr/>
        <a:lstStyle/>
        <a:p>
          <a:endParaRPr lang="en-US"/>
        </a:p>
      </dgm:t>
    </dgm:pt>
    <dgm:pt modelId="{56F08260-75C0-3244-80A8-DE640BFFE496}" type="pres">
      <dgm:prSet presAssocID="{62BAA472-0F92-6440-9382-A54629F01E44}" presName="dummy" presStyleCnt="0"/>
      <dgm:spPr/>
    </dgm:pt>
    <dgm:pt modelId="{C079F55B-F99E-F34F-B0D8-493315F09995}" type="pres">
      <dgm:prSet presAssocID="{62BAA472-0F92-6440-9382-A54629F01E44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67CF0B-EDB4-3648-9F73-8E093E43A2AB}" type="pres">
      <dgm:prSet presAssocID="{ACB64397-55B2-CC45-9BD0-C0B1F2960055}" presName="sibTrans" presStyleLbl="node1" presStyleIdx="2" presStyleCnt="5"/>
      <dgm:spPr/>
      <dgm:t>
        <a:bodyPr/>
        <a:lstStyle/>
        <a:p>
          <a:endParaRPr lang="en-US"/>
        </a:p>
      </dgm:t>
    </dgm:pt>
    <dgm:pt modelId="{3A7E1AE7-2940-064C-82B7-C51C3830FDE8}" type="pres">
      <dgm:prSet presAssocID="{E4807543-92A2-5B48-950D-F5B1C30475A5}" presName="dummy" presStyleCnt="0"/>
      <dgm:spPr/>
    </dgm:pt>
    <dgm:pt modelId="{E5265FC8-A380-7344-9720-EC2791909CCB}" type="pres">
      <dgm:prSet presAssocID="{E4807543-92A2-5B48-950D-F5B1C30475A5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FD7792-2BFA-B84D-985B-D947E620AC84}" type="pres">
      <dgm:prSet presAssocID="{B8DE69A7-EA35-D04C-ACBC-D9AD7F021215}" presName="sibTrans" presStyleLbl="node1" presStyleIdx="3" presStyleCnt="5" custLinFactNeighborX="566" custLinFactNeighborY="-8"/>
      <dgm:spPr/>
      <dgm:t>
        <a:bodyPr/>
        <a:lstStyle/>
        <a:p>
          <a:endParaRPr lang="en-US"/>
        </a:p>
      </dgm:t>
    </dgm:pt>
    <dgm:pt modelId="{0B8F424C-6863-B449-9FAD-FFCA269E06B8}" type="pres">
      <dgm:prSet presAssocID="{F1B0F05F-B6B4-5B47-A0F1-4E4EC509CBE6}" presName="dummy" presStyleCnt="0"/>
      <dgm:spPr/>
    </dgm:pt>
    <dgm:pt modelId="{F602909C-7B9D-8E4A-8A72-C00F9CB3D2D0}" type="pres">
      <dgm:prSet presAssocID="{F1B0F05F-B6B4-5B47-A0F1-4E4EC509CBE6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AF3B9-D052-2148-91BA-20DF28A05BA6}" type="pres">
      <dgm:prSet presAssocID="{AB4FCA0B-B439-D54F-B96F-C41FD45ADE85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67363475-DF4F-9E4E-8040-BA19BDAC5428}" type="presOf" srcId="{B8DE69A7-EA35-D04C-ACBC-D9AD7F021215}" destId="{D2FD7792-2BFA-B84D-985B-D947E620AC84}" srcOrd="0" destOrd="0" presId="urn:microsoft.com/office/officeart/2005/8/layout/cycle1"/>
    <dgm:cxn modelId="{D91EDCD6-D7A8-A449-9E13-6EA23D698CB2}" type="presOf" srcId="{F1B0F05F-B6B4-5B47-A0F1-4E4EC509CBE6}" destId="{F602909C-7B9D-8E4A-8A72-C00F9CB3D2D0}" srcOrd="0" destOrd="0" presId="urn:microsoft.com/office/officeart/2005/8/layout/cycle1"/>
    <dgm:cxn modelId="{4ABDF5FC-8C04-3241-9296-993ABB53C224}" type="presOf" srcId="{BB8B7978-31B7-7242-93C5-BBDAFBC45F35}" destId="{5445E6C8-77DF-E341-A87D-0F5E7096A9EF}" srcOrd="0" destOrd="0" presId="urn:microsoft.com/office/officeart/2005/8/layout/cycle1"/>
    <dgm:cxn modelId="{3EF7C150-9626-D443-A674-D3ED69C23759}" type="presOf" srcId="{B3030BE5-3FC1-EB48-B134-F6D35BB49B50}" destId="{0C37353C-EFB7-B045-9AB3-604D173CB3D5}" srcOrd="0" destOrd="0" presId="urn:microsoft.com/office/officeart/2005/8/layout/cycle1"/>
    <dgm:cxn modelId="{FFF0F379-3C1F-3D40-A982-1A41C0A5AF85}" type="presOf" srcId="{7E50EA18-011A-1E45-9F3F-6CDDEFB01ED6}" destId="{419C75DD-620A-144C-B4B4-72EC9D8D14C2}" srcOrd="0" destOrd="0" presId="urn:microsoft.com/office/officeart/2005/8/layout/cycle1"/>
    <dgm:cxn modelId="{77337285-DB35-B24B-9B8D-5C35A2F85007}" type="presOf" srcId="{ACB64397-55B2-CC45-9BD0-C0B1F2960055}" destId="{EA67CF0B-EDB4-3648-9F73-8E093E43A2AB}" srcOrd="0" destOrd="0" presId="urn:microsoft.com/office/officeart/2005/8/layout/cycle1"/>
    <dgm:cxn modelId="{96BCEE51-4322-1548-94A9-3951C4594554}" type="presOf" srcId="{62BAA472-0F92-6440-9382-A54629F01E44}" destId="{C079F55B-F99E-F34F-B0D8-493315F09995}" srcOrd="0" destOrd="0" presId="urn:microsoft.com/office/officeart/2005/8/layout/cycle1"/>
    <dgm:cxn modelId="{946384AA-AB3B-D54A-800B-69E619C68903}" type="presOf" srcId="{AB4FCA0B-B439-D54F-B96F-C41FD45ADE85}" destId="{71DAF3B9-D052-2148-91BA-20DF28A05BA6}" srcOrd="0" destOrd="0" presId="urn:microsoft.com/office/officeart/2005/8/layout/cycle1"/>
    <dgm:cxn modelId="{55C3BCD3-CF3C-ED45-AE91-9B5F47536081}" srcId="{B3030BE5-3FC1-EB48-B134-F6D35BB49B50}" destId="{F6BA4FDA-6665-9547-AC89-5B08E78B306B}" srcOrd="1" destOrd="0" parTransId="{6A71A291-38CF-B948-BED8-F30B15629E91}" sibTransId="{7E50EA18-011A-1E45-9F3F-6CDDEFB01ED6}"/>
    <dgm:cxn modelId="{F6A933AA-26C3-C64A-AF0D-A1FC08784086}" srcId="{B3030BE5-3FC1-EB48-B134-F6D35BB49B50}" destId="{F9470122-F22D-6548-99E6-D1E4EDE27527}" srcOrd="0" destOrd="0" parTransId="{3FB6C14A-345B-9840-AE0D-CBFE704676AB}" sibTransId="{BB8B7978-31B7-7242-93C5-BBDAFBC45F35}"/>
    <dgm:cxn modelId="{1CA5B92C-1A75-834C-A350-4541BEF35E31}" srcId="{B3030BE5-3FC1-EB48-B134-F6D35BB49B50}" destId="{F1B0F05F-B6B4-5B47-A0F1-4E4EC509CBE6}" srcOrd="4" destOrd="0" parTransId="{AEA0BE0B-D132-224D-B6A9-E26B39C695CB}" sibTransId="{AB4FCA0B-B439-D54F-B96F-C41FD45ADE85}"/>
    <dgm:cxn modelId="{0BFC2680-35E7-4640-B8A1-4D4E10C67435}" type="presOf" srcId="{F6BA4FDA-6665-9547-AC89-5B08E78B306B}" destId="{32A278A7-50F2-4740-9172-36F2CB64B2ED}" srcOrd="0" destOrd="0" presId="urn:microsoft.com/office/officeart/2005/8/layout/cycle1"/>
    <dgm:cxn modelId="{6BFF9245-ECE3-854B-8C98-DB459239E949}" srcId="{B3030BE5-3FC1-EB48-B134-F6D35BB49B50}" destId="{E4807543-92A2-5B48-950D-F5B1C30475A5}" srcOrd="3" destOrd="0" parTransId="{743586AD-9A21-1F45-9D9A-6C6D762DB2E9}" sibTransId="{B8DE69A7-EA35-D04C-ACBC-D9AD7F021215}"/>
    <dgm:cxn modelId="{1841F66D-D03C-ED4B-BCDA-5428662A1436}" type="presOf" srcId="{E4807543-92A2-5B48-950D-F5B1C30475A5}" destId="{E5265FC8-A380-7344-9720-EC2791909CCB}" srcOrd="0" destOrd="0" presId="urn:microsoft.com/office/officeart/2005/8/layout/cycle1"/>
    <dgm:cxn modelId="{49F774CF-655B-EF4B-B5D3-758C438C1503}" srcId="{B3030BE5-3FC1-EB48-B134-F6D35BB49B50}" destId="{62BAA472-0F92-6440-9382-A54629F01E44}" srcOrd="2" destOrd="0" parTransId="{B84F06AC-E268-B946-AB9F-7201AD1B33F5}" sibTransId="{ACB64397-55B2-CC45-9BD0-C0B1F2960055}"/>
    <dgm:cxn modelId="{45F1BD5E-EE02-DC46-876F-41EDEB1C3196}" type="presOf" srcId="{F9470122-F22D-6548-99E6-D1E4EDE27527}" destId="{B16D6C61-F41A-224F-AABD-5EB6E96267E7}" srcOrd="0" destOrd="0" presId="urn:microsoft.com/office/officeart/2005/8/layout/cycle1"/>
    <dgm:cxn modelId="{DB751345-3497-4D4F-A01F-584A4FFA9ECB}" type="presParOf" srcId="{0C37353C-EFB7-B045-9AB3-604D173CB3D5}" destId="{663FEE7C-246B-BA47-8912-424CA99BB8A8}" srcOrd="0" destOrd="0" presId="urn:microsoft.com/office/officeart/2005/8/layout/cycle1"/>
    <dgm:cxn modelId="{19771AD8-5C1C-5F45-B6C9-C064A78B1817}" type="presParOf" srcId="{0C37353C-EFB7-B045-9AB3-604D173CB3D5}" destId="{B16D6C61-F41A-224F-AABD-5EB6E96267E7}" srcOrd="1" destOrd="0" presId="urn:microsoft.com/office/officeart/2005/8/layout/cycle1"/>
    <dgm:cxn modelId="{406C9D98-BF21-8E43-BFB5-78AC7865BC41}" type="presParOf" srcId="{0C37353C-EFB7-B045-9AB3-604D173CB3D5}" destId="{5445E6C8-77DF-E341-A87D-0F5E7096A9EF}" srcOrd="2" destOrd="0" presId="urn:microsoft.com/office/officeart/2005/8/layout/cycle1"/>
    <dgm:cxn modelId="{385EEEE5-3C0B-8E4F-9F6D-F00F630F6319}" type="presParOf" srcId="{0C37353C-EFB7-B045-9AB3-604D173CB3D5}" destId="{FE9F8501-792B-6940-BF56-0D293658EDC4}" srcOrd="3" destOrd="0" presId="urn:microsoft.com/office/officeart/2005/8/layout/cycle1"/>
    <dgm:cxn modelId="{EC544AF1-4F26-D24F-8FDF-9BD12D68244C}" type="presParOf" srcId="{0C37353C-EFB7-B045-9AB3-604D173CB3D5}" destId="{32A278A7-50F2-4740-9172-36F2CB64B2ED}" srcOrd="4" destOrd="0" presId="urn:microsoft.com/office/officeart/2005/8/layout/cycle1"/>
    <dgm:cxn modelId="{BD89CD6F-CB46-304A-95C9-E4DAE7598C2F}" type="presParOf" srcId="{0C37353C-EFB7-B045-9AB3-604D173CB3D5}" destId="{419C75DD-620A-144C-B4B4-72EC9D8D14C2}" srcOrd="5" destOrd="0" presId="urn:microsoft.com/office/officeart/2005/8/layout/cycle1"/>
    <dgm:cxn modelId="{299AD5C2-6E48-B241-B4B0-1FC13D6A21FE}" type="presParOf" srcId="{0C37353C-EFB7-B045-9AB3-604D173CB3D5}" destId="{56F08260-75C0-3244-80A8-DE640BFFE496}" srcOrd="6" destOrd="0" presId="urn:microsoft.com/office/officeart/2005/8/layout/cycle1"/>
    <dgm:cxn modelId="{25EEF9E7-3EE4-F64F-ABE5-C8DD287D97CE}" type="presParOf" srcId="{0C37353C-EFB7-B045-9AB3-604D173CB3D5}" destId="{C079F55B-F99E-F34F-B0D8-493315F09995}" srcOrd="7" destOrd="0" presId="urn:microsoft.com/office/officeart/2005/8/layout/cycle1"/>
    <dgm:cxn modelId="{32770081-7AF9-2F47-BA2C-DB951F058944}" type="presParOf" srcId="{0C37353C-EFB7-B045-9AB3-604D173CB3D5}" destId="{EA67CF0B-EDB4-3648-9F73-8E093E43A2AB}" srcOrd="8" destOrd="0" presId="urn:microsoft.com/office/officeart/2005/8/layout/cycle1"/>
    <dgm:cxn modelId="{C5B23A39-5D4F-5D46-AD9B-DB6355A303AD}" type="presParOf" srcId="{0C37353C-EFB7-B045-9AB3-604D173CB3D5}" destId="{3A7E1AE7-2940-064C-82B7-C51C3830FDE8}" srcOrd="9" destOrd="0" presId="urn:microsoft.com/office/officeart/2005/8/layout/cycle1"/>
    <dgm:cxn modelId="{5F3B1A1B-EAF2-4948-9BEC-F171D3701599}" type="presParOf" srcId="{0C37353C-EFB7-B045-9AB3-604D173CB3D5}" destId="{E5265FC8-A380-7344-9720-EC2791909CCB}" srcOrd="10" destOrd="0" presId="urn:microsoft.com/office/officeart/2005/8/layout/cycle1"/>
    <dgm:cxn modelId="{528BE0BD-1D46-C146-A653-DC36E29B574D}" type="presParOf" srcId="{0C37353C-EFB7-B045-9AB3-604D173CB3D5}" destId="{D2FD7792-2BFA-B84D-985B-D947E620AC84}" srcOrd="11" destOrd="0" presId="urn:microsoft.com/office/officeart/2005/8/layout/cycle1"/>
    <dgm:cxn modelId="{05824E63-1609-DF41-8ADC-F834AB2842F7}" type="presParOf" srcId="{0C37353C-EFB7-B045-9AB3-604D173CB3D5}" destId="{0B8F424C-6863-B449-9FAD-FFCA269E06B8}" srcOrd="12" destOrd="0" presId="urn:microsoft.com/office/officeart/2005/8/layout/cycle1"/>
    <dgm:cxn modelId="{4DBBDB54-AB45-D646-B24D-3EB887282EE5}" type="presParOf" srcId="{0C37353C-EFB7-B045-9AB3-604D173CB3D5}" destId="{F602909C-7B9D-8E4A-8A72-C00F9CB3D2D0}" srcOrd="13" destOrd="0" presId="urn:microsoft.com/office/officeart/2005/8/layout/cycle1"/>
    <dgm:cxn modelId="{CB48E3C2-BE88-6E4F-8335-C2723DE06AB0}" type="presParOf" srcId="{0C37353C-EFB7-B045-9AB3-604D173CB3D5}" destId="{71DAF3B9-D052-2148-91BA-20DF28A05BA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3528499" y="29355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Intel</a:t>
          </a:r>
          <a:endParaRPr lang="en-US" sz="2100" kern="1200" dirty="0"/>
        </a:p>
      </dsp:txBody>
      <dsp:txXfrm>
        <a:off x="3528499" y="29355"/>
        <a:ext cx="1006078" cy="1006078"/>
      </dsp:txXfrm>
    </dsp:sp>
    <dsp:sp modelId="{5445E6C8-77DF-E341-A87D-0F5E7096A9EF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4136359" y="1900156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Detect</a:t>
          </a:r>
          <a:endParaRPr lang="en-US" sz="2100" kern="1200" dirty="0"/>
        </a:p>
      </dsp:txBody>
      <dsp:txXfrm>
        <a:off x="4136359" y="1900156"/>
        <a:ext cx="1006078" cy="1006078"/>
      </dsp:txXfrm>
    </dsp:sp>
    <dsp:sp modelId="{419C75DD-620A-144C-B4B4-72EC9D8D14C2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2544960" y="3056374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Respond</a:t>
          </a:r>
          <a:endParaRPr lang="en-US" sz="2100" kern="1200" dirty="0"/>
        </a:p>
      </dsp:txBody>
      <dsp:txXfrm>
        <a:off x="2544960" y="3056374"/>
        <a:ext cx="1006078" cy="1006078"/>
      </dsp:txXfrm>
    </dsp:sp>
    <dsp:sp modelId="{EA67CF0B-EDB4-3648-9F73-8E093E43A2AB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953562" y="1900156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Prevent</a:t>
          </a:r>
          <a:endParaRPr lang="en-US" sz="2100" kern="1200" dirty="0"/>
        </a:p>
      </dsp:txBody>
      <dsp:txXfrm>
        <a:off x="953562" y="1900156"/>
        <a:ext cx="1006078" cy="1006078"/>
      </dsp:txXfrm>
    </dsp:sp>
    <dsp:sp modelId="{D2FD7792-2BFA-B84D-985B-D947E620AC84}">
      <dsp:nvSpPr>
        <dsp:cNvPr id="0" name=""/>
        <dsp:cNvSpPr/>
      </dsp:nvSpPr>
      <dsp:spPr>
        <a:xfrm>
          <a:off x="1183518" y="-12"/>
          <a:ext cx="3771658" cy="3771658"/>
        </a:xfrm>
        <a:prstGeom prst="circularArrow">
          <a:avLst>
            <a:gd name="adj1" fmla="val 5202"/>
            <a:gd name="adj2" fmla="val 336015"/>
            <a:gd name="adj3" fmla="val 12888709"/>
            <a:gd name="adj4" fmla="val 10771160"/>
            <a:gd name="adj5" fmla="val 6068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1561422" y="263434"/>
          <a:ext cx="1006078" cy="537919"/>
        </a:xfrm>
        <a:prstGeom prst="rect">
          <a:avLst/>
        </a:prstGeom>
        <a:noFill/>
        <a:ln>
          <a:noFill/>
        </a:ln>
        <a:effectLst>
          <a:glow rad="101600">
            <a:srgbClr val="FF0000">
              <a:alpha val="40000"/>
            </a:srgbClr>
          </a:glow>
        </a:effectLst>
        <a:scene3d>
          <a:camera prst="perspectiveAbove"/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Prepare</a:t>
          </a:r>
          <a:endParaRPr lang="en-US" sz="2100" kern="1200" dirty="0"/>
        </a:p>
      </dsp:txBody>
      <dsp:txXfrm>
        <a:off x="1561422" y="263434"/>
        <a:ext cx="1006078" cy="537919"/>
      </dsp:txXfrm>
    </dsp:sp>
    <dsp:sp modelId="{71DAF3B9-D052-2148-91BA-20DF28A05BA6}">
      <dsp:nvSpPr>
        <dsp:cNvPr id="0" name=""/>
        <dsp:cNvSpPr/>
      </dsp:nvSpPr>
      <dsp:spPr>
        <a:xfrm>
          <a:off x="1178238" y="289"/>
          <a:ext cx="3771658" cy="377165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4800096" y="371043"/>
          <a:ext cx="819436" cy="445015"/>
        </a:xfrm>
        <a:prstGeom prst="rect">
          <a:avLst/>
        </a:prstGeom>
        <a:noFill/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Intel</a:t>
          </a:r>
          <a:endParaRPr lang="en-US" sz="2300" kern="1200" dirty="0"/>
        </a:p>
      </dsp:txBody>
      <dsp:txXfrm>
        <a:off x="4800096" y="371043"/>
        <a:ext cx="819436" cy="445015"/>
      </dsp:txXfrm>
    </dsp:sp>
    <dsp:sp modelId="{5445E6C8-77DF-E341-A87D-0F5E7096A9EF}">
      <dsp:nvSpPr>
        <dsp:cNvPr id="0" name=""/>
        <dsp:cNvSpPr/>
      </dsp:nvSpPr>
      <dsp:spPr>
        <a:xfrm>
          <a:off x="2015436" y="252640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8984194"/>
            <a:gd name="adj5" fmla="val 6064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5327014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Detect</a:t>
          </a:r>
          <a:endParaRPr lang="en-US" sz="2300" kern="1200" dirty="0"/>
        </a:p>
      </dsp:txBody>
      <dsp:txXfrm>
        <a:off x="5327014" y="2116836"/>
        <a:ext cx="1119113" cy="1119113"/>
      </dsp:txXfrm>
    </dsp:sp>
    <dsp:sp modelId="{419C75DD-620A-144C-B4B4-72EC9D8D14C2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3555243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Respond</a:t>
          </a:r>
          <a:endParaRPr lang="en-US" sz="2300" kern="1200" dirty="0"/>
        </a:p>
      </dsp:txBody>
      <dsp:txXfrm>
        <a:off x="3555243" y="3404103"/>
        <a:ext cx="1119113" cy="1119113"/>
      </dsp:txXfrm>
    </dsp:sp>
    <dsp:sp modelId="{EA67CF0B-EDB4-3648-9F73-8E093E43A2AB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1783472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Prevent</a:t>
          </a:r>
          <a:endParaRPr lang="en-US" sz="2300" kern="1200" dirty="0"/>
        </a:p>
      </dsp:txBody>
      <dsp:txXfrm>
        <a:off x="1783472" y="2116836"/>
        <a:ext cx="1119113" cy="1119113"/>
      </dsp:txXfrm>
    </dsp:sp>
    <dsp:sp modelId="{D2FD7792-2BFA-B84D-985B-D947E620AC84}">
      <dsp:nvSpPr>
        <dsp:cNvPr id="0" name=""/>
        <dsp:cNvSpPr/>
      </dsp:nvSpPr>
      <dsp:spPr>
        <a:xfrm>
          <a:off x="2039212" y="2367"/>
          <a:ext cx="4198726" cy="4198726"/>
        </a:xfrm>
        <a:prstGeom prst="circularArrow">
          <a:avLst>
            <a:gd name="adj1" fmla="val 5197"/>
            <a:gd name="adj2" fmla="val 335716"/>
            <a:gd name="adj3" fmla="val 12161465"/>
            <a:gd name="adj4" fmla="val 10772743"/>
            <a:gd name="adj5" fmla="val 606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2375566" y="100140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Prepare</a:t>
          </a:r>
          <a:endParaRPr lang="en-US" sz="2300" kern="1200" dirty="0"/>
        </a:p>
      </dsp:txBody>
      <dsp:txXfrm>
        <a:off x="2375566" y="100140"/>
        <a:ext cx="1119113" cy="1119113"/>
      </dsp:txXfrm>
    </dsp:sp>
    <dsp:sp modelId="{71DAF3B9-D052-2148-91BA-20DF28A05BA6}">
      <dsp:nvSpPr>
        <dsp:cNvPr id="0" name=""/>
        <dsp:cNvSpPr/>
      </dsp:nvSpPr>
      <dsp:spPr>
        <a:xfrm>
          <a:off x="1897321" y="1714"/>
          <a:ext cx="4198726" cy="4198726"/>
        </a:xfrm>
        <a:prstGeom prst="circularArrow">
          <a:avLst>
            <a:gd name="adj1" fmla="val 5197"/>
            <a:gd name="adj2" fmla="val 335716"/>
            <a:gd name="adj3" fmla="val 17170741"/>
            <a:gd name="adj4" fmla="val 15031619"/>
            <a:gd name="adj5" fmla="val 6064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4651069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Intel</a:t>
          </a:r>
          <a:endParaRPr lang="en-US" sz="2300" kern="1200" dirty="0"/>
        </a:p>
      </dsp:txBody>
      <dsp:txXfrm>
        <a:off x="4651069" y="33995"/>
        <a:ext cx="1119113" cy="1119113"/>
      </dsp:txXfrm>
    </dsp:sp>
    <dsp:sp modelId="{5445E6C8-77DF-E341-A87D-0F5E7096A9EF}">
      <dsp:nvSpPr>
        <dsp:cNvPr id="0" name=""/>
        <dsp:cNvSpPr/>
      </dsp:nvSpPr>
      <dsp:spPr>
        <a:xfrm>
          <a:off x="2016248" y="1347"/>
          <a:ext cx="4198726" cy="4198726"/>
        </a:xfrm>
        <a:prstGeom prst="circularArrow">
          <a:avLst>
            <a:gd name="adj1" fmla="val 5197"/>
            <a:gd name="adj2" fmla="val 335716"/>
            <a:gd name="adj3" fmla="val 14101"/>
            <a:gd name="adj4" fmla="val 19765537"/>
            <a:gd name="adj5" fmla="val 6064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5329448" y="2289952"/>
          <a:ext cx="1115867" cy="772881"/>
        </a:xfrm>
        <a:prstGeom prst="rect">
          <a:avLst/>
        </a:prstGeom>
        <a:noFill/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Detect</a:t>
          </a:r>
          <a:endParaRPr lang="en-US" sz="2300" kern="1200" dirty="0"/>
        </a:p>
      </dsp:txBody>
      <dsp:txXfrm>
        <a:off x="5329448" y="2289952"/>
        <a:ext cx="1115867" cy="772881"/>
      </dsp:txXfrm>
    </dsp:sp>
    <dsp:sp modelId="{419C75DD-620A-144C-B4B4-72EC9D8D14C2}">
      <dsp:nvSpPr>
        <dsp:cNvPr id="0" name=""/>
        <dsp:cNvSpPr/>
      </dsp:nvSpPr>
      <dsp:spPr>
        <a:xfrm>
          <a:off x="2016248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1865673"/>
            <a:gd name="adj5" fmla="val 606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3556054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Respond</a:t>
          </a:r>
          <a:endParaRPr lang="en-US" sz="2300" kern="1200" dirty="0"/>
        </a:p>
      </dsp:txBody>
      <dsp:txXfrm>
        <a:off x="3556054" y="3404103"/>
        <a:ext cx="1119113" cy="1119113"/>
      </dsp:txXfrm>
    </dsp:sp>
    <dsp:sp modelId="{EA67CF0B-EDB4-3648-9F73-8E093E43A2AB}">
      <dsp:nvSpPr>
        <dsp:cNvPr id="0" name=""/>
        <dsp:cNvSpPr/>
      </dsp:nvSpPr>
      <dsp:spPr>
        <a:xfrm>
          <a:off x="2016248" y="1347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1784283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Prevent</a:t>
          </a:r>
          <a:endParaRPr lang="en-US" sz="2300" kern="1200" dirty="0"/>
        </a:p>
      </dsp:txBody>
      <dsp:txXfrm>
        <a:off x="1784283" y="2116836"/>
        <a:ext cx="1119113" cy="1119113"/>
      </dsp:txXfrm>
    </dsp:sp>
    <dsp:sp modelId="{D2FD7792-2BFA-B84D-985B-D947E620AC84}">
      <dsp:nvSpPr>
        <dsp:cNvPr id="0" name=""/>
        <dsp:cNvSpPr/>
      </dsp:nvSpPr>
      <dsp:spPr>
        <a:xfrm>
          <a:off x="2040013" y="1011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770240"/>
            <a:gd name="adj5" fmla="val 606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2461040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Prepare</a:t>
          </a:r>
          <a:endParaRPr lang="en-US" sz="2300" kern="1200" dirty="0"/>
        </a:p>
      </dsp:txBody>
      <dsp:txXfrm>
        <a:off x="2461040" y="33995"/>
        <a:ext cx="1119113" cy="1119113"/>
      </dsp:txXfrm>
    </dsp:sp>
    <dsp:sp modelId="{71DAF3B9-D052-2148-91BA-20DF28A05BA6}">
      <dsp:nvSpPr>
        <dsp:cNvPr id="0" name=""/>
        <dsp:cNvSpPr/>
      </dsp:nvSpPr>
      <dsp:spPr>
        <a:xfrm>
          <a:off x="2016248" y="1347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4650258" y="13599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Intel</a:t>
          </a:r>
          <a:endParaRPr lang="en-US" sz="2300" kern="1200" dirty="0"/>
        </a:p>
      </dsp:txBody>
      <dsp:txXfrm>
        <a:off x="4650258" y="135993"/>
        <a:ext cx="1119113" cy="1119113"/>
      </dsp:txXfrm>
    </dsp:sp>
    <dsp:sp modelId="{5445E6C8-77DF-E341-A87D-0F5E7096A9EF}">
      <dsp:nvSpPr>
        <dsp:cNvPr id="0" name=""/>
        <dsp:cNvSpPr/>
      </dsp:nvSpPr>
      <dsp:spPr>
        <a:xfrm>
          <a:off x="2015436" y="103345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9765537"/>
            <a:gd name="adj5" fmla="val 6064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5327014" y="221883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Detect</a:t>
          </a:r>
          <a:endParaRPr lang="en-US" sz="2300" kern="1200" dirty="0"/>
        </a:p>
      </dsp:txBody>
      <dsp:txXfrm>
        <a:off x="5327014" y="2218835"/>
        <a:ext cx="1119113" cy="1119113"/>
      </dsp:txXfrm>
    </dsp:sp>
    <dsp:sp modelId="{419C75DD-620A-144C-B4B4-72EC9D8D14C2}">
      <dsp:nvSpPr>
        <dsp:cNvPr id="0" name=""/>
        <dsp:cNvSpPr/>
      </dsp:nvSpPr>
      <dsp:spPr>
        <a:xfrm>
          <a:off x="2015436" y="103345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3555243" y="3710100"/>
          <a:ext cx="1119113" cy="711118"/>
        </a:xfrm>
        <a:prstGeom prst="rect">
          <a:avLst/>
        </a:prstGeom>
        <a:noFill/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Respond</a:t>
          </a:r>
          <a:endParaRPr lang="en-US" sz="2300" kern="1200" dirty="0"/>
        </a:p>
      </dsp:txBody>
      <dsp:txXfrm>
        <a:off x="3555243" y="3710100"/>
        <a:ext cx="1119113" cy="711118"/>
      </dsp:txXfrm>
    </dsp:sp>
    <dsp:sp modelId="{EA67CF0B-EDB4-3648-9F73-8E093E43A2AB}">
      <dsp:nvSpPr>
        <dsp:cNvPr id="0" name=""/>
        <dsp:cNvSpPr/>
      </dsp:nvSpPr>
      <dsp:spPr>
        <a:xfrm>
          <a:off x="2015436" y="103345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1783472" y="221883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Prevent</a:t>
          </a:r>
          <a:endParaRPr lang="en-US" sz="2300" kern="1200" dirty="0"/>
        </a:p>
      </dsp:txBody>
      <dsp:txXfrm>
        <a:off x="1783472" y="2218835"/>
        <a:ext cx="1119113" cy="1119113"/>
      </dsp:txXfrm>
    </dsp:sp>
    <dsp:sp modelId="{D2FD7792-2BFA-B84D-985B-D947E620AC84}">
      <dsp:nvSpPr>
        <dsp:cNvPr id="0" name=""/>
        <dsp:cNvSpPr/>
      </dsp:nvSpPr>
      <dsp:spPr>
        <a:xfrm>
          <a:off x="2039201" y="103009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770240"/>
            <a:gd name="adj5" fmla="val 606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2460228" y="13599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Prepare</a:t>
          </a:r>
          <a:endParaRPr lang="en-US" sz="2300" kern="1200" dirty="0"/>
        </a:p>
      </dsp:txBody>
      <dsp:txXfrm>
        <a:off x="2460228" y="135993"/>
        <a:ext cx="1119113" cy="1119113"/>
      </dsp:txXfrm>
    </dsp:sp>
    <dsp:sp modelId="{71DAF3B9-D052-2148-91BA-20DF28A05BA6}">
      <dsp:nvSpPr>
        <dsp:cNvPr id="0" name=""/>
        <dsp:cNvSpPr/>
      </dsp:nvSpPr>
      <dsp:spPr>
        <a:xfrm>
          <a:off x="2015436" y="103345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465025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Intel</a:t>
          </a:r>
          <a:endParaRPr lang="en-US" sz="2300" kern="1200" dirty="0"/>
        </a:p>
      </dsp:txBody>
      <dsp:txXfrm>
        <a:off x="4650258" y="33995"/>
        <a:ext cx="1119113" cy="1119113"/>
      </dsp:txXfrm>
    </dsp:sp>
    <dsp:sp modelId="{5445E6C8-77DF-E341-A87D-0F5E7096A9EF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9765537"/>
            <a:gd name="adj5" fmla="val 6064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5327014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Detect</a:t>
          </a:r>
          <a:endParaRPr lang="en-US" sz="2300" kern="1200" dirty="0"/>
        </a:p>
      </dsp:txBody>
      <dsp:txXfrm>
        <a:off x="5327014" y="2116836"/>
        <a:ext cx="1119113" cy="1119113"/>
      </dsp:txXfrm>
    </dsp:sp>
    <dsp:sp modelId="{419C75DD-620A-144C-B4B4-72EC9D8D14C2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3555243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Respond</a:t>
          </a:r>
          <a:endParaRPr lang="en-US" sz="2300" kern="1200" dirty="0"/>
        </a:p>
      </dsp:txBody>
      <dsp:txXfrm>
        <a:off x="3555243" y="3404103"/>
        <a:ext cx="1119113" cy="1119113"/>
      </dsp:txXfrm>
    </dsp:sp>
    <dsp:sp modelId="{EA67CF0B-EDB4-3648-9F73-8E093E43A2AB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8667771"/>
            <a:gd name="adj4" fmla="val 6448755"/>
            <a:gd name="adj5" fmla="val 606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1783472" y="2322238"/>
          <a:ext cx="1119113" cy="708309"/>
        </a:xfrm>
        <a:prstGeom prst="rect">
          <a:avLst/>
        </a:prstGeom>
        <a:noFill/>
        <a:ln>
          <a:solidFill>
            <a:srgbClr val="FF0000"/>
          </a:solidFill>
        </a:ln>
        <a:effectLst>
          <a:glow rad="101600">
            <a:srgbClr val="FF0000">
              <a:alpha val="75000"/>
            </a:srgbClr>
          </a:glo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Prevent</a:t>
          </a:r>
          <a:endParaRPr lang="en-US" sz="2300" kern="1200" dirty="0"/>
        </a:p>
      </dsp:txBody>
      <dsp:txXfrm>
        <a:off x="1783472" y="2322238"/>
        <a:ext cx="1119113" cy="708309"/>
      </dsp:txXfrm>
    </dsp:sp>
    <dsp:sp modelId="{D2FD7792-2BFA-B84D-985B-D947E620AC84}">
      <dsp:nvSpPr>
        <dsp:cNvPr id="0" name=""/>
        <dsp:cNvSpPr/>
      </dsp:nvSpPr>
      <dsp:spPr>
        <a:xfrm>
          <a:off x="2039201" y="1011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390238"/>
            <a:gd name="adj5" fmla="val 606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246022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Prepare</a:t>
          </a:r>
          <a:endParaRPr lang="en-US" sz="2300" kern="1200" dirty="0"/>
        </a:p>
      </dsp:txBody>
      <dsp:txXfrm>
        <a:off x="2460228" y="33995"/>
        <a:ext cx="1119113" cy="1119113"/>
      </dsp:txXfrm>
    </dsp:sp>
    <dsp:sp modelId="{71DAF3B9-D052-2148-91BA-20DF28A05BA6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465025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Intel</a:t>
          </a:r>
          <a:endParaRPr lang="en-US" sz="2300" kern="1200" dirty="0"/>
        </a:p>
      </dsp:txBody>
      <dsp:txXfrm>
        <a:off x="4650258" y="33995"/>
        <a:ext cx="1119113" cy="1119113"/>
      </dsp:txXfrm>
    </dsp:sp>
    <dsp:sp modelId="{5445E6C8-77DF-E341-A87D-0F5E7096A9EF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21294043"/>
            <a:gd name="adj4" fmla="val 19765537"/>
            <a:gd name="adj5" fmla="val 6064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5327014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Detect</a:t>
          </a:r>
          <a:endParaRPr lang="en-US" sz="2300" kern="1200" dirty="0"/>
        </a:p>
      </dsp:txBody>
      <dsp:txXfrm>
        <a:off x="5327014" y="2116836"/>
        <a:ext cx="1119113" cy="1119113"/>
      </dsp:txXfrm>
    </dsp:sp>
    <dsp:sp modelId="{419C75DD-620A-144C-B4B4-72EC9D8D14C2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4015529"/>
            <a:gd name="adj4" fmla="val 2252670"/>
            <a:gd name="adj5" fmla="val 606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3555243" y="3404103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Respond</a:t>
          </a:r>
          <a:endParaRPr lang="en-US" sz="2300" kern="1200" dirty="0"/>
        </a:p>
      </dsp:txBody>
      <dsp:txXfrm>
        <a:off x="3555243" y="3404103"/>
        <a:ext cx="1119113" cy="1119113"/>
      </dsp:txXfrm>
    </dsp:sp>
    <dsp:sp modelId="{EA67CF0B-EDB4-3648-9F73-8E093E43A2AB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8211614"/>
            <a:gd name="adj4" fmla="val 6448755"/>
            <a:gd name="adj5" fmla="val 606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1783472" y="2116836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Prevent</a:t>
          </a:r>
          <a:endParaRPr lang="en-US" sz="2300" kern="1200" dirty="0"/>
        </a:p>
      </dsp:txBody>
      <dsp:txXfrm>
        <a:off x="1783472" y="2116836"/>
        <a:ext cx="1119113" cy="1119113"/>
      </dsp:txXfrm>
    </dsp:sp>
    <dsp:sp modelId="{D2FD7792-2BFA-B84D-985B-D947E620AC84}">
      <dsp:nvSpPr>
        <dsp:cNvPr id="0" name=""/>
        <dsp:cNvSpPr/>
      </dsp:nvSpPr>
      <dsp:spPr>
        <a:xfrm>
          <a:off x="2039201" y="1011"/>
          <a:ext cx="4198726" cy="4198726"/>
        </a:xfrm>
        <a:prstGeom prst="circularArrow">
          <a:avLst>
            <a:gd name="adj1" fmla="val 5197"/>
            <a:gd name="adj2" fmla="val 335716"/>
            <a:gd name="adj3" fmla="val 12298747"/>
            <a:gd name="adj4" fmla="val 10770240"/>
            <a:gd name="adj5" fmla="val 606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2460228" y="33995"/>
          <a:ext cx="1119113" cy="11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Prepare</a:t>
          </a:r>
          <a:endParaRPr lang="en-US" sz="2300" kern="1200" dirty="0"/>
        </a:p>
      </dsp:txBody>
      <dsp:txXfrm>
        <a:off x="2460228" y="33995"/>
        <a:ext cx="1119113" cy="1119113"/>
      </dsp:txXfrm>
    </dsp:sp>
    <dsp:sp modelId="{71DAF3B9-D052-2148-91BA-20DF28A05BA6}">
      <dsp:nvSpPr>
        <dsp:cNvPr id="0" name=""/>
        <dsp:cNvSpPr/>
      </dsp:nvSpPr>
      <dsp:spPr>
        <a:xfrm>
          <a:off x="2015436" y="1347"/>
          <a:ext cx="4198726" cy="4198726"/>
        </a:xfrm>
        <a:prstGeom prst="circularArrow">
          <a:avLst>
            <a:gd name="adj1" fmla="val 5197"/>
            <a:gd name="adj2" fmla="val 335716"/>
            <a:gd name="adj3" fmla="val 16866515"/>
            <a:gd name="adj4" fmla="val 15197769"/>
            <a:gd name="adj5" fmla="val 6064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D6C61-F41A-224F-AABD-5EB6E96267E7}">
      <dsp:nvSpPr>
        <dsp:cNvPr id="0" name=""/>
        <dsp:cNvSpPr/>
      </dsp:nvSpPr>
      <dsp:spPr>
        <a:xfrm>
          <a:off x="3528499" y="29355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Intel</a:t>
          </a:r>
          <a:endParaRPr lang="en-US" sz="2100" kern="1200" dirty="0"/>
        </a:p>
      </dsp:txBody>
      <dsp:txXfrm>
        <a:off x="3528499" y="29355"/>
        <a:ext cx="1006078" cy="1006078"/>
      </dsp:txXfrm>
    </dsp:sp>
    <dsp:sp modelId="{5445E6C8-77DF-E341-A87D-0F5E7096A9EF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278A7-50F2-4740-9172-36F2CB64B2ED}">
      <dsp:nvSpPr>
        <dsp:cNvPr id="0" name=""/>
        <dsp:cNvSpPr/>
      </dsp:nvSpPr>
      <dsp:spPr>
        <a:xfrm>
          <a:off x="4136359" y="1900156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Detect</a:t>
          </a:r>
          <a:endParaRPr lang="en-US" sz="2100" kern="1200" dirty="0"/>
        </a:p>
      </dsp:txBody>
      <dsp:txXfrm>
        <a:off x="4136359" y="1900156"/>
        <a:ext cx="1006078" cy="1006078"/>
      </dsp:txXfrm>
    </dsp:sp>
    <dsp:sp modelId="{419C75DD-620A-144C-B4B4-72EC9D8D14C2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079F55B-F99E-F34F-B0D8-493315F09995}">
      <dsp:nvSpPr>
        <dsp:cNvPr id="0" name=""/>
        <dsp:cNvSpPr/>
      </dsp:nvSpPr>
      <dsp:spPr>
        <a:xfrm>
          <a:off x="2544960" y="3056374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Respond</a:t>
          </a:r>
          <a:endParaRPr lang="en-US" sz="2100" kern="1200" dirty="0"/>
        </a:p>
      </dsp:txBody>
      <dsp:txXfrm>
        <a:off x="2544960" y="3056374"/>
        <a:ext cx="1006078" cy="1006078"/>
      </dsp:txXfrm>
    </dsp:sp>
    <dsp:sp modelId="{EA67CF0B-EDB4-3648-9F73-8E093E43A2AB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5265FC8-A380-7344-9720-EC2791909CCB}">
      <dsp:nvSpPr>
        <dsp:cNvPr id="0" name=""/>
        <dsp:cNvSpPr/>
      </dsp:nvSpPr>
      <dsp:spPr>
        <a:xfrm>
          <a:off x="953562" y="1900156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Prevent</a:t>
          </a:r>
          <a:endParaRPr lang="en-US" sz="2100" kern="1200" dirty="0"/>
        </a:p>
      </dsp:txBody>
      <dsp:txXfrm>
        <a:off x="953562" y="1900156"/>
        <a:ext cx="1006078" cy="1006078"/>
      </dsp:txXfrm>
    </dsp:sp>
    <dsp:sp modelId="{D2FD7792-2BFA-B84D-985B-D947E620AC84}">
      <dsp:nvSpPr>
        <dsp:cNvPr id="0" name=""/>
        <dsp:cNvSpPr/>
      </dsp:nvSpPr>
      <dsp:spPr>
        <a:xfrm>
          <a:off x="1183518" y="-12"/>
          <a:ext cx="3771658" cy="377165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02909C-7B9D-8E4A-8A72-C00F9CB3D2D0}">
      <dsp:nvSpPr>
        <dsp:cNvPr id="0" name=""/>
        <dsp:cNvSpPr/>
      </dsp:nvSpPr>
      <dsp:spPr>
        <a:xfrm>
          <a:off x="1561422" y="29355"/>
          <a:ext cx="1006078" cy="1006078"/>
        </a:xfrm>
        <a:prstGeom prst="rect">
          <a:avLst/>
        </a:prstGeom>
        <a:noFill/>
        <a:ln>
          <a:noFill/>
        </a:ln>
        <a:effectLst>
          <a:glow rad="101600">
            <a:schemeClr val="accent5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Prepare</a:t>
          </a:r>
          <a:endParaRPr lang="en-US" sz="2100" kern="1200" dirty="0"/>
        </a:p>
      </dsp:txBody>
      <dsp:txXfrm>
        <a:off x="1561422" y="29355"/>
        <a:ext cx="1006078" cy="1006078"/>
      </dsp:txXfrm>
    </dsp:sp>
    <dsp:sp modelId="{71DAF3B9-D052-2148-91BA-20DF28A05BA6}">
      <dsp:nvSpPr>
        <dsp:cNvPr id="0" name=""/>
        <dsp:cNvSpPr/>
      </dsp:nvSpPr>
      <dsp:spPr>
        <a:xfrm>
          <a:off x="1162170" y="289"/>
          <a:ext cx="3771658" cy="377165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AB7EA-A9DF-184F-B4C3-A82B3572E9BD}" type="datetimeFigureOut">
              <a:rPr lang="en-US" smtClean="0"/>
              <a:t>5/25/14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A7DE9-A1B8-F848-84DD-7480E94C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6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7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1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74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86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65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0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67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18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28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6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46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9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85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83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8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0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7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88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18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9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8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7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2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8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600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798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199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4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46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39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785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374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0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83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21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216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13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13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920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528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528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13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32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24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3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527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338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338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338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99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371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281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4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845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659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395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34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543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463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001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6717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0A7DE9-A1B8-F848-84DD-7480E94C789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0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9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4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8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5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8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2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0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5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9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69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E0E7-4996-1F48-B380-4D44BD524AB1}" type="datetimeFigureOut">
              <a:rPr lang="en-US" smtClean="0"/>
              <a:t>5/25/14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D92B1-60DF-914D-BD68-10CCF5A22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5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vrt-blog.snort.org/2014/05/anatomy-of-exploit-cve-2014-1776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mitre.org/research/technology-transfer/technology-licensing/collaborative-research-into-threats-crit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 World Intrusion Response - Lessons from the Trenches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David Sharpe and Katherine </a:t>
            </a:r>
            <a:r>
              <a:rPr lang="en-US" dirty="0" err="1" smtClean="0"/>
              <a:t>Trame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70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Disclaimer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Opinions expressed in this presentation are our own.  We are speaking for ourselves, not for GE, nor anyone or anything else.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439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Katherine </a:t>
            </a:r>
            <a:r>
              <a:rPr lang="en-US" b="1" dirty="0" err="1" smtClean="0"/>
              <a:t>Trame</a:t>
            </a:r>
            <a:r>
              <a:rPr lang="en-US" b="1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Current: GE</a:t>
            </a:r>
            <a:r>
              <a:rPr lang="en-US" dirty="0"/>
              <a:t>-CIRT Advanced Threats </a:t>
            </a:r>
            <a:r>
              <a:rPr lang="en-US" dirty="0" smtClean="0"/>
              <a:t>team  </a:t>
            </a:r>
          </a:p>
          <a:p>
            <a:r>
              <a:rPr lang="en-US" dirty="0" smtClean="0"/>
              <a:t>Prior: intelligence </a:t>
            </a:r>
            <a:r>
              <a:rPr lang="en-US" dirty="0"/>
              <a:t>analyst with the Hampton, VA Police Division for five </a:t>
            </a:r>
            <a:r>
              <a:rPr lang="en-US" dirty="0" smtClean="0"/>
              <a:t>years.  Worked </a:t>
            </a:r>
            <a:r>
              <a:rPr lang="en-US" dirty="0"/>
              <a:t>in tactical/operational intelligence and computer forensics. </a:t>
            </a:r>
          </a:p>
        </p:txBody>
      </p:sp>
    </p:spTree>
    <p:extLst>
      <p:ext uri="{BB962C8B-B14F-4D97-AF65-F5344CB8AC3E}">
        <p14:creationId xmlns:p14="http://schemas.microsoft.com/office/powerpoint/2010/main" val="908242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David Sharpe</a:t>
            </a:r>
          </a:p>
          <a:p>
            <a:r>
              <a:rPr lang="en-US" dirty="0" smtClean="0"/>
              <a:t>Current:  GE-CIRT Advanced Threats team.  </a:t>
            </a:r>
          </a:p>
          <a:p>
            <a:r>
              <a:rPr lang="en-US" dirty="0" smtClean="0"/>
              <a:t>Prior:  </a:t>
            </a:r>
            <a:r>
              <a:rPr lang="en-US" dirty="0"/>
              <a:t>W</a:t>
            </a:r>
            <a:r>
              <a:rPr lang="en-US" dirty="0" smtClean="0"/>
              <a:t>ide </a:t>
            </a:r>
            <a:r>
              <a:rPr lang="en-US" dirty="0"/>
              <a:t>range of IT experience spanning 19 years.  S</a:t>
            </a:r>
            <a:r>
              <a:rPr lang="en-US" dirty="0" smtClean="0"/>
              <a:t>erved </a:t>
            </a:r>
            <a:r>
              <a:rPr lang="en-US" dirty="0"/>
              <a:t>in a variety of roles in Fortune 10 and Fortune 500 companies, ranging from systems programmer writing device drivers and operating system components, to large scale systems administration, to IT security. </a:t>
            </a:r>
          </a:p>
        </p:txBody>
      </p:sp>
    </p:spTree>
    <p:extLst>
      <p:ext uri="{BB962C8B-B14F-4D97-AF65-F5344CB8AC3E}">
        <p14:creationId xmlns:p14="http://schemas.microsoft.com/office/powerpoint/2010/main" val="1040887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GE-CIRT 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12" y="138562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B</a:t>
            </a:r>
            <a:r>
              <a:rPr lang="en-US" dirty="0" smtClean="0"/>
              <a:t>ased on idea "defenses fail, </a:t>
            </a:r>
          </a:p>
          <a:p>
            <a:pPr marL="0" indent="0">
              <a:buNone/>
            </a:pPr>
            <a:r>
              <a:rPr lang="en-US" dirty="0" smtClean="0"/>
              <a:t>    so get great at IR”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That approach and philosophy worked very well, and still serves us well today…  </a:t>
            </a:r>
            <a:endParaRPr lang="en-US" dirty="0"/>
          </a:p>
        </p:txBody>
      </p:sp>
      <p:pic>
        <p:nvPicPr>
          <p:cNvPr id="4" name="Picture 3" descr="ge-cirt_logo_13aug07_3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150" y="1882193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57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GE-CIRT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today’s GE-CIRT is doing is building on that great foundation. 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We are taking the best from the past, </a:t>
            </a:r>
            <a:r>
              <a:rPr lang="en-US" dirty="0" smtClean="0"/>
              <a:t>and </a:t>
            </a:r>
            <a:r>
              <a:rPr lang="en-US" dirty="0"/>
              <a:t>making it even better.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491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Process</a:t>
            </a:r>
            <a:endParaRPr lang="en-US" dirty="0"/>
          </a:p>
        </p:txBody>
      </p:sp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2772089879"/>
              </p:ext>
            </p:extLst>
          </p:nvPr>
        </p:nvGraphicFramePr>
        <p:xfrm>
          <a:off x="1524000" y="1738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6459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ypes of attacks we have seen (since 2011):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241822"/>
              </p:ext>
            </p:extLst>
          </p:nvPr>
        </p:nvGraphicFramePr>
        <p:xfrm>
          <a:off x="618733" y="2275701"/>
          <a:ext cx="7805805" cy="3607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20924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Trend – Attacks Through Third Party and Partner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So, what if you have a perfectly well defended network?  What about what connects to you?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You also need to worry about </a:t>
            </a:r>
            <a:r>
              <a:rPr lang="en-US" dirty="0" smtClean="0"/>
              <a:t>third </a:t>
            </a:r>
            <a:r>
              <a:rPr lang="en-US" dirty="0"/>
              <a:t>party </a:t>
            </a:r>
            <a:r>
              <a:rPr lang="en-US" dirty="0" smtClean="0"/>
              <a:t>connections.</a:t>
            </a:r>
          </a:p>
        </p:txBody>
      </p:sp>
    </p:spTree>
    <p:extLst>
      <p:ext uri="{BB962C8B-B14F-4D97-AF65-F5344CB8AC3E}">
        <p14:creationId xmlns:p14="http://schemas.microsoft.com/office/powerpoint/2010/main" val="3683750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 – Hostile Office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For </a:t>
            </a:r>
            <a:r>
              <a:rPr lang="en-US" dirty="0" smtClean="0"/>
              <a:t>targeted </a:t>
            </a:r>
            <a:r>
              <a:rPr lang="en-US" dirty="0" err="1" smtClean="0"/>
              <a:t>spearphishing</a:t>
            </a:r>
            <a:r>
              <a:rPr lang="en-US" dirty="0" smtClean="0"/>
              <a:t>, malicious Office documents took the #1 spot in 2012, and have held it ever since.  By far, the biggest offender is </a:t>
            </a:r>
            <a:r>
              <a:rPr lang="en-US" b="1" dirty="0" smtClean="0"/>
              <a:t>CVE-2012-0158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Not just a problem for us –  is industry wide in the APT world.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46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 – Java Remains a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1294"/>
            <a:ext cx="8229600" cy="483486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 smtClean="0"/>
              <a:t>(SOURCE:  </a:t>
            </a:r>
            <a:r>
              <a:rPr lang="en-US" sz="6400" b="1" dirty="0" err="1" smtClean="0"/>
              <a:t>contagio.blogspot.com</a:t>
            </a:r>
            <a:r>
              <a:rPr lang="en-US" sz="6400" b="1" dirty="0" smtClean="0"/>
              <a:t>)</a:t>
            </a:r>
          </a:p>
          <a:p>
            <a:pPr marL="0" indent="0">
              <a:buNone/>
            </a:pPr>
            <a:endParaRPr lang="en-US" sz="6400" b="1" dirty="0" smtClean="0"/>
          </a:p>
          <a:p>
            <a:pPr marL="0" indent="0">
              <a:buNone/>
            </a:pPr>
            <a:r>
              <a:rPr lang="en-US" sz="4800" b="1" dirty="0"/>
              <a:t> </a:t>
            </a:r>
            <a:r>
              <a:rPr lang="en-US" sz="4800" b="1" dirty="0" smtClean="0"/>
              <a:t>         CVE</a:t>
            </a:r>
            <a:r>
              <a:rPr lang="en-US" sz="4800" dirty="0"/>
              <a:t>	</a:t>
            </a:r>
            <a:r>
              <a:rPr lang="en-US" sz="4800" dirty="0" smtClean="0"/>
              <a:t>	</a:t>
            </a:r>
            <a:r>
              <a:rPr lang="en-US" sz="4800" b="1" dirty="0" smtClean="0"/>
              <a:t>Description</a:t>
            </a:r>
            <a:r>
              <a:rPr lang="en-US" sz="4800" dirty="0"/>
              <a:t>	</a:t>
            </a:r>
          </a:p>
          <a:p>
            <a:r>
              <a:rPr lang="en-US" sz="4800" b="1" dirty="0"/>
              <a:t>CVE-2011-3544</a:t>
            </a:r>
            <a:r>
              <a:rPr lang="en-US" sz="4800" dirty="0"/>
              <a:t>	vulnerability in the Rhino Script Engine	</a:t>
            </a:r>
          </a:p>
          <a:p>
            <a:r>
              <a:rPr lang="en-US" sz="4800" b="1" dirty="0"/>
              <a:t>CVE-2012-0500</a:t>
            </a:r>
            <a:r>
              <a:rPr lang="en-US" sz="4800" dirty="0"/>
              <a:t>	Sun Web Start Plugin Command Line Argument Injection	</a:t>
            </a:r>
          </a:p>
          <a:p>
            <a:r>
              <a:rPr lang="en-US" sz="4800" b="1" dirty="0"/>
              <a:t>CVE-2012-0507</a:t>
            </a:r>
            <a:r>
              <a:rPr lang="en-US" sz="4800" dirty="0"/>
              <a:t>	</a:t>
            </a:r>
            <a:r>
              <a:rPr lang="en-US" sz="4800" dirty="0" err="1"/>
              <a:t>AtomicReferenceArray</a:t>
            </a:r>
            <a:r>
              <a:rPr lang="en-US" sz="4800" dirty="0"/>
              <a:t>	</a:t>
            </a:r>
          </a:p>
          <a:p>
            <a:r>
              <a:rPr lang="en-US" sz="4800" b="1" dirty="0"/>
              <a:t>CVE-2012-1723</a:t>
            </a:r>
            <a:r>
              <a:rPr lang="en-US" sz="4800" dirty="0"/>
              <a:t>	Remote Code Execution 	</a:t>
            </a:r>
          </a:p>
          <a:p>
            <a:r>
              <a:rPr lang="en-US" sz="4800" b="1" dirty="0"/>
              <a:t>CVE-2012-4681</a:t>
            </a:r>
            <a:r>
              <a:rPr lang="en-US" sz="4800" dirty="0"/>
              <a:t>	crafted applet that bypasses </a:t>
            </a:r>
            <a:r>
              <a:rPr lang="en-US" sz="4800" dirty="0" err="1"/>
              <a:t>SecurityManager</a:t>
            </a:r>
            <a:r>
              <a:rPr lang="en-US" sz="4800" dirty="0"/>
              <a:t> restrictions	</a:t>
            </a:r>
          </a:p>
          <a:p>
            <a:r>
              <a:rPr lang="en-US" sz="4800" b="1" dirty="0"/>
              <a:t>CVE-2012-5076</a:t>
            </a:r>
            <a:r>
              <a:rPr lang="en-US" sz="4800" dirty="0"/>
              <a:t>	Arbitrary Code Execution	</a:t>
            </a:r>
          </a:p>
          <a:p>
            <a:r>
              <a:rPr lang="en-US" sz="4800" b="1" dirty="0"/>
              <a:t>CVE-2013-0422</a:t>
            </a:r>
            <a:r>
              <a:rPr lang="en-US" sz="4800" dirty="0"/>
              <a:t>	JMB/MBEAN and Reflection API allow a crafted applet to bypass </a:t>
            </a:r>
            <a:r>
              <a:rPr lang="en-US" sz="4800" dirty="0" err="1"/>
              <a:t>SecurityManager</a:t>
            </a:r>
            <a:r>
              <a:rPr lang="en-US" sz="4800" dirty="0"/>
              <a:t> restrictions	</a:t>
            </a:r>
          </a:p>
          <a:p>
            <a:r>
              <a:rPr lang="en-US" sz="4800" b="1" dirty="0"/>
              <a:t>CVE-2013-0431</a:t>
            </a:r>
            <a:r>
              <a:rPr lang="en-US" sz="4800" dirty="0"/>
              <a:t>	abuses the JMX classes from a Applet to run arbitrary code outside of the sandbox	</a:t>
            </a:r>
          </a:p>
          <a:p>
            <a:r>
              <a:rPr lang="en-US" sz="4800" b="1" dirty="0"/>
              <a:t>CVE-2013-0437</a:t>
            </a:r>
            <a:r>
              <a:rPr lang="en-US" sz="4800" dirty="0"/>
              <a:t>	Unspecified vulnerability in the Runtime Environment (JRE)  via unknown vectors related to 2D.	</a:t>
            </a:r>
          </a:p>
          <a:p>
            <a:r>
              <a:rPr lang="en-US" sz="4800" b="1" dirty="0"/>
              <a:t>CVE-2013-1488</a:t>
            </a:r>
            <a:r>
              <a:rPr lang="en-US" sz="4800" dirty="0"/>
              <a:t>	via unspecified vectors involving reflection, Libraries, "improper </a:t>
            </a:r>
            <a:r>
              <a:rPr lang="en-US" sz="4800" dirty="0" err="1"/>
              <a:t>toString</a:t>
            </a:r>
            <a:r>
              <a:rPr lang="en-US" sz="4800" dirty="0"/>
              <a:t> calls," and the JDBC driver manager	</a:t>
            </a:r>
          </a:p>
          <a:p>
            <a:r>
              <a:rPr lang="en-US" sz="4800" b="1" dirty="0"/>
              <a:t>CVE-2013-1493</a:t>
            </a:r>
            <a:r>
              <a:rPr lang="en-US" sz="4800" dirty="0"/>
              <a:t>	The color </a:t>
            </a:r>
            <a:r>
              <a:rPr lang="en-US" sz="4800" dirty="0" err="1"/>
              <a:t>mgmnt</a:t>
            </a:r>
            <a:r>
              <a:rPr lang="en-US" sz="4800" dirty="0"/>
              <a:t> (CMM) functionality in the 2D - an out-of-bounds read or memory corruption in the </a:t>
            </a:r>
            <a:r>
              <a:rPr lang="en-US" sz="4800" dirty="0" smtClean="0"/>
              <a:t>JVM</a:t>
            </a:r>
            <a:endParaRPr lang="en-US" sz="4800" dirty="0"/>
          </a:p>
          <a:p>
            <a:r>
              <a:rPr lang="en-US" sz="4800" b="1" dirty="0"/>
              <a:t>CVE-2013-2423</a:t>
            </a:r>
            <a:r>
              <a:rPr lang="en-US" sz="4800" dirty="0"/>
              <a:t>	SE 7 Update 17 and earlier allows remote attackers to affect integrity via unknown vectors related to </a:t>
            </a:r>
            <a:r>
              <a:rPr lang="en-US" sz="4800" dirty="0" err="1"/>
              <a:t>HotSpot</a:t>
            </a:r>
            <a:r>
              <a:rPr lang="en-US" sz="4800" dirty="0"/>
              <a:t>.	</a:t>
            </a:r>
          </a:p>
          <a:p>
            <a:r>
              <a:rPr lang="en-US" sz="4800" b="1" dirty="0"/>
              <a:t>CVE-2013-2460</a:t>
            </a:r>
            <a:r>
              <a:rPr lang="en-US" sz="4800" dirty="0"/>
              <a:t>	Oracle SE 7 Update 21 and earlier, and </a:t>
            </a:r>
            <a:r>
              <a:rPr lang="en-US" sz="4800" dirty="0" err="1"/>
              <a:t>OpenJDK</a:t>
            </a:r>
            <a:r>
              <a:rPr lang="en-US" sz="4800" dirty="0"/>
              <a:t> 7 -  "insufficient access checks" in the tracing component</a:t>
            </a:r>
            <a:r>
              <a:rPr lang="en-US" sz="4800" dirty="0" smtClean="0"/>
              <a:t>.</a:t>
            </a:r>
            <a:endParaRPr lang="en-US" sz="4800" dirty="0"/>
          </a:p>
          <a:p>
            <a:r>
              <a:rPr lang="en-US" sz="4800" b="1" dirty="0"/>
              <a:t>CVE-2013-2463</a:t>
            </a:r>
            <a:r>
              <a:rPr lang="en-US" sz="4800" dirty="0"/>
              <a:t>	&lt; Update 21 6 Update 45 and earlier, and&lt;  5.0 Update 45, and </a:t>
            </a:r>
            <a:r>
              <a:rPr lang="en-US" sz="4800" dirty="0" err="1"/>
              <a:t>OpenJDK</a:t>
            </a:r>
            <a:r>
              <a:rPr lang="en-US" sz="4800" dirty="0"/>
              <a:t> 7 -Incorrect image attribute verification in 2D.	</a:t>
            </a:r>
          </a:p>
          <a:p>
            <a:r>
              <a:rPr lang="en-US" sz="4800" b="1" dirty="0"/>
              <a:t>CVE-2013-2465</a:t>
            </a:r>
            <a:r>
              <a:rPr lang="en-US" sz="4800" dirty="0"/>
              <a:t>	Memory Corruption Vulnerability	</a:t>
            </a:r>
          </a:p>
          <a:p>
            <a:r>
              <a:rPr lang="en-US" sz="4800" b="1" dirty="0"/>
              <a:t>CVE-2013-2471</a:t>
            </a:r>
            <a:r>
              <a:rPr lang="en-US" sz="4800" dirty="0"/>
              <a:t>	&lt; 7 Update 21, &lt; 6 Update 45, and &lt; 5.0 Update 45, and </a:t>
            </a:r>
            <a:r>
              <a:rPr lang="en-US" sz="4800" dirty="0" err="1"/>
              <a:t>OpenJDK</a:t>
            </a:r>
            <a:r>
              <a:rPr lang="en-US" sz="4800" dirty="0"/>
              <a:t> 7 - Incorrect </a:t>
            </a:r>
            <a:r>
              <a:rPr lang="en-US" sz="4800" dirty="0" err="1"/>
              <a:t>IntegerComponentRaster</a:t>
            </a:r>
            <a:r>
              <a:rPr lang="en-US" sz="4800" dirty="0"/>
              <a:t> size checks	</a:t>
            </a:r>
          </a:p>
          <a:p>
            <a:r>
              <a:rPr lang="en-US" sz="4800" b="1" dirty="0"/>
              <a:t>CVE-2013-2472</a:t>
            </a:r>
            <a:r>
              <a:rPr lang="en-US" sz="4800" dirty="0"/>
              <a:t>	&lt; SE 7 Update 21, &lt; 6 Update 45,  &lt; 5.0 Update 45, and </a:t>
            </a:r>
            <a:r>
              <a:rPr lang="en-US" sz="4800" dirty="0" err="1"/>
              <a:t>OpenJDK</a:t>
            </a:r>
            <a:r>
              <a:rPr lang="en-US" sz="4800" dirty="0"/>
              <a:t> 7 Incorrect </a:t>
            </a:r>
            <a:r>
              <a:rPr lang="en-US" sz="4800" dirty="0" err="1"/>
              <a:t>ShortBandedRaster</a:t>
            </a:r>
            <a:r>
              <a:rPr lang="en-US" sz="4800" dirty="0"/>
              <a:t> size checks in 2D</a:t>
            </a:r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13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Java’s Near Complete Domination</a:t>
            </a:r>
            <a:endParaRPr lang="en-US" dirty="0"/>
          </a:p>
        </p:txBody>
      </p:sp>
      <p:pic>
        <p:nvPicPr>
          <p:cNvPr id="4" name="Content Placeholder 3" descr="Screen Shot Exploits by Percentage chart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" b="1556"/>
          <a:stretch>
            <a:fillRect/>
          </a:stretch>
        </p:blipFill>
        <p:spPr>
          <a:xfrm>
            <a:off x="457200" y="2134371"/>
            <a:ext cx="8229600" cy="3991792"/>
          </a:xfrm>
        </p:spPr>
      </p:pic>
      <p:sp>
        <p:nvSpPr>
          <p:cNvPr id="5" name="TextBox 4"/>
          <p:cNvSpPr txBox="1"/>
          <p:nvPr/>
        </p:nvSpPr>
        <p:spPr>
          <a:xfrm>
            <a:off x="651046" y="1643465"/>
            <a:ext cx="7257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  Microsoft’s Security Intelligence Report May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09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Trend – From </a:t>
            </a:r>
            <a:r>
              <a:rPr lang="en-US" dirty="0" err="1" smtClean="0"/>
              <a:t>Contagio</a:t>
            </a:r>
            <a:endParaRPr lang="en-US" dirty="0"/>
          </a:p>
        </p:txBody>
      </p:sp>
      <p:pic>
        <p:nvPicPr>
          <p:cNvPr id="4" name="Content Placeholder 3" descr="Screen Shot Contagio Exploit kit vuln mix chart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02" r="-46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37001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Trends – APT is Getting Personal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People are </a:t>
            </a:r>
            <a:r>
              <a:rPr lang="en-US" dirty="0"/>
              <a:t>being </a:t>
            </a:r>
            <a:r>
              <a:rPr lang="en-US" dirty="0" smtClean="0"/>
              <a:t>approached through social media sites (e.g. </a:t>
            </a:r>
            <a:r>
              <a:rPr lang="en-US" dirty="0" err="1" smtClean="0"/>
              <a:t>Linkedin</a:t>
            </a:r>
            <a:r>
              <a:rPr lang="en-US" dirty="0" smtClean="0"/>
              <a:t> and Facebook) from fake accounts </a:t>
            </a:r>
            <a:r>
              <a:rPr lang="en-US" dirty="0"/>
              <a:t>OUTSIDE of work.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Old problem, seeing renewed </a:t>
            </a:r>
            <a:r>
              <a:rPr lang="en-US" dirty="0"/>
              <a:t>activity in </a:t>
            </a:r>
            <a:r>
              <a:rPr lang="en-US" dirty="0" smtClean="0"/>
              <a:t>2014 from some actors.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690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52453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Oval 7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7121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Value of Different Types of Intel</a:t>
            </a:r>
            <a:endParaRPr lang="en-US" dirty="0"/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475097"/>
              </p:ext>
            </p:extLst>
          </p:nvPr>
        </p:nvGraphicFramePr>
        <p:xfrm>
          <a:off x="457200" y="1600196"/>
          <a:ext cx="8229600" cy="4350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7553"/>
                <a:gridCol w="6452047"/>
              </a:tblGrid>
              <a:tr h="44133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VALUE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EXAMPLES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Best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Unique intruder </a:t>
                      </a:r>
                      <a:r>
                        <a:rPr lang="en-US" sz="2000" dirty="0" err="1" smtClean="0"/>
                        <a:t>toolmarks</a:t>
                      </a:r>
                      <a:r>
                        <a:rPr lang="en-US" sz="2000" dirty="0" smtClean="0"/>
                        <a:t>, lateral movement techniques, distinctive C2, IP addresses and domain names for active watering holes, </a:t>
                      </a:r>
                      <a:r>
                        <a:rPr lang="en-US" sz="2000" baseline="0" dirty="0" smtClean="0"/>
                        <a:t>d</a:t>
                      </a:r>
                      <a:r>
                        <a:rPr lang="en-US" sz="2000" dirty="0" smtClean="0"/>
                        <a:t>omain names of legit but actively  compromised sites 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Good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user agent strings related</a:t>
                      </a:r>
                      <a:r>
                        <a:rPr lang="en-US" sz="2000" baseline="0" dirty="0" smtClean="0"/>
                        <a:t> to known C2</a:t>
                      </a:r>
                      <a:r>
                        <a:rPr lang="en-US" sz="2000" dirty="0" smtClean="0"/>
                        <a:t>, AV </a:t>
                      </a:r>
                      <a:r>
                        <a:rPr lang="en-US" sz="2000" dirty="0" err="1" smtClean="0"/>
                        <a:t>streetnames</a:t>
                      </a:r>
                      <a:r>
                        <a:rPr lang="en-US" sz="2000" dirty="0" smtClean="0"/>
                        <a:t> (quality depends on AV vendor)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Limited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File names, file hashes, almost all IP addresses, almost</a:t>
                      </a:r>
                      <a:r>
                        <a:rPr lang="en-US" sz="2000" baseline="0" dirty="0" smtClean="0"/>
                        <a:t> all d</a:t>
                      </a:r>
                      <a:r>
                        <a:rPr lang="en-US" sz="2000" dirty="0" smtClean="0"/>
                        <a:t>omain names, user agent strings from recon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1944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Intel – Sharing Between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 </a:t>
            </a:r>
            <a:r>
              <a:rPr lang="en-US" dirty="0" smtClean="0"/>
              <a:t>significant percentage of our workload started with shared </a:t>
            </a:r>
            <a:r>
              <a:rPr lang="en-US" dirty="0" err="1" smtClean="0"/>
              <a:t>intel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Avail yourself of ISACs.   Not all information sharing resources are equally effective.  </a:t>
            </a:r>
          </a:p>
          <a:p>
            <a:endParaRPr lang="en-US" dirty="0"/>
          </a:p>
          <a:p>
            <a:r>
              <a:rPr lang="en-US" dirty="0" smtClean="0"/>
              <a:t>We need a DSIE equivalent for the U.S. Energy sector!!!!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849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Intel (OSINT)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What if you cannot participate in any of the great shared intelligence services out there?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Some sample good OSINT sources:</a:t>
            </a:r>
          </a:p>
          <a:p>
            <a:r>
              <a:rPr lang="en-US" dirty="0" err="1" smtClean="0"/>
              <a:t>FireEye</a:t>
            </a:r>
            <a:endParaRPr lang="en-US" dirty="0" smtClean="0"/>
          </a:p>
          <a:p>
            <a:r>
              <a:rPr lang="en-US" dirty="0" err="1" smtClean="0"/>
              <a:t>Sourcefire</a:t>
            </a:r>
            <a:r>
              <a:rPr lang="en-US" dirty="0" smtClean="0"/>
              <a:t> VRT</a:t>
            </a:r>
          </a:p>
          <a:p>
            <a:r>
              <a:rPr lang="en-US" dirty="0" err="1" smtClean="0"/>
              <a:t>AlienVault</a:t>
            </a:r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any 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91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OSINT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Sourcefire’s</a:t>
            </a:r>
            <a:r>
              <a:rPr lang="en-US" dirty="0" smtClean="0"/>
              <a:t> VRT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http://vrt-blog.snort.org/2014/05/anatomy-of-exploit-cve-2014-1776.</a:t>
            </a:r>
            <a:r>
              <a:rPr lang="en-US" dirty="0" smtClean="0">
                <a:hlinkClick r:id="rId3"/>
              </a:rPr>
              <a:t>html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495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OSINT Example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Quote from http://</a:t>
            </a:r>
            <a:r>
              <a:rPr lang="en-US" b="1" dirty="0" err="1"/>
              <a:t>vrt-blog.snort.org</a:t>
            </a:r>
            <a:r>
              <a:rPr lang="en-US" b="1" dirty="0"/>
              <a:t>/2014/05/anatomy-of-exploit-cve-2014-1776.html</a:t>
            </a:r>
          </a:p>
          <a:p>
            <a:pPr marL="1257300" lvl="3" indent="0">
              <a:buNone/>
            </a:pPr>
            <a:r>
              <a:rPr lang="en-US" b="1" dirty="0" smtClean="0"/>
              <a:t>“We’ve </a:t>
            </a:r>
            <a:r>
              <a:rPr lang="en-US" b="1" dirty="0"/>
              <a:t>associated the following subjects with this campaign so far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Welcome to </a:t>
            </a:r>
            <a:r>
              <a:rPr lang="en-US" dirty="0" err="1"/>
              <a:t>Projectmates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Refinance Report</a:t>
            </a:r>
            <a:br>
              <a:rPr lang="en-US" dirty="0"/>
            </a:br>
            <a:r>
              <a:rPr lang="en-US" dirty="0"/>
              <a:t>What's ahead for Senior Care M&amp;A</a:t>
            </a:r>
            <a:br>
              <a:rPr lang="en-US" dirty="0"/>
            </a:br>
            <a:r>
              <a:rPr lang="en-US" dirty="0"/>
              <a:t>UPDATED GALLERY for 2014 Calendar Submissions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Associated domains so far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profile.sweeneyphotos.com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web.neonbilisim.com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web.usamultimeters.com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inform.bedircati.com</a:t>
            </a:r>
            <a:r>
              <a:rPr lang="en-US" dirty="0" smtClean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1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Intel- Where to Put it All?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CRITS - shared repository is better than private collections of </a:t>
            </a:r>
            <a:r>
              <a:rPr lang="en-US" dirty="0" err="1"/>
              <a:t>intel</a:t>
            </a:r>
            <a:r>
              <a:rPr lang="en-US" dirty="0"/>
              <a:t> that are not </a:t>
            </a:r>
            <a:r>
              <a:rPr lang="en-US" dirty="0" smtClean="0"/>
              <a:t>shared</a:t>
            </a:r>
          </a:p>
          <a:p>
            <a:endParaRPr lang="en-US" dirty="0" smtClean="0"/>
          </a:p>
          <a:p>
            <a:r>
              <a:rPr lang="en-US" dirty="0" smtClean="0">
                <a:hlinkClick r:id="rId3"/>
              </a:rPr>
              <a:t>http://www.mitre.org/research/technology-transfer/technology-licensing/collaborative-research-into-threats-crits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Going open source soon?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8526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– When You Have Too Much</a:t>
            </a: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889156"/>
              </p:ext>
            </p:extLst>
          </p:nvPr>
        </p:nvGraphicFramePr>
        <p:xfrm>
          <a:off x="868178" y="1600196"/>
          <a:ext cx="7818621" cy="4350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8784"/>
                <a:gridCol w="6129837"/>
              </a:tblGrid>
              <a:tr h="44133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VALUE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EXAMPLES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Best</a:t>
                      </a:r>
                    </a:p>
                    <a:p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Unique intruder </a:t>
                      </a:r>
                      <a:r>
                        <a:rPr lang="en-US" sz="2000" dirty="0" err="1" smtClean="0"/>
                        <a:t>toolmarks</a:t>
                      </a:r>
                      <a:r>
                        <a:rPr lang="en-US" sz="2000" dirty="0" smtClean="0"/>
                        <a:t>, lateral movement techniques, distinctive C2, IP addresses and domain names for active watering holes, </a:t>
                      </a:r>
                      <a:r>
                        <a:rPr lang="en-US" sz="2000" baseline="0" dirty="0" smtClean="0"/>
                        <a:t>d</a:t>
                      </a:r>
                      <a:r>
                        <a:rPr lang="en-US" sz="2000" dirty="0" smtClean="0"/>
                        <a:t>omain names of legit but actively  compromised sites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Good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user agent strings related</a:t>
                      </a:r>
                      <a:r>
                        <a:rPr lang="en-US" sz="2000" baseline="0" dirty="0" smtClean="0"/>
                        <a:t> to known C2</a:t>
                      </a:r>
                      <a:r>
                        <a:rPr lang="en-US" sz="2000" dirty="0" smtClean="0"/>
                        <a:t>, AV </a:t>
                      </a:r>
                      <a:r>
                        <a:rPr lang="en-US" sz="2000" dirty="0" err="1" smtClean="0"/>
                        <a:t>streetnames</a:t>
                      </a:r>
                      <a:r>
                        <a:rPr lang="en-US" sz="2000" dirty="0" smtClean="0"/>
                        <a:t> (quality depends on AV vendor)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Limited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File names, file hashes, almost all IP addresses, almost</a:t>
                      </a:r>
                      <a:r>
                        <a:rPr lang="en-US" sz="2000" baseline="0" dirty="0" smtClean="0"/>
                        <a:t> all d</a:t>
                      </a:r>
                      <a:r>
                        <a:rPr lang="en-US" sz="2000" dirty="0" smtClean="0"/>
                        <a:t>omain names, user agent strings from recon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951" y="2620226"/>
            <a:ext cx="1398731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KEEP THESE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951" y="4034827"/>
            <a:ext cx="1398731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CAN EXPIRE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951" y="5304752"/>
            <a:ext cx="1398731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CAN EXPIRE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096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00712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4741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Works For Us?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What types of detection are working for us for finding attacks?</a:t>
            </a:r>
          </a:p>
          <a:p>
            <a:endParaRPr lang="en-US" dirty="0"/>
          </a:p>
          <a:p>
            <a:r>
              <a:rPr lang="en-US" b="1" dirty="0" smtClean="0"/>
              <a:t>80% </a:t>
            </a:r>
            <a:r>
              <a:rPr lang="en-US" dirty="0" smtClean="0"/>
              <a:t>- network-based detection</a:t>
            </a:r>
          </a:p>
          <a:p>
            <a:endParaRPr lang="en-US" dirty="0"/>
          </a:p>
          <a:p>
            <a:r>
              <a:rPr lang="en-US" b="1" dirty="0" smtClean="0"/>
              <a:t>20% </a:t>
            </a:r>
            <a:r>
              <a:rPr lang="en-US" dirty="0" smtClean="0"/>
              <a:t>- other means (mostly AV logs, web proxy hits,  or host-based detection)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2762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Works Best for Us for Detection?</a:t>
            </a:r>
            <a:endParaRPr lang="en-US" dirty="0"/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575550"/>
              </p:ext>
            </p:extLst>
          </p:nvPr>
        </p:nvGraphicFramePr>
        <p:xfrm>
          <a:off x="457200" y="1600196"/>
          <a:ext cx="8229600" cy="4350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7553"/>
                <a:gridCol w="6452047"/>
              </a:tblGrid>
              <a:tr h="44133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VALUE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/>
                        <a:t>EXAMPLES</a:t>
                      </a:r>
                      <a:endParaRPr lang="en-US" b="1" i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Best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Unique intruder </a:t>
                      </a:r>
                      <a:r>
                        <a:rPr lang="en-US" sz="2000" dirty="0" err="1" smtClean="0"/>
                        <a:t>toolmarks</a:t>
                      </a:r>
                      <a:r>
                        <a:rPr lang="en-US" sz="2000" dirty="0" smtClean="0"/>
                        <a:t>, lateral movement techniques, distinctive C2, IP addresses and domain names for active watering holes, </a:t>
                      </a:r>
                      <a:r>
                        <a:rPr lang="en-US" sz="2000" baseline="0" dirty="0" smtClean="0"/>
                        <a:t>d</a:t>
                      </a:r>
                      <a:r>
                        <a:rPr lang="en-US" sz="2000" dirty="0" smtClean="0"/>
                        <a:t>omain names of legit but actively  compromised sites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Good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user agent strings related</a:t>
                      </a:r>
                      <a:r>
                        <a:rPr lang="en-US" sz="2000" baseline="0" dirty="0" smtClean="0"/>
                        <a:t> to known C2</a:t>
                      </a:r>
                      <a:r>
                        <a:rPr lang="en-US" sz="2000" dirty="0" smtClean="0"/>
                        <a:t>, AV </a:t>
                      </a:r>
                      <a:r>
                        <a:rPr lang="en-US" sz="2000" dirty="0" err="1" smtClean="0"/>
                        <a:t>streetnames</a:t>
                      </a:r>
                      <a:r>
                        <a:rPr lang="en-US" sz="2000" dirty="0" smtClean="0"/>
                        <a:t> (quality depends on AV vendor)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99152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Limited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File names, file hashes, almost all IP addresses, almost</a:t>
                      </a:r>
                      <a:r>
                        <a:rPr lang="en-US" sz="2000" baseline="0" dirty="0" smtClean="0"/>
                        <a:t> all d</a:t>
                      </a:r>
                      <a:r>
                        <a:rPr lang="en-US" sz="2000" dirty="0" smtClean="0"/>
                        <a:t>omain names, user agent strings from recon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449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Detection – A Practical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large percentage of intrusions we see involve the use of a password dumping tool at some point.</a:t>
            </a:r>
          </a:p>
          <a:p>
            <a:endParaRPr lang="en-US" dirty="0"/>
          </a:p>
          <a:p>
            <a:r>
              <a:rPr lang="en-US" dirty="0" smtClean="0"/>
              <a:t>If that happens so often, why not analyze all those tools, harvest </a:t>
            </a:r>
            <a:r>
              <a:rPr lang="en-US" dirty="0" err="1" smtClean="0"/>
              <a:t>intel</a:t>
            </a:r>
            <a:r>
              <a:rPr lang="en-US" dirty="0" smtClean="0"/>
              <a:t> from those tools that you can alert on, and deploy some detection?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0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Password Dumpers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5 tools we most commonly see in APT intrusions are:  WCE, </a:t>
            </a:r>
            <a:r>
              <a:rPr lang="en-US" dirty="0" err="1" smtClean="0"/>
              <a:t>pwdump</a:t>
            </a:r>
            <a:r>
              <a:rPr lang="en-US" dirty="0" smtClean="0"/>
              <a:t>, </a:t>
            </a:r>
            <a:r>
              <a:rPr lang="en-US" dirty="0" err="1" smtClean="0"/>
              <a:t>gsecdump</a:t>
            </a:r>
            <a:r>
              <a:rPr lang="en-US" dirty="0" smtClean="0"/>
              <a:t>, </a:t>
            </a:r>
            <a:r>
              <a:rPr lang="en-US" dirty="0" err="1" smtClean="0"/>
              <a:t>fgdump</a:t>
            </a:r>
            <a:r>
              <a:rPr lang="en-US" dirty="0" smtClean="0"/>
              <a:t>, and </a:t>
            </a:r>
            <a:r>
              <a:rPr lang="en-US" dirty="0" err="1" smtClean="0"/>
              <a:t>mimikatz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Does your IT staff or anyone regularly run any of those in production?  Probably not.</a:t>
            </a:r>
          </a:p>
          <a:p>
            <a:endParaRPr lang="en-US" dirty="0"/>
          </a:p>
          <a:p>
            <a:r>
              <a:rPr lang="en-US" dirty="0" smtClean="0"/>
              <a:t>Consider:  tool moving over network in </a:t>
            </a:r>
            <a:r>
              <a:rPr lang="en-US" dirty="0" err="1" smtClean="0"/>
              <a:t>cleartext</a:t>
            </a:r>
            <a:r>
              <a:rPr lang="en-US" dirty="0" smtClean="0"/>
              <a:t>, behavior on execution as HIPS see it, and AV </a:t>
            </a:r>
            <a:r>
              <a:rPr lang="en-US" dirty="0" err="1" smtClean="0"/>
              <a:t>streetnames</a:t>
            </a:r>
            <a:r>
              <a:rPr lang="en-US" dirty="0"/>
              <a:t> </a:t>
            </a:r>
            <a:r>
              <a:rPr lang="en-US" dirty="0" smtClean="0"/>
              <a:t>in case AV detects any of these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08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Did a Password Dumper Run?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</a:t>
            </a:r>
            <a:r>
              <a:rPr lang="en-US" dirty="0" smtClean="0"/>
              <a:t>ook </a:t>
            </a:r>
            <a:r>
              <a:rPr lang="en-US" dirty="0"/>
              <a:t>for execution attempts for each tool (WCE, </a:t>
            </a:r>
            <a:r>
              <a:rPr lang="en-US" dirty="0" err="1"/>
              <a:t>pwdump</a:t>
            </a:r>
            <a:r>
              <a:rPr lang="en-US" dirty="0"/>
              <a:t>, </a:t>
            </a:r>
            <a:r>
              <a:rPr lang="en-US" dirty="0" err="1"/>
              <a:t>gsecdump</a:t>
            </a:r>
            <a:r>
              <a:rPr lang="en-US" dirty="0"/>
              <a:t>, </a:t>
            </a:r>
            <a:r>
              <a:rPr lang="en-US" dirty="0" err="1"/>
              <a:t>fgdump</a:t>
            </a:r>
            <a:r>
              <a:rPr lang="en-US" dirty="0"/>
              <a:t>, and </a:t>
            </a:r>
            <a:r>
              <a:rPr lang="en-US" dirty="0" err="1"/>
              <a:t>Mimikatz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Examples:</a:t>
            </a:r>
          </a:p>
          <a:p>
            <a:pPr marL="514350" indent="-514350">
              <a:buAutoNum type="arabicPeriod"/>
            </a:pPr>
            <a:r>
              <a:rPr lang="en-US" dirty="0" smtClean="0"/>
              <a:t>All recent WCE versions attempt to load a DLL into LSASS.EXE out of %temp%.  </a:t>
            </a:r>
          </a:p>
          <a:p>
            <a:pPr marL="514350" indent="-514350">
              <a:buAutoNum type="arabicPeriod"/>
            </a:pPr>
            <a:r>
              <a:rPr lang="en-US" dirty="0"/>
              <a:t>FGDUMP loads PWDUMP out of %temp</a:t>
            </a:r>
            <a:r>
              <a:rPr lang="en-US" dirty="0" smtClean="0"/>
              <a:t>%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 smtClean="0"/>
              <a:t>Unusual </a:t>
            </a:r>
            <a:r>
              <a:rPr lang="en-US" dirty="0"/>
              <a:t>processes </a:t>
            </a:r>
            <a:r>
              <a:rPr lang="en-US" dirty="0" smtClean="0"/>
              <a:t>opening </a:t>
            </a:r>
            <a:r>
              <a:rPr lang="en-US" dirty="0"/>
              <a:t>a process handle to LSASS.EXE (thanks Rob!).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643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Password Dumpers (AV hits)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Find your antivirus </a:t>
            </a:r>
            <a:r>
              <a:rPr lang="en-US" dirty="0"/>
              <a:t>street names for all common credential dumpers used in intrusions (WCE, </a:t>
            </a:r>
            <a:r>
              <a:rPr lang="en-US" dirty="0" err="1"/>
              <a:t>pwdump</a:t>
            </a:r>
            <a:r>
              <a:rPr lang="en-US" dirty="0"/>
              <a:t>, </a:t>
            </a:r>
            <a:r>
              <a:rPr lang="en-US" dirty="0" err="1"/>
              <a:t>gsecdump</a:t>
            </a:r>
            <a:r>
              <a:rPr lang="en-US" dirty="0"/>
              <a:t>, </a:t>
            </a:r>
            <a:r>
              <a:rPr lang="en-US" dirty="0" err="1"/>
              <a:t>fgdump</a:t>
            </a:r>
            <a:r>
              <a:rPr lang="en-US" dirty="0"/>
              <a:t>, and </a:t>
            </a:r>
            <a:r>
              <a:rPr lang="en-US" dirty="0" err="1"/>
              <a:t>Mimikatz</a:t>
            </a:r>
            <a:r>
              <a:rPr lang="en-US" dirty="0"/>
              <a:t>) and look for those, whitelist out whatever is normal in your </a:t>
            </a:r>
            <a:r>
              <a:rPr lang="en-US" dirty="0" smtClean="0"/>
              <a:t>environment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658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You Find Data </a:t>
            </a:r>
            <a:r>
              <a:rPr lang="en-US" dirty="0" err="1" smtClean="0"/>
              <a:t>Exfil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transfer </a:t>
            </a:r>
            <a:r>
              <a:rPr lang="en-US" smtClean="0"/>
              <a:t>to some place </a:t>
            </a:r>
            <a:r>
              <a:rPr lang="en-US" dirty="0" smtClean="0"/>
              <a:t>that shouldn’t have happened</a:t>
            </a:r>
          </a:p>
          <a:p>
            <a:r>
              <a:rPr lang="en-US" dirty="0" smtClean="0"/>
              <a:t>Look for signs data was bundled up on attacked host</a:t>
            </a:r>
          </a:p>
          <a:p>
            <a:r>
              <a:rPr lang="en-US" dirty="0" smtClean="0"/>
              <a:t>Look for what files were accessed and created while intruder was on machine.</a:t>
            </a:r>
          </a:p>
          <a:p>
            <a:r>
              <a:rPr lang="en-US" dirty="0" smtClean="0"/>
              <a:t>RAR files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68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Detection –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Periodically </a:t>
            </a:r>
            <a:r>
              <a:rPr lang="en-US" dirty="0"/>
              <a:t>review existing </a:t>
            </a:r>
            <a:r>
              <a:rPr lang="en-US" dirty="0" smtClean="0"/>
              <a:t>deployed detection </a:t>
            </a:r>
            <a:r>
              <a:rPr lang="en-US" dirty="0"/>
              <a:t>that is based on things like file format specifications</a:t>
            </a:r>
            <a:r>
              <a:rPr lang="en-US" dirty="0" smtClean="0"/>
              <a:t>, and </a:t>
            </a:r>
            <a:r>
              <a:rPr lang="en-US" dirty="0"/>
              <a:t>specifics of how application protocols </a:t>
            </a:r>
            <a:r>
              <a:rPr lang="en-US" dirty="0" smtClean="0"/>
              <a:t>work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06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RAR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RAR file format header from 1.5 through 4.x was 7 bytes long: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</a:t>
            </a:r>
          </a:p>
          <a:p>
            <a:r>
              <a:rPr lang="en-US" dirty="0" smtClean="0"/>
              <a:t>But it CHANGED – switching to 8 bytes with version 5.0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61470" y="2820913"/>
            <a:ext cx="508029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52 61 72 21 1A 07 00  (</a:t>
            </a:r>
            <a:r>
              <a:rPr lang="en-US" sz="2800" b="1" dirty="0" err="1"/>
              <a:t>Rar</a:t>
            </a:r>
            <a:r>
              <a:rPr lang="en-US" sz="2800" b="1" dirty="0"/>
              <a:t>!...)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1470" y="5150071"/>
            <a:ext cx="508029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52 61 72 21 1A 07 </a:t>
            </a:r>
            <a:r>
              <a:rPr lang="en-US" sz="2800" b="1" dirty="0" smtClean="0">
                <a:solidFill>
                  <a:srgbClr val="FF0000"/>
                </a:solidFill>
              </a:rPr>
              <a:t>01 00  </a:t>
            </a:r>
            <a:r>
              <a:rPr lang="en-US" sz="2800" b="1" dirty="0"/>
              <a:t>(</a:t>
            </a:r>
            <a:r>
              <a:rPr lang="en-US" sz="2800" b="1" dirty="0" err="1"/>
              <a:t>Rar</a:t>
            </a:r>
            <a:r>
              <a:rPr lang="en-US" sz="2800" b="1" dirty="0"/>
              <a:t>!</a:t>
            </a:r>
            <a:r>
              <a:rPr lang="en-US" sz="2800" b="1" dirty="0" smtClean="0"/>
              <a:t>...</a:t>
            </a:r>
            <a:r>
              <a:rPr lang="en-US" sz="2800" b="1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839195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SMB Protocol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SMB protocol has changed over the years.  There is now SMB 2.0 (Vista) and SMB 3.x (Windows 8 and Server 2012).</a:t>
            </a:r>
          </a:p>
          <a:p>
            <a:endParaRPr lang="en-US" dirty="0"/>
          </a:p>
          <a:p>
            <a:r>
              <a:rPr lang="en-US" dirty="0"/>
              <a:t>Old detection might break.  </a:t>
            </a:r>
            <a:r>
              <a:rPr lang="en-US" dirty="0" smtClean="0"/>
              <a:t>Retest detection between old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/>
              <a:t>new, new </a:t>
            </a:r>
            <a:r>
              <a:rPr lang="en-US" dirty="0" smtClean="0">
                <a:sym typeface="Wingdings"/>
              </a:rPr>
              <a:t> old</a:t>
            </a:r>
            <a:r>
              <a:rPr lang="en-US" dirty="0" smtClean="0"/>
              <a:t> and new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/>
              <a:t>new.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79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Detection - Get Creative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you detect on what application whitelisting blocks?</a:t>
            </a:r>
          </a:p>
          <a:p>
            <a:r>
              <a:rPr lang="en-US" dirty="0" smtClean="0"/>
              <a:t>Can you mine your discovered software asset inventory for known files, services, drivers?</a:t>
            </a:r>
          </a:p>
          <a:p>
            <a:r>
              <a:rPr lang="en-US" dirty="0" smtClean="0"/>
              <a:t>Can you mine the data discovered from your internal vulnerability scans for remnants of intrusions?</a:t>
            </a:r>
          </a:p>
          <a:p>
            <a:r>
              <a:rPr lang="en-US" dirty="0" smtClean="0"/>
              <a:t>Mine your </a:t>
            </a:r>
            <a:r>
              <a:rPr lang="en-US" dirty="0" err="1" smtClean="0"/>
              <a:t>autoruns</a:t>
            </a:r>
            <a:r>
              <a:rPr lang="en-US" dirty="0" smtClean="0"/>
              <a:t>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1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66116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0967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Responding to What Exactly?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</a:t>
            </a:r>
            <a:r>
              <a:rPr lang="en-US" dirty="0" smtClean="0"/>
              <a:t>hat are you up against on the APT side?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Roughly, process at a high level is like this:</a:t>
            </a:r>
          </a:p>
          <a:p>
            <a:r>
              <a:rPr lang="en-US" dirty="0" smtClean="0"/>
              <a:t>Intelligence officer task operators because they are interested in something you have.   Operators first breach the target, move laterally once inside, and lastly collect and extract the requested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302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Responding to What Exactly?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“Operator” can be one person, a team, or specialized teams.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Skill levels of operators vary widely, ranging from amazingly effective, PhD level down to more junior skill levels.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High value targets get the best teams assigned.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92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The Initial Breach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“The initial breach always makes the most noise.  Did someone hear me?”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“Speed and accuracy.  Respond quickly.  More brains are better than one to determine what happened and scope the incident”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3424747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338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On Speed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“Moving slowly gets you caught earlier, and more often.  You need a plan, and you need to manage time on target effectively”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“Contain all affected systems quickly, to halt further intruder progress.  Make sure you quickly find all tools used to automate recon, lateral movement, </a:t>
            </a:r>
            <a:r>
              <a:rPr lang="en-US" dirty="0" err="1" smtClean="0"/>
              <a:t>etc</a:t>
            </a:r>
            <a:r>
              <a:rPr lang="en-US" dirty="0" smtClean="0"/>
              <a:t> by the intruder”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3674227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9004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Getting Caught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“I might get caught, so I have to have a backup plan, for both outside-in access, and inside-out”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“I cannot assume just the one machine I caught is the only one owned.  I need to check to see if this attacker owns any other machines like it, or anywhere else on my network”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3243298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714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Leaking Intel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“Understand how our tactics and procedures appear on the wire and on target machines.  Example:  the order that we deploy 0-days and custom tools might give our identity away”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“Don’t leak what you know back out publicly.  This </a:t>
            </a:r>
            <a:r>
              <a:rPr lang="en-US" dirty="0" err="1" smtClean="0"/>
              <a:t>intel</a:t>
            </a:r>
            <a:r>
              <a:rPr lang="en-US" dirty="0" smtClean="0"/>
              <a:t> isn’t easy to come by, and you don’t want to just give what you know away unnecessarily”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3969067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8115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Hiding Your Tracks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“Encrypt wherever possible for tool transfer, C2, and data </a:t>
            </a:r>
            <a:r>
              <a:rPr lang="en-US" dirty="0" err="1" smtClean="0"/>
              <a:t>exfil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“Encryption makes my life a lot harder, but I need to understand my adversary might use it often.”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3583507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967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</a:t>
            </a:r>
            <a:r>
              <a:rPr lang="en-US" dirty="0" smtClean="0"/>
              <a:t>How Your Adversary Thinks – Value of 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Attacker best practice </a:t>
            </a:r>
            <a:r>
              <a:rPr lang="en-US" dirty="0" smtClean="0"/>
              <a:t>– “More brains are better, and provide more consistently desirable outcomes”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Responder</a:t>
            </a:r>
            <a:r>
              <a:rPr lang="en-US" dirty="0" smtClean="0"/>
              <a:t> – “Understood, but even the teams seem to operate one person at a time mostly.  At best they may be working in pairs at a single keyboard at each stage of the attack.”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57200" y="3492787"/>
            <a:ext cx="8229600" cy="226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963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Responding How?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You need to be good at:</a:t>
            </a:r>
          </a:p>
          <a:p>
            <a:r>
              <a:rPr lang="en-US" b="1" dirty="0" smtClean="0"/>
              <a:t>Host analysis</a:t>
            </a:r>
            <a:r>
              <a:rPr lang="en-US" dirty="0" smtClean="0"/>
              <a:t>: analysis of log files, memory dumps, </a:t>
            </a:r>
            <a:r>
              <a:rPr lang="en-US" dirty="0" err="1" smtClean="0"/>
              <a:t>filesystem</a:t>
            </a:r>
            <a:r>
              <a:rPr lang="en-US" dirty="0" smtClean="0"/>
              <a:t> activity</a:t>
            </a:r>
          </a:p>
          <a:p>
            <a:r>
              <a:rPr lang="en-US" b="1" dirty="0" smtClean="0"/>
              <a:t>Network analysis</a:t>
            </a:r>
            <a:r>
              <a:rPr lang="en-US" dirty="0" smtClean="0"/>
              <a:t>:  to find the breach, lateral movement, signs of data </a:t>
            </a:r>
            <a:r>
              <a:rPr lang="en-US" dirty="0" err="1" smtClean="0"/>
              <a:t>exfil</a:t>
            </a:r>
            <a:endParaRPr lang="en-US" dirty="0" smtClean="0"/>
          </a:p>
          <a:p>
            <a:r>
              <a:rPr lang="en-US" b="1" dirty="0" smtClean="0"/>
              <a:t>Malware analysis</a:t>
            </a:r>
            <a:r>
              <a:rPr lang="en-US" dirty="0" smtClean="0"/>
              <a:t>: What does the malware do, does it talk on the network, how does the malware persist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92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DEFENSE and PREVENTION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191685"/>
              </p:ext>
            </p:extLst>
          </p:nvPr>
        </p:nvGraphicFramePr>
        <p:xfrm>
          <a:off x="457200" y="163221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54886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 </a:t>
            </a:r>
            <a:r>
              <a:rPr lang="en-US" dirty="0"/>
              <a:t>More Kill in Your Kill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“Cyber Kill Chain” (courtesy of Lockheed Martin)  </a:t>
            </a:r>
          </a:p>
          <a:p>
            <a:endParaRPr lang="en-US" dirty="0"/>
          </a:p>
          <a:p>
            <a:r>
              <a:rPr lang="en-US" dirty="0" smtClean="0"/>
              <a:t> note the “kill” part of it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Heavier focus on PREVENTION is the right direction for Incident Response – not forever working the same types of intrusions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48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 just patch right, or don’t deploy Java runtimes on your Windows </a:t>
            </a:r>
            <a:r>
              <a:rPr lang="en-US" dirty="0" smtClean="0"/>
              <a:t>clients?  </a:t>
            </a:r>
            <a:r>
              <a:rPr lang="en-US" dirty="0"/>
              <a:t>Yes.  Exactly.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Patching </a:t>
            </a:r>
            <a:r>
              <a:rPr lang="en-US" dirty="0"/>
              <a:t>Java matters, so do that as broadly as you can.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09732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if You Can’t Patch Java Everywhere?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400" b="1" dirty="0"/>
              <a:t>(SOURCE:  </a:t>
            </a:r>
            <a:r>
              <a:rPr lang="en-US" sz="4400" b="1" dirty="0" err="1"/>
              <a:t>contagio.blogspot.com</a:t>
            </a:r>
            <a:r>
              <a:rPr lang="en-US" sz="4400" b="1" dirty="0"/>
              <a:t>)</a:t>
            </a:r>
          </a:p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3700" b="1" dirty="0"/>
              <a:t>          CVE</a:t>
            </a:r>
            <a:r>
              <a:rPr lang="en-US" sz="3700" dirty="0"/>
              <a:t>		</a:t>
            </a:r>
            <a:r>
              <a:rPr lang="en-US" sz="3700" b="1" dirty="0"/>
              <a:t>Description</a:t>
            </a:r>
            <a:r>
              <a:rPr lang="en-US" sz="3700" dirty="0"/>
              <a:t>	</a:t>
            </a:r>
          </a:p>
          <a:p>
            <a:r>
              <a:rPr lang="en-US" sz="3700" b="1" dirty="0"/>
              <a:t>CVE-2011-3544</a:t>
            </a:r>
            <a:r>
              <a:rPr lang="en-US" sz="3700" dirty="0"/>
              <a:t>	vulnerability in the Rhino Script Engine	</a:t>
            </a:r>
          </a:p>
          <a:p>
            <a:r>
              <a:rPr lang="en-US" sz="3700" b="1" dirty="0"/>
              <a:t>CVE-2012-0500</a:t>
            </a:r>
            <a:r>
              <a:rPr lang="en-US" sz="3700" dirty="0"/>
              <a:t>	Sun Web Start Plugin Command Line Argument Injection	</a:t>
            </a:r>
          </a:p>
          <a:p>
            <a:r>
              <a:rPr lang="en-US" sz="3700" b="1" dirty="0"/>
              <a:t>CVE-2012-0507</a:t>
            </a:r>
            <a:r>
              <a:rPr lang="en-US" sz="3700" dirty="0"/>
              <a:t>	</a:t>
            </a:r>
            <a:r>
              <a:rPr lang="en-US" sz="3700" dirty="0" err="1"/>
              <a:t>AtomicReferenceArray</a:t>
            </a:r>
            <a:r>
              <a:rPr lang="en-US" sz="3700" dirty="0"/>
              <a:t>	</a:t>
            </a:r>
          </a:p>
          <a:p>
            <a:r>
              <a:rPr lang="en-US" sz="3700" b="1" dirty="0"/>
              <a:t>CVE-2012-1723</a:t>
            </a:r>
            <a:r>
              <a:rPr lang="en-US" sz="3700" dirty="0"/>
              <a:t>	Remote Code Execution 	</a:t>
            </a:r>
          </a:p>
          <a:p>
            <a:r>
              <a:rPr lang="en-US" sz="3700" b="1" dirty="0"/>
              <a:t>CVE-2012-4681</a:t>
            </a:r>
            <a:r>
              <a:rPr lang="en-US" sz="3700" dirty="0"/>
              <a:t>	crafted applet that bypasses </a:t>
            </a:r>
            <a:r>
              <a:rPr lang="en-US" sz="3700" dirty="0" err="1"/>
              <a:t>SecurityManager</a:t>
            </a:r>
            <a:r>
              <a:rPr lang="en-US" sz="3700" dirty="0"/>
              <a:t> restrictions	</a:t>
            </a:r>
          </a:p>
          <a:p>
            <a:r>
              <a:rPr lang="en-US" sz="3700" b="1" dirty="0"/>
              <a:t>CVE-2012-5076</a:t>
            </a:r>
            <a:r>
              <a:rPr lang="en-US" sz="3700" dirty="0"/>
              <a:t>	Arbitrary Code Execution	</a:t>
            </a:r>
          </a:p>
          <a:p>
            <a:r>
              <a:rPr lang="en-US" sz="3700" b="1" dirty="0"/>
              <a:t>CVE-2013-0422</a:t>
            </a:r>
            <a:r>
              <a:rPr lang="en-US" sz="3700" dirty="0"/>
              <a:t>	JMB/MBEAN and Reflection API allow a crafted applet to bypass </a:t>
            </a:r>
            <a:r>
              <a:rPr lang="en-US" sz="3700" dirty="0" err="1"/>
              <a:t>SecurityManager</a:t>
            </a:r>
            <a:r>
              <a:rPr lang="en-US" sz="3700" dirty="0"/>
              <a:t> restrictions	</a:t>
            </a:r>
          </a:p>
          <a:p>
            <a:r>
              <a:rPr lang="en-US" sz="3700" b="1" dirty="0"/>
              <a:t>CVE-2013-0431</a:t>
            </a:r>
            <a:r>
              <a:rPr lang="en-US" sz="3700" dirty="0"/>
              <a:t>	abuses the JMX classes from a Applet to run arbitrary code outside of the sandbox	</a:t>
            </a:r>
          </a:p>
          <a:p>
            <a:r>
              <a:rPr lang="en-US" sz="3700" b="1" dirty="0"/>
              <a:t>CVE-2013-0437</a:t>
            </a:r>
            <a:r>
              <a:rPr lang="en-US" sz="3700" dirty="0"/>
              <a:t>	Unspecified vulnerability in the Runtime Environment (JRE)  via unknown vectors related to 2D.	</a:t>
            </a:r>
          </a:p>
          <a:p>
            <a:r>
              <a:rPr lang="en-US" sz="3700" b="1" dirty="0"/>
              <a:t>CVE-2013-1488</a:t>
            </a:r>
            <a:r>
              <a:rPr lang="en-US" sz="3700" dirty="0"/>
              <a:t>	via unspecified vectors involving reflection, Libraries, "improper </a:t>
            </a:r>
            <a:r>
              <a:rPr lang="en-US" sz="3700" dirty="0" err="1"/>
              <a:t>toString</a:t>
            </a:r>
            <a:r>
              <a:rPr lang="en-US" sz="3700" dirty="0"/>
              <a:t> calls," and the JDBC driver manager	</a:t>
            </a:r>
          </a:p>
          <a:p>
            <a:r>
              <a:rPr lang="en-US" sz="3700" b="1" dirty="0"/>
              <a:t>CVE-2013-1493</a:t>
            </a:r>
            <a:r>
              <a:rPr lang="en-US" sz="3700" dirty="0"/>
              <a:t>	The color </a:t>
            </a:r>
            <a:r>
              <a:rPr lang="en-US" sz="3700" dirty="0" err="1"/>
              <a:t>mgmnt</a:t>
            </a:r>
            <a:r>
              <a:rPr lang="en-US" sz="3700" dirty="0"/>
              <a:t> (CMM) functionality in the 2D - an out-of-bounds read or memory corruption in the JVM</a:t>
            </a:r>
          </a:p>
          <a:p>
            <a:r>
              <a:rPr lang="en-US" sz="3700" b="1" dirty="0"/>
              <a:t>CVE-2013-2423</a:t>
            </a:r>
            <a:r>
              <a:rPr lang="en-US" sz="3700" dirty="0"/>
              <a:t>	SE 7 Update 17 and earlier allows remote attackers to affect integrity via unknown vectors related to </a:t>
            </a:r>
            <a:r>
              <a:rPr lang="en-US" sz="3700" dirty="0" err="1"/>
              <a:t>HotSpot</a:t>
            </a:r>
            <a:r>
              <a:rPr lang="en-US" sz="3700" dirty="0"/>
              <a:t>.	</a:t>
            </a:r>
          </a:p>
          <a:p>
            <a:r>
              <a:rPr lang="en-US" sz="3700" b="1" dirty="0"/>
              <a:t>CVE-2013-2460</a:t>
            </a:r>
            <a:r>
              <a:rPr lang="en-US" sz="3700" dirty="0"/>
              <a:t>	Oracle SE 7 Update 21 and earlier, and </a:t>
            </a:r>
            <a:r>
              <a:rPr lang="en-US" sz="3700" dirty="0" err="1"/>
              <a:t>OpenJDK</a:t>
            </a:r>
            <a:r>
              <a:rPr lang="en-US" sz="3700" dirty="0"/>
              <a:t> 7 -  "insufficient access checks" in the tracing component.</a:t>
            </a:r>
          </a:p>
          <a:p>
            <a:r>
              <a:rPr lang="en-US" sz="3700" b="1" dirty="0"/>
              <a:t>CVE-2013-2463</a:t>
            </a:r>
            <a:r>
              <a:rPr lang="en-US" sz="3700" dirty="0"/>
              <a:t>	&lt; Update 21 6 Update 45 and earlier, and&lt;  5.0 Update 45, and </a:t>
            </a:r>
            <a:r>
              <a:rPr lang="en-US" sz="3700" dirty="0" err="1"/>
              <a:t>OpenJDK</a:t>
            </a:r>
            <a:r>
              <a:rPr lang="en-US" sz="3700" dirty="0"/>
              <a:t> 7 -Incorrect image attribute verification in 2D.	</a:t>
            </a:r>
          </a:p>
          <a:p>
            <a:r>
              <a:rPr lang="en-US" sz="3700" b="1" dirty="0"/>
              <a:t>CVE-2013-2465</a:t>
            </a:r>
            <a:r>
              <a:rPr lang="en-US" sz="3700" dirty="0"/>
              <a:t>	Memory Corruption Vulnerability	</a:t>
            </a:r>
          </a:p>
          <a:p>
            <a:r>
              <a:rPr lang="en-US" sz="3700" b="1" dirty="0"/>
              <a:t>CVE-2013-2471</a:t>
            </a:r>
            <a:r>
              <a:rPr lang="en-US" sz="3700" dirty="0"/>
              <a:t>	&lt; 7 Update 21, &lt; 6 Update 45, and &lt; 5.0 Update 45, and </a:t>
            </a:r>
            <a:r>
              <a:rPr lang="en-US" sz="3700" dirty="0" err="1"/>
              <a:t>OpenJDK</a:t>
            </a:r>
            <a:r>
              <a:rPr lang="en-US" sz="3700" dirty="0"/>
              <a:t> 7 - Incorrect </a:t>
            </a:r>
            <a:r>
              <a:rPr lang="en-US" sz="3700" dirty="0" err="1"/>
              <a:t>IntegerComponentRaster</a:t>
            </a:r>
            <a:r>
              <a:rPr lang="en-US" sz="3700" dirty="0"/>
              <a:t> size checks	</a:t>
            </a:r>
          </a:p>
          <a:p>
            <a:r>
              <a:rPr lang="en-US" sz="3700" b="1" dirty="0"/>
              <a:t>CVE-2013-2472</a:t>
            </a:r>
            <a:r>
              <a:rPr lang="en-US" sz="3700" dirty="0"/>
              <a:t>	&lt; SE 7 Update 21, &lt; 6 Update 45,  &lt; 5.0 Update 45, and </a:t>
            </a:r>
            <a:r>
              <a:rPr lang="en-US" sz="3700" dirty="0" err="1"/>
              <a:t>OpenJDK</a:t>
            </a:r>
            <a:r>
              <a:rPr lang="en-US" sz="3700" dirty="0"/>
              <a:t> 7 Incorrect </a:t>
            </a:r>
            <a:r>
              <a:rPr lang="en-US" sz="3700" dirty="0" err="1"/>
              <a:t>ShortBandedRaster</a:t>
            </a:r>
            <a:r>
              <a:rPr lang="en-US" sz="3700" dirty="0"/>
              <a:t> size checks in 2D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763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Highly effective if:</a:t>
            </a:r>
          </a:p>
          <a:p>
            <a:r>
              <a:rPr lang="en-US" dirty="0" smtClean="0"/>
              <a:t>You can deploy it without breaking production</a:t>
            </a:r>
          </a:p>
          <a:p>
            <a:r>
              <a:rPr lang="en-US" dirty="0" smtClean="0"/>
              <a:t>And if you keep EMET patched and up-to-date</a:t>
            </a:r>
          </a:p>
          <a:p>
            <a:r>
              <a:rPr lang="en-US" dirty="0" smtClean="0"/>
              <a:t>See warning later about Java coverage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1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EMET and Java</a:t>
            </a:r>
            <a:endParaRPr lang="en-US" dirty="0"/>
          </a:p>
        </p:txBody>
      </p:sp>
      <p:pic>
        <p:nvPicPr>
          <p:cNvPr id="4" name="Content Placeholder 3" descr="Screen Shot 2014-05-13 at 7.57.19 A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151" b="-13151"/>
          <a:stretch>
            <a:fillRect/>
          </a:stretch>
        </p:blipFill>
        <p:spPr>
          <a:xfrm>
            <a:off x="457200" y="1878246"/>
            <a:ext cx="8229600" cy="4247917"/>
          </a:xfrm>
        </p:spPr>
      </p:pic>
      <p:sp>
        <p:nvSpPr>
          <p:cNvPr id="5" name="TextBox 4"/>
          <p:cNvSpPr txBox="1"/>
          <p:nvPr/>
        </p:nvSpPr>
        <p:spPr>
          <a:xfrm>
            <a:off x="457200" y="1675481"/>
            <a:ext cx="761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SOURCE:  Microsoft Security Intelligence Report May 2014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76707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EMET Helps</a:t>
            </a:r>
            <a:endParaRPr lang="en-US" dirty="0"/>
          </a:p>
        </p:txBody>
      </p:sp>
      <p:pic>
        <p:nvPicPr>
          <p:cNvPr id="4" name="Content Placeholder 3" descr="Screen Shot Contagio Exploit kit vuln mix chart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02" r="-4602"/>
          <a:stretch>
            <a:fillRect/>
          </a:stretch>
        </p:blipFill>
        <p:spPr/>
      </p:pic>
      <p:sp>
        <p:nvSpPr>
          <p:cNvPr id="18" name="Double Bracket 17"/>
          <p:cNvSpPr/>
          <p:nvPr/>
        </p:nvSpPr>
        <p:spPr>
          <a:xfrm>
            <a:off x="7283046" y="1768251"/>
            <a:ext cx="627017" cy="851975"/>
          </a:xfrm>
          <a:prstGeom prst="bracketPair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639951" y="1205626"/>
            <a:ext cx="643095" cy="394574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ouble Bracket 21"/>
          <p:cNvSpPr/>
          <p:nvPr/>
        </p:nvSpPr>
        <p:spPr>
          <a:xfrm>
            <a:off x="7283046" y="2732751"/>
            <a:ext cx="627017" cy="2041526"/>
          </a:xfrm>
          <a:prstGeom prst="bracketPair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823209" y="3472202"/>
            <a:ext cx="2347295" cy="5847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Not Here </a:t>
            </a:r>
            <a:r>
              <a:rPr lang="en-US" sz="3200" dirty="0" smtClean="0">
                <a:sym typeface="Wingdings"/>
              </a:rPr>
              <a:t>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7745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 Whitelisting – How We Think About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effective </a:t>
            </a:r>
            <a:r>
              <a:rPr lang="en-US" dirty="0"/>
              <a:t>on clients with relatively static configurations like kiosks, </a:t>
            </a:r>
            <a:r>
              <a:rPr lang="en-US" dirty="0" smtClean="0"/>
              <a:t>call center machines, </a:t>
            </a:r>
            <a:r>
              <a:rPr lang="en-US" dirty="0"/>
              <a:t>ATMs, point of sale </a:t>
            </a:r>
            <a:r>
              <a:rPr lang="en-US" dirty="0" smtClean="0"/>
              <a:t>terminals, maybe call center machines. </a:t>
            </a:r>
          </a:p>
          <a:p>
            <a:endParaRPr lang="en-US" dirty="0"/>
          </a:p>
          <a:p>
            <a:r>
              <a:rPr lang="en-US" dirty="0" smtClean="0"/>
              <a:t>effective </a:t>
            </a:r>
            <a:r>
              <a:rPr lang="en-US" dirty="0"/>
              <a:t>on domain controllers, </a:t>
            </a:r>
            <a:r>
              <a:rPr lang="en-US" dirty="0" smtClean="0"/>
              <a:t>maybe some utility </a:t>
            </a:r>
            <a:r>
              <a:rPr lang="en-US" dirty="0"/>
              <a:t>servers with relatively </a:t>
            </a:r>
            <a:r>
              <a:rPr lang="en-US" dirty="0" smtClean="0"/>
              <a:t>static configurations.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337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Dealing with Hostile Office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Recall where we said malicious Office documents took the #1 spot for targeted </a:t>
            </a:r>
            <a:r>
              <a:rPr lang="en-US" dirty="0" err="1" smtClean="0"/>
              <a:t>spearphishing</a:t>
            </a:r>
            <a:r>
              <a:rPr lang="en-US" dirty="0" smtClean="0"/>
              <a:t> in 2012.</a:t>
            </a:r>
          </a:p>
          <a:p>
            <a:endParaRPr lang="en-US" dirty="0"/>
          </a:p>
          <a:p>
            <a:r>
              <a:rPr lang="en-US" dirty="0" smtClean="0"/>
              <a:t>Why is that, and what do we do about it</a:t>
            </a:r>
            <a:r>
              <a:rPr lang="en-US" dirty="0"/>
              <a:t>?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52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to Do About Attacks Through Third Party and Partner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>
              <a:spcBef>
                <a:spcPts val="0"/>
              </a:spcBef>
              <a:defRPr/>
            </a:pPr>
            <a:r>
              <a:rPr lang="en-US" dirty="0" smtClean="0"/>
              <a:t>Know the security staff at partner organizations.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 smtClean="0"/>
          </a:p>
          <a:p>
            <a:pPr>
              <a:spcBef>
                <a:spcPts val="0"/>
              </a:spcBef>
              <a:defRPr/>
            </a:pPr>
            <a:r>
              <a:rPr lang="en-US" dirty="0" smtClean="0"/>
              <a:t>Know what a breach coming over that connection would look like.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 smtClean="0"/>
          </a:p>
          <a:p>
            <a:r>
              <a:rPr lang="en-US" dirty="0" smtClean="0"/>
              <a:t>Consider funneling third parties through a very small number of network chokepoints.  </a:t>
            </a:r>
          </a:p>
          <a:p>
            <a:endParaRPr lang="en-US" dirty="0" smtClean="0"/>
          </a:p>
          <a:p>
            <a:r>
              <a:rPr lang="en-US" dirty="0" smtClean="0"/>
              <a:t>Reduce the attack service exposed from your own network to partner connections.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56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Good Security is Good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Good </a:t>
            </a:r>
            <a:r>
              <a:rPr lang="en-US" dirty="0"/>
              <a:t>security is still good security, and pretty much the same defenses work effectively on both the APT and non-APT </a:t>
            </a:r>
            <a:r>
              <a:rPr lang="en-US" dirty="0" smtClean="0"/>
              <a:t>sides.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837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People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123051"/>
              </p:ext>
            </p:extLst>
          </p:nvPr>
        </p:nvGraphicFramePr>
        <p:xfrm>
          <a:off x="457200" y="163221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  <a:effectLst>
            <a:glow rad="165100">
              <a:srgbClr val="FF0000">
                <a:alpha val="75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0789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People 101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Treat people with respect</a:t>
            </a:r>
          </a:p>
          <a:p>
            <a:r>
              <a:rPr lang="en-US" dirty="0" smtClean="0"/>
              <a:t>Don’t </a:t>
            </a:r>
            <a:r>
              <a:rPr lang="en-US" dirty="0"/>
              <a:t>suppress or discourage questions or </a:t>
            </a:r>
            <a:r>
              <a:rPr lang="en-US" dirty="0" smtClean="0"/>
              <a:t>ideas</a:t>
            </a:r>
          </a:p>
          <a:p>
            <a:r>
              <a:rPr lang="en-US" dirty="0" smtClean="0"/>
              <a:t>Continuously improve the average skill level of your team</a:t>
            </a:r>
          </a:p>
          <a:p>
            <a:r>
              <a:rPr lang="en-US" dirty="0" smtClean="0"/>
              <a:t>Hold yourself to a high standard</a:t>
            </a:r>
          </a:p>
          <a:p>
            <a:r>
              <a:rPr lang="en-US" dirty="0" smtClean="0"/>
              <a:t>Manage your people to a high standard, and set your people up for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58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Documentation and Training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iki </a:t>
            </a:r>
            <a:r>
              <a:rPr lang="en-US" dirty="0"/>
              <a:t>captures tribal knowledge - one shared repository versus multiple </a:t>
            </a:r>
            <a:r>
              <a:rPr lang="en-US" dirty="0" smtClean="0"/>
              <a:t>repositories</a:t>
            </a:r>
          </a:p>
          <a:p>
            <a:endParaRPr lang="en-US" dirty="0"/>
          </a:p>
          <a:p>
            <a:r>
              <a:rPr lang="en-US" dirty="0" smtClean="0"/>
              <a:t>Discourage/stigmatize </a:t>
            </a:r>
            <a:r>
              <a:rPr lang="en-US" dirty="0"/>
              <a:t>knowledge </a:t>
            </a:r>
            <a:r>
              <a:rPr lang="en-US" dirty="0" smtClean="0"/>
              <a:t>hoarding</a:t>
            </a:r>
          </a:p>
          <a:p>
            <a:endParaRPr lang="en-US" dirty="0"/>
          </a:p>
          <a:p>
            <a:r>
              <a:rPr lang="en-US" dirty="0" smtClean="0"/>
              <a:t>Consider using </a:t>
            </a:r>
            <a:r>
              <a:rPr lang="en-US" dirty="0"/>
              <a:t>videos to capture experts' training </a:t>
            </a:r>
            <a:r>
              <a:rPr lang="en-US" dirty="0" smtClean="0"/>
              <a:t>sessions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93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Talk </a:t>
            </a:r>
            <a:r>
              <a:rPr lang="en-US" dirty="0"/>
              <a:t>to colleagues</a:t>
            </a:r>
          </a:p>
          <a:p>
            <a:r>
              <a:rPr lang="en-US" dirty="0" smtClean="0"/>
              <a:t>Talk </a:t>
            </a:r>
            <a:r>
              <a:rPr lang="en-US" dirty="0"/>
              <a:t>to </a:t>
            </a:r>
            <a:r>
              <a:rPr lang="en-US" dirty="0" smtClean="0"/>
              <a:t>leadership</a:t>
            </a:r>
          </a:p>
          <a:p>
            <a:r>
              <a:rPr lang="en-US" dirty="0"/>
              <a:t>Talk to </a:t>
            </a:r>
            <a:r>
              <a:rPr lang="en-US" dirty="0" smtClean="0"/>
              <a:t>vendors</a:t>
            </a:r>
          </a:p>
          <a:p>
            <a:r>
              <a:rPr lang="en-US" dirty="0" smtClean="0"/>
              <a:t>Talk </a:t>
            </a:r>
            <a:r>
              <a:rPr lang="en-US" dirty="0"/>
              <a:t>to red team/internal </a:t>
            </a:r>
            <a:r>
              <a:rPr lang="en-US" dirty="0" err="1" smtClean="0"/>
              <a:t>pentesters</a:t>
            </a:r>
            <a:endParaRPr lang="en-US" dirty="0" smtClean="0"/>
          </a:p>
          <a:p>
            <a:r>
              <a:rPr lang="en-US" dirty="0" smtClean="0"/>
              <a:t>Talk </a:t>
            </a:r>
            <a:r>
              <a:rPr lang="en-US" dirty="0"/>
              <a:t>to customers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41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Surveys (Yes, Really!)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 your customers think your </a:t>
            </a:r>
            <a:r>
              <a:rPr lang="en-US" smtClean="0"/>
              <a:t>team is </a:t>
            </a:r>
            <a:r>
              <a:rPr lang="en-US" dirty="0" smtClean="0"/>
              <a:t>as good at incident response as you think you are?</a:t>
            </a:r>
          </a:p>
          <a:p>
            <a:endParaRPr lang="en-US" dirty="0"/>
          </a:p>
          <a:p>
            <a:r>
              <a:rPr lang="en-US" dirty="0" smtClean="0"/>
              <a:t>We have found simple surveys invaluable.  We use a survey based on the “Ultimate </a:t>
            </a:r>
            <a:r>
              <a:rPr lang="en-US" dirty="0"/>
              <a:t>Question” (http://</a:t>
            </a:r>
            <a:r>
              <a:rPr lang="en-US" dirty="0" err="1"/>
              <a:t>www.netpromotersystem.com</a:t>
            </a:r>
            <a:r>
              <a:rPr lang="en-US" dirty="0"/>
              <a:t>/book/</a:t>
            </a:r>
            <a:r>
              <a:rPr lang="en-US" dirty="0" err="1" smtClean="0"/>
              <a:t>index.aspx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069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 One Question Works For 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“The </a:t>
            </a:r>
            <a:r>
              <a:rPr lang="en-US" dirty="0"/>
              <a:t>Advanced Threats team strives to provide world-class incident response services focused on preventing and stopping active APT attacks against GE network resources. Your feedback is critical to helping us ensure we are meeting that goal</a:t>
            </a:r>
            <a:r>
              <a:rPr lang="en-US" dirty="0" smtClean="0"/>
              <a:t>.”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Then we ask for a rating from 1-10 on how we are meeting that goal, with a space for free form feedback supporting that rating.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48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Closing Thoughts</a:t>
            </a:r>
            <a:endParaRPr lang="en-US" dirty="0"/>
          </a:p>
        </p:txBody>
      </p:sp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2326673634"/>
              </p:ext>
            </p:extLst>
          </p:nvPr>
        </p:nvGraphicFramePr>
        <p:xfrm>
          <a:off x="1524000" y="1738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3392323" y="2539852"/>
            <a:ext cx="2395527" cy="218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Great</a:t>
            </a:r>
          </a:p>
          <a:p>
            <a:pPr algn="ctr"/>
            <a:r>
              <a:rPr lang="en-US" sz="2800" dirty="0" smtClean="0"/>
              <a:t>People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4243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Sincere thanks to all former and current GE-CIRT members, and all of our </a:t>
            </a:r>
            <a:r>
              <a:rPr lang="en-US" smtClean="0"/>
              <a:t>colleagues across </a:t>
            </a:r>
            <a:r>
              <a:rPr lang="en-US" dirty="0" smtClean="0"/>
              <a:t>GE!  </a:t>
            </a:r>
          </a:p>
          <a:p>
            <a:endParaRPr lang="en-US" dirty="0" smtClean="0"/>
          </a:p>
          <a:p>
            <a:r>
              <a:rPr lang="en-US" dirty="0" smtClean="0"/>
              <a:t>Katherine </a:t>
            </a:r>
            <a:r>
              <a:rPr lang="en-US" dirty="0" err="1" smtClean="0"/>
              <a:t>Trame</a:t>
            </a:r>
            <a:r>
              <a:rPr lang="en-US" dirty="0" smtClean="0"/>
              <a:t> - @</a:t>
            </a:r>
            <a:r>
              <a:rPr lang="en-US" dirty="0" err="1" smtClean="0"/>
              <a:t>ktrame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David Sharpe - @</a:t>
            </a:r>
            <a:r>
              <a:rPr lang="en-US" dirty="0" err="1" smtClean="0"/>
              <a:t>sharpesecurity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8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</TotalTime>
  <Words>2448</Words>
  <Application>Microsoft Macintosh PowerPoint</Application>
  <PresentationFormat>On-screen Show (4:3)</PresentationFormat>
  <Paragraphs>459</Paragraphs>
  <Slides>63</Slides>
  <Notes>63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Real World Intrusion Response - Lessons from the Trenches</vt:lpstr>
      <vt:lpstr>Disclaimer</vt:lpstr>
      <vt:lpstr>Introductions</vt:lpstr>
      <vt:lpstr>Introductions</vt:lpstr>
      <vt:lpstr>Short GE-CIRT Background</vt:lpstr>
      <vt:lpstr>Today’s GE-CIRT</vt:lpstr>
      <vt:lpstr>The Process</vt:lpstr>
      <vt:lpstr>Trends</vt:lpstr>
      <vt:lpstr>Trend – Attacks Through Third Party and Partner Connections</vt:lpstr>
      <vt:lpstr>Trend – Hostile Office Documents</vt:lpstr>
      <vt:lpstr>Trend – Java Remains a Problem</vt:lpstr>
      <vt:lpstr>Java’s Near Complete Domination</vt:lpstr>
      <vt:lpstr>Java Trend – From Contagio</vt:lpstr>
      <vt:lpstr>Trends – APT is Getting Personal</vt:lpstr>
      <vt:lpstr>INTEL</vt:lpstr>
      <vt:lpstr>Value of Different Types of Intel</vt:lpstr>
      <vt:lpstr>Intel – Sharing Between Organizations</vt:lpstr>
      <vt:lpstr>Open Source Intel (OSINT)</vt:lpstr>
      <vt:lpstr>OSINT – Example</vt:lpstr>
      <vt:lpstr>OSINT Example (cont)</vt:lpstr>
      <vt:lpstr>Intel- Where to Put it All?</vt:lpstr>
      <vt:lpstr>Intel – When You Have Too Much</vt:lpstr>
      <vt:lpstr>Detection</vt:lpstr>
      <vt:lpstr>What Works For Us?</vt:lpstr>
      <vt:lpstr>What Works Best for Us for Detection?</vt:lpstr>
      <vt:lpstr>Detection – A Practical Example</vt:lpstr>
      <vt:lpstr>Handling Password Dumpers</vt:lpstr>
      <vt:lpstr>Did a Password Dumper Run?</vt:lpstr>
      <vt:lpstr>Password Dumpers (AV hits)</vt:lpstr>
      <vt:lpstr>How Do You Find Data Exfil?</vt:lpstr>
      <vt:lpstr>Detection – Reviews</vt:lpstr>
      <vt:lpstr>RAR Files</vt:lpstr>
      <vt:lpstr>SMB Protocol Considerations</vt:lpstr>
      <vt:lpstr>Detection - Get Creative</vt:lpstr>
      <vt:lpstr>Response</vt:lpstr>
      <vt:lpstr>Responding to What Exactly?</vt:lpstr>
      <vt:lpstr>Responding to What Exactly?</vt:lpstr>
      <vt:lpstr>Understand How Your Adversary Thinks – The Initial Breach</vt:lpstr>
      <vt:lpstr>Understand How Your Adversary Thinks – On Speed</vt:lpstr>
      <vt:lpstr>Understand How Your Adversary Thinks – Getting Caught</vt:lpstr>
      <vt:lpstr>Understand How Your Adversary Thinks – Leaking Intel</vt:lpstr>
      <vt:lpstr>Understand How Your Adversary Thinks – Hiding Your Tracks</vt:lpstr>
      <vt:lpstr>Understand How Your Adversary Thinks – Value of Teamwork</vt:lpstr>
      <vt:lpstr>Responding How?</vt:lpstr>
      <vt:lpstr>DEFENSE and PREVENTION</vt:lpstr>
      <vt:lpstr>Put More Kill in Your Kill Chain</vt:lpstr>
      <vt:lpstr>Java</vt:lpstr>
      <vt:lpstr>What if You Can’t Patch Java Everywhere?</vt:lpstr>
      <vt:lpstr>EMET</vt:lpstr>
      <vt:lpstr>EMET and Java</vt:lpstr>
      <vt:lpstr>Where EMET Helps</vt:lpstr>
      <vt:lpstr>Application Whitelisting – How We Think About It</vt:lpstr>
      <vt:lpstr>Dealing with Hostile Office Documents</vt:lpstr>
      <vt:lpstr>What to Do About Attacks Through Third Party and Partner Connections</vt:lpstr>
      <vt:lpstr>Good Security is Good Security</vt:lpstr>
      <vt:lpstr>People</vt:lpstr>
      <vt:lpstr>People 101</vt:lpstr>
      <vt:lpstr>Documentation and Training</vt:lpstr>
      <vt:lpstr>Communicate</vt:lpstr>
      <vt:lpstr>Surveys (Yes, Really!)</vt:lpstr>
      <vt:lpstr>Just One Question Works For Us</vt:lpstr>
      <vt:lpstr>Closing Thoughts</vt:lpstr>
      <vt:lpstr>Questions?</vt:lpstr>
    </vt:vector>
  </TitlesOfParts>
  <Company>General Electric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Intrusion Response - Lessons from the Trenches</dc:title>
  <dc:creator>David Sharpe</dc:creator>
  <cp:lastModifiedBy>David Sharpe</cp:lastModifiedBy>
  <cp:revision>951</cp:revision>
  <dcterms:created xsi:type="dcterms:W3CDTF">2014-04-22T13:45:28Z</dcterms:created>
  <dcterms:modified xsi:type="dcterms:W3CDTF">2014-05-25T20:36:07Z</dcterms:modified>
</cp:coreProperties>
</file>