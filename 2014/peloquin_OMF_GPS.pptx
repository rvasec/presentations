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amr" ContentType="audio/unknown"/>
  <Default Extension="vml" ContentType="application/vnd.openxmlformats-officedocument.vmlDrawing"/>
  <Default Extension="gif" ContentType="image/gif"/>
  <Default Extension="docx" ContentType="application/vnd.openxmlformats-officedocument.wordprocessingml.document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  <p:sldMasterId id="2147483649" r:id="rId2"/>
    <p:sldMasterId id="2147483684" r:id="rId3"/>
  </p:sldMasterIdLst>
  <p:notesMasterIdLst>
    <p:notesMasterId r:id="rId67"/>
  </p:notesMasterIdLst>
  <p:sldIdLst>
    <p:sldId id="258" r:id="rId4"/>
    <p:sldId id="257" r:id="rId5"/>
    <p:sldId id="306" r:id="rId6"/>
    <p:sldId id="307" r:id="rId7"/>
    <p:sldId id="308" r:id="rId8"/>
    <p:sldId id="309" r:id="rId9"/>
    <p:sldId id="326" r:id="rId10"/>
    <p:sldId id="310" r:id="rId11"/>
    <p:sldId id="312" r:id="rId12"/>
    <p:sldId id="311" r:id="rId13"/>
    <p:sldId id="317" r:id="rId14"/>
    <p:sldId id="318" r:id="rId15"/>
    <p:sldId id="315" r:id="rId16"/>
    <p:sldId id="316" r:id="rId17"/>
    <p:sldId id="319" r:id="rId18"/>
    <p:sldId id="320" r:id="rId19"/>
    <p:sldId id="321" r:id="rId20"/>
    <p:sldId id="327" r:id="rId21"/>
    <p:sldId id="322" r:id="rId22"/>
    <p:sldId id="323" r:id="rId23"/>
    <p:sldId id="324" r:id="rId24"/>
    <p:sldId id="325" r:id="rId25"/>
    <p:sldId id="363" r:id="rId26"/>
    <p:sldId id="364" r:id="rId27"/>
    <p:sldId id="368" r:id="rId28"/>
    <p:sldId id="369" r:id="rId29"/>
    <p:sldId id="328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67" r:id="rId38"/>
    <p:sldId id="330" r:id="rId39"/>
    <p:sldId id="340" r:id="rId40"/>
    <p:sldId id="341" r:id="rId41"/>
    <p:sldId id="342" r:id="rId42"/>
    <p:sldId id="343" r:id="rId43"/>
    <p:sldId id="365" r:id="rId44"/>
    <p:sldId id="366" r:id="rId45"/>
    <p:sldId id="362" r:id="rId46"/>
    <p:sldId id="345" r:id="rId47"/>
    <p:sldId id="346" r:id="rId48"/>
    <p:sldId id="344" r:id="rId49"/>
    <p:sldId id="331" r:id="rId50"/>
    <p:sldId id="348" r:id="rId51"/>
    <p:sldId id="350" r:id="rId52"/>
    <p:sldId id="349" r:id="rId53"/>
    <p:sldId id="352" r:id="rId54"/>
    <p:sldId id="351" r:id="rId55"/>
    <p:sldId id="361" r:id="rId56"/>
    <p:sldId id="354" r:id="rId57"/>
    <p:sldId id="360" r:id="rId58"/>
    <p:sldId id="355" r:id="rId59"/>
    <p:sldId id="356" r:id="rId60"/>
    <p:sldId id="329" r:id="rId61"/>
    <p:sldId id="358" r:id="rId62"/>
    <p:sldId id="370" r:id="rId63"/>
    <p:sldId id="371" r:id="rId64"/>
    <p:sldId id="372" r:id="rId65"/>
    <p:sldId id="357" r:id="rId66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1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notesMaster" Target="notesMasters/notesMaster1.xml"/><Relationship Id="rId68" Type="http://schemas.openxmlformats.org/officeDocument/2006/relationships/printerSettings" Target="printerSettings/printerSettings1.bin"/><Relationship Id="rId69" Type="http://schemas.openxmlformats.org/officeDocument/2006/relationships/presProps" Target="presProps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5ABF5-8F9A-D64A-BE0B-A54762D6B8F6}" type="datetimeFigureOut">
              <a:rPr lang="en-US" smtClean="0"/>
              <a:t>5/7/14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41D73-01CC-0648-B64A-7EC07A756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2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8B4B2E-1F86-44A3-BB7D-C5DFE0DBD3E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Relationship Id="rId3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eg"/><Relationship Id="rId3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61080"/>
      </p:ext>
    </p:extLst>
  </p:cSld>
  <p:clrMapOvr>
    <a:masterClrMapping/>
  </p:clrMapOvr>
  <p:transition xmlns:p14="http://schemas.microsoft.com/office/powerpoint/2010/main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47422"/>
      </p:ext>
    </p:extLst>
  </p:cSld>
  <p:clrMapOvr>
    <a:masterClrMapping/>
  </p:clrMapOvr>
  <p:transition xmlns:p14="http://schemas.microsoft.com/office/powerpoint/2010/main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8338451"/>
      </p:ext>
    </p:extLst>
  </p:cSld>
  <p:clrMapOvr>
    <a:masterClrMapping/>
  </p:clrMapOvr>
  <p:transition xmlns:p14="http://schemas.microsoft.com/office/powerpoint/2010/main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3810000"/>
            <a:ext cx="2514600" cy="304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5600" y="3810000"/>
            <a:ext cx="2514600" cy="304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1892"/>
      </p:ext>
    </p:extLst>
  </p:cSld>
  <p:clrMapOvr>
    <a:masterClrMapping/>
  </p:clrMapOvr>
  <p:transition xmlns:p14="http://schemas.microsoft.com/office/powerpoint/2010/main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48484"/>
      </p:ext>
    </p:extLst>
  </p:cSld>
  <p:clrMapOvr>
    <a:masterClrMapping/>
  </p:clrMapOvr>
  <p:transition xmlns:p14="http://schemas.microsoft.com/office/powerpoint/2010/main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17552"/>
      </p:ext>
    </p:extLst>
  </p:cSld>
  <p:clrMapOvr>
    <a:masterClrMapping/>
  </p:clrMapOvr>
  <p:transition xmlns:p14="http://schemas.microsoft.com/office/powerpoint/2010/main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879120"/>
      </p:ext>
    </p:extLst>
  </p:cSld>
  <p:clrMapOvr>
    <a:masterClrMapping/>
  </p:clrMapOvr>
  <p:transition xmlns:p14="http://schemas.microsoft.com/office/powerpoint/2010/main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4883064"/>
      </p:ext>
    </p:extLst>
  </p:cSld>
  <p:clrMapOvr>
    <a:masterClrMapping/>
  </p:clrMapOvr>
  <p:transition xmlns:p14="http://schemas.microsoft.com/office/powerpoint/2010/main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4318118"/>
      </p:ext>
    </p:extLst>
  </p:cSld>
  <p:clrMapOvr>
    <a:masterClrMapping/>
  </p:clrMapOvr>
  <p:transition xmlns:p14="http://schemas.microsoft.com/office/powerpoint/2010/main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47110"/>
      </p:ext>
    </p:extLst>
  </p:cSld>
  <p:clrMapOvr>
    <a:masterClrMapping/>
  </p:clrMapOvr>
  <p:transition xmlns:p14="http://schemas.microsoft.com/office/powerpoint/2010/main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50" y="381000"/>
            <a:ext cx="2171700" cy="6477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250" y="381000"/>
            <a:ext cx="6362700" cy="6477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02034"/>
      </p:ext>
    </p:extLst>
  </p:cSld>
  <p:clrMapOvr>
    <a:masterClrMapping/>
  </p:clrMapOvr>
  <p:transition xmlns:p14="http://schemas.microsoft.com/office/powerpoint/2010/main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06139"/>
      </p:ext>
    </p:extLst>
  </p:cSld>
  <p:clrMapOvr>
    <a:masterClrMapping/>
  </p:clrMapOvr>
  <p:transition xmlns:p14="http://schemas.microsoft.com/office/powerpoint/2010/main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63294"/>
      </p:ext>
    </p:extLst>
  </p:cSld>
  <p:clrMapOvr>
    <a:masterClrMapping/>
  </p:clrMapOvr>
  <p:transition xmlns:p14="http://schemas.microsoft.com/office/powerpoint/2010/main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6582150"/>
      </p:ext>
    </p:extLst>
  </p:cSld>
  <p:clrMapOvr>
    <a:masterClrMapping/>
  </p:clrMapOvr>
  <p:transition xmlns:p14="http://schemas.microsoft.com/office/powerpoint/2010/main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1300" y="1377950"/>
            <a:ext cx="4267200" cy="508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377950"/>
            <a:ext cx="4267200" cy="508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66619"/>
      </p:ext>
    </p:extLst>
  </p:cSld>
  <p:clrMapOvr>
    <a:masterClrMapping/>
  </p:clrMapOvr>
  <p:transition xmlns:p14="http://schemas.microsoft.com/office/powerpoint/2010/main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906"/>
      </p:ext>
    </p:extLst>
  </p:cSld>
  <p:clrMapOvr>
    <a:masterClrMapping/>
  </p:clrMapOvr>
  <p:transition xmlns:p14="http://schemas.microsoft.com/office/powerpoint/2010/main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2718"/>
      </p:ext>
    </p:extLst>
  </p:cSld>
  <p:clrMapOvr>
    <a:masterClrMapping/>
  </p:clrMapOvr>
  <p:transition xmlns:p14="http://schemas.microsoft.com/office/powerpoint/2010/main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937104"/>
      </p:ext>
    </p:extLst>
  </p:cSld>
  <p:clrMapOvr>
    <a:masterClrMapping/>
  </p:clrMapOvr>
  <p:transition xmlns:p14="http://schemas.microsoft.com/office/powerpoint/2010/main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2179627"/>
      </p:ext>
    </p:extLst>
  </p:cSld>
  <p:clrMapOvr>
    <a:masterClrMapping/>
  </p:clrMapOvr>
  <p:transition xmlns:p14="http://schemas.microsoft.com/office/powerpoint/2010/main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8650095"/>
      </p:ext>
    </p:extLst>
  </p:cSld>
  <p:clrMapOvr>
    <a:masterClrMapping/>
  </p:clrMapOvr>
  <p:transition xmlns:p14="http://schemas.microsoft.com/office/powerpoint/2010/main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18434"/>
      </p:ext>
    </p:extLst>
  </p:cSld>
  <p:clrMapOvr>
    <a:masterClrMapping/>
  </p:clrMapOvr>
  <p:transition xmlns:p14="http://schemas.microsoft.com/office/powerpoint/2010/main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53225" y="0"/>
            <a:ext cx="2174875" cy="64579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0"/>
            <a:ext cx="6372225" cy="64579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53402"/>
      </p:ext>
    </p:extLst>
  </p:cSld>
  <p:clrMapOvr>
    <a:masterClrMapping/>
  </p:clrMapOvr>
  <p:transition xmlns:p14="http://schemas.microsoft.com/office/powerpoint/2010/main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600200"/>
            <a:ext cx="8610600" cy="914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800" b="1"/>
            </a:lvl1pPr>
          </a:lstStyle>
          <a:p>
            <a:r>
              <a:rPr lang="en-US" dirty="0" smtClean="0">
                <a:solidFill>
                  <a:schemeClr val="tx1"/>
                </a:solidFill>
                <a:latin typeface="Arial" charset="0"/>
              </a:rPr>
              <a:t>Click to enter text</a:t>
            </a:r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" y="2743200"/>
            <a:ext cx="8839200" cy="3581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  <a:lvl2pPr marL="342900" indent="-228600" defTabSz="992188">
              <a:spcBef>
                <a:spcPct val="20000"/>
              </a:spcBef>
              <a:buClr>
                <a:srgbClr val="990000"/>
              </a:buClr>
              <a:buFontTx/>
              <a:buChar char="•"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342900" lvl="1" indent="-228600" defTabSz="992188">
              <a:spcBef>
                <a:spcPct val="20000"/>
              </a:spcBef>
              <a:buClr>
                <a:srgbClr val="990000"/>
              </a:buClr>
              <a:buFontTx/>
              <a:buChar char="•"/>
            </a:pPr>
            <a:r>
              <a:rPr lang="en-US" sz="1800" b="0" baseline="0" dirty="0" smtClean="0">
                <a:solidFill>
                  <a:schemeClr val="tx1"/>
                </a:solidFill>
                <a:latin typeface="Arial" charset="0"/>
              </a:rPr>
              <a:t>Click to enter text</a:t>
            </a:r>
            <a:endParaRPr lang="en-US" sz="1800" b="0" baseline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762000" y="838200"/>
            <a:ext cx="8229600" cy="533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800" b="1">
                <a:solidFill>
                  <a:srgbClr val="99042E"/>
                </a:solidFill>
              </a:defRPr>
            </a:lvl1pPr>
          </a:lstStyle>
          <a:p>
            <a:r>
              <a:rPr lang="en-US" sz="3200" baseline="0" dirty="0" smtClean="0">
                <a:solidFill>
                  <a:srgbClr val="99042E"/>
                </a:solidFill>
                <a:latin typeface="Arial" charset="0"/>
              </a:rPr>
              <a:t>Click to enter title</a:t>
            </a:r>
            <a:endParaRPr lang="en-US" sz="3200" baseline="0" dirty="0">
              <a:solidFill>
                <a:srgbClr val="99042E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4795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PT_infrastructure_pic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 userDrawn="1"/>
        </p:nvSpPr>
        <p:spPr>
          <a:xfrm>
            <a:off x="665163" y="3635375"/>
            <a:ext cx="7069137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/>
            <a:r>
              <a:rPr lang="en-US" sz="2800" b="1" dirty="0" smtClean="0">
                <a:latin typeface="Arial"/>
                <a:ea typeface="ＭＳ Ｐゴシック" pitchFamily="-106" charset="-128"/>
                <a:cs typeface="+mn-cs"/>
              </a:rPr>
              <a:t>Title goes here. 2 lines maximum.</a:t>
            </a:r>
          </a:p>
          <a:p>
            <a:pPr algn="l"/>
            <a:r>
              <a:rPr lang="en-US" sz="2800" b="1" dirty="0" smtClean="0">
                <a:latin typeface="Arial"/>
                <a:ea typeface="ＭＳ Ｐゴシック" pitchFamily="-106" charset="-128"/>
                <a:cs typeface="+mn-cs"/>
              </a:rPr>
              <a:t>Choose from 1 of the 4 title slides.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68338" y="4765675"/>
            <a:ext cx="5826125" cy="552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400" dirty="0" smtClean="0">
                <a:latin typeface="Arial"/>
                <a:ea typeface="ＭＳ Ｐゴシック" pitchFamily="-106" charset="-128"/>
                <a:cs typeface="+mn-cs"/>
              </a:rPr>
              <a:t>Presented by</a:t>
            </a:r>
          </a:p>
          <a:p>
            <a:pPr algn="l">
              <a:lnSpc>
                <a:spcPts val="1775"/>
              </a:lnSpc>
            </a:pPr>
            <a:r>
              <a:rPr lang="en-US" sz="1400" dirty="0" smtClean="0">
                <a:latin typeface="Arial"/>
                <a:ea typeface="ＭＳ Ｐゴシック" pitchFamily="-106" charset="-128"/>
                <a:cs typeface="+mn-cs"/>
              </a:rPr>
              <a:t>Your Title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484188" y="241300"/>
            <a:ext cx="1708150" cy="3381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400" b="1" dirty="0" smtClean="0">
                <a:solidFill>
                  <a:srgbClr val="BE0F34"/>
                </a:solidFill>
                <a:latin typeface="Arial"/>
                <a:ea typeface="ＭＳ Ｐゴシック" pitchFamily="-106" charset="-128"/>
                <a:cs typeface="+mn-cs"/>
              </a:rPr>
              <a:t>CONFIDENTIAL</a:t>
            </a:r>
          </a:p>
        </p:txBody>
      </p:sp>
      <p:pic>
        <p:nvPicPr>
          <p:cNvPr id="7" name="Picture 3" descr="\\MAGNUM\Projects\F5\Design\Assets\f5_Logos\f5_logo_ta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631" y="5637213"/>
            <a:ext cx="2273300" cy="712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PT virtualize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665163" y="3635375"/>
            <a:ext cx="7069137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/>
            <a:r>
              <a:rPr lang="en-US" sz="2800" b="1" dirty="0" smtClean="0">
                <a:latin typeface="Arial"/>
                <a:ea typeface="ＭＳ Ｐゴシック" pitchFamily="-106" charset="-128"/>
                <a:cs typeface="+mn-cs"/>
              </a:rPr>
              <a:t>Title goes here. 2 lines maximum.</a:t>
            </a:r>
          </a:p>
          <a:p>
            <a:pPr algn="l"/>
            <a:r>
              <a:rPr lang="en-US" sz="2800" b="1" dirty="0" smtClean="0">
                <a:latin typeface="Arial"/>
                <a:ea typeface="ＭＳ Ｐゴシック" pitchFamily="-106" charset="-128"/>
                <a:cs typeface="+mn-cs"/>
              </a:rPr>
              <a:t>Choose from 1 of the 4 title slides.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68338" y="4765675"/>
            <a:ext cx="5826125" cy="552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400" dirty="0" smtClean="0">
                <a:latin typeface="Arial"/>
                <a:ea typeface="ＭＳ Ｐゴシック" pitchFamily="-106" charset="-128"/>
                <a:cs typeface="+mn-cs"/>
              </a:rPr>
              <a:t>Presented by</a:t>
            </a:r>
          </a:p>
          <a:p>
            <a:pPr algn="l">
              <a:lnSpc>
                <a:spcPts val="1775"/>
              </a:lnSpc>
            </a:pPr>
            <a:r>
              <a:rPr lang="en-US" sz="1400" dirty="0" smtClean="0">
                <a:latin typeface="Arial"/>
                <a:ea typeface="ＭＳ Ｐゴシック" pitchFamily="-106" charset="-128"/>
                <a:cs typeface="+mn-cs"/>
              </a:rPr>
              <a:t>Your Title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484188" y="241300"/>
            <a:ext cx="1708150" cy="3381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400" b="1" dirty="0" smtClean="0">
                <a:solidFill>
                  <a:srgbClr val="BE0F34"/>
                </a:solidFill>
                <a:latin typeface="Arial"/>
                <a:ea typeface="ＭＳ Ｐゴシック" pitchFamily="-106" charset="-128"/>
                <a:cs typeface="+mn-cs"/>
              </a:rPr>
              <a:t>CONFIDENTIAL</a:t>
            </a:r>
          </a:p>
        </p:txBody>
      </p:sp>
      <p:pic>
        <p:nvPicPr>
          <p:cNvPr id="7" name="Picture 3" descr="\\MAGNUM\Projects\F5\Design\Assets\f5_Logos\f5_logo_ta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631" y="5637213"/>
            <a:ext cx="2273300" cy="712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ener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PT comps_Load_balancing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665163" y="3635375"/>
            <a:ext cx="7069137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/>
            <a:r>
              <a:rPr lang="en-US" sz="2800" b="1" dirty="0" smtClean="0">
                <a:latin typeface="Arial"/>
                <a:ea typeface="ＭＳ Ｐゴシック" pitchFamily="-106" charset="-128"/>
                <a:cs typeface="+mn-cs"/>
              </a:rPr>
              <a:t>Title goes here. 2 lines maximum.</a:t>
            </a:r>
          </a:p>
          <a:p>
            <a:pPr algn="l"/>
            <a:r>
              <a:rPr lang="en-US" sz="2800" b="1" dirty="0" smtClean="0">
                <a:latin typeface="Arial"/>
                <a:ea typeface="ＭＳ Ｐゴシック" pitchFamily="-106" charset="-128"/>
                <a:cs typeface="+mn-cs"/>
              </a:rPr>
              <a:t>Choose from 1 of the 4 title slides.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68338" y="4765675"/>
            <a:ext cx="5826125" cy="552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400" dirty="0" smtClean="0">
                <a:latin typeface="Arial"/>
                <a:ea typeface="ＭＳ Ｐゴシック" pitchFamily="-106" charset="-128"/>
                <a:cs typeface="+mn-cs"/>
              </a:rPr>
              <a:t>Presented by</a:t>
            </a:r>
          </a:p>
          <a:p>
            <a:pPr algn="l">
              <a:lnSpc>
                <a:spcPts val="1775"/>
              </a:lnSpc>
            </a:pPr>
            <a:r>
              <a:rPr lang="en-US" sz="1400" dirty="0" smtClean="0">
                <a:latin typeface="Arial"/>
                <a:ea typeface="ＭＳ Ｐゴシック" pitchFamily="-106" charset="-128"/>
                <a:cs typeface="+mn-cs"/>
              </a:rPr>
              <a:t>Your Title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484188" y="241300"/>
            <a:ext cx="1708150" cy="3381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400" b="1" dirty="0" smtClean="0">
                <a:solidFill>
                  <a:srgbClr val="BE0F34"/>
                </a:solidFill>
                <a:latin typeface="Arial"/>
                <a:ea typeface="ＭＳ Ｐゴシック" pitchFamily="-106" charset="-128"/>
                <a:cs typeface="+mn-cs"/>
              </a:rPr>
              <a:t>CONFIDENTIAL</a:t>
            </a:r>
          </a:p>
        </p:txBody>
      </p:sp>
      <p:pic>
        <p:nvPicPr>
          <p:cNvPr id="7" name="Picture 3" descr="\\MAGNUM\Projects\F5\Design\Assets\f5_Logos\f5_logo_ta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631" y="5637213"/>
            <a:ext cx="2273300" cy="712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dirty="0" smtClean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8" r="1"/>
          <a:stretch/>
        </p:blipFill>
        <p:spPr bwMode="auto">
          <a:xfrm>
            <a:off x="2571751" y="2717913"/>
            <a:ext cx="4260868" cy="1422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6237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1" descr="F5_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58200" y="6223000"/>
            <a:ext cx="4778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4819" y="838200"/>
            <a:ext cx="8229600" cy="808037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686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8153400" y="6019800"/>
            <a:ext cx="990600" cy="838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dirty="0" smtClean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83979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29000"/>
            <a:ext cx="7772400" cy="1470025"/>
          </a:xfrm>
        </p:spPr>
        <p:txBody>
          <a:bodyPr anchor="t"/>
          <a:lstStyle>
            <a:lvl1pPr>
              <a:defRPr sz="4000">
                <a:solidFill>
                  <a:srgbClr val="2C6C8C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674" y="4953000"/>
            <a:ext cx="7756525" cy="1524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1614" y="381000"/>
            <a:ext cx="1828800" cy="1828800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2880" tIns="0" rtlCol="0" anchor="t"/>
          <a:lstStyle/>
          <a:p>
            <a:pPr algn="l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0" dirty="0" smtClean="0">
                <a:solidFill>
                  <a:srgbClr val="BE0F34"/>
                </a:solidFill>
                <a:latin typeface="Arial"/>
              </a:rPr>
              <a:t>“</a:t>
            </a:r>
            <a:endParaRPr lang="en-US" sz="27000" dirty="0">
              <a:solidFill>
                <a:srgbClr val="BE0F34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7315200" cy="51206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" y="1737360"/>
            <a:ext cx="7315200" cy="3657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0" indent="0">
              <a:lnSpc>
                <a:spcPct val="120000"/>
              </a:lnSpc>
              <a:spcBef>
                <a:spcPts val="3000"/>
              </a:spcBef>
              <a:spcAft>
                <a:spcPts val="0"/>
              </a:spcAft>
              <a:buFont typeface="Arial" pitchFamily="34" charset="0"/>
              <a:buNone/>
              <a:defRPr sz="1800" i="1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bg1"/>
                </a:solidFill>
              </a:defRPr>
            </a:lvl3pPr>
            <a:lvl4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400" i="1">
                <a:solidFill>
                  <a:schemeClr val="accent5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400" i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 smtClean="0"/>
              <a:t>Placeholder for quote. Please ensure what you are quoting is written EXACTLY as is...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, </a:t>
            </a:r>
            <a:r>
              <a:rPr lang="en-US" dirty="0" err="1" smtClean="0"/>
              <a:t>consectetur</a:t>
            </a:r>
            <a:r>
              <a:rPr lang="en-US" dirty="0" smtClean="0"/>
              <a:t> </a:t>
            </a:r>
            <a:r>
              <a:rPr lang="en-US" dirty="0" err="1" smtClean="0"/>
              <a:t>adipiscing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r>
              <a:rPr lang="en-US" dirty="0" smtClean="0"/>
              <a:t>. To style quote attribution, increase one list level. See template guide for instructions.</a:t>
            </a:r>
          </a:p>
          <a:p>
            <a:pPr lvl="1"/>
            <a:r>
              <a:rPr lang="en-US" dirty="0" smtClean="0"/>
              <a:t>Name/Source of quote</a:t>
            </a:r>
          </a:p>
          <a:p>
            <a:pPr lvl="2"/>
            <a:r>
              <a:rPr lang="en-US" dirty="0" smtClean="0"/>
              <a:t>Title or additional details</a:t>
            </a:r>
          </a:p>
        </p:txBody>
      </p:sp>
      <p:sp>
        <p:nvSpPr>
          <p:cNvPr id="5" name="Rectangle 4"/>
          <p:cNvSpPr/>
          <p:nvPr/>
        </p:nvSpPr>
        <p:spPr>
          <a:xfrm rot="10800000">
            <a:off x="6900532" y="3429000"/>
            <a:ext cx="1828800" cy="1828800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2880" tIns="0" rtlCol="0" anchor="t"/>
          <a:lstStyle/>
          <a:p>
            <a:pPr algn="l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0" dirty="0" smtClean="0">
                <a:solidFill>
                  <a:srgbClr val="BE0F34"/>
                </a:solidFill>
                <a:latin typeface="Arial"/>
              </a:rPr>
              <a:t>“</a:t>
            </a:r>
            <a:endParaRPr lang="en-US" sz="27000" dirty="0">
              <a:solidFill>
                <a:srgbClr val="BE0F34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9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 xmlns:mv="urn:schemas-microsoft-com:mac:vml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4" Type="http://schemas.openxmlformats.org/officeDocument/2006/relationships/image" Target="../media/image3.jpeg"/><Relationship Id="rId15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8.xml"/><Relationship Id="rId16" Type="http://schemas.openxmlformats.org/officeDocument/2006/relationships/theme" Target="../theme/theme3.xml"/><Relationship Id="rId17" Type="http://schemas.openxmlformats.org/officeDocument/2006/relationships/image" Target="../media/image4.png"/><Relationship Id="rId18" Type="http://schemas.openxmlformats.org/officeDocument/2006/relationships/image" Target="../media/image5.jpeg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22250" y="381000"/>
            <a:ext cx="86868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Arial Bold" charset="0"/>
              </a:rPr>
              <a:t>Click </a:t>
            </a:r>
            <a:r>
              <a:rPr lang="en-US" dirty="0" smtClean="0">
                <a:sym typeface="Arial Bold" charset="0"/>
              </a:rPr>
              <a:t>to </a:t>
            </a:r>
            <a:r>
              <a:rPr lang="en-US" dirty="0">
                <a:sym typeface="Arial Bold" charset="0"/>
              </a:rPr>
              <a:t>edit Master title style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3810000"/>
            <a:ext cx="51816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 Bold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5105400"/>
            <a:ext cx="33274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274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xmlns:p14="http://schemas.microsoft.com/office/powerpoint/2010/main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+mj-lt"/>
          <a:ea typeface="+mj-ea"/>
          <a:cs typeface="+mj-cs"/>
          <a:sym typeface="Arial Bold" charset="0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9pPr>
    </p:titleStyle>
    <p:bodyStyle>
      <a:lvl1pPr algn="l" rtl="0" fontAlgn="base">
        <a:spcBef>
          <a:spcPts val="80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Arial Bold" charset="0"/>
        </a:defRPr>
      </a:lvl1pPr>
      <a:lvl2pPr marL="419100" algn="ctr" rtl="0" fontAlgn="base">
        <a:spcBef>
          <a:spcPts val="700"/>
        </a:spcBef>
        <a:spcAft>
          <a:spcPct val="0"/>
        </a:spcAft>
        <a:defRPr sz="2800">
          <a:solidFill>
            <a:srgbClr val="878787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marL="876300" algn="ctr" rtl="0" fontAlgn="base">
        <a:spcBef>
          <a:spcPts val="600"/>
        </a:spcBef>
        <a:spcAft>
          <a:spcPct val="0"/>
        </a:spcAft>
        <a:defRPr sz="2400">
          <a:solidFill>
            <a:srgbClr val="878787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marL="1333500" algn="ctr" rtl="0" fontAlgn="base">
        <a:spcBef>
          <a:spcPts val="500"/>
        </a:spcBef>
        <a:spcAft>
          <a:spcPct val="0"/>
        </a:spcAft>
        <a:defRPr sz="2000">
          <a:solidFill>
            <a:srgbClr val="878787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marL="1790700" algn="ctr" rtl="0" fontAlgn="base">
        <a:spcBef>
          <a:spcPts val="500"/>
        </a:spcBef>
        <a:spcAft>
          <a:spcPct val="0"/>
        </a:spcAft>
        <a:defRPr sz="2000">
          <a:solidFill>
            <a:srgbClr val="878787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2247900" algn="ctr" rtl="0" fontAlgn="base">
        <a:spcBef>
          <a:spcPts val="500"/>
        </a:spcBef>
        <a:spcAft>
          <a:spcPct val="0"/>
        </a:spcAft>
        <a:defRPr sz="2000">
          <a:solidFill>
            <a:srgbClr val="878787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2705100" algn="ctr" rtl="0" fontAlgn="base">
        <a:spcBef>
          <a:spcPts val="500"/>
        </a:spcBef>
        <a:spcAft>
          <a:spcPct val="0"/>
        </a:spcAft>
        <a:defRPr sz="2000">
          <a:solidFill>
            <a:srgbClr val="878787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3162300" algn="ctr" rtl="0" fontAlgn="base">
        <a:spcBef>
          <a:spcPts val="500"/>
        </a:spcBef>
        <a:spcAft>
          <a:spcPct val="0"/>
        </a:spcAft>
        <a:defRPr sz="2000">
          <a:solidFill>
            <a:srgbClr val="878787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3619500" algn="ctr" rtl="0" fontAlgn="base">
        <a:spcBef>
          <a:spcPts val="500"/>
        </a:spcBef>
        <a:spcAft>
          <a:spcPct val="0"/>
        </a:spcAft>
        <a:defRPr sz="2000">
          <a:solidFill>
            <a:srgbClr val="878787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0"/>
            <a:ext cx="8686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1300" y="1377950"/>
            <a:ext cx="8686800" cy="5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/>
          <p:cNvSpPr>
            <a:spLocks/>
          </p:cNvSpPr>
          <p:nvPr userDrawn="1"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6" name="Rectangle 2"/>
          <p:cNvSpPr>
            <a:spLocks/>
          </p:cNvSpPr>
          <p:nvPr userDrawn="1"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00" r:id="rId12"/>
  </p:sldLayoutIdLst>
  <p:transition xmlns:p14="http://schemas.microsoft.com/office/powerpoint/2010/main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+mj-lt"/>
          <a:ea typeface="+mj-ea"/>
          <a:cs typeface="+mj-cs"/>
          <a:sym typeface="Arial Bold" charset="0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 Bold" charset="0"/>
          <a:ea typeface="ヒラギノ角ゴ ProN W6" charset="0"/>
          <a:cs typeface="ヒラギノ角ゴ ProN W6" charset="0"/>
          <a:sym typeface="Arial Bold" charset="0"/>
        </a:defRPr>
      </a:lvl9pPr>
    </p:titleStyle>
    <p:bodyStyle>
      <a:lvl1pPr marL="342900" indent="-342900" algn="l" rtl="0" fontAlgn="base">
        <a:spcBef>
          <a:spcPts val="8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704850" indent="-285750" algn="l" rtl="0" fontAlgn="base"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104900" indent="-228600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56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01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476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2933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390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3848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838200"/>
            <a:ext cx="8229600" cy="80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63700"/>
            <a:ext cx="8229600" cy="43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" name="Text Box 9"/>
          <p:cNvSpPr txBox="1">
            <a:spLocks noChangeArrowheads="1"/>
          </p:cNvSpPr>
          <p:nvPr userDrawn="1"/>
        </p:nvSpPr>
        <p:spPr bwMode="auto">
          <a:xfrm>
            <a:off x="127000" y="6461919"/>
            <a:ext cx="55245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fld id="{7D778025-36C3-4B60-B5E2-4A8897EAB75C}" type="slidenum">
              <a:rPr lang="en-US" sz="1100" smtClean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 pitchFamily="-106" charset="-128"/>
                <a:cs typeface="Arial" charset="0"/>
              </a:rPr>
              <a:pPr algn="l"/>
              <a:t>‹#›</a:t>
            </a:fld>
            <a:endParaRPr lang="en-US" sz="1100" dirty="0" smtClean="0">
              <a:solidFill>
                <a:srgbClr val="FFFFFF">
                  <a:lumMod val="50000"/>
                </a:srgbClr>
              </a:solidFill>
              <a:latin typeface="Arial"/>
              <a:ea typeface="ＭＳ Ｐゴシック" pitchFamily="-106" charset="-128"/>
              <a:cs typeface="Arial" charset="0"/>
            </a:endParaRPr>
          </a:p>
        </p:txBody>
      </p:sp>
      <p:pic>
        <p:nvPicPr>
          <p:cNvPr id="1031" name="Picture 11" descr="F5_logo.jpg"/>
          <p:cNvPicPr>
            <a:picLocks noChangeAspect="1"/>
          </p:cNvPicPr>
          <p:nvPr userDrawn="1"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8458200" y="6223000"/>
            <a:ext cx="4778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/>
          <a:ea typeface="ＭＳ Ｐゴシック" pitchFamily="-106" charset="-128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itchFamily="-106" charset="0"/>
          <a:ea typeface="ＭＳ Ｐゴシック" pitchFamily="-106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itchFamily="-106" charset="0"/>
          <a:ea typeface="ＭＳ Ｐゴシック" pitchFamily="-106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itchFamily="-106" charset="0"/>
          <a:ea typeface="ＭＳ Ｐゴシック" pitchFamily="-106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itchFamily="-106" charset="0"/>
          <a:ea typeface="ＭＳ Ｐゴシック" pitchFamily="-106" charset="-128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itchFamily="-106" charset="0"/>
          <a:ea typeface="ＭＳ Ｐゴシック" pitchFamily="-106" charset="-128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itchFamily="-106" charset="0"/>
          <a:ea typeface="ＭＳ Ｐゴシック" pitchFamily="-106" charset="-128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itchFamily="-106" charset="0"/>
          <a:ea typeface="ＭＳ Ｐゴシック" pitchFamily="-106" charset="-128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itchFamily="-106" charset="0"/>
          <a:ea typeface="ＭＳ Ｐゴシック" pitchFamily="-106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A5072B"/>
        </a:buClr>
        <a:buFont typeface="Arial" charset="0"/>
        <a:buChar char="•"/>
        <a:defRPr sz="2200" kern="1200">
          <a:solidFill>
            <a:schemeClr val="tx1"/>
          </a:solidFill>
          <a:latin typeface="Arial"/>
          <a:ea typeface="ＭＳ Ｐゴシック" pitchFamily="-106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/>
          <a:ea typeface="ＭＳ Ｐゴシック" pitchFamily="-106" charset="-128"/>
          <a:cs typeface="Arial"/>
        </a:defRPr>
      </a:lvl2pPr>
      <a:lvl3pPr marL="9779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Arial" charset="0"/>
        <a:buChar char="•"/>
        <a:defRPr sz="2000" kern="1200">
          <a:solidFill>
            <a:schemeClr val="tx1"/>
          </a:solidFill>
          <a:latin typeface="Arial"/>
          <a:ea typeface="ＭＳ Ｐゴシック" pitchFamily="-106" charset="-128"/>
          <a:cs typeface="Arial"/>
        </a:defRPr>
      </a:lvl3pPr>
      <a:lvl4pPr marL="1371600" indent="-2794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/>
          <a:ea typeface="ＭＳ Ｐゴシック" pitchFamily="-106" charset="-128"/>
          <a:cs typeface="Arial"/>
        </a:defRPr>
      </a:lvl4pPr>
      <a:lvl5pPr marL="16637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/>
          <a:ea typeface="ＭＳ Ｐゴシック" pitchFamily="-106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gif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13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4" Type="http://schemas.openxmlformats.org/officeDocument/2006/relationships/image" Target="../media/image39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package" Target="../embeddings/Microsoft_Word_Document1.docx"/><Relationship Id="rId6" Type="http://schemas.openxmlformats.org/officeDocument/2006/relationships/image" Target="../media/image45.png"/><Relationship Id="rId7" Type="http://schemas.openxmlformats.org/officeDocument/2006/relationships/image" Target="../media/image47.png"/><Relationship Id="rId8" Type="http://schemas.openxmlformats.org/officeDocument/2006/relationships/image" Target="../media/image13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4" Type="http://schemas.openxmlformats.org/officeDocument/2006/relationships/image" Target="../media/image13.png"/><Relationship Id="rId5" Type="http://schemas.openxmlformats.org/officeDocument/2006/relationships/image" Target="../media/image60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4" Type="http://schemas.openxmlformats.org/officeDocument/2006/relationships/image" Target="../media/image66.png"/><Relationship Id="rId1" Type="http://schemas.microsoft.com/office/2007/relationships/media" Target="../media/media1.amr"/><Relationship Id="rId2" Type="http://schemas.openxmlformats.org/officeDocument/2006/relationships/audio" Target="../media/media1.amr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69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72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95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96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97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98.jpe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G_0015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4294967295"/>
          </p:nvPr>
        </p:nvSpPr>
        <p:spPr>
          <a:xfrm>
            <a:off x="1600200" y="5334000"/>
            <a:ext cx="5943600" cy="838200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2000" dirty="0" smtClean="0">
                <a:solidFill>
                  <a:schemeClr val="tx1"/>
                </a:solidFill>
                <a:latin typeface="Anime Ace 2.0 BB" pitchFamily="2" charset="0"/>
              </a:rPr>
              <a:t>Joey Peloquin</a:t>
            </a:r>
          </a:p>
          <a:p>
            <a:pPr algn="ctr">
              <a:buNone/>
            </a:pPr>
            <a:r>
              <a:rPr lang="en-US" sz="2000" dirty="0" smtClean="0">
                <a:solidFill>
                  <a:schemeClr val="tx1"/>
                </a:solidFill>
                <a:latin typeface="Anime Ace 2.0 BB" pitchFamily="2" charset="0"/>
              </a:rPr>
              <a:t>Director, </a:t>
            </a:r>
            <a:r>
              <a:rPr lang="en-US" sz="2000" dirty="0" smtClean="0">
                <a:solidFill>
                  <a:schemeClr val="tx1"/>
                </a:solidFill>
                <a:latin typeface="Anime Ace 2.0 BB" pitchFamily="2" charset="0"/>
              </a:rPr>
              <a:t>professional services</a:t>
            </a:r>
            <a:endParaRPr lang="en-US" sz="2000" dirty="0" smtClean="0">
              <a:solidFill>
                <a:schemeClr val="tx1"/>
              </a:solidFill>
              <a:latin typeface="Anime Ace 2.0 BB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5250" y="1066800"/>
            <a:ext cx="8953500" cy="3352800"/>
          </a:xfrm>
          <a:prstGeom prst="rect">
            <a:avLst/>
          </a:prstGeom>
        </p:spPr>
        <p:txBody>
          <a:bodyPr wrap="square">
            <a:prstTxWarp prst="textCanUp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0" dirty="0">
                <a:solidFill>
                  <a:srgbClr val="FFFFFF"/>
                </a:solidFill>
                <a:effectLst>
                  <a:glow rad="228600">
                    <a:schemeClr val="tx1">
                      <a:alpha val="65000"/>
                    </a:schemeClr>
                  </a:glow>
                </a:effectLst>
                <a:latin typeface="BadaBoom BB" pitchFamily="34" charset="0"/>
              </a:rPr>
              <a:t>Offensive Mobile Forensics</a:t>
            </a:r>
          </a:p>
        </p:txBody>
      </p:sp>
      <p:pic>
        <p:nvPicPr>
          <p:cNvPr id="4" name="Picture 3" descr="OMF_GPS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5855208"/>
            <a:ext cx="2133600" cy="1002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Agenda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11" name="Picture 10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38200" y="1676400"/>
            <a:ext cx="2362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§"/>
            </a:pPr>
            <a:r>
              <a:rPr lang="en-US" sz="30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 </a:t>
            </a: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Intro</a:t>
            </a:r>
          </a:p>
          <a:p>
            <a:pPr algn="l">
              <a:buFont typeface="Wingdings" pitchFamily="2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 Tools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020" y="2895600"/>
            <a:ext cx="7351959" cy="2286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3505200" y="1676400"/>
            <a:ext cx="5410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Wingdings" charset="2"/>
              <a:buChar char="§"/>
            </a:pPr>
            <a:r>
              <a:rPr lang="en-US" sz="3000" dirty="0">
                <a:solidFill>
                  <a:prstClr val="black"/>
                </a:solidFill>
                <a:latin typeface="Anime Ace 2.0 BB"/>
                <a:cs typeface="Anime Ace 2.0 BB"/>
              </a:rPr>
              <a:t>Apple </a:t>
            </a:r>
            <a:r>
              <a:rPr lang="en-US" sz="3000" dirty="0" err="1" smtClean="0">
                <a:solidFill>
                  <a:prstClr val="black"/>
                </a:solidFill>
                <a:latin typeface="Anime Ace 2.0 BB"/>
                <a:cs typeface="Anime Ace 2.0 BB"/>
              </a:rPr>
              <a:t>iOS</a:t>
            </a:r>
            <a:endParaRPr lang="en-US" sz="3000" dirty="0">
              <a:solidFill>
                <a:prstClr val="black"/>
              </a:solidFill>
              <a:latin typeface="Anime Ace 2.0 BB"/>
              <a:cs typeface="Anime Ace 2.0 BB"/>
            </a:endParaRPr>
          </a:p>
          <a:p>
            <a:pPr marL="457200" indent="-457200" algn="l">
              <a:buFont typeface="Wingdings" charset="2"/>
              <a:buChar char="§"/>
            </a:pPr>
            <a:r>
              <a:rPr lang="en-US" sz="30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Google </a:t>
            </a:r>
            <a:r>
              <a:rPr lang="en-US" sz="3000" dirty="0">
                <a:solidFill>
                  <a:prstClr val="black"/>
                </a:solidFill>
                <a:latin typeface="Anime Ace 2.0 BB"/>
                <a:cs typeface="Anime Ace 2.0 BB"/>
              </a:rPr>
              <a:t>Android</a:t>
            </a:r>
          </a:p>
          <a:p>
            <a:pPr algn="l">
              <a:buFont typeface="Wingdings" pitchFamily="2" charset="2"/>
              <a:buChar char="§"/>
            </a:pPr>
            <a:endParaRPr lang="en-US" sz="3000" dirty="0">
              <a:solidFill>
                <a:prstClr val="black"/>
              </a:solidFill>
              <a:latin typeface="Anime Ace 2.0 BB"/>
              <a:cs typeface="Anime Ace 2.0 BB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Introduction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672" y="838200"/>
            <a:ext cx="5248656" cy="5943600"/>
          </a:xfrm>
          <a:prstGeom prst="rect">
            <a:avLst/>
          </a:prstGeom>
        </p:spPr>
      </p:pic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7521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Introduction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sp>
        <p:nvSpPr>
          <p:cNvPr id="9" name="Content Placeholder 7"/>
          <p:cNvSpPr>
            <a:spLocks noGrp="1"/>
          </p:cNvSpPr>
          <p:nvPr>
            <p:ph idx="1"/>
          </p:nvPr>
        </p:nvSpPr>
        <p:spPr>
          <a:xfrm>
            <a:off x="228600" y="1219200"/>
            <a:ext cx="4876800" cy="3352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Who am I?</a:t>
            </a:r>
          </a:p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Mobile threats</a:t>
            </a:r>
          </a:p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Define: </a:t>
            </a:r>
            <a:r>
              <a:rPr lang="en-US" sz="3200" u="sng" dirty="0" smtClean="0">
                <a:solidFill>
                  <a:prstClr val="black"/>
                </a:solidFill>
                <a:latin typeface="Anime Ace 2.0 BB"/>
                <a:cs typeface="Anime Ace 2.0 BB"/>
              </a:rPr>
              <a:t>O</a:t>
            </a: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ffensive </a:t>
            </a:r>
            <a:r>
              <a:rPr lang="en-US" sz="3200" u="sng" dirty="0" smtClean="0">
                <a:solidFill>
                  <a:prstClr val="black"/>
                </a:solidFill>
                <a:latin typeface="Anime Ace 2.0 BB"/>
                <a:cs typeface="Anime Ace 2.0 BB"/>
              </a:rPr>
              <a:t>M</a:t>
            </a: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obile </a:t>
            </a:r>
            <a:r>
              <a:rPr lang="en-US" sz="3200" u="sng" dirty="0" smtClean="0">
                <a:solidFill>
                  <a:prstClr val="black"/>
                </a:solidFill>
                <a:latin typeface="Anime Ace 2.0 BB"/>
                <a:cs typeface="Anime Ace 2.0 BB"/>
              </a:rPr>
              <a:t>F</a:t>
            </a: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orensics</a:t>
            </a:r>
          </a:p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 Take-</a:t>
            </a:r>
            <a:r>
              <a:rPr lang="en-US" sz="3200" dirty="0" err="1" smtClean="0">
                <a:solidFill>
                  <a:prstClr val="black"/>
                </a:solidFill>
                <a:latin typeface="Anime Ace 2.0 BB"/>
                <a:cs typeface="Anime Ace 2.0 BB"/>
              </a:rPr>
              <a:t>aways</a:t>
            </a:r>
            <a:endParaRPr lang="en-US" sz="3200" dirty="0" smtClean="0">
              <a:solidFill>
                <a:prstClr val="black"/>
              </a:solidFill>
              <a:latin typeface="Anime Ace 2.0 BB"/>
              <a:cs typeface="Anime Ace 2.0 BB"/>
            </a:endParaRPr>
          </a:p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 Questions?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874603"/>
            <a:ext cx="762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 smtClean="0">
                <a:solidFill>
                  <a:schemeClr val="tx1"/>
                </a:solidFill>
                <a:latin typeface="Comic Sans MS" pitchFamily="66" charset="0"/>
              </a:rPr>
              <a:t>“</a:t>
            </a:r>
            <a:r>
              <a:rPr lang="en-US" sz="1600" b="1" i="1" dirty="0" smtClean="0">
                <a:solidFill>
                  <a:schemeClr val="tx1"/>
                </a:solidFill>
                <a:latin typeface="Comic Sans MS" pitchFamily="66" charset="0"/>
              </a:rPr>
              <a:t>There are a lot of security issues in the design of the iPhone that lend themselves to retaining more personal information than any other device.</a:t>
            </a:r>
            <a:r>
              <a:rPr lang="en-US" sz="1600" i="1" dirty="0" smtClean="0">
                <a:solidFill>
                  <a:schemeClr val="tx1"/>
                </a:solidFill>
                <a:latin typeface="Comic Sans MS" pitchFamily="66" charset="0"/>
              </a:rPr>
              <a:t>”</a:t>
            </a:r>
          </a:p>
          <a:p>
            <a:r>
              <a:rPr lang="en-US" sz="1600" i="1" dirty="0" smtClean="0">
                <a:solidFill>
                  <a:schemeClr val="tx1"/>
                </a:solidFill>
                <a:latin typeface="Comic Sans MS" pitchFamily="66" charset="0"/>
              </a:rPr>
              <a:t>– Jonathan </a:t>
            </a:r>
            <a:r>
              <a:rPr lang="en-US" sz="1600" i="1" dirty="0" err="1" smtClean="0">
                <a:solidFill>
                  <a:schemeClr val="tx1"/>
                </a:solidFill>
                <a:latin typeface="Comic Sans MS" pitchFamily="66" charset="0"/>
              </a:rPr>
              <a:t>Zdziarski</a:t>
            </a:r>
            <a:endParaRPr lang="en-US" sz="1600" i="1" dirty="0">
              <a:solidFill>
                <a:schemeClr val="tx1"/>
              </a:solidFill>
              <a:latin typeface="Comic Sans MS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219200"/>
            <a:ext cx="3124199" cy="41629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Sammich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746500"/>
            <a:ext cx="1981200" cy="1816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3079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Introduction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sp>
        <p:nvSpPr>
          <p:cNvPr id="9" name="Text Placeholder 9"/>
          <p:cNvSpPr txBox="1">
            <a:spLocks/>
          </p:cNvSpPr>
          <p:nvPr/>
        </p:nvSpPr>
        <p:spPr>
          <a:xfrm>
            <a:off x="381000" y="1066800"/>
            <a:ext cx="8382000" cy="51816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704850" indent="-285750" algn="l" rtl="0" fontAlgn="base"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1104900" indent="-228600" algn="l" rtl="0" fontAlgn="base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156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201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2476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2933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3390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3848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Google Stats</a:t>
            </a:r>
          </a:p>
          <a:p>
            <a:pPr lvl="1">
              <a:buClr>
                <a:schemeClr val="tx1"/>
              </a:buCl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400m+ devices sold per </a:t>
            </a:r>
            <a:r>
              <a:rPr lang="en-US" dirty="0" err="1" smtClean="0">
                <a:latin typeface="Anime Ace 2.0 BB"/>
                <a:cs typeface="Anime Ace 2.0 BB"/>
              </a:rPr>
              <a:t>Qtr</a:t>
            </a:r>
            <a:endParaRPr lang="en-US" dirty="0" smtClean="0">
              <a:latin typeface="Anime Ace 2.0 BB"/>
              <a:cs typeface="Anime Ace 2.0 BB"/>
            </a:endParaRPr>
          </a:p>
          <a:p>
            <a:pPr lvl="1">
              <a:buClr>
                <a:schemeClr val="tx1"/>
              </a:buCl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15 Smartphone manufacturers</a:t>
            </a:r>
          </a:p>
          <a:p>
            <a:pPr lvl="1">
              <a:buClr>
                <a:schemeClr val="tx1"/>
              </a:buCl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12 Tablet manufacturers</a:t>
            </a:r>
          </a:p>
          <a:p>
            <a:pPr lvl="1">
              <a:buClr>
                <a:schemeClr val="tx1"/>
              </a:buCl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51.8% Market Share (0913)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233869"/>
              </p:ext>
            </p:extLst>
          </p:nvPr>
        </p:nvGraphicFramePr>
        <p:xfrm>
          <a:off x="533400" y="3733800"/>
          <a:ext cx="5715000" cy="2966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05000"/>
                <a:gridCol w="1905000"/>
                <a:gridCol w="1905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Version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Codename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Distribution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2.3.3 - 2.3.7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Gingerbread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19%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Honeycomb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4.0.3 - 4.0.4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15.2%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4.1.x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Jelly Bean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35.3%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4.2.2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17.1%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0000FF"/>
                          </a:solidFill>
                        </a:rPr>
                        <a:t>4.3</a:t>
                      </a:r>
                      <a:endParaRPr lang="en-US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0000FF"/>
                          </a:solidFill>
                        </a:rPr>
                        <a:t>9.6%</a:t>
                      </a:r>
                      <a:endParaRPr lang="en-US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4.4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/>
                        <a:t>KitKat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2.5%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4" name="Group 32767"/>
          <p:cNvGrpSpPr>
            <a:grpSpLocks/>
          </p:cNvGrpSpPr>
          <p:nvPr/>
        </p:nvGrpSpPr>
        <p:grpSpPr bwMode="auto">
          <a:xfrm>
            <a:off x="8077200" y="3352800"/>
            <a:ext cx="698500" cy="1436687"/>
            <a:chOff x="5954610" y="2709794"/>
            <a:chExt cx="698940" cy="1437203"/>
          </a:xfrm>
        </p:grpSpPr>
        <p:pic>
          <p:nvPicPr>
            <p:cNvPr id="15" name="Picture 24" descr="See full size image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5146" t="5900" r="34241" b="14728"/>
            <a:stretch>
              <a:fillRect/>
            </a:stretch>
          </p:blipFill>
          <p:spPr bwMode="auto">
            <a:xfrm>
              <a:off x="6002918" y="2932444"/>
              <a:ext cx="596755" cy="1214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reflection blurRad="6350" stA="52000" endA="300" endPos="35000" dir="5400000" sy="-100000" algn="bl" rotWithShape="0"/>
            </a:effectLst>
          </p:spPr>
        </p:pic>
        <p:pic>
          <p:nvPicPr>
            <p:cNvPr id="16" name="Picture 6"/>
            <p:cNvPicPr>
              <a:picLocks noChangeAspect="1"/>
            </p:cNvPicPr>
            <p:nvPr/>
          </p:nvPicPr>
          <p:blipFill>
            <a:blip r:embed="rId4" cstate="print"/>
            <a:srcRect t="77548"/>
            <a:stretch>
              <a:fillRect/>
            </a:stretch>
          </p:blipFill>
          <p:spPr bwMode="auto">
            <a:xfrm>
              <a:off x="5954610" y="2709794"/>
              <a:ext cx="698940" cy="149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7" name="Picture 16" descr="Android_home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625" y="5105400"/>
            <a:ext cx="918575" cy="1524000"/>
          </a:xfrm>
          <a:prstGeom prst="rect">
            <a:avLst/>
          </a:prstGeom>
        </p:spPr>
      </p:pic>
      <p:pic>
        <p:nvPicPr>
          <p:cNvPr id="18" name="Picture 17" descr="220px-Nexus_S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585" y="5105400"/>
            <a:ext cx="820615" cy="1600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733800"/>
            <a:ext cx="1295400" cy="1295400"/>
          </a:xfrm>
          <a:prstGeom prst="rect">
            <a:avLst/>
          </a:prstGeom>
        </p:spPr>
      </p:pic>
      <p:pic>
        <p:nvPicPr>
          <p:cNvPr id="20" name="Picture 19" descr="OMF_GPS5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8094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Introduction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381000" y="1066800"/>
            <a:ext cx="8382000" cy="51816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704850" indent="-285750" algn="l" rtl="0" fontAlgn="base"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1104900" indent="-228600" algn="l" rtl="0" fontAlgn="base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156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201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2476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2933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3390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3848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dirty="0" smtClean="0">
                <a:solidFill>
                  <a:srgbClr val="000000"/>
                </a:solidFill>
                <a:latin typeface="Anime Ace 2.0 BB"/>
                <a:cs typeface="Anime Ace 2.0 BB"/>
              </a:rPr>
              <a:t>Apple Stats</a:t>
            </a:r>
          </a:p>
          <a:p>
            <a:pPr lvl="1">
              <a:buClr>
                <a:schemeClr val="tx1"/>
              </a:buClr>
              <a:buFont typeface="Wingdings" charset="2"/>
              <a:buChar char="§"/>
            </a:pPr>
            <a:r>
              <a:rPr lang="en-US" dirty="0" smtClean="0">
                <a:solidFill>
                  <a:srgbClr val="000000"/>
                </a:solidFill>
                <a:latin typeface="Anime Ace 2.0 BB"/>
                <a:cs typeface="Anime Ace 2.0 BB"/>
              </a:rPr>
              <a:t>40.6% Market Share</a:t>
            </a:r>
          </a:p>
          <a:p>
            <a:pPr lvl="1">
              <a:buClr>
                <a:schemeClr val="tx1"/>
              </a:buClr>
              <a:buFont typeface="Wingdings" charset="2"/>
              <a:buChar char="§"/>
            </a:pPr>
            <a:r>
              <a:rPr lang="en-US" dirty="0" smtClean="0">
                <a:solidFill>
                  <a:srgbClr val="000000"/>
                </a:solidFill>
                <a:latin typeface="Anime Ace 2.0 BB"/>
                <a:cs typeface="Anime Ace 2.0 BB"/>
              </a:rPr>
              <a:t>170m </a:t>
            </a:r>
            <a:r>
              <a:rPr lang="en-US" dirty="0" err="1" smtClean="0">
                <a:solidFill>
                  <a:srgbClr val="000000"/>
                </a:solidFill>
                <a:latin typeface="Anime Ace 2.0 BB"/>
                <a:cs typeface="Anime Ace 2.0 BB"/>
              </a:rPr>
              <a:t>iPads</a:t>
            </a:r>
            <a:r>
              <a:rPr lang="en-US" dirty="0" smtClean="0">
                <a:solidFill>
                  <a:srgbClr val="000000"/>
                </a:solidFill>
                <a:latin typeface="Anime Ace 2.0 BB"/>
                <a:cs typeface="Anime Ace 2.0 BB"/>
              </a:rPr>
              <a:t> sold</a:t>
            </a:r>
          </a:p>
          <a:p>
            <a:pPr lvl="1">
              <a:buClr>
                <a:schemeClr val="tx1"/>
              </a:buClr>
              <a:buFont typeface="Wingdings" charset="2"/>
              <a:buChar char="§"/>
            </a:pPr>
            <a:r>
              <a:rPr lang="en-US" dirty="0" smtClean="0">
                <a:solidFill>
                  <a:srgbClr val="000000"/>
                </a:solidFill>
                <a:latin typeface="Anime Ace 2.0 BB"/>
                <a:cs typeface="Anime Ace 2.0 BB"/>
              </a:rPr>
              <a:t>9m 5s/c sold </a:t>
            </a:r>
            <a:r>
              <a:rPr lang="en-US" u="sng" dirty="0" smtClean="0">
                <a:solidFill>
                  <a:srgbClr val="000000"/>
                </a:solidFill>
                <a:latin typeface="Anime Ace 2.0 BB"/>
                <a:cs typeface="Anime Ace 2.0 BB"/>
              </a:rPr>
              <a:t>first weekend</a:t>
            </a:r>
            <a:endParaRPr lang="en-US" u="sng" dirty="0">
              <a:solidFill>
                <a:srgbClr val="000000"/>
              </a:solidFill>
              <a:latin typeface="Anime Ace 2.0 BB"/>
              <a:cs typeface="Anime Ace 2.0 BB"/>
            </a:endParaRPr>
          </a:p>
        </p:txBody>
      </p:sp>
      <p:pic>
        <p:nvPicPr>
          <p:cNvPr id="3" name="Picture 2" descr="IpadSale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900" y="3276600"/>
            <a:ext cx="4254500" cy="2731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IpadSalesRevised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505200"/>
            <a:ext cx="5181600" cy="32037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2186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81300"/>
            <a:ext cx="8686800" cy="1295400"/>
          </a:xfrm>
        </p:spPr>
        <p:txBody>
          <a:bodyPr/>
          <a:lstStyle/>
          <a:p>
            <a:pPr algn="ctr"/>
            <a:r>
              <a:rPr lang="en-US" dirty="0" smtClean="0">
                <a:latin typeface="Anime Ace 2.0 BB"/>
                <a:cs typeface="Anime Ace 2.0 BB"/>
              </a:rPr>
              <a:t>Tools</a:t>
            </a:r>
            <a:endParaRPr lang="en-US" dirty="0">
              <a:latin typeface="Anime Ace 2.0 BB"/>
              <a:cs typeface="Anime Ace 2.0 BB"/>
            </a:endParaRPr>
          </a:p>
        </p:txBody>
      </p:sp>
    </p:spTree>
    <p:extLst>
      <p:ext uri="{BB962C8B-B14F-4D97-AF65-F5344CB8AC3E}">
        <p14:creationId xmlns:p14="http://schemas.microsoft.com/office/powerpoint/2010/main" val="217458896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Tools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1069" y="0"/>
            <a:ext cx="2438400" cy="838200"/>
            <a:chOff x="228600" y="609600"/>
            <a:chExt cx="2438400" cy="838200"/>
          </a:xfrm>
        </p:grpSpPr>
        <p:sp>
          <p:nvSpPr>
            <p:cNvPr id="9" name="Oval 8"/>
            <p:cNvSpPr/>
            <p:nvPr/>
          </p:nvSpPr>
          <p:spPr>
            <a:xfrm>
              <a:off x="228600" y="609600"/>
              <a:ext cx="2438400" cy="838200"/>
            </a:xfrm>
            <a:prstGeom prst="ellipse">
              <a:avLst/>
            </a:prstGeom>
            <a:noFill/>
            <a:ln w="1016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 flipV="1">
              <a:off x="838200" y="609600"/>
              <a:ext cx="1066800" cy="762000"/>
            </a:xfrm>
            <a:prstGeom prst="line">
              <a:avLst/>
            </a:prstGeom>
            <a:ln w="1016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295400"/>
            <a:ext cx="6239707" cy="35356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2180" y="3048000"/>
            <a:ext cx="4687671" cy="3349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05600" y="1143000"/>
            <a:ext cx="22183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66800" y="5105400"/>
            <a:ext cx="2101504" cy="1447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 descr="OMF_GPS5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7985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Tools (</a:t>
            </a:r>
            <a:r>
              <a:rPr lang="en-US" sz="3600" i="1" dirty="0" err="1" smtClean="0">
                <a:latin typeface="Anime Ace 2.0 BB"/>
                <a:cs typeface="Anime Ace 2.0 BB"/>
              </a:rPr>
              <a:t>iOS</a:t>
            </a:r>
            <a:r>
              <a:rPr lang="en-US" sz="3600" i="1" dirty="0" smtClean="0">
                <a:latin typeface="Anime Ace 2.0 BB"/>
                <a:cs typeface="Anime Ace 2.0 BB"/>
              </a:rPr>
              <a:t>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691064"/>
              </p:ext>
            </p:extLst>
          </p:nvPr>
        </p:nvGraphicFramePr>
        <p:xfrm>
          <a:off x="190500" y="1051560"/>
          <a:ext cx="8763000" cy="5120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20257"/>
                <a:gridCol w="5742743"/>
              </a:tblGrid>
              <a:tr h="28003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 smtClean="0"/>
                        <a:t>evasi0n / Redsn0w / ?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jailbreaking</a:t>
                      </a:r>
                      <a:r>
                        <a:rPr lang="en-US" dirty="0" smtClean="0"/>
                        <a:t> tools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TinyUmbrella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Request/playback secure</a:t>
                      </a:r>
                      <a:r>
                        <a:rPr lang="en-US" baseline="0" dirty="0" smtClean="0"/>
                        <a:t> signature hash (SHSH)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Cydia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AppStore</a:t>
                      </a:r>
                      <a:r>
                        <a:rPr lang="en-US" dirty="0" smtClean="0"/>
                        <a:t> for jailbroken iOS</a:t>
                      </a:r>
                      <a:r>
                        <a:rPr lang="en-US" baseline="0" dirty="0" smtClean="0"/>
                        <a:t> d</a:t>
                      </a:r>
                      <a:r>
                        <a:rPr lang="en-US" dirty="0" smtClean="0"/>
                        <a:t>evices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OpenSSH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FOSS</a:t>
                      </a:r>
                      <a:r>
                        <a:rPr lang="en-US" baseline="0" dirty="0" smtClean="0"/>
                        <a:t> SSH distribution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Rbrowser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SSH/SFTP GUI for Mac ($29)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smtClean="0"/>
                        <a:t>Property List Editor / </a:t>
                      </a:r>
                      <a:r>
                        <a:rPr lang="en-US" dirty="0" err="1" smtClean="0"/>
                        <a:t>plutil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Property</a:t>
                      </a:r>
                      <a:r>
                        <a:rPr lang="en-US" baseline="0" dirty="0" smtClean="0"/>
                        <a:t> list editor/viewer from </a:t>
                      </a:r>
                      <a:r>
                        <a:rPr lang="en-US" baseline="0" dirty="0" err="1" smtClean="0"/>
                        <a:t>Xcode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RazorSQL</a:t>
                      </a:r>
                      <a:r>
                        <a:rPr lang="en-US" dirty="0" smtClean="0"/>
                        <a:t> / Base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SQLite</a:t>
                      </a:r>
                      <a:r>
                        <a:rPr lang="en-US" dirty="0" smtClean="0"/>
                        <a:t> GUI clients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iPhone</a:t>
                      </a:r>
                      <a:r>
                        <a:rPr lang="en-US" dirty="0" smtClean="0"/>
                        <a:t> Analyzer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Analyze</a:t>
                      </a:r>
                      <a:r>
                        <a:rPr lang="en-US" baseline="0" dirty="0" smtClean="0"/>
                        <a:t> iTunes backups </a:t>
                      </a:r>
                      <a:r>
                        <a:rPr lang="en-US" strike="sngStrike" baseline="0" dirty="0" smtClean="0"/>
                        <a:t>or connect over SSH</a:t>
                      </a:r>
                      <a:endParaRPr lang="en-US" strike="sngStrike" baseline="0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PhoneView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Access data stored on your </a:t>
                      </a:r>
                      <a:r>
                        <a:rPr lang="en-US" dirty="0" err="1" smtClean="0"/>
                        <a:t>iPhone</a:t>
                      </a:r>
                      <a:r>
                        <a:rPr lang="en-US" dirty="0" smtClean="0"/>
                        <a:t> ($20)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OpenSSL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Cryptography toolkit implementing the SSL and TLS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hexedit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Hexidecimal</a:t>
                      </a:r>
                      <a:r>
                        <a:rPr lang="en-US" dirty="0" smtClean="0"/>
                        <a:t> editor/viewer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smtClean="0"/>
                        <a:t>strings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Extract printable strings from binary files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Xcode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IDE for developing Mac and iOS applications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0173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Tools (</a:t>
            </a:r>
            <a:r>
              <a:rPr lang="en-US" sz="3600" i="1" dirty="0" err="1" smtClean="0">
                <a:latin typeface="Anime Ace 2.0 BB"/>
                <a:cs typeface="Anime Ace 2.0 BB"/>
              </a:rPr>
              <a:t>ios</a:t>
            </a:r>
            <a:r>
              <a:rPr lang="en-US" sz="3600" i="1" dirty="0" smtClean="0">
                <a:latin typeface="Anime Ace 2.0 BB"/>
                <a:cs typeface="Anime Ace 2.0 BB"/>
              </a:rPr>
              <a:t>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567" y="806520"/>
            <a:ext cx="4472776" cy="2774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Redsn0w_anno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752600"/>
            <a:ext cx="3233109" cy="487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pic>
        <p:nvPicPr>
          <p:cNvPr id="5" name="Picture 4" descr="TinyUmbrella_anno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0" y="2209800"/>
            <a:ext cx="5753819" cy="441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ctangle 12"/>
          <p:cNvSpPr/>
          <p:nvPr/>
        </p:nvSpPr>
        <p:spPr bwMode="auto">
          <a:xfrm>
            <a:off x="0" y="759691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pic>
        <p:nvPicPr>
          <p:cNvPr id="7" name="Picture 6" descr="iH8sn0w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621955"/>
            <a:ext cx="5181600" cy="161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3141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Tools (</a:t>
            </a:r>
            <a:r>
              <a:rPr lang="en-US" sz="3600" i="1" dirty="0" err="1" smtClean="0">
                <a:latin typeface="Anime Ace 2.0 BB"/>
                <a:cs typeface="Anime Ace 2.0 BB"/>
              </a:rPr>
              <a:t>ios</a:t>
            </a:r>
            <a:r>
              <a:rPr lang="en-US" sz="3600" i="1" dirty="0" smtClean="0">
                <a:latin typeface="Anime Ace 2.0 BB"/>
                <a:cs typeface="Anime Ace 2.0 BB"/>
              </a:rPr>
              <a:t>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3" name="Picture 2" descr="iPhone_Explore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170" y="838200"/>
            <a:ext cx="5877979" cy="441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PhoneView-iOS_anno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048000"/>
            <a:ext cx="5926667" cy="355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9457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Tools (</a:t>
            </a:r>
            <a:r>
              <a:rPr lang="en-US" sz="3600" i="1" dirty="0" err="1" smtClean="0">
                <a:latin typeface="Anime Ace 2.0 BB"/>
                <a:cs typeface="Anime Ace 2.0 BB"/>
              </a:rPr>
              <a:t>ios</a:t>
            </a:r>
            <a:r>
              <a:rPr lang="en-US" sz="3600" i="1" dirty="0" smtClean="0">
                <a:latin typeface="Anime Ace 2.0 BB"/>
                <a:cs typeface="Anime Ace 2.0 BB"/>
              </a:rPr>
              <a:t>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2" y="1524000"/>
            <a:ext cx="8836897" cy="44576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6060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Tools (Android)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630670"/>
              </p:ext>
            </p:extLst>
          </p:nvPr>
        </p:nvGraphicFramePr>
        <p:xfrm>
          <a:off x="190500" y="990596"/>
          <a:ext cx="8763000" cy="518160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20257"/>
                <a:gridCol w="5742743"/>
              </a:tblGrid>
              <a:tr h="40115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Saferoot</a:t>
                      </a:r>
                      <a:r>
                        <a:rPr lang="en-US" sz="1600" dirty="0" smtClean="0"/>
                        <a:t>, de la </a:t>
                      </a:r>
                      <a:r>
                        <a:rPr lang="en-US" sz="1600" dirty="0" smtClean="0"/>
                        <a:t>Vega, NRT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Root exploits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Clockwork </a:t>
                      </a:r>
                      <a:r>
                        <a:rPr lang="en-US" sz="1600" dirty="0" smtClean="0"/>
                        <a:t>Recovery,</a:t>
                      </a:r>
                      <a:r>
                        <a:rPr lang="en-US" sz="1600" baseline="0" dirty="0" smtClean="0"/>
                        <a:t> TWRP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Recovery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Custom ROM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Optional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SuperSU</a:t>
                      </a:r>
                      <a:r>
                        <a:rPr lang="en-US" sz="1600" dirty="0" smtClean="0"/>
                        <a:t>, </a:t>
                      </a:r>
                      <a:r>
                        <a:rPr lang="en-US" sz="1600" dirty="0" err="1" smtClean="0"/>
                        <a:t>Busybox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Privilege</a:t>
                      </a:r>
                      <a:r>
                        <a:rPr lang="en-US" sz="1600" baseline="0" dirty="0" smtClean="0"/>
                        <a:t> escalation, </a:t>
                      </a:r>
                      <a:r>
                        <a:rPr lang="en-US" sz="1600" baseline="0" dirty="0" err="1" smtClean="0"/>
                        <a:t>linux</a:t>
                      </a:r>
                      <a:r>
                        <a:rPr lang="en-US" sz="1600" baseline="0" dirty="0" smtClean="0"/>
                        <a:t> utilities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Adbd</a:t>
                      </a:r>
                      <a:r>
                        <a:rPr lang="en-US" sz="1600" dirty="0" smtClean="0"/>
                        <a:t> / </a:t>
                      </a:r>
                      <a:r>
                        <a:rPr lang="en-US" sz="1600" dirty="0" err="1" smtClean="0"/>
                        <a:t>adb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Android debug bridge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QtADB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GUI for </a:t>
                      </a:r>
                      <a:r>
                        <a:rPr lang="en-US" sz="1600" dirty="0" err="1" smtClean="0"/>
                        <a:t>adb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logcat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‘</a:t>
                      </a:r>
                      <a:r>
                        <a:rPr lang="en-US" sz="1600" dirty="0" err="1" smtClean="0"/>
                        <a:t>adb</a:t>
                      </a:r>
                      <a:r>
                        <a:rPr lang="en-US" sz="1600" dirty="0" smtClean="0"/>
                        <a:t> shell logcat’ system and application debug </a:t>
                      </a:r>
                      <a:r>
                        <a:rPr lang="en-US" sz="1600" dirty="0" err="1" smtClean="0"/>
                        <a:t>msgs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dumpsys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‘</a:t>
                      </a:r>
                      <a:r>
                        <a:rPr lang="en-US" sz="1600" dirty="0" err="1" smtClean="0"/>
                        <a:t>adb</a:t>
                      </a:r>
                      <a:r>
                        <a:rPr lang="en-US" sz="1600" dirty="0" smtClean="0"/>
                        <a:t> shell </a:t>
                      </a:r>
                      <a:r>
                        <a:rPr lang="en-US" sz="1600" dirty="0" err="1" smtClean="0"/>
                        <a:t>dumpsys</a:t>
                      </a:r>
                      <a:r>
                        <a:rPr lang="en-US" sz="1600" dirty="0" smtClean="0"/>
                        <a:t>’ information</a:t>
                      </a:r>
                      <a:r>
                        <a:rPr lang="en-US" sz="1600" baseline="0" dirty="0" smtClean="0"/>
                        <a:t> re services, accounts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RazorSQL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SQLite GUI client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TSK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Open source digital forensics suite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hexedit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Hexidecimal</a:t>
                      </a:r>
                      <a:r>
                        <a:rPr lang="en-US" sz="1600" dirty="0" smtClean="0"/>
                        <a:t> editor/viewer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strings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Extract printable strings from binary files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6772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Eclipse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IDE for developing Android applications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6180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Tools (Android)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990600"/>
            <a:ext cx="5715001" cy="5133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453224"/>
            <a:ext cx="6559093" cy="3023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6549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Tools (Android)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990600"/>
            <a:ext cx="4488711" cy="5539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sshd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91200" y="1143000"/>
            <a:ext cx="3017520" cy="502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7120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Tools (Android)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66800"/>
            <a:ext cx="7467600" cy="5008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0276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Tools (Android)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 descr="su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89120" y="1143000"/>
            <a:ext cx="2468880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recov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7000" y="2057400"/>
            <a:ext cx="2468880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rootexp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8600" y="1143000"/>
            <a:ext cx="2468880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rootchk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50720" y="2057400"/>
            <a:ext cx="2468880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 descr="OMF_GPS5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4317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81300"/>
            <a:ext cx="8686800" cy="1295400"/>
          </a:xfrm>
        </p:spPr>
        <p:txBody>
          <a:bodyPr/>
          <a:lstStyle/>
          <a:p>
            <a:pPr algn="ctr"/>
            <a:r>
              <a:rPr lang="en-US" dirty="0" smtClean="0">
                <a:latin typeface="Anime Ace 2.0 BB"/>
                <a:cs typeface="Anime Ace 2.0 BB"/>
              </a:rPr>
              <a:t>Got Data?</a:t>
            </a:r>
            <a:br>
              <a:rPr lang="en-US" dirty="0" smtClean="0">
                <a:latin typeface="Anime Ace 2.0 BB"/>
                <a:cs typeface="Anime Ace 2.0 BB"/>
              </a:rPr>
            </a:br>
            <a:r>
              <a:rPr lang="en-US" sz="3200" dirty="0" smtClean="0">
                <a:latin typeface="Anime Ace 2.0 BB"/>
                <a:cs typeface="Anime Ace 2.0 BB"/>
              </a:rPr>
              <a:t>(</a:t>
            </a:r>
            <a:r>
              <a:rPr lang="en-US" sz="3200" dirty="0" err="1" smtClean="0">
                <a:latin typeface="Anime Ace 2.0 BB"/>
                <a:cs typeface="Anime Ace 2.0 BB"/>
              </a:rPr>
              <a:t>ios</a:t>
            </a:r>
            <a:r>
              <a:rPr lang="en-US" sz="3200" dirty="0" smtClean="0">
                <a:latin typeface="Anime Ace 2.0 BB"/>
                <a:cs typeface="Anime Ace 2.0 BB"/>
              </a:rPr>
              <a:t>)</a:t>
            </a:r>
            <a:endParaRPr lang="en-US" sz="3200" dirty="0">
              <a:latin typeface="Anime Ace 2.0 BB"/>
              <a:cs typeface="Anime Ace 2.0 BB"/>
            </a:endParaRPr>
          </a:p>
        </p:txBody>
      </p:sp>
    </p:spTree>
    <p:extLst>
      <p:ext uri="{BB962C8B-B14F-4D97-AF65-F5344CB8AC3E}">
        <p14:creationId xmlns:p14="http://schemas.microsoft.com/office/powerpoint/2010/main" val="345669983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Loc</a:t>
            </a:r>
            <a:r>
              <a:rPr lang="en-US" sz="3600" i="1" dirty="0" smtClean="0">
                <a:latin typeface="Anime Ace 2.0 BB"/>
                <a:cs typeface="Anime Ace 2.0 BB"/>
              </a:rPr>
              <a:t> Data (IOS)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916638"/>
              </p:ext>
            </p:extLst>
          </p:nvPr>
        </p:nvGraphicFramePr>
        <p:xfrm>
          <a:off x="152400" y="1447800"/>
          <a:ext cx="8839200" cy="5007554"/>
        </p:xfrm>
        <a:graphic>
          <a:graphicData uri="http://schemas.openxmlformats.org/drawingml/2006/table">
            <a:tbl>
              <a:tblPr/>
              <a:tblGrid>
                <a:gridCol w="4287159"/>
                <a:gridCol w="4552041"/>
              </a:tblGrid>
              <a:tr h="137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/mobile/Library/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AddressBook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AddressBook.sqlitedb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also AddressBookImages.sqlitedb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/mobile/Library/Caches/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MapTiles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MapTiles.sqlitedb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previously displayed map tiles for Google Maps "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binhex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" encoding - covert to binary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/var/mobile/Library/Maps/History.plist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google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maps lookup cache - check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Directions.plist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as well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/mobile/Library/Calendar/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Calendar.sqlitedb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 / strings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/var/mobile/Library/Callhistory/call_history.db 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 / strings / odd number (FLAGS) outgoing, even incoming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/var/mobile/Library/Mail/Envelope Index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/var/mobile/Library/Notes/notes.sqlite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/ strings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/var/mobile/Library/SMS/sms.db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/ strings / FLAGS-low order bit set for sent (odd), off for received (even)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/var/mobile/Library/Voicemail/voicemail.db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voicemail database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/var/mobile/Library/Voicemail/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vm recordings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/var/mobile/Library/Cookies/Cookies.binarycookies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Safari cookies - use strings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/var/mobile/Library/Preferences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settings, config files for apps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/var/mobile/Library/Safari/Bookmarks.db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/var/mobile/Library/Safari/History.plist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/var/mobile/Library/Safari/SuspendState.plist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browser state when closed, crashed, etc.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/var/mobile/Library/Preferences/com.apple.mobilesafari.plist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/var/mobile/Media/DCIM/100APPLE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photos taken with onboard camera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/var/mobile/Library/Logs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/var/mobileDevice/ProvisioningProfiles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/var/log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/var/logs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/var/preferences/SystemConfiguration/com.apple.network.identification.plist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/var/preferences/SystemConfiguration/com.apple.wifi.plist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/var/preferences/SystemConfiguration/preferences.plist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/var/stash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ringtones, wallpaper, default apps, /bin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/var/wireless/Library/CallHistory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/var/wireless/Library/logs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/var/wireless/Library/Preferences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/root/Library/Lockdown/data_ark.plist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apple id, owner info, firmware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/var/Keychains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download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keychains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databases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</a:tbl>
          </a:graphicData>
        </a:graphic>
      </p:graphicFrame>
      <p:sp>
        <p:nvSpPr>
          <p:cNvPr id="10" name="Text Placeholder 6"/>
          <p:cNvSpPr txBox="1">
            <a:spLocks/>
          </p:cNvSpPr>
          <p:nvPr/>
        </p:nvSpPr>
        <p:spPr>
          <a:xfrm>
            <a:off x="838200" y="838200"/>
            <a:ext cx="7467600" cy="533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defRPr/>
            </a:pPr>
            <a:r>
              <a:rPr lang="en-US" sz="2800" b="1" dirty="0" smtClean="0">
                <a:latin typeface="Anime Ace 2.0 BB" pitchFamily="2" charset="0"/>
              </a:rPr>
              <a:t>4.3.2</a:t>
            </a:r>
            <a:endParaRPr lang="en-US" sz="2400" b="1" dirty="0">
              <a:latin typeface="Anime Ace 2.0 BB" pitchFamily="2" charset="0"/>
            </a:endParaRPr>
          </a:p>
        </p:txBody>
      </p:sp>
      <p:pic>
        <p:nvPicPr>
          <p:cNvPr id="12" name="Picture 11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5604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Loc</a:t>
            </a:r>
            <a:r>
              <a:rPr lang="en-US" sz="3600" i="1" dirty="0" smtClean="0">
                <a:latin typeface="Anime Ace 2.0 BB"/>
                <a:cs typeface="Anime Ace 2.0 BB"/>
              </a:rPr>
              <a:t> Data (IOS)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838200" y="838200"/>
            <a:ext cx="7467600" cy="533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defRPr/>
            </a:pPr>
            <a:r>
              <a:rPr lang="en-US" sz="2800" b="1" dirty="0" smtClean="0">
                <a:latin typeface="Anime Ace 2.0 BB" pitchFamily="2" charset="0"/>
              </a:rPr>
              <a:t>4.3.2</a:t>
            </a:r>
            <a:endParaRPr lang="en-US" sz="2400" b="1" dirty="0">
              <a:latin typeface="Anime Ace 2.0 BB" pitchFamily="2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365736"/>
              </p:ext>
            </p:extLst>
          </p:nvPr>
        </p:nvGraphicFramePr>
        <p:xfrm>
          <a:off x="152400" y="1447800"/>
          <a:ext cx="8839200" cy="3056028"/>
        </p:xfrm>
        <a:graphic>
          <a:graphicData uri="http://schemas.openxmlformats.org/drawingml/2006/table">
            <a:tbl>
              <a:tblPr/>
              <a:tblGrid>
                <a:gridCol w="5117431"/>
                <a:gridCol w="3721769"/>
              </a:tblGrid>
              <a:tr h="1804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/User/Library/Keyboard/dynamic-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text.dat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analyze keyboard cache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/User/Library/Caches/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com.apple.UIKit.pboard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pasteboardDB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convert to XML to analyze pasteboard cache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/User/Library/Caches/com.apple.WebAppCache/ApplicationCache.db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Origins table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/User/Library/Caches/Snapshots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Pics of apps when Home is pressed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user-installed applications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GUID&gt;/&lt;appname.app&gt;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 assets - nibs, images, plists, code signature, etc.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GUID&gt;/Documents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images, text files,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etc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GUID&gt;/Library/Caches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GUID&gt;/Library/Caches/Snapshots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GUID&gt;/Library/Cookies/Cookies.binarycookies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GUID&gt;/Library/Preferences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plists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-a-plenty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GUID&gt;/Library/WebKit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GUID&gt;/Library/WebKit/LocalStorage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708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GUID&gt;/tmp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4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/User/Library/Logs/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CrashReporter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Application crash logs</a:t>
                      </a:r>
                    </a:p>
                  </a:txBody>
                  <a:tcPr marL="12032" marR="12032" marT="120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086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Loc</a:t>
            </a:r>
            <a:r>
              <a:rPr lang="en-US" sz="3600" i="1" dirty="0" smtClean="0">
                <a:latin typeface="Anime Ace 2.0 BB"/>
                <a:cs typeface="Anime Ace 2.0 BB"/>
              </a:rPr>
              <a:t> Data (IOS)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624060"/>
              </p:ext>
            </p:extLst>
          </p:nvPr>
        </p:nvGraphicFramePr>
        <p:xfrm>
          <a:off x="152400" y="1447800"/>
          <a:ext cx="8839200" cy="5007554"/>
        </p:xfrm>
        <a:graphic>
          <a:graphicData uri="http://schemas.openxmlformats.org/drawingml/2006/table">
            <a:tbl>
              <a:tblPr/>
              <a:tblGrid>
                <a:gridCol w="4287159"/>
                <a:gridCol w="4552041"/>
              </a:tblGrid>
              <a:tr h="137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/mobile/Library/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AddressBook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AddressBook.sqlitedb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also AddressBookImages.sqlitedb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/mobile/Library/Caches/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MapTiles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MapTiles.sqlitedb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previously displayed map tiles for Google Maps "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binhex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" encoding - covert to binary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/var/mobile/Library/Maps/History.plist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google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maps lookup cache - check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Directions.plist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as well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/mobile/Library/Calendar/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Calendar.sqlitedb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 / strings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/var/mobile/Library/Callhistory/call_history.db 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 / strings / odd number (FLAGS) outgoing, even incoming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/var/mobile/Library/Mail/Envelope Index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/var/mobile/Library/Notes/notes.sqlite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/ strings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/var/mobile/Library/SMS/sms.db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/ strings / FLAGS-low order bit set for sent (odd), off for received (even)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/var/mobile/Library/Voicemail/voicemail.db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voicemail database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/var/mobile/Library/Voicemail/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vm recordings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/var/mobile/Library/Cookies/Cookies.binarycookies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Safari cookies - use strings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/var/mobile/Library/Preferences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settings, config files for apps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/var/mobile/Library/Safari/Bookmarks.db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/var/mobile/Library/Safari/History.plist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/var/mobile/Library/Safari/SuspendState.plist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browser state when closed, crashed, etc.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/var/mobile/Library/Preferences/com.apple.mobilesafari.plist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/var/mobile/Media/DCIM/100APPLE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photos taken with onboard camera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/var/mobile/Library/Logs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/var/mobileDevice/ProvisioningProfiles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/var/log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/var/logs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/var/preferences/SystemConfiguration/com.apple.network.identification.plist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/var/preferences/SystemConfiguration/com.apple.wifi.plist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/var/preferences/SystemConfiguration/preferences.plist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/var/stash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ringtones, wallpaper, default apps, /bin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/var/wireless/Library/CallHistory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/var/wireless/Library/logs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/var/wireless/Library/Preferences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297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/root/Library/Lockdown/data_ark.plist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apple id, owner info, firmware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/var/Keychains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download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keychains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databases</a:t>
                      </a:r>
                    </a:p>
                  </a:txBody>
                  <a:tcPr marL="9134" marR="9134" marT="91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</a:tbl>
          </a:graphicData>
        </a:graphic>
      </p:graphicFrame>
      <p:sp>
        <p:nvSpPr>
          <p:cNvPr id="10" name="Text Placeholder 6"/>
          <p:cNvSpPr txBox="1">
            <a:spLocks/>
          </p:cNvSpPr>
          <p:nvPr/>
        </p:nvSpPr>
        <p:spPr>
          <a:xfrm>
            <a:off x="838200" y="838200"/>
            <a:ext cx="7467600" cy="533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defRPr/>
            </a:pPr>
            <a:r>
              <a:rPr lang="en-US" sz="2800" b="1" dirty="0" smtClean="0">
                <a:latin typeface="Anime Ace 2.0 BB" pitchFamily="2" charset="0"/>
              </a:rPr>
              <a:t>5.1.1</a:t>
            </a:r>
            <a:endParaRPr lang="en-US" sz="2400" b="1" dirty="0">
              <a:latin typeface="Anime Ace 2.0 BB" pitchFamily="2" charset="0"/>
            </a:endParaRPr>
          </a:p>
        </p:txBody>
      </p:sp>
      <p:pic>
        <p:nvPicPr>
          <p:cNvPr id="12" name="Picture 11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102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Loc</a:t>
            </a:r>
            <a:r>
              <a:rPr lang="en-US" sz="3600" i="1" dirty="0" smtClean="0">
                <a:latin typeface="Anime Ace 2.0 BB"/>
                <a:cs typeface="Anime Ace 2.0 BB"/>
              </a:rPr>
              <a:t> Data (IOS)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838200" y="838200"/>
            <a:ext cx="7467600" cy="533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defRPr/>
            </a:pPr>
            <a:r>
              <a:rPr lang="en-US" sz="2800" b="1" dirty="0" smtClean="0">
                <a:latin typeface="Anime Ace 2.0 BB" pitchFamily="2" charset="0"/>
              </a:rPr>
              <a:t>5.1.1</a:t>
            </a:r>
            <a:endParaRPr lang="en-US" sz="2400" b="1" dirty="0">
              <a:latin typeface="Anime Ace 2.0 BB" pitchFamily="2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665902"/>
              </p:ext>
            </p:extLst>
          </p:nvPr>
        </p:nvGraphicFramePr>
        <p:xfrm>
          <a:off x="152400" y="1447800"/>
          <a:ext cx="8839200" cy="4253700"/>
        </p:xfrm>
        <a:graphic>
          <a:graphicData uri="http://schemas.openxmlformats.org/drawingml/2006/table">
            <a:tbl>
              <a:tblPr/>
              <a:tblGrid>
                <a:gridCol w="4014752"/>
                <a:gridCol w="4824448"/>
              </a:tblGrid>
              <a:tr h="1570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Keychains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download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keychains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databases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/var/mobile/Library/Caches/com.apple.dataaccess.dataaccessd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iCloud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login ID and persistent server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/var/mobile/Library/Caches/com.apple.mobilecal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?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/var/mobile/Library/Caches/com.apple.mobilemail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 mail image blobs + URLs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/mobile/Library/Caches/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com.apple.mobilenotes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?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/mobile/Library/Caches/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com.apple.mobilesafari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Cached images + URLs from Safari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/var/mobile/Library/Caches/Maps/MapTiles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db of previously displayed maptiles (google maps)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/var/mobile/Library/Caches/Safari/RecentSearches.plist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Recent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search strings from Safari.  Also check the Thumbnails subfolder for snapshots.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/mobile/Library/Caches/Snapshots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Last screens for camera,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mmail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mcal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mnotes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mphone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 and many others.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/User/Library/Caches/com.apple.WebAppCache/ApplicationCache.db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Origins table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user-installed applications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GUID&gt;/&lt;appname.app&gt;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 assets - nibs, images,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plists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 code signature, etc.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GUID&gt;/Documents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images, text files, etc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GUID&gt;/Library/Caches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GUID&gt;/Library/Caches/Snapshots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 of the app's state when home button pushed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GUID&gt;/Library/Cookies/Cookies.binarycookies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GUID&gt;/Library/Preferences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plists-a-plenty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GUID&gt;/Library/WebKit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67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GUID&gt;/Library/WebKit/LocalStorage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705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GUID&gt;/tmp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470" marR="10470" marT="104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1451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Loc</a:t>
            </a:r>
            <a:r>
              <a:rPr lang="en-US" sz="3600" i="1" dirty="0" smtClean="0">
                <a:latin typeface="Anime Ace 2.0 BB"/>
                <a:cs typeface="Anime Ace 2.0 BB"/>
              </a:rPr>
              <a:t> Data (IOS)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838200" y="838200"/>
            <a:ext cx="7467600" cy="533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defRPr/>
            </a:pPr>
            <a:r>
              <a:rPr lang="en-US" sz="2800" b="1" dirty="0" smtClean="0">
                <a:latin typeface="Anime Ace 2.0 BB" pitchFamily="2" charset="0"/>
              </a:rPr>
              <a:t>6.1.2</a:t>
            </a:r>
            <a:endParaRPr lang="en-US" sz="2400" b="1" dirty="0">
              <a:latin typeface="Anime Ace 2.0 BB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691366"/>
              </p:ext>
            </p:extLst>
          </p:nvPr>
        </p:nvGraphicFramePr>
        <p:xfrm>
          <a:off x="241300" y="1492586"/>
          <a:ext cx="8686800" cy="5213014"/>
        </p:xfrm>
        <a:graphic>
          <a:graphicData uri="http://schemas.openxmlformats.org/drawingml/2006/table">
            <a:tbl>
              <a:tblPr/>
              <a:tblGrid>
                <a:gridCol w="3945531"/>
                <a:gridCol w="4741269"/>
              </a:tblGrid>
              <a:tr h="1657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/var/mobile/Library/AddressBook/AddressBook.sqlitedb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also AddressBookImages.sqlitedb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/var/mobile/Library/Caches/MapTiles/MapTiles.sqlitedb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previously displayed map tiles for Google Maps "binhex" encoding - covert to binary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/var/mobile/Library/Maps/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google maps lookup cache, Directions, bookmarks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/var/mobile/Library/Calendar/Calendar.sqlitedb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 / strings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/var/mobile/Library/DataAccess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IMAP accounts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/var/mobile/Library/Mail/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personal and corporate mail, icloud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/var/mobile/Library/Notes/notes.sqlite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pull written notes out of db - sqlclient / strings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/var/mobile/Library/SMS/sms.db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 / strings / FLAGS-low order bit set for sent (odd), off for received (even)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/var/mobile/Library/Keyboard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dynamic-text.dat - use strings, CloudUserDictionary.sqlite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/var/mobile/Library/Voicemail/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vm recordings and voicemail database (metadata)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/var/mobile/Library/Cookies/Cookies.binarycookies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Safari cookies - use strings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/var/mobile/Library/Preferences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settings, config files for apps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/var/mobile/Library/Safari/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bookmarks, history, browser state when closed or crashed, etc.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/var/mobile/Library/Mobile Documents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keynote and pdf reader - neither using the folders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/var/mobile/Library/Preferences/com.apple.mobilesafari.plist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/var/mobile/Media/DCIM/100APPLE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photos taken with onboard camera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/var/mobile/Library/Logs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support, itunes, facetime, siri, etc.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/var/mobileDevice/ProvisioningProfiles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Provisioned enterprise apps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/var/log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kernel, ppp, jb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/var/logs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keybag, lockdown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/var/preferences/SystemConfiguration/com.apple.network.identification.plist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 networks this device has ever connected to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/var/preferences/SystemConfiguration/com.apple.wifi.plist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 wifi networks (SSID, etc.) this device has ever connected to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/var/preferences/SystemConfiguration/preferences.plist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Interesting network information.  VPN clients that save passwd and fail to encrypt outed here.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/var/stash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ringtones, wallpaper, default apps, /bin dir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/var/wireless/Library/CallHistory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call_history.db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/var/wireless/Library/Logs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core, baseband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/var/wireless/Library/Preferences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commCenter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/root/Library/Lockdown/data_ark.plist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apple id, owner info, firmware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7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/var/keybags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Master keys for protection classes (AES)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9621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Loc</a:t>
            </a:r>
            <a:r>
              <a:rPr lang="en-US" sz="3600" i="1" dirty="0" smtClean="0">
                <a:latin typeface="Anime Ace 2.0 BB"/>
                <a:cs typeface="Anime Ace 2.0 BB"/>
              </a:rPr>
              <a:t> Data (IOS)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838200" y="838200"/>
            <a:ext cx="7467600" cy="533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defRPr/>
            </a:pPr>
            <a:r>
              <a:rPr lang="en-US" sz="2800" b="1" dirty="0" smtClean="0">
                <a:latin typeface="Anime Ace 2.0 BB" pitchFamily="2" charset="0"/>
              </a:rPr>
              <a:t>6.1.2</a:t>
            </a:r>
            <a:endParaRPr lang="en-US" sz="2400" b="1" dirty="0">
              <a:latin typeface="Anime Ace 2.0 BB" pitchFamily="2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941488"/>
              </p:ext>
            </p:extLst>
          </p:nvPr>
        </p:nvGraphicFramePr>
        <p:xfrm>
          <a:off x="241300" y="1525742"/>
          <a:ext cx="8686800" cy="4722658"/>
        </p:xfrm>
        <a:graphic>
          <a:graphicData uri="http://schemas.openxmlformats.org/drawingml/2006/table">
            <a:tbl>
              <a:tblPr/>
              <a:tblGrid>
                <a:gridCol w="3945531"/>
                <a:gridCol w="4741269"/>
              </a:tblGrid>
              <a:tr h="1657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/var/Keychains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download keychains databases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/var/mobile/Library/Caches/com.apple.dataaccess.dataaccessd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iCloud login ID and persistent server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/var/mobile/Library/Caches/com.apple.mobilecal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?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/var/mobile/Library/Caches/com.apple.mobilemail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 mail image blobs + URLs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/var/mobile/Library/Caches/com.apple.mobilenotes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?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/var/mobile/Library/Caches/com.apple.mobilesafari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Cached images + URLs from Safari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/var/mobile/Library/Caches/Maps/MapTiles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db of previously displayed maptiles (google maps)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/var/mobile/Library/Caches/Safari/RecentSearches.plist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Displays recent search strings from Safari.  Also check the Thumbnails subfolder for snapshots.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/var/mobile/Library/Caches/Snapshots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Last screens for camera, mmail, mcal, mnotes, mphone, and many others.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/User/Library/Caches/com.apple.WebAppCache/ApplicationCache.db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Origins table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user-installed applications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GUID&gt;/&lt;appname.app&gt;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 assets - nibs, images, plists, code signature, etc.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GUID&gt;/Documents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images, text files, etc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GUID&gt;/Library/Caches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GUID&gt;/Library/Caches/Snapshots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 of the app's state when home button pushed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GUID&gt;/Library/Cookies/Cookies.binarycookies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GUID&gt;/Library/Preferences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plists-a-plenty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GUID&gt;/Library/WebKit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GUID&gt;/Library/WebKit/LocalStorage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GUID&gt;/tmp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/var/mobile/Library/Accounts/Accounts3.sqlite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gmail, icloud, twitter,etc., accounts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/var/mobile/Library/Application Support/Ubiquity/peer-*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item-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info.db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45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/mobile/Library/Assistant/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ManagedObjects.sqlite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1052" marR="11052" marT="110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Siri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-used reminders - use strings, e.g. "Call lawn care service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America/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New_York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"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693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/var/mobile/Library/DataAccess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IMAP, iCloud accounts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7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/var/mobile/Library/Passes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Passbook - Flight, Hotel info</a:t>
                      </a:r>
                    </a:p>
                  </a:txBody>
                  <a:tcPr marL="11052" marR="11052" marT="1105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31917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Loc</a:t>
            </a:r>
            <a:r>
              <a:rPr lang="en-US" sz="3600" i="1" dirty="0" smtClean="0">
                <a:latin typeface="Anime Ace 2.0 BB"/>
                <a:cs typeface="Anime Ace 2.0 BB"/>
              </a:rPr>
              <a:t> Data (IOS)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838200" y="838200"/>
            <a:ext cx="7467600" cy="533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defRPr/>
            </a:pPr>
            <a:r>
              <a:rPr lang="en-US" sz="2800" b="1" dirty="0" smtClean="0">
                <a:latin typeface="Anime Ace 2.0 BB" pitchFamily="2" charset="0"/>
              </a:rPr>
              <a:t>7.0.6</a:t>
            </a:r>
            <a:endParaRPr lang="en-US" sz="2400" b="1" dirty="0">
              <a:latin typeface="Anime Ace 2.0 BB" pitchFamily="2" charset="0"/>
            </a:endParaRPr>
          </a:p>
        </p:txBody>
      </p:sp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546641"/>
              </p:ext>
            </p:extLst>
          </p:nvPr>
        </p:nvGraphicFramePr>
        <p:xfrm>
          <a:off x="241300" y="1524000"/>
          <a:ext cx="8686800" cy="4244508"/>
        </p:xfrm>
        <a:graphic>
          <a:graphicData uri="http://schemas.openxmlformats.org/drawingml/2006/table">
            <a:tbl>
              <a:tblPr/>
              <a:tblGrid>
                <a:gridCol w="4125433"/>
                <a:gridCol w="4561367"/>
              </a:tblGrid>
              <a:tr h="1594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/var/mobile/Library/AddressBook/AddressBook.sqlitedb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also AddressBookImages.sqlitedb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/var/mobile/Library/Caches/MapTiles/MapTiles.sqlitedb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previously displayed map tiles for Google Maps "binhex" encoding - covert to binary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/var/mobile/Library/Maps/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google maps lookup cache, Directions, bookmarks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/var/mobile/Library/Calendar/Calendar.sqlitedb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 / strings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/var/mobile/Library/DataAccess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IMAP accounts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/var/mobile/Library/Mail/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personal and corporate mail, icloud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/var/mobile/Library/Notes/notes.sqlite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pull written notes out of db - sqlclient / strings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/var/mobile/Library/SMS/sms.db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sqlclient / strings / FLAGS-low order bit set for sent (odd), off for received (even)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/var/mobile/Library/Keyboard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dynamic-text.dat - use strings, CloudUserDictionary.sqlite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/var/mobile/Library/Voicemail/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vm recordings and voicemail database (metadata)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/var/mobile/Library/Cookies/Cookies.binarycookies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Safari cookies - use strings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/var/mobile/Library/Preferences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settings, config files for apps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/var/mobile/Library/Safari/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bookmarks, history, browser state when closed or crashed, etc.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/var/mobile/Library/Mobile Documents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keynote and pdf reader - neither using the folders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/var/mobile/Media/DCIM/100APPLE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photos taken with onboard camera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/var/mobile/Library/Logs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support, itunes, facetime, siri, etc.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/Library/MobileDevice/ProvisioningProfiles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Provisioned enterprise apps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/var/mobile/Library/Caches/com.apple.UIKit.pboard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Copy/paste buffer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/Library/Logs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kernel, ppp, jb, keybag, lockdown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/Library/Preferences/SystemConfiguration/com.apple.network.identification.plist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 networks this device has ever connected to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/Library/Preferences/SystemConfiguration/com.apple.wifi.plist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 wifi networks (SSID, etc.) this device has ever connected to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/Library/Preferences/SystemConfiguration/preferences.plist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Interesting network information.  VPN clients that save passwd and fail to encrypt outed here.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/var/stash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ringtones, wallpaper, default apps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/var/wireless/Library/CallHistory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call_history.db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/var/wireless/Library/Logs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core, baseband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/root/Library/Lockdown/data_ark.plist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apple id, owner info, firmware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/var/keybags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Master keys for protection classes (AES)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08350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Loc</a:t>
            </a:r>
            <a:r>
              <a:rPr lang="en-US" sz="3600" i="1" dirty="0" smtClean="0">
                <a:latin typeface="Anime Ace 2.0 BB"/>
                <a:cs typeface="Anime Ace 2.0 BB"/>
              </a:rPr>
              <a:t> Data (IOS)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838200" y="838200"/>
            <a:ext cx="7467600" cy="533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defRPr/>
            </a:pPr>
            <a:r>
              <a:rPr lang="en-US" sz="2800" b="1" dirty="0" smtClean="0">
                <a:latin typeface="Anime Ace 2.0 BB" pitchFamily="2" charset="0"/>
              </a:rPr>
              <a:t>7.0.6</a:t>
            </a:r>
            <a:endParaRPr lang="en-US" sz="2400" b="1" dirty="0">
              <a:latin typeface="Anime Ace 2.0 BB" pitchFamily="2" charset="0"/>
            </a:endParaRPr>
          </a:p>
        </p:txBody>
      </p:sp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47439"/>
              </p:ext>
            </p:extLst>
          </p:nvPr>
        </p:nvGraphicFramePr>
        <p:xfrm>
          <a:off x="241300" y="1550944"/>
          <a:ext cx="8686800" cy="4240256"/>
        </p:xfrm>
        <a:graphic>
          <a:graphicData uri="http://schemas.openxmlformats.org/drawingml/2006/table">
            <a:tbl>
              <a:tblPr/>
              <a:tblGrid>
                <a:gridCol w="4125433"/>
                <a:gridCol w="4561367"/>
              </a:tblGrid>
              <a:tr h="1594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/var/Keychains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download keychains databases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/var/mobile/Library/Caches/com.apple.dataaccess.dataaccessd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iCloud login ID and persistent server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/var/mobile/Library/Caches/com.apple.mobilecal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/var/mobile/Library/Caches/com.apple.mobilemail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Complete emaill threads; sender/recipient, message, attachments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/var/mobile/Library/Caches/com.apple.mobilenotes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/var/mobile/Library/Caches/com.apple.mobilesafari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Thumbnails,ad URI cache, recent searches (plist)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/var/mobile/Library/Caches/Maps/MapTiles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db of previously displayed maptiles (google maps)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/var/mobile/Library/Caches/Safari/RecentSearches.plist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Displays recent search strings from Safari.  Also check the Thumbnails subfolder for snapshots.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/var/mobile/Library/Caches/Snapshots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Last screens for camera, mmail, mcal, mnotes, mphone, and many others.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/User/Library/Caches/com.apple.WebAppCache/ApplicationCache.db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Origins table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user-installed applications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GUID&gt;/&lt;appname.app&gt;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 assets - nibs, images, plists, code signature, etc.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GUID&gt;/Documents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images, text files, etc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GUID&gt;/Library/Caches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GUID&gt;/Library/Caches/Snapshots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 of the app's state when home button pushed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GUID&gt;/Library/Cookies/Cookies.binarycookies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GUID&gt;/Library/Preferences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plists-a-plenty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GUID&gt;/Library/WebKit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GUID&gt;/Library/WebKit/LocalStorage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/User/Applications/&lt;app GUID&gt;/tmp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/var/mobile/Library/Accounts/Accounts3.sqlite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gmail, icloud, twitter,etc., accounts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/var/mobile/Library/Application Support/Ubiquity/peer-*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item-info.db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7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/var/mobile/Library/Assistant/ManagedObjects.sqlite</a:t>
                      </a:r>
                    </a:p>
                  </a:txBody>
                  <a:tcPr marL="10633" marR="10633" marT="106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Siri-used reminders - use strings, e.g. "Call lawn care service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America/New_York"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5098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/var/mobile/Library/DataAccess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IMAP, iCloud accounts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/var/mobile/Library/Passes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Passbook - Flight, Hotel info</a:t>
                      </a:r>
                    </a:p>
                  </a:txBody>
                  <a:tcPr marL="10633" marR="10633" marT="1063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61769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81300"/>
            <a:ext cx="8686800" cy="1295400"/>
          </a:xfrm>
        </p:spPr>
        <p:txBody>
          <a:bodyPr/>
          <a:lstStyle/>
          <a:p>
            <a:pPr algn="ctr"/>
            <a:r>
              <a:rPr lang="en-US" dirty="0" err="1" smtClean="0">
                <a:latin typeface="Anime Ace 2.0 BB"/>
                <a:cs typeface="Anime Ace 2.0 BB"/>
              </a:rPr>
              <a:t>Ios</a:t>
            </a:r>
            <a:r>
              <a:rPr lang="en-US" dirty="0" smtClean="0">
                <a:latin typeface="Anime Ace 2.0 BB"/>
                <a:cs typeface="Anime Ace 2.0 BB"/>
              </a:rPr>
              <a:t> Findings!</a:t>
            </a:r>
            <a:endParaRPr lang="en-US" dirty="0">
              <a:latin typeface="Anime Ace 2.0 BB"/>
              <a:cs typeface="Anime Ace 2.0 BB"/>
            </a:endParaRPr>
          </a:p>
        </p:txBody>
      </p:sp>
    </p:spTree>
    <p:extLst>
      <p:ext uri="{BB962C8B-B14F-4D97-AF65-F5344CB8AC3E}">
        <p14:creationId xmlns:p14="http://schemas.microsoft.com/office/powerpoint/2010/main" val="162626404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Keyboard cache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 descr="Screen shot 2011-04-22 at 4.08.46 PM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8600" y="990600"/>
            <a:ext cx="5474603" cy="27520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653198"/>
              </p:ext>
            </p:extLst>
          </p:nvPr>
        </p:nvGraphicFramePr>
        <p:xfrm>
          <a:off x="241300" y="3962400"/>
          <a:ext cx="6083300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Document" r:id="rId5" imgW="6083300" imgH="2819400" progId="Word.Document.12">
                  <p:embed/>
                </p:oleObj>
              </mc:Choice>
              <mc:Fallback>
                <p:oleObj name="Document" r:id="rId5" imgW="6083300" imgH="2819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300" y="3962400"/>
                        <a:ext cx="6083300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990600"/>
            <a:ext cx="3352799" cy="4321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OMF_GPS5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9016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snapshots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14" y="1143000"/>
            <a:ext cx="4792425" cy="17066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939" y="1371600"/>
            <a:ext cx="2080061" cy="2990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877" y="3124200"/>
            <a:ext cx="2080061" cy="2990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39" y="3124201"/>
            <a:ext cx="2081669" cy="2992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077" y="3189201"/>
            <a:ext cx="2080062" cy="28600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 descr="OMF_GPS5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8718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Xpense</a:t>
            </a:r>
            <a:r>
              <a:rPr lang="en-US" sz="3600" i="1" dirty="0" smtClean="0">
                <a:latin typeface="Anime Ace 2.0 BB"/>
                <a:cs typeface="Anime Ace 2.0 BB"/>
              </a:rPr>
              <a:t> </a:t>
            </a:r>
            <a:r>
              <a:rPr lang="en-US" sz="3600" i="1" dirty="0" err="1" smtClean="0">
                <a:latin typeface="Anime Ace 2.0 BB"/>
                <a:cs typeface="Anime Ace 2.0 BB"/>
              </a:rPr>
              <a:t>mgmt</a:t>
            </a:r>
            <a:r>
              <a:rPr lang="en-US" sz="3600" i="1" dirty="0" smtClean="0">
                <a:latin typeface="Anime Ace 2.0 BB"/>
                <a:cs typeface="Anime Ace 2.0 BB"/>
              </a:rPr>
              <a:t> app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 descr="Screen shot 2011-04-22 at 4.08.46 P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6015" y="1310477"/>
            <a:ext cx="7731971" cy="17160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1" y="2569373"/>
            <a:ext cx="5943598" cy="32980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7169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Chat / social apps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10" name="Picture 9" descr="DryncWi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27893" y="2819400"/>
            <a:ext cx="5487507" cy="3187406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IM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2401" y="1295400"/>
            <a:ext cx="5486400" cy="3281664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2597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Chat / social apps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9" name="Picture 8" descr="BeeJiveChatExpos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4600" y="3099032"/>
            <a:ext cx="6408961" cy="276836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Palringo-corpdataleak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8600" y="1143000"/>
            <a:ext cx="6743700" cy="30486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1898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contacts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066800"/>
            <a:ext cx="5070196" cy="41643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pic>
        <p:nvPicPr>
          <p:cNvPr id="3" name="Picture 2" descr="AddressBookNumbers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90081"/>
            <a:ext cx="8018859" cy="29869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374406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mail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12" name="Picture 11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pic>
        <p:nvPicPr>
          <p:cNvPr id="4" name="Picture 3" descr="EmailAccounts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862386"/>
            <a:ext cx="7772400" cy="40144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495284"/>
            <a:ext cx="7086600" cy="20579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155296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Mo’ mail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12" name="Picture 11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pic>
        <p:nvPicPr>
          <p:cNvPr id="3" name="Picture 2" descr="iOS-MobileMail-Disclosur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82" y="823172"/>
            <a:ext cx="7756236" cy="5730028"/>
          </a:xfrm>
          <a:prstGeom prst="rect">
            <a:avLst/>
          </a:prstGeom>
        </p:spPr>
      </p:pic>
      <p:pic>
        <p:nvPicPr>
          <p:cNvPr id="6" name="Picture 5" descr="iOS-MobileMail-Disclosure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81" y="1600200"/>
            <a:ext cx="7691438" cy="3886200"/>
          </a:xfrm>
          <a:prstGeom prst="rect">
            <a:avLst/>
          </a:prstGeom>
        </p:spPr>
      </p:pic>
      <p:pic>
        <p:nvPicPr>
          <p:cNvPr id="7" name="Picture 6" descr="iOS-MobileMail-Disclosure3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2" y="990600"/>
            <a:ext cx="7459976" cy="499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5847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81300"/>
            <a:ext cx="8686800" cy="1295400"/>
          </a:xfrm>
        </p:spPr>
        <p:txBody>
          <a:bodyPr/>
          <a:lstStyle/>
          <a:p>
            <a:pPr algn="ctr"/>
            <a:r>
              <a:rPr lang="en-US" dirty="0" smtClean="0">
                <a:latin typeface="Anime Ace 2.0 BB"/>
                <a:cs typeface="Anime Ace 2.0 BB"/>
              </a:rPr>
              <a:t>Demo!</a:t>
            </a:r>
            <a:endParaRPr lang="en-US" sz="3200" dirty="0">
              <a:latin typeface="Anime Ace 2.0 BB"/>
              <a:cs typeface="Anime Ace 2.0 BB"/>
            </a:endParaRPr>
          </a:p>
        </p:txBody>
      </p:sp>
      <p:pic>
        <p:nvPicPr>
          <p:cNvPr id="3" name="13.am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14800" y="43434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9451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Voicemail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66800"/>
            <a:ext cx="7649015" cy="510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375" y="1905000"/>
            <a:ext cx="4200825" cy="2162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646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Network </a:t>
            </a:r>
            <a:r>
              <a:rPr lang="en-US" sz="3600" i="1" dirty="0" err="1" smtClean="0">
                <a:latin typeface="Anime Ace 2.0 BB"/>
                <a:cs typeface="Anime Ace 2.0 BB"/>
              </a:rPr>
              <a:t>config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pic>
        <p:nvPicPr>
          <p:cNvPr id="3" name="Picture 2" descr="NetworkID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" y="1033303"/>
            <a:ext cx="8945043" cy="5138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799544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Wifi</a:t>
            </a:r>
            <a:r>
              <a:rPr lang="en-US" sz="3600" i="1" dirty="0" smtClean="0">
                <a:latin typeface="Anime Ace 2.0 BB"/>
                <a:cs typeface="Anime Ace 2.0 BB"/>
              </a:rPr>
              <a:t> </a:t>
            </a:r>
            <a:r>
              <a:rPr lang="en-US" sz="3600" i="1" dirty="0" err="1" smtClean="0">
                <a:latin typeface="Anime Ace 2.0 BB"/>
                <a:cs typeface="Anime Ace 2.0 BB"/>
              </a:rPr>
              <a:t>config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914400"/>
            <a:ext cx="8064500" cy="383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WifiDeets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50" y="4495800"/>
            <a:ext cx="5041900" cy="21265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004123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keychain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pic>
        <p:nvPicPr>
          <p:cNvPr id="3" name="Picture 2" descr="KeyChai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1" y="914400"/>
            <a:ext cx="8903218" cy="51655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494858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Passbook, Accounts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5" name="Picture 4" descr="Account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838200"/>
            <a:ext cx="7467600" cy="3879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1" y="4399820"/>
            <a:ext cx="8305798" cy="2229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4576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Ubiquity, Assistant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3" name="Picture 2" descr="item-infoDB-Ubiquit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496" y="1447800"/>
            <a:ext cx="7696904" cy="431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ssistan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38200"/>
            <a:ext cx="3962400" cy="594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1712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81300"/>
            <a:ext cx="8686800" cy="1295400"/>
          </a:xfrm>
        </p:spPr>
        <p:txBody>
          <a:bodyPr/>
          <a:lstStyle/>
          <a:p>
            <a:pPr algn="ctr"/>
            <a:r>
              <a:rPr lang="en-US" dirty="0" smtClean="0">
                <a:latin typeface="Anime Ace 2.0 BB"/>
                <a:cs typeface="Anime Ace 2.0 BB"/>
              </a:rPr>
              <a:t>Got data?</a:t>
            </a:r>
            <a:br>
              <a:rPr lang="en-US" dirty="0" smtClean="0">
                <a:latin typeface="Anime Ace 2.0 BB"/>
                <a:cs typeface="Anime Ace 2.0 BB"/>
              </a:rPr>
            </a:br>
            <a:r>
              <a:rPr lang="en-US" sz="3200" dirty="0" smtClean="0">
                <a:latin typeface="Anime Ace 2.0 BB"/>
                <a:cs typeface="Anime Ace 2.0 BB"/>
              </a:rPr>
              <a:t>(android)</a:t>
            </a:r>
            <a:endParaRPr lang="en-US" sz="3200" dirty="0">
              <a:latin typeface="Anime Ace 2.0 BB"/>
              <a:cs typeface="Anime Ace 2.0 BB"/>
            </a:endParaRPr>
          </a:p>
        </p:txBody>
      </p:sp>
    </p:spTree>
    <p:extLst>
      <p:ext uri="{BB962C8B-B14F-4D97-AF65-F5344CB8AC3E}">
        <p14:creationId xmlns:p14="http://schemas.microsoft.com/office/powerpoint/2010/main" val="224345769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Loc</a:t>
            </a:r>
            <a:r>
              <a:rPr lang="en-US" sz="3600" i="1" dirty="0" smtClean="0">
                <a:latin typeface="Anime Ace 2.0 BB"/>
                <a:cs typeface="Anime Ace 2.0 BB"/>
              </a:rPr>
              <a:t> Data (android)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255690"/>
              </p:ext>
            </p:extLst>
          </p:nvPr>
        </p:nvGraphicFramePr>
        <p:xfrm>
          <a:off x="152400" y="1413255"/>
          <a:ext cx="8839200" cy="4682745"/>
        </p:xfrm>
        <a:graphic>
          <a:graphicData uri="http://schemas.openxmlformats.org/drawingml/2006/table">
            <a:tbl>
              <a:tblPr/>
              <a:tblGrid>
                <a:gridCol w="4290765"/>
                <a:gridCol w="4548435"/>
              </a:tblGrid>
              <a:tr h="1726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Location</a:t>
                      </a:r>
                    </a:p>
                  </a:txBody>
                  <a:tcPr marL="5795" marR="5795" marT="579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/data/data/&lt;app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name&gt;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Application data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/data/data/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com.android.providers.userdictionary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User dictionary,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aka keyboard cache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/data/data/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com.android.email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Email data – 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creds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, messages, etc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/data/data/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com.osp.app.signin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oAuth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tokens, 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certs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Erro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r dumps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/data/misc/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vpn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VPN profiles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/data/misc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Memory dumps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/data/system/sync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Sync accounts, sync targets (authorities)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/data/system/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accounts.db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Account credentials, auth tokens, etc. (similar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to KeyChain)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/data/wifi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Configured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wifi networks – UID, PSK, etc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/system/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registered_services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/packages.xml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Delegated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permissions across device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/databases/&lt;app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name&gt;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Application database storage and preferences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files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/databases/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com.android.providers.contacts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Accounts, contacts, calls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/databases/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com.android.providers.settings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settings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/databases/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com.android.providers.telephony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Mmssms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details – sender/receiver,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message, timestamp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/databases/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com.android.vending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Market downloads (account), carrier billing info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/databases/com.google.android.gm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Gmail accounts, 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gmail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data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/databases/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com.google.android.gsf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Google services settings, email disclosure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/databases/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com.sec.android.app.memo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Database of ‘memo’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entries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/databases/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com.sec.android.app.sns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Account information for social networking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/databases/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com.sec.android.provider.logsprovider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Log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db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dbdata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/databases/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com.sec.android.providers.drm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DRM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details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mnt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sdcard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/data/browser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Browser cache tables and databases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mnt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sdcard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/data/crash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Crash logs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mnt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sdcard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/DCIM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Photos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mnt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sdcard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/Voodoo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Logs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5795" marR="5795" marT="57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</a:tbl>
          </a:graphicData>
        </a:graphic>
      </p:graphicFrame>
      <p:sp>
        <p:nvSpPr>
          <p:cNvPr id="9" name="Text Placeholder 6"/>
          <p:cNvSpPr txBox="1">
            <a:spLocks/>
          </p:cNvSpPr>
          <p:nvPr/>
        </p:nvSpPr>
        <p:spPr>
          <a:xfrm>
            <a:off x="2095500" y="838200"/>
            <a:ext cx="4953000" cy="533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defRPr/>
            </a:pPr>
            <a:r>
              <a:rPr lang="en-US" sz="2800" b="1" dirty="0" smtClean="0">
                <a:solidFill>
                  <a:srgbClr val="000000"/>
                </a:solidFill>
                <a:latin typeface="Anime Ace 2.0 BB" pitchFamily="2" charset="0"/>
              </a:rPr>
              <a:t>2.3.4 Gingerbread</a:t>
            </a:r>
            <a:endParaRPr lang="en-US" sz="2400" b="1" dirty="0">
              <a:solidFill>
                <a:srgbClr val="000000"/>
              </a:solidFill>
              <a:latin typeface="Anime Ace 2.0 BB" pitchFamily="2" charset="0"/>
            </a:endParaRPr>
          </a:p>
        </p:txBody>
      </p:sp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3088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Loc</a:t>
            </a:r>
            <a:r>
              <a:rPr lang="en-US" sz="3600" i="1" dirty="0" smtClean="0">
                <a:latin typeface="Anime Ace 2.0 BB"/>
                <a:cs typeface="Anime Ace 2.0 BB"/>
              </a:rPr>
              <a:t> Data (android)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graphicFrame>
        <p:nvGraphicFramePr>
          <p:cNvPr id="8" name="Table 7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626918293"/>
              </p:ext>
            </p:extLst>
          </p:nvPr>
        </p:nvGraphicFramePr>
        <p:xfrm>
          <a:off x="152400" y="1447800"/>
          <a:ext cx="8839200" cy="4783328"/>
        </p:xfrm>
        <a:graphic>
          <a:graphicData uri="http://schemas.openxmlformats.org/drawingml/2006/table">
            <a:tbl>
              <a:tblPr/>
              <a:tblGrid>
                <a:gridCol w="4427180"/>
                <a:gridCol w="4412020"/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/data/app/&lt;appname&gt;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user-installed APKs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/data/app-private/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user-installed apps with private storage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/data/misc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keychain, keystore, wifi, vpn -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Wifi creds still in the clear!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/data/system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package permissions, entropy.dat?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/data/log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Error dumps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/data/misc/vpn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VPN profiles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misc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Memory dumps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/data/misc/wifi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Configured wifi networks – SSID, UID, PSK, etc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/data/system/sync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Sync accounts, sync targets (authorities)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/data/system/accounts.db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Account creds, auth tokens, etc. -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Creds still in the clear!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/data/system/packages.xml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Delegated permissions across apps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/datadata/&lt;app name&gt;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Applications and data (user and native)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/datadata/com.android.providers.userdictionary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 dictionary, aka keyboard cache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/datadata/com.android.email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Email data – creds, messages, etc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/datadata/com.google.android.gm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Gmail accounts, gmail data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/datadata/com.android.providers.contacts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Accounts, contacts, calls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/datadata/com.android.providers.settings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Device settings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/datadata/com.android.providers.telephony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Mmssms details – sender/receiver, message, timestamp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/datadata/com.android.vending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Market downloads (account), carrier billing info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/datadata/com.google.android.gsf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Google services settings, email disclosure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/datadata/com.sec.android.providers.drm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DRM details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/datadata/com.android.browser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cache, autofill, geo loc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mnt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sdcard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/DCIM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camera photos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Placeholder 6"/>
          <p:cNvSpPr txBox="1">
            <a:spLocks/>
          </p:cNvSpPr>
          <p:nvPr/>
        </p:nvSpPr>
        <p:spPr>
          <a:xfrm>
            <a:off x="1066800" y="838200"/>
            <a:ext cx="7010400" cy="533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defRPr/>
            </a:pPr>
            <a:r>
              <a:rPr lang="en-US" sz="2800" b="1" dirty="0" smtClean="0">
                <a:solidFill>
                  <a:srgbClr val="000000"/>
                </a:solidFill>
                <a:latin typeface="Anime Ace 2.0 BB" pitchFamily="2" charset="0"/>
              </a:rPr>
              <a:t>4.0.4 Ice Cream Sandwich</a:t>
            </a:r>
            <a:endParaRPr lang="en-US" sz="2400" b="1" dirty="0">
              <a:solidFill>
                <a:srgbClr val="000000"/>
              </a:solidFill>
              <a:latin typeface="Anime Ace 2.0 BB" pitchFamily="2" charset="0"/>
            </a:endParaRPr>
          </a:p>
        </p:txBody>
      </p:sp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23122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Loc</a:t>
            </a:r>
            <a:r>
              <a:rPr lang="en-US" sz="3600" i="1" dirty="0" smtClean="0">
                <a:latin typeface="Anime Ace 2.0 BB"/>
                <a:cs typeface="Anime Ace 2.0 BB"/>
              </a:rPr>
              <a:t> Data (android)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graphicFrame>
        <p:nvGraphicFramePr>
          <p:cNvPr id="8" name="Table 7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51028176"/>
              </p:ext>
            </p:extLst>
          </p:nvPr>
        </p:nvGraphicFramePr>
        <p:xfrm>
          <a:off x="152400" y="1447800"/>
          <a:ext cx="8839200" cy="4783328"/>
        </p:xfrm>
        <a:graphic>
          <a:graphicData uri="http://schemas.openxmlformats.org/drawingml/2006/table">
            <a:tbl>
              <a:tblPr/>
              <a:tblGrid>
                <a:gridCol w="4427180"/>
                <a:gridCol w="4412020"/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/data/app/&lt;appname&gt;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user-installed APKs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/data/app-private/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user-installed apps with private storage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/data/misc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keychain, keystore, wifi, vpn -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Wifi creds still in the clear!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/data/system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package permissions, entropy.dat?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/data/log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Error dumps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/data/misc/vpn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VPN profiles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misc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Memory dumps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/data/misc/wifi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Configured wifi networks – SSID, UID, PSK, etc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/data/system/sync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Sync accounts, sync targets (authorities)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/data/system/accounts.db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Account creds, auth tokens, etc. -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Creds still in the clear!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/data/system/packages.xml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Delegated permissions across apps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/datadata/&lt;app name&gt;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Applications and data (user and native)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/datadata/com.android.providers.userdictionary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 dictionary, aka keyboard cache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/datadata/com.android.email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Email data – creds, messages, etc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/datadata/com.google.android.gm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Gmail accounts, gmail data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/datadata/com.android.providers.contacts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Accounts, contacts, calls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/datadata/com.android.providers.settings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Device settings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/datadata/com.android.providers.telephony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Mmssms details – sender/receiver, message, timestamp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/datadata/com.android.vending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Market downloads (account), carrier billing info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/datadata/com.google.android.gsf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Google services settings, email disclosure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/datadata/com.sec.android.providers.drm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DRM details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/datadata/com.android.browser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cache, autofill, geo loc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/mnt/sdcard/DCIM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camera photos </a:t>
                      </a:r>
                    </a:p>
                  </a:txBody>
                  <a:tcPr marL="13970" marR="13970" marT="139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Placeholder 6"/>
          <p:cNvSpPr txBox="1">
            <a:spLocks/>
          </p:cNvSpPr>
          <p:nvPr/>
        </p:nvSpPr>
        <p:spPr>
          <a:xfrm>
            <a:off x="2247900" y="838200"/>
            <a:ext cx="4648200" cy="533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defRPr/>
            </a:pPr>
            <a:r>
              <a:rPr lang="en-US" sz="2800" b="1" dirty="0" smtClean="0">
                <a:solidFill>
                  <a:srgbClr val="000000"/>
                </a:solidFill>
                <a:latin typeface="Anime Ace 2.0 BB" pitchFamily="2" charset="0"/>
              </a:rPr>
              <a:t>4.2.2 Jelly Bean</a:t>
            </a:r>
            <a:endParaRPr lang="en-US" sz="2400" b="1" dirty="0">
              <a:solidFill>
                <a:srgbClr val="000000"/>
              </a:solidFill>
              <a:latin typeface="Anime Ace 2.0 BB" pitchFamily="2" charset="0"/>
            </a:endParaRPr>
          </a:p>
        </p:txBody>
      </p:sp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2711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81300"/>
            <a:ext cx="8686800" cy="1295400"/>
          </a:xfrm>
        </p:spPr>
        <p:txBody>
          <a:bodyPr/>
          <a:lstStyle/>
          <a:p>
            <a:pPr algn="ctr"/>
            <a:r>
              <a:rPr lang="en-US" dirty="0" smtClean="0">
                <a:latin typeface="Anime Ace 2.0 BB"/>
                <a:cs typeface="Anime Ace 2.0 BB"/>
              </a:rPr>
              <a:t>Android Findings!</a:t>
            </a:r>
            <a:endParaRPr lang="en-US" dirty="0">
              <a:latin typeface="Anime Ace 2.0 BB"/>
              <a:cs typeface="Anime Ace 2.0 BB"/>
            </a:endParaRPr>
          </a:p>
        </p:txBody>
      </p:sp>
    </p:spTree>
    <p:extLst>
      <p:ext uri="{BB962C8B-B14F-4D97-AF65-F5344CB8AC3E}">
        <p14:creationId xmlns:p14="http://schemas.microsoft.com/office/powerpoint/2010/main" val="383140442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accounts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18" y="3375952"/>
            <a:ext cx="7190764" cy="2720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75" y="1295400"/>
            <a:ext cx="8167651" cy="2266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67381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Bookmarks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 descr="Screen shot 2011-04-22 at 2.23.51 P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5766" y="2078538"/>
            <a:ext cx="8532468" cy="2700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6221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pic>
        <p:nvPicPr>
          <p:cNvPr id="12" name="Picture 11" descr="Screen shot 2011-09-27 at 8.31.06 P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71600" y="4800600"/>
            <a:ext cx="6629400" cy="15588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Browser data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 descr="Droid_WebCach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19200"/>
            <a:ext cx="8610600" cy="2192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Droid_Webcache_FormData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581400"/>
            <a:ext cx="7378700" cy="1435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/>
          <p:cNvSpPr/>
          <p:nvPr/>
        </p:nvSpPr>
        <p:spPr bwMode="auto">
          <a:xfrm>
            <a:off x="2743200" y="4419600"/>
            <a:ext cx="304800" cy="1524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pic>
        <p:nvPicPr>
          <p:cNvPr id="13" name="Picture 12" descr="OMF_GPS5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7733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cache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3" name="Picture 2" descr="DroidCach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75769"/>
            <a:ext cx="8839200" cy="4106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7646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Mail </a:t>
            </a:r>
            <a:r>
              <a:rPr lang="en-US" sz="3600" i="1" dirty="0" err="1" smtClean="0">
                <a:latin typeface="Anime Ace 2.0 BB"/>
                <a:cs typeface="Anime Ace 2.0 BB"/>
              </a:rPr>
              <a:t>creds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3" y="1117600"/>
            <a:ext cx="8186357" cy="27254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Strings_EASGMAIL_EmailProviderDB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556000"/>
            <a:ext cx="8140700" cy="218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71492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mail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 descr="Screen shot 2011-09-29 at 1.01.09 A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5499" y="990600"/>
            <a:ext cx="8773002" cy="2705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 descr="Droid_Email_Disclosur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2400398"/>
            <a:ext cx="8305800" cy="41368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/>
          <p:cNvSpPr/>
          <p:nvPr/>
        </p:nvSpPr>
        <p:spPr bwMode="auto">
          <a:xfrm>
            <a:off x="2514600" y="4191000"/>
            <a:ext cx="762000" cy="6858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514600" y="5410200"/>
            <a:ext cx="7620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514600" y="6324600"/>
            <a:ext cx="10668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124200" y="6172200"/>
            <a:ext cx="2286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514600" y="3733800"/>
            <a:ext cx="7620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4572000" y="5410200"/>
            <a:ext cx="7620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572000" y="4191000"/>
            <a:ext cx="762000" cy="6858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8077200" y="2819400"/>
            <a:ext cx="2286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8382000" y="2971800"/>
            <a:ext cx="2286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8458200" y="3581400"/>
            <a:ext cx="2286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7543800" y="3733800"/>
            <a:ext cx="2286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914400" y="1143000"/>
            <a:ext cx="2286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pic>
        <p:nvPicPr>
          <p:cNvPr id="23" name="Picture 22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 bwMode="auto">
          <a:xfrm>
            <a:off x="7543800" y="6172200"/>
            <a:ext cx="2286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7543800" y="6324600"/>
            <a:ext cx="2286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35186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contacts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 descr="Screen shot 2011-09-29 at 12.22.56 A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11506" y="1505853"/>
            <a:ext cx="6520988" cy="35233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auto">
          <a:xfrm>
            <a:off x="3505200" y="3733800"/>
            <a:ext cx="3048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505200" y="3886200"/>
            <a:ext cx="304800" cy="762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4045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err="1" smtClean="0">
                <a:latin typeface="Anime Ace 2.0 BB"/>
                <a:cs typeface="Anime Ace 2.0 BB"/>
              </a:rPr>
              <a:t>Wifi</a:t>
            </a:r>
            <a:r>
              <a:rPr lang="en-US" sz="3600" i="1" dirty="0" smtClean="0">
                <a:latin typeface="Anime Ace 2.0 BB"/>
                <a:cs typeface="Anime Ace 2.0 BB"/>
              </a:rPr>
              <a:t> </a:t>
            </a:r>
            <a:r>
              <a:rPr lang="en-US" sz="3600" i="1" dirty="0" err="1" smtClean="0">
                <a:latin typeface="Anime Ace 2.0 BB"/>
                <a:cs typeface="Anime Ace 2.0 BB"/>
              </a:rPr>
              <a:t>config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343" y="1143000"/>
            <a:ext cx="3233313" cy="533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OMF_GPS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9011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applications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8" name="Picture 7" descr="EmailDisclosure-redact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3395939"/>
            <a:ext cx="6918380" cy="2471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WebviewDB-redact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71800" y="1295400"/>
            <a:ext cx="5857007" cy="2476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auto">
          <a:xfrm>
            <a:off x="7467600" y="3581400"/>
            <a:ext cx="304800" cy="1524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590800" y="5486400"/>
            <a:ext cx="304800" cy="1524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876800" y="3886200"/>
            <a:ext cx="304800" cy="1524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7467600" y="3048000"/>
            <a:ext cx="457200" cy="2286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14789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Applications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068" y="1295400"/>
            <a:ext cx="4457332" cy="46406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0" y="2292560"/>
            <a:ext cx="6180720" cy="2660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auto">
          <a:xfrm>
            <a:off x="3657600" y="3581400"/>
            <a:ext cx="304800" cy="152400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24989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81300"/>
            <a:ext cx="8686800" cy="1295400"/>
          </a:xfrm>
        </p:spPr>
        <p:txBody>
          <a:bodyPr/>
          <a:lstStyle/>
          <a:p>
            <a:pPr algn="ctr"/>
            <a:r>
              <a:rPr lang="en-US" dirty="0" smtClean="0">
                <a:latin typeface="Anime Ace 2.0 BB"/>
                <a:cs typeface="Anime Ace 2.0 BB"/>
              </a:rPr>
              <a:t>What now?!</a:t>
            </a:r>
            <a:endParaRPr lang="en-US" dirty="0">
              <a:latin typeface="Anime Ace 2.0 BB"/>
              <a:cs typeface="Anime Ace 2.0 BB"/>
            </a:endParaRPr>
          </a:p>
        </p:txBody>
      </p:sp>
      <p:pic>
        <p:nvPicPr>
          <p:cNvPr id="3" name="Picture 2" descr="Skeer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1527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Mitigation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300" y="4813518"/>
            <a:ext cx="73914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 smtClean="0">
                <a:latin typeface="Comic Sans MS" pitchFamily="66" charset="0"/>
              </a:rPr>
              <a:t>“In the popular culture, the availability of 10,000 applications for my smart phone is viewed as an unalloyed good. It is not — since each represents a potential vulnerability. But if we want to shift the popular culture, we need a broader flow of information to corporations and individuals to educate them on the threat. To do that we need to recalibrate what is truly secret.”</a:t>
            </a:r>
            <a:endParaRPr lang="en-US" sz="1600" i="1" dirty="0" smtClean="0">
              <a:latin typeface="Comic Sans MS" pitchFamily="66" charset="0"/>
            </a:endParaRPr>
          </a:p>
          <a:p>
            <a:r>
              <a:rPr lang="en-US" sz="1600" i="1" dirty="0" smtClean="0">
                <a:latin typeface="Comic Sans MS" pitchFamily="66" charset="0"/>
              </a:rPr>
              <a:t>– Gen. Michael Hayden, ret.</a:t>
            </a:r>
            <a:endParaRPr lang="en-US" sz="1600" i="1" dirty="0">
              <a:latin typeface="Comic Sans MS" pitchFamily="66" charset="0"/>
            </a:endParaRPr>
          </a:p>
        </p:txBody>
      </p:sp>
      <p:sp>
        <p:nvSpPr>
          <p:cNvPr id="9" name="Content Placeholder 7"/>
          <p:cNvSpPr>
            <a:spLocks noGrp="1"/>
          </p:cNvSpPr>
          <p:nvPr>
            <p:ph idx="1"/>
          </p:nvPr>
        </p:nvSpPr>
        <p:spPr>
          <a:xfrm>
            <a:off x="495300" y="1143000"/>
            <a:ext cx="8153400" cy="30480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Mobile Security Policy</a:t>
            </a:r>
          </a:p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Mobile Security Education</a:t>
            </a:r>
          </a:p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sz="3200" strike="sngStrike" dirty="0" smtClean="0">
                <a:solidFill>
                  <a:prstClr val="black"/>
                </a:solidFill>
                <a:latin typeface="Anime Ace 2.0 BB"/>
                <a:cs typeface="Anime Ace 2.0 BB"/>
              </a:rPr>
              <a:t>Mobile Device Management</a:t>
            </a:r>
          </a:p>
          <a:p>
            <a:pPr lvl="1">
              <a:buClr>
                <a:schemeClr val="tx1"/>
              </a:buClr>
              <a:buFont typeface="Wingdings" charset="2"/>
              <a:buChar char="§"/>
            </a:pPr>
            <a:r>
              <a:rPr lang="en-US" sz="28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MADIM (app + Device + </a:t>
            </a:r>
            <a:r>
              <a:rPr lang="en-US" sz="2800" dirty="0" err="1" smtClean="0">
                <a:solidFill>
                  <a:prstClr val="black"/>
                </a:solidFill>
                <a:latin typeface="Anime Ace 2.0 BB"/>
                <a:cs typeface="Anime Ace 2.0 BB"/>
              </a:rPr>
              <a:t>InFO</a:t>
            </a:r>
            <a:r>
              <a:rPr lang="en-US" sz="28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)</a:t>
            </a:r>
          </a:p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Offensive Mobile Forensics</a:t>
            </a:r>
          </a:p>
          <a:p>
            <a:pPr>
              <a:buClr>
                <a:schemeClr val="tx1"/>
              </a:buClr>
              <a:buFont typeface="Wingdings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latin typeface="Anime Ace 2.0 BB"/>
                <a:cs typeface="Anime Ace 2.0 BB"/>
              </a:rPr>
              <a:t>Secure Mobile Development</a:t>
            </a:r>
          </a:p>
        </p:txBody>
      </p:sp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9578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nime Ace 2.0 BB"/>
                <a:ea typeface="ＭＳ Ｐゴシック" charset="0"/>
                <a:cs typeface="Anime Ace 2.0 BB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nime Ace 2.0 BB"/>
                <a:ea typeface="ＭＳ Ｐゴシック" charset="0"/>
                <a:cs typeface="Anime Ace 2.0 BB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nime Ace 2.0 BB"/>
              <a:ea typeface="ヒラギノ角ゴ ProN W3" charset="0"/>
              <a:cs typeface="Anime Ace 2.0 BB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Samsung KNOX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17500" y="3505200"/>
            <a:ext cx="4254500" cy="2952750"/>
          </a:xfrm>
        </p:spPr>
        <p:txBody>
          <a:bodyPr/>
          <a:lstStyle/>
          <a:p>
            <a:pP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Secured </a:t>
            </a:r>
            <a:r>
              <a:rPr lang="en-US" dirty="0" err="1">
                <a:latin typeface="Anime Ace 2.0 BB"/>
                <a:cs typeface="Anime Ace 2.0 BB"/>
              </a:rPr>
              <a:t>bootloader</a:t>
            </a:r>
            <a:endParaRPr lang="en-US" dirty="0">
              <a:latin typeface="Anime Ace 2.0 BB"/>
              <a:cs typeface="Anime Ace 2.0 BB"/>
            </a:endParaRPr>
          </a:p>
          <a:p>
            <a:pPr lvl="1"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0x0</a:t>
            </a:r>
            <a:r>
              <a:rPr lang="en-US" dirty="0">
                <a:latin typeface="Anime Ace 2.0 BB"/>
                <a:cs typeface="Anime Ace 2.0 BB"/>
              </a:rPr>
              <a:t>, </a:t>
            </a:r>
            <a:r>
              <a:rPr lang="en-US" dirty="0" smtClean="0">
                <a:latin typeface="Anime Ace 2.0 BB"/>
                <a:cs typeface="Anime Ace 2.0 BB"/>
              </a:rPr>
              <a:t>0x1</a:t>
            </a:r>
          </a:p>
          <a:p>
            <a:pP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REMOVE?  DISABLE?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762000"/>
            <a:ext cx="6273800" cy="281467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4572000" y="3505200"/>
            <a:ext cx="4254500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704850" indent="-285750" algn="l" rtl="0" fontAlgn="base"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1104900" indent="-228600" algn="l" rtl="0" fontAlgn="base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156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201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2476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2933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3390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3848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kernels and recoveries</a:t>
            </a:r>
          </a:p>
          <a:p>
            <a:pP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Container; dual persona system</a:t>
            </a:r>
            <a:endParaRPr lang="en-US" dirty="0">
              <a:latin typeface="Anime Ace 2.0 BB"/>
              <a:cs typeface="Anime Ace 2.0 BB"/>
            </a:endParaRPr>
          </a:p>
        </p:txBody>
      </p:sp>
    </p:spTree>
    <p:extLst>
      <p:ext uri="{BB962C8B-B14F-4D97-AF65-F5344CB8AC3E}">
        <p14:creationId xmlns:p14="http://schemas.microsoft.com/office/powerpoint/2010/main" val="137130620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nime Ace 2.0 BB"/>
                <a:ea typeface="ＭＳ Ｐゴシック" charset="0"/>
                <a:cs typeface="Anime Ace 2.0 BB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nime Ace 2.0 BB"/>
                <a:ea typeface="ＭＳ Ｐゴシック" charset="0"/>
                <a:cs typeface="Anime Ace 2.0 BB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nime Ace 2.0 BB"/>
              <a:ea typeface="ヒラギノ角ゴ ProN W3" charset="0"/>
              <a:cs typeface="Anime Ace 2.0 BB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Samsung KNOX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pic>
        <p:nvPicPr>
          <p:cNvPr id="3" name="Picture 2" descr="knox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35" y="1524000"/>
            <a:ext cx="8115300" cy="5318569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241300" y="838200"/>
            <a:ext cx="6921500" cy="561975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nime Ace 2.0 BB"/>
                <a:cs typeface="Anime Ace 2.0 BB"/>
              </a:rPr>
              <a:t>KNOX 2.0</a:t>
            </a:r>
          </a:p>
          <a:p>
            <a:pP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S5</a:t>
            </a:r>
          </a:p>
          <a:p>
            <a:pP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WORKSPACE</a:t>
            </a:r>
          </a:p>
          <a:p>
            <a:pP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EMM</a:t>
            </a:r>
          </a:p>
          <a:p>
            <a:pP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MARKETPLACE</a:t>
            </a:r>
          </a:p>
          <a:p>
            <a:pPr>
              <a:buFont typeface="Wingdings" charset="2"/>
              <a:buChar char="§"/>
            </a:pPr>
            <a:r>
              <a:rPr lang="en-US" dirty="0" smtClean="0">
                <a:latin typeface="Anime Ace 2.0 BB"/>
                <a:cs typeface="Anime Ace 2.0 BB"/>
              </a:rPr>
              <a:t>CUSTOMIZATION</a:t>
            </a:r>
            <a:endParaRPr lang="en-US" dirty="0">
              <a:latin typeface="Anime Ace 2.0 BB"/>
              <a:cs typeface="Anime Ace 2.0 BB"/>
            </a:endParaRPr>
          </a:p>
        </p:txBody>
      </p:sp>
    </p:spTree>
    <p:extLst>
      <p:ext uri="{BB962C8B-B14F-4D97-AF65-F5344CB8AC3E}">
        <p14:creationId xmlns:p14="http://schemas.microsoft.com/office/powerpoint/2010/main" val="356973938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nime Ace 2.0 BB"/>
                <a:ea typeface="ＭＳ Ｐゴシック" charset="0"/>
                <a:cs typeface="Anime Ace 2.0 BB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nime Ace 2.0 BB"/>
                <a:ea typeface="ＭＳ Ｐゴシック" charset="0"/>
                <a:cs typeface="Anime Ace 2.0 BB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nime Ace 2.0 BB"/>
              <a:ea typeface="ヒラギノ角ゴ ProN W3" charset="0"/>
              <a:cs typeface="Anime Ace 2.0 BB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Samsung KNOX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10" name="Picture 9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5463"/>
            <a:ext cx="1041854" cy="494137"/>
          </a:xfrm>
          <a:prstGeom prst="rect">
            <a:avLst/>
          </a:prstGeom>
        </p:spPr>
      </p:pic>
      <p:pic>
        <p:nvPicPr>
          <p:cNvPr id="5" name="Picture 4" descr="knox-em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838200"/>
            <a:ext cx="8915400" cy="576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21814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3581400" y="6632575"/>
            <a:ext cx="1993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475"/>
              </a:spcBef>
            </a:pPr>
            <a:r>
              <a:rPr lang="en-US" sz="8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CONFIDENTIAL AND PROPRIETARY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228600" y="6630988"/>
            <a:ext cx="26797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l">
              <a:spcBef>
                <a:spcPts val="538"/>
              </a:spcBef>
            </a:pPr>
            <a:r>
              <a:rPr lang="en-US" sz="900">
                <a:solidFill>
                  <a:srgbClr val="777777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© 2013 GuidePoint Security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6127750"/>
            <a:ext cx="14351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  <a:ln/>
        </p:spPr>
        <p:txBody>
          <a:bodyPr/>
          <a:lstStyle/>
          <a:p>
            <a:r>
              <a:rPr lang="en-US" sz="3600" i="1" dirty="0" smtClean="0">
                <a:latin typeface="Anime Ace 2.0 BB"/>
                <a:cs typeface="Anime Ace 2.0 BB"/>
              </a:rPr>
              <a:t>Thank you!</a:t>
            </a:r>
            <a:endParaRPr lang="en-US" sz="3600" i="1" dirty="0">
              <a:latin typeface="Anime Ace 2.0 BB"/>
              <a:cs typeface="Anime Ace 2.0 BB"/>
            </a:endParaRPr>
          </a:p>
        </p:txBody>
      </p:sp>
      <p:pic>
        <p:nvPicPr>
          <p:cNvPr id="11" name="Picture 10" descr="OMF_GPS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9" y="0"/>
            <a:ext cx="1499055" cy="710981"/>
          </a:xfrm>
          <a:prstGeom prst="rect">
            <a:avLst/>
          </a:prstGeom>
        </p:spPr>
      </p:pic>
      <p:pic>
        <p:nvPicPr>
          <p:cNvPr id="8" name="Picture 7" descr="Question-Fotosearch_k113684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90738" y="1219200"/>
            <a:ext cx="4962525" cy="39700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876800"/>
            <a:ext cx="7315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nime Ace 2.0 BB"/>
                <a:cs typeface="Anime Ace 2.0 BB"/>
              </a:rPr>
              <a:t>Joey Peloquin</a:t>
            </a:r>
          </a:p>
          <a:p>
            <a:r>
              <a:rPr lang="en-US" sz="2800" dirty="0" err="1" smtClean="0">
                <a:latin typeface="Anime Ace 2.0 BB"/>
                <a:cs typeface="Anime Ace 2.0 BB"/>
              </a:rPr>
              <a:t>joey@guidepointsecurity.com</a:t>
            </a:r>
            <a:endParaRPr lang="en-US" sz="2800" dirty="0">
              <a:latin typeface="Anime Ace 2.0 BB"/>
              <a:cs typeface="Anime Ace 2.0 BB"/>
            </a:endParaRPr>
          </a:p>
        </p:txBody>
      </p:sp>
    </p:spTree>
    <p:extLst>
      <p:ext uri="{BB962C8B-B14F-4D97-AF65-F5344CB8AC3E}">
        <p14:creationId xmlns:p14="http://schemas.microsoft.com/office/powerpoint/2010/main" val="404176368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- Title Slide">
  <a:themeElements>
    <a:clrScheme name="Default - Title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- Title Slide">
      <a:majorFont>
        <a:latin typeface="Arial Bold"/>
        <a:ea typeface="ヒラギノ角ゴ ProN W6"/>
        <a:cs typeface="ヒラギノ角ゴ ProN W6"/>
      </a:majorFont>
      <a:minorFont>
        <a:latin typeface="Arial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Default - 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- Title and Content">
  <a:themeElements>
    <a:clrScheme name="Default - Title and Conten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- Title and Content">
      <a:majorFont>
        <a:latin typeface="Arial Bold"/>
        <a:ea typeface="ヒラギノ角ゴ ProN W6"/>
        <a:cs typeface="ヒラギノ角ゴ ProN W6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Default - 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F5 Corp Colors 2009">
      <a:dk1>
        <a:srgbClr val="000000"/>
      </a:dk1>
      <a:lt1>
        <a:srgbClr val="FFFFFF"/>
      </a:lt1>
      <a:dk2>
        <a:srgbClr val="3B3D3C"/>
      </a:dk2>
      <a:lt2>
        <a:srgbClr val="FFFFFF"/>
      </a:lt2>
      <a:accent1>
        <a:srgbClr val="7E99AA"/>
      </a:accent1>
      <a:accent2>
        <a:srgbClr val="F2AF32"/>
      </a:accent2>
      <a:accent3>
        <a:srgbClr val="CCCCCC"/>
      </a:accent3>
      <a:accent4>
        <a:srgbClr val="34699A"/>
      </a:accent4>
      <a:accent5>
        <a:srgbClr val="BE0F34"/>
      </a:accent5>
      <a:accent6>
        <a:srgbClr val="5A7E92"/>
      </a:accent6>
      <a:hlink>
        <a:srgbClr val="34699A"/>
      </a:hlink>
      <a:folHlink>
        <a:srgbClr val="CCCCC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t"/>
      <a:lstStyle>
        <a:defPPr>
          <a:defRPr dirty="0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5031</TotalTime>
  <Pages>0</Pages>
  <Words>4924</Words>
  <Characters>0</Characters>
  <Application>Microsoft Macintosh PowerPoint</Application>
  <PresentationFormat>On-screen Show (4:3)</PresentationFormat>
  <Lines>0</Lines>
  <Paragraphs>882</Paragraphs>
  <Slides>63</Slides>
  <Notes>1</Notes>
  <HiddenSlides>0</HiddenSlides>
  <MMClips>1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1_Default - Title Slide</vt:lpstr>
      <vt:lpstr>Default - Title and Content</vt:lpstr>
      <vt:lpstr>1_Office Theme</vt:lpstr>
      <vt:lpstr>Document</vt:lpstr>
      <vt:lpstr>PowerPoint Presentation</vt:lpstr>
      <vt:lpstr>Agenda</vt:lpstr>
      <vt:lpstr>Introduction</vt:lpstr>
      <vt:lpstr>Introduction</vt:lpstr>
      <vt:lpstr>Introduction</vt:lpstr>
      <vt:lpstr>Introduction</vt:lpstr>
      <vt:lpstr>Tools</vt:lpstr>
      <vt:lpstr>Tools</vt:lpstr>
      <vt:lpstr>Tools (iOS)</vt:lpstr>
      <vt:lpstr>Tools (ios)</vt:lpstr>
      <vt:lpstr>Tools (ios)</vt:lpstr>
      <vt:lpstr>Tools (ios)</vt:lpstr>
      <vt:lpstr>Tools (Android)</vt:lpstr>
      <vt:lpstr>Tools (Android)</vt:lpstr>
      <vt:lpstr>Tools (Android)</vt:lpstr>
      <vt:lpstr>Tools (Android)</vt:lpstr>
      <vt:lpstr>Tools (Android)</vt:lpstr>
      <vt:lpstr>Got Data? (ios)</vt:lpstr>
      <vt:lpstr>Loc Data (IOS)</vt:lpstr>
      <vt:lpstr>Loc Data (IOS)</vt:lpstr>
      <vt:lpstr>Loc Data (IOS)</vt:lpstr>
      <vt:lpstr>Loc Data (IOS)</vt:lpstr>
      <vt:lpstr>Loc Data (IOS)</vt:lpstr>
      <vt:lpstr>Loc Data (IOS)</vt:lpstr>
      <vt:lpstr>Loc Data (IOS)</vt:lpstr>
      <vt:lpstr>Loc Data (IOS)</vt:lpstr>
      <vt:lpstr>Ios Findings!</vt:lpstr>
      <vt:lpstr>Keyboard cache</vt:lpstr>
      <vt:lpstr>snapshots</vt:lpstr>
      <vt:lpstr>Xpense mgmt app</vt:lpstr>
      <vt:lpstr>Chat / social apps</vt:lpstr>
      <vt:lpstr>Chat / social apps</vt:lpstr>
      <vt:lpstr>contacts</vt:lpstr>
      <vt:lpstr>mail</vt:lpstr>
      <vt:lpstr>Mo’ mail</vt:lpstr>
      <vt:lpstr>Demo!</vt:lpstr>
      <vt:lpstr>Voicemail</vt:lpstr>
      <vt:lpstr>Network config</vt:lpstr>
      <vt:lpstr>Wifi config</vt:lpstr>
      <vt:lpstr>keychain</vt:lpstr>
      <vt:lpstr>Passbook, Accounts</vt:lpstr>
      <vt:lpstr>Ubiquity, Assistant</vt:lpstr>
      <vt:lpstr>Got data? (android)</vt:lpstr>
      <vt:lpstr>Loc Data (android)</vt:lpstr>
      <vt:lpstr>Loc Data (android)</vt:lpstr>
      <vt:lpstr>Loc Data (android)</vt:lpstr>
      <vt:lpstr>Android Findings!</vt:lpstr>
      <vt:lpstr>accounts</vt:lpstr>
      <vt:lpstr>Bookmarks</vt:lpstr>
      <vt:lpstr>Browser data</vt:lpstr>
      <vt:lpstr>cache</vt:lpstr>
      <vt:lpstr>Mail creds</vt:lpstr>
      <vt:lpstr>mail</vt:lpstr>
      <vt:lpstr>contacts</vt:lpstr>
      <vt:lpstr>Wifi config</vt:lpstr>
      <vt:lpstr>applications</vt:lpstr>
      <vt:lpstr>Applications</vt:lpstr>
      <vt:lpstr>What now?!</vt:lpstr>
      <vt:lpstr>Mitigation</vt:lpstr>
      <vt:lpstr>Samsung KNOX</vt:lpstr>
      <vt:lpstr>Samsung KNOX</vt:lpstr>
      <vt:lpstr>Samsung KNOX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sbrooks26</dc:creator>
  <cp:keywords/>
  <dc:description/>
  <cp:lastModifiedBy>User</cp:lastModifiedBy>
  <cp:revision>90</cp:revision>
  <dcterms:modified xsi:type="dcterms:W3CDTF">2014-05-08T01:00:56Z</dcterms:modified>
</cp:coreProperties>
</file>