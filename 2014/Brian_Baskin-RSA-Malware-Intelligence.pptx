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0" r:id="rId1"/>
    <p:sldMasterId id="2147483651" r:id="rId2"/>
    <p:sldMasterId id="2147483656" r:id="rId3"/>
  </p:sldMasterIdLst>
  <p:notesMasterIdLst>
    <p:notesMasterId r:id="rId49"/>
  </p:notesMasterIdLst>
  <p:sldIdLst>
    <p:sldId id="256" r:id="rId4"/>
    <p:sldId id="278" r:id="rId5"/>
    <p:sldId id="280" r:id="rId6"/>
    <p:sldId id="294" r:id="rId7"/>
    <p:sldId id="295" r:id="rId8"/>
    <p:sldId id="300" r:id="rId9"/>
    <p:sldId id="301" r:id="rId10"/>
    <p:sldId id="302" r:id="rId11"/>
    <p:sldId id="303" r:id="rId12"/>
    <p:sldId id="304" r:id="rId13"/>
    <p:sldId id="305" r:id="rId14"/>
    <p:sldId id="306" r:id="rId15"/>
    <p:sldId id="313" r:id="rId16"/>
    <p:sldId id="308" r:id="rId17"/>
    <p:sldId id="314" r:id="rId18"/>
    <p:sldId id="315" r:id="rId19"/>
    <p:sldId id="316" r:id="rId20"/>
    <p:sldId id="317" r:id="rId21"/>
    <p:sldId id="318" r:id="rId22"/>
    <p:sldId id="319" r:id="rId23"/>
    <p:sldId id="320" r:id="rId24"/>
    <p:sldId id="321" r:id="rId25"/>
    <p:sldId id="324" r:id="rId26"/>
    <p:sldId id="345" r:id="rId27"/>
    <p:sldId id="325" r:id="rId28"/>
    <p:sldId id="326" r:id="rId29"/>
    <p:sldId id="327" r:id="rId30"/>
    <p:sldId id="328" r:id="rId31"/>
    <p:sldId id="329" r:id="rId32"/>
    <p:sldId id="330" r:id="rId33"/>
    <p:sldId id="331" r:id="rId34"/>
    <p:sldId id="332" r:id="rId35"/>
    <p:sldId id="333" r:id="rId36"/>
    <p:sldId id="334" r:id="rId37"/>
    <p:sldId id="335" r:id="rId38"/>
    <p:sldId id="336" r:id="rId39"/>
    <p:sldId id="338" r:id="rId40"/>
    <p:sldId id="339" r:id="rId41"/>
    <p:sldId id="347" r:id="rId42"/>
    <p:sldId id="341" r:id="rId43"/>
    <p:sldId id="342" r:id="rId44"/>
    <p:sldId id="343" r:id="rId45"/>
    <p:sldId id="346" r:id="rId46"/>
    <p:sldId id="265" r:id="rId47"/>
    <p:sldId id="266" r:id="rId48"/>
  </p:sldIdLst>
  <p:sldSz cx="9144000" cy="6858000" type="screen4x3"/>
  <p:notesSz cx="6934200" cy="9220200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Verdana" charset="0"/>
        <a:ea typeface="ＭＳ Ｐゴシック" charset="0"/>
        <a:cs typeface="ＭＳ Ｐゴシック" charset="0"/>
      </a:defRPr>
    </a:lvl1pPr>
    <a:lvl2pPr marL="742950" indent="-28575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Verdana" charset="0"/>
        <a:ea typeface="ＭＳ Ｐゴシック" charset="0"/>
        <a:cs typeface="ＭＳ Ｐゴシック" charset="0"/>
      </a:defRPr>
    </a:lvl2pPr>
    <a:lvl3pPr marL="11430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Verdana" charset="0"/>
        <a:ea typeface="ＭＳ Ｐゴシック" charset="0"/>
        <a:cs typeface="ＭＳ Ｐゴシック" charset="0"/>
      </a:defRPr>
    </a:lvl3pPr>
    <a:lvl4pPr marL="16002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Verdana" charset="0"/>
        <a:ea typeface="ＭＳ Ｐゴシック" charset="0"/>
        <a:cs typeface="ＭＳ Ｐゴシック" charset="0"/>
      </a:defRPr>
    </a:lvl4pPr>
    <a:lvl5pPr marL="20574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Verdana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bg1"/>
        </a:solidFill>
        <a:latin typeface="Verdana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bg1"/>
        </a:solidFill>
        <a:latin typeface="Verdana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bg1"/>
        </a:solidFill>
        <a:latin typeface="Verdana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bg1"/>
        </a:solidFill>
        <a:latin typeface="Verdana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C5B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85" d="100"/>
          <a:sy n="85" d="100"/>
        </p:scale>
        <p:origin x="-1576" y="-264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50" Type="http://schemas.openxmlformats.org/officeDocument/2006/relationships/printerSettings" Target="printerSettings/printerSettings1.bin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1"/>
          <p:cNvSpPr>
            <a:spLocks noChangeArrowheads="1"/>
          </p:cNvSpPr>
          <p:nvPr/>
        </p:nvSpPr>
        <p:spPr bwMode="auto">
          <a:xfrm>
            <a:off x="0" y="0"/>
            <a:ext cx="6934200" cy="9220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en-US">
              <a:cs typeface="WenQuanYi Zen Hei Sharp" charset="0"/>
            </a:endParaRPr>
          </a:p>
        </p:txBody>
      </p:sp>
      <p:sp>
        <p:nvSpPr>
          <p:cNvPr id="4099" name="AutoShape 2"/>
          <p:cNvSpPr>
            <a:spLocks noChangeArrowheads="1"/>
          </p:cNvSpPr>
          <p:nvPr/>
        </p:nvSpPr>
        <p:spPr bwMode="auto">
          <a:xfrm>
            <a:off x="0" y="0"/>
            <a:ext cx="6934200" cy="9220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en-US">
              <a:cs typeface="WenQuanYi Zen Hei Sharp" charset="0"/>
            </a:endParaRPr>
          </a:p>
        </p:txBody>
      </p:sp>
      <p:sp>
        <p:nvSpPr>
          <p:cNvPr id="4100" name="Rectangle 3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095500" y="692150"/>
            <a:ext cx="2797175" cy="2097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0244" name="Rectangle 4"/>
          <p:cNvSpPr>
            <a:spLocks noGrp="1" noChangeArrowheads="1"/>
          </p:cNvSpPr>
          <p:nvPr>
            <p:ph type="body"/>
          </p:nvPr>
        </p:nvSpPr>
        <p:spPr bwMode="auto">
          <a:xfrm>
            <a:off x="298450" y="2997200"/>
            <a:ext cx="6334125" cy="583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smtClean="0"/>
          </a:p>
        </p:txBody>
      </p:sp>
      <p:sp>
        <p:nvSpPr>
          <p:cNvPr id="4102" name="Text Box 5"/>
          <p:cNvSpPr txBox="1">
            <a:spLocks noChangeArrowheads="1"/>
          </p:cNvSpPr>
          <p:nvPr/>
        </p:nvSpPr>
        <p:spPr bwMode="auto">
          <a:xfrm>
            <a:off x="3122613" y="8953500"/>
            <a:ext cx="744537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en-US">
              <a:cs typeface="WenQuanYi Zen Hei Sharp" charset="0"/>
            </a:endParaRPr>
          </a:p>
        </p:txBody>
      </p:sp>
      <p:sp>
        <p:nvSpPr>
          <p:cNvPr id="10246" name="Text Box 6"/>
          <p:cNvSpPr txBox="1">
            <a:spLocks noChangeArrowheads="1"/>
          </p:cNvSpPr>
          <p:nvPr/>
        </p:nvSpPr>
        <p:spPr bwMode="auto">
          <a:xfrm>
            <a:off x="298450" y="174625"/>
            <a:ext cx="63373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Verdana" pitchFamily="32" charset="0"/>
                <a:ea typeface="WenQuanYi Zen Hei Sharp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Verdana" pitchFamily="32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Verdana" pitchFamily="32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Verdana" pitchFamily="32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Verdana" pitchFamily="32" charset="0"/>
                <a:ea typeface="WenQuanYi Zen Hei Sharp" charset="0"/>
                <a:cs typeface="WenQuanYi Zen Hei Sharp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Verdana" pitchFamily="32" charset="0"/>
                <a:ea typeface="WenQuanYi Zen Hei Sharp" charset="0"/>
                <a:cs typeface="WenQuanYi Zen Hei Sharp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Verdana" pitchFamily="32" charset="0"/>
                <a:ea typeface="WenQuanYi Zen Hei Sharp" charset="0"/>
                <a:cs typeface="WenQuanYi Zen Hei Sharp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Verdana" pitchFamily="32" charset="0"/>
                <a:ea typeface="WenQuanYi Zen Hei Sharp" charset="0"/>
                <a:cs typeface="WenQuanYi Zen Hei Sharp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Verdana" pitchFamily="32" charset="0"/>
                <a:ea typeface="WenQuanYi Zen Hei Sharp" charset="0"/>
                <a:cs typeface="WenQuanYi Zen Hei Sharp" charset="0"/>
              </a:defRPr>
            </a:lvl9pPr>
          </a:lstStyle>
          <a:p>
            <a:pPr algn="ctr" eaLnBrk="1" hangingPunct="1">
              <a:buSzPct val="100000"/>
              <a:defRPr/>
            </a:pPr>
            <a:r>
              <a:rPr lang="en-US" sz="1400" smtClean="0">
                <a:solidFill>
                  <a:srgbClr val="000000"/>
                </a:solidFill>
                <a:cs typeface="Arial" charset="0"/>
              </a:rPr>
              <a:t>TITLE</a:t>
            </a:r>
          </a:p>
          <a:p>
            <a:pPr algn="ctr" eaLnBrk="1" hangingPunct="1">
              <a:buSzPct val="100000"/>
              <a:defRPr/>
            </a:pPr>
            <a:r>
              <a:rPr lang="en-US" sz="1000" smtClean="0">
                <a:solidFill>
                  <a:srgbClr val="000000"/>
                </a:solidFill>
                <a:cs typeface="Arial" charset="0"/>
              </a:rPr>
              <a:t>Month Year</a:t>
            </a:r>
          </a:p>
        </p:txBody>
      </p:sp>
    </p:spTree>
    <p:extLst>
      <p:ext uri="{BB962C8B-B14F-4D97-AF65-F5344CB8AC3E}">
        <p14:creationId xmlns:p14="http://schemas.microsoft.com/office/powerpoint/2010/main" val="11759104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pitchFamily="16" charset="0"/>
        <a:ea typeface="ＭＳ Ｐゴシック" charset="0"/>
        <a:cs typeface="ＭＳ Ｐゴシック" charset="0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pitchFamily="16" charset="0"/>
        <a:ea typeface="ＭＳ Ｐゴシック" charset="0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pitchFamily="16" charset="0"/>
        <a:ea typeface="ＭＳ Ｐゴシック" charset="0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pitchFamily="16" charset="0"/>
        <a:ea typeface="ＭＳ Ｐゴシック" charset="0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pitchFamily="16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095500" y="692150"/>
            <a:ext cx="2800350" cy="210026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14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98450" y="2997200"/>
            <a:ext cx="6337300" cy="58420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6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buFontTx/>
              <a:buChar char="-"/>
            </a:pPr>
            <a:endParaRPr lang="en-AU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Sudit</a:t>
            </a:r>
            <a:r>
              <a:rPr lang="en-US" baseline="0" dirty="0" smtClean="0"/>
              <a:t> et al, Towards Impact Assessment Automation for Multi-Stage Cyber Attacks - http://</a:t>
            </a:r>
            <a:r>
              <a:rPr lang="en-US" baseline="0" dirty="0" err="1" smtClean="0"/>
              <a:t>www.rit.edu</a:t>
            </a:r>
            <a:r>
              <a:rPr lang="en-US" baseline="0" dirty="0" smtClean="0"/>
              <a:t>/~w-</a:t>
            </a:r>
            <a:r>
              <a:rPr lang="en-US" baseline="0" dirty="0" err="1" smtClean="0"/>
              <a:t>cmmc</a:t>
            </a:r>
            <a:r>
              <a:rPr lang="en-US" baseline="0" dirty="0" smtClean="0"/>
              <a:t>/research/</a:t>
            </a:r>
            <a:r>
              <a:rPr lang="en-US" baseline="0" dirty="0" err="1" smtClean="0"/>
              <a:t>Sudit.pdf</a:t>
            </a:r>
            <a:endParaRPr lang="en-US" baseline="0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7071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This is a CVE-2010-3333 exploit, but what we should focus on is the </a:t>
            </a:r>
            <a:r>
              <a:rPr lang="en-US" dirty="0" err="1" smtClean="0"/>
              <a:t>shellcode</a:t>
            </a:r>
            <a:r>
              <a:rPr lang="en-US" dirty="0" smtClean="0"/>
              <a:t> used as part of the attack. Is it unique? How is the payload encoded? Is it unique? Is there a file marker?</a:t>
            </a:r>
          </a:p>
          <a:p>
            <a:r>
              <a:rPr lang="en-US" dirty="0" smtClean="0"/>
              <a:t>For decrementing 256 byte XOR, what’s the starting byte? Are there payload</a:t>
            </a:r>
            <a:r>
              <a:rPr lang="en-US" baseline="0" dirty="0" smtClean="0"/>
              <a:t> markers (4-byte strings)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3729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  <a:defRPr/>
            </a:pP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http://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contagiodump.blogspot.com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/2011/06/may-31-cve-2010-3333-doc-q-and-adoc.html</a:t>
            </a:r>
            <a:endParaRPr lang="en-US" sz="1200" b="1" dirty="0" smtClean="0">
              <a:latin typeface="Courier New" pitchFamily="49" charset="0"/>
              <a:cs typeface="Courier New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6336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1200" dirty="0" smtClean="0">
                <a:latin typeface="Courier New" pitchFamily="49" charset="0"/>
                <a:ea typeface="Tahoma" pitchFamily="34" charset="0"/>
                <a:cs typeface="Courier New" pitchFamily="49" charset="0"/>
              </a:rPr>
              <a:t>http://</a:t>
            </a:r>
            <a:r>
              <a:rPr lang="en-US" sz="1200" dirty="0" err="1" smtClean="0">
                <a:latin typeface="Courier New" pitchFamily="49" charset="0"/>
                <a:ea typeface="Tahoma" pitchFamily="34" charset="0"/>
                <a:cs typeface="Courier New" pitchFamily="49" charset="0"/>
              </a:rPr>
              <a:t>arstechnica.com</a:t>
            </a:r>
            <a:r>
              <a:rPr lang="en-US" sz="1200" dirty="0" smtClean="0">
                <a:latin typeface="Courier New" pitchFamily="49" charset="0"/>
                <a:ea typeface="Tahoma" pitchFamily="34" charset="0"/>
                <a:cs typeface="Courier New" pitchFamily="49" charset="0"/>
              </a:rPr>
              <a:t>/security/2014/02/new-zero-day-bug-in-ie-10-exploited-in-active-malware-attack-ms-warns/</a:t>
            </a:r>
            <a:endParaRPr lang="en-US" sz="1200" b="1" dirty="0" smtClean="0">
              <a:latin typeface="Courier New" pitchFamily="49" charset="0"/>
              <a:ea typeface="Tahoma" pitchFamily="34" charset="0"/>
              <a:cs typeface="Courier New" pitchFamily="49" charset="0"/>
            </a:endParaRPr>
          </a:p>
          <a:p>
            <a:pPr eaLnBrk="1" hangingPunct="1"/>
            <a:endParaRPr lang="en-US" sz="1200" b="1" dirty="0" smtClean="0">
              <a:latin typeface="Courier New" pitchFamily="49" charset="0"/>
              <a:ea typeface="Tahoma" pitchFamily="34" charset="0"/>
              <a:cs typeface="Courier New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3589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 typeface="Arial" charset="0"/>
              <a:buNone/>
              <a:defRPr/>
            </a:pPr>
            <a:r>
              <a:rPr lang="en-US" sz="4400" kern="1200" dirty="0" smtClean="0">
                <a:solidFill>
                  <a:srgbClr val="000000"/>
                </a:solidFill>
                <a:latin typeface="Times New Roman" pitchFamily="16" charset="0"/>
                <a:ea typeface="ＭＳ Ｐゴシック" charset="0"/>
                <a:cs typeface="Courier New" pitchFamily="49" charset="0"/>
              </a:rPr>
              <a:t>CVE-2014-1761 (MS14-017)</a:t>
            </a:r>
          </a:p>
          <a:p>
            <a:pPr marL="0" indent="0" eaLnBrk="1" hangingPunct="1">
              <a:buFont typeface="Arial" charset="0"/>
              <a:buNone/>
              <a:defRPr/>
            </a:pPr>
            <a:r>
              <a:rPr lang="en-US" sz="1200" dirty="0" smtClean="0">
                <a:latin typeface="Courier New"/>
                <a:cs typeface="Courier New"/>
              </a:rPr>
              <a:t>http://</a:t>
            </a:r>
            <a:r>
              <a:rPr lang="en-US" sz="1200" dirty="0" err="1" smtClean="0">
                <a:latin typeface="Courier New"/>
                <a:cs typeface="Courier New"/>
              </a:rPr>
              <a:t>blogs.mcafee.com</a:t>
            </a:r>
            <a:r>
              <a:rPr lang="en-US" sz="1200" dirty="0" smtClean="0">
                <a:latin typeface="Courier New"/>
                <a:cs typeface="Courier New"/>
              </a:rPr>
              <a:t>/</a:t>
            </a:r>
            <a:r>
              <a:rPr lang="en-US" sz="1200" dirty="0" err="1" smtClean="0">
                <a:latin typeface="Courier New"/>
                <a:cs typeface="Courier New"/>
              </a:rPr>
              <a:t>mcafee</a:t>
            </a:r>
            <a:r>
              <a:rPr lang="en-US" sz="1200" dirty="0" smtClean="0">
                <a:latin typeface="Courier New"/>
                <a:cs typeface="Courier New"/>
              </a:rPr>
              <a:t>-labs/close-look-rtf-zero-day-attack-cve-2014-1761-shows-sophistication-attackers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9159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http://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www.ghettoforensics.com</a:t>
            </a: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/2013/10/dumping-malware-configuration-data-</a:t>
            </a:r>
            <a:r>
              <a:rPr kumimoji="0" 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from.html</a:t>
            </a:r>
            <a:endParaRPr kumimoji="0" lang="en-US" sz="12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4964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7499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927775" y="8757590"/>
            <a:ext cx="3004820" cy="461010"/>
          </a:xfrm>
          <a:prstGeom prst="rect">
            <a:avLst/>
          </a:prstGeom>
        </p:spPr>
        <p:txBody>
          <a:bodyPr lIns="92309" tIns="46154" rIns="92309" bIns="46154"/>
          <a:lstStyle/>
          <a:p>
            <a:pPr>
              <a:defRPr/>
            </a:pPr>
            <a:fld id="{E7A9A9CA-2C5A-4EA4-82D8-4DA12ACF7618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927775" y="8757590"/>
            <a:ext cx="3004820" cy="461010"/>
          </a:xfrm>
          <a:prstGeom prst="rect">
            <a:avLst/>
          </a:prstGeom>
        </p:spPr>
        <p:txBody>
          <a:bodyPr lIns="92309" tIns="46154" rIns="92309" bIns="46154"/>
          <a:lstStyle/>
          <a:p>
            <a:pPr>
              <a:defRPr/>
            </a:pPr>
            <a:fld id="{E7A9A9CA-2C5A-4EA4-82D8-4DA12ACF7618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095500" y="692150"/>
            <a:ext cx="2800350" cy="210026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710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98450" y="2997200"/>
            <a:ext cx="6337300" cy="58420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en-US">
              <a:latin typeface="Times New Roman" charset="0"/>
            </a:endParaRPr>
          </a:p>
        </p:txBody>
      </p:sp>
      <p:sp>
        <p:nvSpPr>
          <p:cNvPr id="46084" name="Text Box 3"/>
          <p:cNvSpPr txBox="1">
            <a:spLocks noChangeArrowheads="1"/>
          </p:cNvSpPr>
          <p:nvPr/>
        </p:nvSpPr>
        <p:spPr bwMode="auto">
          <a:xfrm>
            <a:off x="0" y="0"/>
            <a:ext cx="300513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720" tIns="45360" rIns="90720" bIns="4536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>
              <a:buSzPct val="100000"/>
              <a:defRPr/>
            </a:pPr>
            <a:r>
              <a:rPr lang="en-US" sz="1800" smtClean="0">
                <a:latin typeface="Verdana" charset="0"/>
                <a:cs typeface="WenQuanYi Zen Hei Sharp" charset="0"/>
              </a:rPr>
              <a:t>Title</a:t>
            </a:r>
          </a:p>
          <a:p>
            <a:pPr eaLnBrk="1" hangingPunct="1">
              <a:buSzPct val="100000"/>
              <a:defRPr/>
            </a:pPr>
            <a:r>
              <a:rPr lang="en-US" sz="1800" smtClean="0">
                <a:latin typeface="Verdana" charset="0"/>
                <a:cs typeface="WenQuanYi Zen Hei Sharp" charset="0"/>
              </a:rPr>
              <a:t>Month Year</a:t>
            </a:r>
          </a:p>
        </p:txBody>
      </p:sp>
      <p:sp>
        <p:nvSpPr>
          <p:cNvPr id="46085" name="Text Box 4"/>
          <p:cNvSpPr txBox="1">
            <a:spLocks noChangeArrowheads="1"/>
          </p:cNvSpPr>
          <p:nvPr/>
        </p:nvSpPr>
        <p:spPr bwMode="auto">
          <a:xfrm>
            <a:off x="3927475" y="8756650"/>
            <a:ext cx="300513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en-US">
              <a:cs typeface="WenQuanYi Zen Hei Sharp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095500" y="692150"/>
            <a:ext cx="2800350" cy="210026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915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98450" y="2997200"/>
            <a:ext cx="6337300" cy="58420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451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391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75630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4963"/>
            <a:ext cx="3944938" cy="3975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4538" y="1604963"/>
            <a:ext cx="3946525" cy="3975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666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669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530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6228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38728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64371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331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7813" y="273050"/>
            <a:ext cx="2055812" cy="53070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3050"/>
            <a:ext cx="6018213" cy="53070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9861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2298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9567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87976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4963"/>
            <a:ext cx="3944938" cy="3975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4538" y="1604963"/>
            <a:ext cx="3946525" cy="3975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2145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613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3643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16446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36644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131321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0833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7813" y="273050"/>
            <a:ext cx="2055812" cy="53070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3050"/>
            <a:ext cx="6018213" cy="53070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6537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6596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14848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503620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4963"/>
            <a:ext cx="4037013" cy="3973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604963"/>
            <a:ext cx="4037012" cy="3973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88294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6978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53346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120151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675856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3187872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47673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7813" y="273050"/>
            <a:ext cx="2055812" cy="53054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3050"/>
            <a:ext cx="6018213" cy="53054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307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5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5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13" Type="http://schemas.openxmlformats.org/officeDocument/2006/relationships/image" Target="../media/image5.png"/><Relationship Id="rId14" Type="http://schemas.openxmlformats.org/officeDocument/2006/relationships/image" Target="../media/image6.png"/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1"/>
          <p:cNvSpPr txBox="1">
            <a:spLocks noChangeArrowheads="1"/>
          </p:cNvSpPr>
          <p:nvPr/>
        </p:nvSpPr>
        <p:spPr bwMode="auto">
          <a:xfrm flipH="1">
            <a:off x="8542338" y="6710363"/>
            <a:ext cx="533400" cy="122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en-US">
              <a:cs typeface="WenQuanYi Zen Hei Sharp" charset="0"/>
            </a:endParaRPr>
          </a:p>
        </p:txBody>
      </p:sp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374650" y="6710363"/>
            <a:ext cx="2884488" cy="122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Verdana" charset="0"/>
                <a:ea typeface="ＭＳ Ｐゴシック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Verdana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Verdana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Verdana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Verdana" charset="0"/>
                <a:ea typeface="WenQuanYi Zen Hei Sharp" charset="0"/>
                <a:cs typeface="WenQuanYi Zen Hei Sharp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Verdana" charset="0"/>
                <a:ea typeface="WenQuanYi Zen Hei Sharp" charset="0"/>
                <a:cs typeface="WenQuanYi Zen Hei Sharp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Verdana" charset="0"/>
                <a:ea typeface="WenQuanYi Zen Hei Sharp" charset="0"/>
                <a:cs typeface="WenQuanYi Zen Hei Sharp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Verdana" charset="0"/>
                <a:ea typeface="WenQuanYi Zen Hei Sharp" charset="0"/>
                <a:cs typeface="WenQuanYi Zen Hei Sharp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Verdana" charset="0"/>
                <a:ea typeface="WenQuanYi Zen Hei Sharp" charset="0"/>
                <a:cs typeface="WenQuanYi Zen Hei Sharp" charset="0"/>
              </a:defRPr>
            </a:lvl9pPr>
          </a:lstStyle>
          <a:p>
            <a:pPr eaLnBrk="1" hangingPunct="1">
              <a:buSzPct val="100000"/>
              <a:defRPr/>
            </a:pPr>
            <a:r>
              <a:rPr lang="en-US" sz="800" smtClean="0">
                <a:solidFill>
                  <a:srgbClr val="4D4D4D"/>
                </a:solidFill>
              </a:rPr>
              <a:t>© Copyright 2013 EMC Corporation. All rights reserved.</a:t>
            </a:r>
          </a:p>
        </p:txBody>
      </p:sp>
      <p:grpSp>
        <p:nvGrpSpPr>
          <p:cNvPr id="1028" name="Group 3"/>
          <p:cNvGrpSpPr>
            <a:grpSpLocks/>
          </p:cNvGrpSpPr>
          <p:nvPr/>
        </p:nvGrpSpPr>
        <p:grpSpPr bwMode="auto">
          <a:xfrm>
            <a:off x="0" y="6172200"/>
            <a:ext cx="9140825" cy="511175"/>
            <a:chOff x="0" y="3888"/>
            <a:chExt cx="5758" cy="322"/>
          </a:xfrm>
        </p:grpSpPr>
        <p:sp>
          <p:nvSpPr>
            <p:cNvPr id="1035" name="Rectangle 4"/>
            <p:cNvSpPr>
              <a:spLocks noChangeArrowheads="1"/>
            </p:cNvSpPr>
            <p:nvPr/>
          </p:nvSpPr>
          <p:spPr bwMode="auto">
            <a:xfrm>
              <a:off x="0" y="3888"/>
              <a:ext cx="5758" cy="322"/>
            </a:xfrm>
            <a:prstGeom prst="rect">
              <a:avLst/>
            </a:prstGeom>
            <a:solidFill>
              <a:srgbClr val="9495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charset="0"/>
                <a:buNone/>
                <a:defRPr/>
              </a:pPr>
              <a:endParaRPr lang="en-US">
                <a:cs typeface="WenQuanYi Zen Hei Sharp" charset="0"/>
              </a:endParaRPr>
            </a:p>
          </p:txBody>
        </p:sp>
        <p:pic>
          <p:nvPicPr>
            <p:cNvPr id="1036" name="Picture 5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4" y="3956"/>
              <a:ext cx="583" cy="1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pic>
        <p:pic>
          <p:nvPicPr>
            <p:cNvPr id="1037" name="Picture 6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" y="3944"/>
              <a:ext cx="45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pic>
      </p:grpSp>
      <p:grpSp>
        <p:nvGrpSpPr>
          <p:cNvPr id="1029" name="Group 7"/>
          <p:cNvGrpSpPr>
            <a:grpSpLocks/>
          </p:cNvGrpSpPr>
          <p:nvPr/>
        </p:nvGrpSpPr>
        <p:grpSpPr bwMode="auto">
          <a:xfrm>
            <a:off x="0" y="0"/>
            <a:ext cx="9140825" cy="5883275"/>
            <a:chOff x="0" y="0"/>
            <a:chExt cx="5758" cy="3706"/>
          </a:xfrm>
        </p:grpSpPr>
        <p:sp>
          <p:nvSpPr>
            <p:cNvPr id="1033" name="Rectangle 8"/>
            <p:cNvSpPr>
              <a:spLocks noChangeArrowheads="1"/>
            </p:cNvSpPr>
            <p:nvPr/>
          </p:nvSpPr>
          <p:spPr bwMode="auto">
            <a:xfrm>
              <a:off x="0" y="0"/>
              <a:ext cx="5758" cy="1819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ACC1D5"/>
                </a:gs>
              </a:gsLst>
              <a:lin ang="162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charset="0"/>
                <a:buNone/>
                <a:defRPr/>
              </a:pPr>
              <a:endParaRPr lang="en-US">
                <a:cs typeface="WenQuanYi Zen Hei Sharp" charset="0"/>
              </a:endParaRPr>
            </a:p>
          </p:txBody>
        </p:sp>
        <p:sp>
          <p:nvSpPr>
            <p:cNvPr id="1034" name="Rectangle 9"/>
            <p:cNvSpPr>
              <a:spLocks noChangeArrowheads="1"/>
            </p:cNvSpPr>
            <p:nvPr/>
          </p:nvSpPr>
          <p:spPr bwMode="auto">
            <a:xfrm>
              <a:off x="0" y="1966"/>
              <a:ext cx="5758" cy="1740"/>
            </a:xfrm>
            <a:prstGeom prst="rect">
              <a:avLst/>
            </a:prstGeom>
            <a:gradFill rotWithShape="0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charset="0"/>
                <a:buNone/>
                <a:defRPr/>
              </a:pPr>
              <a:endParaRPr lang="en-US">
                <a:cs typeface="WenQuanYi Zen Hei Sharp" charset="0"/>
              </a:endParaRPr>
            </a:p>
          </p:txBody>
        </p:sp>
      </p:grpSp>
      <p:pic>
        <p:nvPicPr>
          <p:cNvPr id="1030" name="Picture 10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2900"/>
            <a:ext cx="9144000" cy="636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1031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3050"/>
            <a:ext cx="8226425" cy="1141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title text format</a:t>
            </a:r>
          </a:p>
        </p:txBody>
      </p:sp>
      <p:sp>
        <p:nvSpPr>
          <p:cNvPr id="1032" name="Rectangle 1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4963"/>
            <a:ext cx="8043863" cy="397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outline text format</a:t>
            </a:r>
          </a:p>
          <a:p>
            <a:pPr lvl="1"/>
            <a:r>
              <a:rPr lang="en-GB"/>
              <a:t>Second Outline Level</a:t>
            </a:r>
          </a:p>
          <a:p>
            <a:pPr lvl="2"/>
            <a:r>
              <a:rPr lang="en-GB"/>
              <a:t>Third Outline Level</a:t>
            </a:r>
          </a:p>
          <a:p>
            <a:pPr lvl="3"/>
            <a:r>
              <a:rPr lang="en-GB"/>
              <a:t>Fourth Outline Level</a:t>
            </a:r>
          </a:p>
          <a:p>
            <a:pPr lvl="4"/>
            <a:r>
              <a:rPr lang="en-GB"/>
              <a:t>Fifth Outline Level</a:t>
            </a:r>
          </a:p>
          <a:p>
            <a:pPr lvl="4"/>
            <a:r>
              <a:rPr lang="en-GB"/>
              <a:t>Sixth Outline Level</a:t>
            </a:r>
          </a:p>
          <a:p>
            <a:pPr lvl="4"/>
            <a:r>
              <a:rPr lang="en-GB"/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200">
          <a:solidFill>
            <a:srgbClr val="2C95DD"/>
          </a:solidFill>
          <a:latin typeface="+mj-lt"/>
          <a:ea typeface="ＭＳ Ｐゴシック" charset="0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200">
          <a:solidFill>
            <a:srgbClr val="2C95DD"/>
          </a:solidFill>
          <a:latin typeface="MetaNormalLF-Roman" pitchFamily="32" charset="0"/>
          <a:ea typeface="ＭＳ Ｐゴシック" charset="0"/>
          <a:cs typeface="WenQuanYi Zen Hei Sharp" charset="0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200">
          <a:solidFill>
            <a:srgbClr val="2C95DD"/>
          </a:solidFill>
          <a:latin typeface="MetaNormalLF-Roman" pitchFamily="32" charset="0"/>
          <a:ea typeface="ＭＳ Ｐゴシック" charset="0"/>
          <a:cs typeface="WenQuanYi Zen Hei Sharp" charset="0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200">
          <a:solidFill>
            <a:srgbClr val="2C95DD"/>
          </a:solidFill>
          <a:latin typeface="MetaNormalLF-Roman" pitchFamily="32" charset="0"/>
          <a:ea typeface="ＭＳ Ｐゴシック" charset="0"/>
          <a:cs typeface="WenQuanYi Zen Hei Sharp" charset="0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200">
          <a:solidFill>
            <a:srgbClr val="2C95DD"/>
          </a:solidFill>
          <a:latin typeface="MetaNormalLF-Roman" pitchFamily="32" charset="0"/>
          <a:ea typeface="ＭＳ Ｐゴシック" charset="0"/>
          <a:cs typeface="WenQuanYi Zen Hei Sharp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2C95DD"/>
          </a:solidFill>
          <a:latin typeface="MetaNormalLF-Roman" pitchFamily="32" charset="0"/>
          <a:ea typeface="WenQuanYi Zen Hei Sharp" charset="0"/>
          <a:cs typeface="WenQuanYi Zen Hei Sharp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2C95DD"/>
          </a:solidFill>
          <a:latin typeface="MetaNormalLF-Roman" pitchFamily="32" charset="0"/>
          <a:ea typeface="WenQuanYi Zen Hei Sharp" charset="0"/>
          <a:cs typeface="WenQuanYi Zen Hei Sharp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2C95DD"/>
          </a:solidFill>
          <a:latin typeface="MetaNormalLF-Roman" pitchFamily="32" charset="0"/>
          <a:ea typeface="WenQuanYi Zen Hei Sharp" charset="0"/>
          <a:cs typeface="WenQuanYi Zen Hei Sharp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2C95DD"/>
          </a:solidFill>
          <a:latin typeface="MetaNormalLF-Roman" pitchFamily="32" charset="0"/>
          <a:ea typeface="WenQuanYi Zen Hei Sharp" charset="0"/>
          <a:cs typeface="WenQuanYi Zen Hei Sharp" charset="0"/>
        </a:defRPr>
      </a:lvl9pPr>
    </p:titleStyle>
    <p:bodyStyle>
      <a:lvl1pPr marL="342900" indent="-34290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800">
          <a:solidFill>
            <a:srgbClr val="000000"/>
          </a:solidFill>
          <a:latin typeface="+mn-lt"/>
          <a:ea typeface="ＭＳ Ｐゴシック" charset="0"/>
          <a:cs typeface="+mn-cs"/>
        </a:defRPr>
      </a:lvl1pPr>
      <a:lvl2pPr marL="742950" indent="-28575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4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charset="0"/>
        <a:defRPr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charset="0"/>
        <a:defRPr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1"/>
          <p:cNvSpPr txBox="1">
            <a:spLocks noChangeArrowheads="1"/>
          </p:cNvSpPr>
          <p:nvPr/>
        </p:nvSpPr>
        <p:spPr bwMode="auto">
          <a:xfrm flipH="1">
            <a:off x="8542338" y="6710363"/>
            <a:ext cx="533400" cy="122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en-US">
              <a:cs typeface="WenQuanYi Zen Hei Sharp" charset="0"/>
            </a:endParaRPr>
          </a:p>
        </p:txBody>
      </p:sp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374650" y="6710363"/>
            <a:ext cx="2884488" cy="122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Verdana" charset="0"/>
                <a:ea typeface="ＭＳ Ｐゴシック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Verdana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Verdana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Verdana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Verdana" charset="0"/>
                <a:ea typeface="WenQuanYi Zen Hei Sharp" charset="0"/>
                <a:cs typeface="WenQuanYi Zen Hei Sharp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Verdana" charset="0"/>
                <a:ea typeface="WenQuanYi Zen Hei Sharp" charset="0"/>
                <a:cs typeface="WenQuanYi Zen Hei Sharp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Verdana" charset="0"/>
                <a:ea typeface="WenQuanYi Zen Hei Sharp" charset="0"/>
                <a:cs typeface="WenQuanYi Zen Hei Sharp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Verdana" charset="0"/>
                <a:ea typeface="WenQuanYi Zen Hei Sharp" charset="0"/>
                <a:cs typeface="WenQuanYi Zen Hei Sharp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Verdana" charset="0"/>
                <a:ea typeface="WenQuanYi Zen Hei Sharp" charset="0"/>
                <a:cs typeface="WenQuanYi Zen Hei Sharp" charset="0"/>
              </a:defRPr>
            </a:lvl9pPr>
          </a:lstStyle>
          <a:p>
            <a:pPr eaLnBrk="1" hangingPunct="1">
              <a:buSzPct val="100000"/>
              <a:defRPr/>
            </a:pPr>
            <a:r>
              <a:rPr lang="en-US" sz="800" smtClean="0">
                <a:solidFill>
                  <a:srgbClr val="4D4D4D"/>
                </a:solidFill>
              </a:rPr>
              <a:t>© Copyright 2013 EMC Corporation. All rights reserved.</a:t>
            </a:r>
          </a:p>
        </p:txBody>
      </p:sp>
      <p:grpSp>
        <p:nvGrpSpPr>
          <p:cNvPr id="2052" name="Group 3"/>
          <p:cNvGrpSpPr>
            <a:grpSpLocks/>
          </p:cNvGrpSpPr>
          <p:nvPr/>
        </p:nvGrpSpPr>
        <p:grpSpPr bwMode="auto">
          <a:xfrm>
            <a:off x="0" y="6172200"/>
            <a:ext cx="9140825" cy="511175"/>
            <a:chOff x="0" y="3888"/>
            <a:chExt cx="5758" cy="322"/>
          </a:xfrm>
        </p:grpSpPr>
        <p:sp>
          <p:nvSpPr>
            <p:cNvPr id="2056" name="Rectangle 4"/>
            <p:cNvSpPr>
              <a:spLocks noChangeArrowheads="1"/>
            </p:cNvSpPr>
            <p:nvPr/>
          </p:nvSpPr>
          <p:spPr bwMode="auto">
            <a:xfrm>
              <a:off x="0" y="3888"/>
              <a:ext cx="5758" cy="322"/>
            </a:xfrm>
            <a:prstGeom prst="rect">
              <a:avLst/>
            </a:prstGeom>
            <a:solidFill>
              <a:srgbClr val="9495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charset="0"/>
                <a:buNone/>
                <a:defRPr/>
              </a:pPr>
              <a:endParaRPr lang="en-US">
                <a:cs typeface="WenQuanYi Zen Hei Sharp" charset="0"/>
              </a:endParaRPr>
            </a:p>
          </p:txBody>
        </p:sp>
        <p:pic>
          <p:nvPicPr>
            <p:cNvPr id="2057" name="Picture 5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4" y="3956"/>
              <a:ext cx="583" cy="1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pic>
        <p:pic>
          <p:nvPicPr>
            <p:cNvPr id="2058" name="Picture 6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" y="3944"/>
              <a:ext cx="45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pic>
      </p:grpSp>
      <p:pic>
        <p:nvPicPr>
          <p:cNvPr id="2053" name="Picture 7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412" r="45615"/>
          <a:stretch>
            <a:fillRect/>
          </a:stretch>
        </p:blipFill>
        <p:spPr bwMode="auto">
          <a:xfrm>
            <a:off x="4445000" y="0"/>
            <a:ext cx="469900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t="61412" r="45615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2054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3050"/>
            <a:ext cx="8226425" cy="1141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title text format</a:t>
            </a:r>
          </a:p>
        </p:txBody>
      </p:sp>
      <p:sp>
        <p:nvSpPr>
          <p:cNvPr id="2055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4963"/>
            <a:ext cx="8043863" cy="397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outline text format</a:t>
            </a:r>
          </a:p>
          <a:p>
            <a:pPr lvl="1"/>
            <a:r>
              <a:rPr lang="en-GB"/>
              <a:t>Second Outline Level</a:t>
            </a:r>
          </a:p>
          <a:p>
            <a:pPr lvl="2"/>
            <a:r>
              <a:rPr lang="en-GB"/>
              <a:t>Third Outline Level</a:t>
            </a:r>
          </a:p>
          <a:p>
            <a:pPr lvl="3"/>
            <a:r>
              <a:rPr lang="en-GB"/>
              <a:t>Fourth Outline Level</a:t>
            </a:r>
          </a:p>
          <a:p>
            <a:pPr lvl="4"/>
            <a:r>
              <a:rPr lang="en-GB"/>
              <a:t>Fifth Outline Level</a:t>
            </a:r>
          </a:p>
          <a:p>
            <a:pPr lvl="4"/>
            <a:r>
              <a:rPr lang="en-GB"/>
              <a:t>Sixth Outline Level</a:t>
            </a:r>
          </a:p>
          <a:p>
            <a:pPr lvl="4"/>
            <a:r>
              <a:rPr lang="en-GB"/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200">
          <a:solidFill>
            <a:srgbClr val="3892D0"/>
          </a:solidFill>
          <a:latin typeface="+mj-lt"/>
          <a:ea typeface="ＭＳ Ｐゴシック" charset="0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200">
          <a:solidFill>
            <a:srgbClr val="3892D0"/>
          </a:solidFill>
          <a:latin typeface="MetaNormalLF-Roman" pitchFamily="32" charset="0"/>
          <a:ea typeface="ＭＳ Ｐゴシック" charset="0"/>
          <a:cs typeface="WenQuanYi Zen Hei Sharp" charset="0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200">
          <a:solidFill>
            <a:srgbClr val="3892D0"/>
          </a:solidFill>
          <a:latin typeface="MetaNormalLF-Roman" pitchFamily="32" charset="0"/>
          <a:ea typeface="ＭＳ Ｐゴシック" charset="0"/>
          <a:cs typeface="WenQuanYi Zen Hei Sharp" charset="0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200">
          <a:solidFill>
            <a:srgbClr val="3892D0"/>
          </a:solidFill>
          <a:latin typeface="MetaNormalLF-Roman" pitchFamily="32" charset="0"/>
          <a:ea typeface="ＭＳ Ｐゴシック" charset="0"/>
          <a:cs typeface="WenQuanYi Zen Hei Sharp" charset="0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200">
          <a:solidFill>
            <a:srgbClr val="3892D0"/>
          </a:solidFill>
          <a:latin typeface="MetaNormalLF-Roman" pitchFamily="32" charset="0"/>
          <a:ea typeface="ＭＳ Ｐゴシック" charset="0"/>
          <a:cs typeface="WenQuanYi Zen Hei Sharp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3892D0"/>
          </a:solidFill>
          <a:latin typeface="MetaNormalLF-Roman" pitchFamily="32" charset="0"/>
          <a:ea typeface="WenQuanYi Zen Hei Sharp" charset="0"/>
          <a:cs typeface="WenQuanYi Zen Hei Sharp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3892D0"/>
          </a:solidFill>
          <a:latin typeface="MetaNormalLF-Roman" pitchFamily="32" charset="0"/>
          <a:ea typeface="WenQuanYi Zen Hei Sharp" charset="0"/>
          <a:cs typeface="WenQuanYi Zen Hei Sharp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3892D0"/>
          </a:solidFill>
          <a:latin typeface="MetaNormalLF-Roman" pitchFamily="32" charset="0"/>
          <a:ea typeface="WenQuanYi Zen Hei Sharp" charset="0"/>
          <a:cs typeface="WenQuanYi Zen Hei Sharp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3892D0"/>
          </a:solidFill>
          <a:latin typeface="MetaNormalLF-Roman" pitchFamily="32" charset="0"/>
          <a:ea typeface="WenQuanYi Zen Hei Sharp" charset="0"/>
          <a:cs typeface="WenQuanYi Zen Hei Sharp" charset="0"/>
        </a:defRPr>
      </a:lvl9pPr>
    </p:titleStyle>
    <p:bodyStyle>
      <a:lvl1pPr marL="342900" indent="-34290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800">
          <a:solidFill>
            <a:srgbClr val="000000"/>
          </a:solidFill>
          <a:latin typeface="+mn-lt"/>
          <a:ea typeface="ＭＳ Ｐゴシック" charset="0"/>
          <a:cs typeface="+mn-cs"/>
        </a:defRPr>
      </a:lvl1pPr>
      <a:lvl2pPr marL="742950" indent="-28575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4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charset="0"/>
        <a:defRPr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charset="0"/>
        <a:defRPr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95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1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8738" y="2738438"/>
            <a:ext cx="3359150" cy="1081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3075" name="Picture 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050" y="2795588"/>
            <a:ext cx="2327275" cy="1090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3076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3050"/>
            <a:ext cx="8226425" cy="1141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title text format</a:t>
            </a:r>
          </a:p>
        </p:txBody>
      </p:sp>
      <p:sp>
        <p:nvSpPr>
          <p:cNvPr id="307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4963"/>
            <a:ext cx="8226425" cy="3973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outline text format</a:t>
            </a:r>
          </a:p>
          <a:p>
            <a:pPr lvl="1"/>
            <a:r>
              <a:rPr lang="en-GB"/>
              <a:t>Second Outline Level</a:t>
            </a:r>
          </a:p>
          <a:p>
            <a:pPr lvl="2"/>
            <a:r>
              <a:rPr lang="en-GB"/>
              <a:t>Third Outline Level</a:t>
            </a:r>
          </a:p>
          <a:p>
            <a:pPr lvl="3"/>
            <a:r>
              <a:rPr lang="en-GB"/>
              <a:t>Fourth Outline Level</a:t>
            </a:r>
          </a:p>
          <a:p>
            <a:pPr lvl="4"/>
            <a:r>
              <a:rPr lang="en-GB"/>
              <a:t>Fifth Outline Level</a:t>
            </a:r>
          </a:p>
          <a:p>
            <a:pPr lvl="4"/>
            <a:r>
              <a:rPr lang="en-GB"/>
              <a:t>Sixth Outline Level</a:t>
            </a:r>
          </a:p>
          <a:p>
            <a:pPr lvl="4"/>
            <a:r>
              <a:rPr lang="en-GB"/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200">
          <a:solidFill>
            <a:srgbClr val="2C95DD"/>
          </a:solidFill>
          <a:latin typeface="+mj-lt"/>
          <a:ea typeface="ＭＳ Ｐゴシック" charset="0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200">
          <a:solidFill>
            <a:srgbClr val="2C95DD"/>
          </a:solidFill>
          <a:latin typeface="MetaNormalLF-Roman" pitchFamily="32" charset="0"/>
          <a:ea typeface="ＭＳ Ｐゴシック" charset="0"/>
          <a:cs typeface="WenQuanYi Zen Hei Sharp" charset="0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200">
          <a:solidFill>
            <a:srgbClr val="2C95DD"/>
          </a:solidFill>
          <a:latin typeface="MetaNormalLF-Roman" pitchFamily="32" charset="0"/>
          <a:ea typeface="ＭＳ Ｐゴシック" charset="0"/>
          <a:cs typeface="WenQuanYi Zen Hei Sharp" charset="0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200">
          <a:solidFill>
            <a:srgbClr val="2C95DD"/>
          </a:solidFill>
          <a:latin typeface="MetaNormalLF-Roman" pitchFamily="32" charset="0"/>
          <a:ea typeface="ＭＳ Ｐゴシック" charset="0"/>
          <a:cs typeface="WenQuanYi Zen Hei Sharp" charset="0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200">
          <a:solidFill>
            <a:srgbClr val="2C95DD"/>
          </a:solidFill>
          <a:latin typeface="MetaNormalLF-Roman" pitchFamily="32" charset="0"/>
          <a:ea typeface="ＭＳ Ｐゴシック" charset="0"/>
          <a:cs typeface="WenQuanYi Zen Hei Sharp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2C95DD"/>
          </a:solidFill>
          <a:latin typeface="MetaNormalLF-Roman" pitchFamily="32" charset="0"/>
          <a:ea typeface="WenQuanYi Zen Hei Sharp" charset="0"/>
          <a:cs typeface="WenQuanYi Zen Hei Sharp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2C95DD"/>
          </a:solidFill>
          <a:latin typeface="MetaNormalLF-Roman" pitchFamily="32" charset="0"/>
          <a:ea typeface="WenQuanYi Zen Hei Sharp" charset="0"/>
          <a:cs typeface="WenQuanYi Zen Hei Sharp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2C95DD"/>
          </a:solidFill>
          <a:latin typeface="MetaNormalLF-Roman" pitchFamily="32" charset="0"/>
          <a:ea typeface="WenQuanYi Zen Hei Sharp" charset="0"/>
          <a:cs typeface="WenQuanYi Zen Hei Sharp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2C95DD"/>
          </a:solidFill>
          <a:latin typeface="MetaNormalLF-Roman" pitchFamily="32" charset="0"/>
          <a:ea typeface="WenQuanYi Zen Hei Sharp" charset="0"/>
          <a:cs typeface="WenQuanYi Zen Hei Sharp" charset="0"/>
        </a:defRPr>
      </a:lvl9pPr>
    </p:titleStyle>
    <p:bodyStyle>
      <a:lvl1pPr marL="342900" indent="-34290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800">
          <a:solidFill>
            <a:srgbClr val="000000"/>
          </a:solidFill>
          <a:latin typeface="+mn-lt"/>
          <a:ea typeface="ＭＳ Ｐゴシック" charset="0"/>
          <a:cs typeface="+mn-cs"/>
        </a:defRPr>
      </a:lvl1pPr>
      <a:lvl2pPr marL="742950" indent="-28575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4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charset="0"/>
        <a:defRPr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charset="0"/>
        <a:defRPr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4.jpe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5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6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5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Box 3"/>
          <p:cNvSpPr txBox="1">
            <a:spLocks noChangeArrowheads="1"/>
          </p:cNvSpPr>
          <p:nvPr/>
        </p:nvSpPr>
        <p:spPr bwMode="auto">
          <a:xfrm>
            <a:off x="762000" y="1953161"/>
            <a:ext cx="754380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r>
              <a:rPr lang="en-US" sz="4000" dirty="0" smtClean="0">
                <a:solidFill>
                  <a:schemeClr val="tx1"/>
                </a:solidFill>
              </a:rPr>
              <a:t>Introducing Intelligence </a:t>
            </a:r>
            <a:br>
              <a:rPr lang="en-US" sz="4000" dirty="0" smtClean="0">
                <a:solidFill>
                  <a:schemeClr val="tx1"/>
                </a:solidFill>
              </a:rPr>
            </a:br>
            <a:r>
              <a:rPr lang="en-US" sz="4000" dirty="0" smtClean="0">
                <a:solidFill>
                  <a:schemeClr val="tx1"/>
                </a:solidFill>
              </a:rPr>
              <a:t>Into Your Malware Analysis</a:t>
            </a:r>
            <a:endParaRPr lang="en-AU" sz="4000" b="1" dirty="0">
              <a:solidFill>
                <a:schemeClr val="tx1"/>
              </a:solidFill>
              <a:latin typeface="Courier New" charset="0"/>
              <a:cs typeface="Courier New" charset="0"/>
            </a:endParaRPr>
          </a:p>
        </p:txBody>
      </p:sp>
      <p:sp>
        <p:nvSpPr>
          <p:cNvPr id="7171" name="TextBox 6"/>
          <p:cNvSpPr txBox="1">
            <a:spLocks noChangeArrowheads="1"/>
          </p:cNvSpPr>
          <p:nvPr/>
        </p:nvSpPr>
        <p:spPr bwMode="auto">
          <a:xfrm>
            <a:off x="5334000" y="4660900"/>
            <a:ext cx="39624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r>
              <a:rPr lang="en-AU" dirty="0">
                <a:solidFill>
                  <a:schemeClr val="tx1"/>
                </a:solidFill>
              </a:rPr>
              <a:t>Presented by</a:t>
            </a:r>
          </a:p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r>
              <a:rPr lang="en-AU" dirty="0" smtClean="0">
                <a:solidFill>
                  <a:schemeClr val="tx1"/>
                </a:solidFill>
              </a:rPr>
              <a:t>Brian Baskin</a:t>
            </a:r>
            <a:endParaRPr lang="en-AU" dirty="0">
              <a:solidFill>
                <a:schemeClr val="tx1"/>
              </a:solidFill>
            </a:endParaRPr>
          </a:p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r>
              <a:rPr lang="en-AU" dirty="0" smtClean="0">
                <a:solidFill>
                  <a:schemeClr val="tx1"/>
                </a:solidFill>
              </a:rPr>
              <a:t>Advisory Practice Consultant</a:t>
            </a:r>
            <a:endParaRPr lang="en-AU" dirty="0">
              <a:solidFill>
                <a:schemeClr val="tx1"/>
              </a:solidFill>
            </a:endParaRPr>
          </a:p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r>
              <a:rPr lang="en-AU" dirty="0">
                <a:solidFill>
                  <a:schemeClr val="tx1"/>
                </a:solidFill>
              </a:rPr>
              <a:t>RSA Incident Response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AU" dirty="0" smtClean="0">
                <a:latin typeface="MetaNormalLF-Roman" charset="0"/>
                <a:cs typeface="WenQuanYi Zen Hei Sharp" charset="0"/>
              </a:rPr>
              <a:t># </a:t>
            </a:r>
            <a:r>
              <a:rPr lang="en-AU" dirty="0" err="1">
                <a:latin typeface="MetaNormalLF-Roman" charset="0"/>
                <a:cs typeface="WenQuanYi Zen Hei Sharp" charset="0"/>
              </a:rPr>
              <a:t>whoami</a:t>
            </a:r>
            <a:endParaRPr lang="en-AU" dirty="0">
              <a:latin typeface="MetaNormalLF-Roman" charset="0"/>
              <a:cs typeface="WenQuanYi Zen Hei Sharp" charset="0"/>
            </a:endParaRP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328613" y="1371600"/>
            <a:ext cx="7443787" cy="3975100"/>
          </a:xfrm>
        </p:spPr>
        <p:txBody>
          <a:bodyPr/>
          <a:lstStyle/>
          <a:p>
            <a:pPr marL="457200" indent="-457200">
              <a:buFont typeface="Arial" charset="0"/>
              <a:buChar char="•"/>
              <a:defRPr/>
            </a:pPr>
            <a:r>
              <a:rPr lang="en-AU" dirty="0">
                <a:latin typeface="MetaNormalLF-Roman" charset="0"/>
                <a:cs typeface="WenQuanYi Zen Hei Sharp" charset="0"/>
              </a:rPr>
              <a:t>Consultant with RSA IR/D team</a:t>
            </a:r>
            <a:endParaRPr lang="en-AU" sz="1000" dirty="0">
              <a:latin typeface="MetaNormalLF-Roman" charset="0"/>
              <a:cs typeface="WenQuanYi Zen Hei Sharp" charset="0"/>
            </a:endParaRPr>
          </a:p>
          <a:p>
            <a:pPr marL="457200" indent="-457200">
              <a:buFont typeface="Arial" charset="0"/>
              <a:buChar char="•"/>
              <a:defRPr/>
            </a:pPr>
            <a:r>
              <a:rPr lang="en-AU" dirty="0">
                <a:latin typeface="MetaNormalLF-Roman" charset="0"/>
                <a:cs typeface="WenQuanYi Zen Hei Sharp" charset="0"/>
              </a:rPr>
              <a:t>Digital Forensics for 15 years</a:t>
            </a:r>
          </a:p>
          <a:p>
            <a:pPr marL="457200" indent="-457200">
              <a:buFont typeface="Arial" charset="0"/>
              <a:buChar char="•"/>
              <a:defRPr/>
            </a:pPr>
            <a:r>
              <a:rPr lang="en-AU" dirty="0">
                <a:latin typeface="MetaNormalLF-Roman" charset="0"/>
                <a:cs typeface="WenQuanYi Zen Hei Sharp" charset="0"/>
              </a:rPr>
              <a:t>Incident Response for 10 years</a:t>
            </a:r>
          </a:p>
          <a:p>
            <a:pPr marL="457200" indent="-457200">
              <a:buFont typeface="Arial" charset="0"/>
              <a:buChar char="•"/>
              <a:defRPr/>
            </a:pPr>
            <a:r>
              <a:rPr lang="en-AU" dirty="0">
                <a:latin typeface="MetaNormalLF-Roman" charset="0"/>
                <a:cs typeface="WenQuanYi Zen Hei Sharp" charset="0"/>
              </a:rPr>
              <a:t>Former Intrusions analyst – DCFL / DC3</a:t>
            </a:r>
          </a:p>
          <a:p>
            <a:pPr marL="0" indent="0" algn="ctr">
              <a:defRPr/>
            </a:pPr>
            <a:endParaRPr lang="en-AU" dirty="0">
              <a:latin typeface="MetaNormalLF-Roman" charset="0"/>
              <a:cs typeface="WenQuanYi Zen Hei Sharp" charset="0"/>
            </a:endParaRPr>
          </a:p>
          <a:p>
            <a:pPr marL="0" indent="0" algn="ctr">
              <a:defRPr/>
            </a:pPr>
            <a:r>
              <a:rPr lang="en-AU" dirty="0" err="1" smtClean="0">
                <a:latin typeface="MetaNormalLF-Roman" charset="0"/>
                <a:cs typeface="WenQuanYi Zen Hei Sharp" charset="0"/>
              </a:rPr>
              <a:t>GhettoForensics.com</a:t>
            </a:r>
            <a:endParaRPr lang="en-AU" dirty="0" smtClean="0">
              <a:latin typeface="MetaNormalLF-Roman" charset="0"/>
              <a:cs typeface="WenQuanYi Zen Hei Sharp" charset="0"/>
            </a:endParaRPr>
          </a:p>
          <a:p>
            <a:pPr marL="457200" indent="-457200">
              <a:buFont typeface="Arial" charset="0"/>
              <a:buChar char="•"/>
              <a:defRPr/>
            </a:pPr>
            <a:endParaRPr lang="en-AU" dirty="0" smtClean="0">
              <a:latin typeface="MetaNormalLF-Roman" charset="0"/>
              <a:cs typeface="WenQuanYi Zen Hei Sharp" charset="0"/>
            </a:endParaRPr>
          </a:p>
          <a:p>
            <a:pPr marL="0" indent="0">
              <a:defRPr/>
            </a:pPr>
            <a:endParaRPr lang="en-AU" dirty="0">
              <a:latin typeface="MetaNormalLF-Roman" charset="0"/>
              <a:cs typeface="WenQuanYi Zen Hei Sharp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Where do we start…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4963"/>
            <a:ext cx="8043863" cy="3975100"/>
          </a:xfrm>
        </p:spPr>
        <p:txBody>
          <a:bodyPr/>
          <a:lstStyle/>
          <a:p>
            <a:pPr marL="457200" indent="-457200">
              <a:buFont typeface="Arial"/>
              <a:buChar char="•"/>
            </a:pPr>
            <a:r>
              <a:rPr lang="en-US" dirty="0" smtClean="0"/>
              <a:t>Many a</a:t>
            </a:r>
            <a:r>
              <a:rPr lang="en-US" dirty="0" smtClean="0"/>
              <a:t>ttack </a:t>
            </a:r>
            <a:r>
              <a:rPr lang="en-US" dirty="0" smtClean="0"/>
              <a:t>analysis methods are </a:t>
            </a:r>
            <a:r>
              <a:rPr lang="en-US" dirty="0" smtClean="0"/>
              <a:t>outdated</a:t>
            </a:r>
            <a:endParaRPr lang="en-US" dirty="0" smtClean="0"/>
          </a:p>
          <a:p>
            <a:pPr marL="457200" indent="-457200">
              <a:buFont typeface="Arial"/>
              <a:buChar char="•"/>
            </a:pPr>
            <a:r>
              <a:rPr lang="en-US" dirty="0" smtClean="0"/>
              <a:t>Emphasis </a:t>
            </a:r>
            <a:r>
              <a:rPr lang="en-US" dirty="0" smtClean="0"/>
              <a:t>on </a:t>
            </a:r>
            <a:r>
              <a:rPr lang="en-US" dirty="0" smtClean="0"/>
              <a:t>system-by-system analysis</a:t>
            </a:r>
          </a:p>
          <a:p>
            <a:pPr marL="457200" indent="-457200">
              <a:buFont typeface="Arial"/>
              <a:buChar char="•"/>
            </a:pPr>
            <a:r>
              <a:rPr lang="en-US" dirty="0" smtClean="0"/>
              <a:t>Teams are broken up by specialized skills</a:t>
            </a:r>
          </a:p>
          <a:p>
            <a:pPr marL="457200" indent="-457200">
              <a:buFont typeface="Arial"/>
              <a:buChar char="•"/>
            </a:pPr>
            <a:endParaRPr lang="en-US" dirty="0" smtClean="0"/>
          </a:p>
          <a:p>
            <a:pPr marL="457200" indent="-457200">
              <a:buFont typeface="Arial"/>
              <a:buChar char="•"/>
            </a:pPr>
            <a:endParaRPr lang="en-US" dirty="0" smtClean="0"/>
          </a:p>
          <a:p>
            <a:pPr marL="457200" indent="-457200">
              <a:buFont typeface="Arial"/>
              <a:buChar char="•"/>
            </a:pPr>
            <a:endParaRPr lang="en-US" dirty="0" smtClean="0"/>
          </a:p>
          <a:p>
            <a:pPr marL="457200" indent="-457200">
              <a:buFont typeface="Arial"/>
              <a:buChar char="•"/>
            </a:pPr>
            <a:endParaRPr lang="en-US" dirty="0"/>
          </a:p>
          <a:p>
            <a:pPr marL="457200" indent="-457200">
              <a:buFont typeface="Arial"/>
              <a:buChar char="•"/>
            </a:pPr>
            <a:endParaRPr lang="en-US" dirty="0" smtClean="0"/>
          </a:p>
          <a:p>
            <a:pPr marL="457200" indent="-457200">
              <a:buFont typeface="Arial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0143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Skill Segregation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4657725" y="3884613"/>
            <a:ext cx="4038600" cy="2209800"/>
          </a:xfrm>
          <a:prstGeom prst="rect">
            <a:avLst/>
          </a:prstGeom>
          <a:solidFill>
            <a:srgbClr val="BFBFBF">
              <a:lumMod val="40000"/>
              <a:lumOff val="60000"/>
            </a:srgbClr>
          </a:solidFill>
          <a:ln w="25400" cap="flat" cmpd="sng" algn="ctr">
            <a:solidFill>
              <a:srgbClr val="BFBFBF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Content Placeholder 2"/>
          <p:cNvSpPr txBox="1">
            <a:spLocks/>
          </p:cNvSpPr>
          <p:nvPr/>
        </p:nvSpPr>
        <p:spPr bwMode="auto">
          <a:xfrm>
            <a:off x="4648200" y="3886200"/>
            <a:ext cx="4038600" cy="2209800"/>
          </a:xfrm>
          <a:prstGeom prst="rect">
            <a:avLst/>
          </a:prstGeom>
          <a:noFill/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5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5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Memory Analysis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57200" y="3886200"/>
            <a:ext cx="4038600" cy="2209800"/>
          </a:xfrm>
          <a:prstGeom prst="rect">
            <a:avLst/>
          </a:prstGeom>
          <a:solidFill>
            <a:srgbClr val="FFD85D">
              <a:lumMod val="40000"/>
              <a:lumOff val="60000"/>
            </a:srgbClr>
          </a:solidFill>
          <a:ln w="25400" cap="flat" cmpd="sng" algn="ctr">
            <a:solidFill>
              <a:srgbClr val="BFBFBF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Content Placeholder 2"/>
          <p:cNvSpPr txBox="1">
            <a:spLocks/>
          </p:cNvSpPr>
          <p:nvPr/>
        </p:nvSpPr>
        <p:spPr bwMode="auto">
          <a:xfrm>
            <a:off x="457200" y="3886200"/>
            <a:ext cx="4038600" cy="2209800"/>
          </a:xfrm>
          <a:prstGeom prst="rect">
            <a:avLst/>
          </a:prstGeom>
          <a:noFill/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5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5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Network Analysis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657725" y="1524000"/>
            <a:ext cx="4038600" cy="2209800"/>
          </a:xfrm>
          <a:prstGeom prst="rect">
            <a:avLst/>
          </a:prstGeom>
          <a:solidFill>
            <a:srgbClr val="A7D8A0">
              <a:lumMod val="40000"/>
              <a:lumOff val="60000"/>
            </a:srgbClr>
          </a:solidFill>
          <a:ln w="25400" cap="flat" cmpd="sng" algn="ctr">
            <a:solidFill>
              <a:srgbClr val="BFBFBF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Content Placeholder 2"/>
          <p:cNvSpPr txBox="1">
            <a:spLocks/>
          </p:cNvSpPr>
          <p:nvPr/>
        </p:nvSpPr>
        <p:spPr bwMode="auto">
          <a:xfrm>
            <a:off x="4657725" y="1524000"/>
            <a:ext cx="4038600" cy="2209800"/>
          </a:xfrm>
          <a:prstGeom prst="rect">
            <a:avLst/>
          </a:prstGeom>
          <a:noFill/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5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5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Dynamic Analysis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57200" y="1524000"/>
            <a:ext cx="4038600" cy="2209800"/>
          </a:xfrm>
          <a:prstGeom prst="rect">
            <a:avLst/>
          </a:prstGeom>
          <a:solidFill>
            <a:srgbClr val="176196">
              <a:lumMod val="20000"/>
              <a:lumOff val="80000"/>
            </a:srgbClr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Content Placeholder 2"/>
          <p:cNvSpPr>
            <a:spLocks noGrp="1"/>
          </p:cNvSpPr>
          <p:nvPr>
            <p:ph idx="1"/>
          </p:nvPr>
        </p:nvSpPr>
        <p:spPr bwMode="auto">
          <a:xfrm>
            <a:off x="457200" y="1524000"/>
            <a:ext cx="40386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5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5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cs typeface="Calibri"/>
              </a:rPr>
              <a:t>Static Analysis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167221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Difficulty in Current Processes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sz="3200" dirty="0" smtClean="0"/>
              <a:t>Skill-Based Approach vs. Indicator-Based 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sz="3200" dirty="0" smtClean="0"/>
              <a:t>Going down rabbit holes that do not help overall security posture</a:t>
            </a:r>
          </a:p>
          <a:p>
            <a:pPr marL="800100" lvl="1" indent="-342900" eaLnBrk="1" hangingPunct="1">
              <a:spcAft>
                <a:spcPts val="600"/>
              </a:spcAft>
              <a:buFont typeface="Arial"/>
              <a:buChar char="•"/>
            </a:pPr>
            <a:r>
              <a:rPr lang="en-US" sz="2800" dirty="0" smtClean="0"/>
              <a:t>You do not need to deep dive every sample!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sz="3200" dirty="0" smtClean="0"/>
              <a:t>Difficult to segregate and emphasize critical indicators in reports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03462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Do You Currently Hire For This?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5+ years in the following:</a:t>
            </a:r>
          </a:p>
          <a:p>
            <a:pPr>
              <a:buNone/>
            </a:pPr>
            <a:r>
              <a:rPr lang="en-US" dirty="0" smtClean="0"/>
              <a:t>C, C++, Java, .NET</a:t>
            </a:r>
          </a:p>
          <a:p>
            <a:pPr>
              <a:buNone/>
            </a:pPr>
            <a:r>
              <a:rPr lang="en-US" dirty="0" smtClean="0"/>
              <a:t>X86 / ARM Assembly Bit-Level Analysis</a:t>
            </a:r>
          </a:p>
          <a:p>
            <a:pPr>
              <a:buNone/>
            </a:pPr>
            <a:r>
              <a:rPr lang="en-US" dirty="0" smtClean="0"/>
              <a:t>Working knowledge of common TCP/IP protocols</a:t>
            </a:r>
          </a:p>
          <a:p>
            <a:pPr>
              <a:buNone/>
            </a:pPr>
            <a:r>
              <a:rPr lang="en-US" dirty="0" smtClean="0"/>
              <a:t>Expert report-writing</a:t>
            </a:r>
          </a:p>
          <a:p>
            <a:pPr>
              <a:buNone/>
            </a:pPr>
            <a:r>
              <a:rPr lang="en-US" dirty="0" smtClean="0"/>
              <a:t>Reverse engineering with IDA Pro, IDA Python </a:t>
            </a:r>
            <a:r>
              <a:rPr lang="en-US" dirty="0" err="1" smtClean="0"/>
              <a:t>PyDbg</a:t>
            </a:r>
            <a:r>
              <a:rPr lang="en-US" dirty="0" smtClean="0"/>
              <a:t>, or </a:t>
            </a:r>
            <a:r>
              <a:rPr lang="en-US" dirty="0" err="1" smtClean="0"/>
              <a:t>OllyDbg</a:t>
            </a:r>
            <a:r>
              <a:rPr lang="en-US" dirty="0" smtClean="0"/>
              <a:t>, as well as forensic software such as </a:t>
            </a:r>
            <a:r>
              <a:rPr lang="en-US" dirty="0" err="1" smtClean="0"/>
              <a:t>EnCase</a:t>
            </a:r>
            <a:r>
              <a:rPr lang="en-US" dirty="0" smtClean="0"/>
              <a:t>, FTK, or Sleuth Kit/Autopsy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9569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Should We Hire For This?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3+ years in the following:</a:t>
            </a:r>
          </a:p>
          <a:p>
            <a:pPr>
              <a:buNone/>
            </a:pPr>
            <a:r>
              <a:rPr lang="en-US" dirty="0" smtClean="0"/>
              <a:t>Extracting encrypted data sets through static /dynamic methods</a:t>
            </a:r>
          </a:p>
          <a:p>
            <a:pPr>
              <a:buNone/>
            </a:pPr>
            <a:r>
              <a:rPr lang="en-US" dirty="0" smtClean="0"/>
              <a:t>Documenting minutiae artifacts from malware runtime</a:t>
            </a:r>
            <a:endParaRPr lang="en-US" b="1" dirty="0" smtClean="0"/>
          </a:p>
          <a:p>
            <a:pPr>
              <a:buNone/>
            </a:pPr>
            <a:r>
              <a:rPr lang="en-US" dirty="0" smtClean="0"/>
              <a:t>Identifying and decoding malware network protocols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372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The Cyber Kill </a:t>
            </a:r>
            <a:r>
              <a:rPr lang="en-US" dirty="0" err="1" smtClean="0"/>
              <a:t>Chain</a:t>
            </a:r>
            <a:r>
              <a:rPr lang="en-US" baseline="30000" dirty="0" err="1" smtClean="0"/>
              <a:t>tm</a:t>
            </a:r>
            <a:endParaRPr lang="en-US" baseline="300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208653"/>
            <a:ext cx="6443662" cy="4811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193595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Relevance of the Cyber Kill Chain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 bwMode="auto">
          <a:xfrm>
            <a:off x="2895600" y="1447800"/>
            <a:ext cx="57912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Each chain link has indicators that can be potentially extracted or deduced from malware analysis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Use to:</a:t>
            </a:r>
          </a:p>
          <a:p>
            <a:pPr marL="457200" marR="0" lvl="1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Identify Indicators</a:t>
            </a:r>
          </a:p>
          <a:p>
            <a:pPr marL="457200" marR="0" lvl="1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Collect Indicators</a:t>
            </a:r>
          </a:p>
          <a:p>
            <a:pPr marL="457200" marR="0" lvl="1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Reuse Indicators</a:t>
            </a:r>
          </a:p>
        </p:txBody>
      </p:sp>
      <p:grpSp>
        <p:nvGrpSpPr>
          <p:cNvPr id="15" name="Group 2"/>
          <p:cNvGrpSpPr>
            <a:grpSpLocks/>
          </p:cNvGrpSpPr>
          <p:nvPr/>
        </p:nvGrpSpPr>
        <p:grpSpPr bwMode="auto">
          <a:xfrm>
            <a:off x="304800" y="1371600"/>
            <a:ext cx="2362200" cy="4648200"/>
            <a:chOff x="304800" y="1524000"/>
            <a:chExt cx="2362200" cy="4648200"/>
          </a:xfrm>
        </p:grpSpPr>
        <p:sp>
          <p:nvSpPr>
            <p:cNvPr id="16" name="Right Arrow 15"/>
            <p:cNvSpPr/>
            <p:nvPr/>
          </p:nvSpPr>
          <p:spPr>
            <a:xfrm rot="5400000">
              <a:off x="-862012" y="3262312"/>
              <a:ext cx="4648200" cy="1171575"/>
            </a:xfrm>
            <a:prstGeom prst="rightArrow">
              <a:avLst/>
            </a:prstGeom>
            <a:solidFill>
              <a:srgbClr val="BFBFBF"/>
            </a:solidFill>
            <a:ln w="25400" cap="flat" cmpd="sng" algn="ctr">
              <a:solidFill>
                <a:srgbClr val="BFBFBF">
                  <a:shade val="50000"/>
                </a:srgbClr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304800" y="1638298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176196">
                    <a:shade val="51000"/>
                    <a:satMod val="130000"/>
                  </a:srgbClr>
                </a:gs>
                <a:gs pos="80000">
                  <a:srgbClr val="176196">
                    <a:shade val="93000"/>
                    <a:satMod val="130000"/>
                  </a:srgbClr>
                </a:gs>
                <a:gs pos="100000">
                  <a:srgbClr val="176196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solidFill>
                    <a:srgbClr val="FFFFFF"/>
                  </a:soli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Reconnaissance</a:t>
              </a:r>
              <a:endParaRPr kumimoji="0" lang="en-US" sz="1800" b="1" i="0" u="none" strike="noStrike" kern="0" cap="all" spc="0" normalizeH="0" baseline="0" noProof="0" dirty="0">
                <a:ln w="0"/>
                <a:solidFill>
                  <a:srgbClr val="FFFFFF"/>
                </a:soli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04800" y="2181223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176196">
                    <a:shade val="51000"/>
                    <a:satMod val="130000"/>
                  </a:srgbClr>
                </a:gs>
                <a:gs pos="80000">
                  <a:srgbClr val="176196">
                    <a:shade val="93000"/>
                    <a:satMod val="130000"/>
                  </a:srgbClr>
                </a:gs>
                <a:gs pos="100000">
                  <a:srgbClr val="176196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Weaponization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304800" y="2743200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176196">
                    <a:shade val="51000"/>
                    <a:satMod val="130000"/>
                  </a:srgbClr>
                </a:gs>
                <a:gs pos="80000">
                  <a:srgbClr val="176196">
                    <a:shade val="93000"/>
                    <a:satMod val="130000"/>
                  </a:srgbClr>
                </a:gs>
                <a:gs pos="100000">
                  <a:srgbClr val="176196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Delivery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304800" y="3314698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176196">
                    <a:shade val="51000"/>
                    <a:satMod val="130000"/>
                  </a:srgbClr>
                </a:gs>
                <a:gs pos="80000">
                  <a:srgbClr val="176196">
                    <a:shade val="93000"/>
                    <a:satMod val="130000"/>
                  </a:srgbClr>
                </a:gs>
                <a:gs pos="100000">
                  <a:srgbClr val="176196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Exploitation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304800" y="3886200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176196">
                    <a:shade val="51000"/>
                    <a:satMod val="130000"/>
                  </a:srgbClr>
                </a:gs>
                <a:gs pos="80000">
                  <a:srgbClr val="176196">
                    <a:shade val="93000"/>
                    <a:satMod val="130000"/>
                  </a:srgbClr>
                </a:gs>
                <a:gs pos="100000">
                  <a:srgbClr val="176196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Installation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304800" y="4495800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176196">
                    <a:shade val="51000"/>
                    <a:satMod val="130000"/>
                  </a:srgbClr>
                </a:gs>
                <a:gs pos="80000">
                  <a:srgbClr val="176196">
                    <a:shade val="93000"/>
                    <a:satMod val="130000"/>
                  </a:srgbClr>
                </a:gs>
                <a:gs pos="100000">
                  <a:srgbClr val="176196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Command &amp; Control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304800" y="5105400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176196">
                    <a:shade val="51000"/>
                    <a:satMod val="130000"/>
                  </a:srgbClr>
                </a:gs>
                <a:gs pos="80000">
                  <a:srgbClr val="176196">
                    <a:shade val="93000"/>
                    <a:satMod val="130000"/>
                  </a:srgbClr>
                </a:gs>
                <a:gs pos="100000">
                  <a:srgbClr val="176196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Actions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82499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Relevance of the Cyber Kill Chain</a:t>
            </a:r>
            <a:endParaRPr lang="en-US" dirty="0"/>
          </a:p>
        </p:txBody>
      </p:sp>
      <p:sp>
        <p:nvSpPr>
          <p:cNvPr id="22" name="Right Arrow 21"/>
          <p:cNvSpPr/>
          <p:nvPr/>
        </p:nvSpPr>
        <p:spPr>
          <a:xfrm rot="5400000">
            <a:off x="-862012" y="3109913"/>
            <a:ext cx="4648200" cy="1171575"/>
          </a:xfrm>
          <a:prstGeom prst="rightArrow">
            <a:avLst/>
          </a:prstGeom>
          <a:solidFill>
            <a:srgbClr val="BFBFBF"/>
          </a:solidFill>
          <a:ln w="25400" cap="flat" cmpd="sng" algn="ctr">
            <a:solidFill>
              <a:srgbClr val="BFBFBF">
                <a:shade val="50000"/>
              </a:srgb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Content Placeholder 2"/>
          <p:cNvSpPr>
            <a:spLocks noGrp="1"/>
          </p:cNvSpPr>
          <p:nvPr>
            <p:ph idx="1"/>
          </p:nvPr>
        </p:nvSpPr>
        <p:spPr bwMode="auto">
          <a:xfrm>
            <a:off x="2514600" y="1447801"/>
            <a:ext cx="6248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  – Signs of intelligence gathering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  – Technical exploit used in attack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  – Transfer method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  – Vulnerability on victim system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  – Entrenchment/Persistence artifacts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  – Data collection, network beacon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  – Actor-issued commands, </a:t>
            </a:r>
            <a:r>
              <a:rPr kumimoji="0" lang="en-US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exfil</a:t>
            </a:r>
            <a:r>
              <a:rPr kumimoji="0" 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 lateral movement</a:t>
            </a:r>
            <a:endParaRPr kumimoji="0" lang="en-US" sz="2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04800" y="1485899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176196">
                  <a:shade val="51000"/>
                  <a:satMod val="130000"/>
                </a:srgbClr>
              </a:gs>
              <a:gs pos="80000">
                <a:srgbClr val="176196">
                  <a:shade val="93000"/>
                  <a:satMod val="130000"/>
                </a:srgbClr>
              </a:gs>
              <a:gs pos="100000">
                <a:srgbClr val="17619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Reconnaissance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304800" y="2028824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176196">
                  <a:shade val="51000"/>
                  <a:satMod val="130000"/>
                </a:srgbClr>
              </a:gs>
              <a:gs pos="80000">
                <a:srgbClr val="176196">
                  <a:shade val="93000"/>
                  <a:satMod val="130000"/>
                </a:srgbClr>
              </a:gs>
              <a:gs pos="100000">
                <a:srgbClr val="17619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Weaponization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04800" y="2590801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176196">
                  <a:shade val="51000"/>
                  <a:satMod val="130000"/>
                </a:srgbClr>
              </a:gs>
              <a:gs pos="80000">
                <a:srgbClr val="176196">
                  <a:shade val="93000"/>
                  <a:satMod val="130000"/>
                </a:srgbClr>
              </a:gs>
              <a:gs pos="100000">
                <a:srgbClr val="17619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Delivery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04800" y="3162299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176196">
                  <a:shade val="51000"/>
                  <a:satMod val="130000"/>
                </a:srgbClr>
              </a:gs>
              <a:gs pos="80000">
                <a:srgbClr val="176196">
                  <a:shade val="93000"/>
                  <a:satMod val="130000"/>
                </a:srgbClr>
              </a:gs>
              <a:gs pos="100000">
                <a:srgbClr val="17619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Exploitation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04800" y="3733801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176196">
                  <a:shade val="51000"/>
                  <a:satMod val="130000"/>
                </a:srgbClr>
              </a:gs>
              <a:gs pos="80000">
                <a:srgbClr val="176196">
                  <a:shade val="93000"/>
                  <a:satMod val="130000"/>
                </a:srgbClr>
              </a:gs>
              <a:gs pos="100000">
                <a:srgbClr val="17619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Installation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04800" y="4343401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176196">
                  <a:shade val="51000"/>
                  <a:satMod val="130000"/>
                </a:srgbClr>
              </a:gs>
              <a:gs pos="80000">
                <a:srgbClr val="176196">
                  <a:shade val="93000"/>
                  <a:satMod val="130000"/>
                </a:srgbClr>
              </a:gs>
              <a:gs pos="100000">
                <a:srgbClr val="17619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Command &amp; Control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04800" y="4953001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176196">
                  <a:shade val="51000"/>
                  <a:satMod val="130000"/>
                </a:srgbClr>
              </a:gs>
              <a:gs pos="80000">
                <a:srgbClr val="176196">
                  <a:shade val="93000"/>
                  <a:satMod val="130000"/>
                </a:srgbClr>
              </a:gs>
              <a:gs pos="100000">
                <a:srgbClr val="17619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Actions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886458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Fishing for Indicators</a:t>
            </a:r>
            <a:endParaRPr lang="en-US" dirty="0"/>
          </a:p>
        </p:txBody>
      </p:sp>
      <p:sp>
        <p:nvSpPr>
          <p:cNvPr id="13" name="Right Arrow 12"/>
          <p:cNvSpPr/>
          <p:nvPr/>
        </p:nvSpPr>
        <p:spPr>
          <a:xfrm rot="5400000">
            <a:off x="-862012" y="3109913"/>
            <a:ext cx="4648200" cy="1171575"/>
          </a:xfrm>
          <a:prstGeom prst="rightArrow">
            <a:avLst/>
          </a:prstGeom>
          <a:solidFill>
            <a:srgbClr val="BFBFBF"/>
          </a:solidFill>
          <a:ln w="25400" cap="flat" cmpd="sng" algn="ctr">
            <a:solidFill>
              <a:srgbClr val="BFBFBF">
                <a:shade val="50000"/>
              </a:srgb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 bwMode="auto">
          <a:xfrm>
            <a:off x="2514600" y="1447801"/>
            <a:ext cx="6248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marL="0" lvl="0" indent="0" defTabSz="914400" eaLnBrk="1" hangingPunct="1">
              <a:spcBef>
                <a:spcPct val="20000"/>
              </a:spcBef>
              <a:buClrTx/>
              <a:buSzTx/>
              <a:defRPr/>
            </a:pPr>
            <a:r>
              <a:rPr lang="en-US" sz="2200" kern="1200" dirty="0" smtClean="0">
                <a:solidFill>
                  <a:prstClr val="black"/>
                </a:solidFill>
                <a:latin typeface="Calibri" pitchFamily="34" charset="0"/>
                <a:ea typeface="+mn-ea"/>
              </a:rPr>
              <a:t>    </a:t>
            </a:r>
            <a:r>
              <a:rPr lang="en-US" sz="2200" kern="1200" dirty="0">
                <a:solidFill>
                  <a:prstClr val="black"/>
                </a:solidFill>
                <a:latin typeface="Calibri" pitchFamily="34" charset="0"/>
                <a:ea typeface="+mn-ea"/>
              </a:rPr>
              <a:t>– Carrier themes</a:t>
            </a:r>
          </a:p>
          <a:p>
            <a:pPr lvl="0" defTabSz="914400" eaLnBrk="1" hangingPunct="1">
              <a:spcBef>
                <a:spcPct val="20000"/>
              </a:spcBef>
              <a:buClrTx/>
              <a:buSzTx/>
              <a:buFont typeface="Arial" charset="0"/>
              <a:buChar char="•"/>
              <a:defRPr/>
            </a:pPr>
            <a:endParaRPr lang="en-US" sz="800" b="1" kern="1200" dirty="0">
              <a:solidFill>
                <a:prstClr val="black"/>
              </a:solidFill>
              <a:latin typeface="Calibri" pitchFamily="34" charset="0"/>
              <a:ea typeface="+mn-ea"/>
            </a:endParaRPr>
          </a:p>
          <a:p>
            <a:pPr marL="0" lvl="0" indent="0" defTabSz="914400" eaLnBrk="1" hangingPunct="1">
              <a:spcBef>
                <a:spcPct val="20000"/>
              </a:spcBef>
              <a:buClrTx/>
              <a:buSzTx/>
              <a:defRPr/>
            </a:pPr>
            <a:r>
              <a:rPr lang="en-US" sz="2200" kern="1200" dirty="0">
                <a:solidFill>
                  <a:prstClr val="black"/>
                </a:solidFill>
                <a:latin typeface="Calibri" pitchFamily="34" charset="0"/>
                <a:ea typeface="+mn-ea"/>
              </a:rPr>
              <a:t>    – Buffer overrun, RCE, malicious Flash w/in DOCX</a:t>
            </a:r>
          </a:p>
          <a:p>
            <a:pPr lvl="0" defTabSz="914400" eaLnBrk="1" hangingPunct="1">
              <a:spcBef>
                <a:spcPct val="20000"/>
              </a:spcBef>
              <a:buClrTx/>
              <a:buSzTx/>
              <a:buFont typeface="Arial" charset="0"/>
              <a:buChar char="•"/>
              <a:defRPr/>
            </a:pPr>
            <a:endParaRPr lang="en-US" sz="800" b="1" kern="1200" dirty="0">
              <a:solidFill>
                <a:prstClr val="black"/>
              </a:solidFill>
              <a:latin typeface="Calibri" pitchFamily="34" charset="0"/>
              <a:ea typeface="+mn-ea"/>
            </a:endParaRPr>
          </a:p>
          <a:p>
            <a:pPr marL="0" lvl="0" indent="0" defTabSz="914400" eaLnBrk="1" hangingPunct="1">
              <a:spcBef>
                <a:spcPct val="20000"/>
              </a:spcBef>
              <a:buClrTx/>
              <a:buSzTx/>
              <a:defRPr/>
            </a:pPr>
            <a:r>
              <a:rPr lang="en-US" sz="2200" kern="1200" dirty="0">
                <a:solidFill>
                  <a:prstClr val="black"/>
                </a:solidFill>
                <a:latin typeface="Calibri" pitchFamily="34" charset="0"/>
                <a:ea typeface="+mn-ea"/>
              </a:rPr>
              <a:t>    – Email, Watering Hole, P2P, USB</a:t>
            </a:r>
          </a:p>
          <a:p>
            <a:pPr lvl="0" defTabSz="914400" eaLnBrk="1" hangingPunct="1">
              <a:spcBef>
                <a:spcPct val="20000"/>
              </a:spcBef>
              <a:buClrTx/>
              <a:buSzTx/>
              <a:buFont typeface="Arial" charset="0"/>
              <a:buChar char="•"/>
              <a:defRPr/>
            </a:pPr>
            <a:endParaRPr lang="en-US" sz="800" b="1" kern="1200" dirty="0">
              <a:solidFill>
                <a:prstClr val="black"/>
              </a:solidFill>
              <a:latin typeface="Calibri" pitchFamily="34" charset="0"/>
              <a:ea typeface="+mn-ea"/>
            </a:endParaRPr>
          </a:p>
          <a:p>
            <a:pPr marL="0" lvl="0" indent="0" defTabSz="914400" eaLnBrk="1" hangingPunct="1">
              <a:spcBef>
                <a:spcPct val="20000"/>
              </a:spcBef>
              <a:buClrTx/>
              <a:buSzTx/>
              <a:defRPr/>
            </a:pPr>
            <a:r>
              <a:rPr lang="en-US" sz="2200" kern="1200" dirty="0">
                <a:solidFill>
                  <a:prstClr val="black"/>
                </a:solidFill>
                <a:latin typeface="Calibri" pitchFamily="34" charset="0"/>
                <a:ea typeface="+mn-ea"/>
              </a:rPr>
              <a:t>    – CVE-2010-3333, CVE-2012-0158, </a:t>
            </a:r>
            <a:r>
              <a:rPr lang="en-US" sz="2200" kern="1200" dirty="0" err="1">
                <a:solidFill>
                  <a:prstClr val="black"/>
                </a:solidFill>
                <a:latin typeface="Calibri" pitchFamily="34" charset="0"/>
                <a:ea typeface="+mn-ea"/>
              </a:rPr>
              <a:t>etc</a:t>
            </a:r>
            <a:endParaRPr lang="en-US" sz="2200" kern="1200" dirty="0">
              <a:solidFill>
                <a:prstClr val="black"/>
              </a:solidFill>
              <a:latin typeface="Calibri" pitchFamily="34" charset="0"/>
              <a:ea typeface="+mn-ea"/>
            </a:endParaRPr>
          </a:p>
          <a:p>
            <a:pPr lvl="0" defTabSz="914400" eaLnBrk="1" hangingPunct="1">
              <a:spcBef>
                <a:spcPct val="20000"/>
              </a:spcBef>
              <a:buClrTx/>
              <a:buSzTx/>
              <a:buFont typeface="Arial" charset="0"/>
              <a:buChar char="•"/>
              <a:defRPr/>
            </a:pPr>
            <a:endParaRPr lang="en-US" sz="1000" b="1" kern="1200" dirty="0">
              <a:solidFill>
                <a:prstClr val="black"/>
              </a:solidFill>
              <a:latin typeface="Calibri" pitchFamily="34" charset="0"/>
              <a:ea typeface="+mn-ea"/>
            </a:endParaRPr>
          </a:p>
          <a:p>
            <a:pPr marL="0" lvl="0" indent="0" defTabSz="914400" eaLnBrk="1" hangingPunct="1">
              <a:spcBef>
                <a:spcPct val="20000"/>
              </a:spcBef>
              <a:buClrTx/>
              <a:buSzTx/>
              <a:defRPr/>
            </a:pPr>
            <a:r>
              <a:rPr lang="en-US" sz="2200" kern="1200" dirty="0">
                <a:solidFill>
                  <a:prstClr val="black"/>
                </a:solidFill>
                <a:latin typeface="Calibri" pitchFamily="34" charset="0"/>
                <a:ea typeface="+mn-ea"/>
              </a:rPr>
              <a:t>    – File / Registry / File artifacts</a:t>
            </a:r>
          </a:p>
          <a:p>
            <a:pPr lvl="0" defTabSz="914400" eaLnBrk="1" hangingPunct="1">
              <a:spcBef>
                <a:spcPct val="20000"/>
              </a:spcBef>
              <a:buClrTx/>
              <a:buSzTx/>
              <a:buFont typeface="Arial" charset="0"/>
              <a:buChar char="•"/>
              <a:defRPr/>
            </a:pPr>
            <a:endParaRPr lang="en-US" sz="1100" b="1" kern="1200" dirty="0">
              <a:solidFill>
                <a:prstClr val="black"/>
              </a:solidFill>
              <a:latin typeface="Calibri" pitchFamily="34" charset="0"/>
              <a:ea typeface="+mn-ea"/>
            </a:endParaRPr>
          </a:p>
          <a:p>
            <a:pPr marL="0" lvl="0" indent="0" defTabSz="914400" eaLnBrk="1" hangingPunct="1">
              <a:spcBef>
                <a:spcPct val="20000"/>
              </a:spcBef>
              <a:buClrTx/>
              <a:buSzTx/>
              <a:defRPr/>
            </a:pPr>
            <a:r>
              <a:rPr lang="en-US" sz="2200" kern="1200" dirty="0">
                <a:solidFill>
                  <a:prstClr val="black"/>
                </a:solidFill>
                <a:latin typeface="Calibri" pitchFamily="34" charset="0"/>
                <a:ea typeface="+mn-ea"/>
              </a:rPr>
              <a:t>    – DNS, HTTP beacons</a:t>
            </a:r>
          </a:p>
          <a:p>
            <a:pPr lvl="0" defTabSz="914400" eaLnBrk="1" hangingPunct="1">
              <a:spcBef>
                <a:spcPct val="20000"/>
              </a:spcBef>
              <a:buClrTx/>
              <a:buSzTx/>
              <a:buFont typeface="Arial" charset="0"/>
              <a:buChar char="•"/>
              <a:defRPr/>
            </a:pPr>
            <a:endParaRPr lang="en-US" sz="1200" b="1" kern="1200" dirty="0">
              <a:solidFill>
                <a:prstClr val="black"/>
              </a:solidFill>
              <a:latin typeface="Calibri" pitchFamily="34" charset="0"/>
              <a:ea typeface="+mn-ea"/>
            </a:endParaRPr>
          </a:p>
          <a:p>
            <a:pPr marL="0" lvl="0" indent="0" defTabSz="914400" eaLnBrk="1" hangingPunct="1">
              <a:spcBef>
                <a:spcPct val="20000"/>
              </a:spcBef>
              <a:buClrTx/>
              <a:buSzTx/>
              <a:defRPr/>
            </a:pPr>
            <a:r>
              <a:rPr lang="en-US" sz="2200" kern="1200" dirty="0">
                <a:solidFill>
                  <a:prstClr val="black"/>
                </a:solidFill>
                <a:latin typeface="Calibri" pitchFamily="34" charset="0"/>
                <a:ea typeface="+mn-ea"/>
              </a:rPr>
              <a:t>    – RAR archives, </a:t>
            </a:r>
            <a:r>
              <a:rPr lang="en-US" sz="2200" kern="1200" dirty="0" err="1">
                <a:solidFill>
                  <a:prstClr val="black"/>
                </a:solidFill>
                <a:latin typeface="Calibri" pitchFamily="34" charset="0"/>
                <a:ea typeface="+mn-ea"/>
              </a:rPr>
              <a:t>psexec</a:t>
            </a:r>
            <a:r>
              <a:rPr lang="en-US" sz="2200" kern="1200" dirty="0">
                <a:solidFill>
                  <a:prstClr val="black"/>
                </a:solidFill>
                <a:latin typeface="Calibri" pitchFamily="34" charset="0"/>
                <a:ea typeface="+mn-ea"/>
              </a:rPr>
              <a:t>, </a:t>
            </a:r>
            <a:r>
              <a:rPr lang="en-US" sz="2200" kern="1200" dirty="0" err="1">
                <a:solidFill>
                  <a:prstClr val="black"/>
                </a:solidFill>
                <a:latin typeface="Calibri" pitchFamily="34" charset="0"/>
                <a:ea typeface="+mn-ea"/>
              </a:rPr>
              <a:t>pwdump</a:t>
            </a:r>
            <a:endParaRPr kumimoji="0" lang="en-US" sz="2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04800" y="1485899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176196">
                  <a:shade val="51000"/>
                  <a:satMod val="130000"/>
                </a:srgbClr>
              </a:gs>
              <a:gs pos="80000">
                <a:srgbClr val="176196">
                  <a:shade val="93000"/>
                  <a:satMod val="130000"/>
                </a:srgbClr>
              </a:gs>
              <a:gs pos="100000">
                <a:srgbClr val="17619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Reconnaissance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04800" y="2028824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176196">
                  <a:shade val="51000"/>
                  <a:satMod val="130000"/>
                </a:srgbClr>
              </a:gs>
              <a:gs pos="80000">
                <a:srgbClr val="176196">
                  <a:shade val="93000"/>
                  <a:satMod val="130000"/>
                </a:srgbClr>
              </a:gs>
              <a:gs pos="100000">
                <a:srgbClr val="17619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Weaponization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04800" y="2590801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176196">
                  <a:shade val="51000"/>
                  <a:satMod val="130000"/>
                </a:srgbClr>
              </a:gs>
              <a:gs pos="80000">
                <a:srgbClr val="176196">
                  <a:shade val="93000"/>
                  <a:satMod val="130000"/>
                </a:srgbClr>
              </a:gs>
              <a:gs pos="100000">
                <a:srgbClr val="17619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Delivery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04800" y="3162299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176196">
                  <a:shade val="51000"/>
                  <a:satMod val="130000"/>
                </a:srgbClr>
              </a:gs>
              <a:gs pos="80000">
                <a:srgbClr val="176196">
                  <a:shade val="93000"/>
                  <a:satMod val="130000"/>
                </a:srgbClr>
              </a:gs>
              <a:gs pos="100000">
                <a:srgbClr val="17619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Exploitation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04800" y="3733801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176196">
                  <a:shade val="51000"/>
                  <a:satMod val="130000"/>
                </a:srgbClr>
              </a:gs>
              <a:gs pos="80000">
                <a:srgbClr val="176196">
                  <a:shade val="93000"/>
                  <a:satMod val="130000"/>
                </a:srgbClr>
              </a:gs>
              <a:gs pos="100000">
                <a:srgbClr val="17619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Installation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04800" y="4343401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176196">
                  <a:shade val="51000"/>
                  <a:satMod val="130000"/>
                </a:srgbClr>
              </a:gs>
              <a:gs pos="80000">
                <a:srgbClr val="176196">
                  <a:shade val="93000"/>
                  <a:satMod val="130000"/>
                </a:srgbClr>
              </a:gs>
              <a:gs pos="100000">
                <a:srgbClr val="17619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Command &amp; Control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04800" y="4953001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176196">
                  <a:shade val="51000"/>
                  <a:satMod val="130000"/>
                </a:srgbClr>
              </a:gs>
              <a:gs pos="80000">
                <a:srgbClr val="176196">
                  <a:shade val="93000"/>
                  <a:satMod val="130000"/>
                </a:srgbClr>
              </a:gs>
              <a:gs pos="100000">
                <a:srgbClr val="17619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Actions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94665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Reconnaissance – Decoy Details</a:t>
            </a:r>
            <a:endParaRPr lang="en-US" dirty="0"/>
          </a:p>
        </p:txBody>
      </p:sp>
      <p:pic>
        <p:nvPicPr>
          <p:cNvPr id="28" name="Picture 3" descr="C:\Users\Brian\Downloads\55215378c95b933150b3439a37fc611d94abbc8a2b464cb12d6819b16bcce89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7" t="5077" r="3798" b="9985"/>
          <a:stretch>
            <a:fillRect/>
          </a:stretch>
        </p:blipFill>
        <p:spPr bwMode="auto">
          <a:xfrm>
            <a:off x="2819400" y="1409700"/>
            <a:ext cx="6084888" cy="415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Content Placeholder 2"/>
          <p:cNvSpPr>
            <a:spLocks noGrp="1"/>
          </p:cNvSpPr>
          <p:nvPr>
            <p:ph idx="1"/>
          </p:nvPr>
        </p:nvSpPr>
        <p:spPr>
          <a:xfrm>
            <a:off x="2667000" y="5943600"/>
            <a:ext cx="6134100" cy="228600"/>
          </a:xfrm>
        </p:spPr>
        <p:txBody>
          <a:bodyPr/>
          <a:lstStyle/>
          <a:p>
            <a:pPr marL="0" indent="0" eaLnBrk="1" hangingPunct="1">
              <a:buFont typeface="Arial" charset="0"/>
              <a:buNone/>
            </a:pPr>
            <a:r>
              <a:rPr lang="en-US" sz="1000" smtClean="0">
                <a:latin typeface="Courier New" pitchFamily="49" charset="0"/>
                <a:cs typeface="Courier New" pitchFamily="49" charset="0"/>
              </a:rPr>
              <a:t>http://contagiodump.blogspot.com/2010/10/oct-08-cve-2010-2883-pdf-nuclear.html</a:t>
            </a:r>
            <a:endParaRPr lang="en-US" sz="1000" b="1" smtClean="0"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30" name="Group 5"/>
          <p:cNvGrpSpPr>
            <a:grpSpLocks/>
          </p:cNvGrpSpPr>
          <p:nvPr/>
        </p:nvGrpSpPr>
        <p:grpSpPr bwMode="auto">
          <a:xfrm>
            <a:off x="304800" y="1295400"/>
            <a:ext cx="2362200" cy="4648200"/>
            <a:chOff x="304800" y="1524000"/>
            <a:chExt cx="2362200" cy="4648200"/>
          </a:xfrm>
        </p:grpSpPr>
        <p:sp>
          <p:nvSpPr>
            <p:cNvPr id="31" name="Right Arrow 30"/>
            <p:cNvSpPr/>
            <p:nvPr/>
          </p:nvSpPr>
          <p:spPr>
            <a:xfrm rot="5400000">
              <a:off x="-862012" y="3262312"/>
              <a:ext cx="4648200" cy="1171575"/>
            </a:xfrm>
            <a:prstGeom prst="rightArrow">
              <a:avLst/>
            </a:prstGeom>
            <a:solidFill>
              <a:srgbClr val="BFBFBF"/>
            </a:solidFill>
            <a:ln w="25400" cap="flat" cmpd="sng" algn="ctr">
              <a:solidFill>
                <a:srgbClr val="BFBFBF">
                  <a:shade val="50000"/>
                </a:srgbClr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304800" y="1638298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176196">
                    <a:shade val="51000"/>
                    <a:satMod val="130000"/>
                  </a:srgbClr>
                </a:gs>
                <a:gs pos="80000">
                  <a:srgbClr val="176196">
                    <a:shade val="93000"/>
                    <a:satMod val="130000"/>
                  </a:srgbClr>
                </a:gs>
                <a:gs pos="100000">
                  <a:srgbClr val="176196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Reconnaissance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304800" y="2181223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CADEEE">
                    <a:shade val="51000"/>
                    <a:satMod val="130000"/>
                  </a:srgbClr>
                </a:gs>
                <a:gs pos="80000">
                  <a:srgbClr val="CADEEE">
                    <a:shade val="93000"/>
                    <a:satMod val="130000"/>
                  </a:srgbClr>
                </a:gs>
                <a:gs pos="100000">
                  <a:srgbClr val="CADEEE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Weaponization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304800" y="2743200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CADEEE">
                    <a:shade val="51000"/>
                    <a:satMod val="130000"/>
                  </a:srgbClr>
                </a:gs>
                <a:gs pos="80000">
                  <a:srgbClr val="CADEEE">
                    <a:shade val="93000"/>
                    <a:satMod val="130000"/>
                  </a:srgbClr>
                </a:gs>
                <a:gs pos="100000">
                  <a:srgbClr val="CADEEE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Delivery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304800" y="3314698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CADEEE">
                    <a:shade val="51000"/>
                    <a:satMod val="130000"/>
                  </a:srgbClr>
                </a:gs>
                <a:gs pos="80000">
                  <a:srgbClr val="CADEEE">
                    <a:shade val="93000"/>
                    <a:satMod val="130000"/>
                  </a:srgbClr>
                </a:gs>
                <a:gs pos="100000">
                  <a:srgbClr val="CADEEE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Exploitation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304800" y="3886200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CADEEE">
                    <a:shade val="51000"/>
                    <a:satMod val="130000"/>
                  </a:srgbClr>
                </a:gs>
                <a:gs pos="80000">
                  <a:srgbClr val="CADEEE">
                    <a:shade val="93000"/>
                    <a:satMod val="130000"/>
                  </a:srgbClr>
                </a:gs>
                <a:gs pos="100000">
                  <a:srgbClr val="CADEEE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Installation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304800" y="4495800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CADEEE">
                    <a:shade val="51000"/>
                    <a:satMod val="130000"/>
                  </a:srgbClr>
                </a:gs>
                <a:gs pos="80000">
                  <a:srgbClr val="CADEEE">
                    <a:shade val="93000"/>
                    <a:satMod val="130000"/>
                  </a:srgbClr>
                </a:gs>
                <a:gs pos="100000">
                  <a:srgbClr val="CADEEE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Command &amp; Control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304800" y="5105400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CADEEE">
                    <a:shade val="51000"/>
                    <a:satMod val="130000"/>
                  </a:srgbClr>
                </a:gs>
                <a:gs pos="80000">
                  <a:srgbClr val="CADEEE">
                    <a:shade val="93000"/>
                    <a:satMod val="130000"/>
                  </a:srgbClr>
                </a:gs>
                <a:gs pos="100000">
                  <a:srgbClr val="CADEEE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Actions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9" name="Rectangle 38"/>
          <p:cNvSpPr/>
          <p:nvPr/>
        </p:nvSpPr>
        <p:spPr>
          <a:xfrm>
            <a:off x="3886200" y="2733675"/>
            <a:ext cx="4267200" cy="1228725"/>
          </a:xfrm>
          <a:prstGeom prst="rect">
            <a:avLst/>
          </a:prstGeom>
          <a:solidFill>
            <a:srgbClr val="FFFF00">
              <a:alpha val="2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3840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Reconnaissance – </a:t>
            </a:r>
            <a:r>
              <a:rPr lang="en-US" dirty="0" err="1" smtClean="0"/>
              <a:t>ExifTool</a:t>
            </a:r>
            <a:endParaRPr lang="en-US" dirty="0"/>
          </a:p>
        </p:txBody>
      </p:sp>
      <p:sp>
        <p:nvSpPr>
          <p:cNvPr id="28" name="Content Placeholder 2"/>
          <p:cNvSpPr>
            <a:spLocks noGrp="1"/>
          </p:cNvSpPr>
          <p:nvPr>
            <p:ph idx="1"/>
          </p:nvPr>
        </p:nvSpPr>
        <p:spPr>
          <a:xfrm>
            <a:off x="2781300" y="1295400"/>
            <a:ext cx="6134100" cy="5029200"/>
          </a:xfrm>
        </p:spPr>
        <p:txBody>
          <a:bodyPr/>
          <a:lstStyle/>
          <a:p>
            <a:pPr marL="0" indent="0" eaLnBrk="1" hangingPunct="1">
              <a:spcBef>
                <a:spcPts val="0"/>
              </a:spcBef>
              <a:buFont typeface="Arial" charset="0"/>
              <a:buNone/>
            </a:pPr>
            <a:r>
              <a:rPr lang="en-US" sz="1100" b="1" dirty="0" err="1" smtClean="0">
                <a:latin typeface="Courier New"/>
                <a:cs typeface="Courier New"/>
              </a:rPr>
              <a:t>ExifTool</a:t>
            </a:r>
            <a:r>
              <a:rPr lang="en-US" sz="1100" b="1" dirty="0" smtClean="0">
                <a:latin typeface="Courier New"/>
                <a:cs typeface="Courier New"/>
              </a:rPr>
              <a:t> Version Number     : 9.36</a:t>
            </a:r>
          </a:p>
          <a:p>
            <a:pPr marL="0" indent="0" eaLnBrk="1" hangingPunct="1">
              <a:spcBef>
                <a:spcPts val="0"/>
              </a:spcBef>
              <a:buFont typeface="Arial" charset="0"/>
              <a:buNone/>
            </a:pPr>
            <a:r>
              <a:rPr lang="en-US" sz="1100" b="1" dirty="0" smtClean="0">
                <a:latin typeface="Courier New"/>
                <a:cs typeface="Courier New"/>
              </a:rPr>
              <a:t>File Modification Date/Time : 2010:10:08 07:15:54-04:00</a:t>
            </a:r>
          </a:p>
          <a:p>
            <a:pPr marL="0" indent="0" eaLnBrk="1" hangingPunct="1">
              <a:spcBef>
                <a:spcPts val="0"/>
              </a:spcBef>
              <a:buFont typeface="Arial" charset="0"/>
              <a:buNone/>
            </a:pPr>
            <a:r>
              <a:rPr lang="en-US" sz="1100" b="1" dirty="0" smtClean="0">
                <a:latin typeface="Courier New"/>
                <a:cs typeface="Courier New"/>
              </a:rPr>
              <a:t>File Type                   : PDF</a:t>
            </a:r>
          </a:p>
          <a:p>
            <a:pPr marL="0" indent="0" eaLnBrk="1" hangingPunct="1">
              <a:spcBef>
                <a:spcPts val="0"/>
              </a:spcBef>
              <a:buFont typeface="Arial" charset="0"/>
              <a:buNone/>
            </a:pPr>
            <a:r>
              <a:rPr lang="en-US" sz="1100" b="1" dirty="0" smtClean="0">
                <a:latin typeface="Courier New"/>
                <a:cs typeface="Courier New"/>
              </a:rPr>
              <a:t>MIME Type                   : application/</a:t>
            </a:r>
            <a:r>
              <a:rPr lang="en-US" sz="1100" b="1" dirty="0" err="1" smtClean="0">
                <a:latin typeface="Courier New"/>
                <a:cs typeface="Courier New"/>
              </a:rPr>
              <a:t>pdf</a:t>
            </a:r>
            <a:endParaRPr lang="en-US" sz="1100" b="1" dirty="0" smtClean="0">
              <a:latin typeface="Courier New"/>
              <a:cs typeface="Courier New"/>
            </a:endParaRPr>
          </a:p>
          <a:p>
            <a:pPr marL="0" indent="0" eaLnBrk="1" hangingPunct="1">
              <a:spcBef>
                <a:spcPts val="0"/>
              </a:spcBef>
              <a:buFont typeface="Arial" charset="0"/>
              <a:buNone/>
            </a:pPr>
            <a:r>
              <a:rPr lang="en-US" sz="1100" b="1" dirty="0" smtClean="0">
                <a:latin typeface="Courier New"/>
                <a:cs typeface="Courier New"/>
              </a:rPr>
              <a:t>PDF Version                 : 1.6</a:t>
            </a:r>
          </a:p>
          <a:p>
            <a:pPr marL="0" indent="0" eaLnBrk="1" hangingPunct="1">
              <a:spcBef>
                <a:spcPts val="0"/>
              </a:spcBef>
              <a:buFont typeface="Arial" charset="0"/>
              <a:buNone/>
            </a:pPr>
            <a:r>
              <a:rPr lang="en-US" sz="1100" b="1" dirty="0" smtClean="0">
                <a:latin typeface="Courier New"/>
                <a:cs typeface="Courier New"/>
              </a:rPr>
              <a:t>Linearized                  : Yes</a:t>
            </a:r>
          </a:p>
          <a:p>
            <a:pPr marL="0" indent="0" eaLnBrk="1" hangingPunct="1">
              <a:spcBef>
                <a:spcPts val="0"/>
              </a:spcBef>
              <a:buFont typeface="Arial" charset="0"/>
              <a:buNone/>
            </a:pPr>
            <a:r>
              <a:rPr lang="en-US" sz="1100" b="1" dirty="0" smtClean="0">
                <a:latin typeface="Courier New"/>
                <a:cs typeface="Courier New"/>
              </a:rPr>
              <a:t>Encryption                  : Standard V2.3 (128-bit)</a:t>
            </a:r>
          </a:p>
          <a:p>
            <a:pPr marL="0" indent="0" eaLnBrk="1" hangingPunct="1">
              <a:spcBef>
                <a:spcPts val="0"/>
              </a:spcBef>
              <a:buFont typeface="Arial" charset="0"/>
              <a:buNone/>
            </a:pPr>
            <a:r>
              <a:rPr lang="en-US" sz="1100" b="1" dirty="0" smtClean="0">
                <a:latin typeface="Courier New"/>
                <a:cs typeface="Courier New"/>
              </a:rPr>
              <a:t>User Access                 : Extract</a:t>
            </a:r>
          </a:p>
          <a:p>
            <a:pPr marL="0" indent="0" eaLnBrk="1" hangingPunct="1">
              <a:spcBef>
                <a:spcPts val="0"/>
              </a:spcBef>
              <a:buFont typeface="Arial" charset="0"/>
              <a:buNone/>
            </a:pPr>
            <a:r>
              <a:rPr lang="en-US" sz="1100" b="1" dirty="0" smtClean="0">
                <a:latin typeface="Courier New"/>
                <a:cs typeface="Courier New"/>
              </a:rPr>
              <a:t>Tagged PDF                  : Yes</a:t>
            </a:r>
          </a:p>
          <a:p>
            <a:pPr marL="0" indent="0" eaLnBrk="1" hangingPunct="1">
              <a:spcBef>
                <a:spcPts val="0"/>
              </a:spcBef>
              <a:buFont typeface="Arial" charset="0"/>
              <a:buNone/>
            </a:pPr>
            <a:r>
              <a:rPr lang="en-US" sz="1100" b="1" dirty="0" smtClean="0">
                <a:latin typeface="Courier New"/>
                <a:cs typeface="Courier New"/>
              </a:rPr>
              <a:t>XMP Toolkit                 : 3.1-701</a:t>
            </a:r>
          </a:p>
          <a:p>
            <a:pPr marL="0" indent="0" eaLnBrk="1" hangingPunct="1">
              <a:spcBef>
                <a:spcPts val="0"/>
              </a:spcBef>
              <a:buFont typeface="Arial" charset="0"/>
              <a:buNone/>
            </a:pPr>
            <a:r>
              <a:rPr lang="en-US" sz="1100" b="1" dirty="0" smtClean="0">
                <a:latin typeface="Courier New"/>
                <a:cs typeface="Courier New"/>
              </a:rPr>
              <a:t>Producer                    : Acrobat Distiller 8.1.0 (Windows)</a:t>
            </a:r>
          </a:p>
          <a:p>
            <a:pPr marL="0" indent="0" eaLnBrk="1" hangingPunct="1">
              <a:spcBef>
                <a:spcPts val="0"/>
              </a:spcBef>
              <a:buFont typeface="Arial" charset="0"/>
              <a:buNone/>
            </a:pPr>
            <a:r>
              <a:rPr lang="en-US" sz="1100" b="1" dirty="0" smtClean="0">
                <a:latin typeface="Courier New"/>
                <a:cs typeface="Courier New"/>
              </a:rPr>
              <a:t>Company                     : Dell Computer Corporation</a:t>
            </a:r>
          </a:p>
          <a:p>
            <a:pPr marL="0" indent="0" eaLnBrk="1" hangingPunct="1">
              <a:spcBef>
                <a:spcPts val="0"/>
              </a:spcBef>
              <a:buFont typeface="Arial" charset="0"/>
              <a:buNone/>
            </a:pPr>
            <a:r>
              <a:rPr lang="en-US" sz="1100" b="1" dirty="0" smtClean="0">
                <a:latin typeface="Courier New"/>
                <a:cs typeface="Courier New"/>
              </a:rPr>
              <a:t>Source Modified             : D:20101001111200</a:t>
            </a:r>
          </a:p>
          <a:p>
            <a:pPr marL="0" indent="0" eaLnBrk="1" hangingPunct="1">
              <a:spcBef>
                <a:spcPts val="0"/>
              </a:spcBef>
              <a:buFont typeface="Arial" charset="0"/>
              <a:buNone/>
            </a:pPr>
            <a:r>
              <a:rPr lang="en-US" sz="1100" b="1" dirty="0" smtClean="0">
                <a:latin typeface="Courier New"/>
                <a:cs typeface="Courier New"/>
              </a:rPr>
              <a:t>Creator Tool                :  Word8</a:t>
            </a:r>
            <a:r>
              <a:rPr lang="ja-JP" altLang="en-US" sz="1100" b="1" dirty="0" smtClean="0">
                <a:latin typeface="Courier New"/>
                <a:cs typeface="Courier New"/>
              </a:rPr>
              <a:t>墁 </a:t>
            </a:r>
            <a:r>
              <a:rPr lang="en-US" sz="1100" b="1" dirty="0" smtClean="0">
                <a:latin typeface="Courier New"/>
                <a:cs typeface="Courier New"/>
              </a:rPr>
              <a:t>Acrobat </a:t>
            </a:r>
            <a:r>
              <a:rPr lang="en-US" sz="1100" b="1" dirty="0" err="1" smtClean="0">
                <a:latin typeface="Courier New"/>
                <a:cs typeface="Courier New"/>
              </a:rPr>
              <a:t>PDFMaker</a:t>
            </a:r>
            <a:r>
              <a:rPr lang="en-US" sz="1100" b="1" dirty="0" smtClean="0">
                <a:latin typeface="Courier New"/>
                <a:cs typeface="Courier New"/>
              </a:rPr>
              <a:t> 8.1</a:t>
            </a:r>
          </a:p>
          <a:p>
            <a:pPr marL="0" indent="0" eaLnBrk="1" hangingPunct="1">
              <a:spcBef>
                <a:spcPts val="0"/>
              </a:spcBef>
              <a:buFont typeface="Arial" charset="0"/>
              <a:buNone/>
            </a:pPr>
            <a:r>
              <a:rPr lang="en-US" sz="1100" b="1" dirty="0" smtClean="0">
                <a:latin typeface="Courier New"/>
                <a:cs typeface="Courier New"/>
              </a:rPr>
              <a:t>Modify Date                 : 2010:10:08 09:35:31+09:00</a:t>
            </a:r>
          </a:p>
          <a:p>
            <a:pPr marL="0" indent="0" eaLnBrk="1" hangingPunct="1">
              <a:spcBef>
                <a:spcPts val="0"/>
              </a:spcBef>
              <a:buFont typeface="Arial" charset="0"/>
              <a:buNone/>
            </a:pPr>
            <a:r>
              <a:rPr lang="en-US" sz="1100" b="1" dirty="0" smtClean="0">
                <a:latin typeface="Courier New"/>
                <a:cs typeface="Courier New"/>
              </a:rPr>
              <a:t>Create Date                 : 2010:10:01 20:12:17+09:00</a:t>
            </a:r>
          </a:p>
          <a:p>
            <a:pPr marL="0" indent="0" eaLnBrk="1" hangingPunct="1">
              <a:spcBef>
                <a:spcPts val="0"/>
              </a:spcBef>
              <a:buFont typeface="Arial" charset="0"/>
              <a:buNone/>
            </a:pPr>
            <a:r>
              <a:rPr lang="en-US" sz="1100" b="1" dirty="0" smtClean="0">
                <a:latin typeface="Courier New"/>
                <a:cs typeface="Courier New"/>
              </a:rPr>
              <a:t>Metadata Date               : 2010:10:08 09:35:31+09:00</a:t>
            </a:r>
          </a:p>
          <a:p>
            <a:pPr marL="0" indent="0" eaLnBrk="1" hangingPunct="1">
              <a:spcBef>
                <a:spcPts val="0"/>
              </a:spcBef>
              <a:buFont typeface="Arial" charset="0"/>
              <a:buNone/>
            </a:pPr>
            <a:r>
              <a:rPr lang="en-US" sz="1100" b="1" dirty="0" smtClean="0">
                <a:latin typeface="Courier New"/>
                <a:cs typeface="Courier New"/>
              </a:rPr>
              <a:t>Document ID                 : uuid:c425871d-1bc1-4ccc-8235-ce20615daded</a:t>
            </a:r>
          </a:p>
          <a:p>
            <a:pPr marL="0" indent="0" eaLnBrk="1" hangingPunct="1">
              <a:spcBef>
                <a:spcPts val="0"/>
              </a:spcBef>
              <a:buFont typeface="Arial" charset="0"/>
              <a:buNone/>
            </a:pPr>
            <a:r>
              <a:rPr lang="en-US" sz="1100" b="1" dirty="0" smtClean="0">
                <a:latin typeface="Courier New"/>
                <a:cs typeface="Courier New"/>
              </a:rPr>
              <a:t>Instance ID                 : uuid:2b9f24a5-1e10-40c0-9d92-9a74bae84d32</a:t>
            </a:r>
          </a:p>
          <a:p>
            <a:pPr marL="0" indent="0" eaLnBrk="1" hangingPunct="1">
              <a:spcBef>
                <a:spcPts val="0"/>
              </a:spcBef>
              <a:buFont typeface="Arial" charset="0"/>
              <a:buNone/>
            </a:pPr>
            <a:r>
              <a:rPr lang="en-US" sz="1100" b="1" dirty="0" smtClean="0">
                <a:latin typeface="Courier New"/>
                <a:cs typeface="Courier New"/>
              </a:rPr>
              <a:t>Subject                     : 4</a:t>
            </a:r>
          </a:p>
          <a:p>
            <a:pPr marL="0" indent="0" eaLnBrk="1" hangingPunct="1">
              <a:spcBef>
                <a:spcPts val="0"/>
              </a:spcBef>
              <a:buFont typeface="Arial" charset="0"/>
              <a:buNone/>
            </a:pPr>
            <a:r>
              <a:rPr lang="en-US" sz="1100" b="1" dirty="0" smtClean="0">
                <a:latin typeface="Courier New"/>
                <a:cs typeface="Courier New"/>
              </a:rPr>
              <a:t>Format                      : application/</a:t>
            </a:r>
            <a:r>
              <a:rPr lang="en-US" sz="1100" b="1" dirty="0" err="1" smtClean="0">
                <a:latin typeface="Courier New"/>
                <a:cs typeface="Courier New"/>
              </a:rPr>
              <a:t>pdf</a:t>
            </a:r>
            <a:endParaRPr lang="en-US" sz="1100" b="1" dirty="0" smtClean="0">
              <a:latin typeface="Courier New"/>
              <a:cs typeface="Courier New"/>
            </a:endParaRPr>
          </a:p>
          <a:p>
            <a:pPr marL="0" indent="0" eaLnBrk="1" hangingPunct="1">
              <a:spcBef>
                <a:spcPts val="0"/>
              </a:spcBef>
              <a:buFont typeface="Arial" charset="0"/>
              <a:buNone/>
            </a:pPr>
            <a:r>
              <a:rPr lang="en-US" sz="1100" b="1" dirty="0" smtClean="0">
                <a:latin typeface="Courier New"/>
                <a:cs typeface="Courier New"/>
              </a:rPr>
              <a:t>Creator                     : Arlene Goldberg</a:t>
            </a:r>
          </a:p>
          <a:p>
            <a:pPr marL="0" indent="0" eaLnBrk="1" hangingPunct="1">
              <a:spcBef>
                <a:spcPts val="0"/>
              </a:spcBef>
              <a:buFont typeface="Arial" charset="0"/>
              <a:buNone/>
            </a:pPr>
            <a:r>
              <a:rPr lang="en-US" sz="1100" b="1" dirty="0" smtClean="0">
                <a:latin typeface="Courier New"/>
                <a:cs typeface="Courier New"/>
              </a:rPr>
              <a:t>Title                       : President Clinton Event Request Form</a:t>
            </a:r>
          </a:p>
          <a:p>
            <a:pPr marL="0" indent="0" eaLnBrk="1" hangingPunct="1">
              <a:spcBef>
                <a:spcPts val="0"/>
              </a:spcBef>
              <a:buFont typeface="Arial" charset="0"/>
              <a:buNone/>
            </a:pPr>
            <a:r>
              <a:rPr lang="en-US" sz="1100" b="1" dirty="0" smtClean="0">
                <a:latin typeface="Courier New"/>
                <a:cs typeface="Courier New"/>
              </a:rPr>
              <a:t>Page Count                  : 5</a:t>
            </a:r>
          </a:p>
          <a:p>
            <a:pPr marL="0" indent="0" eaLnBrk="1" hangingPunct="1">
              <a:spcBef>
                <a:spcPts val="0"/>
              </a:spcBef>
              <a:buFont typeface="Arial" charset="0"/>
              <a:buNone/>
            </a:pPr>
            <a:r>
              <a:rPr lang="en-US" sz="1100" b="1" dirty="0" smtClean="0">
                <a:latin typeface="Courier New"/>
                <a:cs typeface="Courier New"/>
              </a:rPr>
              <a:t>Page Layout                 : </a:t>
            </a:r>
            <a:r>
              <a:rPr lang="en-US" sz="1100" b="1" dirty="0" err="1" smtClean="0">
                <a:latin typeface="Courier New"/>
                <a:cs typeface="Courier New"/>
              </a:rPr>
              <a:t>OneColumn</a:t>
            </a:r>
            <a:endParaRPr lang="en-US" sz="1100" b="1" dirty="0" smtClean="0">
              <a:latin typeface="Courier New"/>
              <a:cs typeface="Courier New"/>
            </a:endParaRPr>
          </a:p>
          <a:p>
            <a:pPr marL="0" indent="0" eaLnBrk="1" hangingPunct="1">
              <a:spcBef>
                <a:spcPts val="0"/>
              </a:spcBef>
              <a:buFont typeface="Arial" charset="0"/>
              <a:buNone/>
            </a:pPr>
            <a:r>
              <a:rPr lang="en-US" sz="1100" b="1" dirty="0" smtClean="0">
                <a:latin typeface="Courier New"/>
                <a:cs typeface="Courier New"/>
              </a:rPr>
              <a:t>Author                      : Arlene Goldberg</a:t>
            </a:r>
          </a:p>
        </p:txBody>
      </p:sp>
      <p:grpSp>
        <p:nvGrpSpPr>
          <p:cNvPr id="29" name="Group 5"/>
          <p:cNvGrpSpPr>
            <a:grpSpLocks/>
          </p:cNvGrpSpPr>
          <p:nvPr/>
        </p:nvGrpSpPr>
        <p:grpSpPr bwMode="auto">
          <a:xfrm>
            <a:off x="304800" y="1371600"/>
            <a:ext cx="2362200" cy="4648200"/>
            <a:chOff x="304800" y="1524000"/>
            <a:chExt cx="2362200" cy="4648200"/>
          </a:xfrm>
        </p:grpSpPr>
        <p:sp>
          <p:nvSpPr>
            <p:cNvPr id="30" name="Right Arrow 29"/>
            <p:cNvSpPr/>
            <p:nvPr/>
          </p:nvSpPr>
          <p:spPr>
            <a:xfrm rot="5400000">
              <a:off x="-862012" y="3262312"/>
              <a:ext cx="4648200" cy="1171575"/>
            </a:xfrm>
            <a:prstGeom prst="rightArrow">
              <a:avLst/>
            </a:prstGeom>
            <a:solidFill>
              <a:srgbClr val="BFBFBF"/>
            </a:solidFill>
            <a:ln w="25400" cap="flat" cmpd="sng" algn="ctr">
              <a:solidFill>
                <a:srgbClr val="BFBFBF">
                  <a:shade val="50000"/>
                </a:srgbClr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304800" y="1638298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176196">
                    <a:shade val="51000"/>
                    <a:satMod val="130000"/>
                  </a:srgbClr>
                </a:gs>
                <a:gs pos="80000">
                  <a:srgbClr val="176196">
                    <a:shade val="93000"/>
                    <a:satMod val="130000"/>
                  </a:srgbClr>
                </a:gs>
                <a:gs pos="100000">
                  <a:srgbClr val="176196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Reconnaissance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304800" y="2181223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CADEEE">
                    <a:shade val="51000"/>
                    <a:satMod val="130000"/>
                  </a:srgbClr>
                </a:gs>
                <a:gs pos="80000">
                  <a:srgbClr val="CADEEE">
                    <a:shade val="93000"/>
                    <a:satMod val="130000"/>
                  </a:srgbClr>
                </a:gs>
                <a:gs pos="100000">
                  <a:srgbClr val="CADEEE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Weaponization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304800" y="2743200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CADEEE">
                    <a:shade val="51000"/>
                    <a:satMod val="130000"/>
                  </a:srgbClr>
                </a:gs>
                <a:gs pos="80000">
                  <a:srgbClr val="CADEEE">
                    <a:shade val="93000"/>
                    <a:satMod val="130000"/>
                  </a:srgbClr>
                </a:gs>
                <a:gs pos="100000">
                  <a:srgbClr val="CADEEE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Delivery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304800" y="3314698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CADEEE">
                    <a:shade val="51000"/>
                    <a:satMod val="130000"/>
                  </a:srgbClr>
                </a:gs>
                <a:gs pos="80000">
                  <a:srgbClr val="CADEEE">
                    <a:shade val="93000"/>
                    <a:satMod val="130000"/>
                  </a:srgbClr>
                </a:gs>
                <a:gs pos="100000">
                  <a:srgbClr val="CADEEE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Exploitation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304800" y="3886200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CADEEE">
                    <a:shade val="51000"/>
                    <a:satMod val="130000"/>
                  </a:srgbClr>
                </a:gs>
                <a:gs pos="80000">
                  <a:srgbClr val="CADEEE">
                    <a:shade val="93000"/>
                    <a:satMod val="130000"/>
                  </a:srgbClr>
                </a:gs>
                <a:gs pos="100000">
                  <a:srgbClr val="CADEEE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Installation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304800" y="4495800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CADEEE">
                    <a:shade val="51000"/>
                    <a:satMod val="130000"/>
                  </a:srgbClr>
                </a:gs>
                <a:gs pos="80000">
                  <a:srgbClr val="CADEEE">
                    <a:shade val="93000"/>
                    <a:satMod val="130000"/>
                  </a:srgbClr>
                </a:gs>
                <a:gs pos="100000">
                  <a:srgbClr val="CADEEE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Command &amp; Control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304800" y="5105400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CADEEE">
                    <a:shade val="51000"/>
                    <a:satMod val="130000"/>
                  </a:srgbClr>
                </a:gs>
                <a:gs pos="80000">
                  <a:srgbClr val="CADEEE">
                    <a:shade val="93000"/>
                    <a:satMod val="130000"/>
                  </a:srgbClr>
                </a:gs>
                <a:gs pos="100000">
                  <a:srgbClr val="CADEEE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Actions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8" name="Rectangle 37"/>
          <p:cNvSpPr/>
          <p:nvPr/>
        </p:nvSpPr>
        <p:spPr>
          <a:xfrm>
            <a:off x="2743200" y="4841789"/>
            <a:ext cx="5562600" cy="177502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682875" y="5494987"/>
            <a:ext cx="5562600" cy="171750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22276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Weaponization</a:t>
            </a:r>
            <a:r>
              <a:rPr lang="en-US" dirty="0" smtClean="0"/>
              <a:t> – Hex view of .DOC file</a:t>
            </a:r>
            <a:endParaRPr lang="en-US" dirty="0"/>
          </a:p>
        </p:txBody>
      </p:sp>
      <p:grpSp>
        <p:nvGrpSpPr>
          <p:cNvPr id="15" name="Group 5"/>
          <p:cNvGrpSpPr>
            <a:grpSpLocks/>
          </p:cNvGrpSpPr>
          <p:nvPr/>
        </p:nvGrpSpPr>
        <p:grpSpPr bwMode="auto">
          <a:xfrm>
            <a:off x="304800" y="1371600"/>
            <a:ext cx="2362200" cy="4648200"/>
            <a:chOff x="304800" y="1524000"/>
            <a:chExt cx="2362200" cy="4648200"/>
          </a:xfrm>
        </p:grpSpPr>
        <p:sp>
          <p:nvSpPr>
            <p:cNvPr id="16" name="Right Arrow 15"/>
            <p:cNvSpPr/>
            <p:nvPr/>
          </p:nvSpPr>
          <p:spPr>
            <a:xfrm rot="5400000">
              <a:off x="-862012" y="3262312"/>
              <a:ext cx="4648200" cy="1171575"/>
            </a:xfrm>
            <a:prstGeom prst="rightArrow">
              <a:avLst/>
            </a:prstGeom>
            <a:solidFill>
              <a:srgbClr val="BFBFBF"/>
            </a:solidFill>
            <a:ln w="25400" cap="flat" cmpd="sng" algn="ctr">
              <a:solidFill>
                <a:srgbClr val="BFBFBF">
                  <a:shade val="50000"/>
                </a:srgbClr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304800" y="1638298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CADEEE">
                    <a:shade val="51000"/>
                    <a:satMod val="130000"/>
                  </a:srgbClr>
                </a:gs>
                <a:gs pos="80000">
                  <a:srgbClr val="CADEEE">
                    <a:shade val="93000"/>
                    <a:satMod val="130000"/>
                  </a:srgbClr>
                </a:gs>
                <a:gs pos="100000">
                  <a:srgbClr val="CADEEE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Reconnaissance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04800" y="2181223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176196">
                    <a:shade val="51000"/>
                    <a:satMod val="130000"/>
                  </a:srgbClr>
                </a:gs>
                <a:gs pos="80000">
                  <a:srgbClr val="176196">
                    <a:shade val="93000"/>
                    <a:satMod val="130000"/>
                  </a:srgbClr>
                </a:gs>
                <a:gs pos="100000">
                  <a:srgbClr val="176196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Weaponization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304800" y="2743200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CADEEE">
                    <a:shade val="51000"/>
                    <a:satMod val="130000"/>
                  </a:srgbClr>
                </a:gs>
                <a:gs pos="80000">
                  <a:srgbClr val="CADEEE">
                    <a:shade val="93000"/>
                    <a:satMod val="130000"/>
                  </a:srgbClr>
                </a:gs>
                <a:gs pos="100000">
                  <a:srgbClr val="CADEEE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Delivery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304800" y="3314698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CADEEE">
                    <a:shade val="51000"/>
                    <a:satMod val="130000"/>
                  </a:srgbClr>
                </a:gs>
                <a:gs pos="80000">
                  <a:srgbClr val="CADEEE">
                    <a:shade val="93000"/>
                    <a:satMod val="130000"/>
                  </a:srgbClr>
                </a:gs>
                <a:gs pos="100000">
                  <a:srgbClr val="CADEEE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Exploitation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304800" y="3886200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CADEEE">
                    <a:shade val="51000"/>
                    <a:satMod val="130000"/>
                  </a:srgbClr>
                </a:gs>
                <a:gs pos="80000">
                  <a:srgbClr val="CADEEE">
                    <a:shade val="93000"/>
                    <a:satMod val="130000"/>
                  </a:srgbClr>
                </a:gs>
                <a:gs pos="100000">
                  <a:srgbClr val="CADEEE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Installation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304800" y="4495800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CADEEE">
                    <a:shade val="51000"/>
                    <a:satMod val="130000"/>
                  </a:srgbClr>
                </a:gs>
                <a:gs pos="80000">
                  <a:srgbClr val="CADEEE">
                    <a:shade val="93000"/>
                    <a:satMod val="130000"/>
                  </a:srgbClr>
                </a:gs>
                <a:gs pos="100000">
                  <a:srgbClr val="CADEEE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Command &amp; Control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304800" y="5105400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CADEEE">
                    <a:shade val="51000"/>
                    <a:satMod val="130000"/>
                  </a:srgbClr>
                </a:gs>
                <a:gs pos="80000">
                  <a:srgbClr val="CADEEE">
                    <a:shade val="93000"/>
                    <a:satMod val="130000"/>
                  </a:srgbClr>
                </a:gs>
                <a:gs pos="100000">
                  <a:srgbClr val="CADEEE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Actions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4" name="Content Placeholder 2"/>
          <p:cNvSpPr>
            <a:spLocks noGrp="1"/>
          </p:cNvSpPr>
          <p:nvPr>
            <p:ph idx="1"/>
          </p:nvPr>
        </p:nvSpPr>
        <p:spPr>
          <a:xfrm>
            <a:off x="2819400" y="1447800"/>
            <a:ext cx="6248400" cy="4114800"/>
          </a:xfrm>
        </p:spPr>
        <p:txBody>
          <a:bodyPr/>
          <a:lstStyle/>
          <a:p>
            <a:pPr marL="0" indent="0" eaLnBrk="1" hangingPunct="1">
              <a:spcBef>
                <a:spcPts val="20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sz="1070" b="1" dirty="0">
                <a:latin typeface="Courier New" pitchFamily="49" charset="0"/>
                <a:cs typeface="Courier New" pitchFamily="49" charset="0"/>
              </a:rPr>
              <a:t>Offset </a:t>
            </a:r>
            <a:r>
              <a:rPr lang="en-US" sz="107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070" b="1" dirty="0">
                <a:latin typeface="Courier New" pitchFamily="49" charset="0"/>
                <a:cs typeface="Courier New" pitchFamily="49" charset="0"/>
              </a:rPr>
              <a:t>0  1  2  3  4  5  6  7   8  9  A  B  C  D  E  F</a:t>
            </a:r>
          </a:p>
          <a:p>
            <a:pPr marL="0" indent="0" eaLnBrk="1" hangingPunct="1">
              <a:spcBef>
                <a:spcPts val="200"/>
              </a:spcBef>
              <a:spcAft>
                <a:spcPts val="0"/>
              </a:spcAft>
              <a:buFont typeface="Arial" charset="0"/>
              <a:buNone/>
              <a:defRPr/>
            </a:pPr>
            <a:endParaRPr lang="en-US" sz="1070" b="1" dirty="0">
              <a:latin typeface="Courier New" pitchFamily="49" charset="0"/>
              <a:cs typeface="Courier New" pitchFamily="49" charset="0"/>
            </a:endParaRPr>
          </a:p>
          <a:p>
            <a:pPr marL="0" indent="0" eaLnBrk="1" hangingPunct="1">
              <a:spcBef>
                <a:spcPts val="20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sz="1070" b="1" dirty="0" smtClean="0">
                <a:latin typeface="Courier New" pitchFamily="49" charset="0"/>
                <a:cs typeface="Courier New" pitchFamily="49" charset="0"/>
              </a:rPr>
              <a:t>0000   </a:t>
            </a:r>
            <a:r>
              <a:rPr lang="en-US" sz="1070" b="1" dirty="0">
                <a:latin typeface="Courier New" pitchFamily="49" charset="0"/>
                <a:cs typeface="Courier New" pitchFamily="49" charset="0"/>
              </a:rPr>
              <a:t>7B 5C 72 74 66 31 7B 5C  73 68 70 7B 5C 2A 5C 73   {\rtf1{\</a:t>
            </a:r>
            <a:r>
              <a:rPr lang="en-US" sz="1070" b="1" dirty="0" err="1">
                <a:latin typeface="Courier New" pitchFamily="49" charset="0"/>
                <a:cs typeface="Courier New" pitchFamily="49" charset="0"/>
              </a:rPr>
              <a:t>shp</a:t>
            </a:r>
            <a:r>
              <a:rPr lang="en-US" sz="1070" b="1" dirty="0">
                <a:latin typeface="Courier New" pitchFamily="49" charset="0"/>
                <a:cs typeface="Courier New" pitchFamily="49" charset="0"/>
              </a:rPr>
              <a:t>{\*\s</a:t>
            </a:r>
          </a:p>
          <a:p>
            <a:pPr marL="0" indent="0" eaLnBrk="1" hangingPunct="1">
              <a:spcBef>
                <a:spcPts val="20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sz="1070" b="1" dirty="0" smtClean="0">
                <a:latin typeface="Courier New" pitchFamily="49" charset="0"/>
                <a:cs typeface="Courier New" pitchFamily="49" charset="0"/>
              </a:rPr>
              <a:t>0010   </a:t>
            </a:r>
            <a:r>
              <a:rPr lang="en-US" sz="1070" b="1" dirty="0">
                <a:latin typeface="Courier New" pitchFamily="49" charset="0"/>
                <a:cs typeface="Courier New" pitchFamily="49" charset="0"/>
              </a:rPr>
              <a:t>68 70 69 6E 73 74 7B 5C  73 70 7B 5C 73 6E 20 70   </a:t>
            </a:r>
            <a:r>
              <a:rPr lang="en-US" sz="1070" b="1" dirty="0" err="1">
                <a:latin typeface="Courier New" pitchFamily="49" charset="0"/>
                <a:cs typeface="Courier New" pitchFamily="49" charset="0"/>
              </a:rPr>
              <a:t>hpinst</a:t>
            </a:r>
            <a:r>
              <a:rPr lang="en-US" sz="1070" b="1" dirty="0">
                <a:latin typeface="Courier New" pitchFamily="49" charset="0"/>
                <a:cs typeface="Courier New" pitchFamily="49" charset="0"/>
              </a:rPr>
              <a:t>{\</a:t>
            </a:r>
            <a:r>
              <a:rPr lang="en-US" sz="1070" b="1" dirty="0" err="1">
                <a:latin typeface="Courier New" pitchFamily="49" charset="0"/>
                <a:cs typeface="Courier New" pitchFamily="49" charset="0"/>
              </a:rPr>
              <a:t>sp</a:t>
            </a:r>
            <a:r>
              <a:rPr lang="en-US" sz="1070" b="1" dirty="0">
                <a:latin typeface="Courier New" pitchFamily="49" charset="0"/>
                <a:cs typeface="Courier New" pitchFamily="49" charset="0"/>
              </a:rPr>
              <a:t>{\</a:t>
            </a:r>
            <a:r>
              <a:rPr lang="en-US" sz="1070" b="1" dirty="0" err="1">
                <a:latin typeface="Courier New" pitchFamily="49" charset="0"/>
                <a:cs typeface="Courier New" pitchFamily="49" charset="0"/>
              </a:rPr>
              <a:t>sn</a:t>
            </a:r>
            <a:r>
              <a:rPr lang="en-US" sz="1070" b="1" dirty="0">
                <a:latin typeface="Courier New" pitchFamily="49" charset="0"/>
                <a:cs typeface="Courier New" pitchFamily="49" charset="0"/>
              </a:rPr>
              <a:t> p</a:t>
            </a:r>
          </a:p>
          <a:p>
            <a:pPr marL="0" indent="0" eaLnBrk="1" hangingPunct="1">
              <a:spcBef>
                <a:spcPts val="20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sz="1070" b="1" dirty="0" smtClean="0">
                <a:latin typeface="Courier New" pitchFamily="49" charset="0"/>
                <a:cs typeface="Courier New" pitchFamily="49" charset="0"/>
              </a:rPr>
              <a:t>0020   46 </a:t>
            </a:r>
            <a:r>
              <a:rPr lang="en-US" sz="1070" b="1" dirty="0">
                <a:latin typeface="Courier New" pitchFamily="49" charset="0"/>
                <a:cs typeface="Courier New" pitchFamily="49" charset="0"/>
              </a:rPr>
              <a:t>72 61 67 6D 65 6E 74  73 7D 7B 5C 73 76 20 31   Fragments}{\</a:t>
            </a:r>
            <a:r>
              <a:rPr lang="en-US" sz="1070" b="1" dirty="0" err="1">
                <a:latin typeface="Courier New" pitchFamily="49" charset="0"/>
                <a:cs typeface="Courier New" pitchFamily="49" charset="0"/>
              </a:rPr>
              <a:t>sv</a:t>
            </a:r>
            <a:r>
              <a:rPr lang="en-US" sz="107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070" b="1" dirty="0" smtClean="0">
                <a:latin typeface="Courier New" pitchFamily="49" charset="0"/>
                <a:cs typeface="Courier New" pitchFamily="49" charset="0"/>
              </a:rPr>
              <a:t>1</a:t>
            </a:r>
          </a:p>
          <a:p>
            <a:pPr marL="0" indent="0" eaLnBrk="1" hangingPunct="1">
              <a:spcBef>
                <a:spcPts val="200"/>
              </a:spcBef>
              <a:spcAft>
                <a:spcPts val="0"/>
              </a:spcAft>
              <a:buFont typeface="Arial" charset="0"/>
              <a:buNone/>
              <a:defRPr/>
            </a:pPr>
            <a:endParaRPr lang="en-US" sz="1070" b="1" dirty="0">
              <a:latin typeface="Courier New" pitchFamily="49" charset="0"/>
              <a:cs typeface="Courier New" pitchFamily="49" charset="0"/>
            </a:endParaRPr>
          </a:p>
          <a:p>
            <a:pPr marL="0" indent="0" eaLnBrk="1" hangingPunct="1">
              <a:spcBef>
                <a:spcPts val="20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sz="1070" b="1" dirty="0" smtClean="0">
                <a:latin typeface="Courier New" pitchFamily="49" charset="0"/>
                <a:cs typeface="Courier New" pitchFamily="49" charset="0"/>
              </a:rPr>
              <a:t>4130   </a:t>
            </a:r>
            <a:r>
              <a:rPr lang="en-US" sz="1070" b="1" dirty="0">
                <a:latin typeface="Courier New" pitchFamily="49" charset="0"/>
                <a:cs typeface="Courier New" pitchFamily="49" charset="0"/>
              </a:rPr>
              <a:t>33 63 35 35 65 35 66 35  64 63 32 30 38 30 30 65   3c55e5f5dc20800e</a:t>
            </a:r>
          </a:p>
          <a:p>
            <a:pPr marL="0" indent="0" eaLnBrk="1" hangingPunct="1">
              <a:spcBef>
                <a:spcPts val="20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sz="1070" b="1" dirty="0" smtClean="0">
                <a:latin typeface="Courier New" pitchFamily="49" charset="0"/>
                <a:cs typeface="Courier New" pitchFamily="49" charset="0"/>
              </a:rPr>
              <a:t>4140   </a:t>
            </a:r>
            <a:r>
              <a:rPr lang="en-US" sz="1070" b="1" dirty="0">
                <a:latin typeface="Courier New" pitchFamily="49" charset="0"/>
                <a:cs typeface="Courier New" pitchFamily="49" charset="0"/>
              </a:rPr>
              <a:t>38 63 37 66 64 66 66 66  66 36 33 33 61 35 63 36   8c7fdffff633a5c6</a:t>
            </a:r>
          </a:p>
          <a:p>
            <a:pPr marL="0" indent="0" eaLnBrk="1" hangingPunct="1">
              <a:spcBef>
                <a:spcPts val="20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sz="1070" b="1" dirty="0" smtClean="0">
                <a:latin typeface="Courier New" pitchFamily="49" charset="0"/>
                <a:cs typeface="Courier New" pitchFamily="49" charset="0"/>
              </a:rPr>
              <a:t>4150   </a:t>
            </a:r>
            <a:r>
              <a:rPr lang="en-US" sz="1070" b="1" dirty="0">
                <a:latin typeface="Courier New" pitchFamily="49" charset="0"/>
                <a:cs typeface="Courier New" pitchFamily="49" charset="0"/>
              </a:rPr>
              <a:t>34 36 66 36 33 37 35 36  64 36 35 37 65 33 31 35   46f63756d657e315</a:t>
            </a:r>
          </a:p>
          <a:p>
            <a:pPr marL="0" indent="0" eaLnBrk="1" hangingPunct="1">
              <a:spcBef>
                <a:spcPts val="20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sz="1070" b="1" dirty="0" smtClean="0">
                <a:latin typeface="Courier New" pitchFamily="49" charset="0"/>
                <a:cs typeface="Courier New" pitchFamily="49" charset="0"/>
              </a:rPr>
              <a:t>4160   </a:t>
            </a:r>
            <a:r>
              <a:rPr lang="en-US" sz="1070" b="1" dirty="0">
                <a:latin typeface="Courier New" pitchFamily="49" charset="0"/>
                <a:cs typeface="Courier New" pitchFamily="49" charset="0"/>
              </a:rPr>
              <a:t>63 36 31 36 63 36 63 37  35 37 33 36 35 37 65 33   c616c6c7573657e3</a:t>
            </a:r>
          </a:p>
          <a:p>
            <a:pPr marL="0" indent="0" eaLnBrk="1" hangingPunct="1">
              <a:spcBef>
                <a:spcPts val="20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sz="1070" b="1" dirty="0" smtClean="0">
                <a:latin typeface="Courier New" pitchFamily="49" charset="0"/>
                <a:cs typeface="Courier New" pitchFamily="49" charset="0"/>
              </a:rPr>
              <a:t>4170   </a:t>
            </a:r>
            <a:r>
              <a:rPr lang="en-US" sz="1070" b="1" dirty="0">
                <a:latin typeface="Courier New" pitchFamily="49" charset="0"/>
                <a:cs typeface="Courier New" pitchFamily="49" charset="0"/>
              </a:rPr>
              <a:t>31 35 63 36 31 37 30 37  30 36 63 36 39 36 33 37   15c6170706c69637</a:t>
            </a:r>
          </a:p>
          <a:p>
            <a:pPr marL="0" indent="0" eaLnBrk="1" hangingPunct="1">
              <a:spcBef>
                <a:spcPts val="20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sz="1070" b="1" dirty="0" smtClean="0">
                <a:latin typeface="Courier New" pitchFamily="49" charset="0"/>
                <a:cs typeface="Courier New" pitchFamily="49" charset="0"/>
              </a:rPr>
              <a:t>4180   </a:t>
            </a:r>
            <a:r>
              <a:rPr lang="en-US" sz="1070" b="1" dirty="0">
                <a:latin typeface="Courier New" pitchFamily="49" charset="0"/>
                <a:cs typeface="Courier New" pitchFamily="49" charset="0"/>
              </a:rPr>
              <a:t>65 33 31 35 63 36 39 36  66 37 33 37 39 37 33 30   e315c696f7379730</a:t>
            </a:r>
          </a:p>
          <a:p>
            <a:pPr marL="0" indent="0" eaLnBrk="1" hangingPunct="1">
              <a:spcBef>
                <a:spcPts val="20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sz="1070" b="1" dirty="0" smtClean="0">
                <a:latin typeface="Courier New" pitchFamily="49" charset="0"/>
                <a:cs typeface="Courier New" pitchFamily="49" charset="0"/>
              </a:rPr>
              <a:t>4190   </a:t>
            </a:r>
            <a:r>
              <a:rPr lang="en-US" sz="1070" b="1" dirty="0">
                <a:latin typeface="Courier New" pitchFamily="49" charset="0"/>
                <a:cs typeface="Courier New" pitchFamily="49" charset="0"/>
              </a:rPr>
              <a:t>30 7D </a:t>
            </a:r>
            <a:r>
              <a:rPr lang="en-US" sz="1070" b="1" dirty="0" err="1">
                <a:latin typeface="Courier New" pitchFamily="49" charset="0"/>
                <a:cs typeface="Courier New" pitchFamily="49" charset="0"/>
              </a:rPr>
              <a:t>7D</a:t>
            </a:r>
            <a:r>
              <a:rPr lang="en-US" sz="107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070" b="1" dirty="0" err="1">
                <a:latin typeface="Courier New" pitchFamily="49" charset="0"/>
                <a:cs typeface="Courier New" pitchFamily="49" charset="0"/>
              </a:rPr>
              <a:t>7D</a:t>
            </a:r>
            <a:r>
              <a:rPr lang="en-US" sz="107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070" b="1" dirty="0" err="1">
                <a:latin typeface="Courier New" pitchFamily="49" charset="0"/>
                <a:cs typeface="Courier New" pitchFamily="49" charset="0"/>
              </a:rPr>
              <a:t>7D</a:t>
            </a:r>
            <a:r>
              <a:rPr lang="en-US" sz="1070" b="1" dirty="0">
                <a:latin typeface="Courier New" pitchFamily="49" charset="0"/>
                <a:cs typeface="Courier New" pitchFamily="49" charset="0"/>
              </a:rPr>
              <a:t> 5C 61 64  65 66 6C 61 6E 67 31 30   0}}}}\adeflang10</a:t>
            </a:r>
          </a:p>
          <a:p>
            <a:pPr marL="0" indent="0" eaLnBrk="1" hangingPunct="1">
              <a:spcBef>
                <a:spcPts val="20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sz="1070" b="1" dirty="0" smtClean="0">
                <a:latin typeface="Courier New" pitchFamily="49" charset="0"/>
                <a:cs typeface="Courier New" pitchFamily="49" charset="0"/>
              </a:rPr>
              <a:t>41A0   </a:t>
            </a:r>
            <a:r>
              <a:rPr lang="en-US" sz="1070" b="1" dirty="0">
                <a:latin typeface="Courier New" pitchFamily="49" charset="0"/>
                <a:cs typeface="Courier New" pitchFamily="49" charset="0"/>
              </a:rPr>
              <a:t>32 35 58 58 58 58 59 59  59 59 7A 78 77 76 71 74   </a:t>
            </a:r>
            <a:r>
              <a:rPr lang="en-US" sz="1070" b="1" dirty="0" smtClean="0">
                <a:latin typeface="Courier New" pitchFamily="49" charset="0"/>
                <a:cs typeface="Courier New" pitchFamily="49" charset="0"/>
              </a:rPr>
              <a:t>25XXXXYYYYzxwvqt</a:t>
            </a:r>
          </a:p>
          <a:p>
            <a:pPr marL="0" indent="0" eaLnBrk="1" hangingPunct="1">
              <a:spcBef>
                <a:spcPts val="200"/>
              </a:spcBef>
              <a:spcAft>
                <a:spcPts val="0"/>
              </a:spcAft>
              <a:buFont typeface="Arial" charset="0"/>
              <a:buNone/>
              <a:defRPr/>
            </a:pPr>
            <a:endParaRPr lang="en-US" sz="1070" b="1" dirty="0">
              <a:latin typeface="Courier New" pitchFamily="49" charset="0"/>
              <a:cs typeface="Courier New" pitchFamily="49" charset="0"/>
            </a:endParaRPr>
          </a:p>
          <a:p>
            <a:pPr marL="0" indent="0" eaLnBrk="1" hangingPunct="1">
              <a:spcBef>
                <a:spcPts val="20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sz="1070" b="1" dirty="0" smtClean="0">
                <a:latin typeface="Courier New" pitchFamily="49" charset="0"/>
                <a:cs typeface="Courier New" pitchFamily="49" charset="0"/>
              </a:rPr>
              <a:t>4620   </a:t>
            </a:r>
            <a:r>
              <a:rPr lang="en-US" sz="1070" b="1" dirty="0">
                <a:latin typeface="Courier New" pitchFamily="49" charset="0"/>
                <a:cs typeface="Courier New" pitchFamily="49" charset="0"/>
              </a:rPr>
              <a:t>03 02 01 00 FF FE FD FC  FB FA F9 F8 F7 F6 F5 F4   ....</a:t>
            </a:r>
            <a:r>
              <a:rPr lang="en-US" sz="1070" b="1" dirty="0" err="1">
                <a:latin typeface="Courier New" pitchFamily="49" charset="0"/>
                <a:cs typeface="Courier New" pitchFamily="49" charset="0"/>
              </a:rPr>
              <a:t>ÿþýüûúùø÷öõô</a:t>
            </a:r>
            <a:endParaRPr lang="en-US" sz="1070" b="1" dirty="0">
              <a:latin typeface="Courier New" pitchFamily="49" charset="0"/>
              <a:cs typeface="Courier New" pitchFamily="49" charset="0"/>
            </a:endParaRPr>
          </a:p>
          <a:p>
            <a:pPr marL="0" indent="0" eaLnBrk="1" hangingPunct="1">
              <a:spcBef>
                <a:spcPts val="20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sz="1070" b="1" dirty="0" smtClean="0">
                <a:latin typeface="Courier New" pitchFamily="49" charset="0"/>
                <a:cs typeface="Courier New" pitchFamily="49" charset="0"/>
              </a:rPr>
              <a:t>4630   </a:t>
            </a:r>
            <a:r>
              <a:rPr lang="en-US" sz="1070" b="1" dirty="0">
                <a:latin typeface="Courier New" pitchFamily="49" charset="0"/>
                <a:cs typeface="Courier New" pitchFamily="49" charset="0"/>
              </a:rPr>
              <a:t>F3 F2 F1 F0 EF EE ED EC  EB EA E9 E8 E7 E6 E5 E4   </a:t>
            </a:r>
            <a:r>
              <a:rPr lang="en-US" sz="1070" b="1" dirty="0" err="1">
                <a:latin typeface="Courier New" pitchFamily="49" charset="0"/>
                <a:cs typeface="Courier New" pitchFamily="49" charset="0"/>
              </a:rPr>
              <a:t>óòñðïîíìëêéèçæåä</a:t>
            </a:r>
            <a:endParaRPr lang="en-US" sz="1070" b="1" dirty="0">
              <a:latin typeface="Courier New" pitchFamily="49" charset="0"/>
              <a:cs typeface="Courier New" pitchFamily="49" charset="0"/>
            </a:endParaRPr>
          </a:p>
          <a:p>
            <a:pPr marL="0" indent="0" eaLnBrk="1" hangingPunct="1">
              <a:spcBef>
                <a:spcPts val="20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sz="1070" b="1" dirty="0" smtClean="0">
                <a:latin typeface="Courier New" pitchFamily="49" charset="0"/>
                <a:cs typeface="Courier New" pitchFamily="49" charset="0"/>
              </a:rPr>
              <a:t>4640   </a:t>
            </a:r>
            <a:r>
              <a:rPr lang="en-US" sz="1070" b="1" dirty="0">
                <a:latin typeface="Courier New" pitchFamily="49" charset="0"/>
                <a:cs typeface="Courier New" pitchFamily="49" charset="0"/>
              </a:rPr>
              <a:t>E3 E2 E1 E0 DF DE DD DC  DB DA D9 D8 D7 D6 D5 D4   </a:t>
            </a:r>
            <a:r>
              <a:rPr lang="en-US" sz="1070" b="1" dirty="0" err="1">
                <a:latin typeface="Courier New" pitchFamily="49" charset="0"/>
                <a:cs typeface="Courier New" pitchFamily="49" charset="0"/>
              </a:rPr>
              <a:t>ãâáàßÞÝÜÛÚÙØ×ÖÕÔ</a:t>
            </a:r>
            <a:endParaRPr lang="en-US" sz="1070" b="1" dirty="0">
              <a:latin typeface="Courier New" pitchFamily="49" charset="0"/>
              <a:cs typeface="Courier New" pitchFamily="49" charset="0"/>
            </a:endParaRPr>
          </a:p>
          <a:p>
            <a:pPr marL="0" indent="0" eaLnBrk="1" hangingPunct="1">
              <a:spcBef>
                <a:spcPts val="20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sz="1070" b="1" dirty="0" smtClean="0">
                <a:latin typeface="Courier New" pitchFamily="49" charset="0"/>
                <a:cs typeface="Courier New" pitchFamily="49" charset="0"/>
              </a:rPr>
              <a:t>4650   </a:t>
            </a:r>
            <a:r>
              <a:rPr lang="en-US" sz="1070" b="1" dirty="0">
                <a:latin typeface="Courier New" pitchFamily="49" charset="0"/>
                <a:cs typeface="Courier New" pitchFamily="49" charset="0"/>
              </a:rPr>
              <a:t>D3 D2 D1 D0 CF CE CD CC  CB CA C9 C8 C7 C6 C5 C4   ÓÒÑÐÏÎÍÌËÊÉÈÇÆÅÄ</a:t>
            </a:r>
          </a:p>
          <a:p>
            <a:pPr marL="0" indent="0" eaLnBrk="1" hangingPunct="1">
              <a:spcBef>
                <a:spcPts val="20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sz="1070" b="1" dirty="0" smtClean="0">
                <a:latin typeface="Courier New" pitchFamily="49" charset="0"/>
                <a:cs typeface="Courier New" pitchFamily="49" charset="0"/>
              </a:rPr>
              <a:t>4660   </a:t>
            </a:r>
            <a:r>
              <a:rPr lang="en-US" sz="1070" b="1" dirty="0">
                <a:latin typeface="Courier New" pitchFamily="49" charset="0"/>
                <a:cs typeface="Courier New" pitchFamily="49" charset="0"/>
              </a:rPr>
              <a:t>C3 C2 C1 C0 BF BE BD BC  BB BA B9 B8 B7 B6 B5 B4   ÃÂÁÀ¿¾½¼»º¹¸·¶µ´</a:t>
            </a:r>
          </a:p>
          <a:p>
            <a:pPr marL="0" indent="0" eaLnBrk="1" hangingPunct="1">
              <a:spcBef>
                <a:spcPts val="20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sz="1070" b="1" dirty="0" smtClean="0">
                <a:latin typeface="Courier New" pitchFamily="49" charset="0"/>
                <a:cs typeface="Courier New" pitchFamily="49" charset="0"/>
              </a:rPr>
              <a:t>4670   </a:t>
            </a:r>
            <a:r>
              <a:rPr lang="en-US" sz="1070" b="1" dirty="0">
                <a:latin typeface="Courier New" pitchFamily="49" charset="0"/>
                <a:cs typeface="Courier New" pitchFamily="49" charset="0"/>
              </a:rPr>
              <a:t>B3 B2 B1 B0 AF AE AD AC  AB AA A9 A8 A7 A6 A5 A4   ³²±°¯®­¬«ª©¨§¦¥¤</a:t>
            </a:r>
          </a:p>
        </p:txBody>
      </p:sp>
      <p:cxnSp>
        <p:nvCxnSpPr>
          <p:cNvPr id="25" name="Straight Connector 24"/>
          <p:cNvCxnSpPr/>
          <p:nvPr/>
        </p:nvCxnSpPr>
        <p:spPr>
          <a:xfrm>
            <a:off x="7666318" y="4099859"/>
            <a:ext cx="685800" cy="1588"/>
          </a:xfrm>
          <a:prstGeom prst="line">
            <a:avLst/>
          </a:prstGeom>
          <a:noFill/>
          <a:ln w="25400" cap="flat" cmpd="sng" algn="ctr">
            <a:solidFill>
              <a:srgbClr val="176196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660587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Weaponization</a:t>
            </a:r>
            <a:r>
              <a:rPr lang="en-US" dirty="0" smtClean="0"/>
              <a:t> – </a:t>
            </a:r>
            <a:r>
              <a:rPr lang="en-US" dirty="0" err="1" smtClean="0"/>
              <a:t>ExifTool</a:t>
            </a:r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2781300" y="1295400"/>
            <a:ext cx="6134100" cy="5029200"/>
          </a:xfrm>
        </p:spPr>
        <p:txBody>
          <a:bodyPr/>
          <a:lstStyle/>
          <a:p>
            <a:pPr marL="0" indent="0" eaLnBrk="1" hangingPunct="1">
              <a:spcBef>
                <a:spcPts val="0"/>
              </a:spcBef>
              <a:buFont typeface="Arial" charset="0"/>
              <a:buNone/>
            </a:pPr>
            <a:r>
              <a:rPr lang="en-US" sz="1100" b="1" dirty="0" err="1" smtClean="0">
                <a:latin typeface="Courier New"/>
                <a:cs typeface="Courier New"/>
              </a:rPr>
              <a:t>ExifTool</a:t>
            </a:r>
            <a:r>
              <a:rPr lang="en-US" sz="1100" b="1" dirty="0" smtClean="0">
                <a:latin typeface="Courier New"/>
                <a:cs typeface="Courier New"/>
              </a:rPr>
              <a:t> Version Number     : 9.36</a:t>
            </a:r>
          </a:p>
          <a:p>
            <a:pPr marL="0" indent="0" eaLnBrk="1" hangingPunct="1">
              <a:spcBef>
                <a:spcPts val="0"/>
              </a:spcBef>
              <a:buFont typeface="Arial" charset="0"/>
              <a:buNone/>
            </a:pPr>
            <a:r>
              <a:rPr lang="en-US" sz="1100" b="1" dirty="0" smtClean="0">
                <a:latin typeface="Courier New"/>
                <a:cs typeface="Courier New"/>
              </a:rPr>
              <a:t>File Modification Date/Time : 2010:10:08 07:15:54-04:00</a:t>
            </a:r>
          </a:p>
          <a:p>
            <a:pPr marL="0" indent="0" eaLnBrk="1" hangingPunct="1">
              <a:spcBef>
                <a:spcPts val="0"/>
              </a:spcBef>
              <a:buFont typeface="Arial" charset="0"/>
              <a:buNone/>
            </a:pPr>
            <a:r>
              <a:rPr lang="en-US" sz="1100" b="1" dirty="0" smtClean="0">
                <a:latin typeface="Courier New"/>
                <a:cs typeface="Courier New"/>
              </a:rPr>
              <a:t>File Type                   : PDF</a:t>
            </a:r>
          </a:p>
          <a:p>
            <a:pPr marL="0" indent="0" eaLnBrk="1" hangingPunct="1">
              <a:spcBef>
                <a:spcPts val="0"/>
              </a:spcBef>
              <a:buFont typeface="Arial" charset="0"/>
              <a:buNone/>
            </a:pPr>
            <a:r>
              <a:rPr lang="en-US" sz="1100" b="1" dirty="0" smtClean="0">
                <a:latin typeface="Courier New"/>
                <a:cs typeface="Courier New"/>
              </a:rPr>
              <a:t>MIME Type                   : application/</a:t>
            </a:r>
            <a:r>
              <a:rPr lang="en-US" sz="1100" b="1" dirty="0" err="1" smtClean="0">
                <a:latin typeface="Courier New"/>
                <a:cs typeface="Courier New"/>
              </a:rPr>
              <a:t>pdf</a:t>
            </a:r>
            <a:endParaRPr lang="en-US" sz="1100" b="1" dirty="0" smtClean="0">
              <a:latin typeface="Courier New"/>
              <a:cs typeface="Courier New"/>
            </a:endParaRPr>
          </a:p>
          <a:p>
            <a:pPr marL="0" indent="0" eaLnBrk="1" hangingPunct="1">
              <a:spcBef>
                <a:spcPts val="0"/>
              </a:spcBef>
              <a:buFont typeface="Arial" charset="0"/>
              <a:buNone/>
            </a:pPr>
            <a:r>
              <a:rPr lang="en-US" sz="1100" b="1" dirty="0" smtClean="0">
                <a:latin typeface="Courier New"/>
                <a:cs typeface="Courier New"/>
              </a:rPr>
              <a:t>PDF Version                 : 1.6</a:t>
            </a:r>
          </a:p>
          <a:p>
            <a:pPr marL="0" indent="0" eaLnBrk="1" hangingPunct="1">
              <a:spcBef>
                <a:spcPts val="0"/>
              </a:spcBef>
              <a:buFont typeface="Arial" charset="0"/>
              <a:buNone/>
            </a:pPr>
            <a:r>
              <a:rPr lang="en-US" sz="1100" b="1" dirty="0" smtClean="0">
                <a:latin typeface="Courier New"/>
                <a:cs typeface="Courier New"/>
              </a:rPr>
              <a:t>Linearized                  : Yes</a:t>
            </a:r>
          </a:p>
          <a:p>
            <a:pPr marL="0" indent="0" eaLnBrk="1" hangingPunct="1">
              <a:spcBef>
                <a:spcPts val="0"/>
              </a:spcBef>
              <a:buFont typeface="Arial" charset="0"/>
              <a:buNone/>
            </a:pPr>
            <a:r>
              <a:rPr lang="en-US" sz="1100" b="1" dirty="0" smtClean="0">
                <a:latin typeface="Courier New"/>
                <a:cs typeface="Courier New"/>
              </a:rPr>
              <a:t>Encryption                  : Standard V2.3 (128-bit)</a:t>
            </a:r>
          </a:p>
          <a:p>
            <a:pPr marL="0" indent="0" eaLnBrk="1" hangingPunct="1">
              <a:spcBef>
                <a:spcPts val="0"/>
              </a:spcBef>
              <a:buFont typeface="Arial" charset="0"/>
              <a:buNone/>
            </a:pPr>
            <a:r>
              <a:rPr lang="en-US" sz="1100" b="1" dirty="0" smtClean="0">
                <a:latin typeface="Courier New"/>
                <a:cs typeface="Courier New"/>
              </a:rPr>
              <a:t>User Access                 : Extract</a:t>
            </a:r>
          </a:p>
          <a:p>
            <a:pPr marL="0" indent="0" eaLnBrk="1" hangingPunct="1">
              <a:spcBef>
                <a:spcPts val="0"/>
              </a:spcBef>
              <a:buFont typeface="Arial" charset="0"/>
              <a:buNone/>
            </a:pPr>
            <a:r>
              <a:rPr lang="en-US" sz="1100" b="1" dirty="0" smtClean="0">
                <a:latin typeface="Courier New"/>
                <a:cs typeface="Courier New"/>
              </a:rPr>
              <a:t>Tagged PDF                  : Yes</a:t>
            </a:r>
          </a:p>
          <a:p>
            <a:pPr marL="0" indent="0" eaLnBrk="1" hangingPunct="1">
              <a:spcBef>
                <a:spcPts val="0"/>
              </a:spcBef>
              <a:buFont typeface="Arial" charset="0"/>
              <a:buNone/>
            </a:pPr>
            <a:r>
              <a:rPr lang="en-US" sz="1100" b="1" dirty="0" smtClean="0">
                <a:latin typeface="Courier New"/>
                <a:cs typeface="Courier New"/>
              </a:rPr>
              <a:t>XMP Toolkit                 : 3.1-701</a:t>
            </a:r>
          </a:p>
          <a:p>
            <a:pPr marL="0" indent="0" eaLnBrk="1" hangingPunct="1">
              <a:spcBef>
                <a:spcPts val="0"/>
              </a:spcBef>
              <a:buFont typeface="Arial" charset="0"/>
              <a:buNone/>
            </a:pPr>
            <a:r>
              <a:rPr lang="en-US" sz="1100" b="1" dirty="0" smtClean="0">
                <a:latin typeface="Courier New"/>
                <a:cs typeface="Courier New"/>
              </a:rPr>
              <a:t>Producer                    : Acrobat Distiller 8.1.0 (Windows)</a:t>
            </a:r>
          </a:p>
          <a:p>
            <a:pPr marL="0" indent="0" eaLnBrk="1" hangingPunct="1">
              <a:spcBef>
                <a:spcPts val="0"/>
              </a:spcBef>
              <a:buFont typeface="Arial" charset="0"/>
              <a:buNone/>
            </a:pPr>
            <a:r>
              <a:rPr lang="en-US" sz="1100" b="1" dirty="0" smtClean="0">
                <a:latin typeface="Courier New"/>
                <a:cs typeface="Courier New"/>
              </a:rPr>
              <a:t>Company                     : Dell Computer Corporation</a:t>
            </a:r>
          </a:p>
          <a:p>
            <a:pPr marL="0" indent="0" eaLnBrk="1" hangingPunct="1">
              <a:spcBef>
                <a:spcPts val="0"/>
              </a:spcBef>
              <a:buFont typeface="Arial" charset="0"/>
              <a:buNone/>
            </a:pPr>
            <a:r>
              <a:rPr lang="en-US" sz="1100" b="1" dirty="0" smtClean="0">
                <a:latin typeface="Courier New"/>
                <a:cs typeface="Courier New"/>
              </a:rPr>
              <a:t>Source Modified             : D:20101001111200</a:t>
            </a:r>
          </a:p>
          <a:p>
            <a:pPr marL="0" indent="0" eaLnBrk="1" hangingPunct="1">
              <a:spcBef>
                <a:spcPts val="0"/>
              </a:spcBef>
              <a:buFont typeface="Arial" charset="0"/>
              <a:buNone/>
            </a:pPr>
            <a:r>
              <a:rPr lang="en-US" sz="1100" b="1" dirty="0" smtClean="0">
                <a:latin typeface="Courier New"/>
                <a:cs typeface="Courier New"/>
              </a:rPr>
              <a:t>Creator Tool                :  Word8</a:t>
            </a:r>
            <a:r>
              <a:rPr lang="ja-JP" altLang="en-US" sz="1100" b="1" dirty="0" smtClean="0">
                <a:latin typeface="Courier New"/>
                <a:cs typeface="Courier New"/>
              </a:rPr>
              <a:t>墁 </a:t>
            </a:r>
            <a:r>
              <a:rPr lang="en-US" sz="1100" b="1" dirty="0" smtClean="0">
                <a:latin typeface="Courier New"/>
                <a:cs typeface="Courier New"/>
              </a:rPr>
              <a:t>Acrobat </a:t>
            </a:r>
            <a:r>
              <a:rPr lang="en-US" sz="1100" b="1" dirty="0" err="1" smtClean="0">
                <a:latin typeface="Courier New"/>
                <a:cs typeface="Courier New"/>
              </a:rPr>
              <a:t>PDFMaker</a:t>
            </a:r>
            <a:r>
              <a:rPr lang="en-US" sz="1100" b="1" dirty="0" smtClean="0">
                <a:latin typeface="Courier New"/>
                <a:cs typeface="Courier New"/>
              </a:rPr>
              <a:t> 8.1</a:t>
            </a:r>
          </a:p>
          <a:p>
            <a:pPr marL="0" indent="0" eaLnBrk="1" hangingPunct="1">
              <a:spcBef>
                <a:spcPts val="0"/>
              </a:spcBef>
              <a:buFont typeface="Arial" charset="0"/>
              <a:buNone/>
            </a:pPr>
            <a:r>
              <a:rPr lang="en-US" sz="1100" b="1" dirty="0" smtClean="0">
                <a:latin typeface="Courier New"/>
                <a:cs typeface="Courier New"/>
              </a:rPr>
              <a:t>Modify Date                 : 2010:10:08 09:35:31+09:00</a:t>
            </a:r>
          </a:p>
          <a:p>
            <a:pPr marL="0" indent="0" eaLnBrk="1" hangingPunct="1">
              <a:spcBef>
                <a:spcPts val="0"/>
              </a:spcBef>
              <a:buFont typeface="Arial" charset="0"/>
              <a:buNone/>
            </a:pPr>
            <a:r>
              <a:rPr lang="en-US" sz="1100" b="1" dirty="0" smtClean="0">
                <a:latin typeface="Courier New"/>
                <a:cs typeface="Courier New"/>
              </a:rPr>
              <a:t>Create Date                 : 2010:10:01 20:12:17+09:00</a:t>
            </a:r>
          </a:p>
          <a:p>
            <a:pPr marL="0" indent="0" eaLnBrk="1" hangingPunct="1">
              <a:spcBef>
                <a:spcPts val="0"/>
              </a:spcBef>
              <a:buFont typeface="Arial" charset="0"/>
              <a:buNone/>
            </a:pPr>
            <a:r>
              <a:rPr lang="en-US" sz="1100" b="1" dirty="0" smtClean="0">
                <a:latin typeface="Courier New"/>
                <a:cs typeface="Courier New"/>
              </a:rPr>
              <a:t>Metadata Date               : 2010:10:08 09:35:31+09:00</a:t>
            </a:r>
          </a:p>
          <a:p>
            <a:pPr marL="0" indent="0" eaLnBrk="1" hangingPunct="1">
              <a:spcBef>
                <a:spcPts val="0"/>
              </a:spcBef>
              <a:buFont typeface="Arial" charset="0"/>
              <a:buNone/>
            </a:pPr>
            <a:r>
              <a:rPr lang="en-US" sz="1100" b="1" dirty="0" smtClean="0">
                <a:latin typeface="Courier New"/>
                <a:cs typeface="Courier New"/>
              </a:rPr>
              <a:t>Document ID                 : uuid:c425871d-1bc1-4ccc-8235-ce20615daded</a:t>
            </a:r>
          </a:p>
          <a:p>
            <a:pPr marL="0" indent="0" eaLnBrk="1" hangingPunct="1">
              <a:spcBef>
                <a:spcPts val="0"/>
              </a:spcBef>
              <a:buFont typeface="Arial" charset="0"/>
              <a:buNone/>
            </a:pPr>
            <a:r>
              <a:rPr lang="en-US" sz="1100" b="1" dirty="0" smtClean="0">
                <a:latin typeface="Courier New"/>
                <a:cs typeface="Courier New"/>
              </a:rPr>
              <a:t>Instance ID                 : uuid:2b9f24a5-1e10-40c0-9d92-9a74bae84d32</a:t>
            </a:r>
          </a:p>
          <a:p>
            <a:pPr marL="0" indent="0" eaLnBrk="1" hangingPunct="1">
              <a:spcBef>
                <a:spcPts val="0"/>
              </a:spcBef>
              <a:buFont typeface="Arial" charset="0"/>
              <a:buNone/>
            </a:pPr>
            <a:r>
              <a:rPr lang="en-US" sz="1100" b="1" dirty="0" smtClean="0">
                <a:latin typeface="Courier New"/>
                <a:cs typeface="Courier New"/>
              </a:rPr>
              <a:t>Subject                     : 4</a:t>
            </a:r>
          </a:p>
          <a:p>
            <a:pPr marL="0" indent="0" eaLnBrk="1" hangingPunct="1">
              <a:spcBef>
                <a:spcPts val="0"/>
              </a:spcBef>
              <a:buFont typeface="Arial" charset="0"/>
              <a:buNone/>
            </a:pPr>
            <a:r>
              <a:rPr lang="en-US" sz="1100" b="1" dirty="0" smtClean="0">
                <a:latin typeface="Courier New"/>
                <a:cs typeface="Courier New"/>
              </a:rPr>
              <a:t>Format                      : application/</a:t>
            </a:r>
            <a:r>
              <a:rPr lang="en-US" sz="1100" b="1" dirty="0" err="1" smtClean="0">
                <a:latin typeface="Courier New"/>
                <a:cs typeface="Courier New"/>
              </a:rPr>
              <a:t>pdf</a:t>
            </a:r>
            <a:endParaRPr lang="en-US" sz="1100" b="1" dirty="0" smtClean="0">
              <a:latin typeface="Courier New"/>
              <a:cs typeface="Courier New"/>
            </a:endParaRPr>
          </a:p>
          <a:p>
            <a:pPr marL="0" indent="0" eaLnBrk="1" hangingPunct="1">
              <a:spcBef>
                <a:spcPts val="0"/>
              </a:spcBef>
              <a:buFont typeface="Arial" charset="0"/>
              <a:buNone/>
            </a:pPr>
            <a:r>
              <a:rPr lang="en-US" sz="1100" b="1" dirty="0" smtClean="0">
                <a:latin typeface="Courier New"/>
                <a:cs typeface="Courier New"/>
              </a:rPr>
              <a:t>Creator                     : Arlene Goldberg</a:t>
            </a:r>
          </a:p>
          <a:p>
            <a:pPr marL="0" indent="0" eaLnBrk="1" hangingPunct="1">
              <a:spcBef>
                <a:spcPts val="0"/>
              </a:spcBef>
              <a:buFont typeface="Arial" charset="0"/>
              <a:buNone/>
            </a:pPr>
            <a:r>
              <a:rPr lang="en-US" sz="1100" b="1" dirty="0" smtClean="0">
                <a:latin typeface="Courier New"/>
                <a:cs typeface="Courier New"/>
              </a:rPr>
              <a:t>Title                       : President Clinton Event Request Form</a:t>
            </a:r>
          </a:p>
          <a:p>
            <a:pPr marL="0" indent="0" eaLnBrk="1" hangingPunct="1">
              <a:spcBef>
                <a:spcPts val="0"/>
              </a:spcBef>
              <a:buFont typeface="Arial" charset="0"/>
              <a:buNone/>
            </a:pPr>
            <a:r>
              <a:rPr lang="en-US" sz="1100" b="1" dirty="0" smtClean="0">
                <a:latin typeface="Courier New"/>
                <a:cs typeface="Courier New"/>
              </a:rPr>
              <a:t>Page Count                  : 5</a:t>
            </a:r>
          </a:p>
          <a:p>
            <a:pPr marL="0" indent="0" eaLnBrk="1" hangingPunct="1">
              <a:spcBef>
                <a:spcPts val="0"/>
              </a:spcBef>
              <a:buFont typeface="Arial" charset="0"/>
              <a:buNone/>
            </a:pPr>
            <a:r>
              <a:rPr lang="en-US" sz="1100" b="1" dirty="0" smtClean="0">
                <a:latin typeface="Courier New"/>
                <a:cs typeface="Courier New"/>
              </a:rPr>
              <a:t>Page Layout                 : </a:t>
            </a:r>
            <a:r>
              <a:rPr lang="en-US" sz="1100" b="1" dirty="0" err="1" smtClean="0">
                <a:latin typeface="Courier New"/>
                <a:cs typeface="Courier New"/>
              </a:rPr>
              <a:t>OneColumn</a:t>
            </a:r>
            <a:endParaRPr lang="en-US" sz="1100" b="1" dirty="0" smtClean="0">
              <a:latin typeface="Courier New"/>
              <a:cs typeface="Courier New"/>
            </a:endParaRPr>
          </a:p>
          <a:p>
            <a:pPr marL="0" indent="0" eaLnBrk="1" hangingPunct="1">
              <a:spcBef>
                <a:spcPts val="0"/>
              </a:spcBef>
              <a:buFont typeface="Arial" charset="0"/>
              <a:buNone/>
            </a:pPr>
            <a:r>
              <a:rPr lang="en-US" sz="1100" b="1" dirty="0" smtClean="0">
                <a:latin typeface="Courier New"/>
                <a:cs typeface="Courier New"/>
              </a:rPr>
              <a:t>Author                      : Arlene Goldberg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67000" y="3492438"/>
            <a:ext cx="5562600" cy="207818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7" name="Group 15"/>
          <p:cNvGrpSpPr>
            <a:grpSpLocks/>
          </p:cNvGrpSpPr>
          <p:nvPr/>
        </p:nvGrpSpPr>
        <p:grpSpPr bwMode="auto">
          <a:xfrm>
            <a:off x="304800" y="1371600"/>
            <a:ext cx="2362200" cy="4648200"/>
            <a:chOff x="304800" y="1524000"/>
            <a:chExt cx="2362200" cy="4648200"/>
          </a:xfrm>
        </p:grpSpPr>
        <p:sp>
          <p:nvSpPr>
            <p:cNvPr id="18" name="Right Arrow 17"/>
            <p:cNvSpPr/>
            <p:nvPr/>
          </p:nvSpPr>
          <p:spPr>
            <a:xfrm rot="5400000">
              <a:off x="-862012" y="3262312"/>
              <a:ext cx="4648200" cy="1171575"/>
            </a:xfrm>
            <a:prstGeom prst="rightArrow">
              <a:avLst/>
            </a:prstGeom>
            <a:solidFill>
              <a:srgbClr val="BFBFBF"/>
            </a:solidFill>
            <a:ln w="25400" cap="flat" cmpd="sng" algn="ctr">
              <a:solidFill>
                <a:srgbClr val="BFBFBF">
                  <a:shade val="50000"/>
                </a:srgbClr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304800" y="1638298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CADEEE">
                    <a:shade val="51000"/>
                    <a:satMod val="130000"/>
                  </a:srgbClr>
                </a:gs>
                <a:gs pos="80000">
                  <a:srgbClr val="CADEEE">
                    <a:shade val="93000"/>
                    <a:satMod val="130000"/>
                  </a:srgbClr>
                </a:gs>
                <a:gs pos="100000">
                  <a:srgbClr val="CADEEE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Reconnaissance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304800" y="2181223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176196">
                    <a:shade val="51000"/>
                    <a:satMod val="130000"/>
                  </a:srgbClr>
                </a:gs>
                <a:gs pos="80000">
                  <a:srgbClr val="176196">
                    <a:shade val="93000"/>
                    <a:satMod val="130000"/>
                  </a:srgbClr>
                </a:gs>
                <a:gs pos="100000">
                  <a:srgbClr val="176196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Weaponization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304800" y="2743200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CADEEE">
                    <a:shade val="51000"/>
                    <a:satMod val="130000"/>
                  </a:srgbClr>
                </a:gs>
                <a:gs pos="80000">
                  <a:srgbClr val="CADEEE">
                    <a:shade val="93000"/>
                    <a:satMod val="130000"/>
                  </a:srgbClr>
                </a:gs>
                <a:gs pos="100000">
                  <a:srgbClr val="CADEEE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Delivery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304800" y="3314698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CADEEE">
                    <a:shade val="51000"/>
                    <a:satMod val="130000"/>
                  </a:srgbClr>
                </a:gs>
                <a:gs pos="80000">
                  <a:srgbClr val="CADEEE">
                    <a:shade val="93000"/>
                    <a:satMod val="130000"/>
                  </a:srgbClr>
                </a:gs>
                <a:gs pos="100000">
                  <a:srgbClr val="CADEEE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Exploitation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304800" y="3886200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CADEEE">
                    <a:shade val="51000"/>
                    <a:satMod val="130000"/>
                  </a:srgbClr>
                </a:gs>
                <a:gs pos="80000">
                  <a:srgbClr val="CADEEE">
                    <a:shade val="93000"/>
                    <a:satMod val="130000"/>
                  </a:srgbClr>
                </a:gs>
                <a:gs pos="100000">
                  <a:srgbClr val="CADEEE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Installation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304800" y="4495800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CADEEE">
                    <a:shade val="51000"/>
                    <a:satMod val="130000"/>
                  </a:srgbClr>
                </a:gs>
                <a:gs pos="80000">
                  <a:srgbClr val="CADEEE">
                    <a:shade val="93000"/>
                    <a:satMod val="130000"/>
                  </a:srgbClr>
                </a:gs>
                <a:gs pos="100000">
                  <a:srgbClr val="CADEEE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Command &amp; Control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304800" y="5105400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CADEEE">
                    <a:shade val="51000"/>
                    <a:satMod val="130000"/>
                  </a:srgbClr>
                </a:gs>
                <a:gs pos="80000">
                  <a:srgbClr val="CADEEE">
                    <a:shade val="93000"/>
                    <a:satMod val="130000"/>
                  </a:srgbClr>
                </a:gs>
                <a:gs pos="100000">
                  <a:srgbClr val="CADEEE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Actions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165503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Reconnaissance / </a:t>
            </a:r>
            <a:r>
              <a:rPr lang="en-US" dirty="0" err="1" smtClean="0"/>
              <a:t>Weaponization</a:t>
            </a:r>
            <a:r>
              <a:rPr lang="en-US" dirty="0" smtClean="0"/>
              <a:t> Collection</a:t>
            </a:r>
            <a:endParaRPr lang="en-US" dirty="0"/>
          </a:p>
        </p:txBody>
      </p:sp>
      <p:grpSp>
        <p:nvGrpSpPr>
          <p:cNvPr id="14" name="Group 5"/>
          <p:cNvGrpSpPr>
            <a:grpSpLocks/>
          </p:cNvGrpSpPr>
          <p:nvPr/>
        </p:nvGrpSpPr>
        <p:grpSpPr bwMode="auto">
          <a:xfrm>
            <a:off x="304800" y="1371600"/>
            <a:ext cx="2362200" cy="4648200"/>
            <a:chOff x="304800" y="1524000"/>
            <a:chExt cx="2362200" cy="4648200"/>
          </a:xfrm>
        </p:grpSpPr>
        <p:sp>
          <p:nvSpPr>
            <p:cNvPr id="15" name="Right Arrow 14"/>
            <p:cNvSpPr/>
            <p:nvPr/>
          </p:nvSpPr>
          <p:spPr>
            <a:xfrm rot="5400000">
              <a:off x="-862012" y="3262312"/>
              <a:ext cx="4648200" cy="1171575"/>
            </a:xfrm>
            <a:prstGeom prst="rightArrow">
              <a:avLst/>
            </a:prstGeom>
            <a:solidFill>
              <a:srgbClr val="BFBFBF"/>
            </a:solidFill>
            <a:ln w="25400" cap="flat" cmpd="sng" algn="ctr">
              <a:solidFill>
                <a:srgbClr val="BFBFBF">
                  <a:shade val="50000"/>
                </a:srgbClr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304800" y="1638298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176196">
                    <a:shade val="51000"/>
                    <a:satMod val="130000"/>
                  </a:srgbClr>
                </a:gs>
                <a:gs pos="80000">
                  <a:srgbClr val="176196">
                    <a:shade val="93000"/>
                    <a:satMod val="130000"/>
                  </a:srgbClr>
                </a:gs>
                <a:gs pos="100000">
                  <a:srgbClr val="176196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Reconnaissance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304800" y="2181223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176196">
                    <a:shade val="51000"/>
                    <a:satMod val="130000"/>
                  </a:srgbClr>
                </a:gs>
                <a:gs pos="80000">
                  <a:srgbClr val="176196">
                    <a:shade val="93000"/>
                    <a:satMod val="130000"/>
                  </a:srgbClr>
                </a:gs>
                <a:gs pos="100000">
                  <a:srgbClr val="176196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Weaponization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04800" y="2743200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CADEEE">
                    <a:shade val="51000"/>
                    <a:satMod val="130000"/>
                  </a:srgbClr>
                </a:gs>
                <a:gs pos="80000">
                  <a:srgbClr val="CADEEE">
                    <a:shade val="93000"/>
                    <a:satMod val="130000"/>
                  </a:srgbClr>
                </a:gs>
                <a:gs pos="100000">
                  <a:srgbClr val="CADEEE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Delivery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304800" y="3314698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CADEEE">
                    <a:shade val="51000"/>
                    <a:satMod val="130000"/>
                  </a:srgbClr>
                </a:gs>
                <a:gs pos="80000">
                  <a:srgbClr val="CADEEE">
                    <a:shade val="93000"/>
                    <a:satMod val="130000"/>
                  </a:srgbClr>
                </a:gs>
                <a:gs pos="100000">
                  <a:srgbClr val="CADEEE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Exploitation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304800" y="3886200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CADEEE">
                    <a:shade val="51000"/>
                    <a:satMod val="130000"/>
                  </a:srgbClr>
                </a:gs>
                <a:gs pos="80000">
                  <a:srgbClr val="CADEEE">
                    <a:shade val="93000"/>
                    <a:satMod val="130000"/>
                  </a:srgbClr>
                </a:gs>
                <a:gs pos="100000">
                  <a:srgbClr val="CADEEE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Installation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304800" y="4495800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CADEEE">
                    <a:shade val="51000"/>
                    <a:satMod val="130000"/>
                  </a:srgbClr>
                </a:gs>
                <a:gs pos="80000">
                  <a:srgbClr val="CADEEE">
                    <a:shade val="93000"/>
                    <a:satMod val="130000"/>
                  </a:srgbClr>
                </a:gs>
                <a:gs pos="100000">
                  <a:srgbClr val="CADEEE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Command &amp; Control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304800" y="5105400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CADEEE">
                    <a:shade val="51000"/>
                    <a:satMod val="130000"/>
                  </a:srgbClr>
                </a:gs>
                <a:gs pos="80000">
                  <a:srgbClr val="CADEEE">
                    <a:shade val="93000"/>
                    <a:satMod val="130000"/>
                  </a:srgbClr>
                </a:gs>
                <a:gs pos="100000">
                  <a:srgbClr val="CADEEE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Actions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3" name="Content Placeholder 2"/>
          <p:cNvSpPr>
            <a:spLocks noGrp="1"/>
          </p:cNvSpPr>
          <p:nvPr>
            <p:ph idx="1"/>
          </p:nvPr>
        </p:nvSpPr>
        <p:spPr bwMode="auto">
          <a:xfrm>
            <a:off x="2743200" y="1447800"/>
            <a:ext cx="6248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EXIFTool</a:t>
            </a:r>
            <a:endParaRPr kumimoji="0" lang="en-US" sz="26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57250" lvl="2" indent="-457200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</a:pPr>
            <a:r>
              <a:rPr kumimoji="0" lang="en-US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http://</a:t>
            </a:r>
            <a:r>
              <a:rPr kumimoji="0" lang="en-US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www.sno.phy.queensu.ca</a:t>
            </a:r>
            <a:r>
              <a:rPr kumimoji="0" lang="en-US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/~</a:t>
            </a:r>
            <a:r>
              <a:rPr kumimoji="0" lang="en-US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phil</a:t>
            </a:r>
            <a:r>
              <a:rPr kumimoji="0" lang="en-US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/</a:t>
            </a:r>
            <a:r>
              <a:rPr kumimoji="0" lang="en-US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exiftool</a:t>
            </a:r>
            <a:r>
              <a:rPr kumimoji="0" lang="en-US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/</a:t>
            </a: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OfficeMalScanner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/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RTFscan</a:t>
            </a:r>
            <a:endParaRPr kumimoji="0" lang="en-US" sz="26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57250" lvl="2" indent="-457200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</a:pPr>
            <a:r>
              <a:rPr kumimoji="0" lang="en-US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http://</a:t>
            </a:r>
            <a:r>
              <a:rPr kumimoji="0" lang="en-US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www.reconstructer.org</a:t>
            </a:r>
            <a:r>
              <a:rPr kumimoji="0" lang="en-US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/</a:t>
            </a:r>
            <a:r>
              <a:rPr kumimoji="0" lang="en-US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code.html</a:t>
            </a:r>
            <a:endParaRPr kumimoji="0" lang="en-US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Cerbero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PE Insider / PE Explorer</a:t>
            </a:r>
          </a:p>
          <a:p>
            <a:pPr marL="857250" lvl="2" indent="-457200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</a:pPr>
            <a:r>
              <a:rPr kumimoji="0" lang="en-US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http://</a:t>
            </a:r>
            <a:r>
              <a:rPr kumimoji="0" lang="en-US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icerbero.com</a:t>
            </a:r>
            <a:r>
              <a:rPr kumimoji="0" lang="en-US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/</a:t>
            </a:r>
            <a:r>
              <a:rPr kumimoji="0" lang="en-US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peinsider</a:t>
            </a:r>
            <a:r>
              <a:rPr kumimoji="0" lang="en-US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</a:p>
          <a:p>
            <a:pPr marL="857250" lvl="2" indent="-457200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</a:pPr>
            <a:r>
              <a:rPr kumimoji="0" lang="en-US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http://</a:t>
            </a:r>
            <a:r>
              <a:rPr kumimoji="0" lang="en-US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www.heaventools.com</a:t>
            </a:r>
            <a:endParaRPr kumimoji="0" lang="en-US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Revelo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/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Malzilla</a:t>
            </a: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/ </a:t>
            </a:r>
            <a:r>
              <a:rPr kumimoji="0" lang="en-US" sz="26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PdfStreamDumper</a:t>
            </a:r>
            <a:endParaRPr kumimoji="0" lang="en-US" sz="26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57250" lvl="2" indent="-457200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</a:pPr>
            <a:r>
              <a:rPr kumimoji="0" lang="en-US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http://</a:t>
            </a:r>
            <a:r>
              <a:rPr kumimoji="0" lang="en-US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www.ntcore.com</a:t>
            </a:r>
            <a:r>
              <a:rPr kumimoji="0" lang="en-US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/</a:t>
            </a:r>
            <a:r>
              <a:rPr kumimoji="0" lang="en-US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exsuite.php</a:t>
            </a:r>
            <a:r>
              <a:rPr kumimoji="0" lang="en-US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</a:p>
          <a:p>
            <a:pPr marL="857250" lvl="2" indent="-457200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</a:pPr>
            <a:r>
              <a:rPr kumimoji="0" lang="en-US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http://</a:t>
            </a:r>
            <a:r>
              <a:rPr kumimoji="0" lang="en-US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malzilla.sourceforge.net</a:t>
            </a:r>
            <a:endParaRPr kumimoji="0" lang="en-US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Malware Tracker Doc/PDF Scanners</a:t>
            </a:r>
          </a:p>
          <a:p>
            <a:pPr marL="857250" lvl="2" indent="-457200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</a:pPr>
            <a:r>
              <a:rPr kumimoji="0" lang="en-US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https://</a:t>
            </a:r>
            <a:r>
              <a:rPr kumimoji="0" lang="en-US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www.malwaretracker.com</a:t>
            </a:r>
            <a:endParaRPr kumimoji="0" lang="en-US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800" b="1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6529472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Delivery – Email Attack</a:t>
            </a:r>
            <a:endParaRPr lang="en-US" dirty="0"/>
          </a:p>
        </p:txBody>
      </p:sp>
      <p:grpSp>
        <p:nvGrpSpPr>
          <p:cNvPr id="15" name="Group 2"/>
          <p:cNvGrpSpPr>
            <a:grpSpLocks/>
          </p:cNvGrpSpPr>
          <p:nvPr/>
        </p:nvGrpSpPr>
        <p:grpSpPr bwMode="auto">
          <a:xfrm>
            <a:off x="304800" y="1371600"/>
            <a:ext cx="2362200" cy="4648200"/>
            <a:chOff x="304800" y="1524000"/>
            <a:chExt cx="2362200" cy="4648200"/>
          </a:xfrm>
        </p:grpSpPr>
        <p:sp>
          <p:nvSpPr>
            <p:cNvPr id="16" name="Right Arrow 15"/>
            <p:cNvSpPr/>
            <p:nvPr/>
          </p:nvSpPr>
          <p:spPr>
            <a:xfrm rot="5400000">
              <a:off x="-862012" y="3262312"/>
              <a:ext cx="4648200" cy="1171575"/>
            </a:xfrm>
            <a:prstGeom prst="rightArrow">
              <a:avLst/>
            </a:prstGeom>
            <a:solidFill>
              <a:srgbClr val="BFBFBF"/>
            </a:solidFill>
            <a:ln w="25400" cap="flat" cmpd="sng" algn="ctr">
              <a:solidFill>
                <a:srgbClr val="BFBFBF">
                  <a:shade val="50000"/>
                </a:srgbClr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304800" y="1638298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CADEEE">
                    <a:shade val="51000"/>
                    <a:satMod val="130000"/>
                  </a:srgbClr>
                </a:gs>
                <a:gs pos="80000">
                  <a:srgbClr val="CADEEE">
                    <a:shade val="93000"/>
                    <a:satMod val="130000"/>
                  </a:srgbClr>
                </a:gs>
                <a:gs pos="100000">
                  <a:srgbClr val="CADEEE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Reconnaissance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04800" y="2181223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CADEEE">
                    <a:shade val="51000"/>
                    <a:satMod val="130000"/>
                  </a:srgbClr>
                </a:gs>
                <a:gs pos="80000">
                  <a:srgbClr val="CADEEE">
                    <a:shade val="93000"/>
                    <a:satMod val="130000"/>
                  </a:srgbClr>
                </a:gs>
                <a:gs pos="100000">
                  <a:srgbClr val="CADEEE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Weaponization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304800" y="2743200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176196">
                    <a:shade val="51000"/>
                    <a:satMod val="130000"/>
                  </a:srgbClr>
                </a:gs>
                <a:gs pos="80000">
                  <a:srgbClr val="176196">
                    <a:shade val="93000"/>
                    <a:satMod val="130000"/>
                  </a:srgbClr>
                </a:gs>
                <a:gs pos="100000">
                  <a:srgbClr val="176196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Delivery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304800" y="3314698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CADEEE">
                    <a:shade val="51000"/>
                    <a:satMod val="130000"/>
                  </a:srgbClr>
                </a:gs>
                <a:gs pos="80000">
                  <a:srgbClr val="CADEEE">
                    <a:shade val="93000"/>
                    <a:satMod val="130000"/>
                  </a:srgbClr>
                </a:gs>
                <a:gs pos="100000">
                  <a:srgbClr val="CADEEE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Exploitation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304800" y="3886200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CADEEE">
                    <a:shade val="51000"/>
                    <a:satMod val="130000"/>
                  </a:srgbClr>
                </a:gs>
                <a:gs pos="80000">
                  <a:srgbClr val="CADEEE">
                    <a:shade val="93000"/>
                    <a:satMod val="130000"/>
                  </a:srgbClr>
                </a:gs>
                <a:gs pos="100000">
                  <a:srgbClr val="CADEEE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Installation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304800" y="4495800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CADEEE">
                    <a:shade val="51000"/>
                    <a:satMod val="130000"/>
                  </a:srgbClr>
                </a:gs>
                <a:gs pos="80000">
                  <a:srgbClr val="CADEEE">
                    <a:shade val="93000"/>
                    <a:satMod val="130000"/>
                  </a:srgbClr>
                </a:gs>
                <a:gs pos="100000">
                  <a:srgbClr val="CADEEE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Command &amp; Control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304800" y="5105400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CADEEE">
                    <a:shade val="51000"/>
                    <a:satMod val="130000"/>
                  </a:srgbClr>
                </a:gs>
                <a:gs pos="80000">
                  <a:srgbClr val="CADEEE">
                    <a:shade val="93000"/>
                    <a:satMod val="130000"/>
                  </a:srgbClr>
                </a:gs>
                <a:gs pos="100000">
                  <a:srgbClr val="CADEEE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Actions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4" name="Content Placeholder 2"/>
          <p:cNvSpPr>
            <a:spLocks noGrp="1"/>
          </p:cNvSpPr>
          <p:nvPr>
            <p:ph idx="1"/>
          </p:nvPr>
        </p:nvSpPr>
        <p:spPr>
          <a:xfrm>
            <a:off x="2667000" y="5867400"/>
            <a:ext cx="6400800" cy="419100"/>
          </a:xfrm>
        </p:spPr>
        <p:txBody>
          <a:bodyPr/>
          <a:lstStyle/>
          <a:p>
            <a:pPr marL="0" indent="0" eaLnBrk="1" hangingPunct="1">
              <a:buFont typeface="Arial" charset="0"/>
              <a:buNone/>
            </a:pPr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http://</a:t>
            </a:r>
            <a:r>
              <a:rPr lang="en-US" sz="1000" dirty="0" err="1" smtClean="0">
                <a:latin typeface="Courier New" pitchFamily="49" charset="0"/>
                <a:cs typeface="Courier New" pitchFamily="49" charset="0"/>
              </a:rPr>
              <a:t>contagiodump.blogspot.com</a:t>
            </a:r>
            <a:r>
              <a:rPr lang="en-US" sz="1000" dirty="0" smtClean="0">
                <a:latin typeface="Courier New" pitchFamily="49" charset="0"/>
                <a:cs typeface="Courier New" pitchFamily="49" charset="0"/>
              </a:rPr>
              <a:t>/2011/06/may-31-cve-2010-3333-doc-q-and-adoc.html</a:t>
            </a:r>
            <a:endParaRPr lang="en-US" sz="1000" b="1" dirty="0" smtClean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25" name="Picture 4" descr="http://1.bp.blogspot.com/-NqWddfHe4A8/TfaEUew2n2I/AAAAAAAACBk/8N8wIryqzJ4/s1600/ms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371600"/>
            <a:ext cx="5865813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330288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Delivery – Watering Hole Attack</a:t>
            </a:r>
            <a:endParaRPr lang="en-US" dirty="0"/>
          </a:p>
        </p:txBody>
      </p:sp>
      <p:grpSp>
        <p:nvGrpSpPr>
          <p:cNvPr id="15" name="Group 2"/>
          <p:cNvGrpSpPr>
            <a:grpSpLocks/>
          </p:cNvGrpSpPr>
          <p:nvPr/>
        </p:nvGrpSpPr>
        <p:grpSpPr bwMode="auto">
          <a:xfrm>
            <a:off x="304800" y="1371600"/>
            <a:ext cx="2362200" cy="4648200"/>
            <a:chOff x="304800" y="1524000"/>
            <a:chExt cx="2362200" cy="4648200"/>
          </a:xfrm>
        </p:grpSpPr>
        <p:sp>
          <p:nvSpPr>
            <p:cNvPr id="16" name="Right Arrow 15"/>
            <p:cNvSpPr/>
            <p:nvPr/>
          </p:nvSpPr>
          <p:spPr>
            <a:xfrm rot="5400000">
              <a:off x="-862012" y="3262312"/>
              <a:ext cx="4648200" cy="1171575"/>
            </a:xfrm>
            <a:prstGeom prst="rightArrow">
              <a:avLst/>
            </a:prstGeom>
            <a:solidFill>
              <a:srgbClr val="BFBFBF"/>
            </a:solidFill>
            <a:ln w="25400" cap="flat" cmpd="sng" algn="ctr">
              <a:solidFill>
                <a:srgbClr val="BFBFBF">
                  <a:shade val="50000"/>
                </a:srgbClr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304800" y="1638298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CADEEE">
                    <a:shade val="51000"/>
                    <a:satMod val="130000"/>
                  </a:srgbClr>
                </a:gs>
                <a:gs pos="80000">
                  <a:srgbClr val="CADEEE">
                    <a:shade val="93000"/>
                    <a:satMod val="130000"/>
                  </a:srgbClr>
                </a:gs>
                <a:gs pos="100000">
                  <a:srgbClr val="CADEEE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Reconnaissance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04800" y="2181223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CADEEE">
                    <a:shade val="51000"/>
                    <a:satMod val="130000"/>
                  </a:srgbClr>
                </a:gs>
                <a:gs pos="80000">
                  <a:srgbClr val="CADEEE">
                    <a:shade val="93000"/>
                    <a:satMod val="130000"/>
                  </a:srgbClr>
                </a:gs>
                <a:gs pos="100000">
                  <a:srgbClr val="CADEEE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Weaponization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304800" y="2743200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176196">
                    <a:shade val="51000"/>
                    <a:satMod val="130000"/>
                  </a:srgbClr>
                </a:gs>
                <a:gs pos="80000">
                  <a:srgbClr val="176196">
                    <a:shade val="93000"/>
                    <a:satMod val="130000"/>
                  </a:srgbClr>
                </a:gs>
                <a:gs pos="100000">
                  <a:srgbClr val="176196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Delivery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304800" y="3314698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CADEEE">
                    <a:shade val="51000"/>
                    <a:satMod val="130000"/>
                  </a:srgbClr>
                </a:gs>
                <a:gs pos="80000">
                  <a:srgbClr val="CADEEE">
                    <a:shade val="93000"/>
                    <a:satMod val="130000"/>
                  </a:srgbClr>
                </a:gs>
                <a:gs pos="100000">
                  <a:srgbClr val="CADEEE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Exploitation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304800" y="3886200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CADEEE">
                    <a:shade val="51000"/>
                    <a:satMod val="130000"/>
                  </a:srgbClr>
                </a:gs>
                <a:gs pos="80000">
                  <a:srgbClr val="CADEEE">
                    <a:shade val="93000"/>
                    <a:satMod val="130000"/>
                  </a:srgbClr>
                </a:gs>
                <a:gs pos="100000">
                  <a:srgbClr val="CADEEE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Installation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304800" y="4495800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CADEEE">
                    <a:shade val="51000"/>
                    <a:satMod val="130000"/>
                  </a:srgbClr>
                </a:gs>
                <a:gs pos="80000">
                  <a:srgbClr val="CADEEE">
                    <a:shade val="93000"/>
                    <a:satMod val="130000"/>
                  </a:srgbClr>
                </a:gs>
                <a:gs pos="100000">
                  <a:srgbClr val="CADEEE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Command &amp; Control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304800" y="5105400"/>
              <a:ext cx="2362200" cy="381000"/>
            </a:xfrm>
            <a:prstGeom prst="roundRect">
              <a:avLst/>
            </a:prstGeom>
            <a:gradFill rotWithShape="1">
              <a:gsLst>
                <a:gs pos="0">
                  <a:srgbClr val="CADEEE">
                    <a:shade val="51000"/>
                    <a:satMod val="130000"/>
                  </a:srgbClr>
                </a:gs>
                <a:gs pos="80000">
                  <a:srgbClr val="CADEEE">
                    <a:shade val="93000"/>
                    <a:satMod val="130000"/>
                  </a:srgbClr>
                </a:gs>
                <a:gs pos="100000">
                  <a:srgbClr val="CADEEE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 w="17780" cmpd="sng">
                    <a:solidFill>
                      <a:srgbClr val="BFBFBF">
                        <a:tint val="3000"/>
                      </a:srgb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rgbClr val="BFBFBF">
                          <a:tint val="63000"/>
                          <a:sat val="105000"/>
                        </a:srgbClr>
                      </a:gs>
                      <a:gs pos="90000">
                        <a:srgbClr val="BFBFBF">
                          <a:shade val="50000"/>
                          <a:satMod val="100000"/>
                        </a:srgbClr>
                      </a:gs>
                    </a:gsLst>
                    <a:lin ang="5400000"/>
                  </a:gradFill>
                  <a:effectLst>
                    <a:outerShdw blurRad="55000" dist="50800" dir="5400000" algn="tl">
                      <a:srgbClr val="000000">
                        <a:alpha val="33000"/>
                      </a:srgbClr>
                    </a:outerShdw>
                  </a:effectLst>
                  <a:uLnTx/>
                  <a:uFillTx/>
                  <a:latin typeface="Calibri"/>
                  <a:ea typeface="+mn-ea"/>
                  <a:cs typeface="+mn-cs"/>
                </a:rPr>
                <a:t>Actions</a:t>
              </a:r>
              <a:endParaRPr kumimoji="0" lang="en-US" sz="1800" b="1" i="0" u="none" strike="noStrike" kern="0" cap="all" spc="0" normalizeH="0" baseline="0" noProof="0" dirty="0">
                <a:ln w="0"/>
                <a:gradFill flip="none">
                  <a:gsLst>
                    <a:gs pos="0">
                      <a:srgbClr val="BFBFBF">
                        <a:tint val="75000"/>
                        <a:shade val="75000"/>
                        <a:satMod val="170000"/>
                      </a:srgbClr>
                    </a:gs>
                    <a:gs pos="49000">
                      <a:srgbClr val="BFBFBF">
                        <a:tint val="88000"/>
                        <a:shade val="65000"/>
                        <a:satMod val="172000"/>
                      </a:srgbClr>
                    </a:gs>
                    <a:gs pos="50000">
                      <a:srgbClr val="BFBFBF">
                        <a:shade val="65000"/>
                        <a:satMod val="130000"/>
                      </a:srgbClr>
                    </a:gs>
                    <a:gs pos="92000">
                      <a:srgbClr val="BFBFBF">
                        <a:shade val="50000"/>
                        <a:satMod val="120000"/>
                      </a:srgbClr>
                    </a:gs>
                    <a:gs pos="100000">
                      <a:srgbClr val="BFBFBF">
                        <a:shade val="48000"/>
                        <a:satMod val="120000"/>
                      </a:srgb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4" name="Content Placeholder 2"/>
          <p:cNvSpPr>
            <a:spLocks noGrp="1"/>
          </p:cNvSpPr>
          <p:nvPr>
            <p:ph idx="1"/>
          </p:nvPr>
        </p:nvSpPr>
        <p:spPr>
          <a:xfrm>
            <a:off x="2743200" y="5867400"/>
            <a:ext cx="6400800" cy="533400"/>
          </a:xfrm>
        </p:spPr>
        <p:txBody>
          <a:bodyPr/>
          <a:lstStyle/>
          <a:p>
            <a:pPr eaLnBrk="1" hangingPunct="1"/>
            <a:r>
              <a:rPr lang="en-US" sz="1000" dirty="0" smtClean="0">
                <a:latin typeface="Courier New" pitchFamily="49" charset="0"/>
                <a:ea typeface="Tahoma" pitchFamily="34" charset="0"/>
                <a:cs typeface="Courier New" pitchFamily="49" charset="0"/>
              </a:rPr>
              <a:t>http://</a:t>
            </a:r>
            <a:r>
              <a:rPr lang="en-US" sz="1000" dirty="0" err="1" smtClean="0">
                <a:latin typeface="Courier New" pitchFamily="49" charset="0"/>
                <a:ea typeface="Tahoma" pitchFamily="34" charset="0"/>
                <a:cs typeface="Courier New" pitchFamily="49" charset="0"/>
              </a:rPr>
              <a:t>arstechnica.com</a:t>
            </a:r>
            <a:r>
              <a:rPr lang="en-US" sz="1000" dirty="0" smtClean="0">
                <a:latin typeface="Courier New" pitchFamily="49" charset="0"/>
                <a:ea typeface="Tahoma" pitchFamily="34" charset="0"/>
                <a:cs typeface="Courier New" pitchFamily="49" charset="0"/>
              </a:rPr>
              <a:t>/security/2014/02/new-zero-day-bug-in-ie-10-exploited-in-active-malware-attack-ms-warns/</a:t>
            </a:r>
            <a:endParaRPr lang="en-US" sz="1000" b="1" dirty="0" smtClean="0">
              <a:latin typeface="Courier New" pitchFamily="49" charset="0"/>
              <a:ea typeface="Tahoma" pitchFamily="34" charset="0"/>
              <a:cs typeface="Courier New" pitchFamily="49" charset="0"/>
            </a:endParaRPr>
          </a:p>
          <a:p>
            <a:pPr eaLnBrk="1" hangingPunct="1"/>
            <a:endParaRPr lang="en-US" sz="1000" b="1" dirty="0" smtClean="0">
              <a:latin typeface="Courier New" pitchFamily="49" charset="0"/>
              <a:ea typeface="Tahoma" pitchFamily="34" charset="0"/>
              <a:cs typeface="Courier New" pitchFamily="49" charset="0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186682"/>
            <a:ext cx="6316279" cy="4680718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3581400" y="1143000"/>
            <a:ext cx="685800" cy="228600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200400" y="1676400"/>
            <a:ext cx="3200400" cy="228600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819400" y="5638800"/>
            <a:ext cx="1600200" cy="228600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92231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Exploitation</a:t>
            </a:r>
            <a:endParaRPr lang="en-US" dirty="0"/>
          </a:p>
        </p:txBody>
      </p:sp>
      <p:sp>
        <p:nvSpPr>
          <p:cNvPr id="22" name="Right Arrow 21"/>
          <p:cNvSpPr/>
          <p:nvPr/>
        </p:nvSpPr>
        <p:spPr>
          <a:xfrm rot="5400000">
            <a:off x="-862012" y="3109912"/>
            <a:ext cx="4648200" cy="1171575"/>
          </a:xfrm>
          <a:prstGeom prst="rightArrow">
            <a:avLst/>
          </a:prstGeom>
          <a:solidFill>
            <a:srgbClr val="BFBFBF"/>
          </a:solidFill>
          <a:ln w="25400" cap="flat" cmpd="sng" algn="ctr">
            <a:solidFill>
              <a:srgbClr val="BFBFBF">
                <a:shade val="50000"/>
              </a:srgb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304800" y="1485898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Reconnaissance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04800" y="2028823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Weaponization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304800" y="2590800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Delivery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04800" y="3162298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176196">
                  <a:shade val="51000"/>
                  <a:satMod val="130000"/>
                </a:srgbClr>
              </a:gs>
              <a:gs pos="80000">
                <a:srgbClr val="176196">
                  <a:shade val="93000"/>
                  <a:satMod val="130000"/>
                </a:srgbClr>
              </a:gs>
              <a:gs pos="100000">
                <a:srgbClr val="17619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Exploitation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04800" y="3733800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Installation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04800" y="4343400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Command &amp; Control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04800" y="4953000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Actions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Content Placeholder 2"/>
          <p:cNvSpPr>
            <a:spLocks noGrp="1"/>
          </p:cNvSpPr>
          <p:nvPr>
            <p:ph idx="1"/>
          </p:nvPr>
        </p:nvSpPr>
        <p:spPr>
          <a:xfrm>
            <a:off x="2743200" y="5486400"/>
            <a:ext cx="6248400" cy="609600"/>
          </a:xfrm>
        </p:spPr>
        <p:txBody>
          <a:bodyPr/>
          <a:lstStyle/>
          <a:p>
            <a:pPr marL="0" indent="0" eaLnBrk="1" hangingPunct="1">
              <a:buFont typeface="Arial" charset="0"/>
              <a:buNone/>
              <a:defRPr/>
            </a:pPr>
            <a:r>
              <a:rPr lang="en-US" sz="2400" dirty="0" smtClean="0">
                <a:latin typeface="+mj-lt"/>
                <a:cs typeface="Courier New" pitchFamily="49" charset="0"/>
              </a:rPr>
              <a:t>CVE-2014-1761 (MS14-017)</a:t>
            </a:r>
          </a:p>
          <a:p>
            <a:pPr marL="0" indent="0" eaLnBrk="1" hangingPunct="1">
              <a:buFont typeface="Arial" charset="0"/>
              <a:buNone/>
              <a:defRPr/>
            </a:pPr>
            <a:r>
              <a:rPr lang="en-US" sz="800" dirty="0">
                <a:latin typeface="Courier New"/>
                <a:cs typeface="Courier New"/>
              </a:rPr>
              <a:t>http://</a:t>
            </a:r>
            <a:r>
              <a:rPr lang="en-US" sz="800" dirty="0" err="1">
                <a:latin typeface="Courier New"/>
                <a:cs typeface="Courier New"/>
              </a:rPr>
              <a:t>blogs.mcafee.com</a:t>
            </a:r>
            <a:r>
              <a:rPr lang="en-US" sz="800" dirty="0">
                <a:latin typeface="Courier New"/>
                <a:cs typeface="Courier New"/>
              </a:rPr>
              <a:t>/</a:t>
            </a:r>
            <a:r>
              <a:rPr lang="en-US" sz="800" dirty="0" err="1">
                <a:latin typeface="Courier New"/>
                <a:cs typeface="Courier New"/>
              </a:rPr>
              <a:t>mcafee</a:t>
            </a:r>
            <a:r>
              <a:rPr lang="en-US" sz="800" dirty="0">
                <a:latin typeface="Courier New"/>
                <a:cs typeface="Courier New"/>
              </a:rPr>
              <a:t>-labs/close-look-rtf-zero-day-attack-cve-2014-1761-shows-sophistication-attackers</a:t>
            </a:r>
            <a:endParaRPr lang="en-US" sz="800" dirty="0" smtClean="0">
              <a:latin typeface="Courier New"/>
              <a:cs typeface="Courier New"/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0" y="1143000"/>
            <a:ext cx="6143151" cy="434340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2819400" y="1143000"/>
            <a:ext cx="685800" cy="228600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162800" y="2971800"/>
            <a:ext cx="1676400" cy="152400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124200" y="4953000"/>
            <a:ext cx="5791200" cy="533400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27857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4" grpId="0" animBg="1"/>
      <p:bldP spid="3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Delivery / Exploitation Collection</a:t>
            </a:r>
            <a:endParaRPr lang="en-US" dirty="0"/>
          </a:p>
        </p:txBody>
      </p:sp>
      <p:sp>
        <p:nvSpPr>
          <p:cNvPr id="13" name="Right Arrow 12"/>
          <p:cNvSpPr/>
          <p:nvPr/>
        </p:nvSpPr>
        <p:spPr>
          <a:xfrm rot="5400000">
            <a:off x="-862012" y="3109913"/>
            <a:ext cx="4648200" cy="1171575"/>
          </a:xfrm>
          <a:prstGeom prst="rightArrow">
            <a:avLst/>
          </a:prstGeom>
          <a:solidFill>
            <a:srgbClr val="BFBFBF"/>
          </a:solidFill>
          <a:ln w="25400" cap="flat" cmpd="sng" algn="ctr">
            <a:solidFill>
              <a:srgbClr val="BFBFBF">
                <a:shade val="50000"/>
              </a:srgb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04800" y="1485899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Reconnaissance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04800" y="2028824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Weaponization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04800" y="2590801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176196">
                  <a:shade val="51000"/>
                  <a:satMod val="130000"/>
                </a:srgbClr>
              </a:gs>
              <a:gs pos="80000">
                <a:srgbClr val="176196">
                  <a:shade val="93000"/>
                  <a:satMod val="130000"/>
                </a:srgbClr>
              </a:gs>
              <a:gs pos="100000">
                <a:srgbClr val="17619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Delivery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04800" y="3162299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176196">
                  <a:shade val="51000"/>
                  <a:satMod val="130000"/>
                </a:srgbClr>
              </a:gs>
              <a:gs pos="80000">
                <a:srgbClr val="176196">
                  <a:shade val="93000"/>
                  <a:satMod val="130000"/>
                </a:srgbClr>
              </a:gs>
              <a:gs pos="100000">
                <a:srgbClr val="17619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Exploitation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04800" y="3733801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Installation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04800" y="4343401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Command &amp; Control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04800" y="4953001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Actions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Content Placeholder 2"/>
          <p:cNvSpPr>
            <a:spLocks noGrp="1"/>
          </p:cNvSpPr>
          <p:nvPr>
            <p:ph idx="1"/>
          </p:nvPr>
        </p:nvSpPr>
        <p:spPr bwMode="auto">
          <a:xfrm>
            <a:off x="2819400" y="1447801"/>
            <a:ext cx="6248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VirusTotal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42950" lvl="2" indent="-342900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https://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www.virustotal.com</a:t>
            </a: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Jotti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42950" lvl="2" indent="-342900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http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://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virusscan.jotti.org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URLQuery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42950" lvl="2" indent="-342900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http://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urlquery.net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Joe Sandbox URL Analyzer</a:t>
            </a:r>
          </a:p>
          <a:p>
            <a:pPr marL="742950" lvl="2" indent="-342900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http://www.url-analyzer.net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YARA / </a:t>
            </a:r>
            <a:r>
              <a:rPr kumimoji="0" lang="en-US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SignSrch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Rules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2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849931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Installation</a:t>
            </a:r>
            <a:endParaRPr lang="en-US" dirty="0"/>
          </a:p>
        </p:txBody>
      </p:sp>
      <p:sp>
        <p:nvSpPr>
          <p:cNvPr id="13" name="Right Arrow 12"/>
          <p:cNvSpPr/>
          <p:nvPr/>
        </p:nvSpPr>
        <p:spPr>
          <a:xfrm rot="5400000">
            <a:off x="-862012" y="3109912"/>
            <a:ext cx="4648200" cy="1171575"/>
          </a:xfrm>
          <a:prstGeom prst="rightArrow">
            <a:avLst/>
          </a:prstGeom>
          <a:solidFill>
            <a:srgbClr val="BFBFBF"/>
          </a:solidFill>
          <a:ln w="25400" cap="flat" cmpd="sng" algn="ctr">
            <a:solidFill>
              <a:srgbClr val="BFBFBF">
                <a:shade val="50000"/>
              </a:srgb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04800" y="1485898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Reconnaissance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04800" y="2028823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Weaponization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04800" y="2590800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Delivery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04800" y="3162298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Exploitation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04800" y="3733800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176196">
                  <a:shade val="51000"/>
                  <a:satMod val="130000"/>
                </a:srgbClr>
              </a:gs>
              <a:gs pos="80000">
                <a:srgbClr val="176196">
                  <a:shade val="93000"/>
                  <a:satMod val="130000"/>
                </a:srgbClr>
              </a:gs>
              <a:gs pos="100000">
                <a:srgbClr val="17619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Installation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04800" y="4343400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Command &amp; Control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04800" y="4953000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Actions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Content Placeholder 2"/>
          <p:cNvSpPr>
            <a:spLocks noGrp="1"/>
          </p:cNvSpPr>
          <p:nvPr>
            <p:ph idx="1"/>
          </p:nvPr>
        </p:nvSpPr>
        <p:spPr>
          <a:xfrm>
            <a:off x="2819400" y="1447800"/>
            <a:ext cx="6324600" cy="4343400"/>
          </a:xfrm>
        </p:spPr>
        <p:txBody>
          <a:bodyPr/>
          <a:lstStyle/>
          <a:p>
            <a:pPr eaLnBrk="1" hangingPunct="1"/>
            <a:r>
              <a:rPr lang="en-US" sz="2800" dirty="0" smtClean="0"/>
              <a:t>Typical domain of forensics</a:t>
            </a:r>
          </a:p>
          <a:p>
            <a:pPr eaLnBrk="1" hangingPunct="1"/>
            <a:endParaRPr lang="en-US" sz="2800" dirty="0" smtClean="0"/>
          </a:p>
          <a:p>
            <a:pPr marL="457200" indent="-457200" eaLnBrk="1" hangingPunct="1">
              <a:buFont typeface="Arial"/>
              <a:buChar char="•"/>
            </a:pPr>
            <a:r>
              <a:rPr lang="en-US" dirty="0" smtClean="0"/>
              <a:t>File system activity</a:t>
            </a:r>
          </a:p>
          <a:p>
            <a:pPr marL="457200" indent="-457200" eaLnBrk="1" hangingPunct="1">
              <a:buFont typeface="Arial"/>
              <a:buChar char="•"/>
            </a:pPr>
            <a:r>
              <a:rPr lang="en-US" dirty="0" smtClean="0"/>
              <a:t>Registry activity</a:t>
            </a:r>
          </a:p>
          <a:p>
            <a:pPr marL="457200" indent="-457200" eaLnBrk="1" hangingPunct="1">
              <a:buFont typeface="Arial"/>
              <a:buChar char="•"/>
            </a:pPr>
            <a:r>
              <a:rPr lang="en-US" dirty="0" smtClean="0"/>
              <a:t>Entrenchment / Persistence</a:t>
            </a:r>
          </a:p>
          <a:p>
            <a:pPr marL="457200" indent="-457200" eaLnBrk="1" hangingPunct="1">
              <a:buFont typeface="Arial"/>
              <a:buChar char="•"/>
            </a:pPr>
            <a:r>
              <a:rPr lang="en-US" dirty="0" smtClean="0"/>
              <a:t>Anti-Forensics</a:t>
            </a:r>
          </a:p>
        </p:txBody>
      </p:sp>
    </p:spTree>
    <p:extLst>
      <p:ext uri="{BB962C8B-B14F-4D97-AF65-F5344CB8AC3E}">
        <p14:creationId xmlns:p14="http://schemas.microsoft.com/office/powerpoint/2010/main" val="6772847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Installation – Collection Tools</a:t>
            </a:r>
            <a:endParaRPr lang="en-US" dirty="0"/>
          </a:p>
        </p:txBody>
      </p:sp>
      <p:sp>
        <p:nvSpPr>
          <p:cNvPr id="13" name="Right Arrow 12"/>
          <p:cNvSpPr/>
          <p:nvPr/>
        </p:nvSpPr>
        <p:spPr>
          <a:xfrm rot="5400000">
            <a:off x="-862012" y="3109913"/>
            <a:ext cx="4648200" cy="1171575"/>
          </a:xfrm>
          <a:prstGeom prst="rightArrow">
            <a:avLst/>
          </a:prstGeom>
          <a:solidFill>
            <a:srgbClr val="BFBFBF"/>
          </a:solidFill>
          <a:ln w="25400" cap="flat" cmpd="sng" algn="ctr">
            <a:solidFill>
              <a:srgbClr val="BFBFBF">
                <a:shade val="50000"/>
              </a:srgb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04800" y="1485899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Reconnaissance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04800" y="2028824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Weaponization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04800" y="2590801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Delivery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04800" y="3162299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Exploitation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04800" y="3733801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176196">
                  <a:shade val="51000"/>
                  <a:satMod val="130000"/>
                </a:srgbClr>
              </a:gs>
              <a:gs pos="80000">
                <a:srgbClr val="176196">
                  <a:shade val="93000"/>
                  <a:satMod val="130000"/>
                </a:srgbClr>
              </a:gs>
              <a:gs pos="100000">
                <a:srgbClr val="17619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Installation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04800" y="4343401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Command &amp; Control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04800" y="4953001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Actions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Content Placeholder 2"/>
          <p:cNvSpPr>
            <a:spLocks noGrp="1"/>
          </p:cNvSpPr>
          <p:nvPr>
            <p:ph idx="1"/>
          </p:nvPr>
        </p:nvSpPr>
        <p:spPr bwMode="auto">
          <a:xfrm>
            <a:off x="2743200" y="1447801"/>
            <a:ext cx="640080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Noriben</a:t>
            </a:r>
            <a:endParaRPr kumimoji="0" lang="en-US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42950" lvl="2" indent="-342900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https://github.com/Rurik/Noriben</a:t>
            </a: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CaptureBAT</a:t>
            </a:r>
            <a:endParaRPr kumimoji="0" lang="en-US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Cuckoo Sandbox</a:t>
            </a: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Web-based:</a:t>
            </a:r>
          </a:p>
          <a:p>
            <a:pPr marL="742950" lvl="2" indent="-342900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Anubis   - https://anubis.iseclab.org</a:t>
            </a:r>
          </a:p>
          <a:p>
            <a:pPr marL="742950" lvl="2" indent="-342900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Eureka!  - http://eureka.cyber-ta.org</a:t>
            </a:r>
          </a:p>
          <a:p>
            <a:pPr marL="742950" lvl="2" indent="-342900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</a:pP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Malwr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   - https://malwr.com</a:t>
            </a:r>
          </a:p>
          <a:p>
            <a:pPr marL="742950" lvl="2" indent="-342900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</a:pP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ThreatExpert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- http://www.threatexpert.com</a:t>
            </a:r>
          </a:p>
          <a:p>
            <a:pPr marL="342900" marR="0" lvl="1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7362771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Noriben</a:t>
            </a:r>
            <a:r>
              <a:rPr lang="en-US" dirty="0" smtClean="0"/>
              <a:t> v1.6 (Beta release)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0" y="1447800"/>
            <a:ext cx="9144000" cy="5638800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sz="1000" b="1" dirty="0" smtClean="0">
                <a:latin typeface="Courier New"/>
                <a:cs typeface="Courier New"/>
              </a:rPr>
              <a:t>Processes Created:</a:t>
            </a:r>
          </a:p>
          <a:p>
            <a:pPr>
              <a:spcBef>
                <a:spcPts val="0"/>
              </a:spcBef>
              <a:buNone/>
            </a:pPr>
            <a:r>
              <a:rPr lang="en-US" sz="1000" b="1" dirty="0" smtClean="0">
                <a:latin typeface="Courier New"/>
                <a:cs typeface="Courier New"/>
              </a:rPr>
              <a:t>==================</a:t>
            </a:r>
          </a:p>
          <a:p>
            <a:pPr>
              <a:spcBef>
                <a:spcPts val="0"/>
              </a:spcBef>
              <a:buNone/>
            </a:pPr>
            <a:r>
              <a:rPr lang="en-US" sz="1000" b="1" dirty="0" smtClean="0">
                <a:latin typeface="Courier New"/>
                <a:cs typeface="Courier New"/>
              </a:rPr>
              <a:t>[</a:t>
            </a:r>
            <a:r>
              <a:rPr lang="en-US" sz="1000" b="1" dirty="0" err="1" smtClean="0">
                <a:latin typeface="Courier New"/>
                <a:cs typeface="Courier New"/>
              </a:rPr>
              <a:t>CreateProcess</a:t>
            </a:r>
            <a:r>
              <a:rPr lang="en-US" sz="1000" b="1" dirty="0" smtClean="0">
                <a:latin typeface="Courier New"/>
                <a:cs typeface="Courier New"/>
              </a:rPr>
              <a:t>] Explorer.EXE:1432 &gt; ”%</a:t>
            </a:r>
            <a:r>
              <a:rPr lang="en-US" sz="1000" b="1" dirty="0" err="1" smtClean="0">
                <a:latin typeface="Courier New"/>
                <a:cs typeface="Courier New"/>
              </a:rPr>
              <a:t>UserProfile</a:t>
            </a:r>
            <a:r>
              <a:rPr lang="en-US" sz="1000" b="1" dirty="0" smtClean="0">
                <a:latin typeface="Courier New"/>
                <a:cs typeface="Courier New"/>
              </a:rPr>
              <a:t>%\Desktop\</a:t>
            </a:r>
            <a:r>
              <a:rPr lang="en-US" sz="1000" b="1" dirty="0" err="1" smtClean="0">
                <a:latin typeface="Courier New"/>
                <a:cs typeface="Courier New"/>
              </a:rPr>
              <a:t>malware.exe</a:t>
            </a:r>
            <a:r>
              <a:rPr lang="en-US" sz="1000" b="1" dirty="0" smtClean="0">
                <a:latin typeface="Courier New"/>
                <a:cs typeface="Courier New"/>
              </a:rPr>
              <a:t>"	[Child PID: 2520]</a:t>
            </a:r>
          </a:p>
          <a:p>
            <a:pPr>
              <a:spcBef>
                <a:spcPts val="0"/>
              </a:spcBef>
              <a:buNone/>
            </a:pPr>
            <a:r>
              <a:rPr lang="en-US" sz="1000" b="1" dirty="0" smtClean="0">
                <a:latin typeface="Courier New"/>
                <a:cs typeface="Courier New"/>
              </a:rPr>
              <a:t>[</a:t>
            </a:r>
            <a:r>
              <a:rPr lang="en-US" sz="1000" b="1" dirty="0" err="1" smtClean="0">
                <a:latin typeface="Courier New"/>
                <a:cs typeface="Courier New"/>
              </a:rPr>
              <a:t>CreateProcess</a:t>
            </a:r>
            <a:r>
              <a:rPr lang="en-US" sz="1000" b="1" dirty="0" smtClean="0">
                <a:latin typeface="Courier New"/>
                <a:cs typeface="Courier New"/>
              </a:rPr>
              <a:t>] malware.exe:2520 &gt; "C:\WINDOWS\system32\</a:t>
            </a:r>
            <a:r>
              <a:rPr lang="en-US" sz="1000" b="1" dirty="0" err="1" smtClean="0">
                <a:latin typeface="Courier New"/>
                <a:cs typeface="Courier New"/>
              </a:rPr>
              <a:t>cmd.exe</a:t>
            </a:r>
            <a:r>
              <a:rPr lang="en-US" sz="1000" b="1" dirty="0" smtClean="0">
                <a:latin typeface="Courier New"/>
                <a:cs typeface="Courier New"/>
              </a:rPr>
              <a:t>"	[Child PID: 3444]</a:t>
            </a:r>
          </a:p>
          <a:p>
            <a:pPr>
              <a:spcBef>
                <a:spcPts val="0"/>
              </a:spcBef>
              <a:buNone/>
            </a:pPr>
            <a:r>
              <a:rPr lang="en-US" sz="1000" b="1" dirty="0" smtClean="0">
                <a:latin typeface="Courier New"/>
                <a:cs typeface="Courier New"/>
              </a:rPr>
              <a:t>[</a:t>
            </a:r>
            <a:r>
              <a:rPr lang="en-US" sz="1000" b="1" dirty="0" err="1" smtClean="0">
                <a:latin typeface="Courier New"/>
                <a:cs typeface="Courier New"/>
              </a:rPr>
              <a:t>CreateProcess</a:t>
            </a:r>
            <a:r>
              <a:rPr lang="en-US" sz="1000" b="1" dirty="0" smtClean="0">
                <a:latin typeface="Courier New"/>
                <a:cs typeface="Courier New"/>
              </a:rPr>
              <a:t>] services.exe:680 &gt; "C:\WINDOWS\System32\</a:t>
            </a:r>
            <a:r>
              <a:rPr lang="en-US" sz="1000" b="1" dirty="0" err="1" smtClean="0">
                <a:latin typeface="Courier New"/>
                <a:cs typeface="Courier New"/>
              </a:rPr>
              <a:t>svchost.exe</a:t>
            </a:r>
            <a:r>
              <a:rPr lang="en-US" sz="1000" b="1" dirty="0" smtClean="0">
                <a:latin typeface="Courier New"/>
                <a:cs typeface="Courier New"/>
              </a:rPr>
              <a:t> -k </a:t>
            </a:r>
            <a:r>
              <a:rPr lang="en-US" sz="1000" b="1" dirty="0" err="1" smtClean="0">
                <a:latin typeface="Courier New"/>
                <a:cs typeface="Courier New"/>
              </a:rPr>
              <a:t>HTTPFilter</a:t>
            </a:r>
            <a:r>
              <a:rPr lang="en-US" sz="1000" b="1" dirty="0" smtClean="0">
                <a:latin typeface="Courier New"/>
                <a:cs typeface="Courier New"/>
              </a:rPr>
              <a:t>"	[Child PID: 3512]</a:t>
            </a:r>
          </a:p>
          <a:p>
            <a:pPr>
              <a:spcBef>
                <a:spcPts val="0"/>
              </a:spcBef>
              <a:buNone/>
            </a:pPr>
            <a:endParaRPr lang="en-US" sz="1000" b="1" dirty="0" smtClean="0">
              <a:latin typeface="Courier New"/>
              <a:cs typeface="Courier New"/>
            </a:endParaRPr>
          </a:p>
          <a:p>
            <a:pPr>
              <a:spcBef>
                <a:spcPts val="0"/>
              </a:spcBef>
              <a:buNone/>
            </a:pPr>
            <a:r>
              <a:rPr lang="en-US" sz="1000" b="1" dirty="0" smtClean="0">
                <a:latin typeface="Courier New"/>
                <a:cs typeface="Courier New"/>
              </a:rPr>
              <a:t>File Activity:</a:t>
            </a:r>
          </a:p>
          <a:p>
            <a:pPr>
              <a:spcBef>
                <a:spcPts val="0"/>
              </a:spcBef>
              <a:buNone/>
            </a:pPr>
            <a:r>
              <a:rPr lang="en-US" sz="1000" b="1" dirty="0" smtClean="0">
                <a:latin typeface="Courier New"/>
                <a:cs typeface="Courier New"/>
              </a:rPr>
              <a:t>==================</a:t>
            </a:r>
          </a:p>
          <a:p>
            <a:pPr>
              <a:spcBef>
                <a:spcPts val="0"/>
              </a:spcBef>
              <a:buNone/>
            </a:pPr>
            <a:r>
              <a:rPr lang="en-US" sz="1000" b="1" dirty="0" smtClean="0">
                <a:latin typeface="Courier New"/>
                <a:cs typeface="Courier New"/>
              </a:rPr>
              <a:t>[New Folder] malware.exe:2520 &gt; C:\RECYCLER\S-1-5-21-861567501-412668190-725345543-500\$fab110457830839344b58457ddd1f357</a:t>
            </a:r>
          </a:p>
          <a:p>
            <a:pPr>
              <a:spcBef>
                <a:spcPts val="0"/>
              </a:spcBef>
              <a:buNone/>
            </a:pPr>
            <a:r>
              <a:rPr lang="en-US" sz="1000" b="1" dirty="0" smtClean="0">
                <a:latin typeface="Courier New"/>
                <a:cs typeface="Courier New"/>
              </a:rPr>
              <a:t>[New Folder] malware.exe:2520 &gt; C:\RECYCLER\S-1-5-21-861567501-412668190-725345543-500\$fab110457830839344b58457ddd1f357\L</a:t>
            </a:r>
          </a:p>
          <a:p>
            <a:pPr>
              <a:spcBef>
                <a:spcPts val="0"/>
              </a:spcBef>
              <a:buNone/>
            </a:pPr>
            <a:r>
              <a:rPr lang="en-US" sz="1000" b="1" dirty="0" smtClean="0">
                <a:latin typeface="Courier New"/>
                <a:cs typeface="Courier New"/>
              </a:rPr>
              <a:t>[New Folder] malware.exe:2520 &gt; C:\RECYCLER\S-1-5-21-861567501-412668190-725345543-500\$fab110457830839344b58457ddd1f357\U</a:t>
            </a:r>
          </a:p>
          <a:p>
            <a:pPr>
              <a:spcBef>
                <a:spcPts val="0"/>
              </a:spcBef>
              <a:buNone/>
            </a:pPr>
            <a:r>
              <a:rPr lang="en-US" sz="1000" b="1" dirty="0" smtClean="0">
                <a:latin typeface="Courier New"/>
                <a:cs typeface="Courier New"/>
              </a:rPr>
              <a:t>[</a:t>
            </a:r>
            <a:r>
              <a:rPr lang="en-US" sz="1000" b="1" dirty="0" err="1" smtClean="0">
                <a:latin typeface="Courier New"/>
                <a:cs typeface="Courier New"/>
              </a:rPr>
              <a:t>CreateFile</a:t>
            </a:r>
            <a:r>
              <a:rPr lang="en-US" sz="1000" b="1" dirty="0" smtClean="0">
                <a:latin typeface="Courier New"/>
                <a:cs typeface="Courier New"/>
              </a:rPr>
              <a:t>] malware.exe:2520 &gt; C:\RECYCLER\S-1-5-21-861567501-412668190-725345543-500\$fab110457830839344b58457ddd1f357\@ [MD5: 814c3536c2aab13763ac0beb7847a71f] [VT: Not Scanned]</a:t>
            </a:r>
          </a:p>
          <a:p>
            <a:pPr>
              <a:spcBef>
                <a:spcPts val="0"/>
              </a:spcBef>
              <a:buNone/>
            </a:pPr>
            <a:r>
              <a:rPr lang="en-US" sz="1000" b="1" dirty="0" smtClean="0">
                <a:latin typeface="Courier New"/>
                <a:cs typeface="Courier New"/>
              </a:rPr>
              <a:t>[</a:t>
            </a:r>
            <a:r>
              <a:rPr lang="en-US" sz="1000" b="1" dirty="0" err="1" smtClean="0">
                <a:latin typeface="Courier New"/>
                <a:cs typeface="Courier New"/>
              </a:rPr>
              <a:t>CreateFile</a:t>
            </a:r>
            <a:r>
              <a:rPr lang="en-US" sz="1000" b="1" dirty="0" smtClean="0">
                <a:latin typeface="Courier New"/>
                <a:cs typeface="Courier New"/>
              </a:rPr>
              <a:t>] malware.exe:2520 &gt; C:\RECYCLER\S-1-5-21-861567501-412668190-725345543-500\$fab110457830839344b58457ddd1f357\n [MD5: cfaddbb43ba973f8d15d7d2e50c63476] [YARA: </a:t>
            </a:r>
            <a:r>
              <a:rPr lang="en-US" sz="1000" b="1" dirty="0" err="1" smtClean="0">
                <a:latin typeface="Courier New"/>
                <a:cs typeface="Courier New"/>
              </a:rPr>
              <a:t>ZeroAccess</a:t>
            </a:r>
            <a:r>
              <a:rPr lang="en-US" sz="1000" b="1" dirty="0" smtClean="0">
                <a:latin typeface="Courier New"/>
                <a:cs typeface="Courier New"/>
              </a:rPr>
              <a:t>] [VT:42/46]</a:t>
            </a:r>
          </a:p>
          <a:p>
            <a:pPr>
              <a:spcBef>
                <a:spcPts val="0"/>
              </a:spcBef>
              <a:buNone/>
            </a:pPr>
            <a:r>
              <a:rPr lang="en-US" sz="1000" b="1" dirty="0" smtClean="0">
                <a:latin typeface="Courier New"/>
                <a:cs typeface="Courier New"/>
              </a:rPr>
              <a:t>[New Folder] malware.exe:2520 &gt; C:\RECYCLER\S-1-5-18</a:t>
            </a:r>
          </a:p>
          <a:p>
            <a:pPr>
              <a:spcBef>
                <a:spcPts val="0"/>
              </a:spcBef>
              <a:buNone/>
            </a:pPr>
            <a:r>
              <a:rPr lang="en-US" sz="1000" b="1" dirty="0" smtClean="0">
                <a:latin typeface="Courier New"/>
                <a:cs typeface="Courier New"/>
              </a:rPr>
              <a:t>[New Folder] malware.exe:2520 &gt; C:\RECYCLER\S-1-5-18\$fab110457830839344b58457ddd1f357</a:t>
            </a:r>
          </a:p>
          <a:p>
            <a:pPr>
              <a:spcBef>
                <a:spcPts val="0"/>
              </a:spcBef>
              <a:buNone/>
            </a:pPr>
            <a:r>
              <a:rPr lang="en-US" sz="1000" b="1" dirty="0" smtClean="0">
                <a:latin typeface="Courier New"/>
                <a:cs typeface="Courier New"/>
              </a:rPr>
              <a:t>[New Folder] malware.exe:2520 &gt; C:\RECYCLER\S-1-5-18\$fab110457830839344b58457ddd1f357\L</a:t>
            </a:r>
          </a:p>
          <a:p>
            <a:pPr>
              <a:spcBef>
                <a:spcPts val="0"/>
              </a:spcBef>
              <a:buNone/>
            </a:pPr>
            <a:r>
              <a:rPr lang="en-US" sz="1000" b="1" dirty="0" smtClean="0">
                <a:latin typeface="Courier New"/>
                <a:cs typeface="Courier New"/>
              </a:rPr>
              <a:t>[New Folder] malware.exe:2520 &gt; C:\RECYCLER\S-1-5-18\$fab110457830839344b58457ddd1f357\U</a:t>
            </a:r>
          </a:p>
          <a:p>
            <a:pPr>
              <a:spcBef>
                <a:spcPts val="0"/>
              </a:spcBef>
              <a:buNone/>
            </a:pPr>
            <a:r>
              <a:rPr lang="en-US" sz="1000" b="1" dirty="0" smtClean="0">
                <a:latin typeface="Courier New"/>
                <a:cs typeface="Courier New"/>
              </a:rPr>
              <a:t>[</a:t>
            </a:r>
            <a:r>
              <a:rPr lang="en-US" sz="1000" b="1" dirty="0" err="1" smtClean="0">
                <a:latin typeface="Courier New"/>
                <a:cs typeface="Courier New"/>
              </a:rPr>
              <a:t>CreateFile</a:t>
            </a:r>
            <a:r>
              <a:rPr lang="en-US" sz="1000" b="1" dirty="0" smtClean="0">
                <a:latin typeface="Courier New"/>
                <a:cs typeface="Courier New"/>
              </a:rPr>
              <a:t>] malware.exe:2520 &gt; C:\RECYCLER\S-1-5-18\$fab110457830839344b58457ddd1f357\@	[MD5: d1993f38046a68cc78a20560e8de9ad8]  [VT: Not Scanned]</a:t>
            </a:r>
          </a:p>
          <a:p>
            <a:pPr>
              <a:spcBef>
                <a:spcPts val="0"/>
              </a:spcBef>
              <a:buNone/>
            </a:pPr>
            <a:r>
              <a:rPr lang="en-US" sz="1000" b="1" dirty="0" smtClean="0">
                <a:latin typeface="Courier New"/>
                <a:cs typeface="Courier New"/>
              </a:rPr>
              <a:t>[</a:t>
            </a:r>
            <a:r>
              <a:rPr lang="en-US" sz="1000" b="1" dirty="0" err="1" smtClean="0">
                <a:latin typeface="Courier New"/>
                <a:cs typeface="Courier New"/>
              </a:rPr>
              <a:t>CreateFile</a:t>
            </a:r>
            <a:r>
              <a:rPr lang="en-US" sz="1000" b="1" dirty="0" smtClean="0">
                <a:latin typeface="Courier New"/>
                <a:cs typeface="Courier New"/>
              </a:rPr>
              <a:t>] malware.exe:2520 &gt; C:\RECYCLER\S-1-5-18\$fab110457830839344b58457ddd1f357\n	[MD5: cfaddbb43ba973f8d15d7d2e50c63476]  [YARA: </a:t>
            </a:r>
            <a:r>
              <a:rPr lang="en-US" sz="1000" b="1" dirty="0" err="1" smtClean="0">
                <a:latin typeface="Courier New"/>
                <a:cs typeface="Courier New"/>
              </a:rPr>
              <a:t>ZeroAccess</a:t>
            </a:r>
            <a:r>
              <a:rPr lang="en-US" sz="1000" b="1" dirty="0" smtClean="0">
                <a:latin typeface="Courier New"/>
                <a:cs typeface="Courier New"/>
              </a:rPr>
              <a:t>]  [VT:42/46]</a:t>
            </a:r>
          </a:p>
          <a:p>
            <a:pPr>
              <a:spcBef>
                <a:spcPts val="0"/>
              </a:spcBef>
              <a:buNone/>
            </a:pPr>
            <a:r>
              <a:rPr lang="en-US" sz="1000" b="1" dirty="0" smtClean="0">
                <a:latin typeface="Courier New"/>
                <a:cs typeface="Courier New"/>
              </a:rPr>
              <a:t>[</a:t>
            </a:r>
            <a:r>
              <a:rPr lang="en-US" sz="1000" b="1" dirty="0" err="1" smtClean="0">
                <a:latin typeface="Courier New"/>
                <a:cs typeface="Courier New"/>
              </a:rPr>
              <a:t>CreateFile</a:t>
            </a:r>
            <a:r>
              <a:rPr lang="en-US" sz="1000" b="1" dirty="0" smtClean="0">
                <a:latin typeface="Courier New"/>
                <a:cs typeface="Courier New"/>
              </a:rPr>
              <a:t>] services.exe:680 &gt; C:\RECYCLER\S-1-5-18\$fab110457830839344b58457ddd1f357\@	[MD5: d1993f38046a68cc78a20560e8de9ad8]  [VT: Not Scanned]</a:t>
            </a:r>
          </a:p>
          <a:p>
            <a:pPr>
              <a:spcBef>
                <a:spcPts val="0"/>
              </a:spcBef>
              <a:buNone/>
            </a:pPr>
            <a:r>
              <a:rPr lang="en-US" sz="1000" b="1" dirty="0" smtClean="0">
                <a:latin typeface="Courier New"/>
                <a:cs typeface="Courier New"/>
              </a:rPr>
              <a:t>[New Folder] services.exe:680 &gt; C:\RECYCLER\S-1-5-18\$fab110457830839344b58457ddd1f357\U</a:t>
            </a:r>
          </a:p>
          <a:p>
            <a:pPr>
              <a:spcBef>
                <a:spcPts val="0"/>
              </a:spcBef>
              <a:buNone/>
            </a:pPr>
            <a:r>
              <a:rPr lang="en-US" sz="1000" b="1" dirty="0" smtClean="0">
                <a:latin typeface="Courier New"/>
                <a:cs typeface="Courier New"/>
              </a:rPr>
              <a:t>[</a:t>
            </a:r>
            <a:r>
              <a:rPr lang="en-US" sz="1000" b="1" dirty="0" err="1" smtClean="0">
                <a:latin typeface="Courier New"/>
                <a:cs typeface="Courier New"/>
              </a:rPr>
              <a:t>DeleteFile</a:t>
            </a:r>
            <a:r>
              <a:rPr lang="en-US" sz="1000" b="1" dirty="0" smtClean="0">
                <a:latin typeface="Courier New"/>
                <a:cs typeface="Courier New"/>
              </a:rPr>
              <a:t>] cmd.exe:3444  %</a:t>
            </a:r>
            <a:r>
              <a:rPr lang="en-US" sz="1000" b="1" dirty="0" err="1" smtClean="0">
                <a:latin typeface="Courier New"/>
                <a:cs typeface="Courier New"/>
              </a:rPr>
              <a:t>UserProfile</a:t>
            </a:r>
            <a:r>
              <a:rPr lang="en-US" sz="1000" b="1" dirty="0" smtClean="0">
                <a:latin typeface="Courier New"/>
                <a:cs typeface="Courier New"/>
              </a:rPr>
              <a:t>%\Desktop\</a:t>
            </a:r>
            <a:r>
              <a:rPr lang="en-US" sz="1000" b="1" dirty="0" err="1" smtClean="0">
                <a:latin typeface="Courier New"/>
                <a:cs typeface="Courier New"/>
              </a:rPr>
              <a:t>malware.exe</a:t>
            </a:r>
            <a:endParaRPr lang="en-US" sz="1000" b="1" dirty="0" smtClean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2219554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Command and Control (C2)</a:t>
            </a:r>
            <a:endParaRPr lang="en-US" dirty="0"/>
          </a:p>
        </p:txBody>
      </p:sp>
      <p:sp>
        <p:nvSpPr>
          <p:cNvPr id="13" name="Right Arrow 12"/>
          <p:cNvSpPr/>
          <p:nvPr/>
        </p:nvSpPr>
        <p:spPr>
          <a:xfrm rot="5400000">
            <a:off x="-862012" y="3109913"/>
            <a:ext cx="4648200" cy="1171575"/>
          </a:xfrm>
          <a:prstGeom prst="rightArrow">
            <a:avLst/>
          </a:prstGeom>
          <a:solidFill>
            <a:srgbClr val="BFBFBF"/>
          </a:solidFill>
          <a:ln w="25400" cap="flat" cmpd="sng" algn="ctr">
            <a:solidFill>
              <a:srgbClr val="BFBFBF">
                <a:shade val="50000"/>
              </a:srgb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04800" y="1485899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Reconnaissance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04800" y="2028824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Weaponization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04800" y="2590801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Delivery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04800" y="3162299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Exploitation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04800" y="3733801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Installation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04800" y="4343401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176196">
                  <a:shade val="51000"/>
                  <a:satMod val="130000"/>
                </a:srgbClr>
              </a:gs>
              <a:gs pos="80000">
                <a:srgbClr val="176196">
                  <a:shade val="93000"/>
                  <a:satMod val="130000"/>
                </a:srgbClr>
              </a:gs>
              <a:gs pos="100000">
                <a:srgbClr val="17619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Command &amp; Control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04800" y="4953001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Actions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Content Placeholder 2"/>
          <p:cNvSpPr>
            <a:spLocks noGrp="1"/>
          </p:cNvSpPr>
          <p:nvPr>
            <p:ph idx="1"/>
          </p:nvPr>
        </p:nvSpPr>
        <p:spPr bwMode="auto">
          <a:xfrm>
            <a:off x="2819400" y="1447801"/>
            <a:ext cx="640080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itchFamily="49" charset="0"/>
              </a:rPr>
              <a:t>http://&lt;DOMAIN&gt;/kys_allow_get.asp?name=getkys.jpg&amp;hostname=HOSTNAME-192.168.1.120130623SCRyyy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anose="02070309020205020404" pitchFamily="49" charset="0"/>
              <a:cs typeface="Courier New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itchFamily="49" charset="0"/>
              </a:rPr>
              <a:t>http://&lt;DOMAIN&gt;/web/movie.swf?apple=8A969692D8CDCDD0D0D0CCD0D0DACCD0D0D0CCD0D1D7CD958780CD96878F92CC879A87E2E2E2E2</a:t>
            </a:r>
            <a:endParaRPr kumimoji="0" lang="en-US" sz="11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1400" b="1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256-byte seemingly random beacons: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00000000   F9 B5 A0 96 DE 35 E0 33  F8 BD 9C 49 E2 3E E4 EF   ùµ –Þ5à3ø½œIâ&gt;</a:t>
            </a:r>
            <a:r>
              <a:rPr kumimoji="0" lang="en-US" sz="10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äï</a:t>
            </a:r>
            <a:endParaRPr kumimoji="0" lang="en-US" sz="10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00000016   D6 FD 8D 60 03 22 A0 52  0E FC 0B C9 35 70 9A AC   </a:t>
            </a:r>
            <a:r>
              <a:rPr kumimoji="0" lang="en-US" sz="10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Öý</a:t>
            </a: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`." R.ü.É5pš¬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00000032   34 16 95 67 90 CB F5 34  76 F5 DC 99 04 73 7E E2   4.•gËõ4võÜ™.s~â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00000048   FB 90 45 82 65 3A AC 44  C0 EC 0A 6A E0 6E 90 B7   </a:t>
            </a:r>
            <a:r>
              <a:rPr kumimoji="0" lang="en-US" sz="10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ûE‚e</a:t>
            </a: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:¬</a:t>
            </a:r>
            <a:r>
              <a:rPr kumimoji="0" lang="en-US" sz="10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DÀì.jàn</a:t>
            </a: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·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00000064   0D CC BF EC 5E 6B 32 6F  08 84 09 8E 46 C9 3C 48   .Ì¿ì^k2o.„.ŽFÉ&lt;H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00000080   75 CD 21 56 0C 0B A9 E4  96 37 D9 64 93 33 D7 43   </a:t>
            </a:r>
            <a:r>
              <a:rPr kumimoji="0" lang="en-US" sz="10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uÍ!V</a:t>
            </a: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..©ä–7Ùd“3×C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00000096   BA E0 A1 C8 CB BB A7 4B  D3 ED AF 4D 1C 28 87 FD   º</a:t>
            </a:r>
            <a:r>
              <a:rPr kumimoji="0" lang="en-US" sz="10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à¡ÈË</a:t>
            </a: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»§</a:t>
            </a:r>
            <a:r>
              <a:rPr kumimoji="0" lang="en-US" sz="10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KÓí¯M</a:t>
            </a: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.(‡ý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00000112   65 33 97 8D 20 3D 88 B6  B5 CE 10 CA CC 4D 27 76   e3— =ˆ¶µ</a:t>
            </a:r>
            <a:r>
              <a:rPr kumimoji="0" lang="en-US" sz="10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Î.ÊÌM'v</a:t>
            </a:r>
            <a:endParaRPr kumimoji="0" lang="en-US" sz="10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00000128   63 19 63 7B ED 98 EE 0A  6A 5D 71 AC B9 10 BD C6   </a:t>
            </a:r>
            <a:r>
              <a:rPr kumimoji="0" lang="en-US" sz="10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c.c</a:t>
            </a: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{</a:t>
            </a:r>
            <a:r>
              <a:rPr kumimoji="0" lang="en-US" sz="10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í˜î.j</a:t>
            </a: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]q¬¹.½Æ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00000144   A7 9A 86 EB 17 D0 97 E7  86 D5 9A FD D4 12 27 01   §</a:t>
            </a:r>
            <a:r>
              <a:rPr kumimoji="0" lang="en-US" sz="10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š†ë.Ð</a:t>
            </a: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—</a:t>
            </a:r>
            <a:r>
              <a:rPr kumimoji="0" lang="en-US" sz="10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ç†ÕšýÔ</a:t>
            </a: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.'.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00000160   4E 6A 20 D8 B0 55 02 E8  1C 44 9C 35 8F AC C4 0A   </a:t>
            </a:r>
            <a:r>
              <a:rPr kumimoji="0" lang="en-US" sz="10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Nj</a:t>
            </a: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 Ø°U.è.Dœ5¬Ä.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00000176   0A 19 70 E3 4C E6 B9 3B  6B C1 73 E2 1B C0 27 CD   ..pãLæ¹;kÁsâ.À'Í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00000192   BF 5D E8 6E 68 02 27 50  5D C6 35 EB F5 44 8C 45   ¿]</a:t>
            </a:r>
            <a:r>
              <a:rPr kumimoji="0" lang="en-US" sz="10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ènh</a:t>
            </a: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.'P]Æ5ëõDŒE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00000208   B7 B4 08 D6 BE B0 9E 3E  F8 D8 A9 79 EC D3 19 50   ·´.Ö¾°ž&gt;</a:t>
            </a:r>
            <a:r>
              <a:rPr kumimoji="0" lang="en-US" sz="10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øØ©yìÓ.P</a:t>
            </a:r>
            <a:endParaRPr kumimoji="0" lang="en-US" sz="10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00000224   19 5F 22 BE 00 A8 36 6B  FA 35 9E BF 3F 86 E1 F4   ._"¾.¨6kú5ž¿?†</a:t>
            </a:r>
            <a:r>
              <a:rPr kumimoji="0" lang="en-US" sz="10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áô</a:t>
            </a:r>
            <a:endParaRPr kumimoji="0" lang="en-US" sz="10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00000240   EF CB 33 09 48 5D A8 05  8C 57 A1 CC E8 F4 6B 31   ïË3.H]¨.ŒW¡Ìèôk1</a:t>
            </a:r>
            <a:endParaRPr kumimoji="0" lang="en-US" sz="1000" b="1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34153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Command and Control (C2) Identification</a:t>
            </a:r>
            <a:endParaRPr lang="en-US" dirty="0"/>
          </a:p>
        </p:txBody>
      </p:sp>
      <p:sp>
        <p:nvSpPr>
          <p:cNvPr id="14" name="Right Arrow 13"/>
          <p:cNvSpPr/>
          <p:nvPr/>
        </p:nvSpPr>
        <p:spPr>
          <a:xfrm rot="5400000">
            <a:off x="-862012" y="3109912"/>
            <a:ext cx="4648200" cy="1171575"/>
          </a:xfrm>
          <a:prstGeom prst="rightArrow">
            <a:avLst/>
          </a:prstGeom>
          <a:solidFill>
            <a:srgbClr val="BFBFBF"/>
          </a:solidFill>
          <a:ln w="25400" cap="flat" cmpd="sng" algn="ctr">
            <a:solidFill>
              <a:srgbClr val="BFBFBF">
                <a:shade val="50000"/>
              </a:srgb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04800" y="1485898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Reconnaissance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04800" y="2028823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Weaponization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04800" y="2590800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Delivery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04800" y="3162298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Exploitation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04800" y="3733800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Installation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04800" y="4343400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176196">
                  <a:shade val="51000"/>
                  <a:satMod val="130000"/>
                </a:srgbClr>
              </a:gs>
              <a:gs pos="80000">
                <a:srgbClr val="176196">
                  <a:shade val="93000"/>
                  <a:satMod val="130000"/>
                </a:srgbClr>
              </a:gs>
              <a:gs pos="100000">
                <a:srgbClr val="17619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Command &amp; Control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04800" y="4953000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Actions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Content Placeholder 2"/>
          <p:cNvSpPr>
            <a:spLocks noGrp="1"/>
          </p:cNvSpPr>
          <p:nvPr>
            <p:ph idx="1"/>
          </p:nvPr>
        </p:nvSpPr>
        <p:spPr bwMode="auto">
          <a:xfrm>
            <a:off x="2743200" y="1143000"/>
            <a:ext cx="640080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DeepEnd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Research Library of Malware Traffic Patterns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	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2057400"/>
            <a:ext cx="6096000" cy="3973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2171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Command and Control (C2) Collection</a:t>
            </a:r>
            <a:endParaRPr lang="en-US" dirty="0"/>
          </a:p>
        </p:txBody>
      </p:sp>
      <p:sp>
        <p:nvSpPr>
          <p:cNvPr id="13" name="Right Arrow 12"/>
          <p:cNvSpPr/>
          <p:nvPr/>
        </p:nvSpPr>
        <p:spPr>
          <a:xfrm rot="5400000">
            <a:off x="-862012" y="3109913"/>
            <a:ext cx="4648200" cy="1171575"/>
          </a:xfrm>
          <a:prstGeom prst="rightArrow">
            <a:avLst/>
          </a:prstGeom>
          <a:solidFill>
            <a:srgbClr val="BFBFBF"/>
          </a:solidFill>
          <a:ln w="25400" cap="flat" cmpd="sng" algn="ctr">
            <a:solidFill>
              <a:srgbClr val="BFBFBF">
                <a:shade val="50000"/>
              </a:srgb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04800" y="1485899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Reconnaissance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04800" y="2028824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Weaponization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04800" y="2590801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Delivery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04800" y="3162299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Exploitation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04800" y="3733801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Installation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04800" y="4343401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176196">
                  <a:shade val="51000"/>
                  <a:satMod val="130000"/>
                </a:srgbClr>
              </a:gs>
              <a:gs pos="80000">
                <a:srgbClr val="176196">
                  <a:shade val="93000"/>
                  <a:satMod val="130000"/>
                </a:srgbClr>
              </a:gs>
              <a:gs pos="100000">
                <a:srgbClr val="17619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Command &amp; Control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04800" y="4953001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Actions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Content Placeholder 2"/>
          <p:cNvSpPr>
            <a:spLocks noGrp="1"/>
          </p:cNvSpPr>
          <p:nvPr>
            <p:ph idx="1"/>
          </p:nvPr>
        </p:nvSpPr>
        <p:spPr bwMode="auto">
          <a:xfrm>
            <a:off x="2743200" y="1447801"/>
            <a:ext cx="640080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WireShark</a:t>
            </a:r>
            <a:endParaRPr kumimoji="0" lang="en-US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FakeNET</a:t>
            </a:r>
            <a:endParaRPr kumimoji="0" lang="en-US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57250" lvl="2" indent="-457200" defTabSz="914400" eaLnBrk="1" fontAlgn="auto" hangingPunct="1"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Char char="•"/>
            </a:pP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practicalmalwareanalysis.com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/fakenet</a:t>
            </a: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Netcat</a:t>
            </a: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Known C2 Clients</a:t>
            </a:r>
          </a:p>
          <a:p>
            <a:pPr marL="857250" lvl="2" indent="-457200" defTabSz="914400" eaLnBrk="1" fontAlgn="auto" hangingPunct="1"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Char char="•"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Commodity RAT / Custom RAT</a:t>
            </a: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Python / Perl</a:t>
            </a:r>
          </a:p>
          <a:p>
            <a:pPr marL="857250" lvl="2" indent="-457200" defTabSz="914400" eaLnBrk="1" fontAlgn="auto" hangingPunct="1"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Char char="•"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On-the-fly C2 clients</a:t>
            </a:r>
          </a:p>
        </p:txBody>
      </p:sp>
    </p:spTree>
    <p:extLst>
      <p:ext uri="{BB962C8B-B14F-4D97-AF65-F5344CB8AC3E}">
        <p14:creationId xmlns:p14="http://schemas.microsoft.com/office/powerpoint/2010/main" val="37168132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Command and Control (C2) Collection</a:t>
            </a:r>
            <a:endParaRPr lang="en-US" dirty="0"/>
          </a:p>
        </p:txBody>
      </p:sp>
      <p:sp>
        <p:nvSpPr>
          <p:cNvPr id="13" name="Right Arrow 12"/>
          <p:cNvSpPr/>
          <p:nvPr/>
        </p:nvSpPr>
        <p:spPr>
          <a:xfrm rot="5400000">
            <a:off x="-862012" y="3109912"/>
            <a:ext cx="4648200" cy="1171575"/>
          </a:xfrm>
          <a:prstGeom prst="rightArrow">
            <a:avLst/>
          </a:prstGeom>
          <a:solidFill>
            <a:srgbClr val="BFBFBF"/>
          </a:solidFill>
          <a:ln w="25400" cap="flat" cmpd="sng" algn="ctr">
            <a:solidFill>
              <a:srgbClr val="BFBFBF">
                <a:shade val="50000"/>
              </a:srgb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04800" y="1485898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Reconnaissance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04800" y="2028823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Weaponization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04800" y="2590800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Delivery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04800" y="3162298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Exploitation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04800" y="3733800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Installation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04800" y="4343400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176196">
                  <a:shade val="51000"/>
                  <a:satMod val="130000"/>
                </a:srgbClr>
              </a:gs>
              <a:gs pos="80000">
                <a:srgbClr val="176196">
                  <a:shade val="93000"/>
                  <a:satMod val="130000"/>
                </a:srgbClr>
              </a:gs>
              <a:gs pos="100000">
                <a:srgbClr val="17619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Command &amp; Control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04800" y="4953000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Actions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Content Placeholder 2"/>
          <p:cNvSpPr>
            <a:spLocks noGrp="1"/>
          </p:cNvSpPr>
          <p:nvPr>
            <p:ph idx="1"/>
          </p:nvPr>
        </p:nvSpPr>
        <p:spPr bwMode="auto">
          <a:xfrm>
            <a:off x="2743200" y="1295400"/>
            <a:ext cx="64008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Configuration Dumpers (Static)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1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     e.g.  github.com/</a:t>
            </a:r>
            <a:r>
              <a:rPr kumimoji="0" lang="en-US" sz="21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MalwareLu</a:t>
            </a:r>
            <a:r>
              <a:rPr kumimoji="0" lang="en-US" sz="21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/</a:t>
            </a:r>
            <a:r>
              <a:rPr kumimoji="0" lang="en-US" sz="21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config_extractor</a:t>
            </a:r>
            <a:r>
              <a:rPr kumimoji="0" lang="en-US" sz="21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45720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sz="1300" dirty="0" smtClean="0">
                <a:solidFill>
                  <a:sysClr val="windowText" lastClr="000000"/>
                </a:solidFill>
                <a:latin typeface="Courier Final Draft"/>
                <a:cs typeface="Courier New" pitchFamily="49" charset="0"/>
              </a:rPr>
              <a:t>$ </a:t>
            </a:r>
            <a:r>
              <a:rPr kumimoji="0" lang="en-US" sz="13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Final Draft"/>
                <a:cs typeface="Courier New" pitchFamily="49" charset="0"/>
              </a:rPr>
              <a:t>config_jRAT.py</a:t>
            </a:r>
            <a:r>
              <a:rPr kumimoji="0" lang="en-US" sz="13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Final Draft"/>
                <a:cs typeface="Courier New" pitchFamily="49" charset="0"/>
              </a:rPr>
              <a:t> </a:t>
            </a:r>
            <a:r>
              <a:rPr kumimoji="0" lang="en-US" sz="13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Final Draft"/>
                <a:cs typeface="Courier New" pitchFamily="49" charset="0"/>
              </a:rPr>
              <a:t>malware.jar</a:t>
            </a:r>
            <a:endParaRPr kumimoji="0" lang="en-US" sz="13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Final Draft"/>
              <a:cs typeface="Courier New" pitchFamily="49" charset="0"/>
            </a:endParaRPr>
          </a:p>
          <a:p>
            <a:pPr marL="45720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13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Final Draft"/>
              <a:cs typeface="Courier New" pitchFamily="49" charset="0"/>
            </a:endParaRPr>
          </a:p>
          <a:p>
            <a:pPr marL="45720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Final Draft"/>
                <a:cs typeface="Courier New" pitchFamily="49" charset="0"/>
              </a:rPr>
              <a:t>port=31337</a:t>
            </a:r>
          </a:p>
          <a:p>
            <a:pPr marL="45720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Final Draft"/>
                <a:cs typeface="Courier New" pitchFamily="49" charset="0"/>
              </a:rPr>
              <a:t>os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Final Draft"/>
                <a:cs typeface="Courier New" pitchFamily="49" charset="0"/>
              </a:rPr>
              <a:t>=win mac</a:t>
            </a:r>
          </a:p>
          <a:p>
            <a:pPr marL="45720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Final Draft"/>
                <a:cs typeface="Courier New" pitchFamily="49" charset="0"/>
              </a:rPr>
              <a:t>mport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Final Draft"/>
                <a:cs typeface="Courier New" pitchFamily="49" charset="0"/>
              </a:rPr>
              <a:t>=-1</a:t>
            </a:r>
          </a:p>
          <a:p>
            <a:pPr marL="45720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Final Draft"/>
                <a:cs typeface="Courier New" pitchFamily="49" charset="0"/>
              </a:rPr>
              <a:t>perms=-1</a:t>
            </a:r>
          </a:p>
          <a:p>
            <a:pPr marL="45720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Final Draft"/>
                <a:cs typeface="Courier New" pitchFamily="49" charset="0"/>
              </a:rPr>
              <a:t>error=true</a:t>
            </a:r>
          </a:p>
          <a:p>
            <a:pPr marL="45720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Final Draft"/>
                <a:cs typeface="Courier New" pitchFamily="49" charset="0"/>
              </a:rPr>
              <a:t>reconsec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Final Draft"/>
                <a:cs typeface="Courier New" pitchFamily="49" charset="0"/>
              </a:rPr>
              <a:t>=10</a:t>
            </a:r>
          </a:p>
          <a:p>
            <a:pPr marL="45720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Final Draft"/>
                <a:cs typeface="Courier New" pitchFamily="49" charset="0"/>
              </a:rPr>
              <a:t>ti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Final Draft"/>
                <a:cs typeface="Courier New" pitchFamily="49" charset="0"/>
              </a:rPr>
              <a:t>=false</a:t>
            </a:r>
          </a:p>
          <a:p>
            <a:pPr marL="45720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Final Draft"/>
                <a:cs typeface="Courier New" pitchFamily="49" charset="0"/>
              </a:rPr>
              <a:t>ip=www.malware.com</a:t>
            </a:r>
          </a:p>
          <a:p>
            <a:pPr marL="45720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Final Draft"/>
                <a:cs typeface="Courier New" pitchFamily="49" charset="0"/>
              </a:rPr>
              <a:t>pass=password</a:t>
            </a:r>
          </a:p>
          <a:p>
            <a:pPr marL="45720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Final Draft"/>
                <a:cs typeface="Courier New" pitchFamily="49" charset="0"/>
              </a:rPr>
              <a:t>id=CAMPAIGN</a:t>
            </a:r>
          </a:p>
          <a:p>
            <a:pPr marL="45720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Final Draft"/>
                <a:cs typeface="Courier New" pitchFamily="49" charset="0"/>
              </a:rPr>
              <a:t>mutex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Final Draft"/>
                <a:cs typeface="Courier New" pitchFamily="49" charset="0"/>
              </a:rPr>
              <a:t>=false</a:t>
            </a:r>
          </a:p>
          <a:p>
            <a:pPr marL="45720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Final Draft"/>
                <a:cs typeface="Courier New" pitchFamily="49" charset="0"/>
              </a:rPr>
              <a:t>toms=-1</a:t>
            </a:r>
          </a:p>
          <a:p>
            <a:pPr marL="45720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Final Draft"/>
                <a:cs typeface="Courier New" pitchFamily="49" charset="0"/>
              </a:rPr>
              <a:t>per=false</a:t>
            </a:r>
          </a:p>
          <a:p>
            <a:pPr marL="45720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Final Draft"/>
                <a:cs typeface="Courier New" pitchFamily="49" charset="0"/>
              </a:rPr>
              <a:t>name=</a:t>
            </a:r>
          </a:p>
          <a:p>
            <a:pPr marL="45720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Final Draft"/>
                <a:cs typeface="Courier New" pitchFamily="49" charset="0"/>
              </a:rPr>
              <a:t>timeout=false</a:t>
            </a:r>
          </a:p>
          <a:p>
            <a:pPr marL="45720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Final Draft"/>
                <a:cs typeface="Courier New" pitchFamily="49" charset="0"/>
              </a:rPr>
              <a:t>debugmsg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Final Draft"/>
                <a:cs typeface="Courier New" pitchFamily="49" charset="0"/>
              </a:rPr>
              <a:t>=true</a:t>
            </a:r>
            <a:endParaRPr kumimoji="0" lang="en-US" sz="13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Final Draft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1995525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Command and Control (C2) Collection</a:t>
            </a:r>
            <a:endParaRPr lang="en-US" dirty="0"/>
          </a:p>
        </p:txBody>
      </p:sp>
      <p:sp>
        <p:nvSpPr>
          <p:cNvPr id="22" name="Right Arrow 21"/>
          <p:cNvSpPr/>
          <p:nvPr/>
        </p:nvSpPr>
        <p:spPr>
          <a:xfrm rot="5400000">
            <a:off x="-862012" y="3109912"/>
            <a:ext cx="4648200" cy="1171575"/>
          </a:xfrm>
          <a:prstGeom prst="rightArrow">
            <a:avLst/>
          </a:prstGeom>
          <a:solidFill>
            <a:srgbClr val="BFBFBF"/>
          </a:solidFill>
          <a:ln w="25400" cap="flat" cmpd="sng" algn="ctr">
            <a:solidFill>
              <a:srgbClr val="BFBFBF">
                <a:shade val="50000"/>
              </a:srgb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304800" y="1485898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Reconnaissance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04800" y="2028823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Weaponization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304800" y="2590800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Delivery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04800" y="3162298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Exploitation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04800" y="3733800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Installation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04800" y="4343400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176196">
                  <a:shade val="51000"/>
                  <a:satMod val="130000"/>
                </a:srgbClr>
              </a:gs>
              <a:gs pos="80000">
                <a:srgbClr val="176196">
                  <a:shade val="93000"/>
                  <a:satMod val="130000"/>
                </a:srgbClr>
              </a:gs>
              <a:gs pos="100000">
                <a:srgbClr val="17619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Command &amp; Control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04800" y="4953000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Actions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Content Placeholder 2"/>
          <p:cNvSpPr>
            <a:spLocks noGrp="1"/>
          </p:cNvSpPr>
          <p:nvPr>
            <p:ph idx="1"/>
          </p:nvPr>
        </p:nvSpPr>
        <p:spPr bwMode="auto">
          <a:xfrm>
            <a:off x="2819400" y="1295400"/>
            <a:ext cx="64008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Configuration Dumpers (Memory)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E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:\</a:t>
            </a:r>
            <a:r>
              <a:rPr kumimoji="0" 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VMs&gt; vol.py -f </a:t>
            </a:r>
            <a:r>
              <a:rPr kumimoji="0" lang="en-US" sz="10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WinXP_Malware.vmem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sz="1000" b="1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pslist</a:t>
            </a:r>
            <a:endParaRPr kumimoji="0" lang="en-US" sz="1000" b="1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Offset(V)  Name       </a:t>
            </a:r>
            <a:r>
              <a:rPr kumimoji="0" 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PID   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PPID  </a:t>
            </a:r>
            <a:r>
              <a:rPr kumimoji="0" 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            Start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---------- -------- 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------ </a:t>
            </a:r>
            <a:r>
              <a:rPr kumimoji="0" 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------ --------------------</a:t>
            </a:r>
            <a:endParaRPr kumimoji="0" lang="en-US" sz="10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fr-FR" sz="10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0x81efc550 </a:t>
            </a:r>
            <a:r>
              <a:rPr kumimoji="0" lang="fr-FR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java.exe  </a:t>
            </a:r>
            <a:r>
              <a:rPr kumimoji="0" lang="fr-FR" sz="10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fr-FR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1920    660 </a:t>
            </a:r>
            <a:r>
              <a:rPr kumimoji="0" lang="fr-FR" sz="10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fr-FR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2013-09-18 </a:t>
            </a:r>
            <a:r>
              <a:rPr kumimoji="0" lang="fr-FR" sz="10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22:23:10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fr-FR" sz="1000" b="1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fr-FR" sz="10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fr-FR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E:\</a:t>
            </a:r>
            <a:r>
              <a:rPr kumimoji="0" lang="fr-FR" sz="10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VMs&gt; vol.py -f </a:t>
            </a:r>
            <a:r>
              <a:rPr kumimoji="0" lang="fr-FR" sz="10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WinXP_Malware.vmem</a:t>
            </a:r>
            <a:r>
              <a:rPr kumimoji="0" lang="fr-FR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fr-FR" sz="10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memdump</a:t>
            </a:r>
            <a:r>
              <a:rPr kumimoji="0" lang="fr-FR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-p 1920 -D dump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fr-FR" sz="1000" b="1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Writing</a:t>
            </a:r>
            <a:r>
              <a:rPr kumimoji="0" lang="fr-FR" sz="10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fr-FR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java.exe [  1920] to </a:t>
            </a:r>
            <a:r>
              <a:rPr kumimoji="0" lang="fr-FR" sz="10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1920.dmp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fr-FR" sz="1000" b="1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fr-FR" sz="10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E:\</a:t>
            </a:r>
            <a:r>
              <a:rPr kumimoji="0" 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VMs&gt; vol.py 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-f </a:t>
            </a:r>
            <a:r>
              <a:rPr kumimoji="0" lang="en-US" sz="10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WinXP_Malware.vmem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sz="10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yarascan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-p 1920 </a:t>
            </a:r>
            <a:r>
              <a:rPr kumimoji="0" 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–Y “SPLIT”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Owner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: Process java.exe </a:t>
            </a:r>
            <a:r>
              <a:rPr kumimoji="0" lang="en-US" sz="10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Pid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1920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0x2abadbec  53 50 4c 49 54 03 03 03 69 70 3d 77 77 77 2e 6d   SPLIT...</a:t>
            </a:r>
            <a:r>
              <a:rPr kumimoji="0" lang="en-US" sz="10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ip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=www.m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0x2abadbfc  61 6c 77 61 72 65 2e 63 6f 6d 53 50 4c 49 54 09   </a:t>
            </a:r>
            <a:r>
              <a:rPr kumimoji="0" lang="en-US" sz="10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alware.comSPLIT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0x2abadc0c  09 09 09 09 09 09 09 09 70 61 73 73 3d 70 61 73   ........pass=pas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0x2abadc1c  73 77 6f 72 64 53 50 4c 49 54 0e </a:t>
            </a:r>
            <a:r>
              <a:rPr kumimoji="0" lang="en-US" sz="10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0e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sz="10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0e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sz="10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0e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sz="10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0e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sz="10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0e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  </a:t>
            </a:r>
            <a:r>
              <a:rPr kumimoji="0" lang="en-US" sz="10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swordSPLIT</a:t>
            </a:r>
            <a:r>
              <a:rPr kumimoji="0" 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......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10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0x2abadc21  53 50 4c 49 54 0e </a:t>
            </a:r>
            <a:r>
              <a:rPr kumimoji="0" lang="en-US" sz="10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0e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sz="10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0e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sz="10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0e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sz="10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0e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sz="10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0e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sz="10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0e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sz="10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0e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sz="10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0e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sz="10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0e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sz="10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0e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  SPLIT...........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0x2abadc31  0e </a:t>
            </a:r>
            <a:r>
              <a:rPr kumimoji="0" lang="en-US" sz="10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0e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sz="10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0e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69 64 3d 43 41 4d 50 41 49 47 4e 53 50   ...id=CAMPAIGNSP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0x2abadc41  4c 49 54 10 10 10 10 10 10 10 10 10 10 10 10 10   LIT.............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0x2abadc51  10 10 10 6d 75 74 65 78 3d 66 61 6c 73 65 53 50   ...</a:t>
            </a:r>
            <a:r>
              <a:rPr kumimoji="0" lang="en-US" sz="10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mutex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=</a:t>
            </a:r>
            <a:r>
              <a:rPr kumimoji="0" lang="en-US" sz="10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falseSP</a:t>
            </a:r>
            <a:endParaRPr kumimoji="0" lang="en-US" sz="10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7391692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Command and Control (C2) Collection</a:t>
            </a:r>
            <a:endParaRPr lang="en-US" dirty="0"/>
          </a:p>
        </p:txBody>
      </p:sp>
      <p:sp>
        <p:nvSpPr>
          <p:cNvPr id="14" name="Right Arrow 13"/>
          <p:cNvSpPr/>
          <p:nvPr/>
        </p:nvSpPr>
        <p:spPr>
          <a:xfrm rot="5400000">
            <a:off x="-862012" y="3109912"/>
            <a:ext cx="4648200" cy="1171575"/>
          </a:xfrm>
          <a:prstGeom prst="rightArrow">
            <a:avLst/>
          </a:prstGeom>
          <a:solidFill>
            <a:srgbClr val="BFBFBF"/>
          </a:solidFill>
          <a:ln w="25400" cap="flat" cmpd="sng" algn="ctr">
            <a:solidFill>
              <a:srgbClr val="BFBFBF">
                <a:shade val="50000"/>
              </a:srgb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04800" y="1485898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Reconnaissance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04800" y="2028823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Weaponization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04800" y="2590800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Delivery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04800" y="3162298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Exploitation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04800" y="3733800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Installation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04800" y="4343400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176196">
                  <a:shade val="51000"/>
                  <a:satMod val="130000"/>
                </a:srgbClr>
              </a:gs>
              <a:gs pos="80000">
                <a:srgbClr val="176196">
                  <a:shade val="93000"/>
                  <a:satMod val="130000"/>
                </a:srgbClr>
              </a:gs>
              <a:gs pos="100000">
                <a:srgbClr val="17619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Command &amp; Control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04800" y="4953000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Actions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Content Placeholder 2"/>
          <p:cNvSpPr>
            <a:spLocks noGrp="1"/>
          </p:cNvSpPr>
          <p:nvPr>
            <p:ph idx="1"/>
          </p:nvPr>
        </p:nvSpPr>
        <p:spPr bwMode="auto">
          <a:xfrm>
            <a:off x="2819400" y="1295400"/>
            <a:ext cx="64008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Configuration Dumpers (Memory)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dirty="0">
              <a:solidFill>
                <a:sysClr val="windowText" lastClr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http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://www.ghettoforensics.com/2013/10/dumping-malware-configuration-data-from.html</a:t>
            </a:r>
            <a:endParaRPr kumimoji="0" lang="en-US" sz="14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23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7" t="6274" r="4260" b="41692"/>
          <a:stretch/>
        </p:blipFill>
        <p:spPr bwMode="auto">
          <a:xfrm>
            <a:off x="2819400" y="1905000"/>
            <a:ext cx="6255224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79103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Actions</a:t>
            </a:r>
            <a:endParaRPr lang="en-US" dirty="0"/>
          </a:p>
        </p:txBody>
      </p:sp>
      <p:sp>
        <p:nvSpPr>
          <p:cNvPr id="13" name="Right Arrow 12"/>
          <p:cNvSpPr/>
          <p:nvPr/>
        </p:nvSpPr>
        <p:spPr>
          <a:xfrm rot="5400000">
            <a:off x="-862012" y="3109913"/>
            <a:ext cx="4648200" cy="1171575"/>
          </a:xfrm>
          <a:prstGeom prst="rightArrow">
            <a:avLst/>
          </a:prstGeom>
          <a:solidFill>
            <a:srgbClr val="BFBFBF"/>
          </a:solidFill>
          <a:ln w="25400" cap="flat" cmpd="sng" algn="ctr">
            <a:solidFill>
              <a:srgbClr val="BFBFBF">
                <a:shade val="50000"/>
              </a:srgb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04800" y="1485899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Reconnaissance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04800" y="2028824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Weaponization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04800" y="2590801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Delivery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04800" y="3162299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Exploitation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04800" y="3733801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Installation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04800" y="4343401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Command &amp; Control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04800" y="4953001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176196">
                  <a:shade val="51000"/>
                  <a:satMod val="130000"/>
                </a:srgbClr>
              </a:gs>
              <a:gs pos="80000">
                <a:srgbClr val="176196">
                  <a:shade val="93000"/>
                  <a:satMod val="130000"/>
                </a:srgbClr>
              </a:gs>
              <a:gs pos="100000">
                <a:srgbClr val="17619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Actions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Content Placeholder 2"/>
          <p:cNvSpPr>
            <a:spLocks noGrp="1"/>
          </p:cNvSpPr>
          <p:nvPr>
            <p:ph idx="1"/>
          </p:nvPr>
        </p:nvSpPr>
        <p:spPr>
          <a:xfrm>
            <a:off x="2819400" y="1371600"/>
            <a:ext cx="6400800" cy="4876799"/>
          </a:xfrm>
        </p:spPr>
        <p:txBody>
          <a:bodyPr/>
          <a:lstStyle/>
          <a:p>
            <a:pPr marL="0" indent="0" eaLnBrk="1" hangingPunct="1">
              <a:buFont typeface="Arial" charset="0"/>
              <a:buNone/>
              <a:defRPr/>
            </a:pPr>
            <a:r>
              <a:rPr lang="en-US" sz="2600" b="1" dirty="0" smtClean="0">
                <a:latin typeface="+mj-lt"/>
                <a:cs typeface="Courier New" pitchFamily="49" charset="0"/>
              </a:rPr>
              <a:t>Reconnaissance </a:t>
            </a:r>
          </a:p>
          <a:p>
            <a:pPr marL="457200" indent="-457200" eaLnBrk="1" hangingPunct="1">
              <a:buFont typeface="Arial"/>
              <a:buChar char="•"/>
              <a:defRPr/>
            </a:pPr>
            <a:r>
              <a:rPr lang="en-US" sz="2600" dirty="0" smtClean="0">
                <a:latin typeface="+mj-lt"/>
                <a:cs typeface="Courier New" pitchFamily="49" charset="0"/>
              </a:rPr>
              <a:t>Network sweeps</a:t>
            </a:r>
            <a:endParaRPr lang="en-US" sz="2600" dirty="0">
              <a:latin typeface="+mj-lt"/>
              <a:cs typeface="Courier New" pitchFamily="49" charset="0"/>
            </a:endParaRPr>
          </a:p>
          <a:p>
            <a:pPr marL="0" indent="0" eaLnBrk="1" hangingPunct="1">
              <a:buFont typeface="Arial" charset="0"/>
              <a:buNone/>
              <a:defRPr/>
            </a:pPr>
            <a:r>
              <a:rPr lang="en-US" sz="2600" b="1" dirty="0" smtClean="0">
                <a:latin typeface="+mj-lt"/>
                <a:cs typeface="Courier New" pitchFamily="49" charset="0"/>
              </a:rPr>
              <a:t>Privilege Escalation</a:t>
            </a:r>
          </a:p>
          <a:p>
            <a:pPr marL="457200" indent="-457200" eaLnBrk="1" hangingPunct="1">
              <a:buFont typeface="Arial"/>
              <a:buChar char="•"/>
              <a:defRPr/>
            </a:pPr>
            <a:r>
              <a:rPr lang="en-US" sz="2600" dirty="0" err="1" smtClean="0">
                <a:latin typeface="+mj-lt"/>
                <a:cs typeface="Courier New" pitchFamily="49" charset="0"/>
              </a:rPr>
              <a:t>pwdump</a:t>
            </a:r>
            <a:r>
              <a:rPr lang="en-US" sz="2600" dirty="0" smtClean="0">
                <a:latin typeface="+mj-lt"/>
                <a:cs typeface="Courier New" pitchFamily="49" charset="0"/>
              </a:rPr>
              <a:t>#, </a:t>
            </a:r>
            <a:r>
              <a:rPr lang="en-US" sz="2600" dirty="0" err="1" smtClean="0">
                <a:latin typeface="+mj-lt"/>
                <a:cs typeface="Courier New" pitchFamily="49" charset="0"/>
              </a:rPr>
              <a:t>mimikatz</a:t>
            </a:r>
            <a:r>
              <a:rPr lang="en-US" sz="2600" dirty="0" smtClean="0">
                <a:latin typeface="+mj-lt"/>
                <a:cs typeface="Courier New" pitchFamily="49" charset="0"/>
              </a:rPr>
              <a:t>, </a:t>
            </a:r>
            <a:r>
              <a:rPr lang="en-US" sz="2600" dirty="0" err="1" smtClean="0">
                <a:latin typeface="+mj-lt"/>
                <a:cs typeface="Courier New" pitchFamily="49" charset="0"/>
              </a:rPr>
              <a:t>keyloggers</a:t>
            </a:r>
            <a:endParaRPr lang="en-US" sz="2600" dirty="0">
              <a:latin typeface="+mj-lt"/>
              <a:cs typeface="Courier New" pitchFamily="49" charset="0"/>
            </a:endParaRPr>
          </a:p>
          <a:p>
            <a:pPr marL="0" indent="0" eaLnBrk="1" hangingPunct="1">
              <a:buFont typeface="Arial" charset="0"/>
              <a:buNone/>
              <a:defRPr/>
            </a:pPr>
            <a:r>
              <a:rPr lang="en-US" sz="2600" b="1" dirty="0">
                <a:latin typeface="+mj-lt"/>
                <a:cs typeface="Courier New" pitchFamily="49" charset="0"/>
              </a:rPr>
              <a:t>Exfiltration</a:t>
            </a:r>
          </a:p>
          <a:p>
            <a:pPr marL="457200" indent="-457200" eaLnBrk="1" hangingPunct="1">
              <a:buFont typeface="Arial"/>
              <a:buChar char="•"/>
              <a:defRPr/>
            </a:pPr>
            <a:r>
              <a:rPr lang="en-US" sz="2600" dirty="0" err="1" smtClean="0">
                <a:latin typeface="+mj-lt"/>
                <a:cs typeface="Courier New" pitchFamily="49" charset="0"/>
              </a:rPr>
              <a:t>Keyloggers</a:t>
            </a:r>
            <a:endParaRPr lang="en-US" sz="2600" dirty="0" smtClean="0">
              <a:latin typeface="+mj-lt"/>
              <a:cs typeface="Courier New" pitchFamily="49" charset="0"/>
            </a:endParaRPr>
          </a:p>
          <a:p>
            <a:pPr marL="457200" indent="-457200" eaLnBrk="1" hangingPunct="1">
              <a:buFont typeface="Arial"/>
              <a:buChar char="•"/>
              <a:defRPr/>
            </a:pPr>
            <a:r>
              <a:rPr lang="en-US" sz="2600" dirty="0" smtClean="0">
                <a:latin typeface="+mj-lt"/>
                <a:cs typeface="Courier New" pitchFamily="49" charset="0"/>
              </a:rPr>
              <a:t>Directory Listings</a:t>
            </a:r>
          </a:p>
          <a:p>
            <a:pPr marL="457200" indent="-457200" eaLnBrk="1" hangingPunct="1">
              <a:buFont typeface="Arial"/>
              <a:buChar char="•"/>
              <a:defRPr/>
            </a:pPr>
            <a:r>
              <a:rPr lang="en-US" sz="2600" dirty="0" smtClean="0">
                <a:latin typeface="+mj-lt"/>
                <a:cs typeface="Courier New" pitchFamily="49" charset="0"/>
              </a:rPr>
              <a:t>Archives (</a:t>
            </a:r>
            <a:r>
              <a:rPr lang="en-US" sz="2600" dirty="0" err="1" smtClean="0">
                <a:latin typeface="+mj-lt"/>
                <a:cs typeface="Courier New" pitchFamily="49" charset="0"/>
              </a:rPr>
              <a:t>rar</a:t>
            </a:r>
            <a:r>
              <a:rPr lang="en-US" sz="2600" dirty="0" smtClean="0">
                <a:latin typeface="+mj-lt"/>
                <a:cs typeface="Courier New" pitchFamily="49" charset="0"/>
              </a:rPr>
              <a:t> –</a:t>
            </a:r>
            <a:r>
              <a:rPr lang="en-US" sz="2600" dirty="0" err="1" smtClean="0">
                <a:latin typeface="+mj-lt"/>
                <a:cs typeface="Courier New" pitchFamily="49" charset="0"/>
              </a:rPr>
              <a:t>hp</a:t>
            </a:r>
            <a:r>
              <a:rPr lang="en-US" sz="2600" dirty="0">
                <a:latin typeface="+mj-lt"/>
                <a:cs typeface="Courier New" pitchFamily="49" charset="0"/>
              </a:rPr>
              <a:t> </a:t>
            </a:r>
            <a:r>
              <a:rPr lang="en-US" sz="2600" dirty="0" smtClean="0">
                <a:latin typeface="+mj-lt"/>
                <a:cs typeface="Courier New" pitchFamily="49" charset="0"/>
              </a:rPr>
              <a:t>| </a:t>
            </a:r>
            <a:r>
              <a:rPr lang="en-US" sz="2600" dirty="0" err="1" smtClean="0">
                <a:latin typeface="+mj-lt"/>
                <a:cs typeface="Courier New" pitchFamily="49" charset="0"/>
              </a:rPr>
              <a:t>rar</a:t>
            </a:r>
            <a:r>
              <a:rPr lang="en-US" sz="2600" dirty="0" smtClean="0">
                <a:latin typeface="+mj-lt"/>
                <a:cs typeface="Courier New" pitchFamily="49" charset="0"/>
              </a:rPr>
              <a:t> –p)</a:t>
            </a:r>
          </a:p>
          <a:p>
            <a:pPr marL="0" indent="0" eaLnBrk="1" hangingPunct="1">
              <a:buFont typeface="Arial" charset="0"/>
              <a:buNone/>
              <a:defRPr/>
            </a:pPr>
            <a:r>
              <a:rPr lang="en-US" sz="2600" b="1" dirty="0" smtClean="0">
                <a:latin typeface="+mj-lt"/>
                <a:cs typeface="Courier New" pitchFamily="49" charset="0"/>
              </a:rPr>
              <a:t>Remote Execution</a:t>
            </a:r>
          </a:p>
          <a:p>
            <a:pPr marL="457200" indent="-457200" eaLnBrk="1" hangingPunct="1">
              <a:buFont typeface="Arial"/>
              <a:buChar char="•"/>
              <a:defRPr/>
            </a:pPr>
            <a:r>
              <a:rPr lang="en-US" sz="2600" dirty="0" err="1" smtClean="0">
                <a:latin typeface="+mj-lt"/>
                <a:cs typeface="Courier New" pitchFamily="49" charset="0"/>
              </a:rPr>
              <a:t>psexec</a:t>
            </a:r>
            <a:endParaRPr lang="en-US" sz="2600" dirty="0" smtClean="0">
              <a:latin typeface="+mj-lt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65108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Actions</a:t>
            </a:r>
            <a:endParaRPr lang="en-US" dirty="0"/>
          </a:p>
        </p:txBody>
      </p:sp>
      <p:sp>
        <p:nvSpPr>
          <p:cNvPr id="13" name="Right Arrow 12"/>
          <p:cNvSpPr/>
          <p:nvPr/>
        </p:nvSpPr>
        <p:spPr>
          <a:xfrm rot="5400000">
            <a:off x="-862012" y="3109913"/>
            <a:ext cx="4648200" cy="1171575"/>
          </a:xfrm>
          <a:prstGeom prst="rightArrow">
            <a:avLst/>
          </a:prstGeom>
          <a:solidFill>
            <a:srgbClr val="BFBFBF"/>
          </a:solidFill>
          <a:ln w="25400" cap="flat" cmpd="sng" algn="ctr">
            <a:solidFill>
              <a:srgbClr val="BFBFBF">
                <a:shade val="50000"/>
              </a:srgb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04800" y="1485899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Reconnaissance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04800" y="2028824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Weaponization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04800" y="2590801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Delivery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04800" y="3162299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Exploitation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04800" y="3733801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Installation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04800" y="4343401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CADEEE">
                  <a:shade val="51000"/>
                  <a:satMod val="130000"/>
                </a:srgbClr>
              </a:gs>
              <a:gs pos="80000">
                <a:srgbClr val="CADEEE">
                  <a:shade val="93000"/>
                  <a:satMod val="130000"/>
                </a:srgbClr>
              </a:gs>
              <a:gs pos="100000">
                <a:srgbClr val="CADEEE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Command &amp; Control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04800" y="4953001"/>
            <a:ext cx="2362200" cy="381000"/>
          </a:xfrm>
          <a:prstGeom prst="roundRect">
            <a:avLst/>
          </a:prstGeom>
          <a:gradFill rotWithShape="1">
            <a:gsLst>
              <a:gs pos="0">
                <a:srgbClr val="176196">
                  <a:shade val="51000"/>
                  <a:satMod val="130000"/>
                </a:srgbClr>
              </a:gs>
              <a:gs pos="80000">
                <a:srgbClr val="176196">
                  <a:shade val="93000"/>
                  <a:satMod val="130000"/>
                </a:srgbClr>
              </a:gs>
              <a:gs pos="100000">
                <a:srgbClr val="17619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 w="17780" cmpd="sng">
                  <a:solidFill>
                    <a:srgbClr val="BFBFBF">
                      <a:tint val="3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BFBFBF">
                        <a:tint val="63000"/>
                        <a:sat val="105000"/>
                      </a:srgbClr>
                    </a:gs>
                    <a:gs pos="90000">
                      <a:srgbClr val="BFBFBF">
                        <a:shade val="50000"/>
                        <a:satMod val="10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Actions</a:t>
            </a:r>
            <a:endParaRPr kumimoji="0" lang="en-US" sz="1800" b="1" i="0" u="none" strike="noStrike" kern="0" cap="all" spc="0" normalizeH="0" baseline="0" noProof="0" dirty="0">
              <a:ln w="0"/>
              <a:gradFill flip="none">
                <a:gsLst>
                  <a:gs pos="0">
                    <a:srgbClr val="BFBFBF">
                      <a:tint val="75000"/>
                      <a:shade val="75000"/>
                      <a:satMod val="170000"/>
                    </a:srgbClr>
                  </a:gs>
                  <a:gs pos="49000">
                    <a:srgbClr val="BFBFBF">
                      <a:tint val="88000"/>
                      <a:shade val="65000"/>
                      <a:satMod val="172000"/>
                    </a:srgbClr>
                  </a:gs>
                  <a:gs pos="50000">
                    <a:srgbClr val="BFBFBF">
                      <a:shade val="65000"/>
                      <a:satMod val="130000"/>
                    </a:srgbClr>
                  </a:gs>
                  <a:gs pos="92000">
                    <a:srgbClr val="BFBFBF">
                      <a:shade val="50000"/>
                      <a:satMod val="120000"/>
                    </a:srgbClr>
                  </a:gs>
                  <a:gs pos="100000">
                    <a:srgbClr val="BFBFBF">
                      <a:shade val="48000"/>
                      <a:satMod val="120000"/>
                    </a:srgb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Content Placeholder 2"/>
          <p:cNvSpPr>
            <a:spLocks noGrp="1"/>
          </p:cNvSpPr>
          <p:nvPr>
            <p:ph idx="1"/>
          </p:nvPr>
        </p:nvSpPr>
        <p:spPr>
          <a:xfrm>
            <a:off x="2819400" y="1447801"/>
            <a:ext cx="6400800" cy="4343400"/>
          </a:xfrm>
        </p:spPr>
        <p:txBody>
          <a:bodyPr/>
          <a:lstStyle/>
          <a:p>
            <a:pPr marL="0" indent="0" eaLnBrk="1" hangingPunct="1">
              <a:buFont typeface="Arial" charset="0"/>
              <a:buNone/>
              <a:defRPr/>
            </a:pPr>
            <a:r>
              <a:rPr lang="en-US" sz="2600" b="1" dirty="0" smtClean="0">
                <a:latin typeface="+mj-lt"/>
                <a:cs typeface="Courier New" pitchFamily="49" charset="0"/>
              </a:rPr>
              <a:t>Malware C2</a:t>
            </a:r>
          </a:p>
          <a:p>
            <a:pPr marL="457200" indent="-457200" eaLnBrk="1" hangingPunct="1">
              <a:buFont typeface="Arial"/>
              <a:buChar char="•"/>
              <a:defRPr/>
            </a:pPr>
            <a:r>
              <a:rPr lang="en-US" sz="2400" dirty="0" smtClean="0">
                <a:latin typeface="+mj-lt"/>
                <a:cs typeface="Courier New" pitchFamily="49" charset="0"/>
              </a:rPr>
              <a:t>Decrypt/Decode Malware communications beyond a simple beacon</a:t>
            </a:r>
          </a:p>
          <a:p>
            <a:pPr eaLnBrk="1" hangingPunct="1">
              <a:defRPr/>
            </a:pPr>
            <a:endParaRPr lang="en-US" sz="2600" dirty="0" smtClean="0">
              <a:latin typeface="+mj-lt"/>
              <a:cs typeface="Courier New" pitchFamily="49" charset="0"/>
            </a:endParaRPr>
          </a:p>
          <a:p>
            <a:pPr eaLnBrk="1" hangingPunct="1">
              <a:defRPr/>
            </a:pPr>
            <a:r>
              <a:rPr lang="en-US" sz="2600" dirty="0" smtClean="0">
                <a:latin typeface="+mj-lt"/>
                <a:cs typeface="Courier New" pitchFamily="49" charset="0"/>
              </a:rPr>
              <a:t>Requires:</a:t>
            </a:r>
          </a:p>
          <a:p>
            <a:pPr marL="800100" lvl="1" indent="-342900" eaLnBrk="1" hangingPunct="1">
              <a:buFont typeface="Arial"/>
              <a:buChar char="•"/>
              <a:defRPr/>
            </a:pPr>
            <a:r>
              <a:rPr lang="en-US" sz="2200" dirty="0" smtClean="0">
                <a:latin typeface="+mj-lt"/>
                <a:cs typeface="Courier New" pitchFamily="49" charset="0"/>
              </a:rPr>
              <a:t>Reversing C2 code from malware</a:t>
            </a:r>
          </a:p>
          <a:p>
            <a:pPr marL="800100" lvl="1" indent="-342900" eaLnBrk="1" hangingPunct="1">
              <a:buFont typeface="Arial"/>
              <a:buChar char="•"/>
              <a:defRPr/>
            </a:pPr>
            <a:r>
              <a:rPr lang="en-US" sz="2200" dirty="0" smtClean="0">
                <a:latin typeface="+mj-lt"/>
                <a:cs typeface="Courier New" pitchFamily="49" charset="0"/>
              </a:rPr>
              <a:t>PCAP of traffic to compromised system</a:t>
            </a:r>
          </a:p>
          <a:p>
            <a:pPr marL="800100" lvl="1" indent="-342900" eaLnBrk="1" hangingPunct="1">
              <a:buFont typeface="Arial"/>
              <a:buChar char="•"/>
              <a:defRPr/>
            </a:pPr>
            <a:r>
              <a:rPr lang="en-US" sz="2200" dirty="0" smtClean="0">
                <a:latin typeface="+mj-lt"/>
                <a:cs typeface="Courier New" pitchFamily="49" charset="0"/>
              </a:rPr>
              <a:t>MITRE </a:t>
            </a:r>
            <a:r>
              <a:rPr lang="en-US" sz="2200" dirty="0" err="1" smtClean="0">
                <a:latin typeface="+mj-lt"/>
                <a:cs typeface="Courier New" pitchFamily="49" charset="0"/>
              </a:rPr>
              <a:t>ChopShop</a:t>
            </a:r>
            <a:r>
              <a:rPr lang="en-US" sz="2200" dirty="0" smtClean="0">
                <a:latin typeface="+mj-lt"/>
                <a:cs typeface="Courier New" pitchFamily="49" charset="0"/>
              </a:rPr>
              <a:t> or equivalent tool </a:t>
            </a:r>
          </a:p>
        </p:txBody>
      </p:sp>
    </p:spTree>
    <p:extLst>
      <p:ext uri="{BB962C8B-B14F-4D97-AF65-F5344CB8AC3E}">
        <p14:creationId xmlns:p14="http://schemas.microsoft.com/office/powerpoint/2010/main" val="15028408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Enumerating Indicators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marL="457200" indent="-457200" eaLnBrk="1" hangingPunct="1">
              <a:buFont typeface="Arial"/>
              <a:buChar char="•"/>
            </a:pPr>
            <a:r>
              <a:rPr lang="en-US" dirty="0" smtClean="0"/>
              <a:t>Hashes (MD5, fuzzy, </a:t>
            </a:r>
            <a:r>
              <a:rPr lang="en-US" dirty="0" err="1" smtClean="0"/>
              <a:t>imphash</a:t>
            </a:r>
            <a:r>
              <a:rPr lang="en-US" dirty="0" smtClean="0"/>
              <a:t>, …)</a:t>
            </a:r>
          </a:p>
          <a:p>
            <a:pPr marL="800100" lvl="1" indent="-342900" eaLnBrk="1" hangingPunct="1">
              <a:buFont typeface="Arial"/>
              <a:buChar char="•"/>
            </a:pPr>
            <a:r>
              <a:rPr lang="en-US" dirty="0" smtClean="0"/>
              <a:t>File</a:t>
            </a:r>
          </a:p>
          <a:p>
            <a:pPr marL="800100" lvl="1" indent="-342900" eaLnBrk="1" hangingPunct="1">
              <a:buFont typeface="Arial"/>
              <a:buChar char="•"/>
            </a:pPr>
            <a:r>
              <a:rPr lang="en-US" dirty="0" smtClean="0"/>
              <a:t>PE </a:t>
            </a:r>
            <a:r>
              <a:rPr lang="en-US" dirty="0"/>
              <a:t>s</a:t>
            </a:r>
            <a:r>
              <a:rPr lang="en-US" dirty="0" smtClean="0"/>
              <a:t>ections</a:t>
            </a:r>
          </a:p>
          <a:p>
            <a:pPr marL="800100" lvl="1" indent="-342900" eaLnBrk="1" hangingPunct="1">
              <a:buFont typeface="Arial"/>
              <a:buChar char="•"/>
            </a:pPr>
            <a:r>
              <a:rPr lang="en-US" dirty="0" smtClean="0"/>
              <a:t>PE imports</a:t>
            </a:r>
          </a:p>
          <a:p>
            <a:pPr marL="457200" indent="-457200" eaLnBrk="1" hangingPunct="1">
              <a:buFont typeface="Arial"/>
              <a:buChar char="•"/>
            </a:pPr>
            <a:r>
              <a:rPr lang="en-US" dirty="0" smtClean="0"/>
              <a:t>Entrenchment / Persistence</a:t>
            </a:r>
          </a:p>
          <a:p>
            <a:pPr marL="800100" lvl="1" indent="-342900" eaLnBrk="1" hangingPunct="1">
              <a:buFont typeface="Arial"/>
              <a:buChar char="•"/>
            </a:pPr>
            <a:r>
              <a:rPr lang="en-US" dirty="0" smtClean="0"/>
              <a:t>File locations</a:t>
            </a:r>
          </a:p>
          <a:p>
            <a:pPr marL="800100" lvl="1" indent="-342900" eaLnBrk="1" hangingPunct="1">
              <a:buFont typeface="Arial"/>
              <a:buChar char="•"/>
            </a:pPr>
            <a:r>
              <a:rPr lang="en-US" dirty="0" smtClean="0"/>
              <a:t>Registry keys (*\Run*, </a:t>
            </a:r>
            <a:r>
              <a:rPr lang="en-US" dirty="0" err="1" smtClean="0"/>
              <a:t>Shimcache</a:t>
            </a:r>
            <a:r>
              <a:rPr lang="en-US" dirty="0" smtClean="0"/>
              <a:t>)</a:t>
            </a:r>
          </a:p>
          <a:p>
            <a:pPr marL="457200" indent="-457200" eaLnBrk="1" hangingPunct="1">
              <a:buFont typeface="Arial"/>
              <a:buChar char="•"/>
            </a:pPr>
            <a:r>
              <a:rPr lang="en-US" dirty="0" smtClean="0"/>
              <a:t>C2 communication</a:t>
            </a:r>
          </a:p>
          <a:p>
            <a:pPr marL="857250" lvl="1" indent="-457200" eaLnBrk="1" hangingPunct="1">
              <a:buFont typeface="Arial"/>
              <a:buChar char="•"/>
            </a:pPr>
            <a:r>
              <a:rPr lang="en-US" dirty="0" smtClean="0"/>
              <a:t>Hashes, sizes</a:t>
            </a:r>
          </a:p>
          <a:p>
            <a:pPr marL="857250" lvl="1" indent="-457200" eaLnBrk="1" hangingPunct="1">
              <a:buFont typeface="Arial"/>
              <a:buChar char="•"/>
            </a:pPr>
            <a:r>
              <a:rPr lang="en-US" dirty="0" smtClean="0"/>
              <a:t>Dynamic </a:t>
            </a:r>
            <a:r>
              <a:rPr lang="en-US" dirty="0" err="1" smtClean="0"/>
              <a:t>vs</a:t>
            </a:r>
            <a:r>
              <a:rPr lang="en-US" dirty="0" smtClean="0"/>
              <a:t> static bytes</a:t>
            </a:r>
          </a:p>
        </p:txBody>
      </p:sp>
    </p:spTree>
    <p:extLst>
      <p:ext uri="{BB962C8B-B14F-4D97-AF65-F5344CB8AC3E}">
        <p14:creationId xmlns:p14="http://schemas.microsoft.com/office/powerpoint/2010/main" val="22433644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Collecting Indicators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marL="457200" indent="-457200" eaLnBrk="1" hangingPunct="1">
              <a:buFont typeface="Arial"/>
              <a:buChar char="•"/>
            </a:pPr>
            <a:r>
              <a:rPr lang="en-US" dirty="0" smtClean="0"/>
              <a:t>Store results in database</a:t>
            </a:r>
          </a:p>
          <a:p>
            <a:pPr marL="800100" lvl="1" indent="-342900" eaLnBrk="1" hangingPunct="1">
              <a:buFont typeface="Arial"/>
              <a:buChar char="•"/>
            </a:pPr>
            <a:r>
              <a:rPr lang="en-US" dirty="0" smtClean="0"/>
              <a:t>RTIR / CRITS </a:t>
            </a:r>
          </a:p>
          <a:p>
            <a:pPr marL="800100" lvl="1" indent="-342900" eaLnBrk="1" hangingPunct="1">
              <a:buFont typeface="Arial"/>
              <a:buChar char="•"/>
            </a:pPr>
            <a:r>
              <a:rPr lang="en-US" dirty="0" smtClean="0"/>
              <a:t>Custom-programmed</a:t>
            </a:r>
          </a:p>
          <a:p>
            <a:pPr marL="457200" indent="-457200" eaLnBrk="1" hangingPunct="1">
              <a:buFont typeface="Arial"/>
              <a:buChar char="•"/>
            </a:pPr>
            <a:r>
              <a:rPr lang="en-US" dirty="0" smtClean="0"/>
              <a:t>Per-incident data archives</a:t>
            </a:r>
          </a:p>
          <a:p>
            <a:pPr marL="800100" lvl="1" indent="-342900" eaLnBrk="1" hangingPunct="1">
              <a:buFont typeface="Arial"/>
              <a:buChar char="•"/>
            </a:pPr>
            <a:r>
              <a:rPr lang="en-US" dirty="0" smtClean="0"/>
              <a:t>Emails, files</a:t>
            </a:r>
          </a:p>
          <a:p>
            <a:pPr marL="800100" lvl="1" indent="-342900" eaLnBrk="1" hangingPunct="1">
              <a:buFont typeface="Arial"/>
              <a:buChar char="•"/>
            </a:pPr>
            <a:r>
              <a:rPr lang="en-US" dirty="0" smtClean="0"/>
              <a:t>Residual artifacts</a:t>
            </a:r>
          </a:p>
          <a:p>
            <a:pPr marL="800100" lvl="1" indent="-342900" eaLnBrk="1" hangingPunct="1">
              <a:buFont typeface="Arial"/>
              <a:buChar char="•"/>
            </a:pPr>
            <a:r>
              <a:rPr lang="en-US" dirty="0" smtClean="0"/>
              <a:t>Memory dumps</a:t>
            </a:r>
          </a:p>
          <a:p>
            <a:pPr marL="800100" lvl="1" indent="-342900" eaLnBrk="1" hangingPunct="1">
              <a:buFont typeface="Arial"/>
              <a:buChar char="•"/>
            </a:pPr>
            <a:r>
              <a:rPr lang="en-US" dirty="0" smtClean="0"/>
              <a:t>PCAPs / Proxy logs</a:t>
            </a:r>
          </a:p>
        </p:txBody>
      </p:sp>
    </p:spTree>
    <p:extLst>
      <p:ext uri="{BB962C8B-B14F-4D97-AF65-F5344CB8AC3E}">
        <p14:creationId xmlns:p14="http://schemas.microsoft.com/office/powerpoint/2010/main" val="42387688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Reusing Indicators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 smtClean="0"/>
              <a:t>Do analysis once, reuse indicators</a:t>
            </a:r>
          </a:p>
          <a:p>
            <a:pPr marL="800100" lvl="1" indent="-342900" eaLnBrk="1" hangingPunct="1">
              <a:buFont typeface="Arial"/>
              <a:buChar char="•"/>
            </a:pPr>
            <a:r>
              <a:rPr lang="en-US" dirty="0" smtClean="0"/>
              <a:t>Static Signatures</a:t>
            </a:r>
          </a:p>
          <a:p>
            <a:pPr marL="1257300" lvl="2" indent="-342900" eaLnBrk="1" hangingPunct="1">
              <a:buFont typeface="Arial"/>
              <a:buChar char="•"/>
            </a:pPr>
            <a:r>
              <a:rPr lang="en-US" dirty="0" smtClean="0"/>
              <a:t>YARA</a:t>
            </a:r>
          </a:p>
          <a:p>
            <a:pPr marL="1257300" lvl="2" indent="-342900" eaLnBrk="1" hangingPunct="1">
              <a:buFont typeface="Arial"/>
              <a:buChar char="•"/>
            </a:pPr>
            <a:r>
              <a:rPr lang="en-US" dirty="0" err="1" smtClean="0"/>
              <a:t>SignSrch</a:t>
            </a:r>
            <a:r>
              <a:rPr lang="en-US" dirty="0" smtClean="0"/>
              <a:t> / </a:t>
            </a:r>
            <a:r>
              <a:rPr lang="en-US" dirty="0" err="1" smtClean="0"/>
              <a:t>ClamSrch</a:t>
            </a:r>
            <a:endParaRPr lang="en-US" dirty="0" smtClean="0"/>
          </a:p>
          <a:p>
            <a:pPr marL="800100" lvl="1" indent="-342900" eaLnBrk="1" hangingPunct="1">
              <a:buFont typeface="Arial"/>
              <a:buChar char="•"/>
            </a:pPr>
            <a:r>
              <a:rPr lang="en-US" dirty="0" smtClean="0"/>
              <a:t>Dynamic Signatures</a:t>
            </a:r>
          </a:p>
          <a:p>
            <a:pPr marL="1257300" lvl="2" indent="-342900" eaLnBrk="1" hangingPunct="1">
              <a:buFont typeface="Arial"/>
              <a:buChar char="•"/>
            </a:pPr>
            <a:r>
              <a:rPr lang="en-US" dirty="0" err="1" smtClean="0"/>
              <a:t>CybOX</a:t>
            </a:r>
            <a:r>
              <a:rPr lang="en-US" dirty="0" smtClean="0"/>
              <a:t>/STIX/MAEC</a:t>
            </a:r>
          </a:p>
          <a:p>
            <a:pPr marL="1257300" lvl="2" indent="-342900" eaLnBrk="1" hangingPunct="1">
              <a:buFont typeface="Arial"/>
              <a:buChar char="•"/>
            </a:pPr>
            <a:r>
              <a:rPr lang="en-US" dirty="0" smtClean="0"/>
              <a:t>IOCs</a:t>
            </a:r>
          </a:p>
          <a:p>
            <a:pPr marL="800100" lvl="1" indent="-342900" eaLnBrk="1" hangingPunct="1">
              <a:buFont typeface="Arial"/>
              <a:buChar char="•"/>
            </a:pPr>
            <a:r>
              <a:rPr lang="en-US" dirty="0" smtClean="0"/>
              <a:t>Network Signatures</a:t>
            </a:r>
          </a:p>
          <a:p>
            <a:pPr marL="1257300" lvl="2" indent="-342900" eaLnBrk="1" hangingPunct="1">
              <a:buFont typeface="Arial"/>
              <a:buChar char="•"/>
            </a:pPr>
            <a:r>
              <a:rPr lang="en-US" dirty="0" smtClean="0"/>
              <a:t>Snort</a:t>
            </a:r>
          </a:p>
          <a:p>
            <a:pPr marL="1257300" lvl="2" indent="-342900" eaLnBrk="1" hangingPunct="1">
              <a:buFont typeface="Arial"/>
              <a:buChar char="•"/>
            </a:pPr>
            <a:r>
              <a:rPr lang="en-US" dirty="0" err="1" smtClean="0"/>
              <a:t>ChopShop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2867248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Static Signatures – YARA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25963"/>
          </a:xfrm>
        </p:spPr>
        <p:txBody>
          <a:bodyPr/>
          <a:lstStyle/>
          <a:p>
            <a:pPr marL="0" indent="0" eaLnBrk="1" hangingPunct="1">
              <a:buFont typeface="Arial" charset="0"/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rule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Encryption_DES_Targeted</a:t>
            </a:r>
            <a:endParaRPr 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 marL="0" indent="0" eaLnBrk="1" hangingPunct="1">
              <a:buFont typeface="Arial" charset="0"/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{</a:t>
            </a:r>
            <a:endParaRPr 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 marL="0" indent="0" eaLnBrk="1" hangingPunct="1">
              <a:buFont typeface="Arial" charset="0"/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strings:</a:t>
            </a:r>
          </a:p>
          <a:p>
            <a:pPr marL="0" indent="0" eaLnBrk="1" hangingPunct="1">
              <a:buFont typeface="Arial" charset="0"/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$password1 = "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asdfzxcv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"</a:t>
            </a:r>
          </a:p>
          <a:p>
            <a:pPr marL="0" indent="0" eaLnBrk="1" hangingPunct="1">
              <a:buFont typeface="Arial" charset="0"/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$password2 = "1029qpwo”</a:t>
            </a:r>
          </a:p>
          <a:p>
            <a:pPr marL="0" indent="0" eaLnBrk="1" hangingPunct="1">
              <a:buFont typeface="Arial" charset="0"/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...</a:t>
            </a:r>
          </a:p>
          <a:p>
            <a:pPr marL="0" indent="0" eaLnBrk="1" hangingPunct="1">
              <a:buFont typeface="Arial" charset="0"/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$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DES_table_odd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= { 01 01 02 02 04 04 07 07 08 08 11 11 13 13 }</a:t>
            </a:r>
          </a:p>
          <a:p>
            <a:pPr marL="0" indent="0" eaLnBrk="1" hangingPunct="1">
              <a:buFont typeface="Arial" charset="0"/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...</a:t>
            </a:r>
          </a:p>
          <a:p>
            <a:pPr marL="0" indent="0" eaLnBrk="1" hangingPunct="1">
              <a:buFont typeface="Arial" charset="0"/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condition:</a:t>
            </a:r>
          </a:p>
          <a:p>
            <a:pPr marL="0" indent="0" eaLnBrk="1" hangingPunct="1">
              <a:buFont typeface="Arial" charset="0"/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any of ($password*) and all of (DES_*)</a:t>
            </a:r>
          </a:p>
          <a:p>
            <a:pPr marL="0" indent="0" eaLnBrk="1" hangingPunct="1">
              <a:buFont typeface="Arial" charset="0"/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}</a:t>
            </a:r>
            <a:endParaRPr 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 marL="0" indent="0" eaLnBrk="1" hangingPunct="1">
              <a:buFont typeface="Arial" charset="0"/>
              <a:buNone/>
            </a:pPr>
            <a:endParaRPr 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 marL="0" indent="0" eaLnBrk="1" hangingPunct="1">
              <a:buFont typeface="Arial" charset="0"/>
              <a:buNone/>
            </a:pPr>
            <a:endParaRPr 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 marL="0" indent="0" eaLnBrk="1" hangingPunct="1">
              <a:buFont typeface="Arial" charset="0"/>
              <a:buNone/>
            </a:pPr>
            <a:endParaRPr 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 marL="0" indent="0" eaLnBrk="1" hangingPunct="1">
              <a:buFont typeface="Arial" charset="0"/>
              <a:buNone/>
            </a:pPr>
            <a:endParaRPr lang="en-US" sz="1600" b="1" dirty="0" smtClean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7414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Static Signatures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 smtClean="0">
                <a:latin typeface="Calibri"/>
                <a:cs typeface="Calibri"/>
              </a:rPr>
              <a:t>Write multiple signatures for each file</a:t>
            </a:r>
          </a:p>
          <a:p>
            <a:pPr marL="800100" lvl="1" eaLnBrk="1" hangingPunct="1">
              <a:buFont typeface="Arial"/>
              <a:buChar char="•"/>
            </a:pPr>
            <a:r>
              <a:rPr lang="en-US" dirty="0" smtClean="0">
                <a:latin typeface="Calibri"/>
                <a:cs typeface="Calibri"/>
              </a:rPr>
              <a:t>Easier to catch subtle modifications</a:t>
            </a:r>
          </a:p>
          <a:p>
            <a:pPr marL="0" indent="0" eaLnBrk="1" hangingPunct="1">
              <a:buNone/>
            </a:pPr>
            <a:endParaRPr lang="en-US" dirty="0">
              <a:latin typeface="Calibri"/>
              <a:cs typeface="Calibri"/>
            </a:endParaRPr>
          </a:p>
          <a:p>
            <a:pPr marL="400050" lvl="1" indent="0" eaLnBrk="1" hangingPunct="1">
              <a:buNone/>
            </a:pPr>
            <a:r>
              <a:rPr lang="en-US" sz="3200" dirty="0" smtClean="0">
                <a:latin typeface="Calibri"/>
                <a:cs typeface="Calibri"/>
              </a:rPr>
              <a:t>PDB string</a:t>
            </a:r>
          </a:p>
          <a:p>
            <a:pPr marL="400050" lvl="1" indent="0" eaLnBrk="1" hangingPunct="1">
              <a:buNone/>
            </a:pPr>
            <a:r>
              <a:rPr lang="en-US" sz="3200" dirty="0" smtClean="0">
                <a:latin typeface="Calibri"/>
                <a:cs typeface="Calibri"/>
              </a:rPr>
              <a:t>Unique strings</a:t>
            </a:r>
          </a:p>
          <a:p>
            <a:pPr marL="400050" lvl="1" indent="0" eaLnBrk="1" hangingPunct="1">
              <a:buNone/>
            </a:pPr>
            <a:r>
              <a:rPr lang="en-US" sz="3200" dirty="0" smtClean="0">
                <a:latin typeface="Calibri"/>
                <a:cs typeface="Calibri"/>
              </a:rPr>
              <a:t>Encryption routines</a:t>
            </a:r>
          </a:p>
          <a:p>
            <a:pPr marL="400050" lvl="1" indent="0" eaLnBrk="1" hangingPunct="1">
              <a:buNone/>
            </a:pPr>
            <a:r>
              <a:rPr lang="en-US" sz="3200" dirty="0" smtClean="0">
                <a:latin typeface="Calibri"/>
                <a:cs typeface="Calibri"/>
              </a:rPr>
              <a:t>MATH!</a:t>
            </a:r>
          </a:p>
          <a:p>
            <a:pPr marL="0" indent="0" eaLnBrk="1" hangingPunct="1">
              <a:buNone/>
            </a:pPr>
            <a:endParaRPr lang="en-US" dirty="0" smtClean="0">
              <a:latin typeface="Calibri"/>
              <a:cs typeface="Calibri"/>
            </a:endParaRPr>
          </a:p>
          <a:p>
            <a:pPr marL="0" indent="0" eaLnBrk="1" hangingPunct="1">
              <a:buNone/>
            </a:pPr>
            <a:endParaRPr lang="en-US" dirty="0" smtClean="0">
              <a:latin typeface="Calibri"/>
              <a:cs typeface="Calibri"/>
            </a:endParaRPr>
          </a:p>
        </p:txBody>
      </p:sp>
      <p:pic>
        <p:nvPicPr>
          <p:cNvPr id="5" name="Picture 2" descr="http://www.myteespot.com/images/Images_d/img_hSClr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2209800"/>
            <a:ext cx="31623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77082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Make Indicators Intelligent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Indicators are just a raw set of data</a:t>
            </a:r>
          </a:p>
          <a:p>
            <a:endParaRPr lang="en-US" dirty="0"/>
          </a:p>
          <a:p>
            <a:r>
              <a:rPr lang="en-US" dirty="0" smtClean="0"/>
              <a:t>Intelligence comes through:</a:t>
            </a:r>
          </a:p>
          <a:p>
            <a:pPr marL="457200" indent="-457200">
              <a:buFont typeface="Arial"/>
              <a:buChar char="•"/>
            </a:pPr>
            <a:r>
              <a:rPr lang="en-US" dirty="0" smtClean="0"/>
              <a:t>Grouping indicators</a:t>
            </a:r>
          </a:p>
          <a:p>
            <a:pPr marL="457200" indent="-457200">
              <a:buFont typeface="Arial"/>
              <a:buChar char="•"/>
            </a:pPr>
            <a:r>
              <a:rPr lang="en-US" dirty="0" smtClean="0"/>
              <a:t>Indexing all </a:t>
            </a:r>
            <a:r>
              <a:rPr lang="en-US" dirty="0" smtClean="0"/>
              <a:t>edges (files) </a:t>
            </a:r>
            <a:r>
              <a:rPr lang="en-US" dirty="0" smtClean="0"/>
              <a:t>AND </a:t>
            </a:r>
            <a:r>
              <a:rPr lang="en-US" dirty="0" smtClean="0"/>
              <a:t>vertices (activity)</a:t>
            </a:r>
            <a:endParaRPr lang="en-US" dirty="0" smtClean="0"/>
          </a:p>
          <a:p>
            <a:pPr marL="857250" lvl="1" indent="-457200">
              <a:buFont typeface="Arial"/>
              <a:buChar char="•"/>
            </a:pPr>
            <a:r>
              <a:rPr lang="en-US" b="1" dirty="0" smtClean="0"/>
              <a:t>File1 is a dropper, File2 is a driver</a:t>
            </a:r>
          </a:p>
          <a:p>
            <a:pPr marL="857250" lvl="1" indent="-457200">
              <a:buFont typeface="Arial"/>
              <a:buChar char="•"/>
            </a:pPr>
            <a:r>
              <a:rPr lang="en-US" b="1" dirty="0" smtClean="0"/>
              <a:t>File2 is a binary resource of BIN\222 in </a:t>
            </a:r>
            <a:r>
              <a:rPr lang="en-US" b="1" dirty="0" smtClean="0"/>
              <a:t>File1</a:t>
            </a:r>
          </a:p>
          <a:p>
            <a:pPr marL="857250" lvl="1" indent="-457200">
              <a:buFont typeface="Arial"/>
              <a:buChar char="•"/>
            </a:pPr>
            <a:r>
              <a:rPr lang="en-US" b="1" dirty="0" smtClean="0"/>
              <a:t>File2 is stored as encrypted (XOR by 0xBB)</a:t>
            </a:r>
            <a:endParaRPr lang="en-US" b="1" dirty="0" smtClean="0"/>
          </a:p>
          <a:p>
            <a:pPr marL="857250" lvl="1" indent="-457200">
              <a:buFont typeface="Arial"/>
              <a:buChar char="•"/>
            </a:pPr>
            <a:r>
              <a:rPr lang="en-US" b="1" dirty="0" smtClean="0"/>
              <a:t>File1 drops File2</a:t>
            </a:r>
          </a:p>
          <a:p>
            <a:r>
              <a:rPr lang="en-US" dirty="0"/>
              <a:t>	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9359567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r="44341"/>
          <a:stretch/>
        </p:blipFill>
        <p:spPr>
          <a:xfrm>
            <a:off x="4114800" y="304800"/>
            <a:ext cx="3675888" cy="5778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Attack 1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 bwMode="auto">
          <a:xfrm>
            <a:off x="7562088" y="3124200"/>
            <a:ext cx="685800" cy="6858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effectLst/>
              <a:latin typeface="Verdana" pitchFamily="32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7790688" y="4953000"/>
            <a:ext cx="685800" cy="6858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effectLst/>
              <a:latin typeface="Verdana" pitchFamily="3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35053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609600"/>
            <a:ext cx="5029200" cy="55862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Attack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6531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52400"/>
            <a:ext cx="6879771" cy="6019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        </a:t>
            </a:r>
            <a:r>
              <a:rPr lang="en-US" dirty="0"/>
              <a:t> </a:t>
            </a:r>
            <a:r>
              <a:rPr lang="en-US" dirty="0" smtClean="0"/>
              <a:t>          Correlate the Attacks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 bwMode="auto">
          <a:xfrm>
            <a:off x="381000" y="3886200"/>
            <a:ext cx="7086600" cy="2286000"/>
          </a:xfrm>
          <a:prstGeom prst="roundRect">
            <a:avLst/>
          </a:prstGeom>
          <a:solidFill>
            <a:schemeClr val="accent1">
              <a:lumMod val="60000"/>
              <a:lumOff val="40000"/>
              <a:alpha val="17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Verdana" pitchFamily="3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85074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Take-</a:t>
            </a:r>
            <a:r>
              <a:rPr lang="en-US" dirty="0" err="1" smtClean="0"/>
              <a:t>Aways</a:t>
            </a:r>
            <a:endParaRPr lang="en-US" dirty="0"/>
          </a:p>
        </p:txBody>
      </p:sp>
      <p:sp>
        <p:nvSpPr>
          <p:cNvPr id="46083" name="Content Placeholder 2"/>
          <p:cNvSpPr>
            <a:spLocks noGrp="1"/>
          </p:cNvSpPr>
          <p:nvPr>
            <p:ph idx="1"/>
          </p:nvPr>
        </p:nvSpPr>
        <p:spPr>
          <a:xfrm>
            <a:off x="457200" y="1604962"/>
            <a:ext cx="8043863" cy="4491037"/>
          </a:xfrm>
        </p:spPr>
        <p:txBody>
          <a:bodyPr/>
          <a:lstStyle/>
          <a:p>
            <a:pPr marL="457200" indent="-457200" eaLnBrk="1" hangingPunct="1">
              <a:buFont typeface="Arial"/>
              <a:buChar char="•"/>
            </a:pPr>
            <a:r>
              <a:rPr lang="en-US" dirty="0" smtClean="0"/>
              <a:t>Standardize on a signature format (YARA, IOC, STIX)</a:t>
            </a:r>
          </a:p>
          <a:p>
            <a:pPr marL="457200" indent="-457200" eaLnBrk="1" hangingPunct="1">
              <a:buFont typeface="Arial"/>
              <a:buChar char="•"/>
            </a:pPr>
            <a:r>
              <a:rPr lang="en-US" dirty="0" smtClean="0"/>
              <a:t>Write as many signatures as possible for each item to track variations over time</a:t>
            </a:r>
          </a:p>
          <a:p>
            <a:pPr marL="857250" lvl="1" indent="-457200" eaLnBrk="1" hangingPunct="1">
              <a:buFont typeface="Arial"/>
              <a:buChar char="•"/>
            </a:pPr>
            <a:r>
              <a:rPr lang="en-US" dirty="0" smtClean="0"/>
              <a:t>Try to automate, e.g. </a:t>
            </a:r>
            <a:r>
              <a:rPr lang="en-US" b="1" dirty="0" smtClean="0"/>
              <a:t>cuckoo2STIX</a:t>
            </a:r>
          </a:p>
          <a:p>
            <a:pPr marL="457200" indent="-457200" eaLnBrk="1" hangingPunct="1">
              <a:buFont typeface="Arial"/>
              <a:buChar char="•"/>
            </a:pPr>
            <a:r>
              <a:rPr lang="en-US" dirty="0" smtClean="0"/>
              <a:t>Spend downtime reanalyzing old incidents with new data / </a:t>
            </a:r>
            <a:r>
              <a:rPr lang="en-US" dirty="0" err="1" smtClean="0"/>
              <a:t>intel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9649096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Take-</a:t>
            </a:r>
            <a:r>
              <a:rPr lang="en-US" dirty="0" err="1" smtClean="0"/>
              <a:t>Aways</a:t>
            </a:r>
            <a:endParaRPr lang="en-US" dirty="0"/>
          </a:p>
        </p:txBody>
      </p:sp>
      <p:sp>
        <p:nvSpPr>
          <p:cNvPr id="46083" name="Content Placeholder 2"/>
          <p:cNvSpPr>
            <a:spLocks noGrp="1"/>
          </p:cNvSpPr>
          <p:nvPr>
            <p:ph idx="1"/>
          </p:nvPr>
        </p:nvSpPr>
        <p:spPr>
          <a:xfrm>
            <a:off x="457200" y="1604962"/>
            <a:ext cx="8043863" cy="4491037"/>
          </a:xfrm>
        </p:spPr>
        <p:txBody>
          <a:bodyPr/>
          <a:lstStyle/>
          <a:p>
            <a:pPr marL="457200" indent="-457200" eaLnBrk="1" hangingPunct="1">
              <a:buFont typeface="Arial"/>
              <a:buChar char="•"/>
            </a:pPr>
            <a:r>
              <a:rPr lang="en-US" dirty="0" smtClean="0"/>
              <a:t>Use </a:t>
            </a:r>
            <a:r>
              <a:rPr lang="en-US" dirty="0" err="1" smtClean="0"/>
              <a:t>VirusTotal</a:t>
            </a:r>
            <a:r>
              <a:rPr lang="en-US" dirty="0" smtClean="0"/>
              <a:t> Intelligence</a:t>
            </a:r>
          </a:p>
          <a:p>
            <a:pPr marL="857250" lvl="1" indent="-457200" eaLnBrk="1" hangingPunct="1">
              <a:buFont typeface="Arial"/>
              <a:buChar char="•"/>
            </a:pPr>
            <a:r>
              <a:rPr lang="en-US" dirty="0" smtClean="0"/>
              <a:t>Create feeds for YARA to find new variants</a:t>
            </a:r>
          </a:p>
          <a:p>
            <a:pPr marL="457200" indent="-457200" eaLnBrk="1" hangingPunct="1">
              <a:buFont typeface="Arial"/>
              <a:buChar char="•"/>
            </a:pPr>
            <a:r>
              <a:rPr lang="en-US" dirty="0" smtClean="0"/>
              <a:t>Acknowledge the weaknesses of the Cyber Kill Chain	</a:t>
            </a:r>
          </a:p>
          <a:p>
            <a:pPr marL="857250" lvl="1" indent="-457200" eaLnBrk="1" hangingPunct="1">
              <a:buFont typeface="Arial"/>
              <a:buChar char="•"/>
            </a:pPr>
            <a:r>
              <a:rPr lang="en-US" dirty="0" smtClean="0"/>
              <a:t>Focuses on initial and holistic attack flow</a:t>
            </a:r>
          </a:p>
          <a:p>
            <a:pPr marL="857250" lvl="1" indent="-457200" eaLnBrk="1" hangingPunct="1">
              <a:buFont typeface="Arial"/>
              <a:buChar char="•"/>
            </a:pPr>
            <a:r>
              <a:rPr lang="en-US" dirty="0" smtClean="0"/>
              <a:t>Simplistic design means everything is thrown into </a:t>
            </a:r>
            <a:r>
              <a:rPr lang="en-US" b="1" dirty="0" smtClean="0"/>
              <a:t>Actions</a:t>
            </a:r>
          </a:p>
          <a:p>
            <a:pPr marL="0" indent="0"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392066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1"/>
          <p:cNvSpPr txBox="1">
            <a:spLocks noChangeArrowheads="1"/>
          </p:cNvSpPr>
          <p:nvPr/>
        </p:nvSpPr>
        <p:spPr bwMode="auto">
          <a:xfrm>
            <a:off x="457200" y="1611313"/>
            <a:ext cx="8077200" cy="655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0" rIns="0" bIns="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MetaNormalLF-Roman" charset="0"/>
                <a:ea typeface="ＭＳ Ｐゴシック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MetaNormalLF-Roman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MetaNormalLF-Roman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MetaNormalLF-Roman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MetaNormalLF-Roman" charset="0"/>
                <a:ea typeface="WenQuanYi Zen Hei Sharp" charset="0"/>
                <a:cs typeface="WenQuanYi Zen Hei Sharp" charset="0"/>
              </a:defRPr>
            </a:lvl5pPr>
            <a:lvl6pPr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MetaNormalLF-Roman" charset="0"/>
                <a:ea typeface="WenQuanYi Zen Hei Sharp" charset="0"/>
                <a:cs typeface="WenQuanYi Zen Hei Sharp" charset="0"/>
              </a:defRPr>
            </a:lvl6pPr>
            <a:lvl7pPr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MetaNormalLF-Roman" charset="0"/>
                <a:ea typeface="WenQuanYi Zen Hei Sharp" charset="0"/>
                <a:cs typeface="WenQuanYi Zen Hei Sharp" charset="0"/>
              </a:defRPr>
            </a:lvl7pPr>
            <a:lvl8pPr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MetaNormalLF-Roman" charset="0"/>
                <a:ea typeface="WenQuanYi Zen Hei Sharp" charset="0"/>
                <a:cs typeface="WenQuanYi Zen Hei Sharp" charset="0"/>
              </a:defRPr>
            </a:lvl8pPr>
            <a:lvl9pPr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MetaNormalLF-Roman" charset="0"/>
                <a:ea typeface="WenQuanYi Zen Hei Sharp" charset="0"/>
                <a:cs typeface="WenQuanYi Zen Hei Sharp" charset="0"/>
              </a:defRPr>
            </a:lvl9pPr>
          </a:lstStyle>
          <a:p>
            <a:pPr algn="ctr" eaLnBrk="1" hangingPunct="1">
              <a:lnSpc>
                <a:spcPts val="3600"/>
              </a:lnSpc>
              <a:buSzPct val="100000"/>
              <a:defRPr/>
            </a:pPr>
            <a:r>
              <a:rPr lang="en-US" sz="4000" dirty="0" smtClean="0">
                <a:solidFill>
                  <a:srgbClr val="3892D0"/>
                </a:solidFill>
                <a:latin typeface="Verdana" charset="0"/>
              </a:rPr>
              <a:t>Questions/Comments?</a:t>
            </a:r>
          </a:p>
        </p:txBody>
      </p:sp>
      <p:sp>
        <p:nvSpPr>
          <p:cNvPr id="45060" name="Text Box 3"/>
          <p:cNvSpPr txBox="1">
            <a:spLocks noChangeArrowheads="1"/>
          </p:cNvSpPr>
          <p:nvPr/>
        </p:nvSpPr>
        <p:spPr bwMode="auto">
          <a:xfrm>
            <a:off x="2895600" y="2743200"/>
            <a:ext cx="2959100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0" rIns="0" bIns="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MetaNormalLF-Roman" charset="0"/>
                <a:ea typeface="ＭＳ Ｐゴシック" charset="0"/>
                <a:cs typeface="WenQuanYi Zen Hei Sharp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MetaNormalLF-Roman" charset="0"/>
                <a:ea typeface="WenQuanYi Zen Hei Sharp" charset="0"/>
                <a:cs typeface="WenQuanYi Zen Hei Sharp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MetaNormalLF-Roman" charset="0"/>
                <a:ea typeface="WenQuanYi Zen Hei Sharp" charset="0"/>
                <a:cs typeface="WenQuanYi Zen Hei Sharp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MetaNormalLF-Roman" charset="0"/>
                <a:ea typeface="WenQuanYi Zen Hei Sharp" charset="0"/>
                <a:cs typeface="WenQuanYi Zen Hei Sharp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MetaNormalLF-Roman" charset="0"/>
                <a:ea typeface="WenQuanYi Zen Hei Sharp" charset="0"/>
                <a:cs typeface="WenQuanYi Zen Hei Sharp" charset="0"/>
              </a:defRPr>
            </a:lvl5pPr>
            <a:lvl6pPr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MetaNormalLF-Roman" charset="0"/>
                <a:ea typeface="WenQuanYi Zen Hei Sharp" charset="0"/>
                <a:cs typeface="WenQuanYi Zen Hei Sharp" charset="0"/>
              </a:defRPr>
            </a:lvl6pPr>
            <a:lvl7pPr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MetaNormalLF-Roman" charset="0"/>
                <a:ea typeface="WenQuanYi Zen Hei Sharp" charset="0"/>
                <a:cs typeface="WenQuanYi Zen Hei Sharp" charset="0"/>
              </a:defRPr>
            </a:lvl7pPr>
            <a:lvl8pPr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MetaNormalLF-Roman" charset="0"/>
                <a:ea typeface="WenQuanYi Zen Hei Sharp" charset="0"/>
                <a:cs typeface="WenQuanYi Zen Hei Sharp" charset="0"/>
              </a:defRPr>
            </a:lvl8pPr>
            <a:lvl9pPr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MetaNormalLF-Roman" charset="0"/>
                <a:ea typeface="WenQuanYi Zen Hei Sharp" charset="0"/>
                <a:cs typeface="WenQuanYi Zen Hei Sharp" charset="0"/>
              </a:defRPr>
            </a:lvl9pPr>
          </a:lstStyle>
          <a:p>
            <a:pPr eaLnBrk="1" hangingPunct="1">
              <a:lnSpc>
                <a:spcPts val="3600"/>
              </a:lnSpc>
              <a:buSzPct val="100000"/>
              <a:defRPr/>
            </a:pPr>
            <a:endParaRPr lang="en-US" sz="4000" dirty="0" smtClean="0">
              <a:solidFill>
                <a:srgbClr val="404040"/>
              </a:solidFill>
              <a:latin typeface="Verdana" charset="0"/>
            </a:endParaRPr>
          </a:p>
        </p:txBody>
      </p:sp>
      <p:sp>
        <p:nvSpPr>
          <p:cNvPr id="46083" name="TextBox 1"/>
          <p:cNvSpPr txBox="1">
            <a:spLocks noChangeArrowheads="1"/>
          </p:cNvSpPr>
          <p:nvPr/>
        </p:nvSpPr>
        <p:spPr bwMode="auto">
          <a:xfrm>
            <a:off x="1854626" y="3429000"/>
            <a:ext cx="5029942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3200" dirty="0" err="1" smtClean="0">
                <a:solidFill>
                  <a:schemeClr val="tx1"/>
                </a:solidFill>
              </a:rPr>
              <a:t>Brian.Baskin@RSA.com</a:t>
            </a:r>
            <a:endParaRPr lang="en-US" sz="320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2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MetaNormalLF-Roman"/>
        <a:ea typeface="WenQuanYi Zen Hei Sharp"/>
        <a:cs typeface="WenQuanYi Zen Hei Sharp"/>
      </a:majorFont>
      <a:minorFont>
        <a:latin typeface="MetaNormalLF-Roman"/>
        <a:ea typeface="WenQuanYi Zen Hei Sharp"/>
        <a:cs typeface="WenQuanYi Zen Hei Sharp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3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MetaNormalLF-Roman"/>
        <a:ea typeface="WenQuanYi Zen Hei Sharp"/>
        <a:cs typeface="WenQuanYi Zen Hei Sharp"/>
      </a:majorFont>
      <a:minorFont>
        <a:latin typeface="MetaNormalLF-Roman"/>
        <a:ea typeface="WenQuanYi Zen Hei Sharp"/>
        <a:cs typeface="WenQuanYi Zen Hei Sharp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8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MetaNormalLF-Roman"/>
        <a:ea typeface="WenQuanYi Zen Hei Sharp"/>
        <a:cs typeface="WenQuanYi Zen Hei Sharp"/>
      </a:majorFont>
      <a:minorFont>
        <a:latin typeface="MetaNormalLF-Roman"/>
        <a:ea typeface="WenQuanYi Zen Hei Sharp"/>
        <a:cs typeface="WenQuanYi Zen Hei Sharp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2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9153</TotalTime>
  <Words>2930</Words>
  <Application>Microsoft Macintosh PowerPoint</Application>
  <PresentationFormat>On-screen Show (4:3)</PresentationFormat>
  <Paragraphs>594</Paragraphs>
  <Slides>45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2_Office Theme</vt:lpstr>
      <vt:lpstr>3_Office Theme</vt:lpstr>
      <vt:lpstr>8_Office Theme</vt:lpstr>
      <vt:lpstr>PowerPoint Presentation</vt:lpstr>
      <vt:lpstr>PowerPoint Presentation</vt:lpstr>
      <vt:lpstr># whoami</vt:lpstr>
      <vt:lpstr>Where do we start…</vt:lpstr>
      <vt:lpstr>Skill Segregation</vt:lpstr>
      <vt:lpstr>Difficulty in Current Processes</vt:lpstr>
      <vt:lpstr>How Do You Currently Hire For This?</vt:lpstr>
      <vt:lpstr>How Should We Hire For This?</vt:lpstr>
      <vt:lpstr>  The Cyber Kill Chaintm</vt:lpstr>
      <vt:lpstr>Relevance of the Cyber Kill Chain</vt:lpstr>
      <vt:lpstr>Relevance of the Cyber Kill Chain</vt:lpstr>
      <vt:lpstr>Fishing for Indicators</vt:lpstr>
      <vt:lpstr>Reconnaissance – Decoy Details</vt:lpstr>
      <vt:lpstr>Reconnaissance – ExifTool</vt:lpstr>
      <vt:lpstr>Weaponization – Hex view of .DOC file</vt:lpstr>
      <vt:lpstr>Weaponization – ExifTool</vt:lpstr>
      <vt:lpstr>Reconnaissance / Weaponization Collection</vt:lpstr>
      <vt:lpstr>Delivery – Email Attack</vt:lpstr>
      <vt:lpstr>Delivery – Watering Hole Attack</vt:lpstr>
      <vt:lpstr>Exploitation</vt:lpstr>
      <vt:lpstr>Delivery / Exploitation Collection</vt:lpstr>
      <vt:lpstr>Installation</vt:lpstr>
      <vt:lpstr>Installation – Collection Tools</vt:lpstr>
      <vt:lpstr>Noriben v1.6 (Beta release)</vt:lpstr>
      <vt:lpstr>Command and Control (C2)</vt:lpstr>
      <vt:lpstr>Command and Control (C2) Identification</vt:lpstr>
      <vt:lpstr>Command and Control (C2) Collection</vt:lpstr>
      <vt:lpstr>Command and Control (C2) Collection</vt:lpstr>
      <vt:lpstr>Command and Control (C2) Collection</vt:lpstr>
      <vt:lpstr>Command and Control (C2) Collection</vt:lpstr>
      <vt:lpstr>Actions</vt:lpstr>
      <vt:lpstr>Actions</vt:lpstr>
      <vt:lpstr>Enumerating Indicators</vt:lpstr>
      <vt:lpstr>Collecting Indicators</vt:lpstr>
      <vt:lpstr>Reusing Indicators</vt:lpstr>
      <vt:lpstr>Static Signatures – YARA</vt:lpstr>
      <vt:lpstr>Static Signatures</vt:lpstr>
      <vt:lpstr>Make Indicators Intelligent</vt:lpstr>
      <vt:lpstr>Example: Attack 1</vt:lpstr>
      <vt:lpstr>Example: Attack 2</vt:lpstr>
      <vt:lpstr>                                   Correlate the Attacks</vt:lpstr>
      <vt:lpstr>Take-Aways</vt:lpstr>
      <vt:lpstr>Take-Aways</vt:lpstr>
      <vt:lpstr>PowerPoint Presentation</vt:lpstr>
      <vt:lpstr>PowerPoint Presentation</vt:lpstr>
    </vt:vector>
  </TitlesOfParts>
  <Company>RSA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Emerging Threat Profile</dc:title>
  <dc:subject>Shell_crew</dc:subject>
  <dc:creator>RSA Incident response</dc:creator>
  <cp:lastModifiedBy>Brian Baskin</cp:lastModifiedBy>
  <cp:revision>232</cp:revision>
  <cp:lastPrinted>1601-01-01T00:00:00Z</cp:lastPrinted>
  <dcterms:created xsi:type="dcterms:W3CDTF">2013-05-29T18:14:59Z</dcterms:created>
  <dcterms:modified xsi:type="dcterms:W3CDTF">2014-05-22T21:33:40Z</dcterms:modified>
</cp:coreProperties>
</file>