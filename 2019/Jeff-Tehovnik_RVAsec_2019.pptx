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sldIdLst>
    <p:sldId id="256" r:id="rId2"/>
    <p:sldId id="259" r:id="rId3"/>
    <p:sldId id="315" r:id="rId4"/>
    <p:sldId id="260" r:id="rId5"/>
    <p:sldId id="267" r:id="rId6"/>
    <p:sldId id="258" r:id="rId7"/>
    <p:sldId id="309" r:id="rId8"/>
    <p:sldId id="261" r:id="rId9"/>
    <p:sldId id="262" r:id="rId10"/>
    <p:sldId id="257" r:id="rId11"/>
    <p:sldId id="307" r:id="rId12"/>
    <p:sldId id="306" r:id="rId13"/>
    <p:sldId id="263" r:id="rId14"/>
    <p:sldId id="264" r:id="rId15"/>
    <p:sldId id="265" r:id="rId16"/>
    <p:sldId id="266" r:id="rId17"/>
    <p:sldId id="269" r:id="rId18"/>
    <p:sldId id="270" r:id="rId19"/>
    <p:sldId id="271" r:id="rId20"/>
    <p:sldId id="272" r:id="rId21"/>
    <p:sldId id="286" r:id="rId22"/>
    <p:sldId id="287" r:id="rId23"/>
    <p:sldId id="273" r:id="rId24"/>
    <p:sldId id="274" r:id="rId25"/>
    <p:sldId id="275" r:id="rId26"/>
    <p:sldId id="276" r:id="rId27"/>
    <p:sldId id="277" r:id="rId28"/>
    <p:sldId id="278" r:id="rId29"/>
    <p:sldId id="314" r:id="rId30"/>
    <p:sldId id="279" r:id="rId31"/>
    <p:sldId id="280" r:id="rId32"/>
    <p:sldId id="281" r:id="rId33"/>
    <p:sldId id="282" r:id="rId34"/>
    <p:sldId id="303" r:id="rId35"/>
    <p:sldId id="283" r:id="rId36"/>
    <p:sldId id="284" r:id="rId37"/>
    <p:sldId id="288" r:id="rId38"/>
    <p:sldId id="285" r:id="rId39"/>
    <p:sldId id="289" r:id="rId40"/>
    <p:sldId id="290" r:id="rId41"/>
    <p:sldId id="291" r:id="rId42"/>
    <p:sldId id="305" r:id="rId43"/>
    <p:sldId id="312" r:id="rId44"/>
    <p:sldId id="292" r:id="rId45"/>
    <p:sldId id="293" r:id="rId46"/>
    <p:sldId id="294" r:id="rId47"/>
    <p:sldId id="295" r:id="rId48"/>
    <p:sldId id="296" r:id="rId49"/>
    <p:sldId id="313" r:id="rId50"/>
    <p:sldId id="297" r:id="rId51"/>
    <p:sldId id="298" r:id="rId52"/>
    <p:sldId id="299" r:id="rId53"/>
    <p:sldId id="308" r:id="rId54"/>
    <p:sldId id="300" r:id="rId55"/>
    <p:sldId id="301" r:id="rId56"/>
    <p:sldId id="302" r:id="rId57"/>
    <p:sldId id="304" r:id="rId58"/>
    <p:sldId id="310" r:id="rId59"/>
    <p:sldId id="311" r:id="rId6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86722"/>
  </p:normalViewPr>
  <p:slideViewPr>
    <p:cSldViewPr snapToGrid="0" snapToObjects="1">
      <p:cViewPr varScale="1">
        <p:scale>
          <a:sx n="95" d="100"/>
          <a:sy n="95" d="100"/>
        </p:scale>
        <p:origin x="20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745541-EBE8-C148-8878-3B36C4ADA9E9}" type="datetimeFigureOut">
              <a:rPr lang="en-US" smtClean="0"/>
              <a:t>5/10/19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925BCE-C6E1-9749-B55B-6E6A8EC3D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577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Relationship Id="rId3" Type="http://schemas.openxmlformats.org/officeDocument/2006/relationships/hyperlink" Target="https://www.failbetterseries.com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aosecurity.com/bejtlich_visscher_techtarget_webcast_4_dec_02.pdf" TargetMode="External"/><Relationship Id="rId4" Type="http://schemas.openxmlformats.org/officeDocument/2006/relationships/hyperlink" Target="https://blog.isc2.org/isc2_blog/2009/07/treating-risks.html" TargetMode="External"/><Relationship Id="rId5" Type="http://schemas.openxmlformats.org/officeDocument/2006/relationships/hyperlink" Target="https://www.youtube.com/watch?v=D5BwHvGxAZw&amp;index=8&amp;list=PLyK0rk0vIZ0cVFAeddZSBv2b69oRnfD0d" TargetMode="External"/><Relationship Id="rId6" Type="http://schemas.openxmlformats.org/officeDocument/2006/relationships/hyperlink" Target="https://www.youtube.com/watch?v=GxcX9H1iD1U&amp;index=18&amp;list=PLyK0rk0vIZ0cVFAeddZSBv2b69oRnfD0d" TargetMode="External"/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hlinkClick r:id="rId3"/>
              </a:rPr>
              <a:t>https://www.failbetterseries.com/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925BCE-C6E1-9749-B55B-6E6A8EC3DAD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776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hlinkClick r:id="rId3"/>
              </a:rPr>
              <a:t>https://taosecurity.com/bejtlich_visscher_techtarget_webcast_4_dec_02.pdf</a:t>
            </a:r>
            <a:r>
              <a:rPr lang="en-US" dirty="0" smtClean="0"/>
              <a:t> Richard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Begtlich</a:t>
            </a:r>
            <a:r>
              <a:rPr lang="en-US" baseline="0" dirty="0" smtClean="0"/>
              <a:t> Presentation on NSM</a:t>
            </a:r>
            <a:endParaRPr lang="en-US" dirty="0" smtClean="0"/>
          </a:p>
          <a:p>
            <a:r>
              <a:rPr lang="en-US" dirty="0" smtClean="0">
                <a:hlinkClick r:id="rId4"/>
              </a:rPr>
              <a:t>https://blog.isc2.org/isc2_blog/2009/07/treating-risks.html</a:t>
            </a:r>
            <a:r>
              <a:rPr lang="en-US" dirty="0" smtClean="0"/>
              <a:t> ISC blog post</a:t>
            </a:r>
            <a:r>
              <a:rPr lang="en-US" baseline="0" dirty="0" smtClean="0"/>
              <a:t> on Risk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hlinkClick r:id="rId5"/>
              </a:rPr>
              <a:t>https://www.youtube.com/watch?v=D5BwHvGxAZw&amp;index=8&amp;list=PLyK0rk0vIZ0cVFAeddZSBv2b69oRnfD0d</a:t>
            </a:r>
            <a:r>
              <a:rPr lang="en-US" dirty="0" smtClean="0"/>
              <a:t> </a:t>
            </a:r>
            <a:r>
              <a:rPr lang="en-US" dirty="0" err="1" smtClean="0"/>
              <a:t>RVASec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Tomhave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How to Achieve Success with Cyber Risk Assessment and Analysis</a:t>
            </a:r>
            <a:endParaRPr 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hlinkClick r:id="rId6"/>
              </a:rPr>
              <a:t>https://www.youtube.com/watch?v=GxcX9H1iD1U&amp;index=18&amp;list=PLyK0rk0vIZ0cVFAeddZSBv2b69oRnfD0d</a:t>
            </a:r>
            <a:r>
              <a:rPr lang="en-US" dirty="0" smtClean="0"/>
              <a:t> </a:t>
            </a:r>
            <a:r>
              <a:rPr lang="en-US" dirty="0" err="1" smtClean="0"/>
              <a:t>RVASec</a:t>
            </a:r>
            <a:r>
              <a:rPr lang="en-US" baseline="0" dirty="0" smtClean="0"/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Jonathan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Dambrot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Third Party Risk Management and Cybersecurity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925BCE-C6E1-9749-B55B-6E6A8EC3DAD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89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925BCE-C6E1-9749-B55B-6E6A8EC3DAD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8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925BCE-C6E1-9749-B55B-6E6A8EC3DAD4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551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925BCE-C6E1-9749-B55B-6E6A8EC3DAD4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180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5/10/19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5/10/19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5/10/19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5/10/19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5/10/19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5/10/19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5/10/19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5/10/19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5/10/19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5/10/19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5/10/19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5/10/19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emb3r5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extgigsystems.com/aggregation_switches/gigamon_wp_tap.html" TargetMode="External"/><Relationship Id="rId4" Type="http://schemas.openxmlformats.org/officeDocument/2006/relationships/hyperlink" Target="https://www.pcwdld.com/port-mirroring-definition-and-tutorial" TargetMode="External"/><Relationship Id="rId5" Type="http://schemas.openxmlformats.org/officeDocument/2006/relationships/image" Target="../media/image5.png"/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www.gigamon.com/content/dam/resource-library/english/white-paper/wp-network-taps-first-step-to-visibility.pdf" TargetMode="External"/></Relationships>
</file>

<file path=ppt/slides/_rels/slide13.xml.rels><?xml version="1.0" encoding="UTF-8" standalone="yes"?>
<Relationships xmlns="http://schemas.openxmlformats.org/package/2006/relationships"><Relationship Id="rId11" Type="http://schemas.openxmlformats.org/officeDocument/2006/relationships/hyperlink" Target="https://www.paloaltonetworks.com/" TargetMode="External"/><Relationship Id="rId12" Type="http://schemas.openxmlformats.org/officeDocument/2006/relationships/hyperlink" Target="https://www.juniper.net/us/en/" TargetMode="External"/><Relationship Id="rId13" Type="http://schemas.openxmlformats.org/officeDocument/2006/relationships/hyperlink" Target="https://www.youtube.com/watch?v=H62qPvkXZZ4&amp;index=16&amp;list=PLyK0rk0vIZ0cVFAeddZSBv2b69oRnfD0d" TargetMode="External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zeek.org/" TargetMode="External"/><Relationship Id="rId4" Type="http://schemas.openxmlformats.org/officeDocument/2006/relationships/hyperlink" Target="https://www.youtube.com/watch?v=utqsrVLM6mo" TargetMode="External"/><Relationship Id="rId5" Type="http://schemas.openxmlformats.org/officeDocument/2006/relationships/hyperlink" Target="https://www.snort.org/" TargetMode="External"/><Relationship Id="rId6" Type="http://schemas.openxmlformats.org/officeDocument/2006/relationships/hyperlink" Target="https://suricata-ids.org/" TargetMode="External"/><Relationship Id="rId7" Type="http://schemas.openxmlformats.org/officeDocument/2006/relationships/hyperlink" Target="https://securityonion.net/" TargetMode="External"/><Relationship Id="rId8" Type="http://schemas.openxmlformats.org/officeDocument/2006/relationships/hyperlink" Target="https://www.fortinet.com/" TargetMode="External"/><Relationship Id="rId9" Type="http://schemas.openxmlformats.org/officeDocument/2006/relationships/hyperlink" Target="https://www.cisco.com/" TargetMode="External"/><Relationship Id="rId10" Type="http://schemas.openxmlformats.org/officeDocument/2006/relationships/hyperlink" Target="https://www.checkpoint.com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dace.com/endace-high-speed-packet-capture-solutions/oem/dag/" TargetMode="External"/><Relationship Id="rId4" Type="http://schemas.openxmlformats.org/officeDocument/2006/relationships/hyperlink" Target="https://solarflare.com/" TargetMode="External"/><Relationship Id="rId5" Type="http://schemas.openxmlformats.org/officeDocument/2006/relationships/hyperlink" Target="https://www.napatech.com/" TargetMode="External"/><Relationship Id="rId6" Type="http://schemas.openxmlformats.org/officeDocument/2006/relationships/hyperlink" Target="https://securityonionsolutions.com/" TargetMode="External"/><Relationship Id="rId7" Type="http://schemas.openxmlformats.org/officeDocument/2006/relationships/hyperlink" Target="https://www.wei.com/" TargetMode="External"/><Relationship Id="rId8" Type="http://schemas.openxmlformats.org/officeDocument/2006/relationships/hyperlink" Target="http://www.blackwoodassociates.com/" TargetMode="External"/><Relationship Id="rId9" Type="http://schemas.openxmlformats.org/officeDocument/2006/relationships/hyperlink" Target="https://www.optiv.com/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cspi.com/network-adapters/applications/packet-capture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molo.ch/" TargetMode="External"/><Relationship Id="rId4" Type="http://schemas.openxmlformats.org/officeDocument/2006/relationships/hyperlink" Target="http://netsniff-ng.org/" TargetMode="External"/><Relationship Id="rId5" Type="http://schemas.openxmlformats.org/officeDocument/2006/relationships/hyperlink" Target="https://www.sans.org/reading-room/whitepapers/forensics/paper/37392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mixmode.ai/platform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go.lbl.gov/100g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6.jp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uricata.readthedocs.io/en/suricata-4.1.3/performance/packet-capture.html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packetpushers.net/erspan-new-favorite-packet-capturing-trick/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go.lbl.gov/100g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gigamon.com/content/dam/resource-library/english/solution-guide/sg-active-visibility-vmware-nsx-sddc-gigamon.pdf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0.jp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e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jpe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go.lbl.gov/100g" TargetMode="External"/><Relationship Id="rId3" Type="http://schemas.openxmlformats.org/officeDocument/2006/relationships/hyperlink" Target="https://github.com/ncsa/dumbno" TargetMode="Externa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manpages.ubuntu.com/manpages/bionic/man1/zgrep.1.html" TargetMode="External"/><Relationship Id="rId3" Type="http://schemas.openxmlformats.org/officeDocument/2006/relationships/hyperlink" Target="https://kafka.apache.org/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://manual-snort-org.s3-website-us-east-1.amazonaws.com/node21.html#SECTION00361000000000000000" TargetMode="External"/><Relationship Id="rId4" Type="http://schemas.openxmlformats.org/officeDocument/2006/relationships/hyperlink" Target="https://idstools.readthedocs.io/en/latest/tools/u2json.html" TargetMode="External"/><Relationship Id="rId5" Type="http://schemas.openxmlformats.org/officeDocument/2006/relationships/hyperlink" Target="https://github.com/jasonish/py-idstools" TargetMode="External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rvasec2019.sched.com/event/O1kR/preventing-the-attack-dhcp-and-dns-for-the-win" TargetMode="Externa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6.png"/><Relationship Id="rId3" Type="http://schemas.openxmlformats.org/officeDocument/2006/relationships/hyperlink" Target="https://docs.fortinet.com/vm/aws/fortigate/6.0/deploying-fortigate-on-aws/6.0.0/902268/launching-fortigate-on-aws" TargetMode="Externa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7.jp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Network Security Monitoring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Experience </a:t>
            </a:r>
            <a:r>
              <a:rPr lang="en-US" smtClean="0"/>
              <a:t>and Lessons</a:t>
            </a:r>
          </a:p>
        </p:txBody>
      </p:sp>
    </p:spTree>
    <p:extLst>
      <p:ext uri="{BB962C8B-B14F-4D97-AF65-F5344CB8AC3E}">
        <p14:creationId xmlns:p14="http://schemas.microsoft.com/office/powerpoint/2010/main" val="1667052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Jeff </a:t>
            </a:r>
            <a:r>
              <a:rPr lang="en-US" dirty="0" err="1" smtClean="0"/>
              <a:t>Tehovnik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Network IDS/IPS Administration/Engineering</a:t>
            </a:r>
          </a:p>
          <a:p>
            <a:r>
              <a:rPr lang="en-US" dirty="0" smtClean="0"/>
              <a:t>CISSP, BS-IS (VCU 2012), MS-CISS (VCU 2014), PBC-Penetration Testing (SANS STI, 2018), GCIH, GPEN, GWAPT, GXPN</a:t>
            </a:r>
          </a:p>
          <a:p>
            <a:r>
              <a:rPr lang="en-US" dirty="0" smtClean="0"/>
              <a:t>Ethical Hacking Connoisseur</a:t>
            </a:r>
          </a:p>
          <a:p>
            <a:r>
              <a:rPr lang="en-US" dirty="0" smtClean="0"/>
              <a:t>Python Junkie</a:t>
            </a:r>
          </a:p>
          <a:p>
            <a:r>
              <a:rPr lang="en-US" dirty="0" smtClean="0"/>
              <a:t>Automation &amp; Virtualization fan boy</a:t>
            </a:r>
          </a:p>
          <a:p>
            <a:endParaRPr lang="en-US" dirty="0" smtClean="0"/>
          </a:p>
          <a:p>
            <a:r>
              <a:rPr lang="en-US" dirty="0">
                <a:hlinkClick r:id="rId2"/>
              </a:rPr>
              <a:t>https://github.com/emb3r5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Family</a:t>
            </a:r>
          </a:p>
          <a:p>
            <a:r>
              <a:rPr lang="en-US" dirty="0" smtClean="0"/>
              <a:t>Movies</a:t>
            </a:r>
          </a:p>
          <a:p>
            <a:r>
              <a:rPr lang="en-US" dirty="0" smtClean="0"/>
              <a:t>Beach</a:t>
            </a:r>
          </a:p>
          <a:p>
            <a:r>
              <a:rPr lang="en-US" dirty="0" smtClean="0"/>
              <a:t>Contact Sports</a:t>
            </a:r>
          </a:p>
          <a:p>
            <a:r>
              <a:rPr lang="en-US" dirty="0" smtClean="0"/>
              <a:t>Home Improvement</a:t>
            </a:r>
          </a:p>
          <a:p>
            <a:r>
              <a:rPr lang="en-US" dirty="0" smtClean="0"/>
              <a:t>Woodworking &amp; Restoration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986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Legalese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US" dirty="0" smtClean="0"/>
              <a:t>he views expressed are solely my own and not of my employer or other organizations I am (or am not) affiliated with</a:t>
            </a:r>
          </a:p>
          <a:p>
            <a:r>
              <a:rPr lang="mr-IN" dirty="0" smtClean="0"/>
              <a:t>……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59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NSM Experiences and Lessons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- Quick Introduction to NSM</a:t>
            </a:r>
          </a:p>
          <a:p>
            <a:r>
              <a:rPr lang="en-US" dirty="0" smtClean="0"/>
              <a:t>- My Background in NSM</a:t>
            </a:r>
          </a:p>
          <a:p>
            <a:r>
              <a:rPr lang="en-US" dirty="0" smtClean="0"/>
              <a:t>- Some Challenges (and Solutions)</a:t>
            </a:r>
          </a:p>
          <a:p>
            <a:pPr lvl="1"/>
            <a:r>
              <a:rPr lang="en-US" dirty="0" smtClean="0"/>
              <a:t> Architecture</a:t>
            </a:r>
          </a:p>
          <a:p>
            <a:pPr lvl="1"/>
            <a:r>
              <a:rPr lang="en-US" dirty="0" smtClean="0"/>
              <a:t>Tuning</a:t>
            </a:r>
          </a:p>
          <a:p>
            <a:r>
              <a:rPr lang="en-US" dirty="0" smtClean="0"/>
              <a:t>- Lessons &amp; Conclusion</a:t>
            </a:r>
            <a:endParaRPr lang="en-US" dirty="0"/>
          </a:p>
        </p:txBody>
      </p:sp>
      <p:pic>
        <p:nvPicPr>
          <p:cNvPr id="5122" name="Picture 2" descr="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724" y="2269460"/>
            <a:ext cx="4537011" cy="3175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7269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7909" y="1709928"/>
            <a:ext cx="10058400" cy="1399032"/>
          </a:xfrm>
        </p:spPr>
        <p:txBody>
          <a:bodyPr>
            <a:normAutofit fontScale="85000" lnSpcReduction="20000"/>
          </a:bodyPr>
          <a:lstStyle/>
          <a:p>
            <a:r>
              <a:rPr lang="en-US" sz="3800" dirty="0"/>
              <a:t>"Ever tried. Ever failed. No matter. Try again. Fail again. Fail better." </a:t>
            </a:r>
          </a:p>
          <a:p>
            <a:r>
              <a:rPr lang="en-US" sz="3800" dirty="0"/>
              <a:t>- Samuel Beckett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625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Security Monitoring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Defined: NSM is the collection, analysis, and escalation of  indications and warnings (I&amp;W) to detect and respond to </a:t>
            </a:r>
            <a:r>
              <a:rPr lang="en-US" dirty="0" smtClean="0"/>
              <a:t>intrusions (</a:t>
            </a:r>
            <a:r>
              <a:rPr lang="en-US" dirty="0" err="1" smtClean="0"/>
              <a:t>Bejtlich</a:t>
            </a:r>
            <a:r>
              <a:rPr lang="en-US" dirty="0" smtClean="0"/>
              <a:t>, 2002)</a:t>
            </a:r>
          </a:p>
          <a:p>
            <a:endParaRPr lang="en-US" dirty="0"/>
          </a:p>
          <a:p>
            <a:r>
              <a:rPr lang="en-US" dirty="0" smtClean="0"/>
              <a:t>It is easy to focus on a single aspect or tool, but the overall process must work efficiently and effectively by incorporating all aspects.</a:t>
            </a:r>
          </a:p>
          <a:p>
            <a:endParaRPr lang="en-US" dirty="0"/>
          </a:p>
          <a:p>
            <a:r>
              <a:rPr lang="en-US" dirty="0" smtClean="0"/>
              <a:t>NSM Components: IT Infrastructure (“What” we’re monitoring), Log Management Systems, Network IDS/IPS, SIEM, Personnel, IMS, Incident Response, Forensics, etc.</a:t>
            </a:r>
          </a:p>
          <a:p>
            <a:r>
              <a:rPr lang="en-US" dirty="0" smtClean="0"/>
              <a:t>Just as every organization faces unique threats and business challenges, every organization will do NSM a bit differently, if at all (Risk Transfer/Defiance/Ignorance [Hinson, 2009]).  Got GRC?</a:t>
            </a:r>
            <a:endParaRPr lang="en-US" dirty="0"/>
          </a:p>
        </p:txBody>
      </p:sp>
      <p:pic>
        <p:nvPicPr>
          <p:cNvPr id="6146" name="Picture 2" descr="mage result for binoculars clipar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8" y="0"/>
            <a:ext cx="2149929" cy="2149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7853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Scope and Coverage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Courtesy of </a:t>
            </a:r>
            <a:r>
              <a:rPr lang="en-US" dirty="0" err="1" smtClean="0"/>
              <a:t>dan</a:t>
            </a:r>
            <a:r>
              <a:rPr lang="en-US" dirty="0" smtClean="0"/>
              <a:t> Holden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27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Intrusion Detection System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System that monitors/inspects network traffic for malicious activity.</a:t>
            </a:r>
          </a:p>
          <a:p>
            <a:endParaRPr lang="en-US" dirty="0" smtClean="0"/>
          </a:p>
          <a:p>
            <a:r>
              <a:rPr lang="en-US" dirty="0" smtClean="0"/>
              <a:t>Creates alerts for “hits” on signatures and/or traffic abnormalities.</a:t>
            </a:r>
          </a:p>
          <a:p>
            <a:endParaRPr lang="en-US" dirty="0" smtClean="0"/>
          </a:p>
          <a:p>
            <a:r>
              <a:rPr lang="en-US" dirty="0" smtClean="0"/>
              <a:t>Alerts are stored and/or forwarded to SIEM/Central Log Solution/Long-term Storage/etc.</a:t>
            </a:r>
          </a:p>
          <a:p>
            <a:endParaRPr lang="en-US" dirty="0" smtClean="0"/>
          </a:p>
          <a:p>
            <a:r>
              <a:rPr lang="en-US" dirty="0" smtClean="0"/>
              <a:t>SOC must respond to alerts in timely fashion for effective threat mitigation</a:t>
            </a:r>
          </a:p>
          <a:p>
            <a:endParaRPr lang="en-US" dirty="0"/>
          </a:p>
          <a:p>
            <a:r>
              <a:rPr lang="en-US" dirty="0" smtClean="0"/>
              <a:t>Signature Database must remain updated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844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Intrusion Prevention System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In-Line Network Configuration required to actively block threats by dropping malicious traffic matching signatures (Pattern/Behavioral).</a:t>
            </a:r>
          </a:p>
          <a:p>
            <a:endParaRPr lang="en-US" dirty="0"/>
          </a:p>
          <a:p>
            <a:r>
              <a:rPr lang="en-US" dirty="0" smtClean="0"/>
              <a:t>Correct Configuration is imperative to ensure the correct traffic gets blocked and legitimate traffic is not disrupted</a:t>
            </a:r>
          </a:p>
          <a:p>
            <a:endParaRPr lang="en-US" dirty="0"/>
          </a:p>
          <a:p>
            <a:r>
              <a:rPr lang="en-US" dirty="0" smtClean="0"/>
              <a:t>Incident Response process remains critical as other attacks may succeed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917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IDS </a:t>
            </a:r>
            <a:r>
              <a:rPr lang="en-US" dirty="0" smtClean="0"/>
              <a:t>versus IPS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IDS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-Low/No risk of Network Disruption</a:t>
            </a:r>
          </a:p>
          <a:p>
            <a:r>
              <a:rPr lang="en-US" dirty="0" smtClean="0"/>
              <a:t>-Lower Resource Requirements (May require higher Network Switch resources for SPAN port[s])</a:t>
            </a:r>
          </a:p>
          <a:p>
            <a:r>
              <a:rPr lang="en-US" dirty="0" smtClean="0"/>
              <a:t>-Easier Implementation/Maintenance</a:t>
            </a:r>
          </a:p>
          <a:p>
            <a:r>
              <a:rPr lang="en-US" dirty="0" smtClean="0"/>
              <a:t>-Less Critical for False-Positive Tuning</a:t>
            </a:r>
          </a:p>
          <a:p>
            <a:r>
              <a:rPr lang="en-US" dirty="0" smtClean="0"/>
              <a:t>-More options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IPS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smtClean="0"/>
              <a:t>-Network Configuration and Implementation Required, including architectural design considerations.</a:t>
            </a:r>
          </a:p>
          <a:p>
            <a:r>
              <a:rPr lang="en-US" dirty="0" smtClean="0"/>
              <a:t>-Resource Intensive.  More Rule utilization = Increased Resource Consumption</a:t>
            </a:r>
          </a:p>
          <a:p>
            <a:r>
              <a:rPr lang="en-US" dirty="0" smtClean="0"/>
              <a:t>-Higher Maintenance due to False-Positive Tuning</a:t>
            </a:r>
          </a:p>
          <a:p>
            <a:r>
              <a:rPr lang="en-US" dirty="0" smtClean="0"/>
              <a:t>-Risk to Network Connectivity if device failure (various mitigations exist for this scenario)</a:t>
            </a:r>
          </a:p>
        </p:txBody>
      </p:sp>
    </p:spTree>
    <p:extLst>
      <p:ext uri="{BB962C8B-B14F-4D97-AF65-F5344CB8AC3E}">
        <p14:creationId xmlns:p14="http://schemas.microsoft.com/office/powerpoint/2010/main" val="486691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TAP or SPAN?</a:t>
            </a:r>
            <a:endParaRPr lang="en-US" dirty="0"/>
          </a:p>
        </p:txBody>
      </p:sp>
      <p:pic>
        <p:nvPicPr>
          <p:cNvPr id="3076" name="Picture 4" descr="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18" y="315370"/>
            <a:ext cx="7524206" cy="4147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83326" y="6021977"/>
            <a:ext cx="11560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www.nextgigsystems.com/aggregation_switches/gigamon_wp_tap.html</a:t>
            </a:r>
            <a:endParaRPr lang="en-US" dirty="0" smtClean="0"/>
          </a:p>
          <a:p>
            <a:r>
              <a:rPr lang="en-US" dirty="0">
                <a:hlinkClick r:id="rId4"/>
              </a:rPr>
              <a:t>https://www.pcwdld.com/port-mirroring-definition-and-tutorial</a:t>
            </a:r>
            <a:endParaRPr lang="en-US" dirty="0"/>
          </a:p>
        </p:txBody>
      </p:sp>
      <p:pic>
        <p:nvPicPr>
          <p:cNvPr id="3078" name="Picture 6" descr="mage result for span por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419" y="1972491"/>
            <a:ext cx="2524125" cy="21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9914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TAP or SPAN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TAP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Additional Cost ($ and Engineering Resources)</a:t>
            </a:r>
          </a:p>
          <a:p>
            <a:r>
              <a:rPr lang="en-US" dirty="0" smtClean="0"/>
              <a:t>Simple design</a:t>
            </a:r>
          </a:p>
          <a:p>
            <a:pPr lvl="1"/>
            <a:r>
              <a:rPr lang="en-US" dirty="0" smtClean="0"/>
              <a:t>Passive Fiber Taps Steal Light (Shine Light through window example)</a:t>
            </a:r>
          </a:p>
          <a:p>
            <a:pPr lvl="1"/>
            <a:r>
              <a:rPr lang="en-US" dirty="0" smtClean="0"/>
              <a:t>Active Taps regenerate the signal</a:t>
            </a:r>
          </a:p>
          <a:p>
            <a:pPr lvl="1"/>
            <a:r>
              <a:rPr lang="en-US" dirty="0">
                <a:hlinkClick r:id="rId2"/>
              </a:rPr>
              <a:t>https://www.gigamon.com/content/dam/resource-library/english/white-paper/wp-network-taps-first-step-to-visibility.pdf</a:t>
            </a:r>
            <a:endParaRPr lang="en-US" dirty="0" smtClean="0"/>
          </a:p>
          <a:p>
            <a:r>
              <a:rPr lang="en-US" dirty="0" smtClean="0"/>
              <a:t>Advanced features allow traffic filtering (even at Layer 7) and In-Line Bypass capabilities</a:t>
            </a:r>
          </a:p>
          <a:p>
            <a:r>
              <a:rPr lang="en-US" dirty="0" smtClean="0"/>
              <a:t>Network teams highly support this method</a:t>
            </a:r>
          </a:p>
          <a:p>
            <a:r>
              <a:rPr lang="en-US" dirty="0" smtClean="0"/>
              <a:t>Multiple TAPS may be aggregated to single feed.  Assists with East-West Traffic monitoring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SPAN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smtClean="0"/>
              <a:t>No additional $ required</a:t>
            </a:r>
          </a:p>
          <a:p>
            <a:r>
              <a:rPr lang="en-US" dirty="0" smtClean="0"/>
              <a:t>Newer Switch models support different types of SPAN (RSPAN, ERSPAN, etc.)</a:t>
            </a:r>
          </a:p>
          <a:p>
            <a:r>
              <a:rPr lang="en-US" dirty="0" smtClean="0"/>
              <a:t>Potential traffic feed loss due to failed device(s) or configuration change</a:t>
            </a:r>
          </a:p>
          <a:p>
            <a:r>
              <a:rPr lang="en-US" dirty="0" smtClean="0"/>
              <a:t>Network teams concerned with Switch Resource Utilization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24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 Source and Vendor Appliance </a:t>
            </a:r>
            <a:r>
              <a:rPr lang="en-US" dirty="0" smtClean="0"/>
              <a:t>Options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Open Source:</a:t>
            </a:r>
          </a:p>
          <a:p>
            <a:r>
              <a:rPr lang="en-US" dirty="0" smtClean="0">
                <a:hlinkClick r:id="rId3"/>
              </a:rPr>
              <a:t>Zeek</a:t>
            </a:r>
            <a:r>
              <a:rPr lang="en-US" dirty="0" smtClean="0"/>
              <a:t> (Formerly BRO) (</a:t>
            </a:r>
            <a:r>
              <a:rPr lang="en-US" dirty="0" err="1" smtClean="0"/>
              <a:t>Wojewoda</a:t>
            </a:r>
            <a:r>
              <a:rPr lang="en-US" dirty="0" smtClean="0"/>
              <a:t>, 2016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>
                <a:hlinkClick r:id="rId4"/>
              </a:rPr>
              <a:t>Troy </a:t>
            </a:r>
            <a:r>
              <a:rPr lang="en-US" dirty="0" err="1" smtClean="0">
                <a:hlinkClick r:id="rId4"/>
              </a:rPr>
              <a:t>Wojewoda’s</a:t>
            </a:r>
            <a:r>
              <a:rPr lang="en-US" dirty="0" smtClean="0">
                <a:hlinkClick r:id="rId4"/>
              </a:rPr>
              <a:t> RVA5ec Presentation</a:t>
            </a:r>
            <a:endParaRPr lang="en-US" dirty="0" smtClean="0"/>
          </a:p>
          <a:p>
            <a:r>
              <a:rPr lang="en-US" dirty="0" smtClean="0">
                <a:hlinkClick r:id="rId5"/>
              </a:rPr>
              <a:t>Snort</a:t>
            </a:r>
            <a:endParaRPr lang="en-US" dirty="0" smtClean="0"/>
          </a:p>
          <a:p>
            <a:r>
              <a:rPr lang="en-US" dirty="0" err="1" smtClean="0">
                <a:hlinkClick r:id="rId6"/>
              </a:rPr>
              <a:t>Suricata</a:t>
            </a:r>
            <a:endParaRPr lang="en-US" dirty="0" smtClean="0"/>
          </a:p>
          <a:p>
            <a:r>
              <a:rPr lang="en-US" dirty="0" smtClean="0">
                <a:hlinkClick r:id="rId7"/>
              </a:rPr>
              <a:t>Security Onion</a:t>
            </a:r>
            <a:r>
              <a:rPr lang="en-US" dirty="0" smtClean="0"/>
              <a:t> 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Vendors:</a:t>
            </a:r>
          </a:p>
          <a:p>
            <a:r>
              <a:rPr lang="en-US" dirty="0" smtClean="0">
                <a:hlinkClick r:id="rId8"/>
              </a:rPr>
              <a:t>Fortinet</a:t>
            </a:r>
            <a:endParaRPr lang="en-US" dirty="0" smtClean="0"/>
          </a:p>
          <a:p>
            <a:r>
              <a:rPr lang="en-US" dirty="0" smtClean="0">
                <a:hlinkClick r:id="rId9"/>
              </a:rPr>
              <a:t>Cisco</a:t>
            </a:r>
            <a:endParaRPr lang="en-US" dirty="0" smtClean="0"/>
          </a:p>
          <a:p>
            <a:r>
              <a:rPr lang="en-US" dirty="0" smtClean="0">
                <a:hlinkClick r:id="rId10"/>
              </a:rPr>
              <a:t>Checkpoint</a:t>
            </a:r>
            <a:endParaRPr lang="en-US" dirty="0" smtClean="0"/>
          </a:p>
          <a:p>
            <a:r>
              <a:rPr lang="en-US" dirty="0" smtClean="0">
                <a:hlinkClick r:id="rId11"/>
              </a:rPr>
              <a:t>Palo Alto</a:t>
            </a:r>
            <a:endParaRPr lang="en-US" dirty="0" smtClean="0"/>
          </a:p>
          <a:p>
            <a:r>
              <a:rPr lang="en-US" dirty="0" smtClean="0">
                <a:hlinkClick r:id="rId12"/>
              </a:rPr>
              <a:t>Juniper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>
                <a:hlinkClick r:id="rId13"/>
              </a:rPr>
              <a:t>Dan Holden &amp; Elizabeth Martin RVAs3c</a:t>
            </a:r>
            <a:endParaRPr lang="en-US" dirty="0" smtClean="0"/>
          </a:p>
          <a:p>
            <a:pPr lvl="1"/>
            <a:r>
              <a:rPr lang="en-US" dirty="0" smtClean="0"/>
              <a:t>*5 year cycle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53589" y="5277394"/>
            <a:ext cx="9888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*Note* List is Incomplete.  Many more options available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232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 Source option considerations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Less expensive due to use of Cheap commodity hardware (including High-Performance NICs)</a:t>
            </a:r>
          </a:p>
          <a:p>
            <a:pPr lvl="1"/>
            <a:r>
              <a:rPr lang="en-US" dirty="0" smtClean="0"/>
              <a:t>High Performance NICs:  </a:t>
            </a:r>
            <a:r>
              <a:rPr lang="en-US" dirty="0" smtClean="0">
                <a:hlinkClick r:id="rId2"/>
              </a:rPr>
              <a:t>CSPI</a:t>
            </a:r>
            <a:r>
              <a:rPr lang="en-US" dirty="0" smtClean="0"/>
              <a:t> (Formerly </a:t>
            </a:r>
            <a:r>
              <a:rPr lang="en-US" dirty="0" err="1" smtClean="0"/>
              <a:t>Myricom</a:t>
            </a:r>
            <a:r>
              <a:rPr lang="en-US" dirty="0" smtClean="0"/>
              <a:t>), </a:t>
            </a:r>
            <a:r>
              <a:rPr lang="en-US" dirty="0" smtClean="0">
                <a:hlinkClick r:id="rId3"/>
              </a:rPr>
              <a:t>Endace</a:t>
            </a:r>
            <a:r>
              <a:rPr lang="en-US" dirty="0" smtClean="0"/>
              <a:t>, </a:t>
            </a:r>
            <a:r>
              <a:rPr lang="en-US" dirty="0" smtClean="0">
                <a:hlinkClick r:id="rId4"/>
              </a:rPr>
              <a:t>SolarFlare</a:t>
            </a:r>
            <a:r>
              <a:rPr lang="en-US" dirty="0" smtClean="0"/>
              <a:t> (Now Xilinx), </a:t>
            </a:r>
            <a:r>
              <a:rPr lang="en-US" dirty="0" smtClean="0">
                <a:hlinkClick r:id="rId5"/>
              </a:rPr>
              <a:t>Napatech</a:t>
            </a:r>
            <a:endParaRPr lang="en-US" dirty="0" smtClean="0"/>
          </a:p>
          <a:p>
            <a:pPr lvl="1"/>
            <a:r>
              <a:rPr lang="en-US" dirty="0" smtClean="0"/>
              <a:t>Most organizations have decommissioned servers that can serve as “kick starter” IDS boxes</a:t>
            </a:r>
          </a:p>
          <a:p>
            <a:r>
              <a:rPr lang="en-US" dirty="0" smtClean="0"/>
              <a:t>Active Communities offer support, documentation, discussions</a:t>
            </a:r>
          </a:p>
          <a:p>
            <a:r>
              <a:rPr lang="en-US" dirty="0" smtClean="0"/>
              <a:t>Professional Services are available</a:t>
            </a:r>
          </a:p>
          <a:p>
            <a:pPr lvl="1"/>
            <a:r>
              <a:rPr lang="en-US" dirty="0" smtClean="0">
                <a:hlinkClick r:id="rId6"/>
              </a:rPr>
              <a:t>Security Onion Solutions</a:t>
            </a:r>
            <a:endParaRPr lang="en-US" dirty="0" smtClean="0"/>
          </a:p>
          <a:p>
            <a:pPr lvl="1"/>
            <a:r>
              <a:rPr lang="en-US" dirty="0" smtClean="0"/>
              <a:t>Value-Added Resellers: </a:t>
            </a:r>
            <a:r>
              <a:rPr lang="en-US" dirty="0" smtClean="0">
                <a:hlinkClick r:id="rId7"/>
              </a:rPr>
              <a:t>WEI</a:t>
            </a:r>
            <a:r>
              <a:rPr lang="en-US" dirty="0" smtClean="0"/>
              <a:t>, </a:t>
            </a:r>
            <a:r>
              <a:rPr lang="en-US" dirty="0" smtClean="0">
                <a:hlinkClick r:id="rId8"/>
              </a:rPr>
              <a:t>BAI</a:t>
            </a:r>
            <a:r>
              <a:rPr lang="en-US" dirty="0" smtClean="0"/>
              <a:t>, </a:t>
            </a:r>
            <a:r>
              <a:rPr lang="en-US" dirty="0" smtClean="0">
                <a:hlinkClick r:id="rId9"/>
              </a:rPr>
              <a:t>Optiv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In my experience, Open Source solutions generally require increased time and effort to implement when compared to Vendor Appliances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124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Vendor Appliance option considerations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Require an initial investment/purchase</a:t>
            </a:r>
          </a:p>
          <a:p>
            <a:r>
              <a:rPr lang="en-US" dirty="0" smtClean="0"/>
              <a:t>Increased number of available options</a:t>
            </a:r>
          </a:p>
          <a:p>
            <a:r>
              <a:rPr lang="en-US" dirty="0" smtClean="0"/>
              <a:t>Generally include Service and Support</a:t>
            </a:r>
          </a:p>
          <a:p>
            <a:r>
              <a:rPr lang="en-US" dirty="0" smtClean="0"/>
              <a:t>Generally include Sales Rep and Engineer</a:t>
            </a:r>
          </a:p>
          <a:p>
            <a:r>
              <a:rPr lang="en-US" dirty="0" smtClean="0"/>
              <a:t>Focused on IPS (even though both IDS/IPS may be supported)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3053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Beyond IDS/IPS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Host Based IDS/IPS </a:t>
            </a:r>
            <a:r>
              <a:rPr lang="mr-IN" dirty="0" smtClean="0"/>
              <a:t>–</a:t>
            </a:r>
            <a:r>
              <a:rPr lang="en-US" dirty="0" smtClean="0"/>
              <a:t> Provides additional layer of NSM</a:t>
            </a:r>
          </a:p>
          <a:p>
            <a:pPr lvl="1"/>
            <a:r>
              <a:rPr lang="en-US" dirty="0" smtClean="0"/>
              <a:t>Need both to form a layered approach.  Attacker may disable/bypass one layer</a:t>
            </a:r>
          </a:p>
          <a:p>
            <a:r>
              <a:rPr lang="en-US" dirty="0" smtClean="0"/>
              <a:t>Log Forwarding, Storage, Correlation, Analysis</a:t>
            </a:r>
          </a:p>
          <a:p>
            <a:pPr lvl="1"/>
            <a:r>
              <a:rPr lang="en-US" dirty="0" smtClean="0"/>
              <a:t>Required by GRC</a:t>
            </a:r>
          </a:p>
          <a:p>
            <a:pPr lvl="1"/>
            <a:r>
              <a:rPr lang="en-US" smtClean="0"/>
              <a:t>Forensics</a:t>
            </a:r>
            <a:endParaRPr lang="en-US" dirty="0" smtClean="0"/>
          </a:p>
          <a:p>
            <a:r>
              <a:rPr lang="en-US" dirty="0" smtClean="0"/>
              <a:t>Incident Response</a:t>
            </a:r>
          </a:p>
          <a:p>
            <a:pPr lvl="1"/>
            <a:r>
              <a:rPr lang="en-US" dirty="0" smtClean="0"/>
              <a:t>Network IDS/IPS is critical to this process</a:t>
            </a:r>
          </a:p>
          <a:p>
            <a:r>
              <a:rPr lang="en-US" dirty="0" smtClean="0"/>
              <a:t>Packet Capture</a:t>
            </a:r>
          </a:p>
          <a:p>
            <a:pPr lvl="1"/>
            <a:r>
              <a:rPr lang="en-US" dirty="0" smtClean="0"/>
              <a:t>Network Packets don’t Lie</a:t>
            </a:r>
          </a:p>
          <a:p>
            <a:pPr lvl="1"/>
            <a:r>
              <a:rPr lang="en-US" dirty="0" smtClean="0">
                <a:hlinkClick r:id="rId2"/>
              </a:rPr>
              <a:t>Packetsled</a:t>
            </a:r>
            <a:r>
              <a:rPr lang="en-US" dirty="0" smtClean="0"/>
              <a:t>, </a:t>
            </a:r>
            <a:r>
              <a:rPr lang="en-US" dirty="0" smtClean="0">
                <a:hlinkClick r:id="rId3"/>
              </a:rPr>
              <a:t>Moloch</a:t>
            </a:r>
            <a:r>
              <a:rPr lang="en-US" dirty="0" smtClean="0"/>
              <a:t>, </a:t>
            </a:r>
            <a:r>
              <a:rPr lang="en-US" dirty="0" smtClean="0">
                <a:hlinkClick r:id="rId4"/>
              </a:rPr>
              <a:t>Netsniff-ng</a:t>
            </a:r>
            <a:endParaRPr lang="en-US" dirty="0" smtClean="0"/>
          </a:p>
          <a:p>
            <a:pPr lvl="1"/>
            <a:r>
              <a:rPr lang="en-US" i="1" dirty="0" smtClean="0"/>
              <a:t>See “</a:t>
            </a:r>
            <a:r>
              <a:rPr lang="en-US" i="1" dirty="0" smtClean="0">
                <a:hlinkClick r:id="rId5"/>
              </a:rPr>
              <a:t>Implementing Full Packet Capture</a:t>
            </a:r>
            <a:r>
              <a:rPr lang="en-US" i="1" dirty="0" smtClean="0"/>
              <a:t>”</a:t>
            </a:r>
            <a:r>
              <a:rPr lang="en-US" dirty="0" smtClean="0"/>
              <a:t> By: Matt Koch, SANS Institute (Koch, 2019)</a:t>
            </a:r>
            <a:endParaRPr lang="en-US" i="1" dirty="0" smtClean="0"/>
          </a:p>
          <a:p>
            <a:r>
              <a:rPr lang="en-US" dirty="0" smtClean="0"/>
              <a:t>Forensics support</a:t>
            </a:r>
          </a:p>
          <a:p>
            <a:pPr lvl="1"/>
            <a:r>
              <a:rPr lang="en-US" dirty="0" smtClean="0"/>
              <a:t>The (non-altered) Logs don’t Lie </a:t>
            </a:r>
          </a:p>
          <a:p>
            <a:r>
              <a:rPr lang="en-US" dirty="0" smtClean="0"/>
              <a:t>SIEM Integration</a:t>
            </a:r>
          </a:p>
          <a:p>
            <a:r>
              <a:rPr lang="en-US" dirty="0" smtClean="0"/>
              <a:t>Automated Alerting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374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My Background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2012</a:t>
            </a:r>
            <a:r>
              <a:rPr lang="mr-IN" dirty="0" smtClean="0"/>
              <a:t>–</a:t>
            </a:r>
            <a:r>
              <a:rPr lang="en-US" dirty="0" smtClean="0"/>
              <a:t> Security Onion Development Server Administration</a:t>
            </a:r>
          </a:p>
          <a:p>
            <a:r>
              <a:rPr lang="en-US" dirty="0" smtClean="0"/>
              <a:t>2014 </a:t>
            </a:r>
            <a:r>
              <a:rPr lang="mr-IN" dirty="0" smtClean="0"/>
              <a:t>–</a:t>
            </a:r>
            <a:r>
              <a:rPr lang="en-US" dirty="0" smtClean="0"/>
              <a:t> Network IDS Lead Admin/Architect</a:t>
            </a:r>
          </a:p>
          <a:p>
            <a:r>
              <a:rPr lang="en-US" dirty="0" smtClean="0"/>
              <a:t>2015 </a:t>
            </a:r>
            <a:r>
              <a:rPr lang="mr-IN" dirty="0" smtClean="0"/>
              <a:t>–</a:t>
            </a:r>
            <a:r>
              <a:rPr lang="en-US" dirty="0" smtClean="0"/>
              <a:t> Network IDS for a CSP, utilizing Automated Deployment</a:t>
            </a:r>
          </a:p>
          <a:p>
            <a:r>
              <a:rPr lang="en-US" dirty="0" smtClean="0"/>
              <a:t>2017 </a:t>
            </a:r>
            <a:r>
              <a:rPr lang="mr-IN" dirty="0" smtClean="0"/>
              <a:t>–</a:t>
            </a:r>
            <a:r>
              <a:rPr lang="en-US" dirty="0" smtClean="0"/>
              <a:t> Lead Architect/Engineer for Network IDS/IPS at CSP</a:t>
            </a:r>
          </a:p>
          <a:p>
            <a:r>
              <a:rPr lang="en-US" dirty="0" smtClean="0"/>
              <a:t>2019 </a:t>
            </a:r>
            <a:r>
              <a:rPr lang="mr-IN" dirty="0" smtClean="0"/>
              <a:t>–</a:t>
            </a:r>
            <a:r>
              <a:rPr lang="en-US" dirty="0" smtClean="0"/>
              <a:t> Interim Manager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806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Confrontational Network Engineers </a:t>
            </a:r>
          </a:p>
          <a:p>
            <a:r>
              <a:rPr lang="en-US" dirty="0" smtClean="0"/>
              <a:t>Budget Constraints</a:t>
            </a:r>
          </a:p>
          <a:p>
            <a:r>
              <a:rPr lang="en-US" dirty="0" smtClean="0"/>
              <a:t>Scalable Solution with Automation</a:t>
            </a:r>
          </a:p>
          <a:p>
            <a:r>
              <a:rPr lang="en-US" dirty="0" smtClean="0"/>
              <a:t>Administration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Backups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Central Management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Logging and Reporting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705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Solutions Designed and Implemented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- Very Large Security Onion Server (1/2 to 1 TB of RAM)</a:t>
            </a:r>
          </a:p>
          <a:p>
            <a:r>
              <a:rPr lang="en-US" dirty="0" smtClean="0"/>
              <a:t>- Scaled Security Onion Deployment for Back-end protection of Cloud</a:t>
            </a:r>
          </a:p>
          <a:p>
            <a:r>
              <a:rPr lang="en-US" dirty="0" smtClean="0"/>
              <a:t>-Scaled Vendor Solution</a:t>
            </a:r>
          </a:p>
          <a:p>
            <a:r>
              <a:rPr lang="en-US" dirty="0" smtClean="0"/>
              <a:t>-Border Network IDS based on the LBL architecture:</a:t>
            </a:r>
          </a:p>
          <a:p>
            <a:pPr lvl="1"/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go.lbl.gov/100g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904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Architectures</a:t>
            </a:r>
            <a:endParaRPr lang="en-US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19" b="3051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0627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5346" y="0"/>
            <a:ext cx="3539671" cy="621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606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9587" y="0"/>
            <a:ext cx="3683362" cy="632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606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Security Onion </a:t>
            </a:r>
            <a:r>
              <a:rPr lang="mr-IN" dirty="0" smtClean="0"/>
              <a:t>–</a:t>
            </a:r>
            <a:r>
              <a:rPr lang="en-US" dirty="0" smtClean="0"/>
              <a:t> 1 Big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Advantages:</a:t>
            </a:r>
          </a:p>
          <a:p>
            <a:pPr lvl="1"/>
            <a:r>
              <a:rPr lang="en-US" dirty="0" smtClean="0"/>
              <a:t>Simple Administration</a:t>
            </a:r>
          </a:p>
          <a:p>
            <a:pPr lvl="1"/>
            <a:r>
              <a:rPr lang="en-US" dirty="0" smtClean="0"/>
              <a:t>Easy Backups</a:t>
            </a:r>
          </a:p>
          <a:p>
            <a:pPr lvl="1"/>
            <a:r>
              <a:rPr lang="en-US" dirty="0" smtClean="0"/>
              <a:t>Easy Setup/Architecture/Configuration</a:t>
            </a:r>
          </a:p>
          <a:p>
            <a:pPr lvl="1"/>
            <a:r>
              <a:rPr lang="en-US" dirty="0" smtClean="0"/>
              <a:t>Simple Budget Request(s)</a:t>
            </a:r>
          </a:p>
          <a:p>
            <a:pPr lvl="1"/>
            <a:r>
              <a:rPr lang="en-US" dirty="0" smtClean="0"/>
              <a:t>Small Footprint in Data Center</a:t>
            </a:r>
          </a:p>
          <a:p>
            <a:pPr lvl="1"/>
            <a:r>
              <a:rPr lang="en-US" dirty="0" err="1" smtClean="0"/>
              <a:t>Virtualizable</a:t>
            </a:r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Dis-Advantages</a:t>
            </a:r>
          </a:p>
          <a:p>
            <a:pPr lvl="1"/>
            <a:r>
              <a:rPr lang="en-US" dirty="0" smtClean="0"/>
              <a:t>In-efficient Resource Utilization</a:t>
            </a:r>
          </a:p>
          <a:p>
            <a:pPr lvl="2"/>
            <a:r>
              <a:rPr lang="en-US" dirty="0" smtClean="0"/>
              <a:t>CPU pinning not done automatically and conflicted sometimes</a:t>
            </a:r>
          </a:p>
          <a:p>
            <a:pPr lvl="1"/>
            <a:r>
              <a:rPr lang="en-US" dirty="0" smtClean="0"/>
              <a:t>Interface Saturations from Peaked Traffic</a:t>
            </a:r>
          </a:p>
          <a:p>
            <a:pPr lvl="1"/>
            <a:r>
              <a:rPr lang="en-US" dirty="0" smtClean="0"/>
              <a:t>Single Point of Failure (not much of a concern with IDS)</a:t>
            </a:r>
          </a:p>
          <a:p>
            <a:pPr lvl="1"/>
            <a:r>
              <a:rPr lang="en-US" dirty="0" smtClean="0"/>
              <a:t>Could not re-purpose old hardware (Most places don’t have beefy hardware just lying around)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545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Security Onion </a:t>
            </a:r>
            <a:r>
              <a:rPr lang="mr-IN" dirty="0" smtClean="0"/>
              <a:t>–</a:t>
            </a:r>
            <a:r>
              <a:rPr lang="en-US" dirty="0" smtClean="0"/>
              <a:t> 1 Big Server Lessons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Work with Seasoned System Administrators to Tune the system</a:t>
            </a:r>
          </a:p>
          <a:p>
            <a:pPr lvl="1"/>
            <a:r>
              <a:rPr lang="en-US" dirty="0" smtClean="0"/>
              <a:t>May have to agree that Official Support from Administrators is not expected/required</a:t>
            </a:r>
          </a:p>
          <a:p>
            <a:pPr lvl="1"/>
            <a:r>
              <a:rPr lang="en-US" dirty="0" smtClean="0"/>
              <a:t>Fun Fact </a:t>
            </a:r>
            <a:r>
              <a:rPr lang="mr-IN" dirty="0" smtClean="0"/>
              <a:t>–</a:t>
            </a:r>
            <a:r>
              <a:rPr lang="en-US" dirty="0" smtClean="0"/>
              <a:t> Use “Alien” to utilize RPM packages in Ubuntu</a:t>
            </a:r>
          </a:p>
          <a:p>
            <a:pPr lvl="1"/>
            <a:endParaRPr lang="en-US" dirty="0"/>
          </a:p>
          <a:p>
            <a:r>
              <a:rPr lang="en-US" dirty="0" smtClean="0"/>
              <a:t>Multiple Interfaces (preferably on Multiple NICs) will prevent interface saturation</a:t>
            </a:r>
          </a:p>
          <a:p>
            <a:pPr lvl="1"/>
            <a:r>
              <a:rPr lang="en-US" dirty="0" smtClean="0"/>
              <a:t>Be sure to setup Flow Hashing properly</a:t>
            </a:r>
          </a:p>
          <a:p>
            <a:pPr lvl="2"/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suricata.readthedocs.io/en/suricata-4.1.3/performance/packet-capture.html</a:t>
            </a:r>
            <a:endParaRPr lang="en-US" dirty="0" smtClean="0"/>
          </a:p>
          <a:p>
            <a:pPr lvl="1"/>
            <a:r>
              <a:rPr lang="en-US" dirty="0" smtClean="0"/>
              <a:t>Read your NIC(s) Manual(s)!</a:t>
            </a:r>
          </a:p>
          <a:p>
            <a:r>
              <a:rPr lang="en-US" dirty="0" smtClean="0"/>
              <a:t>Monitoring Outbound (Network Egress) communications is Important for Malware Callbacks, Data Loss, etc.  (BRO really shines in this arena)</a:t>
            </a:r>
          </a:p>
        </p:txBody>
      </p:sp>
    </p:spTree>
    <p:extLst>
      <p:ext uri="{BB962C8B-B14F-4D97-AF65-F5344CB8AC3E}">
        <p14:creationId xmlns:p14="http://schemas.microsoft.com/office/powerpoint/2010/main" val="251480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Security Onion with ERSPANs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Advantages:</a:t>
            </a:r>
          </a:p>
          <a:p>
            <a:pPr lvl="1"/>
            <a:r>
              <a:rPr lang="en-US" dirty="0" smtClean="0"/>
              <a:t>Flexible</a:t>
            </a:r>
          </a:p>
          <a:p>
            <a:pPr lvl="1"/>
            <a:r>
              <a:rPr lang="en-US" dirty="0" smtClean="0"/>
              <a:t>Agile</a:t>
            </a:r>
          </a:p>
          <a:p>
            <a:pPr lvl="1"/>
            <a:r>
              <a:rPr lang="en-US" dirty="0" err="1" smtClean="0"/>
              <a:t>Virtualizable</a:t>
            </a:r>
            <a:endParaRPr lang="en-US" dirty="0" smtClean="0"/>
          </a:p>
          <a:p>
            <a:pPr lvl="1"/>
            <a:r>
              <a:rPr lang="en-US" dirty="0" smtClean="0"/>
              <a:t>Utilize a Backup Network IDS to ensure monitoring is not disrupted by routine maintenance or single-node failure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Disadvantages:</a:t>
            </a:r>
          </a:p>
          <a:p>
            <a:r>
              <a:rPr lang="en-US" dirty="0" smtClean="0"/>
              <a:t>WTF is ERSPAN?</a:t>
            </a:r>
          </a:p>
          <a:p>
            <a:pPr lvl="1"/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packetpushers.net/erspan-new-favorite-packet-capturing-trick/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Must be on Supported Hardware</a:t>
            </a:r>
          </a:p>
          <a:p>
            <a:r>
              <a:rPr lang="en-US" dirty="0" smtClean="0"/>
              <a:t>Must have skilled Network Engineers</a:t>
            </a:r>
          </a:p>
          <a:p>
            <a:r>
              <a:rPr lang="en-US" dirty="0" smtClean="0"/>
              <a:t>Reliance on SPAN ports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734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Security Onion with ERSPAN - Lessons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on supported Appliances (Hardware/virtualized) this option is lucrative as different network segments may be sniffed and monitored by a single Network IDS deployment</a:t>
            </a:r>
          </a:p>
          <a:p>
            <a:endParaRPr lang="en-US" dirty="0" smtClean="0"/>
          </a:p>
          <a:p>
            <a:r>
              <a:rPr lang="en-US" dirty="0" smtClean="0"/>
              <a:t>Network Appliances will take a resource hit from SPAN enablement</a:t>
            </a:r>
          </a:p>
          <a:p>
            <a:pPr lvl="1"/>
            <a:r>
              <a:rPr lang="en-US" dirty="0" smtClean="0"/>
              <a:t>Test as results vary from Network to Network!</a:t>
            </a:r>
          </a:p>
          <a:p>
            <a:endParaRPr lang="en-US" dirty="0" smtClean="0"/>
          </a:p>
          <a:p>
            <a:r>
              <a:rPr lang="en-US" dirty="0" smtClean="0"/>
              <a:t>Configuration Management and Version Control of Network gear are enablers of this solution</a:t>
            </a:r>
          </a:p>
          <a:p>
            <a:r>
              <a:rPr lang="en-US" dirty="0" smtClean="0"/>
              <a:t>L2 Connectivity between Switches = RSPAN</a:t>
            </a:r>
          </a:p>
          <a:p>
            <a:r>
              <a:rPr lang="en-US" dirty="0" smtClean="0"/>
              <a:t>L3 Connectivity between Switches = ERSPAN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346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Border Traffic Monitoring with LBL Design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Optical Taps -&gt; Aggregation Switch -&gt; Network IDS Cluster</a:t>
            </a:r>
          </a:p>
          <a:p>
            <a:r>
              <a:rPr lang="en-US" dirty="0" smtClean="0"/>
              <a:t>Solution Scales very well</a:t>
            </a:r>
          </a:p>
          <a:p>
            <a:pPr lvl="1"/>
            <a:r>
              <a:rPr lang="en-US" dirty="0" smtClean="0"/>
              <a:t>Easily add Network Links to Aggregation Switch</a:t>
            </a:r>
          </a:p>
          <a:p>
            <a:pPr lvl="1"/>
            <a:r>
              <a:rPr lang="en-US" dirty="0" smtClean="0"/>
              <a:t>Easily add Network IDS nodes to cluster</a:t>
            </a:r>
          </a:p>
          <a:p>
            <a:r>
              <a:rPr lang="en-US" dirty="0" smtClean="0"/>
              <a:t>Documented and Vetted Solution:</a:t>
            </a:r>
          </a:p>
          <a:p>
            <a:pPr lvl="1"/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go.lbl.gov/100g</a:t>
            </a:r>
            <a:endParaRPr lang="en-US" dirty="0" smtClean="0"/>
          </a:p>
          <a:p>
            <a:pPr lvl="1"/>
            <a:r>
              <a:rPr lang="en-US" dirty="0" smtClean="0"/>
              <a:t>Easily modify design to fit organization’s needs</a:t>
            </a:r>
          </a:p>
          <a:p>
            <a:pPr lvl="2"/>
            <a:r>
              <a:rPr lang="en-US" dirty="0" smtClean="0"/>
              <a:t>I.E. Utilize Snort/</a:t>
            </a:r>
            <a:r>
              <a:rPr lang="en-US" dirty="0" err="1" smtClean="0"/>
              <a:t>Suricata</a:t>
            </a:r>
            <a:r>
              <a:rPr lang="en-US" dirty="0" smtClean="0"/>
              <a:t> along with BRO</a:t>
            </a:r>
          </a:p>
          <a:p>
            <a:pPr lvl="1"/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01773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Border Traffic Monitoring with LBL Design - Lessons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Flood of Traffic and mostly un-interesting</a:t>
            </a:r>
          </a:p>
          <a:p>
            <a:pPr lvl="1"/>
            <a:r>
              <a:rPr lang="en-US" dirty="0" smtClean="0"/>
              <a:t>Encrypted</a:t>
            </a:r>
          </a:p>
          <a:p>
            <a:pPr lvl="1"/>
            <a:r>
              <a:rPr lang="en-US" dirty="0" smtClean="0"/>
              <a:t>NTP</a:t>
            </a:r>
          </a:p>
          <a:p>
            <a:pPr lvl="1"/>
            <a:r>
              <a:rPr lang="en-US" dirty="0" smtClean="0"/>
              <a:t>VPN</a:t>
            </a:r>
          </a:p>
          <a:p>
            <a:r>
              <a:rPr lang="en-US" dirty="0" smtClean="0"/>
              <a:t>Network Teams Love Optical Taps</a:t>
            </a:r>
          </a:p>
          <a:p>
            <a:pPr lvl="1"/>
            <a:r>
              <a:rPr lang="en-US" dirty="0" smtClean="0"/>
              <a:t>Requires downtime for implementation (Generally Maintenance-Free)</a:t>
            </a:r>
          </a:p>
          <a:p>
            <a:r>
              <a:rPr lang="en-US" dirty="0" smtClean="0"/>
              <a:t>Arista Switches</a:t>
            </a:r>
          </a:p>
          <a:p>
            <a:pPr lvl="1"/>
            <a:r>
              <a:rPr lang="en-US" dirty="0" smtClean="0"/>
              <a:t>Are </a:t>
            </a:r>
            <a:r>
              <a:rPr lang="en-US" dirty="0" err="1" smtClean="0"/>
              <a:t>Niiiice</a:t>
            </a:r>
            <a:endParaRPr lang="en-US" dirty="0" smtClean="0"/>
          </a:p>
          <a:p>
            <a:pPr lvl="2"/>
            <a:r>
              <a:rPr lang="en-US" dirty="0" smtClean="0"/>
              <a:t>Full BASH implementation on Switch</a:t>
            </a:r>
          </a:p>
          <a:p>
            <a:pPr lvl="2"/>
            <a:r>
              <a:rPr lang="en-US" dirty="0" smtClean="0"/>
              <a:t>Tap </a:t>
            </a:r>
            <a:r>
              <a:rPr lang="en-US" dirty="0" err="1" smtClean="0"/>
              <a:t>Agg</a:t>
            </a:r>
            <a:r>
              <a:rPr lang="en-US" dirty="0" smtClean="0"/>
              <a:t> / DANZ / other traffic manipulation capabilities</a:t>
            </a:r>
          </a:p>
          <a:p>
            <a:pPr lvl="2"/>
            <a:r>
              <a:rPr lang="en-US" dirty="0" smtClean="0"/>
              <a:t>Pretty GUI available (CLI still the best place to get work done)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607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Arista Tap Aggregation GUI</a:t>
            </a:r>
            <a:endParaRPr lang="en-US" dirty="0"/>
          </a:p>
        </p:txBody>
      </p:sp>
      <p:pic>
        <p:nvPicPr>
          <p:cNvPr id="12292" name="Picture 4" descr="mage result for arista tap aggregation gu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318" y="0"/>
            <a:ext cx="6683188" cy="4803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5613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Proprietary Appliance Deployment	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Inherited Architecture during transition from SPAN/Sniffer setup to In-Line configuration</a:t>
            </a:r>
          </a:p>
          <a:p>
            <a:r>
              <a:rPr lang="en-US" dirty="0" smtClean="0"/>
              <a:t>First impression was “blah”</a:t>
            </a:r>
          </a:p>
          <a:p>
            <a:r>
              <a:rPr lang="en-US" dirty="0" smtClean="0"/>
              <a:t>Lots of Bells and Whistles that didn’t add value to current NSM processes/procedures</a:t>
            </a:r>
          </a:p>
          <a:p>
            <a:r>
              <a:rPr lang="en-US" dirty="0" smtClean="0"/>
              <a:t>Various devices setup in various states</a:t>
            </a:r>
            <a:endParaRPr lang="en-US" dirty="0"/>
          </a:p>
          <a:p>
            <a:r>
              <a:rPr lang="en-US" dirty="0" smtClean="0"/>
              <a:t>Switching costs were prohibitive</a:t>
            </a:r>
          </a:p>
          <a:p>
            <a:r>
              <a:rPr lang="en-US" dirty="0" smtClean="0"/>
              <a:t>”Unified Threat Management” initially seemed too </a:t>
            </a:r>
            <a:r>
              <a:rPr lang="en-US" dirty="0" err="1" smtClean="0"/>
              <a:t>Salesy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In-Line configurations enabled IPS to block attacks</a:t>
            </a:r>
          </a:p>
          <a:p>
            <a:pPr lvl="1"/>
            <a:r>
              <a:rPr lang="en-US" dirty="0" smtClean="0"/>
              <a:t>In-line via VLAN configurations with Network Gear</a:t>
            </a:r>
          </a:p>
          <a:p>
            <a:pPr lvl="1"/>
            <a:r>
              <a:rPr lang="en-US" dirty="0" smtClean="0"/>
              <a:t>True In-line (Traffic comes in one side and out the other)</a:t>
            </a:r>
          </a:p>
          <a:p>
            <a:r>
              <a:rPr lang="en-US" dirty="0" smtClean="0"/>
              <a:t>”Unified Threat Management” </a:t>
            </a:r>
            <a:r>
              <a:rPr lang="mr-IN" dirty="0" smtClean="0"/>
              <a:t>–</a:t>
            </a:r>
            <a:r>
              <a:rPr lang="en-US" dirty="0" smtClean="0"/>
              <a:t> Turn it into Unified Log Collection</a:t>
            </a:r>
          </a:p>
          <a:p>
            <a:pPr lvl="1"/>
            <a:r>
              <a:rPr lang="en-US" dirty="0" smtClean="0"/>
              <a:t>DNS Logs</a:t>
            </a:r>
          </a:p>
          <a:p>
            <a:pPr lvl="1"/>
            <a:r>
              <a:rPr lang="en-US" dirty="0" smtClean="0"/>
              <a:t>Application Logs</a:t>
            </a:r>
          </a:p>
          <a:p>
            <a:pPr lvl="1"/>
            <a:r>
              <a:rPr lang="en-US" dirty="0" smtClean="0"/>
              <a:t>File Logs</a:t>
            </a:r>
          </a:p>
          <a:p>
            <a:pPr lvl="1"/>
            <a:r>
              <a:rPr lang="en-US" dirty="0" smtClean="0"/>
              <a:t>Sort of like BRO, but not really</a:t>
            </a:r>
          </a:p>
        </p:txBody>
      </p:sp>
    </p:spTree>
    <p:extLst>
      <p:ext uri="{BB962C8B-B14F-4D97-AF65-F5344CB8AC3E}">
        <p14:creationId xmlns:p14="http://schemas.microsoft.com/office/powerpoint/2010/main" val="713387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Vendor Appliance Lessons Learned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Leverage position with vendor to get trainings/certifications</a:t>
            </a:r>
          </a:p>
          <a:p>
            <a:r>
              <a:rPr lang="en-US" dirty="0" smtClean="0"/>
              <a:t>Do a bake-off to select the solution that fits your organization.  </a:t>
            </a:r>
          </a:p>
          <a:p>
            <a:r>
              <a:rPr lang="en-US" dirty="0" smtClean="0"/>
              <a:t>Ensure devices are Right-Sized (this applies to Open Source solutions as well)</a:t>
            </a:r>
          </a:p>
          <a:p>
            <a:pPr lvl="1"/>
            <a:r>
              <a:rPr lang="en-US" dirty="0" smtClean="0"/>
              <a:t>Network Bandwidth/Throughput (current and future growth)</a:t>
            </a:r>
          </a:p>
          <a:p>
            <a:pPr lvl="1"/>
            <a:r>
              <a:rPr lang="en-US" dirty="0" smtClean="0"/>
              <a:t>Device Processing capabilities for selected rule sets (Signatures and Abnormalities)</a:t>
            </a:r>
          </a:p>
          <a:p>
            <a:pPr lvl="1"/>
            <a:r>
              <a:rPr lang="en-US" dirty="0" smtClean="0"/>
              <a:t>Interface options (SFP/SFP+, Fiber, LACP capabilities)</a:t>
            </a:r>
          </a:p>
          <a:p>
            <a:r>
              <a:rPr lang="en-US" dirty="0" smtClean="0"/>
              <a:t>Dashboard and Reporting Capabilities</a:t>
            </a:r>
          </a:p>
          <a:p>
            <a:r>
              <a:rPr lang="en-US" dirty="0" smtClean="0"/>
              <a:t>Don’t forget the Central Management and Backups (usually requires a robust API)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729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Defined Data Center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next generation of the data center requires the next generation of network security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814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VMware NSX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Distributed Firewall allows for Software-Defined Firewall rules to cover the Data Center</a:t>
            </a:r>
          </a:p>
          <a:p>
            <a:r>
              <a:rPr lang="en-US" dirty="0" smtClean="0"/>
              <a:t>Software Defined Network Devices can be deployed in different configurations repeatedly 	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4"/>
            <a:ext cx="4937760" cy="4437499"/>
          </a:xfrm>
        </p:spPr>
        <p:txBody>
          <a:bodyPr>
            <a:noAutofit/>
          </a:bodyPr>
          <a:lstStyle/>
          <a:p>
            <a:r>
              <a:rPr lang="en-US" dirty="0" smtClean="0"/>
              <a:t>Robust and Extensive API allows for 3</a:t>
            </a:r>
            <a:r>
              <a:rPr lang="en-US" baseline="30000" dirty="0" smtClean="0"/>
              <a:t>rd</a:t>
            </a:r>
            <a:r>
              <a:rPr lang="en-US" dirty="0" smtClean="0"/>
              <a:t> party integrations (currently, no open source </a:t>
            </a:r>
            <a:r>
              <a:rPr lang="en-US" dirty="0" err="1" smtClean="0"/>
              <a:t>NetX</a:t>
            </a:r>
            <a:r>
              <a:rPr lang="en-US" dirty="0" smtClean="0"/>
              <a:t> integrations)</a:t>
            </a:r>
          </a:p>
          <a:p>
            <a:r>
              <a:rPr lang="en-US" dirty="0" smtClean="0"/>
              <a:t>Network IDS/IPS functionality achieved through Service Chaining</a:t>
            </a:r>
          </a:p>
          <a:p>
            <a:r>
              <a:rPr lang="en-US" dirty="0" smtClean="0"/>
              <a:t>Alternative option:</a:t>
            </a:r>
          </a:p>
          <a:p>
            <a:pPr lvl="1"/>
            <a:r>
              <a:rPr lang="en-US" sz="2000" dirty="0" smtClean="0"/>
              <a:t>Virtualized Tap Solution:</a:t>
            </a:r>
          </a:p>
          <a:p>
            <a:pPr lvl="1"/>
            <a:r>
              <a:rPr lang="en-US" sz="2000" dirty="0">
                <a:hlinkClick r:id="rId2"/>
              </a:rPr>
              <a:t>https://</a:t>
            </a:r>
            <a:r>
              <a:rPr lang="en-US" sz="2000" dirty="0" smtClean="0">
                <a:hlinkClick r:id="rId2"/>
              </a:rPr>
              <a:t>www.gigamon.com/content/dam/resource-library/english/solution-guide/sg-active-visibility-vmware-nsx-sddc-gigamon.pdf</a:t>
            </a:r>
            <a:endParaRPr lang="en-US" sz="2000" dirty="0" smtClean="0"/>
          </a:p>
          <a:p>
            <a:pPr lvl="1"/>
            <a:r>
              <a:rPr lang="en-US" sz="2000" dirty="0" smtClean="0"/>
              <a:t>Don’t Forget the ERSPAN configurations are supported in NSX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44683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SDDC Deployment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Advantages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Flexible deployment options</a:t>
            </a:r>
          </a:p>
          <a:p>
            <a:pPr lvl="1"/>
            <a:r>
              <a:rPr lang="en-US" dirty="0" smtClean="0"/>
              <a:t>Defined by VNIC</a:t>
            </a:r>
            <a:r>
              <a:rPr lang="mr-IN" dirty="0" smtClean="0"/>
              <a:t>…</a:t>
            </a:r>
            <a:r>
              <a:rPr lang="en-US" dirty="0" smtClean="0"/>
              <a:t>VM</a:t>
            </a:r>
            <a:r>
              <a:rPr lang="mr-IN" dirty="0" smtClean="0"/>
              <a:t>…</a:t>
            </a:r>
            <a:r>
              <a:rPr lang="en-US" dirty="0" smtClean="0"/>
              <a:t>Switch</a:t>
            </a:r>
            <a:r>
              <a:rPr lang="mr-IN" dirty="0" smtClean="0"/>
              <a:t>…</a:t>
            </a:r>
            <a:r>
              <a:rPr lang="en-US" dirty="0" smtClean="0"/>
              <a:t>Data Center</a:t>
            </a:r>
          </a:p>
          <a:p>
            <a:pPr lvl="1"/>
            <a:r>
              <a:rPr lang="en-US" dirty="0" smtClean="0"/>
              <a:t>Also Defined by Security Tags (Easier Automation)</a:t>
            </a:r>
          </a:p>
          <a:p>
            <a:r>
              <a:rPr lang="en-US" dirty="0" smtClean="0"/>
              <a:t>Integrated HA</a:t>
            </a:r>
          </a:p>
          <a:p>
            <a:r>
              <a:rPr lang="en-US" dirty="0" smtClean="0"/>
              <a:t>Scalable with SDDC capabilities</a:t>
            </a:r>
          </a:p>
          <a:p>
            <a:r>
              <a:rPr lang="en-US" dirty="0" smtClean="0"/>
              <a:t>Solves the East-West Monitoring Issue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Disadvantages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smtClean="0"/>
              <a:t>No fully Open-Source Solution (yet?).</a:t>
            </a:r>
          </a:p>
          <a:p>
            <a:r>
              <a:rPr lang="en-US" dirty="0" smtClean="0"/>
              <a:t>Requires specialized knowledge</a:t>
            </a:r>
          </a:p>
          <a:p>
            <a:r>
              <a:rPr lang="en-US" dirty="0" smtClean="0"/>
              <a:t>Unable to utilize Service Chaining on Switch level as that runs in the Hypervisor (may be mitigated through E/RSPAN)</a:t>
            </a:r>
          </a:p>
          <a:p>
            <a:r>
              <a:rPr lang="en-US" dirty="0" smtClean="0"/>
              <a:t>Only Runs on </a:t>
            </a:r>
            <a:r>
              <a:rPr lang="en-US" dirty="0" err="1" smtClean="0"/>
              <a:t>vNIC</a:t>
            </a:r>
            <a:r>
              <a:rPr lang="en-US" dirty="0" smtClean="0"/>
              <a:t> level of VMs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66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Deployments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The IT Landscape is constantly evolving.  Some considerations:</a:t>
            </a:r>
          </a:p>
          <a:p>
            <a:r>
              <a:rPr lang="en-US" sz="2400" dirty="0" smtClean="0"/>
              <a:t>- Using </a:t>
            </a:r>
            <a:r>
              <a:rPr lang="en-US" sz="2400" dirty="0" err="1" smtClean="0"/>
              <a:t>Microservices</a:t>
            </a:r>
            <a:r>
              <a:rPr lang="en-US" sz="2400" dirty="0"/>
              <a:t> </a:t>
            </a:r>
            <a:r>
              <a:rPr lang="en-US" sz="2400" dirty="0" smtClean="0"/>
              <a:t>to perform Network IDS/IPS</a:t>
            </a:r>
          </a:p>
          <a:p>
            <a:r>
              <a:rPr lang="en-US" sz="2400" dirty="0" smtClean="0"/>
              <a:t>- Forcing IOT/SCADA (ID by MAC Address) traffic through a separate monitored point in the network (Segregated VLAN)</a:t>
            </a:r>
          </a:p>
          <a:p>
            <a:pPr lvl="1"/>
            <a:r>
              <a:rPr lang="en-US" sz="2400" dirty="0" smtClean="0"/>
              <a:t>Enables Network IDS from any location</a:t>
            </a:r>
            <a:endParaRPr lang="en-US" sz="2400" dirty="0"/>
          </a:p>
          <a:p>
            <a:r>
              <a:rPr lang="en-US" sz="2400" dirty="0" smtClean="0"/>
              <a:t>- A.I. fueled SMART alerting </a:t>
            </a:r>
            <a:r>
              <a:rPr lang="mr-IN" sz="2400" dirty="0" smtClean="0"/>
              <a:t>–</a:t>
            </a:r>
            <a:r>
              <a:rPr lang="en-US" sz="2400" dirty="0" smtClean="0"/>
              <a:t> Filtering out the noise to focus on Clear and Present threats</a:t>
            </a:r>
            <a:endParaRPr lang="en-US" sz="2400" dirty="0"/>
          </a:p>
          <a:p>
            <a:r>
              <a:rPr lang="en-US" sz="2400" dirty="0" smtClean="0"/>
              <a:t>-Further integration of Security Products/Services to move towards a cohesive ecosystem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60369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Operations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Experience and lessons in running </a:t>
            </a:r>
            <a:r>
              <a:rPr lang="en-US" dirty="0" err="1" smtClean="0"/>
              <a:t>nsm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136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IDS Rule Tuning	</a:t>
            </a:r>
            <a:endParaRPr lang="en-US" dirty="0"/>
          </a:p>
        </p:txBody>
      </p:sp>
      <p:pic>
        <p:nvPicPr>
          <p:cNvPr id="10" name="Picture Placeholder 9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67" b="14167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Brace Yourselves for the alert flood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105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Rule Tuning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smtClean="0"/>
              <a:t>Environment Inventory is a big key to tuning environment</a:t>
            </a:r>
          </a:p>
          <a:p>
            <a:endParaRPr lang="en-US" sz="1200" dirty="0" smtClean="0"/>
          </a:p>
          <a:p>
            <a:pPr lvl="1"/>
            <a:r>
              <a:rPr lang="en-US" sz="2400" dirty="0" smtClean="0"/>
              <a:t>Disable categories of alerts that don’t apply</a:t>
            </a:r>
          </a:p>
          <a:p>
            <a:pPr lvl="1"/>
            <a:r>
              <a:rPr lang="en-US" sz="2400" dirty="0" smtClean="0"/>
              <a:t>I.E. Disable Solaris alert category for environment without Sun Solaris OS</a:t>
            </a:r>
            <a:endParaRPr lang="en-US" sz="2400" dirty="0"/>
          </a:p>
          <a:p>
            <a:pPr lvl="1"/>
            <a:r>
              <a:rPr lang="en-US" sz="2400" dirty="0" smtClean="0"/>
              <a:t>I.E. Disable Apache Server alert category for environments with only IIS</a:t>
            </a:r>
          </a:p>
          <a:p>
            <a:endParaRPr lang="en-US" sz="1200" dirty="0" smtClean="0"/>
          </a:p>
          <a:p>
            <a:r>
              <a:rPr lang="en-US" dirty="0" smtClean="0"/>
              <a:t>Controlling the Alert Flood of False Positives</a:t>
            </a:r>
          </a:p>
          <a:p>
            <a:pPr lvl="1"/>
            <a:r>
              <a:rPr lang="en-US" dirty="0" smtClean="0"/>
              <a:t>Disable Signature versus IP Address versus Combination</a:t>
            </a:r>
          </a:p>
          <a:p>
            <a:pPr lvl="2"/>
            <a:r>
              <a:rPr lang="en-US" dirty="0" smtClean="0"/>
              <a:t>I.E. Normal NTP traffic fires NTP Attack signature would be candidate for disabling (Consider policy of only utilizing internal NTP servers and blocking NTP Traffic at Network Border Ingress/Egress).</a:t>
            </a:r>
          </a:p>
          <a:p>
            <a:pPr lvl="1"/>
            <a:r>
              <a:rPr lang="en-US" dirty="0" smtClean="0"/>
              <a:t>Possibly disable alerting of Vulnerability Scanners.  Ensure SOC knows to monitor logs for suspicious activity.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42505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IDS versus IPS Rule Tuning Methodology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u="sng" dirty="0" smtClean="0"/>
              <a:t>IDS (TAP/SPAN Port scenario)</a:t>
            </a:r>
          </a:p>
          <a:p>
            <a:r>
              <a:rPr lang="en-US" dirty="0" smtClean="0"/>
              <a:t>Enable lots of rules.  Start with a wide array and trim down false positives as the alerts come in.</a:t>
            </a:r>
          </a:p>
          <a:p>
            <a:r>
              <a:rPr lang="en-US" dirty="0" smtClean="0"/>
              <a:t>Since IDS is not in-line/active, false-positives don’t hurt as much.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u="sng" dirty="0" smtClean="0"/>
              <a:t>IPS</a:t>
            </a:r>
          </a:p>
          <a:p>
            <a:r>
              <a:rPr lang="en-US" dirty="0" smtClean="0"/>
              <a:t>Start by enabling critical and high-confidence rules to protect specific assets/data (You did categorize your data and assets)</a:t>
            </a:r>
          </a:p>
          <a:p>
            <a:r>
              <a:rPr lang="en-US" dirty="0" smtClean="0"/>
              <a:t>Remember, IPS will block false-positive hits that will cause:</a:t>
            </a:r>
          </a:p>
          <a:p>
            <a:pPr lvl="1"/>
            <a:r>
              <a:rPr lang="en-US" dirty="0" smtClean="0"/>
              <a:t>Out(r)ages</a:t>
            </a:r>
          </a:p>
          <a:p>
            <a:pPr lvl="1"/>
            <a:r>
              <a:rPr lang="en-US" dirty="0" smtClean="0"/>
              <a:t>IPS Resource (CPU/Memory) Consumption</a:t>
            </a:r>
          </a:p>
          <a:p>
            <a:pPr lvl="1"/>
            <a:r>
              <a:rPr lang="en-US" dirty="0" smtClean="0"/>
              <a:t>Decayed Relationship with Network team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216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Testing/QA (Bake-off or Deployment Validation)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1. Clone Production Boxes or setup Test Boxes</a:t>
            </a:r>
          </a:p>
          <a:p>
            <a:r>
              <a:rPr lang="en-US" sz="2400" dirty="0" smtClean="0"/>
              <a:t>2. Ensure Network IDS/IPS is configured to protect Cloned/Test Boxes</a:t>
            </a:r>
          </a:p>
          <a:p>
            <a:r>
              <a:rPr lang="en-US" sz="2400" dirty="0" smtClean="0"/>
              <a:t>3. Request Red Team / Pen Testers to attack Cloned/Test Boxes</a:t>
            </a:r>
          </a:p>
          <a:p>
            <a:r>
              <a:rPr lang="en-US" sz="2400" dirty="0" smtClean="0"/>
              <a:t>4. Verify expected alerts are generated, fired, and logged appropriately</a:t>
            </a:r>
          </a:p>
          <a:p>
            <a:r>
              <a:rPr lang="en-US" sz="2400" dirty="0" smtClean="0"/>
              <a:t>5. If not, perform PCAP on various interfaces for troubleshooting</a:t>
            </a:r>
          </a:p>
          <a:p>
            <a:pPr lvl="1"/>
            <a:r>
              <a:rPr lang="en-US" sz="2400" dirty="0" smtClean="0"/>
              <a:t>Is traffic Encrypted?</a:t>
            </a:r>
          </a:p>
        </p:txBody>
      </p:sp>
    </p:spTree>
    <p:extLst>
      <p:ext uri="{BB962C8B-B14F-4D97-AF65-F5344CB8AC3E}">
        <p14:creationId xmlns:p14="http://schemas.microsoft.com/office/powerpoint/2010/main" val="1240174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92628" y="232653"/>
            <a:ext cx="10058400" cy="749300"/>
          </a:xfrm>
        </p:spPr>
        <p:txBody>
          <a:bodyPr/>
          <a:lstStyle/>
          <a:p>
            <a:r>
              <a:rPr lang="en-US" dirty="0" smtClean="0"/>
              <a:t>Got PCAPS?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57677" y="1114743"/>
            <a:ext cx="10850699" cy="4907234"/>
          </a:xfrm>
        </p:spPr>
        <p:txBody>
          <a:bodyPr/>
          <a:lstStyle/>
          <a:p>
            <a:r>
              <a:rPr lang="en-US" sz="2800" dirty="0" smtClean="0"/>
              <a:t>Scalable Storage</a:t>
            </a:r>
            <a:endParaRPr lang="en-US" sz="2400" dirty="0" smtClean="0"/>
          </a:p>
          <a:p>
            <a:pPr lvl="1"/>
            <a:r>
              <a:rPr lang="en-US" sz="2400" dirty="0" smtClean="0"/>
              <a:t>Disk Array</a:t>
            </a:r>
          </a:p>
          <a:p>
            <a:pPr lvl="2"/>
            <a:r>
              <a:rPr lang="en-US" sz="1800" dirty="0" smtClean="0"/>
              <a:t>I/O Speed</a:t>
            </a:r>
          </a:p>
          <a:p>
            <a:pPr lvl="2"/>
            <a:r>
              <a:rPr lang="en-US" sz="1800" dirty="0" smtClean="0"/>
              <a:t>RAID or Not?</a:t>
            </a:r>
          </a:p>
          <a:p>
            <a:pPr lvl="2"/>
            <a:r>
              <a:rPr lang="en-US" sz="1800" dirty="0" smtClean="0"/>
              <a:t>Incident Response Speed Advantage</a:t>
            </a:r>
          </a:p>
          <a:p>
            <a:pPr lvl="1"/>
            <a:r>
              <a:rPr lang="en-US" sz="2400" dirty="0" smtClean="0"/>
              <a:t>S3 storage</a:t>
            </a:r>
          </a:p>
          <a:p>
            <a:pPr lvl="1"/>
            <a:r>
              <a:rPr lang="en-US" sz="2400" dirty="0" smtClean="0"/>
              <a:t>Hybrid ✓</a:t>
            </a:r>
          </a:p>
          <a:p>
            <a:pPr lvl="2"/>
            <a:r>
              <a:rPr lang="en-US" sz="1800" dirty="0" smtClean="0"/>
              <a:t>Disk Array for current/recent PCAPS</a:t>
            </a:r>
          </a:p>
          <a:p>
            <a:pPr lvl="2"/>
            <a:r>
              <a:rPr lang="en-US" sz="1800" dirty="0" smtClean="0"/>
              <a:t>S3 for Long Term Storage</a:t>
            </a:r>
          </a:p>
          <a:p>
            <a:pPr lvl="1"/>
            <a:r>
              <a:rPr lang="en-US" sz="2400" dirty="0"/>
              <a:t>Retention </a:t>
            </a:r>
            <a:r>
              <a:rPr lang="en-US" sz="2400" dirty="0" smtClean="0"/>
              <a:t>Period?</a:t>
            </a:r>
            <a:endParaRPr lang="en-US" sz="2400" dirty="0"/>
          </a:p>
          <a:p>
            <a:pPr lvl="2"/>
            <a:r>
              <a:rPr lang="en-US" sz="1800" dirty="0"/>
              <a:t>Consult GRC team</a:t>
            </a:r>
          </a:p>
          <a:p>
            <a:pPr lvl="2"/>
            <a:endParaRPr lang="en-US" sz="1800" dirty="0" smtClean="0"/>
          </a:p>
          <a:p>
            <a:pPr lvl="2"/>
            <a:endParaRPr lang="en-US" dirty="0" smtClean="0"/>
          </a:p>
        </p:txBody>
      </p:sp>
      <p:pic>
        <p:nvPicPr>
          <p:cNvPr id="2050" name="Picture 2" descr="mage result for bit stre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4459" y="1227909"/>
            <a:ext cx="6462095" cy="3166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4860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SSL/TLS Inspection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Advantage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Uncover attacks hiding in encrypted traffic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Disadvantages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smtClean="0"/>
              <a:t>Resource Utilization</a:t>
            </a:r>
          </a:p>
          <a:p>
            <a:r>
              <a:rPr lang="en-US" dirty="0" smtClean="0"/>
              <a:t>Privacy Concerns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097280" y="3762103"/>
            <a:ext cx="1041109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Lesson from Experience:</a:t>
            </a:r>
          </a:p>
          <a:p>
            <a:endParaRPr lang="en-US" dirty="0"/>
          </a:p>
          <a:p>
            <a:r>
              <a:rPr lang="en-US" dirty="0" smtClean="0"/>
              <a:t>In Corporate Network without BYOD, SSL/TLS Inspection is valuable as long as Certificates are properly managed</a:t>
            </a:r>
          </a:p>
          <a:p>
            <a:endParaRPr lang="en-US" dirty="0"/>
          </a:p>
          <a:p>
            <a:r>
              <a:rPr lang="en-US" dirty="0" smtClean="0"/>
              <a:t>In any network with BYOD, SSL/TLS Inspection should either be avoided, or a mechanism for user notification needs to be abundantly clear.  </a:t>
            </a:r>
          </a:p>
          <a:p>
            <a:endParaRPr lang="en-US" dirty="0"/>
          </a:p>
          <a:p>
            <a:r>
              <a:rPr lang="en-US" dirty="0" smtClean="0"/>
              <a:t>Network Segmentation should be considered to implement for Server traffic and not for workstation traffic.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109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https://i.imgflip.com/31mzs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0224" y="-1"/>
            <a:ext cx="6777317" cy="6777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Visibility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Don’t Judge</a:t>
            </a:r>
          </a:p>
          <a:p>
            <a:r>
              <a:rPr lang="en-US" dirty="0" smtClean="0"/>
              <a:t>Security != HR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608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 Hooks and Automation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Deployment:</a:t>
            </a:r>
          </a:p>
          <a:p>
            <a:pPr lvl="1"/>
            <a:r>
              <a:rPr lang="en-US" sz="2000" dirty="0" smtClean="0"/>
              <a:t>Script(s)</a:t>
            </a:r>
          </a:p>
          <a:p>
            <a:pPr lvl="2"/>
            <a:r>
              <a:rPr lang="en-US" sz="1800" dirty="0" smtClean="0"/>
              <a:t>Or Script of Scripts</a:t>
            </a:r>
          </a:p>
          <a:p>
            <a:pPr lvl="2"/>
            <a:endParaRPr lang="en-US" sz="1800" dirty="0" smtClean="0"/>
          </a:p>
          <a:p>
            <a:pPr lvl="1"/>
            <a:r>
              <a:rPr lang="en-US" sz="2200" dirty="0" smtClean="0"/>
              <a:t>Infrastructure Deployment Systems</a:t>
            </a:r>
          </a:p>
          <a:p>
            <a:pPr lvl="2"/>
            <a:r>
              <a:rPr lang="en-US" sz="1800" dirty="0" smtClean="0"/>
              <a:t>SALT</a:t>
            </a:r>
          </a:p>
          <a:p>
            <a:pPr lvl="2"/>
            <a:r>
              <a:rPr lang="en-US" sz="1800" dirty="0" smtClean="0"/>
              <a:t>Ansible</a:t>
            </a:r>
          </a:p>
          <a:p>
            <a:pPr lvl="2"/>
            <a:r>
              <a:rPr lang="en-US" sz="1800" dirty="0" smtClean="0"/>
              <a:t>Chef/Puppet</a:t>
            </a:r>
          </a:p>
          <a:p>
            <a:pPr lvl="2"/>
            <a:r>
              <a:rPr lang="en-US" sz="1800" dirty="0" smtClean="0"/>
              <a:t>SDDC deployment (Automated VM deployment from image</a:t>
            </a:r>
            <a:r>
              <a:rPr lang="en-US" dirty="0" smtClean="0"/>
              <a:t>)</a:t>
            </a:r>
          </a:p>
          <a:p>
            <a:pPr lvl="2"/>
            <a:endParaRPr lang="en-US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Backups and Version Control:</a:t>
            </a:r>
          </a:p>
          <a:p>
            <a:pPr lvl="1"/>
            <a:r>
              <a:rPr lang="en-US" sz="2200" dirty="0" smtClean="0"/>
              <a:t>Configure Schedule </a:t>
            </a:r>
            <a:r>
              <a:rPr lang="en-US" sz="2200" dirty="0"/>
              <a:t>in System</a:t>
            </a:r>
          </a:p>
          <a:p>
            <a:pPr lvl="1"/>
            <a:r>
              <a:rPr lang="en-US" sz="2200" dirty="0"/>
              <a:t>Scripted API calls </a:t>
            </a:r>
            <a:r>
              <a:rPr lang="en-US" sz="2200" dirty="0" smtClean="0"/>
              <a:t>scheduled</a:t>
            </a:r>
          </a:p>
          <a:p>
            <a:pPr lvl="1"/>
            <a:r>
              <a:rPr lang="en-US" sz="2200" dirty="0" smtClean="0"/>
              <a:t>Test Restore Process</a:t>
            </a:r>
          </a:p>
          <a:p>
            <a:pPr lvl="1"/>
            <a:r>
              <a:rPr lang="en-US" sz="2200" dirty="0" smtClean="0"/>
              <a:t>Ensure Backups are stored off-site and Encrypted</a:t>
            </a:r>
          </a:p>
          <a:p>
            <a:pPr lvl="1"/>
            <a:r>
              <a:rPr lang="en-US" sz="2200" dirty="0" smtClean="0"/>
              <a:t>May integrate with Enterprise Solution</a:t>
            </a:r>
          </a:p>
          <a:p>
            <a:pPr lvl="2"/>
            <a:r>
              <a:rPr lang="en-US" sz="1800" dirty="0" smtClean="0"/>
              <a:t>Open Source Advantage</a:t>
            </a:r>
            <a:endParaRPr lang="en-US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159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 Hooks and Automation 2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Operations:</a:t>
            </a:r>
          </a:p>
          <a:p>
            <a:pPr lvl="1"/>
            <a:r>
              <a:rPr lang="en-US" sz="2200" dirty="0" smtClean="0"/>
              <a:t>Data Traffic Shunting</a:t>
            </a:r>
          </a:p>
          <a:p>
            <a:pPr lvl="2"/>
            <a:r>
              <a:rPr lang="en-US" sz="1800" dirty="0" smtClean="0"/>
              <a:t>Page 16</a:t>
            </a:r>
            <a:r>
              <a:rPr lang="en-US" sz="1800" dirty="0"/>
              <a:t>, </a:t>
            </a:r>
            <a:r>
              <a:rPr lang="en-US" sz="1800" dirty="0">
                <a:hlinkClick r:id="rId2"/>
              </a:rPr>
              <a:t>http://</a:t>
            </a:r>
            <a:r>
              <a:rPr lang="en-US" sz="1800" dirty="0" smtClean="0">
                <a:hlinkClick r:id="rId2"/>
              </a:rPr>
              <a:t>go.lbl.gov/100g</a:t>
            </a:r>
            <a:r>
              <a:rPr lang="en-US" sz="1800" dirty="0" smtClean="0"/>
              <a:t> </a:t>
            </a:r>
          </a:p>
          <a:p>
            <a:pPr lvl="2"/>
            <a:r>
              <a:rPr lang="en-US" sz="1800" dirty="0" smtClean="0"/>
              <a:t>Justin </a:t>
            </a:r>
            <a:r>
              <a:rPr lang="en-US" sz="1800" dirty="0" err="1" smtClean="0"/>
              <a:t>Azoff</a:t>
            </a:r>
            <a:r>
              <a:rPr lang="en-US" sz="1800" dirty="0" smtClean="0"/>
              <a:t> (NCSA) Script </a:t>
            </a:r>
            <a:r>
              <a:rPr lang="en-US" sz="1800" dirty="0" err="1" smtClean="0"/>
              <a:t>Dumbno</a:t>
            </a:r>
            <a:r>
              <a:rPr lang="en-US" sz="1800" dirty="0" smtClean="0"/>
              <a:t>:</a:t>
            </a:r>
          </a:p>
          <a:p>
            <a:pPr lvl="3"/>
            <a:r>
              <a:rPr lang="en-US" sz="1800" dirty="0">
                <a:hlinkClick r:id="rId3"/>
              </a:rPr>
              <a:t>https://</a:t>
            </a:r>
            <a:r>
              <a:rPr lang="en-US" sz="1800" dirty="0" smtClean="0">
                <a:hlinkClick r:id="rId3"/>
              </a:rPr>
              <a:t>github.com/ncsa/dumbno</a:t>
            </a:r>
            <a:endParaRPr lang="en-US" sz="1800" dirty="0" smtClean="0"/>
          </a:p>
          <a:p>
            <a:pPr lvl="1"/>
            <a:endParaRPr lang="en-US" dirty="0"/>
          </a:p>
          <a:p>
            <a:pPr lvl="1"/>
            <a:r>
              <a:rPr lang="en-US" sz="2200" dirty="0" smtClean="0"/>
              <a:t>Tool Integration</a:t>
            </a:r>
          </a:p>
          <a:p>
            <a:pPr lvl="2"/>
            <a:r>
              <a:rPr lang="en-US" sz="1800" dirty="0" smtClean="0"/>
              <a:t>Create Network IDS Signatures from Host-based IDS alerts and Malware Samples seen in environment</a:t>
            </a:r>
          </a:p>
          <a:p>
            <a:pPr lvl="2"/>
            <a:r>
              <a:rPr lang="en-US" sz="1800" dirty="0" smtClean="0"/>
              <a:t>Utilize Vulnerability Scan Data to Tune Rules</a:t>
            </a:r>
          </a:p>
          <a:p>
            <a:pPr lvl="3"/>
            <a:r>
              <a:rPr lang="en-US" sz="1800" dirty="0" smtClean="0"/>
              <a:t>Enable/Disable Categories based on System Discovery (High Confidence Level Scan)</a:t>
            </a:r>
          </a:p>
          <a:p>
            <a:pPr lvl="2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27363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Logging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Enhancing Network ids/ips value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870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665" y="1319348"/>
            <a:ext cx="6629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8091" y="391886"/>
            <a:ext cx="10241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Logging Setup </a:t>
            </a:r>
            <a:r>
              <a:rPr lang="mr-IN" sz="3200" dirty="0" smtClean="0"/>
              <a:t>–</a:t>
            </a:r>
            <a:r>
              <a:rPr lang="en-US" sz="3200" dirty="0" smtClean="0"/>
              <a:t> Allows Analyst redundant log searching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88608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the Intermediary Syslog Server?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- May be Faster for Incident Responders to pull logs based on Timestamp</a:t>
            </a:r>
          </a:p>
          <a:p>
            <a:r>
              <a:rPr lang="en-US" dirty="0" smtClean="0"/>
              <a:t>- Command Line Searching may be preferred in some cases</a:t>
            </a:r>
          </a:p>
          <a:p>
            <a:pPr lvl="1"/>
            <a:r>
              <a:rPr lang="en-US" dirty="0" err="1"/>
              <a:t>g</a:t>
            </a:r>
            <a:r>
              <a:rPr lang="en-US" dirty="0" err="1" smtClean="0"/>
              <a:t>rep</a:t>
            </a:r>
            <a:r>
              <a:rPr lang="en-US" dirty="0" smtClean="0"/>
              <a:t>, cut, </a:t>
            </a:r>
            <a:r>
              <a:rPr lang="en-US" dirty="0" err="1" smtClean="0"/>
              <a:t>wc</a:t>
            </a:r>
            <a:r>
              <a:rPr lang="en-US" dirty="0" smtClean="0"/>
              <a:t>, sort, etc.</a:t>
            </a:r>
          </a:p>
          <a:p>
            <a:pPr lvl="1"/>
            <a:r>
              <a:rPr lang="en-US" dirty="0" err="1" smtClean="0"/>
              <a:t>zgrep</a:t>
            </a:r>
            <a:r>
              <a:rPr lang="en-US" dirty="0"/>
              <a:t> </a:t>
            </a:r>
            <a:r>
              <a:rPr lang="en-US" dirty="0" smtClean="0"/>
              <a:t>- </a:t>
            </a:r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manpages.ubuntu.com/manpages/bionic/man1/zgrep.1.html</a:t>
            </a:r>
            <a:r>
              <a:rPr lang="en-US" dirty="0" smtClean="0"/>
              <a:t> </a:t>
            </a:r>
          </a:p>
          <a:p>
            <a:pPr lvl="1"/>
            <a:endParaRPr lang="en-US" dirty="0"/>
          </a:p>
          <a:p>
            <a:r>
              <a:rPr lang="en-US" dirty="0" smtClean="0"/>
              <a:t>If none of this applies to your organization, consider a Kafka Queue:</a:t>
            </a:r>
          </a:p>
          <a:p>
            <a:pPr lvl="1"/>
            <a:r>
              <a:rPr lang="en-US" dirty="0">
                <a:hlinkClick r:id="rId3"/>
              </a:rPr>
              <a:t>https://kafka.apache.org/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76025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s://opentodo.files.wordpress.com/2012/10/nmap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247583" cy="2662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55494" y="3146612"/>
            <a:ext cx="114434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U2Boat == Tool for converting Unified2 (SNORT captures) to other files</a:t>
            </a:r>
          </a:p>
          <a:p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manual-snort-org.s3-website-us-east-1.amazonaws.com/node21.html#SECTION00361000000000000000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u2JSON == Tool for converting Unified2 to JSON</a:t>
            </a:r>
          </a:p>
          <a:p>
            <a:r>
              <a:rPr lang="en-US" dirty="0">
                <a:hlinkClick r:id="rId4"/>
              </a:rPr>
              <a:t>https://</a:t>
            </a:r>
            <a:r>
              <a:rPr lang="en-US" dirty="0" smtClean="0">
                <a:hlinkClick r:id="rId4"/>
              </a:rPr>
              <a:t>idstools.readthedocs.io/en/latest/tools/u2json.html</a:t>
            </a:r>
            <a:endParaRPr lang="en-US" dirty="0" smtClean="0"/>
          </a:p>
          <a:p>
            <a:endParaRPr lang="en-US" dirty="0"/>
          </a:p>
          <a:p>
            <a:r>
              <a:rPr lang="en-US" dirty="0" err="1" smtClean="0"/>
              <a:t>py-idstools</a:t>
            </a:r>
            <a:r>
              <a:rPr lang="en-US" dirty="0" smtClean="0"/>
              <a:t> “</a:t>
            </a:r>
            <a:r>
              <a:rPr lang="en-US" dirty="0"/>
              <a:t>a collection of Python libraries for working with IDS systems (typically Snort and </a:t>
            </a:r>
            <a:r>
              <a:rPr lang="en-US" dirty="0" err="1"/>
              <a:t>Suricata</a:t>
            </a:r>
            <a:r>
              <a:rPr lang="en-US" dirty="0" smtClean="0"/>
              <a:t>).”</a:t>
            </a:r>
          </a:p>
          <a:p>
            <a:r>
              <a:rPr lang="en-US" dirty="0">
                <a:hlinkClick r:id="rId5"/>
              </a:rPr>
              <a:t>https://github.com/jasonish/py-idstools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141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to Log?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- Network IDS/IPS alerts</a:t>
            </a:r>
          </a:p>
          <a:p>
            <a:r>
              <a:rPr lang="en-US" dirty="0" smtClean="0"/>
              <a:t>- </a:t>
            </a:r>
            <a:r>
              <a:rPr lang="en-US" b="1" dirty="0" smtClean="0"/>
              <a:t>Files</a:t>
            </a:r>
            <a:r>
              <a:rPr lang="en-US" dirty="0" smtClean="0"/>
              <a:t> (Ingress/Egress)</a:t>
            </a:r>
          </a:p>
          <a:p>
            <a:r>
              <a:rPr lang="en-US" dirty="0" smtClean="0"/>
              <a:t>- HTTP traffic on the wire</a:t>
            </a:r>
          </a:p>
          <a:p>
            <a:pPr lvl="1"/>
            <a:r>
              <a:rPr lang="en-US" dirty="0" smtClean="0"/>
              <a:t>GET Requests</a:t>
            </a:r>
          </a:p>
          <a:p>
            <a:pPr lvl="1"/>
            <a:r>
              <a:rPr lang="en-US" dirty="0" smtClean="0"/>
              <a:t>Error Codes</a:t>
            </a:r>
          </a:p>
          <a:p>
            <a:pPr lvl="1"/>
            <a:r>
              <a:rPr lang="en-US" dirty="0" smtClean="0"/>
              <a:t>URL</a:t>
            </a:r>
          </a:p>
          <a:p>
            <a:pPr lvl="1"/>
            <a:r>
              <a:rPr lang="en-US" dirty="0" smtClean="0"/>
              <a:t>Domains</a:t>
            </a:r>
          </a:p>
          <a:p>
            <a:r>
              <a:rPr lang="en-US" dirty="0" smtClean="0"/>
              <a:t>- SSH Control Packets</a:t>
            </a:r>
          </a:p>
          <a:p>
            <a:r>
              <a:rPr lang="en-US" dirty="0" smtClean="0">
                <a:hlinkClick r:id="rId3"/>
              </a:rPr>
              <a:t>Jeff Cumming’s DNS/DHCP Presentation</a:t>
            </a: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 smtClean="0"/>
              <a:t>-DNS Requests/Responses</a:t>
            </a:r>
          </a:p>
          <a:p>
            <a:r>
              <a:rPr lang="en-US" dirty="0" smtClean="0"/>
              <a:t>-VPN Connections</a:t>
            </a:r>
          </a:p>
          <a:p>
            <a:r>
              <a:rPr lang="en-US" dirty="0" smtClean="0"/>
              <a:t>-Network Anomalies (I.E. ARP Request Collision)</a:t>
            </a:r>
          </a:p>
          <a:p>
            <a:r>
              <a:rPr lang="en-US" dirty="0" smtClean="0"/>
              <a:t>-SSL/TLS Control Traffic and Certs</a:t>
            </a:r>
          </a:p>
          <a:p>
            <a:r>
              <a:rPr lang="en-US" dirty="0" smtClean="0"/>
              <a:t>-Protocol Abnormalities</a:t>
            </a:r>
          </a:p>
          <a:p>
            <a:r>
              <a:rPr lang="en-US" dirty="0" smtClean="0"/>
              <a:t>-Authentication (and Denials)</a:t>
            </a:r>
          </a:p>
          <a:p>
            <a:r>
              <a:rPr lang="en-US" dirty="0" smtClean="0"/>
              <a:t>-Proxy Traffic</a:t>
            </a:r>
          </a:p>
          <a:p>
            <a:r>
              <a:rPr lang="en-US" dirty="0" smtClean="0"/>
              <a:t>-</a:t>
            </a:r>
            <a:r>
              <a:rPr lang="en-US" b="1" dirty="0" smtClean="0"/>
              <a:t>DHCP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6339895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4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NSM in the Cloud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It’s not dead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49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NSM in the cloud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Type of Cloud?</a:t>
            </a:r>
          </a:p>
          <a:p>
            <a:pPr lvl="1"/>
            <a:r>
              <a:rPr lang="en-US" dirty="0" err="1" smtClean="0"/>
              <a:t>IaaS</a:t>
            </a:r>
            <a:r>
              <a:rPr lang="en-US" dirty="0" smtClean="0"/>
              <a:t>?</a:t>
            </a:r>
          </a:p>
          <a:p>
            <a:pPr lvl="1"/>
            <a:r>
              <a:rPr lang="en-US" dirty="0" err="1" smtClean="0"/>
              <a:t>Paas</a:t>
            </a:r>
            <a:r>
              <a:rPr lang="en-US" dirty="0" smtClean="0"/>
              <a:t>?</a:t>
            </a:r>
          </a:p>
          <a:p>
            <a:pPr lvl="1"/>
            <a:r>
              <a:rPr lang="en-US" dirty="0" err="1" smtClean="0"/>
              <a:t>Saas</a:t>
            </a:r>
            <a:r>
              <a:rPr lang="en-US" dirty="0" smtClean="0"/>
              <a:t>?</a:t>
            </a:r>
          </a:p>
          <a:p>
            <a:pPr lvl="1"/>
            <a:endParaRPr lang="en-US" dirty="0"/>
          </a:p>
          <a:p>
            <a:r>
              <a:rPr lang="en-US" dirty="0" smtClean="0"/>
              <a:t>Two options:</a:t>
            </a:r>
          </a:p>
          <a:p>
            <a:pPr lvl="1"/>
            <a:r>
              <a:rPr lang="en-US" dirty="0" smtClean="0"/>
              <a:t>Bring traffic/logs/alerts back to current NSM Ecosystem (Egress Costs?)</a:t>
            </a:r>
          </a:p>
          <a:p>
            <a:pPr lvl="1"/>
            <a:r>
              <a:rPr lang="en-US" dirty="0" smtClean="0"/>
              <a:t>Stand up NSM Infrastructure and perform logging/monitoring/alerting in the cloud</a:t>
            </a:r>
          </a:p>
          <a:p>
            <a:pPr lvl="1"/>
            <a:r>
              <a:rPr lang="en-US" dirty="0" smtClean="0"/>
              <a:t>Hybrid option:  Perform Monitoring/Logging in Cloud and feed “Items of Interest” back to current NSM infrastructure</a:t>
            </a:r>
            <a:endParaRPr lang="en-US" dirty="0"/>
          </a:p>
        </p:txBody>
      </p:sp>
      <p:pic>
        <p:nvPicPr>
          <p:cNvPr id="8198" name="Picture 6" descr="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3667" y="1737360"/>
            <a:ext cx="3018280" cy="1983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220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Cloud IDS/IPS</a:t>
            </a:r>
            <a:endParaRPr lang="en-US" dirty="0"/>
          </a:p>
        </p:txBody>
      </p:sp>
      <p:pic>
        <p:nvPicPr>
          <p:cNvPr id="7170" name="Picture 2" descr="https://fortinetweb.s3.amazonaws.com/docs.fortinet.com/v2/resources/90a354b5-a711-11e8-8784-00505692583a/images/5c4a2dd7154353.29328029_awsha40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40381" y="770708"/>
            <a:ext cx="7432883" cy="503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4976949" y="3513909"/>
            <a:ext cx="1358537" cy="16981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624251" y="6048103"/>
            <a:ext cx="7249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hlinkClick r:id="rId3"/>
              </a:rPr>
              <a:t>Diagram Credit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011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NSM in the Cloud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Infrastructure as a Service (DIY)</a:t>
            </a:r>
          </a:p>
          <a:p>
            <a:pPr lvl="1"/>
            <a:r>
              <a:rPr lang="en-US" dirty="0" smtClean="0"/>
              <a:t>Easiest Option is to setup virtual appliance and route traffic through that appliance</a:t>
            </a:r>
          </a:p>
          <a:p>
            <a:pPr lvl="1"/>
            <a:r>
              <a:rPr lang="en-US" dirty="0" smtClean="0"/>
              <a:t>Virtual TAPS/SPANS may be an option</a:t>
            </a:r>
          </a:p>
          <a:p>
            <a:r>
              <a:rPr lang="en-US" dirty="0" smtClean="0"/>
              <a:t>Platform as a Service</a:t>
            </a:r>
          </a:p>
          <a:p>
            <a:pPr lvl="1"/>
            <a:r>
              <a:rPr lang="en-US" dirty="0" smtClean="0"/>
              <a:t>Depending on Cloud Provider, various logging/monitoring visibility (probably not Network IDS)</a:t>
            </a:r>
          </a:p>
          <a:p>
            <a:pPr lvl="1"/>
            <a:r>
              <a:rPr lang="en-US" dirty="0" smtClean="0"/>
              <a:t>Carefully scrutinize contract for security services and responsibilities</a:t>
            </a:r>
            <a:endParaRPr lang="en-US" dirty="0"/>
          </a:p>
          <a:p>
            <a:r>
              <a:rPr lang="en-US" dirty="0" smtClean="0"/>
              <a:t>Software as a Service</a:t>
            </a:r>
          </a:p>
          <a:p>
            <a:pPr lvl="1"/>
            <a:r>
              <a:rPr lang="en-US" dirty="0" smtClean="0"/>
              <a:t>Application Logs only</a:t>
            </a:r>
          </a:p>
          <a:p>
            <a:pPr lvl="1"/>
            <a:r>
              <a:rPr lang="en-US" dirty="0" smtClean="0"/>
              <a:t>Provider should be responsible</a:t>
            </a:r>
          </a:p>
          <a:p>
            <a:r>
              <a:rPr lang="en-US" dirty="0" smtClean="0"/>
              <a:t>Cloud Managed Security Service Provider</a:t>
            </a:r>
          </a:p>
        </p:txBody>
      </p:sp>
    </p:spTree>
    <p:extLst>
      <p:ext uri="{BB962C8B-B14F-4D97-AF65-F5344CB8AC3E}">
        <p14:creationId xmlns:p14="http://schemas.microsoft.com/office/powerpoint/2010/main" val="409599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9362" y="5021132"/>
            <a:ext cx="10113264" cy="822960"/>
          </a:xfrm>
        </p:spPr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804" y="0"/>
            <a:ext cx="8777196" cy="566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557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-Vendor Solution versus Open Source</a:t>
            </a:r>
          </a:p>
          <a:p>
            <a:pPr lvl="1"/>
            <a:r>
              <a:rPr lang="en-US" dirty="0" smtClean="0"/>
              <a:t>Resource Requirements (Not Just $$$)</a:t>
            </a:r>
          </a:p>
          <a:p>
            <a:r>
              <a:rPr lang="en-US" dirty="0" smtClean="0"/>
              <a:t>-Gaining Visibility</a:t>
            </a:r>
          </a:p>
          <a:p>
            <a:pPr lvl="1"/>
            <a:r>
              <a:rPr lang="en-US" dirty="0" smtClean="0"/>
              <a:t>SPAN, RSPAN, ERSPAN</a:t>
            </a:r>
          </a:p>
          <a:p>
            <a:pPr lvl="1"/>
            <a:r>
              <a:rPr lang="en-US" dirty="0" smtClean="0"/>
              <a:t>TAP</a:t>
            </a:r>
          </a:p>
          <a:p>
            <a:pPr lvl="1"/>
            <a:r>
              <a:rPr lang="en-US" dirty="0" smtClean="0"/>
              <a:t>VLAN Routing</a:t>
            </a:r>
          </a:p>
          <a:p>
            <a:pPr lvl="1"/>
            <a:r>
              <a:rPr lang="en-US" dirty="0" smtClean="0"/>
              <a:t>Virtual Wire</a:t>
            </a:r>
          </a:p>
          <a:p>
            <a:pPr lvl="1"/>
            <a:r>
              <a:rPr lang="en-US" dirty="0" smtClean="0"/>
              <a:t>Appliance Gateway (Cloud)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640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-Software Defined Data Center</a:t>
            </a:r>
          </a:p>
          <a:p>
            <a:r>
              <a:rPr lang="en-US" dirty="0" smtClean="0"/>
              <a:t>-Future Architecture with </a:t>
            </a:r>
            <a:r>
              <a:rPr lang="en-US" dirty="0" err="1" smtClean="0"/>
              <a:t>Microservices</a:t>
            </a:r>
            <a:endParaRPr lang="en-US" dirty="0" smtClean="0"/>
          </a:p>
          <a:p>
            <a:r>
              <a:rPr lang="en-US" dirty="0" smtClean="0"/>
              <a:t>-Rule Tuning</a:t>
            </a:r>
          </a:p>
          <a:p>
            <a:r>
              <a:rPr lang="en-US" dirty="0" smtClean="0"/>
              <a:t>-Test/QA</a:t>
            </a:r>
          </a:p>
          <a:p>
            <a:r>
              <a:rPr lang="en-US" dirty="0" smtClean="0"/>
              <a:t>-Logging</a:t>
            </a:r>
          </a:p>
          <a:p>
            <a:r>
              <a:rPr lang="en-US" dirty="0" smtClean="0"/>
              <a:t>-PCAPS</a:t>
            </a:r>
          </a:p>
          <a:p>
            <a:r>
              <a:rPr lang="en-US" dirty="0" smtClean="0"/>
              <a:t>-Event Hooks/API/Automation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53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Scope and Coverage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Courtesy of </a:t>
            </a:r>
            <a:r>
              <a:rPr lang="en-US" dirty="0" err="1" smtClean="0"/>
              <a:t>dan</a:t>
            </a:r>
            <a:r>
              <a:rPr lang="en-US" dirty="0" smtClean="0"/>
              <a:t> Holden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698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44583" y="1959429"/>
            <a:ext cx="1122099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Family</a:t>
            </a:r>
          </a:p>
          <a:p>
            <a:r>
              <a:rPr lang="en-US" sz="3600" dirty="0" smtClean="0"/>
              <a:t>Friends</a:t>
            </a:r>
          </a:p>
          <a:p>
            <a:r>
              <a:rPr lang="en-US" sz="3600" dirty="0" smtClean="0"/>
              <a:t>Colleagues</a:t>
            </a:r>
          </a:p>
          <a:p>
            <a:r>
              <a:rPr lang="en-US" sz="3600" dirty="0" smtClean="0"/>
              <a:t>Co-Workers</a:t>
            </a:r>
          </a:p>
          <a:p>
            <a:r>
              <a:rPr lang="en-US" sz="3600" dirty="0" smtClean="0"/>
              <a:t>Mentors</a:t>
            </a:r>
          </a:p>
          <a:p>
            <a:r>
              <a:rPr lang="en-US" sz="3600" dirty="0" smtClean="0"/>
              <a:t>Experts in the Field</a:t>
            </a:r>
          </a:p>
          <a:p>
            <a:r>
              <a:rPr lang="en-US" sz="3600" dirty="0" smtClean="0"/>
              <a:t>Audience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564938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30081</TotalTime>
  <Words>2646</Words>
  <Application>Microsoft Macintosh PowerPoint</Application>
  <PresentationFormat>Widescreen</PresentationFormat>
  <Paragraphs>474</Paragraphs>
  <Slides>59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4" baseType="lpstr">
      <vt:lpstr>Calibri</vt:lpstr>
      <vt:lpstr>Calibri Light</vt:lpstr>
      <vt:lpstr>Mangal</vt:lpstr>
      <vt:lpstr>Arial</vt:lpstr>
      <vt:lpstr>Retrospect</vt:lpstr>
      <vt:lpstr>Network Security Monitoring</vt:lpstr>
      <vt:lpstr>Jeff Tehovnik</vt:lpstr>
      <vt:lpstr>Legalese</vt:lpstr>
      <vt:lpstr>NSM Experiences and Lessons</vt:lpstr>
      <vt:lpstr>PowerPoint Presentation</vt:lpstr>
      <vt:lpstr>Network Security Monitoring</vt:lpstr>
      <vt:lpstr>Scope and Coverage</vt:lpstr>
      <vt:lpstr>Network Intrusion Detection System </vt:lpstr>
      <vt:lpstr>Network Intrusion Prevention System </vt:lpstr>
      <vt:lpstr>IDS versus IPS</vt:lpstr>
      <vt:lpstr>TAP or SPAN?</vt:lpstr>
      <vt:lpstr>TAP or SPAN</vt:lpstr>
      <vt:lpstr>Open Source and Vendor Appliance Options </vt:lpstr>
      <vt:lpstr>Open Source option considerations</vt:lpstr>
      <vt:lpstr>Vendor Appliance option considerations</vt:lpstr>
      <vt:lpstr>Beyond IDS/IPS</vt:lpstr>
      <vt:lpstr>My Background</vt:lpstr>
      <vt:lpstr>Challenges</vt:lpstr>
      <vt:lpstr>Solutions Designed and Implemented</vt:lpstr>
      <vt:lpstr>Architectures</vt:lpstr>
      <vt:lpstr>PowerPoint Presentation</vt:lpstr>
      <vt:lpstr>PowerPoint Presentation</vt:lpstr>
      <vt:lpstr>Security Onion – 1 Big Server</vt:lpstr>
      <vt:lpstr>Security Onion – 1 Big Server Lessons</vt:lpstr>
      <vt:lpstr>Security Onion with ERSPANs</vt:lpstr>
      <vt:lpstr>Security Onion with ERSPAN - Lessons</vt:lpstr>
      <vt:lpstr>Border Traffic Monitoring with LBL Design</vt:lpstr>
      <vt:lpstr>Border Traffic Monitoring with LBL Design - Lessons</vt:lpstr>
      <vt:lpstr>Arista Tap Aggregation GUI</vt:lpstr>
      <vt:lpstr>Proprietary Appliance Deployment </vt:lpstr>
      <vt:lpstr>Vendor Appliance Lessons Learned </vt:lpstr>
      <vt:lpstr>Software Defined Data Center</vt:lpstr>
      <vt:lpstr>VMware NSX</vt:lpstr>
      <vt:lpstr>SDDC Deployment</vt:lpstr>
      <vt:lpstr>Future Deployments</vt:lpstr>
      <vt:lpstr>Operations</vt:lpstr>
      <vt:lpstr>Network IDS Rule Tuning </vt:lpstr>
      <vt:lpstr>Rule Tuning</vt:lpstr>
      <vt:lpstr>Network IDS versus IPS Rule Tuning Methodology</vt:lpstr>
      <vt:lpstr>Testing/QA (Bake-off or Deployment Validation)</vt:lpstr>
      <vt:lpstr>Got PCAPS?</vt:lpstr>
      <vt:lpstr>SSL/TLS Inspection</vt:lpstr>
      <vt:lpstr>Visibility</vt:lpstr>
      <vt:lpstr>Event Hooks and Automation</vt:lpstr>
      <vt:lpstr>Event Hooks and Automation 2</vt:lpstr>
      <vt:lpstr>Logging</vt:lpstr>
      <vt:lpstr>PowerPoint Presentation</vt:lpstr>
      <vt:lpstr>Why the Intermediary Syslog Server?</vt:lpstr>
      <vt:lpstr>PowerPoint Presentation</vt:lpstr>
      <vt:lpstr>What to Log?</vt:lpstr>
      <vt:lpstr>NSM in the Cloud</vt:lpstr>
      <vt:lpstr>NSM in the cloud</vt:lpstr>
      <vt:lpstr>Cloud IDS/IPS</vt:lpstr>
      <vt:lpstr>NSM in the Cloud</vt:lpstr>
      <vt:lpstr>Summary</vt:lpstr>
      <vt:lpstr>Summary</vt:lpstr>
      <vt:lpstr>Summary</vt:lpstr>
      <vt:lpstr>Scope and Coverage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Security Monitoring</dc:title>
  <dc:creator>Microsoft Office User</dc:creator>
  <cp:lastModifiedBy>Microsoft Office User</cp:lastModifiedBy>
  <cp:revision>95</cp:revision>
  <dcterms:created xsi:type="dcterms:W3CDTF">2019-04-29T14:35:20Z</dcterms:created>
  <dcterms:modified xsi:type="dcterms:W3CDTF">2019-05-23T16:28:12Z</dcterms:modified>
</cp:coreProperties>
</file>