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Default Extension="gif" ContentType="image/gif"/>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handoutMasterIdLst>
    <p:handoutMasterId r:id="rId37"/>
  </p:handoutMasterIdLst>
  <p:sldIdLst>
    <p:sldId id="543" r:id="rId2"/>
    <p:sldId id="544" r:id="rId3"/>
    <p:sldId id="571" r:id="rId4"/>
    <p:sldId id="573" r:id="rId5"/>
    <p:sldId id="576" r:id="rId6"/>
    <p:sldId id="572" r:id="rId7"/>
    <p:sldId id="574" r:id="rId8"/>
    <p:sldId id="575" r:id="rId9"/>
    <p:sldId id="545" r:id="rId10"/>
    <p:sldId id="546" r:id="rId11"/>
    <p:sldId id="547" r:id="rId12"/>
    <p:sldId id="548" r:id="rId13"/>
    <p:sldId id="549" r:id="rId14"/>
    <p:sldId id="550" r:id="rId15"/>
    <p:sldId id="551" r:id="rId16"/>
    <p:sldId id="567" r:id="rId17"/>
    <p:sldId id="552" r:id="rId18"/>
    <p:sldId id="553" r:id="rId19"/>
    <p:sldId id="554" r:id="rId20"/>
    <p:sldId id="565" r:id="rId21"/>
    <p:sldId id="555" r:id="rId22"/>
    <p:sldId id="556" r:id="rId23"/>
    <p:sldId id="570" r:id="rId24"/>
    <p:sldId id="557" r:id="rId25"/>
    <p:sldId id="558" r:id="rId26"/>
    <p:sldId id="559" r:id="rId27"/>
    <p:sldId id="560" r:id="rId28"/>
    <p:sldId id="566" r:id="rId29"/>
    <p:sldId id="561" r:id="rId30"/>
    <p:sldId id="568" r:id="rId31"/>
    <p:sldId id="562" r:id="rId32"/>
    <p:sldId id="563" r:id="rId33"/>
    <p:sldId id="564" r:id="rId34"/>
    <p:sldId id="569"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00"/>
    <a:srgbClr val="4A95BA"/>
    <a:srgbClr val="559CBE"/>
    <a:srgbClr val="77AFCB"/>
    <a:srgbClr val="2276BA"/>
    <a:srgbClr val="996633"/>
    <a:srgbClr val="F26532"/>
    <a:srgbClr val="FFFFEB"/>
    <a:srgbClr val="FFFFFF"/>
    <a:srgbClr val="7AC14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87" autoAdjust="0"/>
    <p:restoredTop sz="85511" autoAdjust="0"/>
  </p:normalViewPr>
  <p:slideViewPr>
    <p:cSldViewPr snapToGrid="0">
      <p:cViewPr>
        <p:scale>
          <a:sx n="60" d="100"/>
          <a:sy n="60" d="100"/>
        </p:scale>
        <p:origin x="-610" y="442"/>
      </p:cViewPr>
      <p:guideLst>
        <p:guide orient="horz" pos="2160"/>
        <p:guide pos="2880"/>
      </p:guideLst>
    </p:cSldViewPr>
  </p:slideViewPr>
  <p:outlineViewPr>
    <p:cViewPr>
      <p:scale>
        <a:sx n="33" d="100"/>
        <a:sy n="33" d="100"/>
      </p:scale>
      <p:origin x="0" y="768"/>
    </p:cViewPr>
  </p:outlineViewPr>
  <p:notesTextViewPr>
    <p:cViewPr>
      <p:scale>
        <a:sx n="100" d="100"/>
        <a:sy n="100" d="100"/>
      </p:scale>
      <p:origin x="0" y="0"/>
    </p:cViewPr>
  </p:notesTextViewPr>
  <p:sorterViewPr>
    <p:cViewPr>
      <p:scale>
        <a:sx n="70" d="100"/>
        <a:sy n="70" d="100"/>
      </p:scale>
      <p:origin x="0" y="0"/>
    </p:cViewPr>
  </p:sorterViewPr>
  <p:notesViewPr>
    <p:cSldViewPr snapToGrid="0" showGuides="1">
      <p:cViewPr varScale="1">
        <p:scale>
          <a:sx n="89" d="100"/>
          <a:sy n="89" d="100"/>
        </p:scale>
        <p:origin x="-3672" y="-12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cwysopal\Documents\soos-v5-char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10"/>
  <c:chart>
    <c:plotArea>
      <c:layout>
        <c:manualLayout>
          <c:layoutTarget val="inner"/>
          <c:xMode val="edge"/>
          <c:yMode val="edge"/>
          <c:x val="0.20424552087792927"/>
          <c:y val="4.0709815454590063E-2"/>
          <c:w val="0.61520381587754469"/>
          <c:h val="0.88614295580876767"/>
        </c:manualLayout>
      </c:layout>
      <c:barChart>
        <c:barDir val="bar"/>
        <c:grouping val="clustered"/>
        <c:ser>
          <c:idx val="0"/>
          <c:order val="0"/>
          <c:tx>
            <c:strRef>
              <c:f>Sheet1!$C$3</c:f>
              <c:strCache>
                <c:ptCount val="1"/>
                <c:pt idx="0">
                  <c:v>Java</c:v>
                </c:pt>
              </c:strCache>
            </c:strRef>
          </c:tx>
          <c:cat>
            <c:strRef>
              <c:f>Sheet1!$D$2:$H$2</c:f>
              <c:strCache>
                <c:ptCount val="5"/>
                <c:pt idx="0">
                  <c:v>SQL Injection</c:v>
                </c:pt>
                <c:pt idx="1">
                  <c:v>XSS</c:v>
                </c:pt>
                <c:pt idx="2">
                  <c:v>Crypto Issues</c:v>
                </c:pt>
                <c:pt idx="3">
                  <c:v>Directory Traversal</c:v>
                </c:pt>
                <c:pt idx="4">
                  <c:v>Command Injection</c:v>
                </c:pt>
              </c:strCache>
            </c:strRef>
          </c:cat>
          <c:val>
            <c:numRef>
              <c:f>Sheet1!$D$3:$H$3</c:f>
              <c:numCache>
                <c:formatCode>0%</c:formatCode>
                <c:ptCount val="5"/>
                <c:pt idx="0">
                  <c:v>0.30000000000000032</c:v>
                </c:pt>
                <c:pt idx="1">
                  <c:v>0.61000000000000065</c:v>
                </c:pt>
                <c:pt idx="2">
                  <c:v>0.62000000000000144</c:v>
                </c:pt>
                <c:pt idx="3">
                  <c:v>0.56000000000000005</c:v>
                </c:pt>
                <c:pt idx="4">
                  <c:v>0.1100000000000001</c:v>
                </c:pt>
              </c:numCache>
            </c:numRef>
          </c:val>
        </c:ser>
        <c:ser>
          <c:idx val="1"/>
          <c:order val="1"/>
          <c:tx>
            <c:strRef>
              <c:f>Sheet1!$C$4</c:f>
              <c:strCache>
                <c:ptCount val="1"/>
                <c:pt idx="0">
                  <c:v>.NET</c:v>
                </c:pt>
              </c:strCache>
            </c:strRef>
          </c:tx>
          <c:cat>
            <c:strRef>
              <c:f>Sheet1!$D$2:$H$2</c:f>
              <c:strCache>
                <c:ptCount val="5"/>
                <c:pt idx="0">
                  <c:v>SQL Injection</c:v>
                </c:pt>
                <c:pt idx="1">
                  <c:v>XSS</c:v>
                </c:pt>
                <c:pt idx="2">
                  <c:v>Crypto Issues</c:v>
                </c:pt>
                <c:pt idx="3">
                  <c:v>Directory Traversal</c:v>
                </c:pt>
                <c:pt idx="4">
                  <c:v>Command Injection</c:v>
                </c:pt>
              </c:strCache>
            </c:strRef>
          </c:cat>
          <c:val>
            <c:numRef>
              <c:f>Sheet1!$D$4:$H$4</c:f>
              <c:numCache>
                <c:formatCode>0%</c:formatCode>
                <c:ptCount val="5"/>
                <c:pt idx="0">
                  <c:v>0.30000000000000032</c:v>
                </c:pt>
                <c:pt idx="1">
                  <c:v>0.61000000000000065</c:v>
                </c:pt>
                <c:pt idx="2">
                  <c:v>0.62000000000000144</c:v>
                </c:pt>
                <c:pt idx="3">
                  <c:v>0.56000000000000005</c:v>
                </c:pt>
                <c:pt idx="4">
                  <c:v>0.1100000000000001</c:v>
                </c:pt>
              </c:numCache>
            </c:numRef>
          </c:val>
        </c:ser>
        <c:ser>
          <c:idx val="2"/>
          <c:order val="2"/>
          <c:tx>
            <c:strRef>
              <c:f>Sheet1!$C$5</c:f>
              <c:strCache>
                <c:ptCount val="1"/>
                <c:pt idx="0">
                  <c:v>PHP</c:v>
                </c:pt>
              </c:strCache>
            </c:strRef>
          </c:tx>
          <c:cat>
            <c:strRef>
              <c:f>Sheet1!$D$2:$H$2</c:f>
              <c:strCache>
                <c:ptCount val="5"/>
                <c:pt idx="0">
                  <c:v>SQL Injection</c:v>
                </c:pt>
                <c:pt idx="1">
                  <c:v>XSS</c:v>
                </c:pt>
                <c:pt idx="2">
                  <c:v>Crypto Issues</c:v>
                </c:pt>
                <c:pt idx="3">
                  <c:v>Directory Traversal</c:v>
                </c:pt>
                <c:pt idx="4">
                  <c:v>Command Injection</c:v>
                </c:pt>
              </c:strCache>
            </c:strRef>
          </c:cat>
          <c:val>
            <c:numRef>
              <c:f>Sheet1!$D$5:$H$5</c:f>
              <c:numCache>
                <c:formatCode>0%</c:formatCode>
                <c:ptCount val="5"/>
                <c:pt idx="0">
                  <c:v>0.27</c:v>
                </c:pt>
                <c:pt idx="1">
                  <c:v>0.60000000000000064</c:v>
                </c:pt>
                <c:pt idx="2">
                  <c:v>0.23</c:v>
                </c:pt>
                <c:pt idx="3">
                  <c:v>0.47000000000000008</c:v>
                </c:pt>
                <c:pt idx="4">
                  <c:v>0.17</c:v>
                </c:pt>
              </c:numCache>
            </c:numRef>
          </c:val>
        </c:ser>
        <c:ser>
          <c:idx val="3"/>
          <c:order val="3"/>
          <c:tx>
            <c:strRef>
              <c:f>Sheet1!$C$6</c:f>
              <c:strCache>
                <c:ptCount val="1"/>
                <c:pt idx="0">
                  <c:v>ColdFusion</c:v>
                </c:pt>
              </c:strCache>
            </c:strRef>
          </c:tx>
          <c:cat>
            <c:strRef>
              <c:f>Sheet1!$D$2:$H$2</c:f>
              <c:strCache>
                <c:ptCount val="5"/>
                <c:pt idx="0">
                  <c:v>SQL Injection</c:v>
                </c:pt>
                <c:pt idx="1">
                  <c:v>XSS</c:v>
                </c:pt>
                <c:pt idx="2">
                  <c:v>Crypto Issues</c:v>
                </c:pt>
                <c:pt idx="3">
                  <c:v>Directory Traversal</c:v>
                </c:pt>
                <c:pt idx="4">
                  <c:v>Command Injection</c:v>
                </c:pt>
              </c:strCache>
            </c:strRef>
          </c:cat>
          <c:val>
            <c:numRef>
              <c:f>Sheet1!$D$6:$H$6</c:f>
              <c:numCache>
                <c:formatCode>0%</c:formatCode>
                <c:ptCount val="5"/>
                <c:pt idx="0">
                  <c:v>0.72000000000000064</c:v>
                </c:pt>
                <c:pt idx="1">
                  <c:v>0.95000000000000062</c:v>
                </c:pt>
                <c:pt idx="2">
                  <c:v>0.12000000000000002</c:v>
                </c:pt>
                <c:pt idx="3">
                  <c:v>0.22000000000000022</c:v>
                </c:pt>
                <c:pt idx="4">
                  <c:v>0.2</c:v>
                </c:pt>
              </c:numCache>
            </c:numRef>
          </c:val>
        </c:ser>
        <c:axId val="35112448"/>
        <c:axId val="35113984"/>
      </c:barChart>
      <c:catAx>
        <c:axId val="35112448"/>
        <c:scaling>
          <c:orientation val="minMax"/>
        </c:scaling>
        <c:axPos val="l"/>
        <c:tickLblPos val="nextTo"/>
        <c:txPr>
          <a:bodyPr/>
          <a:lstStyle/>
          <a:p>
            <a:pPr>
              <a:defRPr b="1"/>
            </a:pPr>
            <a:endParaRPr lang="en-US"/>
          </a:p>
        </c:txPr>
        <c:crossAx val="35113984"/>
        <c:crosses val="autoZero"/>
        <c:auto val="1"/>
        <c:lblAlgn val="ctr"/>
        <c:lblOffset val="100"/>
      </c:catAx>
      <c:valAx>
        <c:axId val="35113984"/>
        <c:scaling>
          <c:orientation val="minMax"/>
        </c:scaling>
        <c:axPos val="b"/>
        <c:majorGridlines/>
        <c:numFmt formatCode="0%" sourceLinked="1"/>
        <c:tickLblPos val="nextTo"/>
        <c:crossAx val="35112448"/>
        <c:crosses val="autoZero"/>
        <c:crossBetween val="between"/>
      </c:valAx>
    </c:plotArea>
    <c:legend>
      <c:legendPos val="r"/>
      <c:layout/>
      <c:txPr>
        <a:bodyPr/>
        <a:lstStyle/>
        <a:p>
          <a:pPr>
            <a:defRPr b="1"/>
          </a:pPr>
          <a:endParaRPr lang="en-US"/>
        </a:p>
      </c:txPr>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10"/>
  <c:chart>
    <c:plotArea>
      <c:layout/>
      <c:barChart>
        <c:barDir val="bar"/>
        <c:grouping val="clustered"/>
        <c:ser>
          <c:idx val="0"/>
          <c:order val="0"/>
          <c:tx>
            <c:strRef>
              <c:f>Sheet1!$J$3</c:f>
              <c:strCache>
                <c:ptCount val="1"/>
                <c:pt idx="0">
                  <c:v>Java</c:v>
                </c:pt>
              </c:strCache>
            </c:strRef>
          </c:tx>
          <c:cat>
            <c:strRef>
              <c:f>Sheet1!$K$2:$O$2</c:f>
              <c:strCache>
                <c:ptCount val="5"/>
                <c:pt idx="0">
                  <c:v>SQL Injection</c:v>
                </c:pt>
                <c:pt idx="1">
                  <c:v>XSS</c:v>
                </c:pt>
                <c:pt idx="2">
                  <c:v>Crypto Issues</c:v>
                </c:pt>
                <c:pt idx="3">
                  <c:v>Directory Traversal</c:v>
                </c:pt>
                <c:pt idx="4">
                  <c:v>Command Injection</c:v>
                </c:pt>
              </c:strCache>
            </c:strRef>
          </c:cat>
          <c:val>
            <c:numRef>
              <c:f>Sheet1!$K$3:$O$3</c:f>
              <c:numCache>
                <c:formatCode>0%</c:formatCode>
                <c:ptCount val="5"/>
                <c:pt idx="0">
                  <c:v>0.16</c:v>
                </c:pt>
                <c:pt idx="1">
                  <c:v>0.14000000000000001</c:v>
                </c:pt>
                <c:pt idx="2">
                  <c:v>0.18000000000000024</c:v>
                </c:pt>
                <c:pt idx="3">
                  <c:v>0</c:v>
                </c:pt>
                <c:pt idx="4">
                  <c:v>8.0000000000000043E-2</c:v>
                </c:pt>
              </c:numCache>
            </c:numRef>
          </c:val>
        </c:ser>
        <c:ser>
          <c:idx val="1"/>
          <c:order val="1"/>
          <c:tx>
            <c:strRef>
              <c:f>Sheet1!$J$4</c:f>
              <c:strCache>
                <c:ptCount val="1"/>
                <c:pt idx="0">
                  <c:v>.NET</c:v>
                </c:pt>
              </c:strCache>
            </c:strRef>
          </c:tx>
          <c:cat>
            <c:strRef>
              <c:f>Sheet1!$K$2:$O$2</c:f>
              <c:strCache>
                <c:ptCount val="5"/>
                <c:pt idx="0">
                  <c:v>SQL Injection</c:v>
                </c:pt>
                <c:pt idx="1">
                  <c:v>XSS</c:v>
                </c:pt>
                <c:pt idx="2">
                  <c:v>Crypto Issues</c:v>
                </c:pt>
                <c:pt idx="3">
                  <c:v>Directory Traversal</c:v>
                </c:pt>
                <c:pt idx="4">
                  <c:v>Command Injection</c:v>
                </c:pt>
              </c:strCache>
            </c:strRef>
          </c:cat>
          <c:val>
            <c:numRef>
              <c:f>Sheet1!$K$4:$O$4</c:f>
              <c:numCache>
                <c:formatCode>0%</c:formatCode>
                <c:ptCount val="5"/>
                <c:pt idx="0">
                  <c:v>0.25</c:v>
                </c:pt>
                <c:pt idx="1">
                  <c:v>0.15000000000000024</c:v>
                </c:pt>
                <c:pt idx="2">
                  <c:v>0.13</c:v>
                </c:pt>
                <c:pt idx="3">
                  <c:v>4.0000000000000022E-2</c:v>
                </c:pt>
                <c:pt idx="4">
                  <c:v>0.18000000000000024</c:v>
                </c:pt>
              </c:numCache>
            </c:numRef>
          </c:val>
        </c:ser>
        <c:ser>
          <c:idx val="2"/>
          <c:order val="2"/>
          <c:tx>
            <c:strRef>
              <c:f>Sheet1!$J$5</c:f>
              <c:strCache>
                <c:ptCount val="1"/>
                <c:pt idx="0">
                  <c:v>PHP</c:v>
                </c:pt>
              </c:strCache>
            </c:strRef>
          </c:tx>
          <c:cat>
            <c:strRef>
              <c:f>Sheet1!$K$2:$O$2</c:f>
              <c:strCache>
                <c:ptCount val="5"/>
                <c:pt idx="0">
                  <c:v>SQL Injection</c:v>
                </c:pt>
                <c:pt idx="1">
                  <c:v>XSS</c:v>
                </c:pt>
                <c:pt idx="2">
                  <c:v>Crypto Issues</c:v>
                </c:pt>
                <c:pt idx="3">
                  <c:v>Directory Traversal</c:v>
                </c:pt>
                <c:pt idx="4">
                  <c:v>Command Injection</c:v>
                </c:pt>
              </c:strCache>
            </c:strRef>
          </c:cat>
          <c:val>
            <c:numRef>
              <c:f>Sheet1!$K$5:$O$5</c:f>
              <c:numCache>
                <c:formatCode>0%</c:formatCode>
                <c:ptCount val="5"/>
                <c:pt idx="0">
                  <c:v>0.54</c:v>
                </c:pt>
                <c:pt idx="1">
                  <c:v>0.24000000000000021</c:v>
                </c:pt>
                <c:pt idx="2">
                  <c:v>0</c:v>
                </c:pt>
                <c:pt idx="3">
                  <c:v>3.0000000000000002E-2</c:v>
                </c:pt>
                <c:pt idx="4">
                  <c:v>0.18000000000000024</c:v>
                </c:pt>
              </c:numCache>
            </c:numRef>
          </c:val>
        </c:ser>
        <c:axId val="70549888"/>
        <c:axId val="70551424"/>
      </c:barChart>
      <c:catAx>
        <c:axId val="70549888"/>
        <c:scaling>
          <c:orientation val="minMax"/>
        </c:scaling>
        <c:axPos val="l"/>
        <c:tickLblPos val="nextTo"/>
        <c:txPr>
          <a:bodyPr/>
          <a:lstStyle/>
          <a:p>
            <a:pPr>
              <a:defRPr b="1"/>
            </a:pPr>
            <a:endParaRPr lang="en-US"/>
          </a:p>
        </c:txPr>
        <c:crossAx val="70551424"/>
        <c:crosses val="autoZero"/>
        <c:auto val="1"/>
        <c:lblAlgn val="ctr"/>
        <c:lblOffset val="100"/>
      </c:catAx>
      <c:valAx>
        <c:axId val="70551424"/>
        <c:scaling>
          <c:orientation val="minMax"/>
        </c:scaling>
        <c:axPos val="b"/>
        <c:majorGridlines/>
        <c:numFmt formatCode="0%" sourceLinked="1"/>
        <c:tickLblPos val="nextTo"/>
        <c:crossAx val="70549888"/>
        <c:crosses val="autoZero"/>
        <c:crossBetween val="between"/>
      </c:valAx>
    </c:plotArea>
    <c:legend>
      <c:legendPos val="r"/>
      <c:layout/>
      <c:txPr>
        <a:bodyPr/>
        <a:lstStyle/>
        <a:p>
          <a:pPr>
            <a:defRPr b="1"/>
          </a:pPr>
          <a:endParaRPr lang="en-US"/>
        </a:p>
      </c:txPr>
    </c:legend>
    <c:plotVisOnly val="1"/>
  </c:chart>
  <c:externalData r:id="rId1"/>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2872F76-8EC2-F847-82B1-B01CD2C2B46F}" type="datetimeFigureOut">
              <a:rPr lang="en-US" smtClean="0"/>
              <a:pPr/>
              <a:t>6/1/2013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83969C7-BCD4-3D40-9F40-EED3CDB45422}" type="slidenum">
              <a:rPr lang="en-US" smtClean="0"/>
              <a:pPr/>
              <a:t>‹#›</a:t>
            </a:fld>
            <a:endParaRPr lang="en-US"/>
          </a:p>
        </p:txBody>
      </p:sp>
    </p:spTree>
    <p:extLst>
      <p:ext uri="{BB962C8B-B14F-4D97-AF65-F5344CB8AC3E}">
        <p14:creationId xmlns:p14="http://schemas.microsoft.com/office/powerpoint/2010/main" xmlns="" val="23459026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EB5E7D-4E24-1247-AF67-EF0BAC60510D}" type="datetimeFigureOut">
              <a:rPr lang="en-US" smtClean="0"/>
              <a:pPr/>
              <a:t>6/1/2013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99FEE7-663C-654C-A2A9-325938166577}" type="slidenum">
              <a:rPr lang="en-US" smtClean="0"/>
              <a:pPr/>
              <a:t>‹#›</a:t>
            </a:fld>
            <a:endParaRPr lang="en-US"/>
          </a:p>
        </p:txBody>
      </p:sp>
    </p:spTree>
    <p:extLst>
      <p:ext uri="{BB962C8B-B14F-4D97-AF65-F5344CB8AC3E}">
        <p14:creationId xmlns:p14="http://schemas.microsoft.com/office/powerpoint/2010/main" xmlns="" val="44101577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osha.gov/pls/oshaweb/owasrch.search_form?p_doc_type=STANDARDS&amp;p_toc_level=1&amp;p_keyvalue=1904" TargetMode="External"/><Relationship Id="rId7" Type="http://schemas.openxmlformats.org/officeDocument/2006/relationships/hyperlink" Target="http://www.ntsb.gov/legal/gc.html"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saferproducts.gov/" TargetMode="External"/><Relationship Id="rId5" Type="http://schemas.openxmlformats.org/officeDocument/2006/relationships/hyperlink" Target="http://www.cpsc.gov/PageFiles/99023/Section%2015%20(b)%20of%20the%20Consumer%20Product%20Safety%20Act.txt" TargetMode="External"/><Relationship Id="rId4" Type="http://schemas.openxmlformats.org/officeDocument/2006/relationships/hyperlink" Target="http://www.osha.gov/recordkeeping/"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ntsb.gov/safety/safety_rec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a:t>
            </a:r>
            <a:r>
              <a:rPr lang="en-US" baseline="0" dirty="0" smtClean="0"/>
              <a:t> we want a military and intelligence community vision of information sharing?</a:t>
            </a:r>
            <a:endParaRPr lang="en-US" dirty="0"/>
          </a:p>
        </p:txBody>
      </p:sp>
      <p:sp>
        <p:nvSpPr>
          <p:cNvPr id="4" name="Slide Number Placeholder 3"/>
          <p:cNvSpPr>
            <a:spLocks noGrp="1"/>
          </p:cNvSpPr>
          <p:nvPr>
            <p:ph type="sldNum" sz="quarter" idx="10"/>
          </p:nvPr>
        </p:nvSpPr>
        <p:spPr/>
        <p:txBody>
          <a:bodyPr/>
          <a:lstStyle/>
          <a:p>
            <a:fld id="{FD99FEE7-663C-654C-A2A9-325938166577}"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Government vision of Information</a:t>
            </a:r>
            <a:r>
              <a:rPr lang="en-US" baseline="0" dirty="0" smtClean="0"/>
              <a:t> sharing is reactive.  Attack signatures and Attack sources</a:t>
            </a:r>
            <a:endParaRPr lang="en-US" dirty="0"/>
          </a:p>
        </p:txBody>
      </p:sp>
      <p:sp>
        <p:nvSpPr>
          <p:cNvPr id="4" name="Slide Number Placeholder 3"/>
          <p:cNvSpPr>
            <a:spLocks noGrp="1"/>
          </p:cNvSpPr>
          <p:nvPr>
            <p:ph type="sldNum" sz="quarter" idx="10"/>
          </p:nvPr>
        </p:nvSpPr>
        <p:spPr/>
        <p:txBody>
          <a:bodyPr/>
          <a:lstStyle/>
          <a:p>
            <a:fld id="{FD99FEE7-663C-654C-A2A9-325938166577}"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latin typeface="+mn-lt"/>
                <a:ea typeface="+mn-ea"/>
                <a:cs typeface="+mn-cs"/>
              </a:rPr>
              <a:t>CDC - </a:t>
            </a:r>
            <a:r>
              <a:rPr lang="en-US" sz="1200" b="1" i="0" kern="1200" dirty="0" smtClean="0">
                <a:solidFill>
                  <a:schemeClr val="tx1"/>
                </a:solidFill>
                <a:latin typeface="+mn-lt"/>
                <a:ea typeface="+mn-ea"/>
                <a:cs typeface="+mn-cs"/>
              </a:rPr>
              <a:t>Mandatory Reporting of Infectious Diseases by Clinicians</a:t>
            </a: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Under the OSHA Recordkeeping regulation (</a:t>
            </a:r>
            <a:r>
              <a:rPr lang="en-US" sz="1200" b="0" i="0" kern="1200" dirty="0" smtClean="0">
                <a:solidFill>
                  <a:schemeClr val="tx1"/>
                </a:solidFill>
                <a:latin typeface="+mn-lt"/>
                <a:ea typeface="+mn-ea"/>
                <a:cs typeface="+mn-cs"/>
                <a:hlinkClick r:id="rId3" tooltip="29 CFR 1904"/>
              </a:rPr>
              <a:t>29 CFR 1904</a:t>
            </a:r>
            <a:r>
              <a:rPr lang="en-US" sz="1200" b="0" i="0" kern="1200" dirty="0" smtClean="0">
                <a:solidFill>
                  <a:schemeClr val="tx1"/>
                </a:solidFill>
                <a:latin typeface="+mn-lt"/>
                <a:ea typeface="+mn-ea"/>
                <a:cs typeface="+mn-cs"/>
              </a:rPr>
              <a:t>), </a:t>
            </a:r>
            <a:r>
              <a:rPr lang="en-US" sz="1200" b="0" i="0" kern="1200" dirty="0" smtClean="0">
                <a:solidFill>
                  <a:schemeClr val="tx1"/>
                </a:solidFill>
                <a:latin typeface="+mn-lt"/>
                <a:ea typeface="+mn-ea"/>
                <a:cs typeface="+mn-cs"/>
                <a:hlinkClick r:id="rId4"/>
              </a:rPr>
              <a:t>covered</a:t>
            </a:r>
            <a:r>
              <a:rPr lang="en-US" sz="1200" b="0" i="0" kern="1200" dirty="0" smtClean="0">
                <a:solidFill>
                  <a:schemeClr val="tx1"/>
                </a:solidFill>
                <a:latin typeface="+mn-lt"/>
                <a:ea typeface="+mn-ea"/>
                <a:cs typeface="+mn-cs"/>
              </a:rPr>
              <a:t> employers are required to prepare and maintain records of serious occupational injuries and illnesses, using the OSHA 300 Log. This information is important for employers, workers and OSHA in evaluating the safety of a workplace, understanding industry hazards, and implementing worker protections to reduce and eliminate hazards.</a:t>
            </a:r>
          </a:p>
          <a:p>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Dangerous Products (Section 15)</a:t>
            </a:r>
            <a:r>
              <a:rPr lang="en-US" sz="1200" b="0" i="0" kern="1200" dirty="0" smtClean="0">
                <a:solidFill>
                  <a:schemeClr val="tx1"/>
                </a:solidFill>
                <a:latin typeface="+mn-lt"/>
                <a:ea typeface="+mn-ea"/>
                <a:cs typeface="+mn-cs"/>
              </a:rPr>
              <a:t> - Manufacturers, importers, distributors, and retailers are </a:t>
            </a:r>
            <a:r>
              <a:rPr lang="en-US" sz="1200" b="1" i="0" kern="1200" dirty="0" smtClean="0">
                <a:solidFill>
                  <a:schemeClr val="tx1"/>
                </a:solidFill>
                <a:latin typeface="+mn-lt"/>
                <a:ea typeface="+mn-ea"/>
                <a:cs typeface="+mn-cs"/>
              </a:rPr>
              <a:t>required to report</a:t>
            </a:r>
            <a:r>
              <a:rPr lang="en-US" sz="1200" b="0" i="0" kern="1200" dirty="0" smtClean="0">
                <a:solidFill>
                  <a:schemeClr val="tx1"/>
                </a:solidFill>
                <a:latin typeface="+mn-lt"/>
                <a:ea typeface="+mn-ea"/>
                <a:cs typeface="+mn-cs"/>
              </a:rPr>
              <a:t> to CPSC under </a:t>
            </a:r>
            <a:r>
              <a:rPr lang="en-US" sz="1200" b="0" i="0" u="none" strike="noStrike" kern="1200" dirty="0" smtClean="0">
                <a:solidFill>
                  <a:schemeClr val="tx1"/>
                </a:solidFill>
                <a:latin typeface="+mn-lt"/>
                <a:ea typeface="+mn-ea"/>
                <a:cs typeface="+mn-cs"/>
                <a:hlinkClick r:id="rId5"/>
              </a:rPr>
              <a:t>Section 15 (b) of the Consumer Product Safety Act</a:t>
            </a:r>
            <a:r>
              <a:rPr lang="en-US" sz="1200" b="0" i="0" kern="1200" dirty="0" smtClean="0">
                <a:solidFill>
                  <a:schemeClr val="tx1"/>
                </a:solidFill>
                <a:latin typeface="+mn-lt"/>
                <a:ea typeface="+mn-ea"/>
                <a:cs typeface="+mn-cs"/>
              </a:rPr>
              <a:t> (CPSA) </a:t>
            </a:r>
            <a:r>
              <a:rPr lang="en-US" sz="1200" b="1" i="0" kern="1200" dirty="0" smtClean="0">
                <a:solidFill>
                  <a:schemeClr val="tx1"/>
                </a:solidFill>
                <a:latin typeface="+mn-lt"/>
                <a:ea typeface="+mn-ea"/>
                <a:cs typeface="+mn-cs"/>
              </a:rPr>
              <a:t>within 24 hours</a:t>
            </a:r>
            <a:r>
              <a:rPr lang="en-US" sz="1200" b="0" i="0" kern="1200" dirty="0" smtClean="0">
                <a:solidFill>
                  <a:schemeClr val="tx1"/>
                </a:solidFill>
                <a:latin typeface="+mn-lt"/>
                <a:ea typeface="+mn-ea"/>
                <a:cs typeface="+mn-cs"/>
              </a:rPr>
              <a:t> of obtaining information which reasonably supports the conclusion that a product does not comply with a safety rule issued under the CPSA, or contains a defect which could create a substantial risk of injury to the public or presents an unreasonable risk of serious injury or death, 15 U.S.C. § 2064(b). Companies can use our </a:t>
            </a:r>
            <a:r>
              <a:rPr lang="en-US" sz="1200" b="0" i="0" u="none" strike="noStrike" kern="1200" dirty="0" smtClean="0">
                <a:solidFill>
                  <a:schemeClr val="tx1"/>
                </a:solidFill>
                <a:latin typeface="+mn-lt"/>
                <a:ea typeface="+mn-ea"/>
                <a:cs typeface="+mn-cs"/>
                <a:hlinkClick r:id="rId6"/>
              </a:rPr>
              <a:t>on-line form</a:t>
            </a:r>
            <a:r>
              <a:rPr lang="en-US" sz="1200" b="0" i="0" kern="1200" dirty="0" smtClean="0">
                <a:solidFill>
                  <a:schemeClr val="tx1"/>
                </a:solidFill>
                <a:latin typeface="+mn-lt"/>
                <a:ea typeface="+mn-ea"/>
                <a:cs typeface="+mn-cs"/>
              </a:rPr>
              <a:t> to report a potentially defective or hazardous product.</a:t>
            </a: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NTSB Federal regulations require operators to notify the NTSB immediately of aviation accidents and certain incidents. An accident is defined as an occurrence associated with the operation of an aircraft that takes place between the time any person boards the aircraft with the intention of flight and all such persons have disembarked, and in which any person suffers death or serious injury, or in which the aircraft receives substantial damage. An incident is an occurrence other than an accident that affects or could affect the safety of operations. (See </a:t>
            </a:r>
            <a:r>
              <a:rPr lang="en-US" sz="1200" b="0" i="0" u="none" strike="noStrike" kern="1200" dirty="0" smtClean="0">
                <a:solidFill>
                  <a:schemeClr val="tx1"/>
                </a:solidFill>
                <a:latin typeface="+mn-lt"/>
                <a:ea typeface="+mn-ea"/>
                <a:cs typeface="+mn-cs"/>
                <a:hlinkClick r:id="rId7"/>
              </a:rPr>
              <a:t>49 CFR 830</a:t>
            </a:r>
            <a:r>
              <a:rPr lang="en-US" sz="1200" b="0" i="0" kern="120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FD99FEE7-663C-654C-A2A9-325938166577}"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Douglass DC-3 was first practical commercial aircraft</a:t>
            </a:r>
            <a:endParaRPr lang="en-US" dirty="0"/>
          </a:p>
        </p:txBody>
      </p:sp>
      <p:sp>
        <p:nvSpPr>
          <p:cNvPr id="4" name="Slide Number Placeholder 3"/>
          <p:cNvSpPr>
            <a:spLocks noGrp="1"/>
          </p:cNvSpPr>
          <p:nvPr>
            <p:ph type="sldNum" sz="quarter" idx="10"/>
          </p:nvPr>
        </p:nvSpPr>
        <p:spPr/>
        <p:txBody>
          <a:bodyPr/>
          <a:lstStyle/>
          <a:p>
            <a:fld id="{FD99FEE7-663C-654C-A2A9-325938166577}"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The NTSB is an independent agency charged with determining the probable cause of transportation accidents and promoting transportation safety. The NTSB investigates accidents, conducts safety studies, evaluates the effectiveness of other government agencies' programs for preventing transportation accidents, and reviews the appeals of enforcement actions involving aviation and mariner certificates issued by the Federal Aviation Administration (FAA) and the U.S. Coast Guard (USCG), as well as the appeals of civil penalty actions taken by the FAA.</a:t>
            </a:r>
          </a:p>
          <a:p>
            <a:r>
              <a:rPr lang="en-US" sz="1200" b="0" i="0" kern="1200" dirty="0" smtClean="0">
                <a:solidFill>
                  <a:schemeClr val="tx1"/>
                </a:solidFill>
                <a:latin typeface="+mn-lt"/>
                <a:ea typeface="+mn-ea"/>
                <a:cs typeface="+mn-cs"/>
              </a:rPr>
              <a:t>The help prevent accidents, the NTSB develops safety recommendations based on its investigations and studies. These are issued to federal, state, and local government agencies and to industry and other organizations in a position to improve transportation safety. Recommendations are the focal point of the NTSB's efforts to improve the safety of the nation's transportation system.</a:t>
            </a:r>
          </a:p>
          <a:p>
            <a:endParaRPr lang="en-US" dirty="0"/>
          </a:p>
        </p:txBody>
      </p:sp>
      <p:sp>
        <p:nvSpPr>
          <p:cNvPr id="4" name="Slide Number Placeholder 3"/>
          <p:cNvSpPr>
            <a:spLocks noGrp="1"/>
          </p:cNvSpPr>
          <p:nvPr>
            <p:ph type="sldNum" sz="quarter" idx="10"/>
          </p:nvPr>
        </p:nvSpPr>
        <p:spPr/>
        <p:txBody>
          <a:bodyPr/>
          <a:lstStyle/>
          <a:p>
            <a:fld id="{8FF78F82-5EE3-4EFA-997B-D43A957001C4}"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Safety Recommendations</a:t>
            </a:r>
          </a:p>
          <a:p>
            <a:r>
              <a:rPr lang="en-US" sz="1200" b="0" i="0" kern="1200" dirty="0" smtClean="0">
                <a:solidFill>
                  <a:schemeClr val="tx1"/>
                </a:solidFill>
                <a:latin typeface="+mn-lt"/>
                <a:ea typeface="+mn-ea"/>
                <a:cs typeface="+mn-cs"/>
              </a:rPr>
              <a:t>Safety recommendations are issued by the NTSB following the investigation of transportation accidents and the completion of safety studies. Recommendations usually address a specific issue uncovered during an investigation or study and specify how to correct the situation. Letters containing the recommendations are sent to the organization best able to address the safety issue, whether it is public or private. </a:t>
            </a:r>
            <a:r>
              <a:rPr lang="en-US" sz="1200" b="0" i="0" u="sng" kern="1200" dirty="0" smtClean="0">
                <a:solidFill>
                  <a:schemeClr val="tx1"/>
                </a:solidFill>
                <a:latin typeface="+mn-lt"/>
                <a:ea typeface="+mn-ea"/>
                <a:cs typeface="+mn-cs"/>
                <a:hlinkClick r:id="rId3"/>
              </a:rPr>
              <a:t>Learn More &gt;</a:t>
            </a:r>
            <a:endParaRPr lang="en-US" sz="1200" b="0" i="0" kern="1200" dirty="0" smtClean="0">
              <a:solidFill>
                <a:schemeClr val="tx1"/>
              </a:solidFill>
              <a:latin typeface="+mn-lt"/>
              <a:ea typeface="+mn-ea"/>
              <a:cs typeface="+mn-cs"/>
            </a:endParaRPr>
          </a:p>
          <a:p>
            <a:r>
              <a:rPr lang="en-US" dirty="0" smtClean="0"/>
              <a:t/>
            </a:r>
            <a:br>
              <a:rPr lang="en-US" dirty="0" smtClean="0"/>
            </a:br>
            <a:r>
              <a:rPr lang="en-US" sz="1200" b="0" i="0" kern="1200" dirty="0" smtClean="0">
                <a:solidFill>
                  <a:schemeClr val="tx1"/>
                </a:solidFill>
                <a:latin typeface="+mn-lt"/>
                <a:ea typeface="+mn-ea"/>
                <a:cs typeface="+mn-cs"/>
              </a:rPr>
              <a:t>Safety Alerts</a:t>
            </a:r>
          </a:p>
          <a:p>
            <a:r>
              <a:rPr lang="en-US" sz="1200" b="0" i="0" kern="1200" dirty="0" smtClean="0">
                <a:solidFill>
                  <a:schemeClr val="tx1"/>
                </a:solidFill>
                <a:latin typeface="+mn-lt"/>
                <a:ea typeface="+mn-ea"/>
                <a:cs typeface="+mn-cs"/>
              </a:rPr>
              <a:t>Take action to improve your safety and the safety of your family and friends by following the suggestions in these NTSB Safety Alerts. NTSB Safety Alerts provide safety information you can use, and urge you to encourage lawmakers to improve safety at the State level.</a:t>
            </a:r>
          </a:p>
          <a:p>
            <a:endParaRPr lang="en-US" dirty="0"/>
          </a:p>
        </p:txBody>
      </p:sp>
      <p:sp>
        <p:nvSpPr>
          <p:cNvPr id="4" name="Slide Number Placeholder 3"/>
          <p:cNvSpPr>
            <a:spLocks noGrp="1"/>
          </p:cNvSpPr>
          <p:nvPr>
            <p:ph type="sldNum" sz="quarter" idx="10"/>
          </p:nvPr>
        </p:nvSpPr>
        <p:spPr/>
        <p:txBody>
          <a:bodyPr/>
          <a:lstStyle/>
          <a:p>
            <a:fld id="{FD99FEE7-663C-654C-A2A9-325938166577}"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why A</a:t>
            </a:r>
            <a:r>
              <a:rPr lang="en-US" baseline="0" dirty="0" smtClean="0"/>
              <a:t>l Gore says he “invented the internet”</a:t>
            </a:r>
            <a:endParaRPr lang="en-US" dirty="0"/>
          </a:p>
        </p:txBody>
      </p:sp>
      <p:sp>
        <p:nvSpPr>
          <p:cNvPr id="4" name="Slide Number Placeholder 3"/>
          <p:cNvSpPr>
            <a:spLocks noGrp="1"/>
          </p:cNvSpPr>
          <p:nvPr>
            <p:ph type="sldNum" sz="quarter" idx="10"/>
          </p:nvPr>
        </p:nvSpPr>
        <p:spPr/>
        <p:txBody>
          <a:bodyPr/>
          <a:lstStyle/>
          <a:p>
            <a:fld id="{8FF78F82-5EE3-4EFA-997B-D43A957001C4}"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D99FEE7-663C-654C-A2A9-325938166577}"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4 or 6 breaches we don’t know the root cause</a:t>
            </a:r>
            <a:endParaRPr lang="en-US" dirty="0"/>
          </a:p>
        </p:txBody>
      </p:sp>
      <p:sp>
        <p:nvSpPr>
          <p:cNvPr id="4" name="Slide Number Placeholder 3"/>
          <p:cNvSpPr>
            <a:spLocks noGrp="1"/>
          </p:cNvSpPr>
          <p:nvPr>
            <p:ph type="sldNum" sz="quarter" idx="10"/>
          </p:nvPr>
        </p:nvSpPr>
        <p:spPr/>
        <p:txBody>
          <a:bodyPr/>
          <a:lstStyle/>
          <a:p>
            <a:fld id="{8FF78F82-5EE3-4EFA-997B-D43A957001C4}"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7 of 10 Breaches were technical</a:t>
            </a:r>
            <a:r>
              <a:rPr lang="en-US" baseline="0" dirty="0" smtClean="0"/>
              <a:t> hacks. 2 did not have enough information to learn from.</a:t>
            </a:r>
            <a:endParaRPr lang="en-US" dirty="0"/>
          </a:p>
        </p:txBody>
      </p:sp>
      <p:sp>
        <p:nvSpPr>
          <p:cNvPr id="4" name="Slide Number Placeholder 3"/>
          <p:cNvSpPr>
            <a:spLocks noGrp="1"/>
          </p:cNvSpPr>
          <p:nvPr>
            <p:ph type="sldNum" sz="quarter" idx="10"/>
          </p:nvPr>
        </p:nvSpPr>
        <p:spPr/>
        <p:txBody>
          <a:bodyPr/>
          <a:lstStyle/>
          <a:p>
            <a:fld id="{8FF78F82-5EE3-4EFA-997B-D43A957001C4}"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Wouldn’t it be nice to prioritize fixing based</a:t>
            </a:r>
            <a:r>
              <a:rPr lang="en-US" baseline="0" dirty="0" smtClean="0"/>
              <a:t> on actual realized threats?</a:t>
            </a:r>
            <a:endParaRPr lang="en-US" dirty="0"/>
          </a:p>
        </p:txBody>
      </p:sp>
      <p:sp>
        <p:nvSpPr>
          <p:cNvPr id="4" name="Slide Number Placeholder 3"/>
          <p:cNvSpPr>
            <a:spLocks noGrp="1"/>
          </p:cNvSpPr>
          <p:nvPr>
            <p:ph type="sldNum" sz="quarter" idx="10"/>
          </p:nvPr>
        </p:nvSpPr>
        <p:spPr/>
        <p:txBody>
          <a:bodyPr/>
          <a:lstStyle/>
          <a:p>
            <a:fld id="{8FF78F82-5EE3-4EFA-997B-D43A957001C4}" type="slidenum">
              <a:rPr lang="en-US" smtClean="0"/>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srcRect t="2966" r="2901" b="-1"/>
          <a:stretch/>
        </p:blipFill>
        <p:spPr>
          <a:xfrm>
            <a:off x="1" y="0"/>
            <a:ext cx="9143999" cy="6858000"/>
          </a:xfrm>
          <a:prstGeom prst="rect">
            <a:avLst/>
          </a:prstGeom>
        </p:spPr>
      </p:pic>
      <p:sp>
        <p:nvSpPr>
          <p:cNvPr id="2" name="Title 1"/>
          <p:cNvSpPr>
            <a:spLocks noGrp="1"/>
          </p:cNvSpPr>
          <p:nvPr>
            <p:ph type="ctrTitle"/>
          </p:nvPr>
        </p:nvSpPr>
        <p:spPr>
          <a:xfrm>
            <a:off x="550067" y="4701780"/>
            <a:ext cx="6038931" cy="856264"/>
          </a:xfrm>
        </p:spPr>
        <p:txBody>
          <a:bodyPr anchor="b"/>
          <a:lstStyle>
            <a:lvl1pPr algn="l">
              <a:defRPr sz="3300">
                <a:solidFill>
                  <a:srgbClr val="000100"/>
                </a:solidFill>
                <a:effectLst>
                  <a:outerShdw blurRad="63500" sx="102000" sy="102000" algn="ctr" rotWithShape="0">
                    <a:srgbClr val="FFFFFF">
                      <a:alpha val="40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550066" y="5720738"/>
            <a:ext cx="6038931" cy="639153"/>
          </a:xfrm>
        </p:spPr>
        <p:txBody>
          <a:bodyPr>
            <a:normAutofit/>
          </a:bodyPr>
          <a:lstStyle>
            <a:lvl1pPr marL="0" indent="0" algn="l">
              <a:buNone/>
              <a:defRPr sz="1800">
                <a:solidFill>
                  <a:srgbClr val="0001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2pPr>
              <a:buFont typeface="Wingdings" pitchFamily="2" charset="2"/>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p>
            <a:fld id="{AC5B1FEA-406A-7749-A5C3-DDCB5F67A4C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51280" y="1497993"/>
            <a:ext cx="8041439" cy="2097259"/>
          </a:xfrm>
        </p:spPr>
        <p:txBody>
          <a:bodyPr anchor="b"/>
          <a:lstStyle>
            <a:lvl1pPr algn="ctr">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38199" y="3754402"/>
            <a:ext cx="7467601" cy="1500187"/>
          </a:xfrm>
        </p:spPr>
        <p:txBody>
          <a:bodyPr anchor="t"/>
          <a:lstStyle>
            <a:lvl1pPr marL="0" indent="0" algn="ctr">
              <a:buNone/>
              <a:defRPr sz="2000">
                <a:solidFill>
                  <a:schemeClr val="tx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p:txBody>
          <a:bodyPr/>
          <a:lstStyle/>
          <a:p>
            <a:fld id="{AC5B1FEA-406A-7749-A5C3-DDCB5F67A4C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7" name="Slide Number Placeholder 6"/>
          <p:cNvSpPr>
            <a:spLocks noGrp="1"/>
          </p:cNvSpPr>
          <p:nvPr>
            <p:ph type="sldNum" sz="quarter" idx="12"/>
          </p:nvPr>
        </p:nvSpPr>
        <p:spPr/>
        <p:txBody>
          <a:bodyPr/>
          <a:lstStyle/>
          <a:p>
            <a:fld id="{AC5B1FEA-406A-7749-A5C3-DDCB5F67A4CE}" type="slidenum">
              <a:rPr lang="en-US" smtClean="0"/>
              <a:pPr/>
              <a:t>‹#›</a:t>
            </a:fld>
            <a:endParaRPr lang="en-US"/>
          </a:p>
        </p:txBody>
      </p:sp>
      <p:sp>
        <p:nvSpPr>
          <p:cNvPr id="9" name="Content Placeholder 8"/>
          <p:cNvSpPr>
            <a:spLocks noGrp="1"/>
          </p:cNvSpPr>
          <p:nvPr>
            <p:ph sz="quarter" idx="13"/>
          </p:nvPr>
        </p:nvSpPr>
        <p:spPr>
          <a:xfrm>
            <a:off x="841248" y="2039112"/>
            <a:ext cx="3657600" cy="36758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039112"/>
            <a:ext cx="3657600" cy="36758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41248" y="2038388"/>
            <a:ext cx="3017520" cy="542395"/>
          </a:xfrm>
        </p:spPr>
        <p:txBody>
          <a:bodyPr anchor="b">
            <a:noAutofit/>
          </a:bodyPr>
          <a:lstStyle>
            <a:lvl1pPr marL="0" indent="0" algn="ctr">
              <a:buNone/>
              <a:defRPr sz="2400" b="0">
                <a:solidFill>
                  <a:schemeClr val="tx2"/>
                </a:solidFill>
                <a:latin typeface="+mn-lt"/>
                <a:cs typeface="Bradley Hand ITC TT-Bold"/>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5291091" y="2038387"/>
            <a:ext cx="3014708" cy="542394"/>
          </a:xfrm>
        </p:spPr>
        <p:txBody>
          <a:bodyPr anchor="b">
            <a:noAutofit/>
          </a:bodyPr>
          <a:lstStyle>
            <a:lvl1pPr marL="0" indent="0" algn="ctr">
              <a:buNone/>
              <a:defRPr sz="2400" b="0">
                <a:solidFill>
                  <a:schemeClr val="tx2"/>
                </a:solidFill>
                <a:latin typeface="+mn-lt"/>
                <a:cs typeface="Bradley Hand ITC TT-Bold"/>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9" name="Slide Number Placeholder 8"/>
          <p:cNvSpPr>
            <a:spLocks noGrp="1"/>
          </p:cNvSpPr>
          <p:nvPr>
            <p:ph type="sldNum" sz="quarter" idx="12"/>
          </p:nvPr>
        </p:nvSpPr>
        <p:spPr/>
        <p:txBody>
          <a:bodyPr/>
          <a:lstStyle/>
          <a:p>
            <a:fld id="{AC5B1FEA-406A-7749-A5C3-DDCB5F67A4CE}" type="slidenum">
              <a:rPr lang="en-US" smtClean="0"/>
              <a:pPr/>
              <a:t>‹#›</a:t>
            </a:fld>
            <a:endParaRPr lang="en-US"/>
          </a:p>
        </p:txBody>
      </p:sp>
      <p:sp>
        <p:nvSpPr>
          <p:cNvPr id="16" name="Freeform 22"/>
          <p:cNvSpPr>
            <a:spLocks/>
          </p:cNvSpPr>
          <p:nvPr/>
        </p:nvSpPr>
        <p:spPr bwMode="auto">
          <a:xfrm rot="20274567">
            <a:off x="3933637" y="4281002"/>
            <a:ext cx="1288495" cy="722529"/>
          </a:xfrm>
          <a:custGeom>
            <a:avLst/>
            <a:gdLst/>
            <a:ahLst/>
            <a:cxnLst/>
            <a:rect l="l" t="t" r="r" b="b"/>
            <a:pathLst>
              <a:path w="1288494" h="722529">
                <a:moveTo>
                  <a:pt x="548461" y="537763"/>
                </a:moveTo>
                <a:lnTo>
                  <a:pt x="548461" y="537763"/>
                </a:lnTo>
                <a:lnTo>
                  <a:pt x="548461" y="537763"/>
                </a:lnTo>
                <a:close/>
                <a:moveTo>
                  <a:pt x="547489" y="536791"/>
                </a:moveTo>
                <a:lnTo>
                  <a:pt x="548461" y="537763"/>
                </a:lnTo>
                <a:lnTo>
                  <a:pt x="546516" y="536791"/>
                </a:lnTo>
                <a:lnTo>
                  <a:pt x="544572" y="535818"/>
                </a:lnTo>
                <a:close/>
                <a:moveTo>
                  <a:pt x="338413" y="443436"/>
                </a:moveTo>
                <a:lnTo>
                  <a:pt x="340357" y="444408"/>
                </a:lnTo>
                <a:lnTo>
                  <a:pt x="339385" y="444408"/>
                </a:lnTo>
                <a:close/>
                <a:moveTo>
                  <a:pt x="337440" y="442463"/>
                </a:moveTo>
                <a:lnTo>
                  <a:pt x="338413" y="443436"/>
                </a:lnTo>
                <a:lnTo>
                  <a:pt x="338412" y="443436"/>
                </a:lnTo>
                <a:close/>
                <a:moveTo>
                  <a:pt x="334522" y="440518"/>
                </a:moveTo>
                <a:lnTo>
                  <a:pt x="334523" y="441491"/>
                </a:lnTo>
                <a:lnTo>
                  <a:pt x="333550" y="441491"/>
                </a:lnTo>
                <a:lnTo>
                  <a:pt x="331605" y="439546"/>
                </a:lnTo>
                <a:close/>
                <a:moveTo>
                  <a:pt x="644733" y="565964"/>
                </a:moveTo>
                <a:lnTo>
                  <a:pt x="642788" y="565964"/>
                </a:lnTo>
                <a:lnTo>
                  <a:pt x="641816" y="565964"/>
                </a:lnTo>
                <a:lnTo>
                  <a:pt x="641816" y="565964"/>
                </a:lnTo>
                <a:close/>
                <a:moveTo>
                  <a:pt x="457051" y="488168"/>
                </a:moveTo>
                <a:lnTo>
                  <a:pt x="458996" y="489140"/>
                </a:lnTo>
                <a:lnTo>
                  <a:pt x="458993" y="489139"/>
                </a:lnTo>
                <a:close/>
                <a:moveTo>
                  <a:pt x="243112" y="383144"/>
                </a:moveTo>
                <a:lnTo>
                  <a:pt x="244085" y="384117"/>
                </a:lnTo>
                <a:lnTo>
                  <a:pt x="244085" y="384117"/>
                </a:lnTo>
                <a:close/>
                <a:moveTo>
                  <a:pt x="781848" y="599027"/>
                </a:moveTo>
                <a:lnTo>
                  <a:pt x="781848" y="599027"/>
                </a:lnTo>
                <a:lnTo>
                  <a:pt x="780876" y="599027"/>
                </a:lnTo>
                <a:close/>
                <a:moveTo>
                  <a:pt x="242140" y="366612"/>
                </a:moveTo>
                <a:lnTo>
                  <a:pt x="244085" y="368557"/>
                </a:lnTo>
                <a:lnTo>
                  <a:pt x="241797" y="366956"/>
                </a:lnTo>
                <a:close/>
                <a:moveTo>
                  <a:pt x="141978" y="301458"/>
                </a:moveTo>
                <a:lnTo>
                  <a:pt x="141978" y="301459"/>
                </a:lnTo>
                <a:lnTo>
                  <a:pt x="141977" y="301459"/>
                </a:lnTo>
                <a:close/>
                <a:moveTo>
                  <a:pt x="142950" y="301458"/>
                </a:moveTo>
                <a:lnTo>
                  <a:pt x="142950" y="302430"/>
                </a:lnTo>
                <a:lnTo>
                  <a:pt x="141978" y="301459"/>
                </a:lnTo>
                <a:close/>
                <a:moveTo>
                  <a:pt x="979256" y="620421"/>
                </a:moveTo>
                <a:lnTo>
                  <a:pt x="979165" y="620512"/>
                </a:lnTo>
                <a:lnTo>
                  <a:pt x="978283" y="620421"/>
                </a:lnTo>
                <a:close/>
                <a:moveTo>
                  <a:pt x="93355" y="247974"/>
                </a:moveTo>
                <a:lnTo>
                  <a:pt x="94328" y="248946"/>
                </a:lnTo>
                <a:lnTo>
                  <a:pt x="94328" y="249919"/>
                </a:lnTo>
                <a:close/>
                <a:moveTo>
                  <a:pt x="1075528" y="637925"/>
                </a:moveTo>
                <a:lnTo>
                  <a:pt x="1075528" y="637925"/>
                </a:lnTo>
                <a:lnTo>
                  <a:pt x="1074555" y="637925"/>
                </a:lnTo>
                <a:close/>
                <a:moveTo>
                  <a:pt x="47650" y="177958"/>
                </a:moveTo>
                <a:lnTo>
                  <a:pt x="49595" y="178930"/>
                </a:lnTo>
                <a:lnTo>
                  <a:pt x="49595" y="180875"/>
                </a:lnTo>
                <a:lnTo>
                  <a:pt x="51540" y="183792"/>
                </a:lnTo>
                <a:lnTo>
                  <a:pt x="50568" y="184764"/>
                </a:lnTo>
                <a:lnTo>
                  <a:pt x="49595" y="184765"/>
                </a:lnTo>
                <a:lnTo>
                  <a:pt x="48623" y="183792"/>
                </a:lnTo>
                <a:lnTo>
                  <a:pt x="46678" y="182820"/>
                </a:lnTo>
                <a:lnTo>
                  <a:pt x="45705" y="179903"/>
                </a:lnTo>
                <a:lnTo>
                  <a:pt x="46678" y="179902"/>
                </a:lnTo>
                <a:lnTo>
                  <a:pt x="46678" y="178930"/>
                </a:lnTo>
                <a:close/>
                <a:moveTo>
                  <a:pt x="35008" y="156564"/>
                </a:moveTo>
                <a:lnTo>
                  <a:pt x="36953" y="159157"/>
                </a:lnTo>
                <a:lnTo>
                  <a:pt x="36953" y="159481"/>
                </a:lnTo>
                <a:close/>
                <a:moveTo>
                  <a:pt x="25284" y="133225"/>
                </a:moveTo>
                <a:lnTo>
                  <a:pt x="28201" y="141005"/>
                </a:lnTo>
                <a:lnTo>
                  <a:pt x="30146" y="144894"/>
                </a:lnTo>
                <a:lnTo>
                  <a:pt x="33063" y="147811"/>
                </a:lnTo>
                <a:lnTo>
                  <a:pt x="33063" y="146839"/>
                </a:lnTo>
                <a:lnTo>
                  <a:pt x="34036" y="148784"/>
                </a:lnTo>
                <a:lnTo>
                  <a:pt x="35008" y="151701"/>
                </a:lnTo>
                <a:lnTo>
                  <a:pt x="34036" y="149756"/>
                </a:lnTo>
                <a:lnTo>
                  <a:pt x="33064" y="148784"/>
                </a:lnTo>
                <a:lnTo>
                  <a:pt x="32091" y="149756"/>
                </a:lnTo>
                <a:lnTo>
                  <a:pt x="25284" y="137114"/>
                </a:lnTo>
                <a:lnTo>
                  <a:pt x="26256" y="137115"/>
                </a:lnTo>
                <a:lnTo>
                  <a:pt x="25284" y="136142"/>
                </a:lnTo>
                <a:close/>
                <a:moveTo>
                  <a:pt x="1277796" y="622366"/>
                </a:moveTo>
                <a:lnTo>
                  <a:pt x="1283631" y="625284"/>
                </a:lnTo>
                <a:lnTo>
                  <a:pt x="1285576" y="628201"/>
                </a:lnTo>
                <a:lnTo>
                  <a:pt x="1287521" y="630146"/>
                </a:lnTo>
                <a:lnTo>
                  <a:pt x="1288494" y="634036"/>
                </a:lnTo>
                <a:lnTo>
                  <a:pt x="1287521" y="637926"/>
                </a:lnTo>
                <a:lnTo>
                  <a:pt x="1285576" y="642788"/>
                </a:lnTo>
                <a:lnTo>
                  <a:pt x="1282659" y="646677"/>
                </a:lnTo>
                <a:lnTo>
                  <a:pt x="1277797" y="650567"/>
                </a:lnTo>
                <a:lnTo>
                  <a:pt x="1271962" y="654457"/>
                </a:lnTo>
                <a:lnTo>
                  <a:pt x="1264183" y="658347"/>
                </a:lnTo>
                <a:lnTo>
                  <a:pt x="1255431" y="662237"/>
                </a:lnTo>
                <a:lnTo>
                  <a:pt x="1235982" y="670016"/>
                </a:lnTo>
                <a:lnTo>
                  <a:pt x="1215560" y="676824"/>
                </a:lnTo>
                <a:lnTo>
                  <a:pt x="1207780" y="680713"/>
                </a:lnTo>
                <a:lnTo>
                  <a:pt x="1199028" y="685575"/>
                </a:lnTo>
                <a:lnTo>
                  <a:pt x="1179579" y="698217"/>
                </a:lnTo>
                <a:lnTo>
                  <a:pt x="1146516" y="722528"/>
                </a:lnTo>
                <a:lnTo>
                  <a:pt x="1140681" y="722529"/>
                </a:lnTo>
                <a:lnTo>
                  <a:pt x="1137764" y="721556"/>
                </a:lnTo>
                <a:lnTo>
                  <a:pt x="1129985" y="714748"/>
                </a:lnTo>
                <a:lnTo>
                  <a:pt x="1137764" y="708914"/>
                </a:lnTo>
                <a:lnTo>
                  <a:pt x="1146516" y="703079"/>
                </a:lnTo>
                <a:lnTo>
                  <a:pt x="1156241" y="696273"/>
                </a:lnTo>
                <a:lnTo>
                  <a:pt x="1168883" y="690437"/>
                </a:lnTo>
                <a:lnTo>
                  <a:pt x="1209726" y="669044"/>
                </a:lnTo>
                <a:lnTo>
                  <a:pt x="1220422" y="662237"/>
                </a:lnTo>
                <a:lnTo>
                  <a:pt x="1229174" y="655429"/>
                </a:lnTo>
                <a:lnTo>
                  <a:pt x="1237926" y="647649"/>
                </a:lnTo>
                <a:lnTo>
                  <a:pt x="1243761" y="639870"/>
                </a:lnTo>
                <a:lnTo>
                  <a:pt x="1243761" y="639870"/>
                </a:lnTo>
                <a:lnTo>
                  <a:pt x="1245706" y="638898"/>
                </a:lnTo>
                <a:lnTo>
                  <a:pt x="1243275" y="638898"/>
                </a:lnTo>
                <a:lnTo>
                  <a:pt x="1242789" y="637925"/>
                </a:lnTo>
                <a:lnTo>
                  <a:pt x="1240844" y="635981"/>
                </a:lnTo>
                <a:lnTo>
                  <a:pt x="1237926" y="634036"/>
                </a:lnTo>
                <a:lnTo>
                  <a:pt x="1226257" y="630145"/>
                </a:lnTo>
                <a:lnTo>
                  <a:pt x="1207780" y="625284"/>
                </a:lnTo>
                <a:lnTo>
                  <a:pt x="1182496" y="620421"/>
                </a:lnTo>
                <a:lnTo>
                  <a:pt x="1113453" y="607780"/>
                </a:lnTo>
                <a:lnTo>
                  <a:pt x="1074555" y="600000"/>
                </a:lnTo>
                <a:lnTo>
                  <a:pt x="1060940" y="596110"/>
                </a:lnTo>
                <a:lnTo>
                  <a:pt x="1048299" y="592221"/>
                </a:lnTo>
                <a:lnTo>
                  <a:pt x="1036630" y="587358"/>
                </a:lnTo>
                <a:lnTo>
                  <a:pt x="1027877" y="583469"/>
                </a:lnTo>
                <a:lnTo>
                  <a:pt x="1020098" y="579579"/>
                </a:lnTo>
                <a:lnTo>
                  <a:pt x="1014263" y="574716"/>
                </a:lnTo>
                <a:lnTo>
                  <a:pt x="1009401" y="569854"/>
                </a:lnTo>
                <a:lnTo>
                  <a:pt x="1006483" y="564992"/>
                </a:lnTo>
                <a:lnTo>
                  <a:pt x="1002594" y="554295"/>
                </a:lnTo>
                <a:lnTo>
                  <a:pt x="1030795" y="566937"/>
                </a:lnTo>
                <a:lnTo>
                  <a:pt x="1058996" y="577634"/>
                </a:lnTo>
                <a:lnTo>
                  <a:pt x="1087197" y="587358"/>
                </a:lnTo>
                <a:lnTo>
                  <a:pt x="1116371" y="596110"/>
                </a:lnTo>
                <a:lnTo>
                  <a:pt x="1145544" y="602917"/>
                </a:lnTo>
                <a:lnTo>
                  <a:pt x="1174717" y="609725"/>
                </a:lnTo>
                <a:lnTo>
                  <a:pt x="1204863" y="614587"/>
                </a:lnTo>
                <a:lnTo>
                  <a:pt x="1234036" y="618476"/>
                </a:lnTo>
                <a:lnTo>
                  <a:pt x="1248623" y="618476"/>
                </a:lnTo>
                <a:lnTo>
                  <a:pt x="1260293" y="619449"/>
                </a:lnTo>
                <a:lnTo>
                  <a:pt x="1270017" y="620422"/>
                </a:lnTo>
                <a:close/>
                <a:moveTo>
                  <a:pt x="13614" y="101134"/>
                </a:moveTo>
                <a:lnTo>
                  <a:pt x="15560" y="104051"/>
                </a:lnTo>
                <a:lnTo>
                  <a:pt x="16532" y="104052"/>
                </a:lnTo>
                <a:lnTo>
                  <a:pt x="15559" y="105024"/>
                </a:lnTo>
                <a:lnTo>
                  <a:pt x="16532" y="109886"/>
                </a:lnTo>
                <a:lnTo>
                  <a:pt x="16532" y="110859"/>
                </a:lnTo>
                <a:lnTo>
                  <a:pt x="15559" y="110858"/>
                </a:lnTo>
                <a:lnTo>
                  <a:pt x="14587" y="108913"/>
                </a:lnTo>
                <a:lnTo>
                  <a:pt x="15559" y="108913"/>
                </a:lnTo>
                <a:lnTo>
                  <a:pt x="15559" y="106969"/>
                </a:lnTo>
                <a:lnTo>
                  <a:pt x="14587" y="105024"/>
                </a:lnTo>
                <a:lnTo>
                  <a:pt x="14587" y="103079"/>
                </a:lnTo>
                <a:close/>
                <a:moveTo>
                  <a:pt x="5835" y="22366"/>
                </a:moveTo>
                <a:lnTo>
                  <a:pt x="5835" y="23338"/>
                </a:lnTo>
                <a:lnTo>
                  <a:pt x="5658" y="22542"/>
                </a:lnTo>
                <a:close/>
                <a:moveTo>
                  <a:pt x="3890" y="14586"/>
                </a:moveTo>
                <a:lnTo>
                  <a:pt x="4862" y="15559"/>
                </a:lnTo>
                <a:lnTo>
                  <a:pt x="4862" y="18476"/>
                </a:lnTo>
                <a:lnTo>
                  <a:pt x="4668" y="18087"/>
                </a:lnTo>
                <a:close/>
                <a:moveTo>
                  <a:pt x="1884" y="3039"/>
                </a:moveTo>
                <a:lnTo>
                  <a:pt x="3890" y="9724"/>
                </a:lnTo>
                <a:lnTo>
                  <a:pt x="3890" y="10697"/>
                </a:lnTo>
                <a:lnTo>
                  <a:pt x="2917" y="9724"/>
                </a:lnTo>
                <a:lnTo>
                  <a:pt x="2917" y="8752"/>
                </a:lnTo>
                <a:lnTo>
                  <a:pt x="1945" y="8751"/>
                </a:lnTo>
                <a:lnTo>
                  <a:pt x="1945" y="13613"/>
                </a:lnTo>
                <a:lnTo>
                  <a:pt x="2917" y="13613"/>
                </a:lnTo>
                <a:lnTo>
                  <a:pt x="2917" y="14586"/>
                </a:lnTo>
                <a:lnTo>
                  <a:pt x="4668" y="18087"/>
                </a:lnTo>
                <a:lnTo>
                  <a:pt x="5658" y="22542"/>
                </a:lnTo>
                <a:lnTo>
                  <a:pt x="4862" y="23338"/>
                </a:lnTo>
                <a:lnTo>
                  <a:pt x="4862" y="24310"/>
                </a:lnTo>
                <a:lnTo>
                  <a:pt x="5835" y="25283"/>
                </a:lnTo>
                <a:lnTo>
                  <a:pt x="6807" y="27228"/>
                </a:lnTo>
                <a:lnTo>
                  <a:pt x="7780" y="34035"/>
                </a:lnTo>
                <a:lnTo>
                  <a:pt x="7780" y="36952"/>
                </a:lnTo>
                <a:lnTo>
                  <a:pt x="8752" y="40842"/>
                </a:lnTo>
                <a:lnTo>
                  <a:pt x="9725" y="44732"/>
                </a:lnTo>
                <a:lnTo>
                  <a:pt x="9724" y="48622"/>
                </a:lnTo>
                <a:lnTo>
                  <a:pt x="7780" y="44732"/>
                </a:lnTo>
                <a:lnTo>
                  <a:pt x="5835" y="40842"/>
                </a:lnTo>
                <a:lnTo>
                  <a:pt x="6807" y="48622"/>
                </a:lnTo>
                <a:lnTo>
                  <a:pt x="8752" y="50567"/>
                </a:lnTo>
                <a:lnTo>
                  <a:pt x="10697" y="55429"/>
                </a:lnTo>
                <a:lnTo>
                  <a:pt x="10697" y="56401"/>
                </a:lnTo>
                <a:lnTo>
                  <a:pt x="12642" y="60291"/>
                </a:lnTo>
                <a:lnTo>
                  <a:pt x="13614" y="62236"/>
                </a:lnTo>
                <a:lnTo>
                  <a:pt x="14587" y="65153"/>
                </a:lnTo>
                <a:lnTo>
                  <a:pt x="17504" y="79740"/>
                </a:lnTo>
                <a:lnTo>
                  <a:pt x="20422" y="91410"/>
                </a:lnTo>
                <a:lnTo>
                  <a:pt x="19449" y="92382"/>
                </a:lnTo>
                <a:lnTo>
                  <a:pt x="22367" y="96271"/>
                </a:lnTo>
                <a:lnTo>
                  <a:pt x="23339" y="100162"/>
                </a:lnTo>
                <a:lnTo>
                  <a:pt x="27229" y="109886"/>
                </a:lnTo>
                <a:lnTo>
                  <a:pt x="29174" y="116693"/>
                </a:lnTo>
                <a:lnTo>
                  <a:pt x="32091" y="123501"/>
                </a:lnTo>
                <a:lnTo>
                  <a:pt x="35008" y="129335"/>
                </a:lnTo>
                <a:lnTo>
                  <a:pt x="35981" y="133225"/>
                </a:lnTo>
                <a:lnTo>
                  <a:pt x="41816" y="144894"/>
                </a:lnTo>
                <a:lnTo>
                  <a:pt x="47650" y="154619"/>
                </a:lnTo>
                <a:lnTo>
                  <a:pt x="58347" y="176013"/>
                </a:lnTo>
                <a:lnTo>
                  <a:pt x="56402" y="174068"/>
                </a:lnTo>
                <a:lnTo>
                  <a:pt x="57375" y="176012"/>
                </a:lnTo>
                <a:lnTo>
                  <a:pt x="57375" y="176985"/>
                </a:lnTo>
                <a:lnTo>
                  <a:pt x="57374" y="177957"/>
                </a:lnTo>
                <a:lnTo>
                  <a:pt x="58347" y="178930"/>
                </a:lnTo>
                <a:lnTo>
                  <a:pt x="58347" y="177957"/>
                </a:lnTo>
                <a:lnTo>
                  <a:pt x="59319" y="179902"/>
                </a:lnTo>
                <a:lnTo>
                  <a:pt x="63209" y="183792"/>
                </a:lnTo>
                <a:lnTo>
                  <a:pt x="66127" y="188654"/>
                </a:lnTo>
                <a:lnTo>
                  <a:pt x="70017" y="194489"/>
                </a:lnTo>
                <a:lnTo>
                  <a:pt x="76824" y="203241"/>
                </a:lnTo>
                <a:lnTo>
                  <a:pt x="76823" y="204213"/>
                </a:lnTo>
                <a:lnTo>
                  <a:pt x="79741" y="208103"/>
                </a:lnTo>
                <a:lnTo>
                  <a:pt x="83631" y="212966"/>
                </a:lnTo>
                <a:lnTo>
                  <a:pt x="90438" y="223662"/>
                </a:lnTo>
                <a:lnTo>
                  <a:pt x="90438" y="225607"/>
                </a:lnTo>
                <a:lnTo>
                  <a:pt x="92383" y="228525"/>
                </a:lnTo>
                <a:lnTo>
                  <a:pt x="97245" y="232415"/>
                </a:lnTo>
                <a:lnTo>
                  <a:pt x="102107" y="238249"/>
                </a:lnTo>
                <a:lnTo>
                  <a:pt x="113776" y="251863"/>
                </a:lnTo>
                <a:lnTo>
                  <a:pt x="133226" y="272285"/>
                </a:lnTo>
                <a:lnTo>
                  <a:pt x="142950" y="282982"/>
                </a:lnTo>
                <a:lnTo>
                  <a:pt x="153647" y="292707"/>
                </a:lnTo>
                <a:lnTo>
                  <a:pt x="153647" y="294651"/>
                </a:lnTo>
                <a:lnTo>
                  <a:pt x="165316" y="303403"/>
                </a:lnTo>
                <a:lnTo>
                  <a:pt x="176013" y="314100"/>
                </a:lnTo>
                <a:lnTo>
                  <a:pt x="187683" y="323824"/>
                </a:lnTo>
                <a:lnTo>
                  <a:pt x="197407" y="332577"/>
                </a:lnTo>
                <a:lnTo>
                  <a:pt x="195462" y="332576"/>
                </a:lnTo>
                <a:lnTo>
                  <a:pt x="201297" y="337439"/>
                </a:lnTo>
                <a:lnTo>
                  <a:pt x="203242" y="338411"/>
                </a:lnTo>
                <a:lnTo>
                  <a:pt x="204214" y="338411"/>
                </a:lnTo>
                <a:lnTo>
                  <a:pt x="204214" y="337439"/>
                </a:lnTo>
                <a:lnTo>
                  <a:pt x="211021" y="343273"/>
                </a:lnTo>
                <a:lnTo>
                  <a:pt x="213939" y="346191"/>
                </a:lnTo>
                <a:lnTo>
                  <a:pt x="215883" y="348136"/>
                </a:lnTo>
                <a:lnTo>
                  <a:pt x="220746" y="352026"/>
                </a:lnTo>
                <a:lnTo>
                  <a:pt x="225608" y="353970"/>
                </a:lnTo>
                <a:lnTo>
                  <a:pt x="234360" y="361750"/>
                </a:lnTo>
                <a:lnTo>
                  <a:pt x="241797" y="366956"/>
                </a:lnTo>
                <a:lnTo>
                  <a:pt x="241167" y="367584"/>
                </a:lnTo>
                <a:lnTo>
                  <a:pt x="243112" y="368557"/>
                </a:lnTo>
                <a:lnTo>
                  <a:pt x="248947" y="373420"/>
                </a:lnTo>
                <a:lnTo>
                  <a:pt x="250892" y="374392"/>
                </a:lnTo>
                <a:lnTo>
                  <a:pt x="251864" y="374392"/>
                </a:lnTo>
                <a:lnTo>
                  <a:pt x="251864" y="373419"/>
                </a:lnTo>
                <a:lnTo>
                  <a:pt x="257699" y="378282"/>
                </a:lnTo>
                <a:lnTo>
                  <a:pt x="265479" y="383144"/>
                </a:lnTo>
                <a:lnTo>
                  <a:pt x="273258" y="388006"/>
                </a:lnTo>
                <a:lnTo>
                  <a:pt x="279093" y="392869"/>
                </a:lnTo>
                <a:lnTo>
                  <a:pt x="280065" y="392868"/>
                </a:lnTo>
                <a:lnTo>
                  <a:pt x="282010" y="393841"/>
                </a:lnTo>
                <a:lnTo>
                  <a:pt x="293679" y="401621"/>
                </a:lnTo>
                <a:lnTo>
                  <a:pt x="299514" y="404538"/>
                </a:lnTo>
                <a:lnTo>
                  <a:pt x="304376" y="407455"/>
                </a:lnTo>
                <a:lnTo>
                  <a:pt x="304377" y="408428"/>
                </a:lnTo>
                <a:lnTo>
                  <a:pt x="303404" y="408427"/>
                </a:lnTo>
                <a:lnTo>
                  <a:pt x="305349" y="409400"/>
                </a:lnTo>
                <a:lnTo>
                  <a:pt x="306321" y="409400"/>
                </a:lnTo>
                <a:lnTo>
                  <a:pt x="308266" y="409400"/>
                </a:lnTo>
                <a:lnTo>
                  <a:pt x="317991" y="415235"/>
                </a:lnTo>
                <a:lnTo>
                  <a:pt x="326743" y="421069"/>
                </a:lnTo>
                <a:lnTo>
                  <a:pt x="335495" y="427876"/>
                </a:lnTo>
                <a:lnTo>
                  <a:pt x="345219" y="432738"/>
                </a:lnTo>
                <a:lnTo>
                  <a:pt x="408428" y="464829"/>
                </a:lnTo>
                <a:lnTo>
                  <a:pt x="408429" y="465802"/>
                </a:lnTo>
                <a:lnTo>
                  <a:pt x="414263" y="467747"/>
                </a:lnTo>
                <a:lnTo>
                  <a:pt x="420098" y="470664"/>
                </a:lnTo>
                <a:lnTo>
                  <a:pt x="424960" y="473582"/>
                </a:lnTo>
                <a:lnTo>
                  <a:pt x="430795" y="475527"/>
                </a:lnTo>
                <a:lnTo>
                  <a:pt x="433712" y="477472"/>
                </a:lnTo>
                <a:lnTo>
                  <a:pt x="435657" y="477471"/>
                </a:lnTo>
                <a:lnTo>
                  <a:pt x="435657" y="478444"/>
                </a:lnTo>
                <a:lnTo>
                  <a:pt x="440519" y="480389"/>
                </a:lnTo>
                <a:lnTo>
                  <a:pt x="446354" y="483306"/>
                </a:lnTo>
                <a:lnTo>
                  <a:pt x="452189" y="486223"/>
                </a:lnTo>
                <a:lnTo>
                  <a:pt x="458993" y="489139"/>
                </a:lnTo>
                <a:lnTo>
                  <a:pt x="462885" y="491085"/>
                </a:lnTo>
                <a:lnTo>
                  <a:pt x="468720" y="493031"/>
                </a:lnTo>
                <a:lnTo>
                  <a:pt x="481362" y="498865"/>
                </a:lnTo>
                <a:lnTo>
                  <a:pt x="477472" y="497893"/>
                </a:lnTo>
                <a:lnTo>
                  <a:pt x="480389" y="499838"/>
                </a:lnTo>
                <a:lnTo>
                  <a:pt x="483307" y="499837"/>
                </a:lnTo>
                <a:lnTo>
                  <a:pt x="486225" y="500810"/>
                </a:lnTo>
                <a:lnTo>
                  <a:pt x="487197" y="502755"/>
                </a:lnTo>
                <a:lnTo>
                  <a:pt x="489142" y="502755"/>
                </a:lnTo>
                <a:lnTo>
                  <a:pt x="488169" y="501782"/>
                </a:lnTo>
                <a:lnTo>
                  <a:pt x="502756" y="508590"/>
                </a:lnTo>
                <a:lnTo>
                  <a:pt x="517343" y="513452"/>
                </a:lnTo>
                <a:lnTo>
                  <a:pt x="548461" y="524149"/>
                </a:lnTo>
                <a:lnTo>
                  <a:pt x="554296" y="527066"/>
                </a:lnTo>
                <a:lnTo>
                  <a:pt x="555268" y="528039"/>
                </a:lnTo>
                <a:lnTo>
                  <a:pt x="555268" y="529011"/>
                </a:lnTo>
                <a:lnTo>
                  <a:pt x="560130" y="529984"/>
                </a:lnTo>
                <a:lnTo>
                  <a:pt x="561103" y="529984"/>
                </a:lnTo>
                <a:lnTo>
                  <a:pt x="564020" y="530956"/>
                </a:lnTo>
                <a:lnTo>
                  <a:pt x="565965" y="532901"/>
                </a:lnTo>
                <a:lnTo>
                  <a:pt x="567910" y="533873"/>
                </a:lnTo>
                <a:lnTo>
                  <a:pt x="570827" y="534846"/>
                </a:lnTo>
                <a:lnTo>
                  <a:pt x="570827" y="533873"/>
                </a:lnTo>
                <a:lnTo>
                  <a:pt x="571800" y="533873"/>
                </a:lnTo>
                <a:lnTo>
                  <a:pt x="573745" y="533873"/>
                </a:lnTo>
                <a:lnTo>
                  <a:pt x="582497" y="538735"/>
                </a:lnTo>
                <a:lnTo>
                  <a:pt x="586386" y="539708"/>
                </a:lnTo>
                <a:lnTo>
                  <a:pt x="591248" y="541653"/>
                </a:lnTo>
                <a:lnTo>
                  <a:pt x="590276" y="541653"/>
                </a:lnTo>
                <a:lnTo>
                  <a:pt x="597084" y="542625"/>
                </a:lnTo>
                <a:lnTo>
                  <a:pt x="603891" y="544570"/>
                </a:lnTo>
                <a:lnTo>
                  <a:pt x="609725" y="546515"/>
                </a:lnTo>
                <a:lnTo>
                  <a:pt x="615560" y="546515"/>
                </a:lnTo>
                <a:lnTo>
                  <a:pt x="650568" y="556239"/>
                </a:lnTo>
                <a:lnTo>
                  <a:pt x="684604" y="565964"/>
                </a:lnTo>
                <a:lnTo>
                  <a:pt x="752675" y="581523"/>
                </a:lnTo>
                <a:lnTo>
                  <a:pt x="786711" y="589303"/>
                </a:lnTo>
                <a:lnTo>
                  <a:pt x="819774" y="596110"/>
                </a:lnTo>
                <a:lnTo>
                  <a:pt x="888818" y="608752"/>
                </a:lnTo>
                <a:lnTo>
                  <a:pt x="899515" y="611669"/>
                </a:lnTo>
                <a:lnTo>
                  <a:pt x="912157" y="613614"/>
                </a:lnTo>
                <a:lnTo>
                  <a:pt x="911184" y="613614"/>
                </a:lnTo>
                <a:lnTo>
                  <a:pt x="913129" y="613614"/>
                </a:lnTo>
                <a:lnTo>
                  <a:pt x="916046" y="613614"/>
                </a:lnTo>
                <a:lnTo>
                  <a:pt x="918964" y="613614"/>
                </a:lnTo>
                <a:lnTo>
                  <a:pt x="921881" y="613614"/>
                </a:lnTo>
                <a:lnTo>
                  <a:pt x="946193" y="617504"/>
                </a:lnTo>
                <a:lnTo>
                  <a:pt x="972448" y="620421"/>
                </a:lnTo>
                <a:lnTo>
                  <a:pt x="969531" y="620421"/>
                </a:lnTo>
                <a:lnTo>
                  <a:pt x="969531" y="621394"/>
                </a:lnTo>
                <a:lnTo>
                  <a:pt x="971476" y="621394"/>
                </a:lnTo>
                <a:lnTo>
                  <a:pt x="975366" y="620421"/>
                </a:lnTo>
                <a:lnTo>
                  <a:pt x="975366" y="621393"/>
                </a:lnTo>
                <a:lnTo>
                  <a:pt x="978283" y="621394"/>
                </a:lnTo>
                <a:lnTo>
                  <a:pt x="979165" y="620512"/>
                </a:lnTo>
                <a:lnTo>
                  <a:pt x="1044409" y="627228"/>
                </a:lnTo>
                <a:lnTo>
                  <a:pt x="1077472" y="631118"/>
                </a:lnTo>
                <a:lnTo>
                  <a:pt x="1110536" y="633063"/>
                </a:lnTo>
                <a:lnTo>
                  <a:pt x="1119288" y="634036"/>
                </a:lnTo>
                <a:lnTo>
                  <a:pt x="1129013" y="634035"/>
                </a:lnTo>
                <a:lnTo>
                  <a:pt x="1147489" y="635008"/>
                </a:lnTo>
                <a:lnTo>
                  <a:pt x="1171801" y="636953"/>
                </a:lnTo>
                <a:lnTo>
                  <a:pt x="1196111" y="638897"/>
                </a:lnTo>
                <a:lnTo>
                  <a:pt x="1220423" y="638898"/>
                </a:lnTo>
                <a:lnTo>
                  <a:pt x="1243275" y="638898"/>
                </a:lnTo>
                <a:lnTo>
                  <a:pt x="1243761" y="639870"/>
                </a:lnTo>
                <a:lnTo>
                  <a:pt x="1241817" y="640842"/>
                </a:lnTo>
                <a:lnTo>
                  <a:pt x="1235982" y="642788"/>
                </a:lnTo>
                <a:lnTo>
                  <a:pt x="1227230" y="643760"/>
                </a:lnTo>
                <a:lnTo>
                  <a:pt x="1212643" y="644732"/>
                </a:lnTo>
                <a:lnTo>
                  <a:pt x="1197084" y="644732"/>
                </a:lnTo>
                <a:lnTo>
                  <a:pt x="1180552" y="644732"/>
                </a:lnTo>
                <a:lnTo>
                  <a:pt x="1164993" y="644732"/>
                </a:lnTo>
                <a:lnTo>
                  <a:pt x="1164021" y="644732"/>
                </a:lnTo>
                <a:lnTo>
                  <a:pt x="1164021" y="643760"/>
                </a:lnTo>
                <a:lnTo>
                  <a:pt x="1163048" y="642788"/>
                </a:lnTo>
                <a:lnTo>
                  <a:pt x="1161103" y="642788"/>
                </a:lnTo>
                <a:lnTo>
                  <a:pt x="1144571" y="643760"/>
                </a:lnTo>
                <a:lnTo>
                  <a:pt x="1126095" y="642788"/>
                </a:lnTo>
                <a:lnTo>
                  <a:pt x="1106646" y="640843"/>
                </a:lnTo>
                <a:lnTo>
                  <a:pt x="1088170" y="637926"/>
                </a:lnTo>
                <a:lnTo>
                  <a:pt x="1089142" y="637925"/>
                </a:lnTo>
                <a:lnTo>
                  <a:pt x="1082335" y="637926"/>
                </a:lnTo>
                <a:lnTo>
                  <a:pt x="1075528" y="637925"/>
                </a:lnTo>
                <a:lnTo>
                  <a:pt x="1075528" y="636953"/>
                </a:lnTo>
                <a:lnTo>
                  <a:pt x="1073583" y="636953"/>
                </a:lnTo>
                <a:lnTo>
                  <a:pt x="1069693" y="636953"/>
                </a:lnTo>
                <a:lnTo>
                  <a:pt x="1064831" y="637926"/>
                </a:lnTo>
                <a:lnTo>
                  <a:pt x="1062886" y="636953"/>
                </a:lnTo>
                <a:lnTo>
                  <a:pt x="1060942" y="635981"/>
                </a:lnTo>
                <a:lnTo>
                  <a:pt x="1058024" y="636953"/>
                </a:lnTo>
                <a:lnTo>
                  <a:pt x="1051217" y="636953"/>
                </a:lnTo>
                <a:lnTo>
                  <a:pt x="1044409" y="636953"/>
                </a:lnTo>
                <a:lnTo>
                  <a:pt x="1036630" y="635980"/>
                </a:lnTo>
                <a:lnTo>
                  <a:pt x="1028850" y="635008"/>
                </a:lnTo>
                <a:lnTo>
                  <a:pt x="1029823" y="635008"/>
                </a:lnTo>
                <a:lnTo>
                  <a:pt x="1017181" y="634036"/>
                </a:lnTo>
                <a:lnTo>
                  <a:pt x="1002594" y="633063"/>
                </a:lnTo>
                <a:lnTo>
                  <a:pt x="974393" y="631118"/>
                </a:lnTo>
                <a:lnTo>
                  <a:pt x="975366" y="630146"/>
                </a:lnTo>
                <a:lnTo>
                  <a:pt x="975365" y="629173"/>
                </a:lnTo>
                <a:lnTo>
                  <a:pt x="973421" y="630146"/>
                </a:lnTo>
                <a:lnTo>
                  <a:pt x="970504" y="630146"/>
                </a:lnTo>
                <a:lnTo>
                  <a:pt x="963696" y="630145"/>
                </a:lnTo>
                <a:lnTo>
                  <a:pt x="960779" y="629173"/>
                </a:lnTo>
                <a:lnTo>
                  <a:pt x="957862" y="629173"/>
                </a:lnTo>
                <a:lnTo>
                  <a:pt x="953972" y="629173"/>
                </a:lnTo>
                <a:lnTo>
                  <a:pt x="949111" y="628201"/>
                </a:lnTo>
                <a:lnTo>
                  <a:pt x="950082" y="628201"/>
                </a:lnTo>
                <a:lnTo>
                  <a:pt x="949110" y="628201"/>
                </a:lnTo>
                <a:lnTo>
                  <a:pt x="949111" y="628201"/>
                </a:lnTo>
                <a:lnTo>
                  <a:pt x="947165" y="628201"/>
                </a:lnTo>
                <a:lnTo>
                  <a:pt x="944247" y="628201"/>
                </a:lnTo>
                <a:lnTo>
                  <a:pt x="942303" y="627228"/>
                </a:lnTo>
                <a:lnTo>
                  <a:pt x="940358" y="628201"/>
                </a:lnTo>
                <a:lnTo>
                  <a:pt x="937441" y="626256"/>
                </a:lnTo>
                <a:lnTo>
                  <a:pt x="935496" y="627228"/>
                </a:lnTo>
                <a:lnTo>
                  <a:pt x="933550" y="626256"/>
                </a:lnTo>
                <a:lnTo>
                  <a:pt x="930633" y="625283"/>
                </a:lnTo>
                <a:lnTo>
                  <a:pt x="927716" y="625283"/>
                </a:lnTo>
                <a:lnTo>
                  <a:pt x="923826" y="625283"/>
                </a:lnTo>
                <a:lnTo>
                  <a:pt x="919936" y="624311"/>
                </a:lnTo>
                <a:lnTo>
                  <a:pt x="911184" y="622366"/>
                </a:lnTo>
                <a:lnTo>
                  <a:pt x="909239" y="622366"/>
                </a:lnTo>
                <a:lnTo>
                  <a:pt x="908267" y="623339"/>
                </a:lnTo>
                <a:lnTo>
                  <a:pt x="908267" y="622366"/>
                </a:lnTo>
                <a:lnTo>
                  <a:pt x="910212" y="622366"/>
                </a:lnTo>
                <a:lnTo>
                  <a:pt x="912157" y="622366"/>
                </a:lnTo>
                <a:lnTo>
                  <a:pt x="911184" y="621394"/>
                </a:lnTo>
                <a:lnTo>
                  <a:pt x="893680" y="619449"/>
                </a:lnTo>
                <a:lnTo>
                  <a:pt x="875204" y="617504"/>
                </a:lnTo>
                <a:lnTo>
                  <a:pt x="840196" y="610697"/>
                </a:lnTo>
                <a:lnTo>
                  <a:pt x="836306" y="609725"/>
                </a:lnTo>
                <a:lnTo>
                  <a:pt x="835333" y="608752"/>
                </a:lnTo>
                <a:lnTo>
                  <a:pt x="829499" y="607779"/>
                </a:lnTo>
                <a:lnTo>
                  <a:pt x="823664" y="607779"/>
                </a:lnTo>
                <a:lnTo>
                  <a:pt x="821719" y="605834"/>
                </a:lnTo>
                <a:lnTo>
                  <a:pt x="818802" y="605834"/>
                </a:lnTo>
                <a:lnTo>
                  <a:pt x="816856" y="605835"/>
                </a:lnTo>
                <a:lnTo>
                  <a:pt x="814912" y="605834"/>
                </a:lnTo>
                <a:lnTo>
                  <a:pt x="811994" y="605835"/>
                </a:lnTo>
                <a:lnTo>
                  <a:pt x="813939" y="604862"/>
                </a:lnTo>
                <a:lnTo>
                  <a:pt x="813939" y="603889"/>
                </a:lnTo>
                <a:lnTo>
                  <a:pt x="807132" y="603890"/>
                </a:lnTo>
                <a:lnTo>
                  <a:pt x="799352" y="602917"/>
                </a:lnTo>
                <a:lnTo>
                  <a:pt x="801298" y="602917"/>
                </a:lnTo>
                <a:lnTo>
                  <a:pt x="801297" y="601945"/>
                </a:lnTo>
                <a:lnTo>
                  <a:pt x="797407" y="601944"/>
                </a:lnTo>
                <a:lnTo>
                  <a:pt x="794490" y="600972"/>
                </a:lnTo>
                <a:lnTo>
                  <a:pt x="787683" y="600000"/>
                </a:lnTo>
                <a:lnTo>
                  <a:pt x="789628" y="599027"/>
                </a:lnTo>
                <a:lnTo>
                  <a:pt x="785738" y="598055"/>
                </a:lnTo>
                <a:lnTo>
                  <a:pt x="784765" y="599027"/>
                </a:lnTo>
                <a:lnTo>
                  <a:pt x="783793" y="599027"/>
                </a:lnTo>
                <a:lnTo>
                  <a:pt x="781848" y="599027"/>
                </a:lnTo>
                <a:lnTo>
                  <a:pt x="781849" y="598055"/>
                </a:lnTo>
                <a:lnTo>
                  <a:pt x="776986" y="598055"/>
                </a:lnTo>
                <a:lnTo>
                  <a:pt x="771152" y="597082"/>
                </a:lnTo>
                <a:lnTo>
                  <a:pt x="760455" y="595137"/>
                </a:lnTo>
                <a:lnTo>
                  <a:pt x="750730" y="592220"/>
                </a:lnTo>
                <a:lnTo>
                  <a:pt x="741006" y="590275"/>
                </a:lnTo>
                <a:lnTo>
                  <a:pt x="740034" y="589303"/>
                </a:lnTo>
                <a:lnTo>
                  <a:pt x="739061" y="589303"/>
                </a:lnTo>
                <a:lnTo>
                  <a:pt x="738088" y="588330"/>
                </a:lnTo>
                <a:lnTo>
                  <a:pt x="735171" y="587358"/>
                </a:lnTo>
                <a:lnTo>
                  <a:pt x="734199" y="587358"/>
                </a:lnTo>
                <a:lnTo>
                  <a:pt x="733226" y="587358"/>
                </a:lnTo>
                <a:lnTo>
                  <a:pt x="729336" y="587358"/>
                </a:lnTo>
                <a:lnTo>
                  <a:pt x="726419" y="587358"/>
                </a:lnTo>
                <a:lnTo>
                  <a:pt x="727392" y="588331"/>
                </a:lnTo>
                <a:lnTo>
                  <a:pt x="716694" y="585413"/>
                </a:lnTo>
                <a:lnTo>
                  <a:pt x="707942" y="583468"/>
                </a:lnTo>
                <a:lnTo>
                  <a:pt x="708915" y="582496"/>
                </a:lnTo>
                <a:lnTo>
                  <a:pt x="708915" y="581523"/>
                </a:lnTo>
                <a:lnTo>
                  <a:pt x="710860" y="581523"/>
                </a:lnTo>
                <a:lnTo>
                  <a:pt x="707942" y="579578"/>
                </a:lnTo>
                <a:lnTo>
                  <a:pt x="709888" y="579578"/>
                </a:lnTo>
                <a:lnTo>
                  <a:pt x="704052" y="578606"/>
                </a:lnTo>
                <a:lnTo>
                  <a:pt x="699190" y="577634"/>
                </a:lnTo>
                <a:lnTo>
                  <a:pt x="691411" y="577633"/>
                </a:lnTo>
                <a:lnTo>
                  <a:pt x="687521" y="576661"/>
                </a:lnTo>
                <a:lnTo>
                  <a:pt x="682659" y="575689"/>
                </a:lnTo>
                <a:lnTo>
                  <a:pt x="683631" y="575688"/>
                </a:lnTo>
                <a:lnTo>
                  <a:pt x="683631" y="574716"/>
                </a:lnTo>
                <a:lnTo>
                  <a:pt x="682659" y="574716"/>
                </a:lnTo>
                <a:lnTo>
                  <a:pt x="683632" y="573744"/>
                </a:lnTo>
                <a:lnTo>
                  <a:pt x="672934" y="574716"/>
                </a:lnTo>
                <a:lnTo>
                  <a:pt x="670990" y="573744"/>
                </a:lnTo>
                <a:lnTo>
                  <a:pt x="670990" y="572771"/>
                </a:lnTo>
                <a:lnTo>
                  <a:pt x="669045" y="572771"/>
                </a:lnTo>
                <a:lnTo>
                  <a:pt x="668072" y="572771"/>
                </a:lnTo>
                <a:lnTo>
                  <a:pt x="666127" y="572771"/>
                </a:lnTo>
                <a:lnTo>
                  <a:pt x="660292" y="571799"/>
                </a:lnTo>
                <a:lnTo>
                  <a:pt x="657375" y="569854"/>
                </a:lnTo>
                <a:lnTo>
                  <a:pt x="655430" y="568882"/>
                </a:lnTo>
                <a:lnTo>
                  <a:pt x="657375" y="568881"/>
                </a:lnTo>
                <a:lnTo>
                  <a:pt x="657375" y="567909"/>
                </a:lnTo>
                <a:lnTo>
                  <a:pt x="647651" y="565964"/>
                </a:lnTo>
                <a:lnTo>
                  <a:pt x="642788" y="564992"/>
                </a:lnTo>
                <a:lnTo>
                  <a:pt x="641816" y="564992"/>
                </a:lnTo>
                <a:lnTo>
                  <a:pt x="641816" y="565964"/>
                </a:lnTo>
                <a:lnTo>
                  <a:pt x="638899" y="565964"/>
                </a:lnTo>
                <a:lnTo>
                  <a:pt x="633064" y="564020"/>
                </a:lnTo>
                <a:lnTo>
                  <a:pt x="634036" y="564019"/>
                </a:lnTo>
                <a:lnTo>
                  <a:pt x="635009" y="563047"/>
                </a:lnTo>
                <a:lnTo>
                  <a:pt x="625284" y="562075"/>
                </a:lnTo>
                <a:lnTo>
                  <a:pt x="615560" y="560129"/>
                </a:lnTo>
                <a:lnTo>
                  <a:pt x="617505" y="560130"/>
                </a:lnTo>
                <a:lnTo>
                  <a:pt x="619450" y="560129"/>
                </a:lnTo>
                <a:lnTo>
                  <a:pt x="613615" y="558185"/>
                </a:lnTo>
                <a:lnTo>
                  <a:pt x="606808" y="556240"/>
                </a:lnTo>
                <a:lnTo>
                  <a:pt x="600973" y="554295"/>
                </a:lnTo>
                <a:lnTo>
                  <a:pt x="595138" y="552350"/>
                </a:lnTo>
                <a:lnTo>
                  <a:pt x="596111" y="553322"/>
                </a:lnTo>
                <a:lnTo>
                  <a:pt x="595139" y="553323"/>
                </a:lnTo>
                <a:lnTo>
                  <a:pt x="592221" y="551377"/>
                </a:lnTo>
                <a:lnTo>
                  <a:pt x="589304" y="550405"/>
                </a:lnTo>
                <a:lnTo>
                  <a:pt x="587359" y="549432"/>
                </a:lnTo>
                <a:lnTo>
                  <a:pt x="583469" y="548460"/>
                </a:lnTo>
                <a:lnTo>
                  <a:pt x="582497" y="548460"/>
                </a:lnTo>
                <a:lnTo>
                  <a:pt x="585414" y="549432"/>
                </a:lnTo>
                <a:lnTo>
                  <a:pt x="572772" y="545542"/>
                </a:lnTo>
                <a:lnTo>
                  <a:pt x="564993" y="543597"/>
                </a:lnTo>
                <a:lnTo>
                  <a:pt x="557213" y="540680"/>
                </a:lnTo>
                <a:lnTo>
                  <a:pt x="554295" y="540680"/>
                </a:lnTo>
                <a:lnTo>
                  <a:pt x="549433" y="539708"/>
                </a:lnTo>
                <a:lnTo>
                  <a:pt x="550406" y="538735"/>
                </a:lnTo>
                <a:lnTo>
                  <a:pt x="548461" y="537763"/>
                </a:lnTo>
                <a:lnTo>
                  <a:pt x="550406" y="537763"/>
                </a:lnTo>
                <a:lnTo>
                  <a:pt x="554296" y="538735"/>
                </a:lnTo>
                <a:lnTo>
                  <a:pt x="553323" y="537763"/>
                </a:lnTo>
                <a:lnTo>
                  <a:pt x="550406" y="537763"/>
                </a:lnTo>
                <a:lnTo>
                  <a:pt x="544572" y="535818"/>
                </a:lnTo>
                <a:lnTo>
                  <a:pt x="544572" y="535818"/>
                </a:lnTo>
                <a:lnTo>
                  <a:pt x="544572" y="535818"/>
                </a:lnTo>
                <a:lnTo>
                  <a:pt x="541654" y="534845"/>
                </a:lnTo>
                <a:lnTo>
                  <a:pt x="538736" y="533873"/>
                </a:lnTo>
                <a:lnTo>
                  <a:pt x="536792" y="532901"/>
                </a:lnTo>
                <a:lnTo>
                  <a:pt x="537764" y="532901"/>
                </a:lnTo>
                <a:lnTo>
                  <a:pt x="538737" y="531928"/>
                </a:lnTo>
                <a:lnTo>
                  <a:pt x="536792" y="531928"/>
                </a:lnTo>
                <a:lnTo>
                  <a:pt x="532902" y="530956"/>
                </a:lnTo>
                <a:lnTo>
                  <a:pt x="529985" y="529983"/>
                </a:lnTo>
                <a:lnTo>
                  <a:pt x="527067" y="529011"/>
                </a:lnTo>
                <a:lnTo>
                  <a:pt x="526095" y="529011"/>
                </a:lnTo>
                <a:lnTo>
                  <a:pt x="525122" y="529011"/>
                </a:lnTo>
                <a:lnTo>
                  <a:pt x="524150" y="529011"/>
                </a:lnTo>
                <a:lnTo>
                  <a:pt x="523178" y="528039"/>
                </a:lnTo>
                <a:lnTo>
                  <a:pt x="520260" y="527066"/>
                </a:lnTo>
                <a:lnTo>
                  <a:pt x="517342" y="526094"/>
                </a:lnTo>
                <a:lnTo>
                  <a:pt x="517343" y="525122"/>
                </a:lnTo>
                <a:lnTo>
                  <a:pt x="518315" y="524149"/>
                </a:lnTo>
                <a:lnTo>
                  <a:pt x="514425" y="524149"/>
                </a:lnTo>
                <a:lnTo>
                  <a:pt x="511508" y="524149"/>
                </a:lnTo>
                <a:lnTo>
                  <a:pt x="511508" y="523176"/>
                </a:lnTo>
                <a:lnTo>
                  <a:pt x="509563" y="523177"/>
                </a:lnTo>
                <a:lnTo>
                  <a:pt x="507619" y="522204"/>
                </a:lnTo>
                <a:lnTo>
                  <a:pt x="504701" y="521232"/>
                </a:lnTo>
                <a:lnTo>
                  <a:pt x="501783" y="521232"/>
                </a:lnTo>
                <a:lnTo>
                  <a:pt x="494004" y="517342"/>
                </a:lnTo>
                <a:lnTo>
                  <a:pt x="490114" y="515396"/>
                </a:lnTo>
                <a:lnTo>
                  <a:pt x="487197" y="513452"/>
                </a:lnTo>
                <a:lnTo>
                  <a:pt x="481362" y="512480"/>
                </a:lnTo>
                <a:lnTo>
                  <a:pt x="475527" y="509562"/>
                </a:lnTo>
                <a:lnTo>
                  <a:pt x="477472" y="509562"/>
                </a:lnTo>
                <a:lnTo>
                  <a:pt x="474555" y="508590"/>
                </a:lnTo>
                <a:lnTo>
                  <a:pt x="471638" y="507617"/>
                </a:lnTo>
                <a:lnTo>
                  <a:pt x="468720" y="505672"/>
                </a:lnTo>
                <a:lnTo>
                  <a:pt x="463858" y="502755"/>
                </a:lnTo>
                <a:lnTo>
                  <a:pt x="461913" y="501783"/>
                </a:lnTo>
                <a:lnTo>
                  <a:pt x="460941" y="502755"/>
                </a:lnTo>
                <a:lnTo>
                  <a:pt x="459968" y="503727"/>
                </a:lnTo>
                <a:lnTo>
                  <a:pt x="457051" y="501783"/>
                </a:lnTo>
                <a:lnTo>
                  <a:pt x="453161" y="499838"/>
                </a:lnTo>
                <a:lnTo>
                  <a:pt x="448299" y="498865"/>
                </a:lnTo>
                <a:lnTo>
                  <a:pt x="445381" y="495948"/>
                </a:lnTo>
                <a:lnTo>
                  <a:pt x="448299" y="496920"/>
                </a:lnTo>
                <a:lnTo>
                  <a:pt x="449271" y="496921"/>
                </a:lnTo>
                <a:lnTo>
                  <a:pt x="448299" y="495948"/>
                </a:lnTo>
                <a:lnTo>
                  <a:pt x="445381" y="494003"/>
                </a:lnTo>
                <a:lnTo>
                  <a:pt x="442464" y="493031"/>
                </a:lnTo>
                <a:lnTo>
                  <a:pt x="439547" y="492058"/>
                </a:lnTo>
                <a:lnTo>
                  <a:pt x="435657" y="491086"/>
                </a:lnTo>
                <a:lnTo>
                  <a:pt x="436630" y="493030"/>
                </a:lnTo>
                <a:lnTo>
                  <a:pt x="433712" y="491086"/>
                </a:lnTo>
                <a:lnTo>
                  <a:pt x="431767" y="490113"/>
                </a:lnTo>
                <a:lnTo>
                  <a:pt x="428850" y="490113"/>
                </a:lnTo>
                <a:lnTo>
                  <a:pt x="428850" y="489141"/>
                </a:lnTo>
                <a:lnTo>
                  <a:pt x="424960" y="487196"/>
                </a:lnTo>
                <a:lnTo>
                  <a:pt x="423015" y="486223"/>
                </a:lnTo>
                <a:lnTo>
                  <a:pt x="422043" y="487196"/>
                </a:lnTo>
                <a:lnTo>
                  <a:pt x="415236" y="483306"/>
                </a:lnTo>
                <a:lnTo>
                  <a:pt x="407456" y="479416"/>
                </a:lnTo>
                <a:lnTo>
                  <a:pt x="400649" y="475527"/>
                </a:lnTo>
                <a:lnTo>
                  <a:pt x="397732" y="473582"/>
                </a:lnTo>
                <a:lnTo>
                  <a:pt x="395787" y="471637"/>
                </a:lnTo>
                <a:lnTo>
                  <a:pt x="392869" y="470664"/>
                </a:lnTo>
                <a:lnTo>
                  <a:pt x="391897" y="470664"/>
                </a:lnTo>
                <a:lnTo>
                  <a:pt x="392869" y="471637"/>
                </a:lnTo>
                <a:lnTo>
                  <a:pt x="393842" y="471636"/>
                </a:lnTo>
                <a:lnTo>
                  <a:pt x="395787" y="472609"/>
                </a:lnTo>
                <a:lnTo>
                  <a:pt x="393842" y="472609"/>
                </a:lnTo>
                <a:lnTo>
                  <a:pt x="390925" y="470664"/>
                </a:lnTo>
                <a:lnTo>
                  <a:pt x="390924" y="469691"/>
                </a:lnTo>
                <a:lnTo>
                  <a:pt x="391897" y="469692"/>
                </a:lnTo>
                <a:lnTo>
                  <a:pt x="388007" y="467747"/>
                </a:lnTo>
                <a:lnTo>
                  <a:pt x="385090" y="466774"/>
                </a:lnTo>
                <a:lnTo>
                  <a:pt x="381200" y="466774"/>
                </a:lnTo>
                <a:lnTo>
                  <a:pt x="377310" y="463857"/>
                </a:lnTo>
                <a:lnTo>
                  <a:pt x="374393" y="461913"/>
                </a:lnTo>
                <a:lnTo>
                  <a:pt x="369531" y="460940"/>
                </a:lnTo>
                <a:lnTo>
                  <a:pt x="367586" y="458995"/>
                </a:lnTo>
                <a:lnTo>
                  <a:pt x="366613" y="458994"/>
                </a:lnTo>
                <a:lnTo>
                  <a:pt x="367586" y="457050"/>
                </a:lnTo>
                <a:lnTo>
                  <a:pt x="363696" y="455105"/>
                </a:lnTo>
                <a:lnTo>
                  <a:pt x="360779" y="454133"/>
                </a:lnTo>
                <a:lnTo>
                  <a:pt x="357861" y="451215"/>
                </a:lnTo>
                <a:lnTo>
                  <a:pt x="357861" y="452187"/>
                </a:lnTo>
                <a:lnTo>
                  <a:pt x="356889" y="451216"/>
                </a:lnTo>
                <a:lnTo>
                  <a:pt x="353971" y="450243"/>
                </a:lnTo>
                <a:lnTo>
                  <a:pt x="354944" y="450243"/>
                </a:lnTo>
                <a:lnTo>
                  <a:pt x="352999" y="449270"/>
                </a:lnTo>
                <a:lnTo>
                  <a:pt x="350081" y="447325"/>
                </a:lnTo>
                <a:lnTo>
                  <a:pt x="352026" y="449270"/>
                </a:lnTo>
                <a:lnTo>
                  <a:pt x="354944" y="451215"/>
                </a:lnTo>
                <a:lnTo>
                  <a:pt x="349109" y="449271"/>
                </a:lnTo>
                <a:lnTo>
                  <a:pt x="347164" y="447325"/>
                </a:lnTo>
                <a:lnTo>
                  <a:pt x="343274" y="445381"/>
                </a:lnTo>
                <a:lnTo>
                  <a:pt x="340357" y="444408"/>
                </a:lnTo>
                <a:lnTo>
                  <a:pt x="339385" y="442463"/>
                </a:lnTo>
                <a:lnTo>
                  <a:pt x="336468" y="440518"/>
                </a:lnTo>
                <a:lnTo>
                  <a:pt x="334522" y="440518"/>
                </a:lnTo>
                <a:lnTo>
                  <a:pt x="330633" y="437601"/>
                </a:lnTo>
                <a:lnTo>
                  <a:pt x="329660" y="437601"/>
                </a:lnTo>
                <a:lnTo>
                  <a:pt x="327715" y="436628"/>
                </a:lnTo>
                <a:lnTo>
                  <a:pt x="324798" y="435656"/>
                </a:lnTo>
                <a:lnTo>
                  <a:pt x="322853" y="434683"/>
                </a:lnTo>
                <a:lnTo>
                  <a:pt x="320908" y="434683"/>
                </a:lnTo>
                <a:lnTo>
                  <a:pt x="314101" y="429822"/>
                </a:lnTo>
                <a:lnTo>
                  <a:pt x="315073" y="429821"/>
                </a:lnTo>
                <a:lnTo>
                  <a:pt x="311184" y="426904"/>
                </a:lnTo>
                <a:lnTo>
                  <a:pt x="306322" y="424959"/>
                </a:lnTo>
                <a:lnTo>
                  <a:pt x="307294" y="424959"/>
                </a:lnTo>
                <a:lnTo>
                  <a:pt x="303404" y="423014"/>
                </a:lnTo>
                <a:lnTo>
                  <a:pt x="300487" y="421069"/>
                </a:lnTo>
                <a:lnTo>
                  <a:pt x="298542" y="420097"/>
                </a:lnTo>
                <a:lnTo>
                  <a:pt x="298542" y="418152"/>
                </a:lnTo>
                <a:lnTo>
                  <a:pt x="298542" y="417180"/>
                </a:lnTo>
                <a:lnTo>
                  <a:pt x="296597" y="416207"/>
                </a:lnTo>
                <a:lnTo>
                  <a:pt x="293679" y="415235"/>
                </a:lnTo>
                <a:lnTo>
                  <a:pt x="291735" y="414262"/>
                </a:lnTo>
                <a:lnTo>
                  <a:pt x="290762" y="415235"/>
                </a:lnTo>
                <a:lnTo>
                  <a:pt x="290762" y="416207"/>
                </a:lnTo>
                <a:lnTo>
                  <a:pt x="281038" y="409400"/>
                </a:lnTo>
                <a:lnTo>
                  <a:pt x="276175" y="406483"/>
                </a:lnTo>
                <a:lnTo>
                  <a:pt x="271313" y="402592"/>
                </a:lnTo>
                <a:lnTo>
                  <a:pt x="270341" y="402593"/>
                </a:lnTo>
                <a:lnTo>
                  <a:pt x="269368" y="401620"/>
                </a:lnTo>
                <a:lnTo>
                  <a:pt x="254782" y="392868"/>
                </a:lnTo>
                <a:lnTo>
                  <a:pt x="247975" y="388006"/>
                </a:lnTo>
                <a:lnTo>
                  <a:pt x="244085" y="384117"/>
                </a:lnTo>
                <a:lnTo>
                  <a:pt x="244085" y="383144"/>
                </a:lnTo>
                <a:lnTo>
                  <a:pt x="244085" y="382172"/>
                </a:lnTo>
                <a:lnTo>
                  <a:pt x="242140" y="381199"/>
                </a:lnTo>
                <a:lnTo>
                  <a:pt x="241167" y="380227"/>
                </a:lnTo>
                <a:lnTo>
                  <a:pt x="240195" y="380226"/>
                </a:lnTo>
                <a:lnTo>
                  <a:pt x="240195" y="381199"/>
                </a:lnTo>
                <a:lnTo>
                  <a:pt x="241167" y="383144"/>
                </a:lnTo>
                <a:lnTo>
                  <a:pt x="232415" y="376337"/>
                </a:lnTo>
                <a:lnTo>
                  <a:pt x="225608" y="370502"/>
                </a:lnTo>
                <a:lnTo>
                  <a:pt x="225608" y="371474"/>
                </a:lnTo>
                <a:lnTo>
                  <a:pt x="223663" y="370502"/>
                </a:lnTo>
                <a:lnTo>
                  <a:pt x="223663" y="369530"/>
                </a:lnTo>
                <a:lnTo>
                  <a:pt x="222691" y="368557"/>
                </a:lnTo>
                <a:lnTo>
                  <a:pt x="217829" y="364668"/>
                </a:lnTo>
                <a:lnTo>
                  <a:pt x="216856" y="365640"/>
                </a:lnTo>
                <a:lnTo>
                  <a:pt x="215883" y="363695"/>
                </a:lnTo>
                <a:lnTo>
                  <a:pt x="213939" y="362722"/>
                </a:lnTo>
                <a:lnTo>
                  <a:pt x="212966" y="362723"/>
                </a:lnTo>
                <a:lnTo>
                  <a:pt x="211021" y="360777"/>
                </a:lnTo>
                <a:lnTo>
                  <a:pt x="211022" y="359805"/>
                </a:lnTo>
                <a:lnTo>
                  <a:pt x="205187" y="356888"/>
                </a:lnTo>
                <a:lnTo>
                  <a:pt x="199352" y="352025"/>
                </a:lnTo>
                <a:lnTo>
                  <a:pt x="198380" y="349108"/>
                </a:lnTo>
                <a:lnTo>
                  <a:pt x="195462" y="348136"/>
                </a:lnTo>
                <a:lnTo>
                  <a:pt x="195462" y="349108"/>
                </a:lnTo>
                <a:lnTo>
                  <a:pt x="189628" y="342301"/>
                </a:lnTo>
                <a:lnTo>
                  <a:pt x="186710" y="338411"/>
                </a:lnTo>
                <a:lnTo>
                  <a:pt x="177958" y="333549"/>
                </a:lnTo>
                <a:lnTo>
                  <a:pt x="169206" y="326742"/>
                </a:lnTo>
                <a:lnTo>
                  <a:pt x="151702" y="311183"/>
                </a:lnTo>
                <a:lnTo>
                  <a:pt x="152674" y="311182"/>
                </a:lnTo>
                <a:lnTo>
                  <a:pt x="150730" y="309238"/>
                </a:lnTo>
                <a:lnTo>
                  <a:pt x="149757" y="309238"/>
                </a:lnTo>
                <a:lnTo>
                  <a:pt x="148785" y="308265"/>
                </a:lnTo>
                <a:lnTo>
                  <a:pt x="148785" y="307293"/>
                </a:lnTo>
                <a:lnTo>
                  <a:pt x="148785" y="306320"/>
                </a:lnTo>
                <a:lnTo>
                  <a:pt x="150730" y="306320"/>
                </a:lnTo>
                <a:lnTo>
                  <a:pt x="147812" y="304375"/>
                </a:lnTo>
                <a:lnTo>
                  <a:pt x="145867" y="302431"/>
                </a:lnTo>
                <a:lnTo>
                  <a:pt x="141978" y="300486"/>
                </a:lnTo>
                <a:lnTo>
                  <a:pt x="141978" y="301458"/>
                </a:lnTo>
                <a:lnTo>
                  <a:pt x="140033" y="299513"/>
                </a:lnTo>
                <a:lnTo>
                  <a:pt x="138088" y="297569"/>
                </a:lnTo>
                <a:lnTo>
                  <a:pt x="136143" y="296596"/>
                </a:lnTo>
                <a:lnTo>
                  <a:pt x="136143" y="295623"/>
                </a:lnTo>
                <a:lnTo>
                  <a:pt x="137115" y="295624"/>
                </a:lnTo>
                <a:lnTo>
                  <a:pt x="138088" y="295624"/>
                </a:lnTo>
                <a:lnTo>
                  <a:pt x="135171" y="293679"/>
                </a:lnTo>
                <a:lnTo>
                  <a:pt x="135170" y="292706"/>
                </a:lnTo>
                <a:lnTo>
                  <a:pt x="136143" y="292706"/>
                </a:lnTo>
                <a:lnTo>
                  <a:pt x="139060" y="293679"/>
                </a:lnTo>
                <a:lnTo>
                  <a:pt x="141977" y="294651"/>
                </a:lnTo>
                <a:lnTo>
                  <a:pt x="141978" y="293679"/>
                </a:lnTo>
                <a:lnTo>
                  <a:pt x="140033" y="291734"/>
                </a:lnTo>
                <a:lnTo>
                  <a:pt x="140033" y="290761"/>
                </a:lnTo>
                <a:lnTo>
                  <a:pt x="141005" y="290761"/>
                </a:lnTo>
                <a:lnTo>
                  <a:pt x="141978" y="291734"/>
                </a:lnTo>
                <a:lnTo>
                  <a:pt x="143922" y="292707"/>
                </a:lnTo>
                <a:lnTo>
                  <a:pt x="141978" y="290761"/>
                </a:lnTo>
                <a:lnTo>
                  <a:pt x="138088" y="288817"/>
                </a:lnTo>
                <a:lnTo>
                  <a:pt x="137115" y="288816"/>
                </a:lnTo>
                <a:lnTo>
                  <a:pt x="137116" y="290761"/>
                </a:lnTo>
                <a:lnTo>
                  <a:pt x="134198" y="287844"/>
                </a:lnTo>
                <a:lnTo>
                  <a:pt x="132253" y="287844"/>
                </a:lnTo>
                <a:lnTo>
                  <a:pt x="131281" y="287358"/>
                </a:lnTo>
                <a:lnTo>
                  <a:pt x="130308" y="286872"/>
                </a:lnTo>
                <a:lnTo>
                  <a:pt x="127391" y="284927"/>
                </a:lnTo>
                <a:lnTo>
                  <a:pt x="127391" y="283954"/>
                </a:lnTo>
                <a:lnTo>
                  <a:pt x="128363" y="284926"/>
                </a:lnTo>
                <a:lnTo>
                  <a:pt x="129336" y="285899"/>
                </a:lnTo>
                <a:lnTo>
                  <a:pt x="131281" y="286871"/>
                </a:lnTo>
                <a:lnTo>
                  <a:pt x="130308" y="284927"/>
                </a:lnTo>
                <a:lnTo>
                  <a:pt x="128363" y="282981"/>
                </a:lnTo>
                <a:lnTo>
                  <a:pt x="124473" y="280065"/>
                </a:lnTo>
                <a:lnTo>
                  <a:pt x="125446" y="281037"/>
                </a:lnTo>
                <a:lnTo>
                  <a:pt x="124474" y="282009"/>
                </a:lnTo>
                <a:lnTo>
                  <a:pt x="121556" y="280064"/>
                </a:lnTo>
                <a:lnTo>
                  <a:pt x="121556" y="279092"/>
                </a:lnTo>
                <a:lnTo>
                  <a:pt x="122529" y="279092"/>
                </a:lnTo>
                <a:lnTo>
                  <a:pt x="120584" y="277147"/>
                </a:lnTo>
                <a:lnTo>
                  <a:pt x="117666" y="276175"/>
                </a:lnTo>
                <a:lnTo>
                  <a:pt x="118639" y="277147"/>
                </a:lnTo>
                <a:lnTo>
                  <a:pt x="116694" y="276174"/>
                </a:lnTo>
                <a:lnTo>
                  <a:pt x="114749" y="275202"/>
                </a:lnTo>
                <a:lnTo>
                  <a:pt x="113777" y="273257"/>
                </a:lnTo>
                <a:lnTo>
                  <a:pt x="111832" y="271312"/>
                </a:lnTo>
                <a:lnTo>
                  <a:pt x="112804" y="270340"/>
                </a:lnTo>
                <a:lnTo>
                  <a:pt x="114749" y="271312"/>
                </a:lnTo>
                <a:lnTo>
                  <a:pt x="115721" y="271312"/>
                </a:lnTo>
                <a:lnTo>
                  <a:pt x="114749" y="268395"/>
                </a:lnTo>
                <a:lnTo>
                  <a:pt x="113777" y="268395"/>
                </a:lnTo>
                <a:lnTo>
                  <a:pt x="110859" y="267423"/>
                </a:lnTo>
                <a:lnTo>
                  <a:pt x="109887" y="266450"/>
                </a:lnTo>
                <a:lnTo>
                  <a:pt x="108914" y="266451"/>
                </a:lnTo>
                <a:lnTo>
                  <a:pt x="108914" y="267423"/>
                </a:lnTo>
                <a:lnTo>
                  <a:pt x="108915" y="265478"/>
                </a:lnTo>
                <a:lnTo>
                  <a:pt x="109887" y="265478"/>
                </a:lnTo>
                <a:lnTo>
                  <a:pt x="107942" y="263533"/>
                </a:lnTo>
                <a:lnTo>
                  <a:pt x="105997" y="261588"/>
                </a:lnTo>
                <a:lnTo>
                  <a:pt x="104052" y="260616"/>
                </a:lnTo>
                <a:lnTo>
                  <a:pt x="104052" y="258671"/>
                </a:lnTo>
                <a:lnTo>
                  <a:pt x="102107" y="258670"/>
                </a:lnTo>
                <a:lnTo>
                  <a:pt x="101135" y="254781"/>
                </a:lnTo>
                <a:lnTo>
                  <a:pt x="96273" y="250891"/>
                </a:lnTo>
                <a:lnTo>
                  <a:pt x="95300" y="248946"/>
                </a:lnTo>
                <a:lnTo>
                  <a:pt x="94328" y="247974"/>
                </a:lnTo>
                <a:lnTo>
                  <a:pt x="95300" y="247001"/>
                </a:lnTo>
                <a:lnTo>
                  <a:pt x="92383" y="244084"/>
                </a:lnTo>
                <a:lnTo>
                  <a:pt x="91410" y="243111"/>
                </a:lnTo>
                <a:lnTo>
                  <a:pt x="90438" y="244084"/>
                </a:lnTo>
                <a:lnTo>
                  <a:pt x="92383" y="246029"/>
                </a:lnTo>
                <a:lnTo>
                  <a:pt x="93355" y="247974"/>
                </a:lnTo>
                <a:lnTo>
                  <a:pt x="92383" y="247001"/>
                </a:lnTo>
                <a:lnTo>
                  <a:pt x="88493" y="244084"/>
                </a:lnTo>
                <a:lnTo>
                  <a:pt x="89465" y="243111"/>
                </a:lnTo>
                <a:lnTo>
                  <a:pt x="87520" y="241167"/>
                </a:lnTo>
                <a:lnTo>
                  <a:pt x="85576" y="239221"/>
                </a:lnTo>
                <a:lnTo>
                  <a:pt x="85576" y="238249"/>
                </a:lnTo>
                <a:lnTo>
                  <a:pt x="83631" y="237277"/>
                </a:lnTo>
                <a:lnTo>
                  <a:pt x="82658" y="235332"/>
                </a:lnTo>
                <a:lnTo>
                  <a:pt x="82658" y="234360"/>
                </a:lnTo>
                <a:lnTo>
                  <a:pt x="82658" y="233387"/>
                </a:lnTo>
                <a:lnTo>
                  <a:pt x="80713" y="231442"/>
                </a:lnTo>
                <a:lnTo>
                  <a:pt x="84603" y="234359"/>
                </a:lnTo>
                <a:lnTo>
                  <a:pt x="82658" y="232415"/>
                </a:lnTo>
                <a:lnTo>
                  <a:pt x="81686" y="229497"/>
                </a:lnTo>
                <a:lnTo>
                  <a:pt x="76824" y="227552"/>
                </a:lnTo>
                <a:lnTo>
                  <a:pt x="75851" y="226580"/>
                </a:lnTo>
                <a:lnTo>
                  <a:pt x="74879" y="225607"/>
                </a:lnTo>
                <a:lnTo>
                  <a:pt x="74879" y="224635"/>
                </a:lnTo>
                <a:lnTo>
                  <a:pt x="73906" y="223663"/>
                </a:lnTo>
                <a:lnTo>
                  <a:pt x="76824" y="226580"/>
                </a:lnTo>
                <a:lnTo>
                  <a:pt x="76823" y="224635"/>
                </a:lnTo>
                <a:lnTo>
                  <a:pt x="73906" y="219773"/>
                </a:lnTo>
                <a:lnTo>
                  <a:pt x="70989" y="217828"/>
                </a:lnTo>
                <a:lnTo>
                  <a:pt x="70017" y="217827"/>
                </a:lnTo>
                <a:lnTo>
                  <a:pt x="69044" y="216855"/>
                </a:lnTo>
                <a:lnTo>
                  <a:pt x="69044" y="215882"/>
                </a:lnTo>
                <a:lnTo>
                  <a:pt x="70016" y="215883"/>
                </a:lnTo>
                <a:lnTo>
                  <a:pt x="69044" y="213938"/>
                </a:lnTo>
                <a:lnTo>
                  <a:pt x="68072" y="213938"/>
                </a:lnTo>
                <a:lnTo>
                  <a:pt x="68071" y="214911"/>
                </a:lnTo>
                <a:lnTo>
                  <a:pt x="67099" y="213938"/>
                </a:lnTo>
                <a:lnTo>
                  <a:pt x="63209" y="203241"/>
                </a:lnTo>
                <a:lnTo>
                  <a:pt x="67099" y="206158"/>
                </a:lnTo>
                <a:lnTo>
                  <a:pt x="65154" y="204214"/>
                </a:lnTo>
                <a:lnTo>
                  <a:pt x="67099" y="204213"/>
                </a:lnTo>
                <a:lnTo>
                  <a:pt x="67099" y="203241"/>
                </a:lnTo>
                <a:lnTo>
                  <a:pt x="67099" y="202269"/>
                </a:lnTo>
                <a:lnTo>
                  <a:pt x="68072" y="202269"/>
                </a:lnTo>
                <a:lnTo>
                  <a:pt x="66127" y="200324"/>
                </a:lnTo>
                <a:lnTo>
                  <a:pt x="64182" y="197406"/>
                </a:lnTo>
                <a:lnTo>
                  <a:pt x="64182" y="199351"/>
                </a:lnTo>
                <a:lnTo>
                  <a:pt x="63209" y="199351"/>
                </a:lnTo>
                <a:lnTo>
                  <a:pt x="61264" y="198379"/>
                </a:lnTo>
                <a:lnTo>
                  <a:pt x="58347" y="196434"/>
                </a:lnTo>
                <a:lnTo>
                  <a:pt x="57374" y="195461"/>
                </a:lnTo>
                <a:lnTo>
                  <a:pt x="56402" y="196434"/>
                </a:lnTo>
                <a:lnTo>
                  <a:pt x="54457" y="192544"/>
                </a:lnTo>
                <a:lnTo>
                  <a:pt x="54457" y="189627"/>
                </a:lnTo>
                <a:lnTo>
                  <a:pt x="54457" y="187682"/>
                </a:lnTo>
                <a:lnTo>
                  <a:pt x="51540" y="183792"/>
                </a:lnTo>
                <a:lnTo>
                  <a:pt x="51540" y="181847"/>
                </a:lnTo>
                <a:lnTo>
                  <a:pt x="51540" y="180875"/>
                </a:lnTo>
                <a:lnTo>
                  <a:pt x="50567" y="177958"/>
                </a:lnTo>
                <a:lnTo>
                  <a:pt x="48623" y="174067"/>
                </a:lnTo>
                <a:lnTo>
                  <a:pt x="46678" y="173095"/>
                </a:lnTo>
                <a:lnTo>
                  <a:pt x="46678" y="174068"/>
                </a:lnTo>
                <a:lnTo>
                  <a:pt x="46678" y="175040"/>
                </a:lnTo>
                <a:lnTo>
                  <a:pt x="47650" y="176013"/>
                </a:lnTo>
                <a:lnTo>
                  <a:pt x="46678" y="176012"/>
                </a:lnTo>
                <a:lnTo>
                  <a:pt x="43760" y="170178"/>
                </a:lnTo>
                <a:lnTo>
                  <a:pt x="42788" y="169206"/>
                </a:lnTo>
                <a:lnTo>
                  <a:pt x="41815" y="167261"/>
                </a:lnTo>
                <a:lnTo>
                  <a:pt x="42788" y="171150"/>
                </a:lnTo>
                <a:lnTo>
                  <a:pt x="41815" y="173095"/>
                </a:lnTo>
                <a:lnTo>
                  <a:pt x="39870" y="169205"/>
                </a:lnTo>
                <a:lnTo>
                  <a:pt x="40843" y="169205"/>
                </a:lnTo>
                <a:lnTo>
                  <a:pt x="38898" y="166288"/>
                </a:lnTo>
                <a:lnTo>
                  <a:pt x="37926" y="165315"/>
                </a:lnTo>
                <a:lnTo>
                  <a:pt x="36953" y="164343"/>
                </a:lnTo>
                <a:lnTo>
                  <a:pt x="35008" y="161426"/>
                </a:lnTo>
                <a:lnTo>
                  <a:pt x="35008" y="158508"/>
                </a:lnTo>
                <a:lnTo>
                  <a:pt x="36953" y="160453"/>
                </a:lnTo>
                <a:lnTo>
                  <a:pt x="37926" y="163371"/>
                </a:lnTo>
                <a:lnTo>
                  <a:pt x="39871" y="165316"/>
                </a:lnTo>
                <a:lnTo>
                  <a:pt x="40843" y="165316"/>
                </a:lnTo>
                <a:lnTo>
                  <a:pt x="37926" y="160453"/>
                </a:lnTo>
                <a:lnTo>
                  <a:pt x="36953" y="159157"/>
                </a:lnTo>
                <a:lnTo>
                  <a:pt x="36953" y="155591"/>
                </a:lnTo>
                <a:lnTo>
                  <a:pt x="35981" y="153647"/>
                </a:lnTo>
                <a:lnTo>
                  <a:pt x="35008" y="151701"/>
                </a:lnTo>
                <a:lnTo>
                  <a:pt x="36953" y="153646"/>
                </a:lnTo>
                <a:lnTo>
                  <a:pt x="35981" y="149756"/>
                </a:lnTo>
                <a:lnTo>
                  <a:pt x="35981" y="147811"/>
                </a:lnTo>
                <a:lnTo>
                  <a:pt x="36953" y="145867"/>
                </a:lnTo>
                <a:lnTo>
                  <a:pt x="35008" y="142949"/>
                </a:lnTo>
                <a:lnTo>
                  <a:pt x="34036" y="142949"/>
                </a:lnTo>
                <a:lnTo>
                  <a:pt x="34036" y="143921"/>
                </a:lnTo>
                <a:lnTo>
                  <a:pt x="33063" y="144894"/>
                </a:lnTo>
                <a:lnTo>
                  <a:pt x="29174" y="136142"/>
                </a:lnTo>
                <a:lnTo>
                  <a:pt x="25284" y="130307"/>
                </a:lnTo>
                <a:lnTo>
                  <a:pt x="25284" y="129335"/>
                </a:lnTo>
                <a:lnTo>
                  <a:pt x="26256" y="128362"/>
                </a:lnTo>
                <a:lnTo>
                  <a:pt x="28201" y="130307"/>
                </a:lnTo>
                <a:lnTo>
                  <a:pt x="23339" y="119611"/>
                </a:lnTo>
                <a:lnTo>
                  <a:pt x="19449" y="108913"/>
                </a:lnTo>
                <a:lnTo>
                  <a:pt x="19449" y="109886"/>
                </a:lnTo>
                <a:lnTo>
                  <a:pt x="18477" y="109886"/>
                </a:lnTo>
                <a:lnTo>
                  <a:pt x="17504" y="106969"/>
                </a:lnTo>
                <a:lnTo>
                  <a:pt x="16532" y="104052"/>
                </a:lnTo>
                <a:lnTo>
                  <a:pt x="16532" y="103079"/>
                </a:lnTo>
                <a:lnTo>
                  <a:pt x="17504" y="103079"/>
                </a:lnTo>
                <a:lnTo>
                  <a:pt x="16532" y="101134"/>
                </a:lnTo>
                <a:lnTo>
                  <a:pt x="17504" y="100161"/>
                </a:lnTo>
                <a:lnTo>
                  <a:pt x="17504" y="98217"/>
                </a:lnTo>
                <a:lnTo>
                  <a:pt x="13614" y="90438"/>
                </a:lnTo>
                <a:lnTo>
                  <a:pt x="10697" y="82658"/>
                </a:lnTo>
                <a:lnTo>
                  <a:pt x="9725" y="75850"/>
                </a:lnTo>
                <a:lnTo>
                  <a:pt x="7780" y="70016"/>
                </a:lnTo>
                <a:lnTo>
                  <a:pt x="4862" y="58346"/>
                </a:lnTo>
                <a:lnTo>
                  <a:pt x="4862" y="56402"/>
                </a:lnTo>
                <a:lnTo>
                  <a:pt x="5835" y="55429"/>
                </a:lnTo>
                <a:lnTo>
                  <a:pt x="6807" y="55429"/>
                </a:lnTo>
                <a:lnTo>
                  <a:pt x="6807" y="53484"/>
                </a:lnTo>
                <a:lnTo>
                  <a:pt x="5835" y="51539"/>
                </a:lnTo>
                <a:lnTo>
                  <a:pt x="5835" y="52511"/>
                </a:lnTo>
                <a:lnTo>
                  <a:pt x="4862" y="52512"/>
                </a:lnTo>
                <a:lnTo>
                  <a:pt x="4863" y="50566"/>
                </a:lnTo>
                <a:lnTo>
                  <a:pt x="4862" y="44732"/>
                </a:lnTo>
                <a:lnTo>
                  <a:pt x="3890" y="39870"/>
                </a:lnTo>
                <a:lnTo>
                  <a:pt x="2918" y="35980"/>
                </a:lnTo>
                <a:lnTo>
                  <a:pt x="3890" y="35980"/>
                </a:lnTo>
                <a:lnTo>
                  <a:pt x="4862" y="36952"/>
                </a:lnTo>
                <a:lnTo>
                  <a:pt x="4863" y="34035"/>
                </a:lnTo>
                <a:lnTo>
                  <a:pt x="3890" y="31118"/>
                </a:lnTo>
                <a:lnTo>
                  <a:pt x="2918" y="24311"/>
                </a:lnTo>
                <a:lnTo>
                  <a:pt x="1945" y="27228"/>
                </a:lnTo>
                <a:lnTo>
                  <a:pt x="973" y="22365"/>
                </a:lnTo>
                <a:lnTo>
                  <a:pt x="972" y="17504"/>
                </a:lnTo>
                <a:lnTo>
                  <a:pt x="0" y="8751"/>
                </a:lnTo>
                <a:lnTo>
                  <a:pt x="972" y="8751"/>
                </a:lnTo>
                <a:lnTo>
                  <a:pt x="973" y="4861"/>
                </a:lnTo>
                <a:close/>
                <a:moveTo>
                  <a:pt x="972" y="0"/>
                </a:moveTo>
                <a:lnTo>
                  <a:pt x="1945" y="2917"/>
                </a:lnTo>
                <a:lnTo>
                  <a:pt x="1884" y="3039"/>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p:cNvSpPr>
            <a:spLocks/>
          </p:cNvSpPr>
          <p:nvPr/>
        </p:nvSpPr>
        <p:spPr bwMode="auto">
          <a:xfrm rot="9377604">
            <a:off x="3925861" y="3316840"/>
            <a:ext cx="1288495" cy="722529"/>
          </a:xfrm>
          <a:custGeom>
            <a:avLst/>
            <a:gdLst/>
            <a:ahLst/>
            <a:cxnLst/>
            <a:rect l="l" t="t" r="r" b="b"/>
            <a:pathLst>
              <a:path w="1288494" h="722529">
                <a:moveTo>
                  <a:pt x="1884" y="3038"/>
                </a:moveTo>
                <a:lnTo>
                  <a:pt x="972" y="0"/>
                </a:lnTo>
                <a:lnTo>
                  <a:pt x="1944" y="2917"/>
                </a:lnTo>
                <a:close/>
                <a:moveTo>
                  <a:pt x="4861" y="18476"/>
                </a:moveTo>
                <a:lnTo>
                  <a:pt x="4667" y="18087"/>
                </a:lnTo>
                <a:lnTo>
                  <a:pt x="3889" y="14587"/>
                </a:lnTo>
                <a:lnTo>
                  <a:pt x="4861" y="15559"/>
                </a:lnTo>
                <a:close/>
                <a:moveTo>
                  <a:pt x="5834" y="23339"/>
                </a:moveTo>
                <a:lnTo>
                  <a:pt x="5658" y="22543"/>
                </a:lnTo>
                <a:lnTo>
                  <a:pt x="5834" y="22366"/>
                </a:lnTo>
                <a:close/>
                <a:moveTo>
                  <a:pt x="15559" y="110859"/>
                </a:moveTo>
                <a:lnTo>
                  <a:pt x="14586" y="108914"/>
                </a:lnTo>
                <a:lnTo>
                  <a:pt x="15559" y="108914"/>
                </a:lnTo>
                <a:lnTo>
                  <a:pt x="15558" y="106969"/>
                </a:lnTo>
                <a:lnTo>
                  <a:pt x="14586" y="105024"/>
                </a:lnTo>
                <a:lnTo>
                  <a:pt x="14586" y="103079"/>
                </a:lnTo>
                <a:lnTo>
                  <a:pt x="13614" y="101134"/>
                </a:lnTo>
                <a:lnTo>
                  <a:pt x="15558" y="104052"/>
                </a:lnTo>
                <a:lnTo>
                  <a:pt x="16531" y="104052"/>
                </a:lnTo>
                <a:lnTo>
                  <a:pt x="15558" y="105024"/>
                </a:lnTo>
                <a:lnTo>
                  <a:pt x="16531" y="109887"/>
                </a:lnTo>
                <a:lnTo>
                  <a:pt x="16531" y="110859"/>
                </a:lnTo>
                <a:close/>
                <a:moveTo>
                  <a:pt x="35007" y="151701"/>
                </a:moveTo>
                <a:lnTo>
                  <a:pt x="34035" y="149757"/>
                </a:lnTo>
                <a:lnTo>
                  <a:pt x="33063" y="148784"/>
                </a:lnTo>
                <a:lnTo>
                  <a:pt x="32090" y="149757"/>
                </a:lnTo>
                <a:lnTo>
                  <a:pt x="25283" y="137115"/>
                </a:lnTo>
                <a:lnTo>
                  <a:pt x="26256" y="137115"/>
                </a:lnTo>
                <a:lnTo>
                  <a:pt x="25283" y="136142"/>
                </a:lnTo>
                <a:lnTo>
                  <a:pt x="25283" y="133225"/>
                </a:lnTo>
                <a:lnTo>
                  <a:pt x="28201" y="141005"/>
                </a:lnTo>
                <a:lnTo>
                  <a:pt x="30146" y="144895"/>
                </a:lnTo>
                <a:lnTo>
                  <a:pt x="33063" y="147812"/>
                </a:lnTo>
                <a:lnTo>
                  <a:pt x="33063" y="146839"/>
                </a:lnTo>
                <a:lnTo>
                  <a:pt x="34035" y="148785"/>
                </a:lnTo>
                <a:close/>
                <a:moveTo>
                  <a:pt x="35007" y="151702"/>
                </a:moveTo>
                <a:lnTo>
                  <a:pt x="35007" y="151702"/>
                </a:lnTo>
                <a:lnTo>
                  <a:pt x="35007" y="151701"/>
                </a:lnTo>
                <a:close/>
                <a:moveTo>
                  <a:pt x="36953" y="159481"/>
                </a:moveTo>
                <a:lnTo>
                  <a:pt x="35007" y="156564"/>
                </a:lnTo>
                <a:lnTo>
                  <a:pt x="36953" y="159158"/>
                </a:lnTo>
                <a:close/>
                <a:moveTo>
                  <a:pt x="49595" y="184765"/>
                </a:moveTo>
                <a:lnTo>
                  <a:pt x="48622" y="183793"/>
                </a:lnTo>
                <a:lnTo>
                  <a:pt x="46677" y="182820"/>
                </a:lnTo>
                <a:lnTo>
                  <a:pt x="45705" y="179903"/>
                </a:lnTo>
                <a:lnTo>
                  <a:pt x="46677" y="179903"/>
                </a:lnTo>
                <a:lnTo>
                  <a:pt x="46677" y="178930"/>
                </a:lnTo>
                <a:lnTo>
                  <a:pt x="47649" y="177958"/>
                </a:lnTo>
                <a:lnTo>
                  <a:pt x="49594" y="178930"/>
                </a:lnTo>
                <a:lnTo>
                  <a:pt x="49595" y="180875"/>
                </a:lnTo>
                <a:lnTo>
                  <a:pt x="51539" y="183792"/>
                </a:lnTo>
                <a:lnTo>
                  <a:pt x="50567" y="184765"/>
                </a:lnTo>
                <a:close/>
                <a:moveTo>
                  <a:pt x="70988" y="218801"/>
                </a:moveTo>
                <a:lnTo>
                  <a:pt x="70016" y="217828"/>
                </a:lnTo>
                <a:lnTo>
                  <a:pt x="70016" y="217828"/>
                </a:lnTo>
                <a:close/>
                <a:moveTo>
                  <a:pt x="978282" y="620422"/>
                </a:moveTo>
                <a:lnTo>
                  <a:pt x="979254" y="620422"/>
                </a:lnTo>
                <a:lnTo>
                  <a:pt x="979164" y="620513"/>
                </a:lnTo>
                <a:close/>
                <a:moveTo>
                  <a:pt x="94327" y="249919"/>
                </a:moveTo>
                <a:lnTo>
                  <a:pt x="93354" y="247974"/>
                </a:lnTo>
                <a:lnTo>
                  <a:pt x="94327" y="248946"/>
                </a:lnTo>
                <a:close/>
                <a:moveTo>
                  <a:pt x="1137764" y="721557"/>
                </a:moveTo>
                <a:lnTo>
                  <a:pt x="1129985" y="714750"/>
                </a:lnTo>
                <a:lnTo>
                  <a:pt x="1137764" y="708915"/>
                </a:lnTo>
                <a:lnTo>
                  <a:pt x="1146516" y="703081"/>
                </a:lnTo>
                <a:lnTo>
                  <a:pt x="1156241" y="696273"/>
                </a:lnTo>
                <a:lnTo>
                  <a:pt x="1168883" y="690439"/>
                </a:lnTo>
                <a:lnTo>
                  <a:pt x="1209725" y="669045"/>
                </a:lnTo>
                <a:lnTo>
                  <a:pt x="1220422" y="662238"/>
                </a:lnTo>
                <a:lnTo>
                  <a:pt x="1229175" y="655431"/>
                </a:lnTo>
                <a:lnTo>
                  <a:pt x="1237927" y="647651"/>
                </a:lnTo>
                <a:lnTo>
                  <a:pt x="1243761" y="639872"/>
                </a:lnTo>
                <a:lnTo>
                  <a:pt x="1243761" y="639871"/>
                </a:lnTo>
                <a:lnTo>
                  <a:pt x="1245706" y="638899"/>
                </a:lnTo>
                <a:lnTo>
                  <a:pt x="1243275" y="638899"/>
                </a:lnTo>
                <a:lnTo>
                  <a:pt x="1242789" y="637927"/>
                </a:lnTo>
                <a:lnTo>
                  <a:pt x="1240844" y="635982"/>
                </a:lnTo>
                <a:lnTo>
                  <a:pt x="1237926" y="634037"/>
                </a:lnTo>
                <a:lnTo>
                  <a:pt x="1226257" y="630147"/>
                </a:lnTo>
                <a:lnTo>
                  <a:pt x="1207781" y="625285"/>
                </a:lnTo>
                <a:lnTo>
                  <a:pt x="1182497" y="620423"/>
                </a:lnTo>
                <a:lnTo>
                  <a:pt x="1113453" y="607781"/>
                </a:lnTo>
                <a:lnTo>
                  <a:pt x="1074555" y="600001"/>
                </a:lnTo>
                <a:lnTo>
                  <a:pt x="1060941" y="596111"/>
                </a:lnTo>
                <a:lnTo>
                  <a:pt x="1048299" y="592222"/>
                </a:lnTo>
                <a:lnTo>
                  <a:pt x="1036630" y="587359"/>
                </a:lnTo>
                <a:lnTo>
                  <a:pt x="1027878" y="583470"/>
                </a:lnTo>
                <a:lnTo>
                  <a:pt x="1020098" y="579580"/>
                </a:lnTo>
                <a:lnTo>
                  <a:pt x="1014263" y="574718"/>
                </a:lnTo>
                <a:lnTo>
                  <a:pt x="1009401" y="569855"/>
                </a:lnTo>
                <a:lnTo>
                  <a:pt x="1006484" y="564993"/>
                </a:lnTo>
                <a:lnTo>
                  <a:pt x="1002594" y="554296"/>
                </a:lnTo>
                <a:lnTo>
                  <a:pt x="1030795" y="566938"/>
                </a:lnTo>
                <a:lnTo>
                  <a:pt x="1058996" y="577635"/>
                </a:lnTo>
                <a:lnTo>
                  <a:pt x="1087197" y="587360"/>
                </a:lnTo>
                <a:lnTo>
                  <a:pt x="1116370" y="596112"/>
                </a:lnTo>
                <a:lnTo>
                  <a:pt x="1145544" y="602918"/>
                </a:lnTo>
                <a:lnTo>
                  <a:pt x="1174717" y="609726"/>
                </a:lnTo>
                <a:lnTo>
                  <a:pt x="1204863" y="614588"/>
                </a:lnTo>
                <a:lnTo>
                  <a:pt x="1234037" y="618478"/>
                </a:lnTo>
                <a:lnTo>
                  <a:pt x="1248623" y="618478"/>
                </a:lnTo>
                <a:lnTo>
                  <a:pt x="1260293" y="619450"/>
                </a:lnTo>
                <a:lnTo>
                  <a:pt x="1270017" y="620422"/>
                </a:lnTo>
                <a:lnTo>
                  <a:pt x="1277797" y="622368"/>
                </a:lnTo>
                <a:lnTo>
                  <a:pt x="1283632" y="625285"/>
                </a:lnTo>
                <a:lnTo>
                  <a:pt x="1285577" y="628202"/>
                </a:lnTo>
                <a:lnTo>
                  <a:pt x="1287521" y="630147"/>
                </a:lnTo>
                <a:lnTo>
                  <a:pt x="1288494" y="634037"/>
                </a:lnTo>
                <a:lnTo>
                  <a:pt x="1287522" y="637927"/>
                </a:lnTo>
                <a:lnTo>
                  <a:pt x="1285577" y="642789"/>
                </a:lnTo>
                <a:lnTo>
                  <a:pt x="1282659" y="646679"/>
                </a:lnTo>
                <a:lnTo>
                  <a:pt x="1277797" y="650569"/>
                </a:lnTo>
                <a:lnTo>
                  <a:pt x="1271962" y="654458"/>
                </a:lnTo>
                <a:lnTo>
                  <a:pt x="1264183" y="658348"/>
                </a:lnTo>
                <a:lnTo>
                  <a:pt x="1255431" y="662238"/>
                </a:lnTo>
                <a:lnTo>
                  <a:pt x="1235982" y="670017"/>
                </a:lnTo>
                <a:lnTo>
                  <a:pt x="1215560" y="676825"/>
                </a:lnTo>
                <a:lnTo>
                  <a:pt x="1207781" y="680714"/>
                </a:lnTo>
                <a:lnTo>
                  <a:pt x="1199029" y="685576"/>
                </a:lnTo>
                <a:lnTo>
                  <a:pt x="1179580" y="698218"/>
                </a:lnTo>
                <a:lnTo>
                  <a:pt x="1146516" y="722529"/>
                </a:lnTo>
                <a:lnTo>
                  <a:pt x="1140682" y="722529"/>
                </a:lnTo>
                <a:close/>
                <a:moveTo>
                  <a:pt x="909238" y="622367"/>
                </a:moveTo>
                <a:lnTo>
                  <a:pt x="909238" y="622367"/>
                </a:lnTo>
                <a:lnTo>
                  <a:pt x="909463" y="622367"/>
                </a:lnTo>
                <a:close/>
                <a:moveTo>
                  <a:pt x="908266" y="623340"/>
                </a:moveTo>
                <a:lnTo>
                  <a:pt x="908266" y="622367"/>
                </a:lnTo>
                <a:lnTo>
                  <a:pt x="909238" y="622367"/>
                </a:lnTo>
                <a:close/>
                <a:moveTo>
                  <a:pt x="141977" y="301459"/>
                </a:moveTo>
                <a:lnTo>
                  <a:pt x="141977" y="301459"/>
                </a:lnTo>
                <a:lnTo>
                  <a:pt x="141977" y="301459"/>
                </a:lnTo>
                <a:close/>
                <a:moveTo>
                  <a:pt x="142949" y="302431"/>
                </a:moveTo>
                <a:lnTo>
                  <a:pt x="141977" y="301459"/>
                </a:lnTo>
                <a:lnTo>
                  <a:pt x="142949" y="301459"/>
                </a:lnTo>
                <a:close/>
                <a:moveTo>
                  <a:pt x="244084" y="368557"/>
                </a:moveTo>
                <a:lnTo>
                  <a:pt x="241795" y="366956"/>
                </a:lnTo>
                <a:lnTo>
                  <a:pt x="242139" y="366613"/>
                </a:lnTo>
                <a:close/>
                <a:moveTo>
                  <a:pt x="641815" y="565965"/>
                </a:moveTo>
                <a:lnTo>
                  <a:pt x="641815" y="565965"/>
                </a:lnTo>
                <a:lnTo>
                  <a:pt x="644732" y="565965"/>
                </a:lnTo>
                <a:lnTo>
                  <a:pt x="642787" y="565965"/>
                </a:lnTo>
                <a:close/>
                <a:moveTo>
                  <a:pt x="458992" y="489140"/>
                </a:moveTo>
                <a:lnTo>
                  <a:pt x="457050" y="488169"/>
                </a:lnTo>
                <a:lnTo>
                  <a:pt x="458995" y="489141"/>
                </a:lnTo>
                <a:close/>
                <a:moveTo>
                  <a:pt x="333549" y="441491"/>
                </a:moveTo>
                <a:lnTo>
                  <a:pt x="331604" y="439546"/>
                </a:lnTo>
                <a:lnTo>
                  <a:pt x="334521" y="440519"/>
                </a:lnTo>
                <a:lnTo>
                  <a:pt x="334521" y="441491"/>
                </a:lnTo>
                <a:close/>
                <a:moveTo>
                  <a:pt x="339384" y="444409"/>
                </a:moveTo>
                <a:lnTo>
                  <a:pt x="337439" y="442464"/>
                </a:lnTo>
                <a:lnTo>
                  <a:pt x="338411" y="443436"/>
                </a:lnTo>
                <a:lnTo>
                  <a:pt x="340356" y="444408"/>
                </a:lnTo>
                <a:close/>
                <a:moveTo>
                  <a:pt x="448298" y="498866"/>
                </a:moveTo>
                <a:lnTo>
                  <a:pt x="445381" y="495948"/>
                </a:lnTo>
                <a:lnTo>
                  <a:pt x="448298" y="496921"/>
                </a:lnTo>
                <a:lnTo>
                  <a:pt x="449271" y="496921"/>
                </a:lnTo>
                <a:lnTo>
                  <a:pt x="448298" y="495948"/>
                </a:lnTo>
                <a:lnTo>
                  <a:pt x="445381" y="494003"/>
                </a:lnTo>
                <a:lnTo>
                  <a:pt x="442463" y="493031"/>
                </a:lnTo>
                <a:lnTo>
                  <a:pt x="439546" y="492059"/>
                </a:lnTo>
                <a:lnTo>
                  <a:pt x="435656" y="491086"/>
                </a:lnTo>
                <a:lnTo>
                  <a:pt x="436629" y="493031"/>
                </a:lnTo>
                <a:lnTo>
                  <a:pt x="433711" y="491086"/>
                </a:lnTo>
                <a:lnTo>
                  <a:pt x="431766" y="490113"/>
                </a:lnTo>
                <a:lnTo>
                  <a:pt x="428849" y="490114"/>
                </a:lnTo>
                <a:lnTo>
                  <a:pt x="428849" y="489141"/>
                </a:lnTo>
                <a:lnTo>
                  <a:pt x="424959" y="487196"/>
                </a:lnTo>
                <a:lnTo>
                  <a:pt x="423014" y="486224"/>
                </a:lnTo>
                <a:lnTo>
                  <a:pt x="422042" y="487196"/>
                </a:lnTo>
                <a:lnTo>
                  <a:pt x="415235" y="483306"/>
                </a:lnTo>
                <a:lnTo>
                  <a:pt x="407455" y="479417"/>
                </a:lnTo>
                <a:lnTo>
                  <a:pt x="400648" y="475527"/>
                </a:lnTo>
                <a:lnTo>
                  <a:pt x="397730" y="473582"/>
                </a:lnTo>
                <a:lnTo>
                  <a:pt x="395786" y="471637"/>
                </a:lnTo>
                <a:lnTo>
                  <a:pt x="392869" y="470665"/>
                </a:lnTo>
                <a:lnTo>
                  <a:pt x="391896" y="470664"/>
                </a:lnTo>
                <a:lnTo>
                  <a:pt x="392868" y="471637"/>
                </a:lnTo>
                <a:lnTo>
                  <a:pt x="393841" y="471637"/>
                </a:lnTo>
                <a:lnTo>
                  <a:pt x="395786" y="472610"/>
                </a:lnTo>
                <a:lnTo>
                  <a:pt x="393841" y="472610"/>
                </a:lnTo>
                <a:lnTo>
                  <a:pt x="390924" y="470665"/>
                </a:lnTo>
                <a:lnTo>
                  <a:pt x="390924" y="469692"/>
                </a:lnTo>
                <a:lnTo>
                  <a:pt x="391896" y="469692"/>
                </a:lnTo>
                <a:lnTo>
                  <a:pt x="388006" y="467747"/>
                </a:lnTo>
                <a:lnTo>
                  <a:pt x="385089" y="466775"/>
                </a:lnTo>
                <a:lnTo>
                  <a:pt x="381199" y="466775"/>
                </a:lnTo>
                <a:lnTo>
                  <a:pt x="377309" y="463857"/>
                </a:lnTo>
                <a:lnTo>
                  <a:pt x="374392" y="461913"/>
                </a:lnTo>
                <a:lnTo>
                  <a:pt x="369530" y="460940"/>
                </a:lnTo>
                <a:lnTo>
                  <a:pt x="367585" y="458995"/>
                </a:lnTo>
                <a:lnTo>
                  <a:pt x="366613" y="458995"/>
                </a:lnTo>
                <a:lnTo>
                  <a:pt x="367585" y="457050"/>
                </a:lnTo>
                <a:lnTo>
                  <a:pt x="363695" y="455105"/>
                </a:lnTo>
                <a:lnTo>
                  <a:pt x="360777" y="454133"/>
                </a:lnTo>
                <a:lnTo>
                  <a:pt x="357860" y="451216"/>
                </a:lnTo>
                <a:lnTo>
                  <a:pt x="357860" y="452188"/>
                </a:lnTo>
                <a:lnTo>
                  <a:pt x="356887" y="451216"/>
                </a:lnTo>
                <a:lnTo>
                  <a:pt x="353970" y="450243"/>
                </a:lnTo>
                <a:lnTo>
                  <a:pt x="354943" y="450243"/>
                </a:lnTo>
                <a:lnTo>
                  <a:pt x="352998" y="449271"/>
                </a:lnTo>
                <a:lnTo>
                  <a:pt x="350081" y="447326"/>
                </a:lnTo>
                <a:lnTo>
                  <a:pt x="352026" y="449271"/>
                </a:lnTo>
                <a:lnTo>
                  <a:pt x="354943" y="451216"/>
                </a:lnTo>
                <a:lnTo>
                  <a:pt x="349108" y="449271"/>
                </a:lnTo>
                <a:lnTo>
                  <a:pt x="347164" y="447326"/>
                </a:lnTo>
                <a:lnTo>
                  <a:pt x="343274" y="445381"/>
                </a:lnTo>
                <a:lnTo>
                  <a:pt x="340356" y="444408"/>
                </a:lnTo>
                <a:lnTo>
                  <a:pt x="339384" y="442464"/>
                </a:lnTo>
                <a:lnTo>
                  <a:pt x="336467" y="440519"/>
                </a:lnTo>
                <a:lnTo>
                  <a:pt x="334521" y="440519"/>
                </a:lnTo>
                <a:lnTo>
                  <a:pt x="330632" y="437601"/>
                </a:lnTo>
                <a:lnTo>
                  <a:pt x="329659" y="437601"/>
                </a:lnTo>
                <a:lnTo>
                  <a:pt x="327715" y="436629"/>
                </a:lnTo>
                <a:lnTo>
                  <a:pt x="324797" y="435657"/>
                </a:lnTo>
                <a:lnTo>
                  <a:pt x="322852" y="434684"/>
                </a:lnTo>
                <a:lnTo>
                  <a:pt x="320907" y="434684"/>
                </a:lnTo>
                <a:lnTo>
                  <a:pt x="314100" y="429822"/>
                </a:lnTo>
                <a:lnTo>
                  <a:pt x="315072" y="429822"/>
                </a:lnTo>
                <a:lnTo>
                  <a:pt x="311183" y="426904"/>
                </a:lnTo>
                <a:lnTo>
                  <a:pt x="306320" y="424960"/>
                </a:lnTo>
                <a:lnTo>
                  <a:pt x="307293" y="424960"/>
                </a:lnTo>
                <a:lnTo>
                  <a:pt x="303403" y="423015"/>
                </a:lnTo>
                <a:lnTo>
                  <a:pt x="300486" y="421070"/>
                </a:lnTo>
                <a:lnTo>
                  <a:pt x="298541" y="420097"/>
                </a:lnTo>
                <a:lnTo>
                  <a:pt x="298541" y="418152"/>
                </a:lnTo>
                <a:lnTo>
                  <a:pt x="298541" y="417180"/>
                </a:lnTo>
                <a:lnTo>
                  <a:pt x="296596" y="416208"/>
                </a:lnTo>
                <a:lnTo>
                  <a:pt x="293678" y="415235"/>
                </a:lnTo>
                <a:lnTo>
                  <a:pt x="291734" y="414263"/>
                </a:lnTo>
                <a:lnTo>
                  <a:pt x="290761" y="415235"/>
                </a:lnTo>
                <a:lnTo>
                  <a:pt x="290761" y="416208"/>
                </a:lnTo>
                <a:lnTo>
                  <a:pt x="281037" y="409401"/>
                </a:lnTo>
                <a:lnTo>
                  <a:pt x="276175" y="406483"/>
                </a:lnTo>
                <a:lnTo>
                  <a:pt x="271312" y="402593"/>
                </a:lnTo>
                <a:lnTo>
                  <a:pt x="270340" y="402593"/>
                </a:lnTo>
                <a:lnTo>
                  <a:pt x="269368" y="401621"/>
                </a:lnTo>
                <a:lnTo>
                  <a:pt x="254781" y="392869"/>
                </a:lnTo>
                <a:lnTo>
                  <a:pt x="247973" y="388007"/>
                </a:lnTo>
                <a:lnTo>
                  <a:pt x="243112" y="383144"/>
                </a:lnTo>
                <a:lnTo>
                  <a:pt x="244084" y="384117"/>
                </a:lnTo>
                <a:lnTo>
                  <a:pt x="244083" y="383144"/>
                </a:lnTo>
                <a:lnTo>
                  <a:pt x="244083" y="382172"/>
                </a:lnTo>
                <a:lnTo>
                  <a:pt x="242139" y="381200"/>
                </a:lnTo>
                <a:lnTo>
                  <a:pt x="241166" y="380227"/>
                </a:lnTo>
                <a:lnTo>
                  <a:pt x="240194" y="380227"/>
                </a:lnTo>
                <a:lnTo>
                  <a:pt x="240194" y="381199"/>
                </a:lnTo>
                <a:lnTo>
                  <a:pt x="241166" y="383144"/>
                </a:lnTo>
                <a:lnTo>
                  <a:pt x="232414" y="376337"/>
                </a:lnTo>
                <a:lnTo>
                  <a:pt x="225607" y="370502"/>
                </a:lnTo>
                <a:lnTo>
                  <a:pt x="225607" y="371475"/>
                </a:lnTo>
                <a:lnTo>
                  <a:pt x="223663" y="370503"/>
                </a:lnTo>
                <a:lnTo>
                  <a:pt x="223663" y="369530"/>
                </a:lnTo>
                <a:lnTo>
                  <a:pt x="222690" y="368558"/>
                </a:lnTo>
                <a:lnTo>
                  <a:pt x="217827" y="364668"/>
                </a:lnTo>
                <a:lnTo>
                  <a:pt x="216856" y="365640"/>
                </a:lnTo>
                <a:lnTo>
                  <a:pt x="215883" y="363696"/>
                </a:lnTo>
                <a:lnTo>
                  <a:pt x="213938" y="362723"/>
                </a:lnTo>
                <a:lnTo>
                  <a:pt x="212965" y="362723"/>
                </a:lnTo>
                <a:lnTo>
                  <a:pt x="211021" y="360778"/>
                </a:lnTo>
                <a:lnTo>
                  <a:pt x="211021" y="359806"/>
                </a:lnTo>
                <a:lnTo>
                  <a:pt x="205186" y="356888"/>
                </a:lnTo>
                <a:lnTo>
                  <a:pt x="199351" y="352026"/>
                </a:lnTo>
                <a:lnTo>
                  <a:pt x="198379" y="349109"/>
                </a:lnTo>
                <a:lnTo>
                  <a:pt x="195461" y="348136"/>
                </a:lnTo>
                <a:lnTo>
                  <a:pt x="195461" y="349109"/>
                </a:lnTo>
                <a:lnTo>
                  <a:pt x="189627" y="342302"/>
                </a:lnTo>
                <a:lnTo>
                  <a:pt x="186709" y="338412"/>
                </a:lnTo>
                <a:lnTo>
                  <a:pt x="177957" y="333550"/>
                </a:lnTo>
                <a:lnTo>
                  <a:pt x="169205" y="326742"/>
                </a:lnTo>
                <a:lnTo>
                  <a:pt x="151701" y="311183"/>
                </a:lnTo>
                <a:lnTo>
                  <a:pt x="152674" y="311183"/>
                </a:lnTo>
                <a:lnTo>
                  <a:pt x="150729" y="309238"/>
                </a:lnTo>
                <a:lnTo>
                  <a:pt x="149757" y="309238"/>
                </a:lnTo>
                <a:lnTo>
                  <a:pt x="148784" y="308266"/>
                </a:lnTo>
                <a:lnTo>
                  <a:pt x="148784" y="307293"/>
                </a:lnTo>
                <a:lnTo>
                  <a:pt x="148784" y="306321"/>
                </a:lnTo>
                <a:lnTo>
                  <a:pt x="150729" y="306321"/>
                </a:lnTo>
                <a:lnTo>
                  <a:pt x="147812" y="304376"/>
                </a:lnTo>
                <a:lnTo>
                  <a:pt x="145867" y="302431"/>
                </a:lnTo>
                <a:lnTo>
                  <a:pt x="141977" y="300486"/>
                </a:lnTo>
                <a:lnTo>
                  <a:pt x="141977" y="301459"/>
                </a:lnTo>
                <a:lnTo>
                  <a:pt x="140032" y="299514"/>
                </a:lnTo>
                <a:lnTo>
                  <a:pt x="138087" y="297569"/>
                </a:lnTo>
                <a:lnTo>
                  <a:pt x="136142" y="296596"/>
                </a:lnTo>
                <a:lnTo>
                  <a:pt x="136142" y="295624"/>
                </a:lnTo>
                <a:lnTo>
                  <a:pt x="137114" y="295624"/>
                </a:lnTo>
                <a:lnTo>
                  <a:pt x="138087" y="295624"/>
                </a:lnTo>
                <a:lnTo>
                  <a:pt x="135170" y="293679"/>
                </a:lnTo>
                <a:lnTo>
                  <a:pt x="135170" y="292707"/>
                </a:lnTo>
                <a:lnTo>
                  <a:pt x="136142" y="292707"/>
                </a:lnTo>
                <a:lnTo>
                  <a:pt x="139060" y="293679"/>
                </a:lnTo>
                <a:lnTo>
                  <a:pt x="141977" y="294652"/>
                </a:lnTo>
                <a:lnTo>
                  <a:pt x="141977" y="293679"/>
                </a:lnTo>
                <a:lnTo>
                  <a:pt x="140032" y="291734"/>
                </a:lnTo>
                <a:lnTo>
                  <a:pt x="140032" y="290762"/>
                </a:lnTo>
                <a:lnTo>
                  <a:pt x="141004" y="290762"/>
                </a:lnTo>
                <a:lnTo>
                  <a:pt x="141977" y="291734"/>
                </a:lnTo>
                <a:lnTo>
                  <a:pt x="143922" y="292707"/>
                </a:lnTo>
                <a:lnTo>
                  <a:pt x="141977" y="290762"/>
                </a:lnTo>
                <a:lnTo>
                  <a:pt x="138087" y="288817"/>
                </a:lnTo>
                <a:lnTo>
                  <a:pt x="137114" y="288817"/>
                </a:lnTo>
                <a:lnTo>
                  <a:pt x="137114" y="290762"/>
                </a:lnTo>
                <a:lnTo>
                  <a:pt x="134197" y="287844"/>
                </a:lnTo>
                <a:lnTo>
                  <a:pt x="132253" y="287845"/>
                </a:lnTo>
                <a:lnTo>
                  <a:pt x="131280" y="287358"/>
                </a:lnTo>
                <a:lnTo>
                  <a:pt x="130307" y="286872"/>
                </a:lnTo>
                <a:lnTo>
                  <a:pt x="127390" y="284927"/>
                </a:lnTo>
                <a:lnTo>
                  <a:pt x="127390" y="283955"/>
                </a:lnTo>
                <a:lnTo>
                  <a:pt x="128363" y="284927"/>
                </a:lnTo>
                <a:lnTo>
                  <a:pt x="129335" y="285899"/>
                </a:lnTo>
                <a:lnTo>
                  <a:pt x="131280" y="286872"/>
                </a:lnTo>
                <a:lnTo>
                  <a:pt x="130307" y="284927"/>
                </a:lnTo>
                <a:lnTo>
                  <a:pt x="128363" y="282982"/>
                </a:lnTo>
                <a:lnTo>
                  <a:pt x="124473" y="280065"/>
                </a:lnTo>
                <a:lnTo>
                  <a:pt x="125445" y="281037"/>
                </a:lnTo>
                <a:lnTo>
                  <a:pt x="124473" y="282010"/>
                </a:lnTo>
                <a:lnTo>
                  <a:pt x="121555" y="280065"/>
                </a:lnTo>
                <a:lnTo>
                  <a:pt x="121555" y="279092"/>
                </a:lnTo>
                <a:lnTo>
                  <a:pt x="122528" y="279092"/>
                </a:lnTo>
                <a:lnTo>
                  <a:pt x="120583" y="277148"/>
                </a:lnTo>
                <a:lnTo>
                  <a:pt x="117666" y="276175"/>
                </a:lnTo>
                <a:lnTo>
                  <a:pt x="118638" y="277147"/>
                </a:lnTo>
                <a:lnTo>
                  <a:pt x="116693" y="276175"/>
                </a:lnTo>
                <a:lnTo>
                  <a:pt x="114748" y="275203"/>
                </a:lnTo>
                <a:lnTo>
                  <a:pt x="113776" y="273258"/>
                </a:lnTo>
                <a:lnTo>
                  <a:pt x="111831" y="271313"/>
                </a:lnTo>
                <a:lnTo>
                  <a:pt x="112804" y="270340"/>
                </a:lnTo>
                <a:lnTo>
                  <a:pt x="114748" y="271313"/>
                </a:lnTo>
                <a:lnTo>
                  <a:pt x="115721" y="271313"/>
                </a:lnTo>
                <a:lnTo>
                  <a:pt x="114748" y="268395"/>
                </a:lnTo>
                <a:lnTo>
                  <a:pt x="113776" y="268396"/>
                </a:lnTo>
                <a:lnTo>
                  <a:pt x="110858" y="267423"/>
                </a:lnTo>
                <a:lnTo>
                  <a:pt x="109886" y="266450"/>
                </a:lnTo>
                <a:lnTo>
                  <a:pt x="108914" y="266450"/>
                </a:lnTo>
                <a:lnTo>
                  <a:pt x="108914" y="267423"/>
                </a:lnTo>
                <a:lnTo>
                  <a:pt x="108914" y="265478"/>
                </a:lnTo>
                <a:lnTo>
                  <a:pt x="109886" y="265478"/>
                </a:lnTo>
                <a:lnTo>
                  <a:pt x="107941" y="263533"/>
                </a:lnTo>
                <a:lnTo>
                  <a:pt x="105997" y="261588"/>
                </a:lnTo>
                <a:lnTo>
                  <a:pt x="104051" y="260616"/>
                </a:lnTo>
                <a:lnTo>
                  <a:pt x="104051" y="258671"/>
                </a:lnTo>
                <a:lnTo>
                  <a:pt x="102107" y="258671"/>
                </a:lnTo>
                <a:lnTo>
                  <a:pt x="101134" y="254781"/>
                </a:lnTo>
                <a:lnTo>
                  <a:pt x="96272" y="250891"/>
                </a:lnTo>
                <a:lnTo>
                  <a:pt x="95299" y="248946"/>
                </a:lnTo>
                <a:lnTo>
                  <a:pt x="94327" y="247974"/>
                </a:lnTo>
                <a:lnTo>
                  <a:pt x="95299" y="247002"/>
                </a:lnTo>
                <a:lnTo>
                  <a:pt x="92382" y="244084"/>
                </a:lnTo>
                <a:lnTo>
                  <a:pt x="91409" y="243112"/>
                </a:lnTo>
                <a:lnTo>
                  <a:pt x="90437" y="244084"/>
                </a:lnTo>
                <a:lnTo>
                  <a:pt x="92382" y="246029"/>
                </a:lnTo>
                <a:lnTo>
                  <a:pt x="93354" y="247974"/>
                </a:lnTo>
                <a:lnTo>
                  <a:pt x="92382" y="247002"/>
                </a:lnTo>
                <a:lnTo>
                  <a:pt x="88492" y="244084"/>
                </a:lnTo>
                <a:lnTo>
                  <a:pt x="89465" y="243112"/>
                </a:lnTo>
                <a:lnTo>
                  <a:pt x="87520" y="241167"/>
                </a:lnTo>
                <a:lnTo>
                  <a:pt x="85575" y="239222"/>
                </a:lnTo>
                <a:lnTo>
                  <a:pt x="85575" y="238250"/>
                </a:lnTo>
                <a:lnTo>
                  <a:pt x="83630" y="237277"/>
                </a:lnTo>
                <a:lnTo>
                  <a:pt x="82657" y="235332"/>
                </a:lnTo>
                <a:lnTo>
                  <a:pt x="82657" y="234360"/>
                </a:lnTo>
                <a:lnTo>
                  <a:pt x="82657" y="233387"/>
                </a:lnTo>
                <a:lnTo>
                  <a:pt x="80713" y="231442"/>
                </a:lnTo>
                <a:lnTo>
                  <a:pt x="84602" y="234360"/>
                </a:lnTo>
                <a:lnTo>
                  <a:pt x="82657" y="232415"/>
                </a:lnTo>
                <a:lnTo>
                  <a:pt x="81685" y="229498"/>
                </a:lnTo>
                <a:lnTo>
                  <a:pt x="76823" y="227553"/>
                </a:lnTo>
                <a:lnTo>
                  <a:pt x="75850" y="226580"/>
                </a:lnTo>
                <a:lnTo>
                  <a:pt x="74878" y="225608"/>
                </a:lnTo>
                <a:lnTo>
                  <a:pt x="74878" y="224635"/>
                </a:lnTo>
                <a:lnTo>
                  <a:pt x="73906" y="223663"/>
                </a:lnTo>
                <a:lnTo>
                  <a:pt x="76823" y="226580"/>
                </a:lnTo>
                <a:lnTo>
                  <a:pt x="76823" y="224635"/>
                </a:lnTo>
                <a:lnTo>
                  <a:pt x="73905" y="219773"/>
                </a:lnTo>
                <a:lnTo>
                  <a:pt x="70988" y="217828"/>
                </a:lnTo>
                <a:lnTo>
                  <a:pt x="70016" y="217828"/>
                </a:lnTo>
                <a:lnTo>
                  <a:pt x="69043" y="216856"/>
                </a:lnTo>
                <a:lnTo>
                  <a:pt x="69043" y="215883"/>
                </a:lnTo>
                <a:lnTo>
                  <a:pt x="70016" y="215883"/>
                </a:lnTo>
                <a:lnTo>
                  <a:pt x="69043" y="213938"/>
                </a:lnTo>
                <a:lnTo>
                  <a:pt x="68071" y="213938"/>
                </a:lnTo>
                <a:lnTo>
                  <a:pt x="68071" y="214911"/>
                </a:lnTo>
                <a:lnTo>
                  <a:pt x="67098" y="213938"/>
                </a:lnTo>
                <a:lnTo>
                  <a:pt x="63208" y="203242"/>
                </a:lnTo>
                <a:lnTo>
                  <a:pt x="67098" y="206159"/>
                </a:lnTo>
                <a:lnTo>
                  <a:pt x="65154" y="204214"/>
                </a:lnTo>
                <a:lnTo>
                  <a:pt x="67098" y="204214"/>
                </a:lnTo>
                <a:lnTo>
                  <a:pt x="67098" y="203242"/>
                </a:lnTo>
                <a:lnTo>
                  <a:pt x="67098" y="202269"/>
                </a:lnTo>
                <a:lnTo>
                  <a:pt x="68070" y="202269"/>
                </a:lnTo>
                <a:lnTo>
                  <a:pt x="66126" y="200324"/>
                </a:lnTo>
                <a:lnTo>
                  <a:pt x="64181" y="197407"/>
                </a:lnTo>
                <a:lnTo>
                  <a:pt x="64181" y="199352"/>
                </a:lnTo>
                <a:lnTo>
                  <a:pt x="63209" y="199352"/>
                </a:lnTo>
                <a:lnTo>
                  <a:pt x="61264" y="198379"/>
                </a:lnTo>
                <a:lnTo>
                  <a:pt x="58347" y="196434"/>
                </a:lnTo>
                <a:lnTo>
                  <a:pt x="57374" y="195462"/>
                </a:lnTo>
                <a:lnTo>
                  <a:pt x="56401" y="196434"/>
                </a:lnTo>
                <a:lnTo>
                  <a:pt x="54457" y="192545"/>
                </a:lnTo>
                <a:lnTo>
                  <a:pt x="54457" y="189627"/>
                </a:lnTo>
                <a:lnTo>
                  <a:pt x="54457" y="187682"/>
                </a:lnTo>
                <a:lnTo>
                  <a:pt x="51539" y="183792"/>
                </a:lnTo>
                <a:lnTo>
                  <a:pt x="51539" y="181848"/>
                </a:lnTo>
                <a:lnTo>
                  <a:pt x="51539" y="180875"/>
                </a:lnTo>
                <a:lnTo>
                  <a:pt x="50567" y="177958"/>
                </a:lnTo>
                <a:lnTo>
                  <a:pt x="48622" y="174068"/>
                </a:lnTo>
                <a:lnTo>
                  <a:pt x="46677" y="173096"/>
                </a:lnTo>
                <a:lnTo>
                  <a:pt x="46677" y="174068"/>
                </a:lnTo>
                <a:lnTo>
                  <a:pt x="46677" y="175041"/>
                </a:lnTo>
                <a:lnTo>
                  <a:pt x="47649" y="176013"/>
                </a:lnTo>
                <a:lnTo>
                  <a:pt x="46677" y="176013"/>
                </a:lnTo>
                <a:lnTo>
                  <a:pt x="43760" y="170178"/>
                </a:lnTo>
                <a:lnTo>
                  <a:pt x="42787" y="169206"/>
                </a:lnTo>
                <a:lnTo>
                  <a:pt x="41815" y="167261"/>
                </a:lnTo>
                <a:lnTo>
                  <a:pt x="42787" y="171151"/>
                </a:lnTo>
                <a:lnTo>
                  <a:pt x="41815" y="173096"/>
                </a:lnTo>
                <a:lnTo>
                  <a:pt x="39870" y="169206"/>
                </a:lnTo>
                <a:lnTo>
                  <a:pt x="40842" y="169206"/>
                </a:lnTo>
                <a:lnTo>
                  <a:pt x="38897" y="166288"/>
                </a:lnTo>
                <a:lnTo>
                  <a:pt x="37925" y="165316"/>
                </a:lnTo>
                <a:lnTo>
                  <a:pt x="36952" y="164344"/>
                </a:lnTo>
                <a:lnTo>
                  <a:pt x="35007" y="161426"/>
                </a:lnTo>
                <a:lnTo>
                  <a:pt x="35007" y="158509"/>
                </a:lnTo>
                <a:lnTo>
                  <a:pt x="36953" y="160454"/>
                </a:lnTo>
                <a:lnTo>
                  <a:pt x="37925" y="163371"/>
                </a:lnTo>
                <a:lnTo>
                  <a:pt x="39870" y="165316"/>
                </a:lnTo>
                <a:lnTo>
                  <a:pt x="40842" y="165316"/>
                </a:lnTo>
                <a:lnTo>
                  <a:pt x="37925" y="160454"/>
                </a:lnTo>
                <a:lnTo>
                  <a:pt x="36953" y="159158"/>
                </a:lnTo>
                <a:lnTo>
                  <a:pt x="36953" y="155592"/>
                </a:lnTo>
                <a:lnTo>
                  <a:pt x="35980" y="153647"/>
                </a:lnTo>
                <a:lnTo>
                  <a:pt x="35007" y="151702"/>
                </a:lnTo>
                <a:lnTo>
                  <a:pt x="36952" y="153647"/>
                </a:lnTo>
                <a:lnTo>
                  <a:pt x="35980" y="149757"/>
                </a:lnTo>
                <a:lnTo>
                  <a:pt x="35980" y="147812"/>
                </a:lnTo>
                <a:lnTo>
                  <a:pt x="36952" y="145867"/>
                </a:lnTo>
                <a:lnTo>
                  <a:pt x="35007" y="142950"/>
                </a:lnTo>
                <a:lnTo>
                  <a:pt x="34035" y="142950"/>
                </a:lnTo>
                <a:lnTo>
                  <a:pt x="34035" y="143922"/>
                </a:lnTo>
                <a:lnTo>
                  <a:pt x="33063" y="144894"/>
                </a:lnTo>
                <a:lnTo>
                  <a:pt x="29173" y="136143"/>
                </a:lnTo>
                <a:lnTo>
                  <a:pt x="25283" y="130308"/>
                </a:lnTo>
                <a:lnTo>
                  <a:pt x="25283" y="129336"/>
                </a:lnTo>
                <a:lnTo>
                  <a:pt x="26255" y="128363"/>
                </a:lnTo>
                <a:lnTo>
                  <a:pt x="28200" y="130308"/>
                </a:lnTo>
                <a:lnTo>
                  <a:pt x="23338" y="119611"/>
                </a:lnTo>
                <a:lnTo>
                  <a:pt x="19448" y="108914"/>
                </a:lnTo>
                <a:lnTo>
                  <a:pt x="19448" y="109886"/>
                </a:lnTo>
                <a:lnTo>
                  <a:pt x="18476" y="109886"/>
                </a:lnTo>
                <a:lnTo>
                  <a:pt x="17503" y="106969"/>
                </a:lnTo>
                <a:lnTo>
                  <a:pt x="16531" y="104052"/>
                </a:lnTo>
                <a:lnTo>
                  <a:pt x="16531" y="103079"/>
                </a:lnTo>
                <a:lnTo>
                  <a:pt x="17503" y="103079"/>
                </a:lnTo>
                <a:lnTo>
                  <a:pt x="16531" y="101135"/>
                </a:lnTo>
                <a:lnTo>
                  <a:pt x="17503" y="100162"/>
                </a:lnTo>
                <a:lnTo>
                  <a:pt x="17503" y="98217"/>
                </a:lnTo>
                <a:lnTo>
                  <a:pt x="13613" y="90437"/>
                </a:lnTo>
                <a:lnTo>
                  <a:pt x="10696" y="82658"/>
                </a:lnTo>
                <a:lnTo>
                  <a:pt x="9724" y="75851"/>
                </a:lnTo>
                <a:lnTo>
                  <a:pt x="7779" y="70016"/>
                </a:lnTo>
                <a:lnTo>
                  <a:pt x="4862" y="58347"/>
                </a:lnTo>
                <a:lnTo>
                  <a:pt x="4862" y="56402"/>
                </a:lnTo>
                <a:lnTo>
                  <a:pt x="5834" y="55429"/>
                </a:lnTo>
                <a:lnTo>
                  <a:pt x="6807" y="55429"/>
                </a:lnTo>
                <a:lnTo>
                  <a:pt x="6806" y="53484"/>
                </a:lnTo>
                <a:lnTo>
                  <a:pt x="5834" y="51539"/>
                </a:lnTo>
                <a:lnTo>
                  <a:pt x="5834" y="52512"/>
                </a:lnTo>
                <a:lnTo>
                  <a:pt x="4861" y="52512"/>
                </a:lnTo>
                <a:lnTo>
                  <a:pt x="4861" y="50567"/>
                </a:lnTo>
                <a:lnTo>
                  <a:pt x="4862" y="44732"/>
                </a:lnTo>
                <a:lnTo>
                  <a:pt x="3889" y="39870"/>
                </a:lnTo>
                <a:lnTo>
                  <a:pt x="2917" y="35980"/>
                </a:lnTo>
                <a:lnTo>
                  <a:pt x="3889" y="35980"/>
                </a:lnTo>
                <a:lnTo>
                  <a:pt x="4862" y="36953"/>
                </a:lnTo>
                <a:lnTo>
                  <a:pt x="4862" y="34035"/>
                </a:lnTo>
                <a:lnTo>
                  <a:pt x="3889" y="31118"/>
                </a:lnTo>
                <a:lnTo>
                  <a:pt x="2917" y="24311"/>
                </a:lnTo>
                <a:lnTo>
                  <a:pt x="1944" y="27228"/>
                </a:lnTo>
                <a:lnTo>
                  <a:pt x="972" y="22366"/>
                </a:lnTo>
                <a:lnTo>
                  <a:pt x="972" y="17504"/>
                </a:lnTo>
                <a:lnTo>
                  <a:pt x="0" y="8752"/>
                </a:lnTo>
                <a:lnTo>
                  <a:pt x="971" y="8752"/>
                </a:lnTo>
                <a:lnTo>
                  <a:pt x="972" y="4862"/>
                </a:lnTo>
                <a:lnTo>
                  <a:pt x="1884" y="3038"/>
                </a:lnTo>
                <a:lnTo>
                  <a:pt x="3890" y="9724"/>
                </a:lnTo>
                <a:lnTo>
                  <a:pt x="3890" y="10697"/>
                </a:lnTo>
                <a:lnTo>
                  <a:pt x="2917" y="9724"/>
                </a:lnTo>
                <a:lnTo>
                  <a:pt x="2917" y="8752"/>
                </a:lnTo>
                <a:lnTo>
                  <a:pt x="1944" y="8752"/>
                </a:lnTo>
                <a:lnTo>
                  <a:pt x="1944" y="13614"/>
                </a:lnTo>
                <a:lnTo>
                  <a:pt x="2917" y="13614"/>
                </a:lnTo>
                <a:lnTo>
                  <a:pt x="2917" y="14587"/>
                </a:lnTo>
                <a:lnTo>
                  <a:pt x="4667" y="18087"/>
                </a:lnTo>
                <a:lnTo>
                  <a:pt x="5658" y="22543"/>
                </a:lnTo>
                <a:lnTo>
                  <a:pt x="4862" y="23339"/>
                </a:lnTo>
                <a:lnTo>
                  <a:pt x="4862" y="24311"/>
                </a:lnTo>
                <a:lnTo>
                  <a:pt x="5834" y="25283"/>
                </a:lnTo>
                <a:lnTo>
                  <a:pt x="6806" y="27228"/>
                </a:lnTo>
                <a:lnTo>
                  <a:pt x="7779" y="34035"/>
                </a:lnTo>
                <a:lnTo>
                  <a:pt x="7779" y="36953"/>
                </a:lnTo>
                <a:lnTo>
                  <a:pt x="8752" y="40842"/>
                </a:lnTo>
                <a:lnTo>
                  <a:pt x="9724" y="44733"/>
                </a:lnTo>
                <a:lnTo>
                  <a:pt x="9724" y="48622"/>
                </a:lnTo>
                <a:lnTo>
                  <a:pt x="7779" y="44732"/>
                </a:lnTo>
                <a:lnTo>
                  <a:pt x="5834" y="40843"/>
                </a:lnTo>
                <a:lnTo>
                  <a:pt x="6806" y="48622"/>
                </a:lnTo>
                <a:lnTo>
                  <a:pt x="8751" y="50567"/>
                </a:lnTo>
                <a:lnTo>
                  <a:pt x="10696" y="55429"/>
                </a:lnTo>
                <a:lnTo>
                  <a:pt x="10696" y="56402"/>
                </a:lnTo>
                <a:lnTo>
                  <a:pt x="12641" y="60292"/>
                </a:lnTo>
                <a:lnTo>
                  <a:pt x="13614" y="62236"/>
                </a:lnTo>
                <a:lnTo>
                  <a:pt x="14586" y="65154"/>
                </a:lnTo>
                <a:lnTo>
                  <a:pt x="17503" y="79741"/>
                </a:lnTo>
                <a:lnTo>
                  <a:pt x="20421" y="91410"/>
                </a:lnTo>
                <a:lnTo>
                  <a:pt x="19449" y="92382"/>
                </a:lnTo>
                <a:lnTo>
                  <a:pt x="22366" y="96272"/>
                </a:lnTo>
                <a:lnTo>
                  <a:pt x="23338" y="100162"/>
                </a:lnTo>
                <a:lnTo>
                  <a:pt x="27228" y="109886"/>
                </a:lnTo>
                <a:lnTo>
                  <a:pt x="29173" y="116694"/>
                </a:lnTo>
                <a:lnTo>
                  <a:pt x="32091" y="123501"/>
                </a:lnTo>
                <a:lnTo>
                  <a:pt x="35008" y="129335"/>
                </a:lnTo>
                <a:lnTo>
                  <a:pt x="35980" y="133225"/>
                </a:lnTo>
                <a:lnTo>
                  <a:pt x="41814" y="144895"/>
                </a:lnTo>
                <a:lnTo>
                  <a:pt x="47649" y="154619"/>
                </a:lnTo>
                <a:lnTo>
                  <a:pt x="58346" y="176013"/>
                </a:lnTo>
                <a:lnTo>
                  <a:pt x="56402" y="174068"/>
                </a:lnTo>
                <a:lnTo>
                  <a:pt x="57374" y="176013"/>
                </a:lnTo>
                <a:lnTo>
                  <a:pt x="57374" y="176985"/>
                </a:lnTo>
                <a:lnTo>
                  <a:pt x="57374" y="177958"/>
                </a:lnTo>
                <a:lnTo>
                  <a:pt x="58346" y="178930"/>
                </a:lnTo>
                <a:lnTo>
                  <a:pt x="58346" y="177958"/>
                </a:lnTo>
                <a:lnTo>
                  <a:pt x="59319" y="179903"/>
                </a:lnTo>
                <a:lnTo>
                  <a:pt x="63208" y="183792"/>
                </a:lnTo>
                <a:lnTo>
                  <a:pt x="66126" y="188655"/>
                </a:lnTo>
                <a:lnTo>
                  <a:pt x="70015" y="194489"/>
                </a:lnTo>
                <a:lnTo>
                  <a:pt x="76823" y="203241"/>
                </a:lnTo>
                <a:lnTo>
                  <a:pt x="76823" y="204214"/>
                </a:lnTo>
                <a:lnTo>
                  <a:pt x="79740" y="208104"/>
                </a:lnTo>
                <a:lnTo>
                  <a:pt x="83630" y="212966"/>
                </a:lnTo>
                <a:lnTo>
                  <a:pt x="90437" y="223663"/>
                </a:lnTo>
                <a:lnTo>
                  <a:pt x="90437" y="225608"/>
                </a:lnTo>
                <a:lnTo>
                  <a:pt x="92382" y="228525"/>
                </a:lnTo>
                <a:lnTo>
                  <a:pt x="97244" y="232415"/>
                </a:lnTo>
                <a:lnTo>
                  <a:pt x="102106" y="238250"/>
                </a:lnTo>
                <a:lnTo>
                  <a:pt x="113776" y="251864"/>
                </a:lnTo>
                <a:lnTo>
                  <a:pt x="133225" y="272285"/>
                </a:lnTo>
                <a:lnTo>
                  <a:pt x="142949" y="282982"/>
                </a:lnTo>
                <a:lnTo>
                  <a:pt x="153646" y="292707"/>
                </a:lnTo>
                <a:lnTo>
                  <a:pt x="153646" y="294651"/>
                </a:lnTo>
                <a:lnTo>
                  <a:pt x="165316" y="303404"/>
                </a:lnTo>
                <a:lnTo>
                  <a:pt x="176012" y="314100"/>
                </a:lnTo>
                <a:lnTo>
                  <a:pt x="187682" y="323825"/>
                </a:lnTo>
                <a:lnTo>
                  <a:pt x="197406" y="332577"/>
                </a:lnTo>
                <a:lnTo>
                  <a:pt x="195461" y="332577"/>
                </a:lnTo>
                <a:lnTo>
                  <a:pt x="201296" y="337439"/>
                </a:lnTo>
                <a:lnTo>
                  <a:pt x="203241" y="338412"/>
                </a:lnTo>
                <a:lnTo>
                  <a:pt x="204214" y="338412"/>
                </a:lnTo>
                <a:lnTo>
                  <a:pt x="204214" y="337439"/>
                </a:lnTo>
                <a:lnTo>
                  <a:pt x="211021" y="343274"/>
                </a:lnTo>
                <a:lnTo>
                  <a:pt x="213938" y="346191"/>
                </a:lnTo>
                <a:lnTo>
                  <a:pt x="215883" y="348136"/>
                </a:lnTo>
                <a:lnTo>
                  <a:pt x="220745" y="352026"/>
                </a:lnTo>
                <a:lnTo>
                  <a:pt x="225607" y="353971"/>
                </a:lnTo>
                <a:lnTo>
                  <a:pt x="234360" y="361751"/>
                </a:lnTo>
                <a:lnTo>
                  <a:pt x="241795" y="366956"/>
                </a:lnTo>
                <a:lnTo>
                  <a:pt x="241167" y="367585"/>
                </a:lnTo>
                <a:lnTo>
                  <a:pt x="243111" y="368557"/>
                </a:lnTo>
                <a:lnTo>
                  <a:pt x="248946" y="373420"/>
                </a:lnTo>
                <a:lnTo>
                  <a:pt x="250891" y="374392"/>
                </a:lnTo>
                <a:lnTo>
                  <a:pt x="251863" y="374392"/>
                </a:lnTo>
                <a:lnTo>
                  <a:pt x="251863" y="373420"/>
                </a:lnTo>
                <a:lnTo>
                  <a:pt x="257698" y="378282"/>
                </a:lnTo>
                <a:lnTo>
                  <a:pt x="265478" y="383145"/>
                </a:lnTo>
                <a:lnTo>
                  <a:pt x="273257" y="388007"/>
                </a:lnTo>
                <a:lnTo>
                  <a:pt x="279092" y="392869"/>
                </a:lnTo>
                <a:lnTo>
                  <a:pt x="280065" y="392869"/>
                </a:lnTo>
                <a:lnTo>
                  <a:pt x="282009" y="393841"/>
                </a:lnTo>
                <a:lnTo>
                  <a:pt x="293679" y="401621"/>
                </a:lnTo>
                <a:lnTo>
                  <a:pt x="299513" y="404538"/>
                </a:lnTo>
                <a:lnTo>
                  <a:pt x="304375" y="407455"/>
                </a:lnTo>
                <a:lnTo>
                  <a:pt x="304375" y="408428"/>
                </a:lnTo>
                <a:lnTo>
                  <a:pt x="303403" y="408428"/>
                </a:lnTo>
                <a:lnTo>
                  <a:pt x="305348" y="409401"/>
                </a:lnTo>
                <a:lnTo>
                  <a:pt x="306321" y="409401"/>
                </a:lnTo>
                <a:lnTo>
                  <a:pt x="308265" y="409400"/>
                </a:lnTo>
                <a:lnTo>
                  <a:pt x="317990" y="415235"/>
                </a:lnTo>
                <a:lnTo>
                  <a:pt x="326742" y="421070"/>
                </a:lnTo>
                <a:lnTo>
                  <a:pt x="335494" y="427877"/>
                </a:lnTo>
                <a:lnTo>
                  <a:pt x="345218" y="432739"/>
                </a:lnTo>
                <a:lnTo>
                  <a:pt x="408427" y="464830"/>
                </a:lnTo>
                <a:lnTo>
                  <a:pt x="408428" y="465802"/>
                </a:lnTo>
                <a:lnTo>
                  <a:pt x="414262" y="467747"/>
                </a:lnTo>
                <a:lnTo>
                  <a:pt x="420097" y="470665"/>
                </a:lnTo>
                <a:lnTo>
                  <a:pt x="424959" y="473582"/>
                </a:lnTo>
                <a:lnTo>
                  <a:pt x="430794" y="475527"/>
                </a:lnTo>
                <a:lnTo>
                  <a:pt x="433711" y="477472"/>
                </a:lnTo>
                <a:lnTo>
                  <a:pt x="435656" y="477472"/>
                </a:lnTo>
                <a:lnTo>
                  <a:pt x="435656" y="478444"/>
                </a:lnTo>
                <a:lnTo>
                  <a:pt x="440519" y="480389"/>
                </a:lnTo>
                <a:lnTo>
                  <a:pt x="446353" y="483306"/>
                </a:lnTo>
                <a:lnTo>
                  <a:pt x="452188" y="486224"/>
                </a:lnTo>
                <a:lnTo>
                  <a:pt x="458992" y="489140"/>
                </a:lnTo>
                <a:lnTo>
                  <a:pt x="462885" y="491086"/>
                </a:lnTo>
                <a:lnTo>
                  <a:pt x="468719" y="493031"/>
                </a:lnTo>
                <a:lnTo>
                  <a:pt x="481362" y="498866"/>
                </a:lnTo>
                <a:lnTo>
                  <a:pt x="477472" y="497893"/>
                </a:lnTo>
                <a:lnTo>
                  <a:pt x="480389" y="499838"/>
                </a:lnTo>
                <a:lnTo>
                  <a:pt x="483306" y="499838"/>
                </a:lnTo>
                <a:lnTo>
                  <a:pt x="486223" y="500810"/>
                </a:lnTo>
                <a:lnTo>
                  <a:pt x="487196" y="502755"/>
                </a:lnTo>
                <a:lnTo>
                  <a:pt x="489141" y="502755"/>
                </a:lnTo>
                <a:lnTo>
                  <a:pt x="488168" y="501783"/>
                </a:lnTo>
                <a:lnTo>
                  <a:pt x="502755" y="508590"/>
                </a:lnTo>
                <a:lnTo>
                  <a:pt x="517342" y="513452"/>
                </a:lnTo>
                <a:lnTo>
                  <a:pt x="548460" y="524149"/>
                </a:lnTo>
                <a:lnTo>
                  <a:pt x="554295" y="527067"/>
                </a:lnTo>
                <a:lnTo>
                  <a:pt x="555267" y="528039"/>
                </a:lnTo>
                <a:lnTo>
                  <a:pt x="555267" y="529012"/>
                </a:lnTo>
                <a:lnTo>
                  <a:pt x="560129" y="529984"/>
                </a:lnTo>
                <a:lnTo>
                  <a:pt x="561102" y="529984"/>
                </a:lnTo>
                <a:lnTo>
                  <a:pt x="564019" y="530956"/>
                </a:lnTo>
                <a:lnTo>
                  <a:pt x="565964" y="532901"/>
                </a:lnTo>
                <a:lnTo>
                  <a:pt x="567909" y="533874"/>
                </a:lnTo>
                <a:lnTo>
                  <a:pt x="570826" y="534846"/>
                </a:lnTo>
                <a:lnTo>
                  <a:pt x="570826" y="533874"/>
                </a:lnTo>
                <a:lnTo>
                  <a:pt x="571799" y="533874"/>
                </a:lnTo>
                <a:lnTo>
                  <a:pt x="573744" y="533874"/>
                </a:lnTo>
                <a:lnTo>
                  <a:pt x="582496" y="538736"/>
                </a:lnTo>
                <a:lnTo>
                  <a:pt x="586386" y="539709"/>
                </a:lnTo>
                <a:lnTo>
                  <a:pt x="591248" y="541653"/>
                </a:lnTo>
                <a:lnTo>
                  <a:pt x="590276" y="541653"/>
                </a:lnTo>
                <a:lnTo>
                  <a:pt x="597082" y="542626"/>
                </a:lnTo>
                <a:lnTo>
                  <a:pt x="603889" y="544571"/>
                </a:lnTo>
                <a:lnTo>
                  <a:pt x="609724" y="546516"/>
                </a:lnTo>
                <a:lnTo>
                  <a:pt x="615559" y="546516"/>
                </a:lnTo>
                <a:lnTo>
                  <a:pt x="650567" y="556241"/>
                </a:lnTo>
                <a:lnTo>
                  <a:pt x="684603" y="565965"/>
                </a:lnTo>
                <a:lnTo>
                  <a:pt x="752674" y="581525"/>
                </a:lnTo>
                <a:lnTo>
                  <a:pt x="786710" y="589304"/>
                </a:lnTo>
                <a:lnTo>
                  <a:pt x="819773" y="596111"/>
                </a:lnTo>
                <a:lnTo>
                  <a:pt x="888817" y="608753"/>
                </a:lnTo>
                <a:lnTo>
                  <a:pt x="899514" y="611670"/>
                </a:lnTo>
                <a:lnTo>
                  <a:pt x="912155" y="613615"/>
                </a:lnTo>
                <a:lnTo>
                  <a:pt x="911183" y="613615"/>
                </a:lnTo>
                <a:lnTo>
                  <a:pt x="912156" y="613615"/>
                </a:lnTo>
                <a:lnTo>
                  <a:pt x="912155" y="613615"/>
                </a:lnTo>
                <a:lnTo>
                  <a:pt x="913128" y="613615"/>
                </a:lnTo>
                <a:lnTo>
                  <a:pt x="916046" y="613615"/>
                </a:lnTo>
                <a:lnTo>
                  <a:pt x="918963" y="613615"/>
                </a:lnTo>
                <a:lnTo>
                  <a:pt x="921880" y="613615"/>
                </a:lnTo>
                <a:lnTo>
                  <a:pt x="946191" y="617505"/>
                </a:lnTo>
                <a:lnTo>
                  <a:pt x="972448" y="620422"/>
                </a:lnTo>
                <a:lnTo>
                  <a:pt x="969530" y="620422"/>
                </a:lnTo>
                <a:lnTo>
                  <a:pt x="969530" y="621395"/>
                </a:lnTo>
                <a:lnTo>
                  <a:pt x="971475" y="621395"/>
                </a:lnTo>
                <a:lnTo>
                  <a:pt x="975365" y="620422"/>
                </a:lnTo>
                <a:lnTo>
                  <a:pt x="975365" y="621395"/>
                </a:lnTo>
                <a:lnTo>
                  <a:pt x="978282" y="621395"/>
                </a:lnTo>
                <a:lnTo>
                  <a:pt x="979164" y="620513"/>
                </a:lnTo>
                <a:lnTo>
                  <a:pt x="1044409" y="627229"/>
                </a:lnTo>
                <a:lnTo>
                  <a:pt x="1077472" y="631119"/>
                </a:lnTo>
                <a:lnTo>
                  <a:pt x="1110535" y="633064"/>
                </a:lnTo>
                <a:lnTo>
                  <a:pt x="1119287" y="634037"/>
                </a:lnTo>
                <a:lnTo>
                  <a:pt x="1129012" y="634037"/>
                </a:lnTo>
                <a:lnTo>
                  <a:pt x="1147488" y="635009"/>
                </a:lnTo>
                <a:lnTo>
                  <a:pt x="1171799" y="636954"/>
                </a:lnTo>
                <a:lnTo>
                  <a:pt x="1196111" y="638899"/>
                </a:lnTo>
                <a:lnTo>
                  <a:pt x="1220422" y="638899"/>
                </a:lnTo>
                <a:lnTo>
                  <a:pt x="1243275" y="638899"/>
                </a:lnTo>
                <a:lnTo>
                  <a:pt x="1243761" y="639871"/>
                </a:lnTo>
                <a:lnTo>
                  <a:pt x="1241816" y="640844"/>
                </a:lnTo>
                <a:lnTo>
                  <a:pt x="1235981" y="642788"/>
                </a:lnTo>
                <a:lnTo>
                  <a:pt x="1227229" y="643761"/>
                </a:lnTo>
                <a:lnTo>
                  <a:pt x="1212642" y="644733"/>
                </a:lnTo>
                <a:lnTo>
                  <a:pt x="1197083" y="644733"/>
                </a:lnTo>
                <a:lnTo>
                  <a:pt x="1180551" y="644733"/>
                </a:lnTo>
                <a:lnTo>
                  <a:pt x="1164992" y="644733"/>
                </a:lnTo>
                <a:lnTo>
                  <a:pt x="1164020" y="644733"/>
                </a:lnTo>
                <a:lnTo>
                  <a:pt x="1164020" y="643761"/>
                </a:lnTo>
                <a:lnTo>
                  <a:pt x="1163047" y="642789"/>
                </a:lnTo>
                <a:lnTo>
                  <a:pt x="1161102" y="642789"/>
                </a:lnTo>
                <a:lnTo>
                  <a:pt x="1144571" y="643761"/>
                </a:lnTo>
                <a:lnTo>
                  <a:pt x="1126095" y="642789"/>
                </a:lnTo>
                <a:lnTo>
                  <a:pt x="1106645" y="640844"/>
                </a:lnTo>
                <a:lnTo>
                  <a:pt x="1088169" y="637926"/>
                </a:lnTo>
                <a:lnTo>
                  <a:pt x="1089141" y="637926"/>
                </a:lnTo>
                <a:lnTo>
                  <a:pt x="1082334" y="637926"/>
                </a:lnTo>
                <a:lnTo>
                  <a:pt x="1074555" y="637926"/>
                </a:lnTo>
                <a:lnTo>
                  <a:pt x="1075527" y="637926"/>
                </a:lnTo>
                <a:lnTo>
                  <a:pt x="1075527" y="636954"/>
                </a:lnTo>
                <a:lnTo>
                  <a:pt x="1073582" y="636954"/>
                </a:lnTo>
                <a:lnTo>
                  <a:pt x="1069693" y="636954"/>
                </a:lnTo>
                <a:lnTo>
                  <a:pt x="1064830" y="637927"/>
                </a:lnTo>
                <a:lnTo>
                  <a:pt x="1062885" y="636954"/>
                </a:lnTo>
                <a:lnTo>
                  <a:pt x="1060941" y="635981"/>
                </a:lnTo>
                <a:lnTo>
                  <a:pt x="1058023" y="636954"/>
                </a:lnTo>
                <a:lnTo>
                  <a:pt x="1051216" y="636954"/>
                </a:lnTo>
                <a:lnTo>
                  <a:pt x="1044409" y="636954"/>
                </a:lnTo>
                <a:lnTo>
                  <a:pt x="1036629" y="635982"/>
                </a:lnTo>
                <a:lnTo>
                  <a:pt x="1028849" y="635009"/>
                </a:lnTo>
                <a:lnTo>
                  <a:pt x="1029822" y="635009"/>
                </a:lnTo>
                <a:lnTo>
                  <a:pt x="1017180" y="634037"/>
                </a:lnTo>
                <a:lnTo>
                  <a:pt x="1002593" y="633064"/>
                </a:lnTo>
                <a:lnTo>
                  <a:pt x="974392" y="631119"/>
                </a:lnTo>
                <a:lnTo>
                  <a:pt x="975365" y="630147"/>
                </a:lnTo>
                <a:lnTo>
                  <a:pt x="975365" y="629174"/>
                </a:lnTo>
                <a:lnTo>
                  <a:pt x="973420" y="630147"/>
                </a:lnTo>
                <a:lnTo>
                  <a:pt x="970503" y="630147"/>
                </a:lnTo>
                <a:lnTo>
                  <a:pt x="963695" y="630147"/>
                </a:lnTo>
                <a:lnTo>
                  <a:pt x="960778" y="629174"/>
                </a:lnTo>
                <a:lnTo>
                  <a:pt x="957861" y="629174"/>
                </a:lnTo>
                <a:lnTo>
                  <a:pt x="953971" y="629174"/>
                </a:lnTo>
                <a:lnTo>
                  <a:pt x="949109" y="628202"/>
                </a:lnTo>
                <a:lnTo>
                  <a:pt x="950081" y="628202"/>
                </a:lnTo>
                <a:lnTo>
                  <a:pt x="947164" y="628202"/>
                </a:lnTo>
                <a:lnTo>
                  <a:pt x="944247" y="628202"/>
                </a:lnTo>
                <a:lnTo>
                  <a:pt x="942301" y="627229"/>
                </a:lnTo>
                <a:lnTo>
                  <a:pt x="940357" y="628202"/>
                </a:lnTo>
                <a:lnTo>
                  <a:pt x="937439" y="626257"/>
                </a:lnTo>
                <a:lnTo>
                  <a:pt x="935495" y="627230"/>
                </a:lnTo>
                <a:lnTo>
                  <a:pt x="933549" y="626257"/>
                </a:lnTo>
                <a:lnTo>
                  <a:pt x="930632" y="625284"/>
                </a:lnTo>
                <a:lnTo>
                  <a:pt x="927715" y="625285"/>
                </a:lnTo>
                <a:lnTo>
                  <a:pt x="923825" y="625284"/>
                </a:lnTo>
                <a:lnTo>
                  <a:pt x="919936" y="624312"/>
                </a:lnTo>
                <a:lnTo>
                  <a:pt x="911183" y="622367"/>
                </a:lnTo>
                <a:lnTo>
                  <a:pt x="909463" y="622367"/>
                </a:lnTo>
                <a:lnTo>
                  <a:pt x="910211" y="622367"/>
                </a:lnTo>
                <a:lnTo>
                  <a:pt x="912155" y="622367"/>
                </a:lnTo>
                <a:lnTo>
                  <a:pt x="911183" y="621395"/>
                </a:lnTo>
                <a:lnTo>
                  <a:pt x="893679" y="619450"/>
                </a:lnTo>
                <a:lnTo>
                  <a:pt x="875203" y="617505"/>
                </a:lnTo>
                <a:lnTo>
                  <a:pt x="840194" y="610698"/>
                </a:lnTo>
                <a:lnTo>
                  <a:pt x="836305" y="609725"/>
                </a:lnTo>
                <a:lnTo>
                  <a:pt x="835332" y="608753"/>
                </a:lnTo>
                <a:lnTo>
                  <a:pt x="829498" y="607780"/>
                </a:lnTo>
                <a:lnTo>
                  <a:pt x="823663" y="607780"/>
                </a:lnTo>
                <a:lnTo>
                  <a:pt x="821718" y="605835"/>
                </a:lnTo>
                <a:lnTo>
                  <a:pt x="818800" y="605835"/>
                </a:lnTo>
                <a:lnTo>
                  <a:pt x="816856" y="605835"/>
                </a:lnTo>
                <a:lnTo>
                  <a:pt x="814911" y="605835"/>
                </a:lnTo>
                <a:lnTo>
                  <a:pt x="811993" y="605836"/>
                </a:lnTo>
                <a:lnTo>
                  <a:pt x="813939" y="604863"/>
                </a:lnTo>
                <a:lnTo>
                  <a:pt x="813939" y="603891"/>
                </a:lnTo>
                <a:lnTo>
                  <a:pt x="807131" y="603891"/>
                </a:lnTo>
                <a:lnTo>
                  <a:pt x="799352" y="602918"/>
                </a:lnTo>
                <a:lnTo>
                  <a:pt x="801297" y="602918"/>
                </a:lnTo>
                <a:lnTo>
                  <a:pt x="801297" y="601946"/>
                </a:lnTo>
                <a:lnTo>
                  <a:pt x="797407" y="601945"/>
                </a:lnTo>
                <a:lnTo>
                  <a:pt x="794489" y="600973"/>
                </a:lnTo>
                <a:lnTo>
                  <a:pt x="787682" y="600001"/>
                </a:lnTo>
                <a:lnTo>
                  <a:pt x="789627" y="599028"/>
                </a:lnTo>
                <a:lnTo>
                  <a:pt x="785738" y="598056"/>
                </a:lnTo>
                <a:lnTo>
                  <a:pt x="784765" y="599028"/>
                </a:lnTo>
                <a:lnTo>
                  <a:pt x="783792" y="599028"/>
                </a:lnTo>
                <a:lnTo>
                  <a:pt x="780875" y="599028"/>
                </a:lnTo>
                <a:lnTo>
                  <a:pt x="781848" y="599028"/>
                </a:lnTo>
                <a:lnTo>
                  <a:pt x="781848" y="598056"/>
                </a:lnTo>
                <a:lnTo>
                  <a:pt x="776985" y="598056"/>
                </a:lnTo>
                <a:lnTo>
                  <a:pt x="771151" y="597084"/>
                </a:lnTo>
                <a:lnTo>
                  <a:pt x="760454" y="595138"/>
                </a:lnTo>
                <a:lnTo>
                  <a:pt x="750730" y="592221"/>
                </a:lnTo>
                <a:lnTo>
                  <a:pt x="741005" y="590276"/>
                </a:lnTo>
                <a:lnTo>
                  <a:pt x="740032" y="589304"/>
                </a:lnTo>
                <a:lnTo>
                  <a:pt x="739060" y="589304"/>
                </a:lnTo>
                <a:lnTo>
                  <a:pt x="738087" y="588332"/>
                </a:lnTo>
                <a:lnTo>
                  <a:pt x="735170" y="587359"/>
                </a:lnTo>
                <a:lnTo>
                  <a:pt x="734198" y="587359"/>
                </a:lnTo>
                <a:lnTo>
                  <a:pt x="733225" y="587359"/>
                </a:lnTo>
                <a:lnTo>
                  <a:pt x="729336" y="587359"/>
                </a:lnTo>
                <a:lnTo>
                  <a:pt x="726418" y="587359"/>
                </a:lnTo>
                <a:lnTo>
                  <a:pt x="727390" y="588331"/>
                </a:lnTo>
                <a:lnTo>
                  <a:pt x="716694" y="585414"/>
                </a:lnTo>
                <a:lnTo>
                  <a:pt x="707942" y="583469"/>
                </a:lnTo>
                <a:lnTo>
                  <a:pt x="708914" y="582497"/>
                </a:lnTo>
                <a:lnTo>
                  <a:pt x="708914" y="581524"/>
                </a:lnTo>
                <a:lnTo>
                  <a:pt x="710859" y="581524"/>
                </a:lnTo>
                <a:lnTo>
                  <a:pt x="707942" y="579580"/>
                </a:lnTo>
                <a:lnTo>
                  <a:pt x="709887" y="579580"/>
                </a:lnTo>
                <a:lnTo>
                  <a:pt x="704052" y="578607"/>
                </a:lnTo>
                <a:lnTo>
                  <a:pt x="699190" y="577635"/>
                </a:lnTo>
                <a:lnTo>
                  <a:pt x="691410" y="577634"/>
                </a:lnTo>
                <a:lnTo>
                  <a:pt x="687520" y="576662"/>
                </a:lnTo>
                <a:lnTo>
                  <a:pt x="682658" y="575690"/>
                </a:lnTo>
                <a:lnTo>
                  <a:pt x="683631" y="575690"/>
                </a:lnTo>
                <a:lnTo>
                  <a:pt x="683630" y="574717"/>
                </a:lnTo>
                <a:lnTo>
                  <a:pt x="682658" y="574717"/>
                </a:lnTo>
                <a:lnTo>
                  <a:pt x="683630" y="573745"/>
                </a:lnTo>
                <a:lnTo>
                  <a:pt x="672933" y="574717"/>
                </a:lnTo>
                <a:lnTo>
                  <a:pt x="670989" y="573745"/>
                </a:lnTo>
                <a:lnTo>
                  <a:pt x="670989" y="572772"/>
                </a:lnTo>
                <a:lnTo>
                  <a:pt x="669044" y="572772"/>
                </a:lnTo>
                <a:lnTo>
                  <a:pt x="668071" y="572772"/>
                </a:lnTo>
                <a:lnTo>
                  <a:pt x="666126" y="572772"/>
                </a:lnTo>
                <a:lnTo>
                  <a:pt x="660292" y="571800"/>
                </a:lnTo>
                <a:lnTo>
                  <a:pt x="657374" y="569855"/>
                </a:lnTo>
                <a:lnTo>
                  <a:pt x="655429" y="568882"/>
                </a:lnTo>
                <a:lnTo>
                  <a:pt x="657374" y="568883"/>
                </a:lnTo>
                <a:lnTo>
                  <a:pt x="657374" y="567910"/>
                </a:lnTo>
                <a:lnTo>
                  <a:pt x="647650" y="565965"/>
                </a:lnTo>
                <a:lnTo>
                  <a:pt x="642787" y="564993"/>
                </a:lnTo>
                <a:lnTo>
                  <a:pt x="641815" y="564993"/>
                </a:lnTo>
                <a:lnTo>
                  <a:pt x="641815" y="565965"/>
                </a:lnTo>
                <a:lnTo>
                  <a:pt x="638898" y="565965"/>
                </a:lnTo>
                <a:lnTo>
                  <a:pt x="633063" y="564021"/>
                </a:lnTo>
                <a:lnTo>
                  <a:pt x="634036" y="564021"/>
                </a:lnTo>
                <a:lnTo>
                  <a:pt x="635008" y="563048"/>
                </a:lnTo>
                <a:lnTo>
                  <a:pt x="625284" y="562076"/>
                </a:lnTo>
                <a:lnTo>
                  <a:pt x="615559" y="560130"/>
                </a:lnTo>
                <a:lnTo>
                  <a:pt x="617504" y="560130"/>
                </a:lnTo>
                <a:lnTo>
                  <a:pt x="619449" y="560130"/>
                </a:lnTo>
                <a:lnTo>
                  <a:pt x="613614" y="558186"/>
                </a:lnTo>
                <a:lnTo>
                  <a:pt x="606807" y="556241"/>
                </a:lnTo>
                <a:lnTo>
                  <a:pt x="600972" y="554295"/>
                </a:lnTo>
                <a:lnTo>
                  <a:pt x="595138" y="552350"/>
                </a:lnTo>
                <a:lnTo>
                  <a:pt x="596110" y="553323"/>
                </a:lnTo>
                <a:lnTo>
                  <a:pt x="595138" y="553323"/>
                </a:lnTo>
                <a:lnTo>
                  <a:pt x="592220" y="551378"/>
                </a:lnTo>
                <a:lnTo>
                  <a:pt x="589303" y="550406"/>
                </a:lnTo>
                <a:lnTo>
                  <a:pt x="587358" y="549433"/>
                </a:lnTo>
                <a:lnTo>
                  <a:pt x="583468" y="548461"/>
                </a:lnTo>
                <a:lnTo>
                  <a:pt x="582496" y="548461"/>
                </a:lnTo>
                <a:lnTo>
                  <a:pt x="585413" y="549433"/>
                </a:lnTo>
                <a:lnTo>
                  <a:pt x="572771" y="545543"/>
                </a:lnTo>
                <a:lnTo>
                  <a:pt x="564992" y="543598"/>
                </a:lnTo>
                <a:lnTo>
                  <a:pt x="557212" y="540681"/>
                </a:lnTo>
                <a:lnTo>
                  <a:pt x="554295" y="540681"/>
                </a:lnTo>
                <a:lnTo>
                  <a:pt x="549433" y="539708"/>
                </a:lnTo>
                <a:lnTo>
                  <a:pt x="550405" y="538736"/>
                </a:lnTo>
                <a:lnTo>
                  <a:pt x="546515" y="536791"/>
                </a:lnTo>
                <a:lnTo>
                  <a:pt x="544570" y="535819"/>
                </a:lnTo>
                <a:lnTo>
                  <a:pt x="547488" y="536791"/>
                </a:lnTo>
                <a:lnTo>
                  <a:pt x="548460" y="537763"/>
                </a:lnTo>
                <a:lnTo>
                  <a:pt x="550405" y="537764"/>
                </a:lnTo>
                <a:lnTo>
                  <a:pt x="554295" y="538736"/>
                </a:lnTo>
                <a:lnTo>
                  <a:pt x="553322" y="537764"/>
                </a:lnTo>
                <a:lnTo>
                  <a:pt x="550405" y="537764"/>
                </a:lnTo>
                <a:lnTo>
                  <a:pt x="544570" y="535819"/>
                </a:lnTo>
                <a:lnTo>
                  <a:pt x="544570" y="535819"/>
                </a:lnTo>
                <a:lnTo>
                  <a:pt x="544570" y="535819"/>
                </a:lnTo>
                <a:lnTo>
                  <a:pt x="541653" y="534846"/>
                </a:lnTo>
                <a:lnTo>
                  <a:pt x="538736" y="533874"/>
                </a:lnTo>
                <a:lnTo>
                  <a:pt x="536791" y="532901"/>
                </a:lnTo>
                <a:lnTo>
                  <a:pt x="537763" y="532901"/>
                </a:lnTo>
                <a:lnTo>
                  <a:pt x="538735" y="531929"/>
                </a:lnTo>
                <a:lnTo>
                  <a:pt x="536791" y="531929"/>
                </a:lnTo>
                <a:lnTo>
                  <a:pt x="532901" y="530956"/>
                </a:lnTo>
                <a:lnTo>
                  <a:pt x="529984" y="529984"/>
                </a:lnTo>
                <a:lnTo>
                  <a:pt x="527067" y="529011"/>
                </a:lnTo>
                <a:lnTo>
                  <a:pt x="526094" y="529011"/>
                </a:lnTo>
                <a:lnTo>
                  <a:pt x="525121" y="529012"/>
                </a:lnTo>
                <a:lnTo>
                  <a:pt x="524149" y="529012"/>
                </a:lnTo>
                <a:lnTo>
                  <a:pt x="523177" y="528039"/>
                </a:lnTo>
                <a:lnTo>
                  <a:pt x="520259" y="527067"/>
                </a:lnTo>
                <a:lnTo>
                  <a:pt x="517342" y="526094"/>
                </a:lnTo>
                <a:lnTo>
                  <a:pt x="517342" y="525122"/>
                </a:lnTo>
                <a:lnTo>
                  <a:pt x="518314" y="524149"/>
                </a:lnTo>
                <a:lnTo>
                  <a:pt x="514425" y="524149"/>
                </a:lnTo>
                <a:lnTo>
                  <a:pt x="511507" y="524150"/>
                </a:lnTo>
                <a:lnTo>
                  <a:pt x="511507" y="523177"/>
                </a:lnTo>
                <a:lnTo>
                  <a:pt x="509562" y="523177"/>
                </a:lnTo>
                <a:lnTo>
                  <a:pt x="507617" y="522204"/>
                </a:lnTo>
                <a:lnTo>
                  <a:pt x="504700" y="521232"/>
                </a:lnTo>
                <a:lnTo>
                  <a:pt x="501782" y="521232"/>
                </a:lnTo>
                <a:lnTo>
                  <a:pt x="494003" y="517342"/>
                </a:lnTo>
                <a:lnTo>
                  <a:pt x="490114" y="515397"/>
                </a:lnTo>
                <a:lnTo>
                  <a:pt x="487195" y="513452"/>
                </a:lnTo>
                <a:lnTo>
                  <a:pt x="481361" y="512480"/>
                </a:lnTo>
                <a:lnTo>
                  <a:pt x="475527" y="509563"/>
                </a:lnTo>
                <a:lnTo>
                  <a:pt x="477471" y="509563"/>
                </a:lnTo>
                <a:lnTo>
                  <a:pt x="474554" y="508590"/>
                </a:lnTo>
                <a:lnTo>
                  <a:pt x="471637" y="507617"/>
                </a:lnTo>
                <a:lnTo>
                  <a:pt x="468719" y="505673"/>
                </a:lnTo>
                <a:lnTo>
                  <a:pt x="463857" y="502755"/>
                </a:lnTo>
                <a:lnTo>
                  <a:pt x="461912" y="501783"/>
                </a:lnTo>
                <a:lnTo>
                  <a:pt x="460939" y="502756"/>
                </a:lnTo>
                <a:lnTo>
                  <a:pt x="459967" y="503728"/>
                </a:lnTo>
                <a:lnTo>
                  <a:pt x="457050" y="501783"/>
                </a:lnTo>
                <a:lnTo>
                  <a:pt x="453160" y="499838"/>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Content Placeholder 12"/>
          <p:cNvSpPr>
            <a:spLocks noGrp="1"/>
          </p:cNvSpPr>
          <p:nvPr>
            <p:ph sz="quarter" idx="13"/>
          </p:nvPr>
        </p:nvSpPr>
        <p:spPr>
          <a:xfrm>
            <a:off x="841248" y="2743199"/>
            <a:ext cx="3017520" cy="291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14"/>
          <p:cNvSpPr>
            <a:spLocks noGrp="1"/>
          </p:cNvSpPr>
          <p:nvPr>
            <p:ph sz="quarter" idx="14"/>
          </p:nvPr>
        </p:nvSpPr>
        <p:spPr>
          <a:xfrm>
            <a:off x="5294376" y="2743200"/>
            <a:ext cx="3017520" cy="291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AC5B1FEA-406A-7749-A5C3-DDCB5F67A4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5B1FEA-406A-7749-A5C3-DDCB5F67A4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9"/>
          <a:stretch>
            <a:fillRect/>
          </a:stretch>
        </p:blipFill>
        <p:spPr>
          <a:xfrm>
            <a:off x="0" y="5828069"/>
            <a:ext cx="9144000" cy="1029931"/>
          </a:xfrm>
          <a:prstGeom prst="rect">
            <a:avLst/>
          </a:prstGeom>
        </p:spPr>
      </p:pic>
      <p:pic>
        <p:nvPicPr>
          <p:cNvPr id="9" name="Picture 8"/>
          <p:cNvPicPr>
            <a:picLocks noChangeAspect="1"/>
          </p:cNvPicPr>
          <p:nvPr/>
        </p:nvPicPr>
        <p:blipFill>
          <a:blip r:embed="rId10"/>
          <a:stretch>
            <a:fillRect/>
          </a:stretch>
        </p:blipFill>
        <p:spPr>
          <a:xfrm>
            <a:off x="0" y="0"/>
            <a:ext cx="9144000" cy="429884"/>
          </a:xfrm>
          <a:prstGeom prst="rect">
            <a:avLst/>
          </a:prstGeom>
        </p:spPr>
      </p:pic>
      <p:sp>
        <p:nvSpPr>
          <p:cNvPr id="2" name="Title Placeholder 1"/>
          <p:cNvSpPr>
            <a:spLocks noGrp="1"/>
          </p:cNvSpPr>
          <p:nvPr>
            <p:ph type="title"/>
          </p:nvPr>
        </p:nvSpPr>
        <p:spPr>
          <a:xfrm>
            <a:off x="551280" y="436563"/>
            <a:ext cx="8041440" cy="746778"/>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551280" y="1385048"/>
            <a:ext cx="8041440" cy="42241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4"/>
          </p:nvPr>
        </p:nvSpPr>
        <p:spPr>
          <a:xfrm>
            <a:off x="8385061" y="6492875"/>
            <a:ext cx="708137" cy="365125"/>
          </a:xfrm>
          <a:prstGeom prst="rect">
            <a:avLst/>
          </a:prstGeom>
        </p:spPr>
        <p:txBody>
          <a:bodyPr vert="horz" lIns="91440" tIns="45720" rIns="91440" bIns="45720" rtlCol="0" anchor="ctr"/>
          <a:lstStyle>
            <a:lvl1pPr algn="r">
              <a:defRPr sz="1000" b="0">
                <a:solidFill>
                  <a:schemeClr val="bg1"/>
                </a:solidFill>
                <a:latin typeface="Arial"/>
                <a:cs typeface="Arial"/>
              </a:defRPr>
            </a:lvl1pPr>
          </a:lstStyle>
          <a:p>
            <a:fld id="{AC5B1FEA-406A-7749-A5C3-DDCB5F67A4C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iming>
    <p:tnLst>
      <p:par>
        <p:cTn id="1" dur="indefinite" restart="never" nodeType="tmRoot"/>
      </p:par>
    </p:tnLst>
  </p:timing>
  <p:hf hdr="0" ftr="0" dt="0"/>
  <p:txStyles>
    <p:titleStyle>
      <a:lvl1pPr algn="ctr" defTabSz="457200" rtl="0" eaLnBrk="1" latinLnBrk="0" hangingPunct="1">
        <a:spcBef>
          <a:spcPct val="0"/>
        </a:spcBef>
        <a:buNone/>
        <a:defRPr sz="3600" kern="1200">
          <a:solidFill>
            <a:schemeClr val="tx1"/>
          </a:solidFill>
          <a:latin typeface="Georgia"/>
          <a:ea typeface="+mj-ea"/>
          <a:cs typeface="Georgia"/>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457200" rtl="0" eaLnBrk="1" latinLnBrk="0" hangingPunct="1">
        <a:spcBef>
          <a:spcPct val="20000"/>
        </a:spcBef>
        <a:buClr>
          <a:srgbClr val="00A4E0"/>
        </a:buClr>
        <a:buSzPct val="95000"/>
        <a:buFont typeface="Wingdings" charset="2"/>
        <a:buChar char="ü"/>
        <a:defRPr sz="2400" kern="1200">
          <a:solidFill>
            <a:schemeClr val="tx1"/>
          </a:solidFill>
          <a:latin typeface="Georgia"/>
          <a:ea typeface="+mn-ea"/>
          <a:cs typeface="Georgia"/>
        </a:defRPr>
      </a:lvl1pPr>
      <a:lvl2pPr marL="557784" indent="-228600" algn="l" defTabSz="457200" rtl="0" eaLnBrk="1" latinLnBrk="0" hangingPunct="1">
        <a:spcBef>
          <a:spcPct val="20000"/>
        </a:spcBef>
        <a:buClr>
          <a:srgbClr val="00A4E0"/>
        </a:buClr>
        <a:buSzPct val="95000"/>
        <a:buFont typeface="Wingdings" pitchFamily="2" charset="2"/>
        <a:buChar char="§"/>
        <a:defRPr sz="2200" kern="1200">
          <a:solidFill>
            <a:schemeClr val="tx1"/>
          </a:solidFill>
          <a:latin typeface="Georgia"/>
          <a:ea typeface="+mn-ea"/>
          <a:cs typeface="Georgia"/>
        </a:defRPr>
      </a:lvl2pPr>
      <a:lvl3pPr marL="822960" indent="-182880" algn="l" defTabSz="457200" rtl="0" eaLnBrk="1" latinLnBrk="0" hangingPunct="1">
        <a:spcBef>
          <a:spcPct val="20000"/>
        </a:spcBef>
        <a:buClr>
          <a:srgbClr val="00A4E0"/>
        </a:buClr>
        <a:buSzPct val="95000"/>
        <a:buFont typeface="Arial" pitchFamily="34" charset="0"/>
        <a:buChar char="•"/>
        <a:defRPr sz="2000" kern="1200">
          <a:solidFill>
            <a:schemeClr val="tx1"/>
          </a:solidFill>
          <a:latin typeface="Georgia"/>
          <a:ea typeface="+mn-ea"/>
          <a:cs typeface="Georgia"/>
        </a:defRPr>
      </a:lvl3pPr>
      <a:lvl4pPr marL="1097280" indent="-182880" algn="l" defTabSz="457200" rtl="0" eaLnBrk="1" latinLnBrk="0" hangingPunct="1">
        <a:spcBef>
          <a:spcPct val="20000"/>
        </a:spcBef>
        <a:buClr>
          <a:srgbClr val="00A4E0"/>
        </a:buClr>
        <a:buSzPct val="95000"/>
        <a:buFont typeface="Arial" pitchFamily="34" charset="0"/>
        <a:buChar char="•"/>
        <a:defRPr sz="1600" kern="1200">
          <a:solidFill>
            <a:schemeClr val="tx1"/>
          </a:solidFill>
          <a:latin typeface="Georgia"/>
          <a:ea typeface="+mn-ea"/>
          <a:cs typeface="Georgia"/>
        </a:defRPr>
      </a:lvl4pPr>
      <a:lvl5pPr marL="1417320" indent="-182880" algn="l" defTabSz="457200" rtl="0" eaLnBrk="1" latinLnBrk="0" hangingPunct="1">
        <a:spcBef>
          <a:spcPct val="20000"/>
        </a:spcBef>
        <a:buClr>
          <a:srgbClr val="00A4E0"/>
        </a:buClr>
        <a:buSzPct val="95000"/>
        <a:buFont typeface="Arial" pitchFamily="34" charset="0"/>
        <a:buChar char="•"/>
        <a:defRPr sz="1400" kern="1200" baseline="0">
          <a:solidFill>
            <a:schemeClr val="tx1"/>
          </a:solidFill>
          <a:latin typeface="Georgia"/>
          <a:ea typeface="+mn-ea"/>
          <a:cs typeface="Georgia"/>
        </a:defRPr>
      </a:lvl5pPr>
      <a:lvl6pPr marL="1645920" indent="-182880" algn="l" defTabSz="457200" rtl="0"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6pPr>
      <a:lvl7pPr marL="1920240" indent="-182880" algn="l" defTabSz="457200" rtl="0"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7pPr>
      <a:lvl8pPr marL="2194560" indent="-182880" algn="l" defTabSz="457200" rtl="0"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8pPr>
      <a:lvl9pPr marL="2468880" indent="-182880" algn="l" defTabSz="457200" rtl="0"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www.osha.gov/pls/oshaweb/owasrch.search_form?p_doc_type=STANDARDS&amp;p_toc_level=1&amp;p_keyvalue=1904"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www.cpsc.gov/PageFiles/99023/Section%2015%20(b)%20of%20the%20Consumer%20Product%20Safety%20Act.txt" TargetMode="External"/><Relationship Id="rId4" Type="http://schemas.openxmlformats.org/officeDocument/2006/relationships/hyperlink" Target="http://www.osha.gov/recordkeep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ntsb.gov/aviationquery/"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hyperlink" Target="mailto:cwysopal@veracod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0" y="360309"/>
            <a:ext cx="9144000" cy="3449691"/>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0" y="4108276"/>
            <a:ext cx="9144000" cy="2749724"/>
          </a:xfrm>
          <a:prstGeom prst="rect">
            <a:avLst/>
          </a:prstGeom>
        </p:spPr>
      </p:pic>
    </p:spTree>
    <p:extLst>
      <p:ext uri="{BB962C8B-B14F-4D97-AF65-F5344CB8AC3E}">
        <p14:creationId xmlns:p14="http://schemas.microsoft.com/office/powerpoint/2010/main" xmlns="" val="2101380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0067" y="4777980"/>
            <a:ext cx="7044533" cy="856264"/>
          </a:xfrm>
        </p:spPr>
        <p:txBody>
          <a:bodyPr/>
          <a:lstStyle/>
          <a:p>
            <a:r>
              <a:rPr lang="en-US" dirty="0" smtClean="0"/>
              <a:t>Future of Government Info Sharing</a:t>
            </a:r>
            <a:endParaRPr lang="en-US" dirty="0"/>
          </a:p>
        </p:txBody>
      </p:sp>
      <p:sp>
        <p:nvSpPr>
          <p:cNvPr id="3" name="Subtitle 2"/>
          <p:cNvSpPr>
            <a:spLocks noGrp="1"/>
          </p:cNvSpPr>
          <p:nvPr>
            <p:ph type="subTitle" idx="1"/>
          </p:nvPr>
        </p:nvSpPr>
        <p:spPr/>
        <p:txBody>
          <a:bodyPr>
            <a:normAutofit fontScale="92500" lnSpcReduction="10000"/>
          </a:bodyPr>
          <a:lstStyle/>
          <a:p>
            <a:r>
              <a:rPr lang="en-US" dirty="0" smtClean="0"/>
              <a:t>Chris Wysopal</a:t>
            </a:r>
          </a:p>
          <a:p>
            <a:r>
              <a:rPr lang="en-US" dirty="0" smtClean="0"/>
              <a:t>CTO &amp; Co-founder Veracode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900" y="1096963"/>
            <a:ext cx="3881020" cy="746778"/>
          </a:xfrm>
        </p:spPr>
        <p:txBody>
          <a:bodyPr/>
          <a:lstStyle/>
          <a:p>
            <a:r>
              <a:rPr lang="en-US" dirty="0" smtClean="0"/>
              <a:t>The Future of Disclosure?</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3</a:t>
            </a:fld>
            <a:endParaRPr lang="en-US"/>
          </a:p>
        </p:txBody>
      </p:sp>
      <p:pic>
        <p:nvPicPr>
          <p:cNvPr id="45058" name="Picture 2" descr="http://2.bp.blogspot.com/-yFNO3b-Hxxs/UTPngXZameI/AAAAAAAAAHI/pZw-3cLD-YU/s1600/cyber_warfare_time_magazine.jpg"/>
          <p:cNvPicPr>
            <a:picLocks noChangeAspect="1" noChangeArrowheads="1"/>
          </p:cNvPicPr>
          <p:nvPr/>
        </p:nvPicPr>
        <p:blipFill>
          <a:blip r:embed="rId3"/>
          <a:srcRect/>
          <a:stretch>
            <a:fillRect/>
          </a:stretch>
        </p:blipFill>
        <p:spPr bwMode="auto">
          <a:xfrm>
            <a:off x="4740275" y="652462"/>
            <a:ext cx="3810000" cy="501967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580" y="1643063"/>
            <a:ext cx="8041440" cy="746778"/>
          </a:xfrm>
        </p:spPr>
        <p:txBody>
          <a:bodyPr/>
          <a:lstStyle/>
          <a:p>
            <a:r>
              <a:rPr lang="en-US" sz="2800" dirty="0" smtClean="0"/>
              <a:t>Enhanced </a:t>
            </a:r>
            <a:r>
              <a:rPr lang="en-US" sz="2800" dirty="0" err="1" smtClean="0"/>
              <a:t>Cybersecurity</a:t>
            </a:r>
            <a:r>
              <a:rPr lang="en-US" sz="2800" dirty="0" smtClean="0"/>
              <a:t> Services</a:t>
            </a:r>
            <a:endParaRPr lang="en-US" sz="2800"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4</a:t>
            </a:fld>
            <a:endParaRPr lang="en-US"/>
          </a:p>
        </p:txBody>
      </p:sp>
      <p:sp>
        <p:nvSpPr>
          <p:cNvPr id="5" name="Content Placeholder 4"/>
          <p:cNvSpPr>
            <a:spLocks noGrp="1"/>
          </p:cNvSpPr>
          <p:nvPr>
            <p:ph idx="1"/>
          </p:nvPr>
        </p:nvSpPr>
        <p:spPr>
          <a:xfrm>
            <a:off x="2260600" y="2705848"/>
            <a:ext cx="5130800" cy="1569660"/>
          </a:xfrm>
          <a:prstGeom prst="rect">
            <a:avLst/>
          </a:prstGeom>
        </p:spPr>
        <p:txBody>
          <a:bodyPr wrap="square">
            <a:spAutoFit/>
          </a:bodyPr>
          <a:lstStyle/>
          <a:p>
            <a:pPr marL="0" indent="0">
              <a:buNone/>
            </a:pPr>
            <a:r>
              <a:rPr lang="en-US" dirty="0" smtClean="0"/>
              <a:t>Secret black boxes with secret signatures to protect you while maintaining ability of US Government to fight offensively</a:t>
            </a:r>
            <a:endParaRPr lang="en-US" dirty="0"/>
          </a:p>
        </p:txBody>
      </p:sp>
      <p:pic>
        <p:nvPicPr>
          <p:cNvPr id="48130" name="Picture 2" descr="U.S. Department of Homeland Security seal"/>
          <p:cNvPicPr>
            <a:picLocks noChangeAspect="1" noChangeArrowheads="1"/>
          </p:cNvPicPr>
          <p:nvPr/>
        </p:nvPicPr>
        <p:blipFill>
          <a:blip r:embed="rId3"/>
          <a:srcRect/>
          <a:stretch>
            <a:fillRect/>
          </a:stretch>
        </p:blipFill>
        <p:spPr bwMode="auto">
          <a:xfrm>
            <a:off x="955675" y="1595437"/>
            <a:ext cx="1028700" cy="1019176"/>
          </a:xfrm>
          <a:prstGeom prst="rect">
            <a:avLst/>
          </a:prstGeom>
          <a:noFill/>
        </p:spPr>
      </p:pic>
      <p:sp>
        <p:nvSpPr>
          <p:cNvPr id="7" name="Title 1"/>
          <p:cNvSpPr txBox="1">
            <a:spLocks/>
          </p:cNvSpPr>
          <p:nvPr/>
        </p:nvSpPr>
        <p:spPr>
          <a:xfrm>
            <a:off x="551280" y="436563"/>
            <a:ext cx="8041440" cy="746778"/>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smtClean="0">
                <a:ln>
                  <a:noFill/>
                </a:ln>
                <a:solidFill>
                  <a:schemeClr val="tx1"/>
                </a:solidFill>
                <a:effectLst/>
                <a:uLnTx/>
                <a:uFillTx/>
                <a:latin typeface="Georgia"/>
                <a:ea typeface="+mj-ea"/>
                <a:cs typeface="Georgia"/>
              </a:rPr>
              <a:t>Collect and Hide Information</a:t>
            </a:r>
            <a:endParaRPr kumimoji="0" lang="en-US" sz="3600" b="0" i="0" u="none" strike="noStrike" kern="1200" cap="none" spc="0" normalizeH="0" baseline="0" noProof="0" dirty="0">
              <a:ln>
                <a:noFill/>
              </a:ln>
              <a:solidFill>
                <a:schemeClr val="tx1"/>
              </a:solidFill>
              <a:effectLst/>
              <a:uLnTx/>
              <a:uFillTx/>
              <a:latin typeface="Georgia"/>
              <a:ea typeface="+mj-ea"/>
              <a:cs typeface="Georgi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576263"/>
            <a:ext cx="8041440" cy="746778"/>
          </a:xfrm>
        </p:spPr>
        <p:txBody>
          <a:bodyPr/>
          <a:lstStyle/>
          <a:p>
            <a:r>
              <a:rPr lang="en-US" dirty="0" smtClean="0"/>
              <a:t>US Government Vision for Information Sharing</a:t>
            </a:r>
            <a:endParaRPr lang="en-US" dirty="0"/>
          </a:p>
        </p:txBody>
      </p:sp>
      <p:sp>
        <p:nvSpPr>
          <p:cNvPr id="3" name="Content Placeholder 2"/>
          <p:cNvSpPr>
            <a:spLocks noGrp="1"/>
          </p:cNvSpPr>
          <p:nvPr>
            <p:ph idx="1"/>
          </p:nvPr>
        </p:nvSpPr>
        <p:spPr>
          <a:xfrm>
            <a:off x="551280" y="1841500"/>
            <a:ext cx="4262020" cy="3767668"/>
          </a:xfrm>
        </p:spPr>
        <p:txBody>
          <a:bodyPr/>
          <a:lstStyle/>
          <a:p>
            <a:pPr>
              <a:buNone/>
            </a:pPr>
            <a:r>
              <a:rPr lang="en-US" dirty="0" smtClean="0"/>
              <a:t> </a:t>
            </a:r>
          </a:p>
          <a:p>
            <a:r>
              <a:rPr lang="en-US" dirty="0" smtClean="0"/>
              <a:t>Threat information only</a:t>
            </a:r>
          </a:p>
          <a:p>
            <a:r>
              <a:rPr lang="en-US" dirty="0" smtClean="0"/>
              <a:t>Attack signatures and Attack sources</a:t>
            </a:r>
          </a:p>
          <a:p>
            <a:r>
              <a:rPr lang="en-US" dirty="0" smtClean="0"/>
              <a:t>Collected by </a:t>
            </a:r>
            <a:r>
              <a:rPr lang="en-US" dirty="0" err="1" smtClean="0"/>
              <a:t>Govt</a:t>
            </a:r>
            <a:r>
              <a:rPr lang="en-US" dirty="0" smtClean="0"/>
              <a:t> and Industry</a:t>
            </a:r>
          </a:p>
          <a:p>
            <a:r>
              <a:rPr lang="en-US" dirty="0" smtClean="0"/>
              <a:t>Shared in secret</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5</a:t>
            </a:fld>
            <a:endParaRPr lang="en-US"/>
          </a:p>
        </p:txBody>
      </p:sp>
      <p:pic>
        <p:nvPicPr>
          <p:cNvPr id="51202" name="Picture 2" descr="http://bostonoccupier.com/wp-content/uploads/2013/03/CISPA-.jpg"/>
          <p:cNvPicPr>
            <a:picLocks noChangeAspect="1" noChangeArrowheads="1"/>
          </p:cNvPicPr>
          <p:nvPr/>
        </p:nvPicPr>
        <p:blipFill>
          <a:blip r:embed="rId3"/>
          <a:srcRect/>
          <a:stretch>
            <a:fillRect/>
          </a:stretch>
        </p:blipFill>
        <p:spPr bwMode="auto">
          <a:xfrm>
            <a:off x="5064369" y="1790700"/>
            <a:ext cx="3816105" cy="3770313"/>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6600" y="436562"/>
            <a:ext cx="4318000" cy="5087938"/>
          </a:xfrm>
        </p:spPr>
        <p:txBody>
          <a:bodyPr/>
          <a:lstStyle/>
          <a:p>
            <a:r>
              <a:rPr lang="en-US" dirty="0" smtClean="0"/>
              <a:t>Or do we treat information risk as a health and safety issue</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6</a:t>
            </a:fld>
            <a:endParaRPr lang="en-US"/>
          </a:p>
        </p:txBody>
      </p:sp>
      <p:pic>
        <p:nvPicPr>
          <p:cNvPr id="47106" name="Picture 2" descr="http://timenewsfeed.files.wordpress.com/2013/03/1101830704_400.jpg?w=260"/>
          <p:cNvPicPr>
            <a:picLocks noChangeAspect="1" noChangeArrowheads="1"/>
          </p:cNvPicPr>
          <p:nvPr/>
        </p:nvPicPr>
        <p:blipFill>
          <a:blip r:embed="rId3"/>
          <a:srcRect/>
          <a:stretch>
            <a:fillRect/>
          </a:stretch>
        </p:blipFill>
        <p:spPr bwMode="auto">
          <a:xfrm>
            <a:off x="384175" y="546100"/>
            <a:ext cx="3792968" cy="50038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Collect and Share Information</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7</a:t>
            </a:fld>
            <a:endParaRPr lang="en-US"/>
          </a:p>
        </p:txBody>
      </p:sp>
      <p:pic>
        <p:nvPicPr>
          <p:cNvPr id="50178" name="Picture 2" descr="https://encrypted-tbn1.gstatic.com/images?q=tbn:ANd9GcTWXlJLIPPKJvjkKM2S_1tA2Zel4Ytv59BmC9yKZLJRQRWVci8New"/>
          <p:cNvPicPr>
            <a:picLocks noChangeAspect="1" noChangeArrowheads="1"/>
          </p:cNvPicPr>
          <p:nvPr/>
        </p:nvPicPr>
        <p:blipFill>
          <a:blip r:embed="rId3"/>
          <a:srcRect/>
          <a:stretch>
            <a:fillRect/>
          </a:stretch>
        </p:blipFill>
        <p:spPr bwMode="auto">
          <a:xfrm>
            <a:off x="549275" y="1484312"/>
            <a:ext cx="2466975" cy="1857376"/>
          </a:xfrm>
          <a:prstGeom prst="rect">
            <a:avLst/>
          </a:prstGeom>
          <a:noFill/>
        </p:spPr>
      </p:pic>
      <p:pic>
        <p:nvPicPr>
          <p:cNvPr id="50180" name="Picture 4" descr="Consumer Product Safety Commission Seal"/>
          <p:cNvPicPr>
            <a:picLocks noChangeAspect="1" noChangeArrowheads="1"/>
          </p:cNvPicPr>
          <p:nvPr/>
        </p:nvPicPr>
        <p:blipFill>
          <a:blip r:embed="rId4"/>
          <a:srcRect/>
          <a:stretch>
            <a:fillRect/>
          </a:stretch>
        </p:blipFill>
        <p:spPr bwMode="auto">
          <a:xfrm>
            <a:off x="2860675" y="3302000"/>
            <a:ext cx="2244725" cy="2244725"/>
          </a:xfrm>
          <a:prstGeom prst="rect">
            <a:avLst/>
          </a:prstGeom>
          <a:noFill/>
        </p:spPr>
      </p:pic>
      <p:pic>
        <p:nvPicPr>
          <p:cNvPr id="50182" name="Picture 6" descr="http://www.safetytrainingservices.net/Portals/166569/images/OSHAlogo.jpg"/>
          <p:cNvPicPr>
            <a:picLocks noChangeAspect="1" noChangeArrowheads="1"/>
          </p:cNvPicPr>
          <p:nvPr/>
        </p:nvPicPr>
        <p:blipFill>
          <a:blip r:embed="rId5"/>
          <a:srcRect/>
          <a:stretch>
            <a:fillRect/>
          </a:stretch>
        </p:blipFill>
        <p:spPr bwMode="auto">
          <a:xfrm>
            <a:off x="4297206" y="1357312"/>
            <a:ext cx="3157693" cy="1868488"/>
          </a:xfrm>
          <a:prstGeom prst="rect">
            <a:avLst/>
          </a:prstGeom>
          <a:noFill/>
        </p:spPr>
      </p:pic>
      <p:pic>
        <p:nvPicPr>
          <p:cNvPr id="50184" name="Picture 8" descr="http://www.veteranstoday.com/wp-content/uploads/2012/08/6b.-NTSB-Blue.png"/>
          <p:cNvPicPr>
            <a:picLocks noChangeAspect="1" noChangeArrowheads="1"/>
          </p:cNvPicPr>
          <p:nvPr/>
        </p:nvPicPr>
        <p:blipFill>
          <a:blip r:embed="rId6"/>
          <a:srcRect/>
          <a:stretch>
            <a:fillRect/>
          </a:stretch>
        </p:blipFill>
        <p:spPr bwMode="auto">
          <a:xfrm>
            <a:off x="6388100" y="3273425"/>
            <a:ext cx="2257424" cy="2257424"/>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271463"/>
            <a:ext cx="8041440" cy="746778"/>
          </a:xfrm>
        </p:spPr>
        <p:txBody>
          <a:bodyPr/>
          <a:lstStyle/>
          <a:p>
            <a:r>
              <a:rPr lang="en-US" dirty="0" smtClean="0"/>
              <a:t>Mandatory Reporting</a:t>
            </a:r>
            <a:endParaRPr lang="en-US" dirty="0"/>
          </a:p>
        </p:txBody>
      </p:sp>
      <p:sp>
        <p:nvSpPr>
          <p:cNvPr id="3" name="Content Placeholder 2"/>
          <p:cNvSpPr>
            <a:spLocks noGrp="1"/>
          </p:cNvSpPr>
          <p:nvPr>
            <p:ph idx="1"/>
          </p:nvPr>
        </p:nvSpPr>
        <p:spPr>
          <a:xfrm>
            <a:off x="563980" y="889748"/>
            <a:ext cx="8041440" cy="4224120"/>
          </a:xfrm>
        </p:spPr>
        <p:txBody>
          <a:bodyPr>
            <a:noAutofit/>
          </a:bodyPr>
          <a:lstStyle/>
          <a:p>
            <a:pPr marL="228600" lvl="1">
              <a:buFont typeface="Wingdings" charset="2"/>
              <a:buChar char="ü"/>
            </a:pPr>
            <a:r>
              <a:rPr lang="en-US" sz="1400" b="1" dirty="0" smtClean="0"/>
              <a:t>CDC</a:t>
            </a:r>
            <a:r>
              <a:rPr lang="en-US" sz="1400" dirty="0" smtClean="0"/>
              <a:t> - Mandatory Reporting of Infectious Diseases by Clinicians</a:t>
            </a:r>
          </a:p>
          <a:p>
            <a:endParaRPr lang="en-US" sz="1400" dirty="0" smtClean="0"/>
          </a:p>
          <a:p>
            <a:r>
              <a:rPr lang="en-US" sz="1400" dirty="0" smtClean="0"/>
              <a:t>Under the </a:t>
            </a:r>
            <a:r>
              <a:rPr lang="en-US" sz="1400" b="1" dirty="0" smtClean="0"/>
              <a:t>OSHA</a:t>
            </a:r>
            <a:r>
              <a:rPr lang="en-US" sz="1400" dirty="0" smtClean="0"/>
              <a:t> Recordkeeping regulation (</a:t>
            </a:r>
            <a:r>
              <a:rPr lang="en-US" sz="1400" dirty="0" smtClean="0">
                <a:hlinkClick r:id="rId3" tooltip="29 CFR 1904"/>
              </a:rPr>
              <a:t>29 CFR 1904</a:t>
            </a:r>
            <a:r>
              <a:rPr lang="en-US" sz="1400" dirty="0" smtClean="0"/>
              <a:t>), </a:t>
            </a:r>
            <a:r>
              <a:rPr lang="en-US" sz="1400" dirty="0" smtClean="0">
                <a:hlinkClick r:id="rId4"/>
              </a:rPr>
              <a:t>covered</a:t>
            </a:r>
            <a:r>
              <a:rPr lang="en-US" sz="1400" dirty="0" smtClean="0"/>
              <a:t> employers are required to prepare and maintain records of serious occupational injuries and illnesses, using the OSHA 300 Log. This information is important for employers, workers and OSHA in evaluating the safety of a workplace, understanding industry hazards, and implementing worker protections to reduce and eliminate hazards.</a:t>
            </a:r>
          </a:p>
          <a:p>
            <a:endParaRPr lang="en-US" sz="1400" dirty="0" smtClean="0"/>
          </a:p>
          <a:p>
            <a:r>
              <a:rPr lang="en-US" sz="1400" b="1" dirty="0" smtClean="0"/>
              <a:t>CPSC - Dangerous Products (Section 15)</a:t>
            </a:r>
            <a:r>
              <a:rPr lang="en-US" sz="1400" dirty="0" smtClean="0"/>
              <a:t> - Manufacturers, importers, distributors, and retailers are </a:t>
            </a:r>
            <a:r>
              <a:rPr lang="en-US" sz="1400" b="1" dirty="0" smtClean="0"/>
              <a:t>required to report</a:t>
            </a:r>
            <a:r>
              <a:rPr lang="en-US" sz="1400" dirty="0" smtClean="0"/>
              <a:t> to CPSC under </a:t>
            </a:r>
            <a:r>
              <a:rPr lang="en-US" sz="1400" dirty="0" smtClean="0">
                <a:hlinkClick r:id="rId5"/>
              </a:rPr>
              <a:t>Section 15 (b) of the Consumer Product Safety Act</a:t>
            </a:r>
            <a:r>
              <a:rPr lang="en-US" sz="1400" dirty="0" smtClean="0"/>
              <a:t> (CPSA) </a:t>
            </a:r>
            <a:r>
              <a:rPr lang="en-US" sz="1400" b="1" dirty="0" smtClean="0"/>
              <a:t>within 24 hours</a:t>
            </a:r>
            <a:r>
              <a:rPr lang="en-US" sz="1400" dirty="0" smtClean="0"/>
              <a:t> of obtaining information which reasonably supports the conclusion that a product does not comply with a safety rule issued under the CPSA, or contains a defect which could create a substantial risk of injury to the public or presents an unreasonable risk of serious injury or death, 15 U.S.C. § 2064(b). </a:t>
            </a:r>
          </a:p>
          <a:p>
            <a:endParaRPr lang="en-US" sz="1400" dirty="0" smtClean="0"/>
          </a:p>
          <a:p>
            <a:r>
              <a:rPr lang="en-US" sz="1400" b="1" dirty="0" smtClean="0"/>
              <a:t>NTSB</a:t>
            </a:r>
            <a:r>
              <a:rPr lang="en-US" sz="1400" dirty="0" smtClean="0"/>
              <a:t> Federal regulations require operators to notify the NTSB immediately of aviation accidents and certain incidents. An accident is defined as an occurrence associated with the operation of an aircraft that takes place between the time any person boards the aircraft with the intention of flight and all such persons have disembarked, and in which any person suffers death or serious injury, or in which the aircraft receives substantial damage. An incident is an occurrence other than an accident that affects or could affect the safety of operations. </a:t>
            </a:r>
          </a:p>
        </p:txBody>
      </p:sp>
      <p:sp>
        <p:nvSpPr>
          <p:cNvPr id="4" name="Slide Number Placeholder 3"/>
          <p:cNvSpPr>
            <a:spLocks noGrp="1"/>
          </p:cNvSpPr>
          <p:nvPr>
            <p:ph type="sldNum" sz="quarter" idx="12"/>
          </p:nvPr>
        </p:nvSpPr>
        <p:spPr/>
        <p:txBody>
          <a:bodyPr/>
          <a:lstStyle/>
          <a:p>
            <a:fld id="{AC5B1FEA-406A-7749-A5C3-DDCB5F67A4CE}"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www.stinsonflyer.com/avphoto/dc3-04b.jpg"/>
          <p:cNvPicPr>
            <a:picLocks noChangeAspect="1" noChangeArrowheads="1"/>
          </p:cNvPicPr>
          <p:nvPr/>
        </p:nvPicPr>
        <p:blipFill>
          <a:blip r:embed="rId3" cstate="print">
            <a:lum bright="24000" contrast="-42000"/>
          </a:blip>
          <a:srcRect/>
          <a:stretch>
            <a:fillRect/>
          </a:stretch>
        </p:blipFill>
        <p:spPr bwMode="auto">
          <a:xfrm>
            <a:off x="0" y="-409358"/>
            <a:ext cx="9143999" cy="7267357"/>
          </a:xfrm>
          <a:prstGeom prst="rect">
            <a:avLst/>
          </a:prstGeom>
          <a:noFill/>
        </p:spPr>
      </p:pic>
      <p:sp>
        <p:nvSpPr>
          <p:cNvPr id="2" name="Title 1"/>
          <p:cNvSpPr>
            <a:spLocks noGrp="1"/>
          </p:cNvSpPr>
          <p:nvPr>
            <p:ph type="title"/>
          </p:nvPr>
        </p:nvSpPr>
        <p:spPr/>
        <p:txBody>
          <a:bodyPr/>
          <a:lstStyle/>
          <a:p>
            <a:r>
              <a:rPr lang="en-US" b="1" dirty="0" smtClean="0"/>
              <a:t>Commercial Airlines</a:t>
            </a:r>
            <a:endParaRPr lang="en-US" b="1" dirty="0"/>
          </a:p>
        </p:txBody>
      </p:sp>
      <p:sp>
        <p:nvSpPr>
          <p:cNvPr id="3" name="Content Placeholder 2"/>
          <p:cNvSpPr>
            <a:spLocks noGrp="1"/>
          </p:cNvSpPr>
          <p:nvPr>
            <p:ph idx="1"/>
          </p:nvPr>
        </p:nvSpPr>
        <p:spPr/>
        <p:txBody>
          <a:bodyPr>
            <a:noAutofit/>
          </a:bodyPr>
          <a:lstStyle/>
          <a:p>
            <a:r>
              <a:rPr lang="en-US" sz="3200" dirty="0" smtClean="0"/>
              <a:t>First commercial air transportation began in early 1920’s transporting mail</a:t>
            </a:r>
          </a:p>
          <a:p>
            <a:r>
              <a:rPr lang="en-US" sz="3200" dirty="0" smtClean="0"/>
              <a:t>Late 1920’s first passenger travel. Seen as supplementing rail service</a:t>
            </a:r>
          </a:p>
          <a:p>
            <a:r>
              <a:rPr lang="en-US" sz="3200" dirty="0" smtClean="0"/>
              <a:t>1930’s first international flights. LA to Shanghai and New York to London.</a:t>
            </a:r>
          </a:p>
          <a:p>
            <a:r>
              <a:rPr lang="en-US" sz="3200" dirty="0" smtClean="0"/>
              <a:t>1930’s Airlines become profitable.</a:t>
            </a:r>
          </a:p>
          <a:p>
            <a:r>
              <a:rPr lang="en-US" sz="3200" dirty="0" smtClean="0"/>
              <a:t>Air accidents in the hundreds/year by 1940</a:t>
            </a:r>
          </a:p>
          <a:p>
            <a:endParaRPr lang="en-US" sz="3200" dirty="0" smtClean="0"/>
          </a:p>
          <a:p>
            <a:endParaRPr lang="en-US"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NTSB History</a:t>
            </a:r>
            <a:endParaRPr lang="en-US" dirty="0"/>
          </a:p>
        </p:txBody>
      </p:sp>
      <p:sp>
        <p:nvSpPr>
          <p:cNvPr id="3" name="Content Placeholder 2"/>
          <p:cNvSpPr>
            <a:spLocks noGrp="1"/>
          </p:cNvSpPr>
          <p:nvPr>
            <p:ph idx="1"/>
          </p:nvPr>
        </p:nvSpPr>
        <p:spPr>
          <a:xfrm>
            <a:off x="533400" y="1549400"/>
            <a:ext cx="8229600" cy="3873500"/>
          </a:xfrm>
        </p:spPr>
        <p:txBody>
          <a:bodyPr>
            <a:normAutofit fontScale="92500" lnSpcReduction="10000"/>
          </a:bodyPr>
          <a:lstStyle/>
          <a:p>
            <a:r>
              <a:rPr lang="en-US" dirty="0" smtClean="0"/>
              <a:t>National Transportation Safety Board</a:t>
            </a:r>
          </a:p>
          <a:p>
            <a:r>
              <a:rPr lang="en-US" dirty="0" smtClean="0"/>
              <a:t>Investigates Air, Rail, Commercial Vehicle, Ship, Pipeline </a:t>
            </a:r>
            <a:r>
              <a:rPr lang="en-US" dirty="0" smtClean="0"/>
              <a:t>accidents</a:t>
            </a:r>
          </a:p>
          <a:p>
            <a:r>
              <a:rPr lang="en-US" dirty="0" smtClean="0"/>
              <a:t>Evaluates </a:t>
            </a:r>
            <a:r>
              <a:rPr lang="en-US" dirty="0" smtClean="0"/>
              <a:t>the effectiveness of other government agencies' programs for preventing transportation </a:t>
            </a:r>
            <a:r>
              <a:rPr lang="en-US" dirty="0" smtClean="0"/>
              <a:t>accidents </a:t>
            </a:r>
            <a:endParaRPr lang="en-US" dirty="0" smtClean="0"/>
          </a:p>
          <a:p>
            <a:r>
              <a:rPr lang="en-US" dirty="0" smtClean="0"/>
              <a:t>Grew out of Civil Aeronautics Board created by Bureau of Air Commerce Act in 1938</a:t>
            </a:r>
          </a:p>
          <a:p>
            <a:r>
              <a:rPr lang="en-US" dirty="0" smtClean="0"/>
              <a:t>First Major investigation was Douglas DC-3A crash in August 1940.</a:t>
            </a:r>
          </a:p>
          <a:p>
            <a:r>
              <a:rPr lang="en-US" i="1" dirty="0" smtClean="0"/>
              <a:t>Approx 20 years after commercial air transportation begins, formal incident investigation starts</a:t>
            </a:r>
          </a:p>
          <a:p>
            <a:endParaRPr lang="en-US" dirty="0"/>
          </a:p>
        </p:txBody>
      </p:sp>
      <p:pic>
        <p:nvPicPr>
          <p:cNvPr id="18434" name="Picture 2" descr="https://si0.twimg.com/profile_images/1095526070/NTSBSeal.jpg"/>
          <p:cNvPicPr>
            <a:picLocks noChangeAspect="1" noChangeArrowheads="1"/>
          </p:cNvPicPr>
          <p:nvPr/>
        </p:nvPicPr>
        <p:blipFill>
          <a:blip r:embed="rId3" cstate="print"/>
          <a:srcRect/>
          <a:stretch>
            <a:fillRect/>
          </a:stretch>
        </p:blipFill>
        <p:spPr bwMode="auto">
          <a:xfrm>
            <a:off x="1600200" y="433650"/>
            <a:ext cx="1066800" cy="1079757"/>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Incident Disclosure</a:t>
            </a:r>
            <a:endParaRPr lang="en-US" dirty="0"/>
          </a:p>
        </p:txBody>
      </p:sp>
      <p:pic>
        <p:nvPicPr>
          <p:cNvPr id="14337" name="Picture 1"/>
          <p:cNvPicPr>
            <a:picLocks noChangeAspect="1" noChangeArrowheads="1"/>
          </p:cNvPicPr>
          <p:nvPr/>
        </p:nvPicPr>
        <p:blipFill>
          <a:blip r:embed="rId3" cstate="print"/>
          <a:srcRect/>
          <a:stretch>
            <a:fillRect/>
          </a:stretch>
        </p:blipFill>
        <p:spPr bwMode="auto">
          <a:xfrm>
            <a:off x="0" y="508000"/>
            <a:ext cx="9156700" cy="558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00"/>
            <a:ext cx="8229600" cy="639762"/>
          </a:xfrm>
        </p:spPr>
        <p:txBody>
          <a:bodyPr>
            <a:normAutofit/>
          </a:bodyPr>
          <a:lstStyle/>
          <a:p>
            <a:r>
              <a:rPr lang="en-US" sz="2800" dirty="0" smtClean="0"/>
              <a:t>NTSB Aviation Disclosure</a:t>
            </a:r>
            <a:endParaRPr lang="en-US" sz="2800" dirty="0"/>
          </a:p>
        </p:txBody>
      </p:sp>
      <p:sp>
        <p:nvSpPr>
          <p:cNvPr id="5" name="Rectangle 4"/>
          <p:cNvSpPr/>
          <p:nvPr/>
        </p:nvSpPr>
        <p:spPr>
          <a:xfrm>
            <a:off x="2933700" y="6159500"/>
            <a:ext cx="3625608" cy="369332"/>
          </a:xfrm>
          <a:prstGeom prst="rect">
            <a:avLst/>
          </a:prstGeom>
        </p:spPr>
        <p:txBody>
          <a:bodyPr wrap="none">
            <a:spAutoFit/>
          </a:bodyPr>
          <a:lstStyle/>
          <a:p>
            <a:r>
              <a:rPr lang="en-US" dirty="0" smtClean="0">
                <a:hlinkClick r:id="rId3"/>
              </a:rPr>
              <a:t>http://www.ntsb.gov/aviationquery/</a:t>
            </a:r>
            <a:endParaRPr lang="en-US" dirty="0"/>
          </a:p>
        </p:txBody>
      </p:sp>
      <p:pic>
        <p:nvPicPr>
          <p:cNvPr id="13314" name="Picture 2"/>
          <p:cNvPicPr>
            <a:picLocks noChangeAspect="1" noChangeArrowheads="1"/>
          </p:cNvPicPr>
          <p:nvPr/>
        </p:nvPicPr>
        <p:blipFill>
          <a:blip r:embed="rId4" cstate="print"/>
          <a:srcRect/>
          <a:stretch>
            <a:fillRect/>
          </a:stretch>
        </p:blipFill>
        <p:spPr bwMode="auto">
          <a:xfrm>
            <a:off x="1452563" y="833438"/>
            <a:ext cx="6238875" cy="5191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228600" y="0"/>
            <a:ext cx="8731515" cy="66350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152399" y="381000"/>
            <a:ext cx="8804979" cy="1752600"/>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195000" y="2743199"/>
            <a:ext cx="8791420" cy="13291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280" y="652463"/>
            <a:ext cx="8041440" cy="452437"/>
          </a:xfrm>
        </p:spPr>
        <p:txBody>
          <a:bodyPr>
            <a:normAutofit fontScale="90000"/>
          </a:bodyPr>
          <a:lstStyle/>
          <a:p>
            <a:r>
              <a:rPr lang="en-US" dirty="0" smtClean="0"/>
              <a:t>NTSB Incident Reports</a:t>
            </a:r>
            <a:br>
              <a:rPr lang="en-US" dirty="0" smtClean="0"/>
            </a:br>
            <a:endParaRPr lang="en-US" dirty="0"/>
          </a:p>
        </p:txBody>
      </p:sp>
      <p:sp>
        <p:nvSpPr>
          <p:cNvPr id="3" name="Content Placeholder 2"/>
          <p:cNvSpPr>
            <a:spLocks noGrp="1"/>
          </p:cNvSpPr>
          <p:nvPr>
            <p:ph idx="1"/>
          </p:nvPr>
        </p:nvSpPr>
        <p:spPr/>
        <p:txBody>
          <a:bodyPr/>
          <a:lstStyle/>
          <a:p>
            <a:r>
              <a:rPr lang="en-US" dirty="0" smtClean="0"/>
              <a:t>Designed to learn from incidents and Improve</a:t>
            </a:r>
          </a:p>
          <a:p>
            <a:r>
              <a:rPr lang="en-US" dirty="0" smtClean="0"/>
              <a:t>Root cause analysis</a:t>
            </a:r>
          </a:p>
          <a:p>
            <a:r>
              <a:rPr lang="en-US" dirty="0" smtClean="0"/>
              <a:t>Recommendations</a:t>
            </a:r>
          </a:p>
          <a:p>
            <a:r>
              <a:rPr lang="en-US" dirty="0" smtClean="0"/>
              <a:t>Public Investigation for serious incidents</a:t>
            </a:r>
          </a:p>
          <a:p>
            <a:r>
              <a:rPr lang="en-US" dirty="0" smtClean="0"/>
              <a:t>Follows sound engineering principle of learning from failures.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5B1FEA-406A-7749-A5C3-DDCB5F67A4CE}" type="slidenum">
              <a:rPr lang="en-US" smtClean="0"/>
              <a:pPr/>
              <a:t>16</a:t>
            </a:fld>
            <a:endParaRPr lang="en-US"/>
          </a:p>
        </p:txBody>
      </p:sp>
      <p:pic>
        <p:nvPicPr>
          <p:cNvPr id="3074" name="Picture 2"/>
          <p:cNvPicPr>
            <a:picLocks noChangeAspect="1" noChangeArrowheads="1"/>
          </p:cNvPicPr>
          <p:nvPr/>
        </p:nvPicPr>
        <p:blipFill>
          <a:blip r:embed="rId3"/>
          <a:srcRect/>
          <a:stretch>
            <a:fillRect/>
          </a:stretch>
        </p:blipFill>
        <p:spPr bwMode="auto">
          <a:xfrm>
            <a:off x="1304925" y="2900363"/>
            <a:ext cx="6762750" cy="2581275"/>
          </a:xfrm>
          <a:prstGeom prst="rect">
            <a:avLst/>
          </a:prstGeom>
          <a:noFill/>
          <a:ln w="9525">
            <a:noFill/>
            <a:miter lim="800000"/>
            <a:headEnd/>
            <a:tailEnd/>
          </a:ln>
        </p:spPr>
      </p:pic>
      <p:sp>
        <p:nvSpPr>
          <p:cNvPr id="5" name="TextBox 4"/>
          <p:cNvSpPr txBox="1"/>
          <p:nvPr/>
        </p:nvSpPr>
        <p:spPr>
          <a:xfrm>
            <a:off x="800100" y="622300"/>
            <a:ext cx="7632218" cy="461665"/>
          </a:xfrm>
          <a:prstGeom prst="rect">
            <a:avLst/>
          </a:prstGeom>
          <a:noFill/>
        </p:spPr>
        <p:txBody>
          <a:bodyPr wrap="none" rtlCol="0">
            <a:spAutoFit/>
          </a:bodyPr>
          <a:lstStyle/>
          <a:p>
            <a:r>
              <a:rPr lang="en-US" sz="2400" dirty="0" smtClean="0">
                <a:latin typeface="Georgia" pitchFamily="18" charset="0"/>
              </a:rPr>
              <a:t>Outcome is Safety Recommendations and Safety Alerts</a:t>
            </a:r>
          </a:p>
        </p:txBody>
      </p:sp>
      <p:sp>
        <p:nvSpPr>
          <p:cNvPr id="6" name="TextBox 5"/>
          <p:cNvSpPr txBox="1"/>
          <p:nvPr/>
        </p:nvSpPr>
        <p:spPr>
          <a:xfrm>
            <a:off x="406400" y="1422400"/>
            <a:ext cx="8483600" cy="1200329"/>
          </a:xfrm>
          <a:prstGeom prst="rect">
            <a:avLst/>
          </a:prstGeom>
          <a:noFill/>
        </p:spPr>
        <p:txBody>
          <a:bodyPr wrap="square" rtlCol="0">
            <a:spAutoFit/>
          </a:bodyPr>
          <a:lstStyle/>
          <a:p>
            <a:pPr algn="ctr"/>
            <a:r>
              <a:rPr lang="en-US" sz="2400" i="1" dirty="0" smtClean="0">
                <a:latin typeface="Georgia" pitchFamily="18" charset="0"/>
              </a:rPr>
              <a:t>“</a:t>
            </a:r>
            <a:r>
              <a:rPr lang="en-US" sz="2400" i="1" dirty="0" smtClean="0"/>
              <a:t>Recommendations are sent to the organization best able to address the safety issue, whether it is public or private.”</a:t>
            </a:r>
            <a:endParaRPr lang="en-US" sz="2400" i="1" dirty="0" smtClean="0">
              <a:latin typeface="Georgia"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www.jklossner.com/computerworld/images/cybersecurity.gif"/>
          <p:cNvPicPr>
            <a:picLocks noChangeAspect="1" noChangeArrowheads="1"/>
          </p:cNvPicPr>
          <p:nvPr/>
        </p:nvPicPr>
        <p:blipFill>
          <a:blip r:embed="rId3" cstate="print"/>
          <a:srcRect/>
          <a:stretch>
            <a:fillRect/>
          </a:stretch>
        </p:blipFill>
        <p:spPr bwMode="auto">
          <a:xfrm>
            <a:off x="1" y="152400"/>
            <a:ext cx="9144000" cy="65405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Internet Incident History</a:t>
            </a:r>
            <a:endParaRPr lang="en-US" dirty="0"/>
          </a:p>
        </p:txBody>
      </p:sp>
      <p:sp>
        <p:nvSpPr>
          <p:cNvPr id="3" name="Content Placeholder 2"/>
          <p:cNvSpPr>
            <a:spLocks noGrp="1"/>
          </p:cNvSpPr>
          <p:nvPr>
            <p:ph idx="1"/>
          </p:nvPr>
        </p:nvSpPr>
        <p:spPr>
          <a:xfrm>
            <a:off x="457200" y="1600200"/>
            <a:ext cx="6934200" cy="4525963"/>
          </a:xfrm>
        </p:spPr>
        <p:txBody>
          <a:bodyPr/>
          <a:lstStyle/>
          <a:p>
            <a:r>
              <a:rPr lang="en-US" dirty="0" smtClean="0"/>
              <a:t>DARPA funds CERT/CC at Carnegie Mellon following Morris Worm incident in 1988</a:t>
            </a:r>
          </a:p>
          <a:p>
            <a:r>
              <a:rPr lang="en-US" dirty="0" smtClean="0"/>
              <a:t>Commercial Internet began in 1992. Congress allows NSFNET to carry commercial traffic</a:t>
            </a:r>
          </a:p>
          <a:p>
            <a:r>
              <a:rPr lang="en-US" i="1" dirty="0" smtClean="0"/>
              <a:t>It’s 20 years later.  Where are our formal incident investigations?</a:t>
            </a:r>
          </a:p>
        </p:txBody>
      </p:sp>
      <p:pic>
        <p:nvPicPr>
          <p:cNvPr id="16386" name="Picture 2" descr="https://encrypted-tbn0.gstatic.com/images?q=tbn:ANd9GcQJ-AJ9Qpp9CHygUU2IppLvi_G-r4G0Rb91mMJMEMH5DlZDX-5YqQ"/>
          <p:cNvPicPr>
            <a:picLocks noChangeAspect="1" noChangeArrowheads="1"/>
          </p:cNvPicPr>
          <p:nvPr/>
        </p:nvPicPr>
        <p:blipFill>
          <a:blip r:embed="rId3" cstate="print"/>
          <a:srcRect/>
          <a:stretch>
            <a:fillRect/>
          </a:stretch>
        </p:blipFill>
        <p:spPr bwMode="auto">
          <a:xfrm>
            <a:off x="6934200" y="1752600"/>
            <a:ext cx="1602871" cy="838200"/>
          </a:xfrm>
          <a:prstGeom prst="rect">
            <a:avLst/>
          </a:prstGeom>
          <a:noFill/>
        </p:spPr>
      </p:pic>
      <p:pic>
        <p:nvPicPr>
          <p:cNvPr id="16388" name="Picture 4" descr="http://upload.wikimedia.org/wikipedia/en/e/ec/Nsfnet_logo.jpg"/>
          <p:cNvPicPr>
            <a:picLocks noChangeAspect="1" noChangeArrowheads="1"/>
          </p:cNvPicPr>
          <p:nvPr/>
        </p:nvPicPr>
        <p:blipFill>
          <a:blip r:embed="rId4" cstate="print"/>
          <a:srcRect/>
          <a:stretch>
            <a:fillRect/>
          </a:stretch>
        </p:blipFill>
        <p:spPr bwMode="auto">
          <a:xfrm>
            <a:off x="6858000" y="3124200"/>
            <a:ext cx="1536699" cy="16764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Breach for PII Disclosure</a:t>
            </a:r>
            <a:endParaRPr lang="en-US" dirty="0"/>
          </a:p>
        </p:txBody>
      </p:sp>
      <p:sp>
        <p:nvSpPr>
          <p:cNvPr id="3" name="Content Placeholder 2"/>
          <p:cNvSpPr>
            <a:spLocks noGrp="1"/>
          </p:cNvSpPr>
          <p:nvPr>
            <p:ph idx="1"/>
          </p:nvPr>
        </p:nvSpPr>
        <p:spPr/>
        <p:txBody>
          <a:bodyPr/>
          <a:lstStyle/>
          <a:p>
            <a:r>
              <a:rPr lang="en-US" dirty="0" smtClean="0"/>
              <a:t>Data breach disclosure requirements vary widely based on type of information compromised and jurisdiction</a:t>
            </a:r>
          </a:p>
          <a:p>
            <a:r>
              <a:rPr lang="en-US" dirty="0" smtClean="0"/>
              <a:t>Most states require PII to trigger mandatory disclosure</a:t>
            </a:r>
          </a:p>
          <a:p>
            <a:r>
              <a:rPr lang="en-US" dirty="0" smtClean="0"/>
              <a:t>CA recently passed disclosure requirement for account information breach</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C5B1FEA-406A-7749-A5C3-DDCB5F67A4CE}" type="slidenum">
              <a:rPr lang="en-US" smtClean="0"/>
              <a:pPr/>
              <a:t>20</a:t>
            </a:fld>
            <a:endParaRPr lang="en-US"/>
          </a:p>
        </p:txBody>
      </p:sp>
      <p:pic>
        <p:nvPicPr>
          <p:cNvPr id="1026" name="Picture 2"/>
          <p:cNvPicPr>
            <a:picLocks noChangeAspect="1" noChangeArrowheads="1"/>
          </p:cNvPicPr>
          <p:nvPr/>
        </p:nvPicPr>
        <p:blipFill>
          <a:blip r:embed="rId3"/>
          <a:srcRect/>
          <a:stretch>
            <a:fillRect/>
          </a:stretch>
        </p:blipFill>
        <p:spPr bwMode="auto">
          <a:xfrm>
            <a:off x="173038" y="630238"/>
            <a:ext cx="8543925" cy="4962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Laws Vary</a:t>
            </a:r>
            <a:endParaRPr lang="en-US" dirty="0"/>
          </a:p>
        </p:txBody>
      </p:sp>
      <p:pic>
        <p:nvPicPr>
          <p:cNvPr id="40962" name="Picture 2"/>
          <p:cNvPicPr>
            <a:picLocks noChangeAspect="1" noChangeArrowheads="1"/>
          </p:cNvPicPr>
          <p:nvPr/>
        </p:nvPicPr>
        <p:blipFill>
          <a:blip r:embed="rId3"/>
          <a:srcRect/>
          <a:stretch>
            <a:fillRect/>
          </a:stretch>
        </p:blipFill>
        <p:spPr bwMode="auto">
          <a:xfrm>
            <a:off x="50800" y="1676400"/>
            <a:ext cx="8985865" cy="419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080" y="1549400"/>
            <a:ext cx="4858920" cy="4072468"/>
          </a:xfrm>
        </p:spPr>
        <p:txBody>
          <a:bodyPr/>
          <a:lstStyle/>
          <a:p>
            <a:r>
              <a:rPr lang="en-US" dirty="0" smtClean="0"/>
              <a:t>Notify the effected people what data was compromised</a:t>
            </a:r>
          </a:p>
          <a:p>
            <a:r>
              <a:rPr lang="en-US" dirty="0" smtClean="0"/>
              <a:t>No requirement to disclose root cause</a:t>
            </a:r>
          </a:p>
          <a:p>
            <a:r>
              <a:rPr lang="en-US" dirty="0" smtClean="0"/>
              <a:t>Imagine if NTSB incident reports were only “plane crashed on date, x, at location y”</a:t>
            </a:r>
          </a:p>
          <a:p>
            <a:r>
              <a:rPr lang="en-US" dirty="0" smtClean="0"/>
              <a:t>If someone asked “how” there would often be no answer</a:t>
            </a:r>
            <a:endParaRPr lang="en-US" dirty="0"/>
          </a:p>
        </p:txBody>
      </p:sp>
      <p:pic>
        <p:nvPicPr>
          <p:cNvPr id="12290" name="Picture 2" descr="http://www.motherjones.com/files/images/blog_disclosure_0.jpg"/>
          <p:cNvPicPr>
            <a:picLocks noChangeAspect="1" noChangeArrowheads="1"/>
          </p:cNvPicPr>
          <p:nvPr/>
        </p:nvPicPr>
        <p:blipFill>
          <a:blip r:embed="rId3"/>
          <a:srcRect/>
          <a:stretch>
            <a:fillRect/>
          </a:stretch>
        </p:blipFill>
        <p:spPr bwMode="auto">
          <a:xfrm>
            <a:off x="5248275" y="1781175"/>
            <a:ext cx="3333750" cy="2838450"/>
          </a:xfrm>
          <a:prstGeom prst="rect">
            <a:avLst/>
          </a:prstGeom>
          <a:noFill/>
        </p:spPr>
      </p:pic>
      <p:sp>
        <p:nvSpPr>
          <p:cNvPr id="6" name="TextBox 5"/>
          <p:cNvSpPr txBox="1"/>
          <p:nvPr/>
        </p:nvSpPr>
        <p:spPr>
          <a:xfrm>
            <a:off x="431800" y="622300"/>
            <a:ext cx="6178294" cy="584775"/>
          </a:xfrm>
          <a:prstGeom prst="rect">
            <a:avLst/>
          </a:prstGeom>
          <a:noFill/>
        </p:spPr>
        <p:txBody>
          <a:bodyPr wrap="none" rtlCol="0">
            <a:spAutoFit/>
          </a:bodyPr>
          <a:lstStyle/>
          <a:p>
            <a:r>
              <a:rPr lang="en-US" sz="3200" dirty="0" smtClean="0">
                <a:latin typeface="Georgia" pitchFamily="18" charset="0"/>
              </a:rPr>
              <a:t>What’s in the Breach Disclosure?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won’t they help us?</a:t>
            </a:r>
            <a:endParaRPr lang="en-US" dirty="0"/>
          </a:p>
        </p:txBody>
      </p:sp>
      <p:sp>
        <p:nvSpPr>
          <p:cNvPr id="3" name="Content Placeholder 2"/>
          <p:cNvSpPr>
            <a:spLocks noGrp="1"/>
          </p:cNvSpPr>
          <p:nvPr>
            <p:ph idx="1"/>
          </p:nvPr>
        </p:nvSpPr>
        <p:spPr/>
        <p:txBody>
          <a:bodyPr/>
          <a:lstStyle/>
          <a:p>
            <a:r>
              <a:rPr lang="en-US" dirty="0" smtClean="0"/>
              <a:t>Drupal.org </a:t>
            </a:r>
          </a:p>
          <a:p>
            <a:pPr lvl="3"/>
            <a:r>
              <a:rPr lang="en-US" dirty="0" smtClean="0"/>
              <a:t>Ross declined to name the third party responsible for the flaw, saying only that the company has worked with the software vendor to confirm the known vulnerability, which has been publicly disclosed. “We are still investigating and will share more detail when it is appropriate,” she said.</a:t>
            </a:r>
          </a:p>
          <a:p>
            <a:pPr lvl="3"/>
            <a:endParaRPr lang="en-US" dirty="0" smtClean="0"/>
          </a:p>
          <a:p>
            <a:r>
              <a:rPr lang="en-US" dirty="0" smtClean="0"/>
              <a:t>Federal Reserve</a:t>
            </a:r>
          </a:p>
          <a:p>
            <a:pPr lvl="3"/>
            <a:r>
              <a:rPr lang="en-US" dirty="0" smtClean="0"/>
              <a:t>"The Federal Reserve System is aware that information was obtained by exploiting a temporary vulnerability in a website vendor product," a Fed spokesman told </a:t>
            </a:r>
            <a:r>
              <a:rPr lang="en-US" i="1" dirty="0" err="1" smtClean="0"/>
              <a:t>BankInfoSecurity</a:t>
            </a:r>
            <a:r>
              <a:rPr lang="en-US" dirty="0" smtClean="0"/>
              <a:t> on Feb. 7. "The exposure was fixed shortly after discovery and is no longer an issue. This incident did not affect critical operations of the Federal Reserve System."</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457200"/>
          </a:xfrm>
        </p:spPr>
        <p:txBody>
          <a:bodyPr>
            <a:normAutofit fontScale="90000"/>
          </a:bodyPr>
          <a:lstStyle/>
          <a:p>
            <a:r>
              <a:rPr lang="en-US" sz="3600" dirty="0" smtClean="0"/>
              <a:t>6 Biggest Breaches of Early 2012</a:t>
            </a:r>
            <a:endParaRPr lang="en-US" sz="3600" dirty="0"/>
          </a:p>
        </p:txBody>
      </p:sp>
      <p:graphicFrame>
        <p:nvGraphicFramePr>
          <p:cNvPr id="4" name="Content Placeholder 3"/>
          <p:cNvGraphicFramePr>
            <a:graphicFrameLocks noGrp="1"/>
          </p:cNvGraphicFramePr>
          <p:nvPr>
            <p:ph idx="1"/>
          </p:nvPr>
        </p:nvGraphicFramePr>
        <p:xfrm>
          <a:off x="381000" y="812800"/>
          <a:ext cx="8610600" cy="5727700"/>
        </p:xfrm>
        <a:graphic>
          <a:graphicData uri="http://schemas.openxmlformats.org/drawingml/2006/table">
            <a:tbl>
              <a:tblPr firstRow="1" bandRow="1">
                <a:tableStyleId>{5C22544A-7EE6-4342-B048-85BDC9FD1C3A}</a:tableStyleId>
              </a:tblPr>
              <a:tblGrid>
                <a:gridCol w="1537607"/>
                <a:gridCol w="2460171"/>
                <a:gridCol w="1922009"/>
                <a:gridCol w="2690813"/>
              </a:tblGrid>
              <a:tr h="378391">
                <a:tc>
                  <a:txBody>
                    <a:bodyPr/>
                    <a:lstStyle/>
                    <a:p>
                      <a:r>
                        <a:rPr lang="en-US" sz="1400" dirty="0" smtClean="0"/>
                        <a:t>Entity</a:t>
                      </a:r>
                      <a:endParaRPr lang="en-US" sz="1400" dirty="0"/>
                    </a:p>
                  </a:txBody>
                  <a:tcPr/>
                </a:tc>
                <a:tc>
                  <a:txBody>
                    <a:bodyPr/>
                    <a:lstStyle/>
                    <a:p>
                      <a:r>
                        <a:rPr lang="en-US" sz="1400" dirty="0" smtClean="0"/>
                        <a:t>Impact</a:t>
                      </a:r>
                      <a:endParaRPr lang="en-US" sz="1400" dirty="0"/>
                    </a:p>
                  </a:txBody>
                  <a:tcPr/>
                </a:tc>
                <a:tc>
                  <a:txBody>
                    <a:bodyPr/>
                    <a:lstStyle/>
                    <a:p>
                      <a:r>
                        <a:rPr lang="en-US" sz="1400" dirty="0" smtClean="0"/>
                        <a:t>Root</a:t>
                      </a:r>
                      <a:r>
                        <a:rPr lang="en-US" sz="1400" baseline="0" dirty="0" smtClean="0"/>
                        <a:t> Cause</a:t>
                      </a:r>
                      <a:endParaRPr lang="en-US" sz="1400" dirty="0"/>
                    </a:p>
                  </a:txBody>
                  <a:tcPr/>
                </a:tc>
                <a:tc>
                  <a:txBody>
                    <a:bodyPr/>
                    <a:lstStyle/>
                    <a:p>
                      <a:r>
                        <a:rPr lang="en-US" sz="1400" dirty="0" smtClean="0"/>
                        <a:t>Lesson Learned</a:t>
                      </a:r>
                      <a:endParaRPr lang="en-US" sz="1400" dirty="0"/>
                    </a:p>
                  </a:txBody>
                  <a:tcPr/>
                </a:tc>
              </a:tr>
              <a:tr h="1617233">
                <a:tc>
                  <a:txBody>
                    <a:bodyPr/>
                    <a:lstStyle/>
                    <a:p>
                      <a:r>
                        <a:rPr lang="en-US" sz="1400" dirty="0" smtClean="0"/>
                        <a:t>1. </a:t>
                      </a:r>
                      <a:r>
                        <a:rPr lang="en-US" sz="1400" dirty="0" err="1" smtClean="0"/>
                        <a:t>Zappos</a:t>
                      </a:r>
                      <a:endParaRPr lang="en-US" sz="1400" dirty="0"/>
                    </a:p>
                  </a:txBody>
                  <a:tcPr/>
                </a:tc>
                <a:tc>
                  <a:txBody>
                    <a:bodyPr/>
                    <a:lstStyle/>
                    <a:p>
                      <a:r>
                        <a:rPr lang="en-US" sz="1400" dirty="0" smtClean="0"/>
                        <a:t>24 million records, including names, email addresses, phone numbers, last four digits of credit card numbers, and encrypted passwords</a:t>
                      </a:r>
                      <a:endParaRPr lang="en-US" sz="1400" dirty="0"/>
                    </a:p>
                  </a:txBody>
                  <a:tcPr/>
                </a:tc>
                <a:tc>
                  <a:txBody>
                    <a:bodyPr/>
                    <a:lstStyle/>
                    <a:p>
                      <a:r>
                        <a:rPr lang="en-US" sz="1400" dirty="0" smtClean="0">
                          <a:solidFill>
                            <a:srgbClr val="FF0000"/>
                          </a:solidFill>
                        </a:rPr>
                        <a:t>Unknown</a:t>
                      </a:r>
                      <a:endParaRPr lang="en-US" sz="1400" dirty="0">
                        <a:solidFill>
                          <a:srgbClr val="FF0000"/>
                        </a:solidFill>
                      </a:endParaRPr>
                    </a:p>
                  </a:txBody>
                  <a:tcPr/>
                </a:tc>
                <a:tc>
                  <a:txBody>
                    <a:bodyPr/>
                    <a:lstStyle/>
                    <a:p>
                      <a:r>
                        <a:rPr lang="en-US" sz="1400" dirty="0" smtClean="0">
                          <a:solidFill>
                            <a:srgbClr val="FF0000"/>
                          </a:solidFill>
                        </a:rPr>
                        <a:t>None</a:t>
                      </a:r>
                      <a:endParaRPr lang="en-US" sz="1400" dirty="0">
                        <a:solidFill>
                          <a:srgbClr val="FF0000"/>
                        </a:solidFill>
                      </a:endParaRPr>
                    </a:p>
                  </a:txBody>
                  <a:tcPr/>
                </a:tc>
              </a:tr>
              <a:tr h="7464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2.  University of North Carolina</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350,000 records including SSNs</a:t>
                      </a:r>
                      <a:endParaRPr lang="en-US" sz="1400" dirty="0"/>
                    </a:p>
                  </a:txBody>
                  <a:tcPr/>
                </a:tc>
                <a:tc>
                  <a:txBody>
                    <a:bodyPr/>
                    <a:lstStyle/>
                    <a:p>
                      <a:r>
                        <a:rPr lang="en-US" sz="1400" b="0" i="0" kern="1200" dirty="0" smtClean="0">
                          <a:solidFill>
                            <a:schemeClr val="dk1"/>
                          </a:solidFill>
                          <a:latin typeface="+mn-lt"/>
                          <a:ea typeface="+mn-ea"/>
                          <a:cs typeface="+mn-cs"/>
                        </a:rPr>
                        <a:t>back-end  systems exposed on the Internet</a:t>
                      </a:r>
                    </a:p>
                  </a:txBody>
                  <a:tcPr/>
                </a:tc>
                <a:tc>
                  <a:txBody>
                    <a:bodyPr/>
                    <a:lstStyle/>
                    <a:p>
                      <a:r>
                        <a:rPr lang="en-US" sz="1400" b="0" i="0" kern="1200" dirty="0" smtClean="0">
                          <a:solidFill>
                            <a:schemeClr val="dk1"/>
                          </a:solidFill>
                          <a:latin typeface="+mn-lt"/>
                          <a:ea typeface="+mn-ea"/>
                          <a:cs typeface="+mn-cs"/>
                        </a:rPr>
                        <a:t>Need change control and auditing for access control</a:t>
                      </a:r>
                    </a:p>
                  </a:txBody>
                  <a:tcPr/>
                </a:tc>
              </a:tr>
              <a:tr h="7464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3. Global Payment Systems</a:t>
                      </a:r>
                      <a:endParaRPr lang="en-US" sz="1400" dirty="0"/>
                    </a:p>
                  </a:txBody>
                  <a:tcPr/>
                </a:tc>
                <a:tc>
                  <a:txBody>
                    <a:bodyPr/>
                    <a:lstStyle/>
                    <a:p>
                      <a:r>
                        <a:rPr lang="en-US" sz="1400" b="0" i="0" kern="1200" dirty="0" smtClean="0">
                          <a:solidFill>
                            <a:schemeClr val="dk1"/>
                          </a:solidFill>
                          <a:latin typeface="+mn-lt"/>
                          <a:ea typeface="+mn-ea"/>
                          <a:cs typeface="+mn-cs"/>
                        </a:rPr>
                        <a:t>7 million consumer records, including 1.5 million credit cards</a:t>
                      </a:r>
                      <a:endParaRPr lang="en-US" sz="1400" dirty="0"/>
                    </a:p>
                  </a:txBody>
                  <a:tcPr/>
                </a:tc>
                <a:tc>
                  <a:txBody>
                    <a:bodyPr/>
                    <a:lstStyle/>
                    <a:p>
                      <a:r>
                        <a:rPr lang="en-US" sz="1400" dirty="0" smtClean="0">
                          <a:solidFill>
                            <a:srgbClr val="FF0000"/>
                          </a:solidFill>
                        </a:rPr>
                        <a:t>Unknown</a:t>
                      </a:r>
                      <a:endParaRPr lang="en-US" sz="1400" dirty="0">
                        <a:solidFill>
                          <a:srgbClr val="FF0000"/>
                        </a:solidFill>
                      </a:endParaRPr>
                    </a:p>
                  </a:txBody>
                  <a:tcPr/>
                </a:tc>
                <a:tc>
                  <a:txBody>
                    <a:bodyPr/>
                    <a:lstStyle/>
                    <a:p>
                      <a:r>
                        <a:rPr lang="en-US" sz="1400" dirty="0" smtClean="0">
                          <a:solidFill>
                            <a:srgbClr val="FF0000"/>
                          </a:solidFill>
                        </a:rPr>
                        <a:t>None</a:t>
                      </a:r>
                      <a:endParaRPr lang="en-US" sz="1400" dirty="0">
                        <a:solidFill>
                          <a:srgbClr val="FF0000"/>
                        </a:solidFill>
                      </a:endParaRPr>
                    </a:p>
                  </a:txBody>
                  <a:tcPr/>
                </a:tc>
              </a:tr>
              <a:tr h="11818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4. South Carolina Health and Human Services</a:t>
                      </a:r>
                      <a:endParaRPr lang="en-US" sz="1400" dirty="0"/>
                    </a:p>
                  </a:txBody>
                  <a:tcPr/>
                </a:tc>
                <a:tc>
                  <a:txBody>
                    <a:bodyPr/>
                    <a:lstStyle/>
                    <a:p>
                      <a:r>
                        <a:rPr lang="en-US" sz="1400" b="0" i="0" kern="1200" dirty="0" smtClean="0">
                          <a:solidFill>
                            <a:schemeClr val="dk1"/>
                          </a:solidFill>
                          <a:latin typeface="+mn-lt"/>
                          <a:ea typeface="+mn-ea"/>
                          <a:cs typeface="+mn-cs"/>
                        </a:rPr>
                        <a:t> 228,435 patient records</a:t>
                      </a:r>
                      <a:endParaRPr lang="en-US" sz="1400" dirty="0"/>
                    </a:p>
                  </a:txBody>
                  <a:tcPr/>
                </a:tc>
                <a:tc>
                  <a:txBody>
                    <a:bodyPr/>
                    <a:lstStyle/>
                    <a:p>
                      <a:r>
                        <a:rPr lang="en-US" sz="1400" kern="1200" dirty="0" smtClean="0">
                          <a:solidFill>
                            <a:schemeClr val="dk1"/>
                          </a:solidFill>
                          <a:latin typeface="+mn-lt"/>
                          <a:ea typeface="+mn-ea"/>
                          <a:cs typeface="+mn-cs"/>
                        </a:rPr>
                        <a:t>Employee e-mailed them to </a:t>
                      </a:r>
                      <a:r>
                        <a:rPr lang="en-US" sz="1400" kern="1200" dirty="0" err="1" smtClean="0">
                          <a:solidFill>
                            <a:schemeClr val="dk1"/>
                          </a:solidFill>
                          <a:latin typeface="+mn-lt"/>
                          <a:ea typeface="+mn-ea"/>
                          <a:cs typeface="+mn-cs"/>
                        </a:rPr>
                        <a:t>exfiltrate</a:t>
                      </a:r>
                      <a:endParaRPr lang="en-US" sz="1400" kern="1200" dirty="0" smtClean="0">
                        <a:solidFill>
                          <a:schemeClr val="dk1"/>
                        </a:solidFill>
                        <a:latin typeface="+mn-lt"/>
                        <a:ea typeface="+mn-ea"/>
                        <a:cs typeface="+mn-cs"/>
                      </a:endParaRPr>
                    </a:p>
                  </a:txBody>
                  <a:tcPr/>
                </a:tc>
                <a:tc>
                  <a:txBody>
                    <a:bodyPr/>
                    <a:lstStyle/>
                    <a:p>
                      <a:r>
                        <a:rPr lang="en-US" sz="1400" b="0" i="0" kern="1200" dirty="0" smtClean="0">
                          <a:solidFill>
                            <a:schemeClr val="dk1"/>
                          </a:solidFill>
                          <a:latin typeface="+mn-lt"/>
                          <a:ea typeface="+mn-ea"/>
                          <a:cs typeface="+mn-cs"/>
                        </a:rPr>
                        <a:t>Inadequate DLP</a:t>
                      </a:r>
                    </a:p>
                  </a:txBody>
                  <a:tcPr/>
                </a:tc>
              </a:tr>
              <a:tr h="5287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5. University of Nebraska</a:t>
                      </a:r>
                      <a:endParaRPr lang="en-US" sz="1400" dirty="0"/>
                    </a:p>
                  </a:txBody>
                  <a:tcPr/>
                </a:tc>
                <a:tc>
                  <a:txBody>
                    <a:bodyPr/>
                    <a:lstStyle/>
                    <a:p>
                      <a:r>
                        <a:rPr lang="en-US" sz="1400" b="0" i="0" kern="1200" dirty="0" smtClean="0">
                          <a:solidFill>
                            <a:schemeClr val="dk1"/>
                          </a:solidFill>
                          <a:latin typeface="+mn-lt"/>
                          <a:ea typeface="+mn-ea"/>
                          <a:cs typeface="+mn-cs"/>
                        </a:rPr>
                        <a:t>654,000 student records including</a:t>
                      </a:r>
                      <a:r>
                        <a:rPr lang="en-US" sz="1400" b="0" i="0" kern="1200" baseline="0" dirty="0" smtClean="0">
                          <a:solidFill>
                            <a:schemeClr val="dk1"/>
                          </a:solidFill>
                          <a:latin typeface="+mn-lt"/>
                          <a:ea typeface="+mn-ea"/>
                          <a:cs typeface="+mn-cs"/>
                        </a:rPr>
                        <a:t> SSNs</a:t>
                      </a:r>
                      <a:endParaRPr lang="en-US" sz="1400" dirty="0"/>
                    </a:p>
                  </a:txBody>
                  <a:tcPr/>
                </a:tc>
                <a:tc>
                  <a:txBody>
                    <a:bodyPr/>
                    <a:lstStyle/>
                    <a:p>
                      <a:r>
                        <a:rPr lang="en-US" sz="1400" dirty="0" smtClean="0">
                          <a:solidFill>
                            <a:srgbClr val="FF0000"/>
                          </a:solidFill>
                        </a:rPr>
                        <a:t>Unknown</a:t>
                      </a:r>
                      <a:endParaRPr lang="en-US" sz="1400" dirty="0">
                        <a:solidFill>
                          <a:srgbClr val="FF0000"/>
                        </a:solidFill>
                      </a:endParaRPr>
                    </a:p>
                  </a:txBody>
                  <a:tcPr/>
                </a:tc>
                <a:tc>
                  <a:txBody>
                    <a:bodyPr/>
                    <a:lstStyle/>
                    <a:p>
                      <a:r>
                        <a:rPr lang="en-US" sz="1400" dirty="0" smtClean="0">
                          <a:solidFill>
                            <a:srgbClr val="FF0000"/>
                          </a:solidFill>
                        </a:rPr>
                        <a:t>None</a:t>
                      </a:r>
                      <a:endParaRPr lang="en-US" sz="1400" dirty="0">
                        <a:solidFill>
                          <a:srgbClr val="FF0000"/>
                        </a:solidFill>
                      </a:endParaRPr>
                    </a:p>
                  </a:txBody>
                  <a:tcPr/>
                </a:tc>
              </a:tr>
              <a:tr h="52871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6. LinkedIn</a:t>
                      </a:r>
                      <a:endParaRPr lang="en-US" sz="1400" dirty="0"/>
                    </a:p>
                  </a:txBody>
                  <a:tcPr/>
                </a:tc>
                <a:tc>
                  <a:txBody>
                    <a:bodyPr/>
                    <a:lstStyle/>
                    <a:p>
                      <a:r>
                        <a:rPr lang="en-US" sz="1400" b="0" i="0" kern="1200" dirty="0" smtClean="0">
                          <a:solidFill>
                            <a:schemeClr val="dk1"/>
                          </a:solidFill>
                          <a:latin typeface="+mn-lt"/>
                          <a:ea typeface="+mn-ea"/>
                          <a:cs typeface="+mn-cs"/>
                        </a:rPr>
                        <a:t>6.5 million user names and passwords</a:t>
                      </a:r>
                    </a:p>
                  </a:txBody>
                  <a:tcPr/>
                </a:tc>
                <a:tc>
                  <a:txBody>
                    <a:bodyPr/>
                    <a:lstStyle/>
                    <a:p>
                      <a:r>
                        <a:rPr lang="en-US" sz="1400" dirty="0" smtClean="0">
                          <a:solidFill>
                            <a:srgbClr val="FF0000"/>
                          </a:solidFill>
                        </a:rPr>
                        <a:t>Unknown</a:t>
                      </a:r>
                      <a:endParaRPr lang="en-US" sz="1400" dirty="0">
                        <a:solidFill>
                          <a:srgbClr val="FF0000"/>
                        </a:solidFill>
                      </a:endParaRPr>
                    </a:p>
                  </a:txBody>
                  <a:tcPr/>
                </a:tc>
                <a:tc>
                  <a:txBody>
                    <a:bodyPr/>
                    <a:lstStyle/>
                    <a:p>
                      <a:r>
                        <a:rPr lang="en-US" sz="1400" dirty="0" smtClean="0">
                          <a:solidFill>
                            <a:srgbClr val="FF0000"/>
                          </a:solidFill>
                        </a:rPr>
                        <a:t>None</a:t>
                      </a:r>
                      <a:endParaRPr lang="en-US" sz="1400" dirty="0">
                        <a:solidFill>
                          <a:srgbClr val="FF0000"/>
                        </a:solidFill>
                      </a:endParaRPr>
                    </a:p>
                  </a:txBody>
                  <a:tcPr/>
                </a:tc>
              </a:tr>
            </a:tbl>
          </a:graphicData>
        </a:graphic>
      </p:graphicFrame>
      <p:sp>
        <p:nvSpPr>
          <p:cNvPr id="5" name="TextBox 4"/>
          <p:cNvSpPr txBox="1"/>
          <p:nvPr/>
        </p:nvSpPr>
        <p:spPr>
          <a:xfrm>
            <a:off x="2146300" y="6553200"/>
            <a:ext cx="3735253" cy="276999"/>
          </a:xfrm>
          <a:prstGeom prst="rect">
            <a:avLst/>
          </a:prstGeom>
          <a:noFill/>
        </p:spPr>
        <p:txBody>
          <a:bodyPr wrap="none" rtlCol="0">
            <a:spAutoFit/>
          </a:bodyPr>
          <a:lstStyle/>
          <a:p>
            <a:r>
              <a:rPr lang="en-US" sz="1200" dirty="0" smtClean="0"/>
              <a:t>Source: Dark Reading, </a:t>
            </a:r>
            <a:r>
              <a:rPr lang="en-US" sz="1200" b="1" dirty="0" smtClean="0"/>
              <a:t>6 Biggest Breaches Of 2012 So Far</a:t>
            </a:r>
            <a:endParaRPr lang="en-US" sz="12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11162"/>
          </a:xfrm>
        </p:spPr>
        <p:txBody>
          <a:bodyPr>
            <a:noAutofit/>
          </a:bodyPr>
          <a:lstStyle/>
          <a:p>
            <a:r>
              <a:rPr lang="en-US" sz="2800" dirty="0" smtClean="0"/>
              <a:t>10 Top Government Data Breaches Of 2012</a:t>
            </a:r>
            <a:endParaRPr lang="en-US" sz="2800" dirty="0"/>
          </a:p>
        </p:txBody>
      </p:sp>
      <p:graphicFrame>
        <p:nvGraphicFramePr>
          <p:cNvPr id="4" name="Content Placeholder 3"/>
          <p:cNvGraphicFramePr>
            <a:graphicFrameLocks noGrp="1"/>
          </p:cNvGraphicFramePr>
          <p:nvPr>
            <p:ph idx="1"/>
          </p:nvPr>
        </p:nvGraphicFramePr>
        <p:xfrm>
          <a:off x="457200" y="726440"/>
          <a:ext cx="8534400" cy="6771640"/>
        </p:xfrm>
        <a:graphic>
          <a:graphicData uri="http://schemas.openxmlformats.org/drawingml/2006/table">
            <a:tbl>
              <a:tblPr firstRow="1" bandRow="1">
                <a:tableStyleId>{5C22544A-7EE6-4342-B048-85BDC9FD1C3A}</a:tableStyleId>
              </a:tblPr>
              <a:tblGrid>
                <a:gridCol w="1524000"/>
                <a:gridCol w="2438400"/>
                <a:gridCol w="1905000"/>
                <a:gridCol w="2667000"/>
              </a:tblGrid>
              <a:tr h="370840">
                <a:tc>
                  <a:txBody>
                    <a:bodyPr/>
                    <a:lstStyle/>
                    <a:p>
                      <a:r>
                        <a:rPr lang="en-US" sz="1400" dirty="0" smtClean="0"/>
                        <a:t>Entity</a:t>
                      </a:r>
                      <a:endParaRPr lang="en-US" sz="1400" dirty="0"/>
                    </a:p>
                  </a:txBody>
                  <a:tcPr/>
                </a:tc>
                <a:tc>
                  <a:txBody>
                    <a:bodyPr/>
                    <a:lstStyle/>
                    <a:p>
                      <a:r>
                        <a:rPr lang="en-US" sz="1400" dirty="0" smtClean="0"/>
                        <a:t>Impact</a:t>
                      </a:r>
                      <a:endParaRPr lang="en-US" sz="1400" dirty="0"/>
                    </a:p>
                  </a:txBody>
                  <a:tcPr/>
                </a:tc>
                <a:tc>
                  <a:txBody>
                    <a:bodyPr/>
                    <a:lstStyle/>
                    <a:p>
                      <a:r>
                        <a:rPr lang="en-US" sz="1400" dirty="0" smtClean="0"/>
                        <a:t>Root</a:t>
                      </a:r>
                      <a:r>
                        <a:rPr lang="en-US" sz="1400" baseline="0" dirty="0" smtClean="0"/>
                        <a:t> Cause</a:t>
                      </a:r>
                      <a:endParaRPr lang="en-US" sz="1400" dirty="0"/>
                    </a:p>
                  </a:txBody>
                  <a:tcPr/>
                </a:tc>
                <a:tc>
                  <a:txBody>
                    <a:bodyPr/>
                    <a:lstStyle/>
                    <a:p>
                      <a:r>
                        <a:rPr lang="en-US" sz="1400" dirty="0" smtClean="0"/>
                        <a:t>Lesson Learned</a:t>
                      </a:r>
                      <a:endParaRPr lang="en-US" sz="1400" dirty="0"/>
                    </a:p>
                  </a:txBody>
                  <a:tcPr/>
                </a:tc>
              </a:tr>
              <a:tr h="370840">
                <a:tc>
                  <a:txBody>
                    <a:bodyPr/>
                    <a:lstStyle/>
                    <a:p>
                      <a:r>
                        <a:rPr lang="en-US" sz="1400" dirty="0" smtClean="0"/>
                        <a:t>1. South Carolina </a:t>
                      </a:r>
                      <a:r>
                        <a:rPr lang="en-US" sz="1400" dirty="0" err="1" smtClean="0"/>
                        <a:t>DoR</a:t>
                      </a:r>
                      <a:endParaRPr lang="en-US" sz="1400" dirty="0"/>
                    </a:p>
                  </a:txBody>
                  <a:tcPr/>
                </a:tc>
                <a:tc>
                  <a:txBody>
                    <a:bodyPr/>
                    <a:lstStyle/>
                    <a:p>
                      <a:r>
                        <a:rPr lang="en-US" sz="1400" dirty="0" smtClean="0"/>
                        <a:t>3.3M unencrypted bank acct #, 3.8M tax returns</a:t>
                      </a:r>
                      <a:endParaRPr lang="en-US" sz="1400" dirty="0"/>
                    </a:p>
                  </a:txBody>
                  <a:tcPr/>
                </a:tc>
                <a:tc>
                  <a:txBody>
                    <a:bodyPr/>
                    <a:lstStyle/>
                    <a:p>
                      <a:r>
                        <a:rPr lang="en-US" sz="1400" dirty="0" smtClean="0"/>
                        <a:t>Phishing attack stole employee credentials</a:t>
                      </a:r>
                      <a:endParaRPr lang="en-US" sz="1400" dirty="0"/>
                    </a:p>
                  </a:txBody>
                  <a:tcPr/>
                </a:tc>
                <a:tc>
                  <a:txBody>
                    <a:bodyPr/>
                    <a:lstStyle/>
                    <a:p>
                      <a:r>
                        <a:rPr lang="en-US" sz="1400" dirty="0" smtClean="0"/>
                        <a:t>Database activity monitoring &amp;</a:t>
                      </a:r>
                      <a:r>
                        <a:rPr lang="en-US" sz="1400" baseline="0" dirty="0" smtClean="0"/>
                        <a:t> network awareness may have detected</a:t>
                      </a:r>
                      <a:endParaRPr lang="en-US"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3. Utah Department of Health</a:t>
                      </a:r>
                      <a:endParaRPr lang="en-US" sz="1400" dirty="0"/>
                    </a:p>
                  </a:txBody>
                  <a:tcPr/>
                </a:tc>
                <a:tc>
                  <a:txBody>
                    <a:bodyPr/>
                    <a:lstStyle/>
                    <a:p>
                      <a:r>
                        <a:rPr lang="en-US" sz="1400" b="0" i="0" kern="1200" dirty="0" smtClean="0">
                          <a:solidFill>
                            <a:schemeClr val="dk1"/>
                          </a:solidFill>
                          <a:latin typeface="+mn-lt"/>
                          <a:ea typeface="+mn-ea"/>
                          <a:cs typeface="+mn-cs"/>
                        </a:rPr>
                        <a:t>Health</a:t>
                      </a:r>
                      <a:r>
                        <a:rPr lang="en-US" sz="1400" b="0" i="0" kern="1200" baseline="0" dirty="0" smtClean="0">
                          <a:solidFill>
                            <a:schemeClr val="dk1"/>
                          </a:solidFill>
                          <a:latin typeface="+mn-lt"/>
                          <a:ea typeface="+mn-ea"/>
                          <a:cs typeface="+mn-cs"/>
                        </a:rPr>
                        <a:t> i</a:t>
                      </a:r>
                      <a:r>
                        <a:rPr lang="en-US" sz="1400" b="0" i="0" kern="1200" dirty="0" smtClean="0">
                          <a:solidFill>
                            <a:schemeClr val="dk1"/>
                          </a:solidFill>
                          <a:latin typeface="+mn-lt"/>
                          <a:ea typeface="+mn-ea"/>
                          <a:cs typeface="+mn-cs"/>
                        </a:rPr>
                        <a:t>nfo/PII of 780,000 Utah citizens</a:t>
                      </a:r>
                      <a:endParaRPr lang="en-US" sz="1400" dirty="0"/>
                    </a:p>
                  </a:txBody>
                  <a:tcPr/>
                </a:tc>
                <a:tc>
                  <a:txBody>
                    <a:bodyPr/>
                    <a:lstStyle/>
                    <a:p>
                      <a:r>
                        <a:rPr lang="en-US" sz="1400" b="0" i="0" kern="1200" dirty="0" smtClean="0">
                          <a:solidFill>
                            <a:schemeClr val="dk1"/>
                          </a:solidFill>
                          <a:latin typeface="+mn-lt"/>
                          <a:ea typeface="+mn-ea"/>
                          <a:cs typeface="+mn-cs"/>
                        </a:rPr>
                        <a:t>poor authentication configuration</a:t>
                      </a:r>
                      <a:endParaRPr lang="en-US" sz="1400" dirty="0"/>
                    </a:p>
                  </a:txBody>
                  <a:tcPr/>
                </a:tc>
                <a:tc>
                  <a:txBody>
                    <a:bodyPr/>
                    <a:lstStyle/>
                    <a:p>
                      <a:r>
                        <a:rPr lang="en-US" sz="1400" dirty="0" smtClean="0"/>
                        <a:t>Inadequate testing pre-deployment</a:t>
                      </a:r>
                      <a:endParaRPr lang="en-US"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5. United States Bureau of Justice Statistics </a:t>
                      </a:r>
                      <a:endParaRPr lang="en-US" sz="1400" dirty="0"/>
                    </a:p>
                  </a:txBody>
                  <a:tcPr/>
                </a:tc>
                <a:tc>
                  <a:txBody>
                    <a:bodyPr/>
                    <a:lstStyle/>
                    <a:p>
                      <a:r>
                        <a:rPr lang="en-US" sz="1400" b="0" i="0" kern="1200" dirty="0" smtClean="0">
                          <a:solidFill>
                            <a:schemeClr val="dk1"/>
                          </a:solidFill>
                          <a:latin typeface="+mn-lt"/>
                          <a:ea typeface="+mn-ea"/>
                          <a:cs typeface="+mn-cs"/>
                        </a:rPr>
                        <a:t>1.7 GB of sensitive data, emails, etc</a:t>
                      </a:r>
                      <a:endParaRPr lang="en-US" sz="1400" dirty="0"/>
                    </a:p>
                  </a:txBody>
                  <a:tcPr/>
                </a:tc>
                <a:tc>
                  <a:txBody>
                    <a:bodyPr/>
                    <a:lstStyle/>
                    <a:p>
                      <a:r>
                        <a:rPr lang="en-US" sz="1400" dirty="0" smtClean="0">
                          <a:solidFill>
                            <a:srgbClr val="FF0000"/>
                          </a:solidFill>
                        </a:rPr>
                        <a:t>Unknown</a:t>
                      </a:r>
                      <a:endParaRPr lang="en-US" sz="1400" dirty="0">
                        <a:solidFill>
                          <a:srgbClr val="FF0000"/>
                        </a:solidFill>
                      </a:endParaRPr>
                    </a:p>
                  </a:txBody>
                  <a:tcPr/>
                </a:tc>
                <a:tc>
                  <a:txBody>
                    <a:bodyPr/>
                    <a:lstStyle/>
                    <a:p>
                      <a:r>
                        <a:rPr lang="en-US" sz="1400" dirty="0" smtClean="0">
                          <a:solidFill>
                            <a:srgbClr val="FF0000"/>
                          </a:solidFill>
                        </a:rPr>
                        <a:t>None</a:t>
                      </a:r>
                      <a:endParaRPr lang="en-US" sz="1400" dirty="0">
                        <a:solidFill>
                          <a:srgbClr val="FF0000"/>
                        </a:solidFill>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6. City of Springfield</a:t>
                      </a:r>
                      <a:endParaRPr lang="en-US" sz="1400" dirty="0"/>
                    </a:p>
                  </a:txBody>
                  <a:tcPr/>
                </a:tc>
                <a:tc>
                  <a:txBody>
                    <a:bodyPr/>
                    <a:lstStyle/>
                    <a:p>
                      <a:r>
                        <a:rPr lang="en-US" sz="1400" b="0" i="0" kern="1200" dirty="0" smtClean="0">
                          <a:solidFill>
                            <a:schemeClr val="dk1"/>
                          </a:solidFill>
                          <a:latin typeface="+mn-lt"/>
                          <a:ea typeface="+mn-ea"/>
                          <a:cs typeface="+mn-cs"/>
                        </a:rPr>
                        <a:t>1,000 vehicle from police reports and records from 280K</a:t>
                      </a:r>
                      <a:r>
                        <a:rPr lang="en-US" sz="1400" b="0" i="0" kern="1200" baseline="0" dirty="0" smtClean="0">
                          <a:solidFill>
                            <a:schemeClr val="dk1"/>
                          </a:solidFill>
                          <a:latin typeface="+mn-lt"/>
                          <a:ea typeface="+mn-ea"/>
                          <a:cs typeface="+mn-cs"/>
                        </a:rPr>
                        <a:t> </a:t>
                      </a:r>
                      <a:r>
                        <a:rPr lang="en-US" sz="1400" b="0" i="0" kern="1200" dirty="0" smtClean="0">
                          <a:solidFill>
                            <a:schemeClr val="dk1"/>
                          </a:solidFill>
                          <a:latin typeface="+mn-lt"/>
                          <a:ea typeface="+mn-ea"/>
                          <a:cs typeface="+mn-cs"/>
                        </a:rPr>
                        <a:t>summons </a:t>
                      </a:r>
                      <a:endParaRPr lang="en-US" sz="1400" dirty="0"/>
                    </a:p>
                  </a:txBody>
                  <a:tcPr/>
                </a:tc>
                <a:tc>
                  <a:txBody>
                    <a:bodyPr/>
                    <a:lstStyle/>
                    <a:p>
                      <a:r>
                        <a:rPr lang="en-US" sz="1400" dirty="0" smtClean="0">
                          <a:solidFill>
                            <a:srgbClr val="FF0000"/>
                          </a:solidFill>
                        </a:rPr>
                        <a:t>Unknown.</a:t>
                      </a:r>
                      <a:r>
                        <a:rPr lang="en-US" sz="1400" baseline="0" dirty="0" smtClean="0">
                          <a:solidFill>
                            <a:srgbClr val="FF0000"/>
                          </a:solidFill>
                        </a:rPr>
                        <a:t> </a:t>
                      </a:r>
                      <a:r>
                        <a:rPr lang="en-US" sz="1400" dirty="0" smtClean="0"/>
                        <a:t>SQL injection speculated</a:t>
                      </a:r>
                      <a:endParaRPr lang="en-US" sz="1400" dirty="0"/>
                    </a:p>
                  </a:txBody>
                  <a:tcPr/>
                </a:tc>
                <a:tc>
                  <a:txBody>
                    <a:bodyPr/>
                    <a:lstStyle/>
                    <a:p>
                      <a:r>
                        <a:rPr lang="en-US" sz="1400" dirty="0" smtClean="0">
                          <a:solidFill>
                            <a:srgbClr val="FF0000"/>
                          </a:solidFill>
                        </a:rPr>
                        <a:t>None</a:t>
                      </a:r>
                      <a:endParaRPr lang="en-US" sz="1400" dirty="0">
                        <a:solidFill>
                          <a:srgbClr val="FF0000"/>
                        </a:solidFill>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7. United States Navy &amp; DHS</a:t>
                      </a:r>
                      <a:endParaRPr lang="en-US" sz="1400" dirty="0"/>
                    </a:p>
                  </a:txBody>
                  <a:tcPr/>
                </a:tc>
                <a:tc>
                  <a:txBody>
                    <a:bodyPr/>
                    <a:lstStyle/>
                    <a:p>
                      <a:r>
                        <a:rPr lang="en-US" sz="1400" b="0" i="0" kern="1200" dirty="0" smtClean="0">
                          <a:solidFill>
                            <a:schemeClr val="dk1"/>
                          </a:solidFill>
                          <a:latin typeface="+mn-lt"/>
                          <a:ea typeface="+mn-ea"/>
                          <a:cs typeface="+mn-cs"/>
                        </a:rPr>
                        <a:t>usernames, passwords, email IDs, and security questions</a:t>
                      </a:r>
                      <a:endParaRPr lang="en-US" sz="1400" dirty="0"/>
                    </a:p>
                  </a:txBody>
                  <a:tcPr/>
                </a:tc>
                <a:tc>
                  <a:txBody>
                    <a:bodyPr/>
                    <a:lstStyle/>
                    <a:p>
                      <a:r>
                        <a:rPr lang="en-US" sz="1400" dirty="0" smtClean="0"/>
                        <a:t>Blind SQL injection</a:t>
                      </a:r>
                      <a:endParaRPr lang="en-US" sz="1400" dirty="0"/>
                    </a:p>
                  </a:txBody>
                  <a:tcPr/>
                </a:tc>
                <a:tc>
                  <a:txBody>
                    <a:bodyPr/>
                    <a:lstStyle/>
                    <a:p>
                      <a:r>
                        <a:rPr lang="en-US" sz="1400" dirty="0" smtClean="0"/>
                        <a:t>Adequate</a:t>
                      </a:r>
                      <a:r>
                        <a:rPr lang="en-US" sz="1400" baseline="0" dirty="0" smtClean="0"/>
                        <a:t> security testing for SQL injection required</a:t>
                      </a:r>
                      <a:endParaRPr lang="en-US" sz="14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8. Wisconsin Department of Revenue</a:t>
                      </a:r>
                      <a:endParaRPr lang="en-US" sz="1400" dirty="0"/>
                    </a:p>
                  </a:txBody>
                  <a:tcPr/>
                </a:tc>
                <a:tc>
                  <a:txBody>
                    <a:bodyPr/>
                    <a:lstStyle/>
                    <a:p>
                      <a:r>
                        <a:rPr lang="en-US" sz="1400" b="0" i="0" kern="1200" dirty="0" smtClean="0">
                          <a:solidFill>
                            <a:schemeClr val="dk1"/>
                          </a:solidFill>
                          <a:latin typeface="+mn-lt"/>
                          <a:ea typeface="+mn-ea"/>
                          <a:cs typeface="+mn-cs"/>
                        </a:rPr>
                        <a:t>seller information about more than 110,000 people and businesses who sold property in 2011</a:t>
                      </a:r>
                    </a:p>
                  </a:txBody>
                  <a:tcPr/>
                </a:tc>
                <a:tc>
                  <a:txBody>
                    <a:bodyPr/>
                    <a:lstStyle/>
                    <a:p>
                      <a:r>
                        <a:rPr lang="en-US" sz="1400" dirty="0" smtClean="0"/>
                        <a:t>Mistakenly published online</a:t>
                      </a:r>
                      <a:endParaRPr lang="en-US" sz="1400" dirty="0"/>
                    </a:p>
                  </a:txBody>
                  <a:tcPr/>
                </a:tc>
                <a:tc>
                  <a:txBody>
                    <a:bodyPr/>
                    <a:lstStyle/>
                    <a:p>
                      <a:r>
                        <a:rPr lang="en-US" sz="1400" dirty="0" smtClean="0"/>
                        <a:t>Need change control process for online publishing</a:t>
                      </a:r>
                      <a:endParaRPr lang="en-US" sz="1400" dirty="0"/>
                    </a:p>
                  </a:txBody>
                  <a:tcPr/>
                </a:tc>
              </a:tr>
              <a:tr h="370840">
                <a:tc>
                  <a:txBody>
                    <a:bodyPr/>
                    <a:lstStyle/>
                    <a:p>
                      <a:r>
                        <a:rPr lang="en-US" sz="1400" kern="1200" dirty="0" smtClean="0">
                          <a:solidFill>
                            <a:schemeClr val="dk1"/>
                          </a:solidFill>
                          <a:latin typeface="+mn-lt"/>
                          <a:ea typeface="+mn-ea"/>
                          <a:cs typeface="+mn-cs"/>
                        </a:rPr>
                        <a:t>10. New Hampshire Department of Corrections</a:t>
                      </a:r>
                    </a:p>
                  </a:txBody>
                  <a:tcPr/>
                </a:tc>
                <a:tc>
                  <a:txBody>
                    <a:bodyPr/>
                    <a:lstStyle/>
                    <a:p>
                      <a:r>
                        <a:rPr lang="en-US" sz="1400" dirty="0" smtClean="0"/>
                        <a:t>Inmates accessed </a:t>
                      </a:r>
                      <a:r>
                        <a:rPr lang="en-US" sz="1400" kern="1200" dirty="0" smtClean="0">
                          <a:solidFill>
                            <a:schemeClr val="dk1"/>
                          </a:solidFill>
                          <a:latin typeface="+mn-lt"/>
                          <a:ea typeface="+mn-ea"/>
                          <a:cs typeface="+mn-cs"/>
                        </a:rPr>
                        <a:t> main offender management database system</a:t>
                      </a:r>
                    </a:p>
                  </a:txBody>
                  <a:tcPr/>
                </a:tc>
                <a:tc>
                  <a:txBody>
                    <a:bodyPr/>
                    <a:lstStyle/>
                    <a:p>
                      <a:r>
                        <a:rPr lang="en-US" sz="1400" dirty="0" smtClean="0"/>
                        <a:t>Improper access control and network</a:t>
                      </a:r>
                      <a:r>
                        <a:rPr lang="en-US" sz="1400" baseline="0" dirty="0" smtClean="0"/>
                        <a:t> segmentation</a:t>
                      </a:r>
                      <a:endParaRPr lang="en-US" sz="1400" dirty="0"/>
                    </a:p>
                  </a:txBody>
                  <a:tcPr/>
                </a:tc>
                <a:tc>
                  <a:txBody>
                    <a:bodyPr/>
                    <a:lstStyle/>
                    <a:p>
                      <a:r>
                        <a:rPr lang="en-US" sz="1400" dirty="0" smtClean="0"/>
                        <a:t>Need change control and auditing for access control</a:t>
                      </a:r>
                      <a:endParaRPr lang="en-US" sz="1400" dirty="0"/>
                    </a:p>
                  </a:txBody>
                  <a:tcPr/>
                </a:tc>
              </a:tr>
            </a:tbl>
          </a:graphicData>
        </a:graphic>
      </p:graphicFrame>
      <p:sp>
        <p:nvSpPr>
          <p:cNvPr id="5" name="TextBox 4"/>
          <p:cNvSpPr txBox="1"/>
          <p:nvPr/>
        </p:nvSpPr>
        <p:spPr>
          <a:xfrm>
            <a:off x="457200" y="6581001"/>
            <a:ext cx="4572000" cy="276999"/>
          </a:xfrm>
          <a:prstGeom prst="rect">
            <a:avLst/>
          </a:prstGeom>
          <a:noFill/>
        </p:spPr>
        <p:txBody>
          <a:bodyPr wrap="square" rtlCol="0">
            <a:spAutoFit/>
          </a:bodyPr>
          <a:lstStyle/>
          <a:p>
            <a:r>
              <a:rPr lang="en-US" sz="1200" dirty="0" smtClean="0"/>
              <a:t>Source: Dark Reading, </a:t>
            </a:r>
            <a:r>
              <a:rPr lang="en-US" sz="1200" b="1" dirty="0" smtClean="0"/>
              <a:t>10 Top Government Data Breaches Of 2012</a:t>
            </a:r>
            <a:endParaRPr lang="en-US" sz="12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Commercial Breach Reports</a:t>
            </a:r>
            <a:endParaRPr lang="en-US" dirty="0"/>
          </a:p>
        </p:txBody>
      </p:sp>
      <p:sp>
        <p:nvSpPr>
          <p:cNvPr id="3" name="Content Placeholder 2"/>
          <p:cNvSpPr>
            <a:spLocks noGrp="1"/>
          </p:cNvSpPr>
          <p:nvPr>
            <p:ph idx="1"/>
          </p:nvPr>
        </p:nvSpPr>
        <p:spPr>
          <a:xfrm>
            <a:off x="533400" y="1371600"/>
            <a:ext cx="8229600" cy="4525963"/>
          </a:xfrm>
        </p:spPr>
        <p:txBody>
          <a:bodyPr/>
          <a:lstStyle/>
          <a:p>
            <a:r>
              <a:rPr lang="en-US" dirty="0" smtClean="0"/>
              <a:t>Biased by customer base</a:t>
            </a:r>
          </a:p>
          <a:p>
            <a:r>
              <a:rPr lang="en-US" dirty="0" smtClean="0"/>
              <a:t>Only summary data available</a:t>
            </a:r>
          </a:p>
          <a:p>
            <a:pPr lvl="1"/>
            <a:r>
              <a:rPr lang="en-US" dirty="0" smtClean="0"/>
              <a:t>Imagine “11 planes had metal fatigue”</a:t>
            </a:r>
          </a:p>
          <a:p>
            <a:r>
              <a:rPr lang="en-US" dirty="0" smtClean="0"/>
              <a:t>Each report slices data differently</a:t>
            </a:r>
            <a:endParaRPr lang="en-US" dirty="0"/>
          </a:p>
        </p:txBody>
      </p:sp>
      <p:grpSp>
        <p:nvGrpSpPr>
          <p:cNvPr id="4" name="Group 3"/>
          <p:cNvGrpSpPr/>
          <p:nvPr/>
        </p:nvGrpSpPr>
        <p:grpSpPr>
          <a:xfrm>
            <a:off x="2743200" y="3365500"/>
            <a:ext cx="2895600" cy="2362200"/>
            <a:chOff x="4926773" y="1723869"/>
            <a:chExt cx="3352064" cy="3214587"/>
          </a:xfrm>
        </p:grpSpPr>
        <p:pic>
          <p:nvPicPr>
            <p:cNvPr id="5" name="Picture 2"/>
            <p:cNvPicPr>
              <a:picLocks noChangeAspect="1" noChangeArrowheads="1"/>
            </p:cNvPicPr>
            <p:nvPr/>
          </p:nvPicPr>
          <p:blipFill rotWithShape="1">
            <a:blip r:embed="rId2" cstate="print">
              <a:extLst>
                <a:ext uri="{28A0092B-C50C-407E-A947-70E740481C1C}">
                  <a14:useLocalDpi xmlns="" xmlns:a14="http://schemas.microsoft.com/office/drawing/2010/main" val="0"/>
                </a:ext>
              </a:extLst>
            </a:blip>
            <a:srcRect l="34274" t="11040" r="35829" b="19800"/>
            <a:stretch/>
          </p:blipFill>
          <p:spPr bwMode="auto">
            <a:xfrm>
              <a:off x="6230662" y="2274644"/>
              <a:ext cx="2048175" cy="2663812"/>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926773" y="1723869"/>
              <a:ext cx="1903093" cy="2599000"/>
            </a:xfrm>
            <a:prstGeom prst="rect">
              <a:avLst/>
            </a:prstGeom>
            <a:noFill/>
            <a:ln w="9525">
              <a:solidFill>
                <a:schemeClr val="tx1"/>
              </a:solidFill>
              <a:miter lim="800000"/>
              <a:headEnd/>
              <a:tailEnd/>
            </a:ln>
            <a:extLst>
              <a:ext uri="{909E8E84-426E-40DD-AFC4-6F175D3DCCD1}">
                <a14:hiddenFill xmlns="" xmlns:a14="http://schemas.microsoft.com/office/drawing/2010/main">
                  <a:solidFill>
                    <a:schemeClr val="accent1"/>
                  </a:solidFill>
                </a14:hiddenFill>
              </a:ext>
            </a:extLst>
          </p:spPr>
        </p:pic>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cstate="print"/>
          <a:srcRect/>
          <a:stretch>
            <a:fillRect/>
          </a:stretch>
        </p:blipFill>
        <p:spPr bwMode="auto">
          <a:xfrm>
            <a:off x="3543300" y="1684668"/>
            <a:ext cx="5600700" cy="4191000"/>
          </a:xfrm>
          <a:prstGeom prst="rect">
            <a:avLst/>
          </a:prstGeom>
          <a:noFill/>
          <a:ln w="9525">
            <a:noFill/>
            <a:miter lim="800000"/>
            <a:headEnd/>
            <a:tailEnd/>
          </a:ln>
          <a:effectLst/>
        </p:spPr>
      </p:pic>
      <p:sp>
        <p:nvSpPr>
          <p:cNvPr id="2" name="Title 1"/>
          <p:cNvSpPr>
            <a:spLocks noGrp="1"/>
          </p:cNvSpPr>
          <p:nvPr>
            <p:ph type="title"/>
          </p:nvPr>
        </p:nvSpPr>
        <p:spPr>
          <a:xfrm>
            <a:off x="457200" y="609600"/>
            <a:ext cx="8041440" cy="746778"/>
          </a:xfrm>
        </p:spPr>
        <p:txBody>
          <a:bodyPr>
            <a:normAutofit fontScale="90000"/>
          </a:bodyPr>
          <a:lstStyle/>
          <a:p>
            <a:r>
              <a:rPr lang="en-US" sz="4400" dirty="0" smtClean="0"/>
              <a:t>Current Root Cause Data is Weak</a:t>
            </a:r>
            <a:endParaRPr lang="en-US" sz="4400" dirty="0"/>
          </a:p>
        </p:txBody>
      </p:sp>
      <p:sp>
        <p:nvSpPr>
          <p:cNvPr id="3" name="Slide Number Placeholder 2"/>
          <p:cNvSpPr>
            <a:spLocks noGrp="1"/>
          </p:cNvSpPr>
          <p:nvPr>
            <p:ph type="sldNum" sz="quarter" idx="12"/>
          </p:nvPr>
        </p:nvSpPr>
        <p:spPr/>
        <p:txBody>
          <a:bodyPr/>
          <a:lstStyle/>
          <a:p>
            <a:fld id="{AC5B1FEA-406A-7749-A5C3-DDCB5F67A4CE}" type="slidenum">
              <a:rPr lang="en-US" smtClean="0"/>
              <a:pPr/>
              <a:t>27</a:t>
            </a:fld>
            <a:endParaRPr lang="en-US"/>
          </a:p>
        </p:txBody>
      </p:sp>
      <p:pic>
        <p:nvPicPr>
          <p:cNvPr id="4098" name="Picture 2"/>
          <p:cNvPicPr>
            <a:picLocks noChangeAspect="1" noChangeArrowheads="1"/>
          </p:cNvPicPr>
          <p:nvPr/>
        </p:nvPicPr>
        <p:blipFill>
          <a:blip r:embed="rId3" cstate="print"/>
          <a:srcRect/>
          <a:stretch>
            <a:fillRect/>
          </a:stretch>
        </p:blipFill>
        <p:spPr bwMode="auto">
          <a:xfrm>
            <a:off x="448554" y="1861856"/>
            <a:ext cx="3526037" cy="3990404"/>
          </a:xfrm>
          <a:prstGeom prst="rect">
            <a:avLst/>
          </a:prstGeom>
          <a:noFill/>
          <a:ln w="9525">
            <a:noFill/>
            <a:miter lim="800000"/>
            <a:headEnd/>
            <a:tailEnd/>
          </a:ln>
          <a:effectLst/>
        </p:spPr>
      </p:pic>
      <p:sp>
        <p:nvSpPr>
          <p:cNvPr id="8" name="Oval 7"/>
          <p:cNvSpPr/>
          <p:nvPr/>
        </p:nvSpPr>
        <p:spPr>
          <a:xfrm>
            <a:off x="4437888" y="3511296"/>
            <a:ext cx="1316736" cy="256032"/>
          </a:xfrm>
          <a:prstGeom prst="ellipse">
            <a:avLst/>
          </a:prstGeom>
          <a:ln>
            <a:solidFill>
              <a:srgbClr val="FF0000"/>
            </a:solidFill>
          </a:ln>
        </p:spPr>
        <p:txBody>
          <a:bodyPr rtlCol="0" anchor="ctr">
            <a:spAutoFit/>
          </a:bodyPr>
          <a:lstStyle/>
          <a:p>
            <a:pPr algn="ctr"/>
            <a:endParaRPr lang="en-US" dirty="0" smtClean="0">
              <a:latin typeface="Georgia" pitchFamily="18" charset="0"/>
            </a:endParaRPr>
          </a:p>
        </p:txBody>
      </p:sp>
      <p:sp>
        <p:nvSpPr>
          <p:cNvPr id="9" name="Oval 8"/>
          <p:cNvSpPr/>
          <p:nvPr/>
        </p:nvSpPr>
        <p:spPr>
          <a:xfrm>
            <a:off x="7540752" y="4828032"/>
            <a:ext cx="1316736" cy="256032"/>
          </a:xfrm>
          <a:prstGeom prst="ellipse">
            <a:avLst/>
          </a:prstGeom>
          <a:ln>
            <a:solidFill>
              <a:srgbClr val="FF0000"/>
            </a:solidFill>
          </a:ln>
        </p:spPr>
        <p:txBody>
          <a:bodyPr rtlCol="0" anchor="ctr">
            <a:spAutoFit/>
          </a:bodyPr>
          <a:lstStyle/>
          <a:p>
            <a:pPr algn="ctr"/>
            <a:endParaRPr lang="en-US" dirty="0" smtClean="0">
              <a:latin typeface="Georgia"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p:cNvPicPr>
            <a:picLocks noChangeAspect="1" noChangeArrowheads="1"/>
          </p:cNvPicPr>
          <p:nvPr/>
        </p:nvPicPr>
        <p:blipFill>
          <a:blip r:embed="rId2" cstate="print"/>
          <a:srcRect/>
          <a:stretch>
            <a:fillRect/>
          </a:stretch>
        </p:blipFill>
        <p:spPr bwMode="auto">
          <a:xfrm>
            <a:off x="0" y="508000"/>
            <a:ext cx="9156700" cy="28448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AC5B1FEA-406A-7749-A5C3-DDCB5F67A4CE}" type="slidenum">
              <a:rPr lang="en-US" smtClean="0"/>
              <a:pPr/>
              <a:t>28</a:t>
            </a:fld>
            <a:endParaRPr lang="en-US"/>
          </a:p>
        </p:txBody>
      </p:sp>
      <p:pic>
        <p:nvPicPr>
          <p:cNvPr id="4" name="Picture 2"/>
          <p:cNvPicPr>
            <a:picLocks noChangeAspect="1" noChangeArrowheads="1"/>
          </p:cNvPicPr>
          <p:nvPr/>
        </p:nvPicPr>
        <p:blipFill>
          <a:blip r:embed="rId3"/>
          <a:srcRect/>
          <a:stretch>
            <a:fillRect/>
          </a:stretch>
        </p:blipFill>
        <p:spPr bwMode="auto">
          <a:xfrm>
            <a:off x="1316038" y="3352801"/>
            <a:ext cx="2697161" cy="2438400"/>
          </a:xfrm>
          <a:prstGeom prst="rect">
            <a:avLst/>
          </a:prstGeom>
          <a:noFill/>
          <a:ln w="9525">
            <a:noFill/>
            <a:miter lim="800000"/>
            <a:headEnd/>
            <a:tailEnd/>
          </a:ln>
        </p:spPr>
      </p:pic>
      <p:sp>
        <p:nvSpPr>
          <p:cNvPr id="6" name="TextBox 5"/>
          <p:cNvSpPr txBox="1"/>
          <p:nvPr/>
        </p:nvSpPr>
        <p:spPr>
          <a:xfrm>
            <a:off x="4318000" y="4000500"/>
            <a:ext cx="4470400" cy="1200329"/>
          </a:xfrm>
          <a:prstGeom prst="rect">
            <a:avLst/>
          </a:prstGeom>
          <a:noFill/>
        </p:spPr>
        <p:txBody>
          <a:bodyPr wrap="square" rtlCol="0">
            <a:spAutoFit/>
          </a:bodyPr>
          <a:lstStyle/>
          <a:p>
            <a:r>
              <a:rPr lang="en-US" sz="2400" dirty="0" smtClean="0">
                <a:latin typeface="Georgia" pitchFamily="18" charset="0"/>
              </a:rPr>
              <a:t>Can root cause disclosure and a culture of learning from failure change the growth in breaches?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15900"/>
            <a:ext cx="9144000" cy="5664200"/>
          </a:xfrm>
          <a:prstGeom prst="rect">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solidFill>
                  <a:schemeClr val="bg1"/>
                </a:solidFill>
              </a:rPr>
              <a:t>A National Cyber Safety Board?</a:t>
            </a:r>
            <a:endParaRPr lang="en-US" dirty="0">
              <a:solidFill>
                <a:schemeClr val="bg1"/>
              </a:solidFill>
            </a:endParaRPr>
          </a:p>
        </p:txBody>
      </p:sp>
      <p:sp>
        <p:nvSpPr>
          <p:cNvPr id="3" name="Content Placeholder 2"/>
          <p:cNvSpPr>
            <a:spLocks noGrp="1"/>
          </p:cNvSpPr>
          <p:nvPr>
            <p:ph idx="1"/>
          </p:nvPr>
        </p:nvSpPr>
        <p:spPr>
          <a:xfrm>
            <a:off x="576680" y="1410448"/>
            <a:ext cx="4960520" cy="4224120"/>
          </a:xfrm>
        </p:spPr>
        <p:txBody>
          <a:bodyPr/>
          <a:lstStyle/>
          <a:p>
            <a:r>
              <a:rPr lang="en-US" dirty="0" smtClean="0">
                <a:solidFill>
                  <a:schemeClr val="bg1"/>
                </a:solidFill>
              </a:rPr>
              <a:t>Reporting </a:t>
            </a:r>
            <a:r>
              <a:rPr lang="en-US" dirty="0">
                <a:solidFill>
                  <a:schemeClr val="bg1"/>
                </a:solidFill>
              </a:rPr>
              <a:t>must be </a:t>
            </a:r>
            <a:r>
              <a:rPr lang="en-US" dirty="0" smtClean="0">
                <a:solidFill>
                  <a:schemeClr val="bg1"/>
                </a:solidFill>
              </a:rPr>
              <a:t>automated and consistent</a:t>
            </a:r>
          </a:p>
          <a:p>
            <a:r>
              <a:rPr lang="en-US" dirty="0" smtClean="0">
                <a:solidFill>
                  <a:schemeClr val="bg1"/>
                </a:solidFill>
              </a:rPr>
              <a:t>Goal is actionable knowledge</a:t>
            </a:r>
          </a:p>
          <a:p>
            <a:r>
              <a:rPr lang="en-US" dirty="0" smtClean="0">
                <a:solidFill>
                  <a:schemeClr val="bg1"/>
                </a:solidFill>
              </a:rPr>
              <a:t>Businesses want anonymity. We could still learn from breaches but there wouldn’t be additional incentive of staying out of news.</a:t>
            </a:r>
          </a:p>
          <a:p>
            <a:r>
              <a:rPr lang="en-US" dirty="0" smtClean="0">
                <a:solidFill>
                  <a:schemeClr val="bg1"/>
                </a:solidFill>
              </a:rPr>
              <a:t>Need root cause analysis</a:t>
            </a:r>
            <a:endParaRPr lang="en-US" dirty="0">
              <a:solidFill>
                <a:schemeClr val="bg1"/>
              </a:solidFill>
            </a:endParaRPr>
          </a:p>
        </p:txBody>
      </p:sp>
      <p:pic>
        <p:nvPicPr>
          <p:cNvPr id="2050" name="Picture 2"/>
          <p:cNvPicPr>
            <a:picLocks noChangeAspect="1" noChangeArrowheads="1"/>
          </p:cNvPicPr>
          <p:nvPr/>
        </p:nvPicPr>
        <p:blipFill>
          <a:blip r:embed="rId2"/>
          <a:srcRect/>
          <a:stretch>
            <a:fillRect/>
          </a:stretch>
        </p:blipFill>
        <p:spPr bwMode="auto">
          <a:xfrm>
            <a:off x="5599113" y="1497013"/>
            <a:ext cx="2592387" cy="2592387"/>
          </a:xfrm>
          <a:prstGeom prst="rect">
            <a:avLst/>
          </a:prstGeom>
          <a:noFill/>
          <a:ln w="9525">
            <a:noFill/>
            <a:miter lim="800000"/>
            <a:headEnd/>
            <a:tailEnd/>
          </a:ln>
        </p:spPr>
      </p:pic>
      <p:sp>
        <p:nvSpPr>
          <p:cNvPr id="5" name="Rectangle 4"/>
          <p:cNvSpPr/>
          <p:nvPr/>
        </p:nvSpPr>
        <p:spPr>
          <a:xfrm rot="2176978">
            <a:off x="6754159" y="1832715"/>
            <a:ext cx="1635294" cy="461665"/>
          </a:xfrm>
          <a:prstGeom prst="rect">
            <a:avLst/>
          </a:prstGeom>
          <a:noFill/>
        </p:spPr>
        <p:txBody>
          <a:bodyPr wrap="square" lIns="91440" tIns="45720" rIns="91440" bIns="45720">
            <a:spAutoFit/>
          </a:bodyPr>
          <a:lstStyle/>
          <a:p>
            <a:pPr algn="ctr"/>
            <a:r>
              <a:rPr lang="en-US" sz="2400" b="1" cap="none" spc="0" dirty="0" smtClean="0">
                <a:ln w="1905"/>
                <a:solidFill>
                  <a:srgbClr val="FFC000"/>
                </a:solidFill>
                <a:effectLst>
                  <a:innerShdw blurRad="69850" dist="43180" dir="5400000">
                    <a:srgbClr val="000000">
                      <a:alpha val="65000"/>
                    </a:srgbClr>
                  </a:innerShdw>
                </a:effectLst>
              </a:rPr>
              <a:t>Cyber</a:t>
            </a:r>
            <a:endParaRPr lang="en-US" sz="2400" b="1" cap="none" spc="0" dirty="0">
              <a:ln w="1905"/>
              <a:solidFill>
                <a:srgbClr val="FFC000"/>
              </a:solidFill>
              <a:effectLst>
                <a:innerShdw blurRad="69850" dist="43180" dir="5400000">
                  <a:srgbClr val="000000">
                    <a:alpha val="65000"/>
                  </a:srgbClr>
                </a:innerShdw>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Can We Learn</a:t>
            </a:r>
            <a:endParaRPr lang="en-US" dirty="0"/>
          </a:p>
        </p:txBody>
      </p:sp>
      <p:sp>
        <p:nvSpPr>
          <p:cNvPr id="3" name="Content Placeholder 2"/>
          <p:cNvSpPr>
            <a:spLocks noGrp="1"/>
          </p:cNvSpPr>
          <p:nvPr>
            <p:ph idx="1"/>
          </p:nvPr>
        </p:nvSpPr>
        <p:spPr>
          <a:xfrm>
            <a:off x="551280" y="1385048"/>
            <a:ext cx="5227220" cy="4241052"/>
          </a:xfrm>
        </p:spPr>
        <p:txBody>
          <a:bodyPr>
            <a:normAutofit/>
          </a:bodyPr>
          <a:lstStyle/>
          <a:p>
            <a:r>
              <a:rPr lang="en-US" dirty="0" smtClean="0"/>
              <a:t>What classes of application vulnerabilities are being attacked.</a:t>
            </a:r>
          </a:p>
          <a:p>
            <a:r>
              <a:rPr lang="en-US" dirty="0" smtClean="0"/>
              <a:t>What is the exploit rate of known vulnerabilities</a:t>
            </a:r>
          </a:p>
          <a:p>
            <a:r>
              <a:rPr lang="en-US" dirty="0" smtClean="0"/>
              <a:t>Understand how non-regulated entities and/or non-regulated data are attacked</a:t>
            </a:r>
          </a:p>
          <a:p>
            <a:r>
              <a:rPr lang="en-US" dirty="0" smtClean="0"/>
              <a:t>What are the vectors used by </a:t>
            </a:r>
            <a:r>
              <a:rPr lang="en-US" dirty="0" err="1" smtClean="0"/>
              <a:t>hacktivists</a:t>
            </a:r>
            <a:r>
              <a:rPr lang="en-US" dirty="0" smtClean="0"/>
              <a:t> and spies</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30</a:t>
            </a:fld>
            <a:endParaRPr lang="en-US"/>
          </a:p>
        </p:txBody>
      </p:sp>
      <p:pic>
        <p:nvPicPr>
          <p:cNvPr id="1026" name="Picture 2" descr="http://sciencegeekgirl.com/files/2008/12/pastedgraphic.jpg"/>
          <p:cNvPicPr>
            <a:picLocks noChangeAspect="1" noChangeArrowheads="1"/>
          </p:cNvPicPr>
          <p:nvPr/>
        </p:nvPicPr>
        <p:blipFill>
          <a:blip r:embed="rId2"/>
          <a:srcRect/>
          <a:stretch>
            <a:fillRect/>
          </a:stretch>
        </p:blipFill>
        <p:spPr bwMode="auto">
          <a:xfrm>
            <a:off x="5946775" y="2062162"/>
            <a:ext cx="2857500" cy="2000251"/>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Prevalence of Apps With Flaws by Language</a:t>
            </a:r>
            <a:endParaRPr lang="en-US" dirty="0"/>
          </a:p>
        </p:txBody>
      </p:sp>
      <p:sp>
        <p:nvSpPr>
          <p:cNvPr id="3" name="Slide Number Placeholder 2"/>
          <p:cNvSpPr>
            <a:spLocks noGrp="1"/>
          </p:cNvSpPr>
          <p:nvPr>
            <p:ph type="sldNum" sz="quarter" idx="12"/>
          </p:nvPr>
        </p:nvSpPr>
        <p:spPr/>
        <p:txBody>
          <a:bodyPr/>
          <a:lstStyle/>
          <a:p>
            <a:fld id="{AC5B1FEA-406A-7749-A5C3-DDCB5F67A4CE}" type="slidenum">
              <a:rPr lang="en-US" smtClean="0"/>
              <a:pPr/>
              <a:t>31</a:t>
            </a:fld>
            <a:endParaRPr lang="en-US"/>
          </a:p>
        </p:txBody>
      </p:sp>
      <p:graphicFrame>
        <p:nvGraphicFramePr>
          <p:cNvPr id="4" name="Chart 3"/>
          <p:cNvGraphicFramePr/>
          <p:nvPr/>
        </p:nvGraphicFramePr>
        <p:xfrm>
          <a:off x="568037" y="1039091"/>
          <a:ext cx="7602298" cy="471054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a:t>
            </a:r>
            <a:r>
              <a:rPr lang="en-US" baseline="30000" dirty="0" smtClean="0"/>
              <a:t>st</a:t>
            </a:r>
            <a:r>
              <a:rPr lang="en-US" dirty="0" smtClean="0"/>
              <a:t> to 2</a:t>
            </a:r>
            <a:r>
              <a:rPr lang="en-US" baseline="30000" dirty="0" smtClean="0"/>
              <a:t>nd</a:t>
            </a:r>
            <a:r>
              <a:rPr lang="en-US" dirty="0" smtClean="0"/>
              <a:t> Test Improvement by Language</a:t>
            </a:r>
            <a:endParaRPr lang="en-US" dirty="0"/>
          </a:p>
        </p:txBody>
      </p:sp>
      <p:sp>
        <p:nvSpPr>
          <p:cNvPr id="3" name="Slide Number Placeholder 2"/>
          <p:cNvSpPr>
            <a:spLocks noGrp="1"/>
          </p:cNvSpPr>
          <p:nvPr>
            <p:ph type="sldNum" sz="quarter" idx="12"/>
          </p:nvPr>
        </p:nvSpPr>
        <p:spPr/>
        <p:txBody>
          <a:bodyPr/>
          <a:lstStyle/>
          <a:p>
            <a:fld id="{AC5B1FEA-406A-7749-A5C3-DDCB5F67A4CE}" type="slidenum">
              <a:rPr lang="en-US" smtClean="0"/>
              <a:pPr/>
              <a:t>32</a:t>
            </a:fld>
            <a:endParaRPr lang="en-US"/>
          </a:p>
        </p:txBody>
      </p:sp>
      <p:graphicFrame>
        <p:nvGraphicFramePr>
          <p:cNvPr id="4" name="Chart 3"/>
          <p:cNvGraphicFramePr/>
          <p:nvPr/>
        </p:nvGraphicFramePr>
        <p:xfrm>
          <a:off x="429492" y="1039091"/>
          <a:ext cx="7969442" cy="480752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a:t>Ultimately, a National Data Breach Reporting Law should breed best practices for information sharing “for the good of the community.”  The fact that we’re not thinking about data breach investigation and notification like the NTSB shows how immature the IT security industry really is</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4" name="Slide Number Placeholder 3"/>
          <p:cNvSpPr>
            <a:spLocks noGrp="1"/>
          </p:cNvSpPr>
          <p:nvPr>
            <p:ph type="sldNum" sz="quarter" idx="12"/>
          </p:nvPr>
        </p:nvSpPr>
        <p:spPr/>
        <p:txBody>
          <a:bodyPr/>
          <a:lstStyle/>
          <a:p>
            <a:fld id="{AC5B1FEA-406A-7749-A5C3-DDCB5F67A4CE}" type="slidenum">
              <a:rPr lang="en-US" smtClean="0"/>
              <a:pPr/>
              <a:t>34</a:t>
            </a:fld>
            <a:endParaRPr lang="en-US"/>
          </a:p>
        </p:txBody>
      </p:sp>
      <p:sp>
        <p:nvSpPr>
          <p:cNvPr id="6" name="TextBox 5"/>
          <p:cNvSpPr txBox="1"/>
          <p:nvPr/>
        </p:nvSpPr>
        <p:spPr>
          <a:xfrm>
            <a:off x="4813300" y="2476500"/>
            <a:ext cx="4114800" cy="2246769"/>
          </a:xfrm>
          <a:prstGeom prst="rect">
            <a:avLst/>
          </a:prstGeom>
          <a:noFill/>
        </p:spPr>
        <p:txBody>
          <a:bodyPr wrap="square" rtlCol="0">
            <a:spAutoFit/>
          </a:bodyPr>
          <a:lstStyle/>
          <a:p>
            <a:r>
              <a:rPr lang="en-US" sz="2800" dirty="0" smtClean="0">
                <a:latin typeface="Georgia" pitchFamily="18" charset="0"/>
              </a:rPr>
              <a:t>Chris Wysopal</a:t>
            </a:r>
          </a:p>
          <a:p>
            <a:endParaRPr lang="en-US" sz="2800" dirty="0" smtClean="0">
              <a:latin typeface="Georgia" pitchFamily="18" charset="0"/>
            </a:endParaRPr>
          </a:p>
          <a:p>
            <a:r>
              <a:rPr lang="en-US" sz="2800" dirty="0" smtClean="0">
                <a:latin typeface="Georgia" pitchFamily="18" charset="0"/>
                <a:hlinkClick r:id="rId2"/>
              </a:rPr>
              <a:t>cwysopal@veracode.com</a:t>
            </a:r>
            <a:endParaRPr lang="en-US" sz="2800" dirty="0" smtClean="0">
              <a:latin typeface="Georgia" pitchFamily="18" charset="0"/>
            </a:endParaRPr>
          </a:p>
          <a:p>
            <a:endParaRPr lang="en-US" sz="2800" dirty="0" smtClean="0">
              <a:latin typeface="Georgia" pitchFamily="18" charset="0"/>
            </a:endParaRPr>
          </a:p>
          <a:p>
            <a:r>
              <a:rPr lang="en-US" sz="2800" dirty="0" smtClean="0">
                <a:latin typeface="Georgia" pitchFamily="18" charset="0"/>
              </a:rPr>
              <a:t>@</a:t>
            </a:r>
            <a:r>
              <a:rPr lang="en-US" sz="2800" dirty="0" err="1" smtClean="0">
                <a:latin typeface="Georgia" pitchFamily="18" charset="0"/>
              </a:rPr>
              <a:t>weldpond</a:t>
            </a:r>
            <a:endParaRPr lang="en-US" sz="2800" dirty="0" smtClean="0">
              <a:latin typeface="Georgia" pitchFamily="18" charset="0"/>
            </a:endParaRPr>
          </a:p>
        </p:txBody>
      </p:sp>
      <p:pic>
        <p:nvPicPr>
          <p:cNvPr id="44036" name="Picture 4" descr="http://wileyisupdates.ca/wp-content/uploads/2011/10/white_hat_hacker_cartoon.jpg"/>
          <p:cNvPicPr>
            <a:picLocks noChangeAspect="1" noChangeArrowheads="1"/>
          </p:cNvPicPr>
          <p:nvPr/>
        </p:nvPicPr>
        <p:blipFill>
          <a:blip r:embed="rId3"/>
          <a:srcRect/>
          <a:stretch>
            <a:fillRect/>
          </a:stretch>
        </p:blipFill>
        <p:spPr bwMode="auto">
          <a:xfrm>
            <a:off x="0" y="1184275"/>
            <a:ext cx="4762500" cy="4572000"/>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Veracode 2013 customer facing">
  <a:themeElements>
    <a:clrScheme name="Veracode">
      <a:dk1>
        <a:srgbClr val="2D3437"/>
      </a:dk1>
      <a:lt1>
        <a:sysClr val="window" lastClr="FFFFFF"/>
      </a:lt1>
      <a:dk2>
        <a:srgbClr val="1F497D"/>
      </a:dk2>
      <a:lt2>
        <a:srgbClr val="EEECE1"/>
      </a:lt2>
      <a:accent1>
        <a:srgbClr val="00B0F0"/>
      </a:accent1>
      <a:accent2>
        <a:srgbClr val="B22710"/>
      </a:accent2>
      <a:accent3>
        <a:srgbClr val="59930D"/>
      </a:accent3>
      <a:accent4>
        <a:srgbClr val="FE4110"/>
      </a:accent4>
      <a:accent5>
        <a:srgbClr val="152C63"/>
      </a:accent5>
      <a:accent6>
        <a:srgbClr val="F26532"/>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Sketchbook">
      <a:fillStyleLst>
        <a:solidFill>
          <a:schemeClr val="phClr"/>
        </a:solidFill>
        <a:gradFill rotWithShape="1">
          <a:gsLst>
            <a:gs pos="0">
              <a:schemeClr val="phClr">
                <a:tint val="10000"/>
                <a:alpha val="94000"/>
                <a:satMod val="120000"/>
                <a:lumMod val="110000"/>
              </a:schemeClr>
            </a:gs>
            <a:gs pos="100000">
              <a:schemeClr val="phClr">
                <a:tint val="80000"/>
                <a:shade val="100000"/>
                <a:satMod val="140000"/>
                <a:lumMod val="120000"/>
              </a:schemeClr>
            </a:gs>
          </a:gsLst>
          <a:lin ang="5400000" scaled="0"/>
        </a:gradFill>
        <a:gradFill rotWithShape="1">
          <a:gsLst>
            <a:gs pos="0">
              <a:schemeClr val="phClr">
                <a:tint val="100000"/>
                <a:shade val="100000"/>
                <a:satMod val="100000"/>
                <a:lumMod val="90000"/>
              </a:schemeClr>
            </a:gs>
            <a:gs pos="100000">
              <a:schemeClr val="phClr">
                <a:tint val="95000"/>
                <a:shade val="100000"/>
                <a:satMod val="110000"/>
                <a:lumMod val="105000"/>
              </a:schemeClr>
            </a:gs>
          </a:gsLst>
          <a:path path="circle">
            <a:fillToRect l="40000" t="100000" r="40000" b="100000"/>
          </a:path>
        </a:gradFill>
      </a:fillStyleLst>
      <a:lnStyleLst>
        <a:ln w="9525" cap="flat" cmpd="sng" algn="ctr">
          <a:solidFill>
            <a:schemeClr val="phClr"/>
          </a:solidFill>
          <a:prstDash val="solid"/>
        </a:ln>
        <a:ln w="19050"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outerShdw blurRad="50800" dist="12700" dir="5400000" rotWithShape="0">
              <a:srgbClr val="000000">
                <a:alpha val="37000"/>
              </a:srgbClr>
            </a:outerShdw>
          </a:effectLst>
        </a:effectStyle>
        <a:effectStyle>
          <a:effectLst>
            <a:outerShdw blurRad="50800" dist="25400" dir="5040000" rotWithShape="0">
              <a:srgbClr val="000000">
                <a:alpha val="44000"/>
              </a:srgbClr>
            </a:outerShdw>
          </a:effectLst>
          <a:scene3d>
            <a:camera prst="orthographicFront">
              <a:rot lat="0" lon="0" rev="0"/>
            </a:camera>
            <a:lightRig rig="threePt" dir="tl"/>
          </a:scene3d>
          <a:sp3d prstMaterial="dkEdge">
            <a:bevelT w="38100" h="25400" prst="coolSlant"/>
          </a:sp3d>
        </a:effectStyle>
      </a:effectStyleLst>
      <a:bgFillStyleLst>
        <a:solidFill>
          <a:schemeClr val="phClr"/>
        </a:solidFill>
        <a:blipFill rotWithShape="1">
          <a:blip xmlns:r="http://schemas.openxmlformats.org/officeDocument/2006/relationships" r:embed="rId1">
            <a:duotone>
              <a:schemeClr val="phClr">
                <a:shade val="55000"/>
                <a:lumMod val="90000"/>
              </a:schemeClr>
              <a:schemeClr val="phClr">
                <a:tint val="92000"/>
                <a:satMod val="120000"/>
                <a:lumMod val="103000"/>
              </a:schemeClr>
            </a:duotone>
          </a:blip>
          <a:stretch/>
        </a:blipFill>
        <a:blipFill rotWithShape="1">
          <a:blip xmlns:r="http://schemas.openxmlformats.org/officeDocument/2006/relationships" r:embed="rId2">
            <a:duotone>
              <a:schemeClr val="phClr">
                <a:shade val="96000"/>
              </a:schemeClr>
              <a:schemeClr val="phClr">
                <a:tint val="98000"/>
              </a:schemeClr>
            </a:duotone>
          </a:blip>
          <a:tile tx="0" ty="0" sx="50000" sy="50000" flip="none" algn="tl"/>
        </a:blipFill>
      </a:bgFillStyleLst>
    </a:fmtScheme>
  </a:themeElements>
  <a:objectDefaults>
    <a:txDef>
      <a:spPr>
        <a:noFill/>
      </a:spPr>
      <a:bodyPr wrap="none" rtlCol="0">
        <a:spAutoFit/>
      </a:bodyPr>
      <a:lstStyle>
        <a:defPPr>
          <a:defRPr dirty="0" smtClean="0">
            <a:latin typeface="Georgia"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Veracode 2013 customer facing</Template>
  <TotalTime>4305</TotalTime>
  <Words>1350</Words>
  <Application>Microsoft Office PowerPoint</Application>
  <PresentationFormat>On-screen Show (4:3)</PresentationFormat>
  <Paragraphs>220</Paragraphs>
  <Slides>34</Slides>
  <Notes>26</Notes>
  <HiddenSlides>1</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Veracode 2013 customer facing</vt:lpstr>
      <vt:lpstr>Slide 1</vt:lpstr>
      <vt:lpstr>Future of Government Info Sharing</vt:lpstr>
      <vt:lpstr>The Future of Disclosure?</vt:lpstr>
      <vt:lpstr>Enhanced Cybersecurity Services</vt:lpstr>
      <vt:lpstr>US Government Vision for Information Sharing</vt:lpstr>
      <vt:lpstr>Or do we treat information risk as a health and safety issue</vt:lpstr>
      <vt:lpstr>Collect and Share Information</vt:lpstr>
      <vt:lpstr>Mandatory Reporting</vt:lpstr>
      <vt:lpstr>Commercial Airlines</vt:lpstr>
      <vt:lpstr>NTSB History</vt:lpstr>
      <vt:lpstr>Incident Disclosure</vt:lpstr>
      <vt:lpstr>NTSB Aviation Disclosure</vt:lpstr>
      <vt:lpstr>Slide 13</vt:lpstr>
      <vt:lpstr>Slide 14</vt:lpstr>
      <vt:lpstr>NTSB Incident Reports </vt:lpstr>
      <vt:lpstr>Slide 16</vt:lpstr>
      <vt:lpstr>Slide 17</vt:lpstr>
      <vt:lpstr>Internet Incident History</vt:lpstr>
      <vt:lpstr>Data Breach for PII Disclosure</vt:lpstr>
      <vt:lpstr>Slide 20</vt:lpstr>
      <vt:lpstr>State Laws Vary</vt:lpstr>
      <vt:lpstr>Slide 22</vt:lpstr>
      <vt:lpstr>Why won’t they help us?</vt:lpstr>
      <vt:lpstr>6 Biggest Breaches of Early 2012</vt:lpstr>
      <vt:lpstr>10 Top Government Data Breaches Of 2012</vt:lpstr>
      <vt:lpstr>Commercial Breach Reports</vt:lpstr>
      <vt:lpstr>Current Root Cause Data is Weak</vt:lpstr>
      <vt:lpstr>Slide 28</vt:lpstr>
      <vt:lpstr>A National Cyber Safety Board?</vt:lpstr>
      <vt:lpstr>What Can We Learn</vt:lpstr>
      <vt:lpstr>Prevalence of Apps With Flaws by Language</vt:lpstr>
      <vt:lpstr>1st to 2nd Test Improvement by Language</vt:lpstr>
      <vt:lpstr>Conclusion</vt:lpstr>
      <vt:lpstr>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GTM update</dc:title>
  <dc:creator>jnoel</dc:creator>
  <cp:lastModifiedBy>cwysopal</cp:lastModifiedBy>
  <cp:revision>315</cp:revision>
  <cp:lastPrinted>2012-01-20T19:25:31Z</cp:lastPrinted>
  <dcterms:created xsi:type="dcterms:W3CDTF">2013-04-18T20:47:55Z</dcterms:created>
  <dcterms:modified xsi:type="dcterms:W3CDTF">2013-06-02T00:49:50Z</dcterms:modified>
</cp:coreProperties>
</file>