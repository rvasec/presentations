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8" r:id="rId2"/>
    <p:sldId id="259" r:id="rId3"/>
    <p:sldId id="298" r:id="rId4"/>
    <p:sldId id="257" r:id="rId5"/>
    <p:sldId id="260" r:id="rId6"/>
    <p:sldId id="261" r:id="rId7"/>
    <p:sldId id="262" r:id="rId8"/>
    <p:sldId id="271" r:id="rId9"/>
    <p:sldId id="269" r:id="rId10"/>
    <p:sldId id="289" r:id="rId11"/>
    <p:sldId id="284" r:id="rId12"/>
    <p:sldId id="290" r:id="rId13"/>
    <p:sldId id="265" r:id="rId14"/>
    <p:sldId id="272" r:id="rId15"/>
    <p:sldId id="273" r:id="rId16"/>
    <p:sldId id="275" r:id="rId17"/>
    <p:sldId id="276" r:id="rId18"/>
    <p:sldId id="286" r:id="rId19"/>
    <p:sldId id="299" r:id="rId20"/>
    <p:sldId id="297" r:id="rId21"/>
    <p:sldId id="295" r:id="rId22"/>
    <p:sldId id="296" r:id="rId23"/>
    <p:sldId id="294" r:id="rId24"/>
    <p:sldId id="292" r:id="rId25"/>
    <p:sldId id="300" r:id="rId26"/>
    <p:sldId id="301" r:id="rId27"/>
    <p:sldId id="293" r:id="rId28"/>
    <p:sldId id="291" r:id="rId29"/>
    <p:sldId id="287" r:id="rId30"/>
    <p:sldId id="283"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0" autoAdjust="0"/>
    <p:restoredTop sz="80894" autoAdjust="0"/>
  </p:normalViewPr>
  <p:slideViewPr>
    <p:cSldViewPr>
      <p:cViewPr>
        <p:scale>
          <a:sx n="80" d="100"/>
          <a:sy n="80" d="100"/>
        </p:scale>
        <p:origin x="-1086" y="24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23136DA-81D7-47B4-9139-02AEB55A4700}" type="datetimeFigureOut">
              <a:rPr lang="en-US" smtClean="0"/>
              <a:pPr/>
              <a:t>6/11/2013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6A0EC73-6147-4222-BCFD-030E49B743EB}" type="slidenum">
              <a:rPr lang="en-US" smtClean="0"/>
              <a:pPr/>
              <a:t>‹#›</a:t>
            </a:fld>
            <a:endParaRPr lang="en-US"/>
          </a:p>
        </p:txBody>
      </p:sp>
    </p:spTree>
    <p:extLst>
      <p:ext uri="{BB962C8B-B14F-4D97-AF65-F5344CB8AC3E}">
        <p14:creationId xmlns:p14="http://schemas.microsoft.com/office/powerpoint/2010/main" val="4014319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That’s right,</a:t>
            </a:r>
            <a:r>
              <a:rPr lang="en-US" baseline="0" dirty="0" smtClean="0"/>
              <a:t> the catalog. </a:t>
            </a:r>
          </a:p>
          <a:p>
            <a:endParaRPr lang="en-US" baseline="0" dirty="0" smtClean="0"/>
          </a:p>
          <a:p>
            <a:r>
              <a:rPr lang="en-US" baseline="0" dirty="0" smtClean="0"/>
              <a:t>I want to thank </a:t>
            </a:r>
            <a:r>
              <a:rPr lang="en-US" baseline="0" dirty="0" err="1" smtClean="0"/>
              <a:t>jake</a:t>
            </a:r>
            <a:r>
              <a:rPr lang="en-US" baseline="0" dirty="0" smtClean="0"/>
              <a:t> and </a:t>
            </a:r>
            <a:r>
              <a:rPr lang="en-US" baseline="0" dirty="0" err="1" smtClean="0"/>
              <a:t>chris</a:t>
            </a:r>
            <a:r>
              <a:rPr lang="en-US" baseline="0" dirty="0" smtClean="0"/>
              <a:t> for their organizational efforts </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Alex</a:t>
            </a:r>
            <a:r>
              <a:rPr lang="en-US" baseline="0" dirty="0" smtClean="0"/>
              <a:t> Hutton’s keynote yesterday made me happy and nostalgic, since my first boss in IT was Dr. Peter </a:t>
            </a:r>
            <a:r>
              <a:rPr lang="en-US" baseline="0" dirty="0" err="1" smtClean="0"/>
              <a:t>Tippett</a:t>
            </a:r>
            <a:r>
              <a:rPr lang="en-US" baseline="0" dirty="0" smtClean="0"/>
              <a:t>. In 1992, my senior year at Case Western Reserve University in Cleveland OH I was introduced to Dr. </a:t>
            </a:r>
            <a:r>
              <a:rPr lang="en-US" baseline="0" dirty="0" err="1" smtClean="0"/>
              <a:t>Tippett</a:t>
            </a:r>
            <a:r>
              <a:rPr lang="en-US" baseline="0" dirty="0" smtClean="0"/>
              <a:t> who mentored me on my senior project on Anti-virus technology. Lots of assembly language, which 21 years later is almost as foreign to me as </a:t>
            </a:r>
            <a:r>
              <a:rPr lang="en-US" baseline="0" dirty="0" err="1" smtClean="0"/>
              <a:t>latin</a:t>
            </a:r>
            <a:r>
              <a:rPr lang="en-US" baseline="0" dirty="0" smtClean="0"/>
              <a:t>. After I graduated I worked briefly for his company </a:t>
            </a:r>
            <a:r>
              <a:rPr lang="en-US" baseline="0" dirty="0" err="1" smtClean="0"/>
              <a:t>Certus</a:t>
            </a:r>
            <a:r>
              <a:rPr lang="en-US" baseline="0" dirty="0" smtClean="0"/>
              <a:t> International prior to the Symantec acquisition. </a:t>
            </a:r>
          </a:p>
          <a:p>
            <a:endParaRPr lang="en-US" baseline="0" dirty="0" smtClean="0"/>
          </a:p>
          <a:p>
            <a:r>
              <a:rPr lang="en-US" baseline="0" dirty="0" smtClean="0"/>
              <a:t>I’ve obtained 30+ “certifications” in my career, both vendor and non-vendor. All of which I believe have expired. I </a:t>
            </a:r>
            <a:r>
              <a:rPr lang="en-US" u="sng" baseline="0" dirty="0" smtClean="0"/>
              <a:t>recertified</a:t>
            </a:r>
            <a:r>
              <a:rPr lang="en-US" baseline="0" dirty="0" smtClean="0"/>
              <a:t> my GSEC 3 times and taught it twice. I don’t have to recertify my bachelors degree so I’m basically done with certifications. I work with business risk. My day job entails trend and adversary analysis, security intelligence and business systems and impact analysis, so forgive me if I come off jaded and cynical. But I am. </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arenR"/>
            </a:pPr>
            <a:r>
              <a:rPr lang="en-US" dirty="0" smtClean="0"/>
              <a:t>I</a:t>
            </a:r>
            <a:r>
              <a:rPr lang="en-US" baseline="0" dirty="0" smtClean="0"/>
              <a:t> still pop boxes and it’s still fun</a:t>
            </a:r>
          </a:p>
          <a:p>
            <a:pPr marL="228600" indent="-228600">
              <a:buAutoNum type="arabicParenR"/>
            </a:pPr>
            <a:r>
              <a:rPr lang="en-US" baseline="0" dirty="0" smtClean="0"/>
              <a:t>I was a pretty good </a:t>
            </a:r>
            <a:r>
              <a:rPr lang="en-US" baseline="0" dirty="0" err="1" smtClean="0"/>
              <a:t>perl</a:t>
            </a:r>
            <a:r>
              <a:rPr lang="en-US" baseline="0" dirty="0" smtClean="0"/>
              <a:t> jockey in the 90s but business strategy and scripting</a:t>
            </a:r>
          </a:p>
          <a:p>
            <a:pPr marL="228600" indent="-228600">
              <a:buAutoNum type="arabicParenR"/>
            </a:pPr>
            <a:r>
              <a:rPr lang="en-US" baseline="0" dirty="0" smtClean="0"/>
              <a:t>This is my “WTF are you actually talking about” question. I’ll repeat it … natural security systems. Stay with me, its pretty cool.</a:t>
            </a:r>
          </a:p>
          <a:p>
            <a:pPr marL="228600" indent="-228600">
              <a:buNone/>
            </a:pPr>
            <a:endParaRPr lang="en-US" baseline="0" dirty="0" smtClean="0"/>
          </a:p>
          <a:p>
            <a:pPr marL="228600" indent="-228600">
              <a:buAutoNum type="arabicParenR"/>
            </a:pPr>
            <a:r>
              <a:rPr lang="en-US" dirty="0" smtClean="0"/>
              <a:t>The talk is designed to run a little short than the 50 or so minutes</a:t>
            </a:r>
            <a:r>
              <a:rPr lang="en-US" baseline="0" dirty="0" smtClean="0"/>
              <a:t> to open up some lively conversations</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These next few slides are from an earlier talk I gave at </a:t>
            </a:r>
            <a:r>
              <a:rPr lang="en-US" dirty="0" err="1" smtClean="0"/>
              <a:t>Bsides</a:t>
            </a:r>
            <a:r>
              <a:rPr lang="en-US" dirty="0" smtClean="0"/>
              <a:t> Cleveland and </a:t>
            </a:r>
            <a:r>
              <a:rPr lang="en-US" dirty="0" err="1" smtClean="0"/>
              <a:t>DerbyCon</a:t>
            </a:r>
            <a:r>
              <a:rPr lang="en-US" dirty="0" smtClean="0"/>
              <a:t>, but they set the stage for the current state security problems all of our collective organizations face and need to adapt to.</a:t>
            </a:r>
          </a:p>
          <a:p>
            <a:endParaRPr lang="en-US" dirty="0" smtClean="0"/>
          </a:p>
          <a:p>
            <a:r>
              <a:rPr lang="en-US" dirty="0" smtClean="0"/>
              <a:t>Does anyone</a:t>
            </a:r>
            <a:r>
              <a:rPr lang="en-US" baseline="0" dirty="0" smtClean="0"/>
              <a:t> know what this date represents?</a:t>
            </a:r>
            <a:endParaRPr lang="en-US" dirty="0" smtClean="0"/>
          </a:p>
          <a:p>
            <a:endParaRPr lang="en-US" dirty="0" smtClean="0"/>
          </a:p>
          <a:p>
            <a:r>
              <a:rPr lang="en-US" dirty="0" smtClean="0"/>
              <a:t>WWII was the last “clean</a:t>
            </a:r>
            <a:r>
              <a:rPr lang="en-US" baseline="0" dirty="0" smtClean="0"/>
              <a:t> conflict” the U.S. engaged in. </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have a long and unprecedented history of engaging</a:t>
            </a:r>
            <a:r>
              <a:rPr lang="en-US" baseline="0" dirty="0" smtClean="0"/>
              <a:t> in “unclean conflicts”. </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day the Soviet Union fell. There are, perhaps, a couple/few</a:t>
            </a:r>
            <a:r>
              <a:rPr lang="en-US" baseline="0" dirty="0" smtClean="0"/>
              <a:t> ramifications from this global event, but …</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None/>
            </a:pPr>
            <a:r>
              <a:rPr lang="en-US" dirty="0" smtClean="0"/>
              <a:t>&lt;click&gt;</a:t>
            </a:r>
          </a:p>
          <a:p>
            <a:pPr marL="228600" indent="-228600">
              <a:buAutoNum type="arabicParenR"/>
            </a:pPr>
            <a:endParaRPr lang="en-US" dirty="0" smtClean="0"/>
          </a:p>
          <a:p>
            <a:pPr marL="228600" indent="-228600">
              <a:buAutoNum type="arabicParenR"/>
            </a:pPr>
            <a:r>
              <a:rPr lang="en-US" dirty="0" smtClean="0"/>
              <a:t>What country in their right mind would actively engage in any formal “clean conflict” with the US when you can potentially surpass your goals through small scale unofficial conflicts, espionage and/or terrorism?</a:t>
            </a:r>
          </a:p>
          <a:p>
            <a:pPr marL="228600" indent="-228600">
              <a:buAutoNum type="arabicParenR"/>
            </a:pPr>
            <a:r>
              <a:rPr lang="en-US" dirty="0" smtClean="0"/>
              <a:t>&lt;click&gt;</a:t>
            </a:r>
            <a:r>
              <a:rPr lang="en-US" baseline="0" dirty="0" smtClean="0"/>
              <a:t> </a:t>
            </a:r>
            <a:r>
              <a:rPr lang="en-US" dirty="0" smtClean="0"/>
              <a:t>Our adversaries, both corporate and nation state, have become specialists at executing "Unclean Conflicts" against our business, innovation and defense infrastructure</a:t>
            </a:r>
          </a:p>
          <a:p>
            <a:pPr marL="228600" indent="-228600">
              <a:buAutoNum type="arabicParenR"/>
            </a:pPr>
            <a:r>
              <a:rPr lang="en-US" dirty="0" smtClean="0"/>
              <a:t>&lt;click&gt;</a:t>
            </a:r>
            <a:r>
              <a:rPr lang="en-US" baseline="0" dirty="0" smtClean="0"/>
              <a:t> </a:t>
            </a:r>
            <a:r>
              <a:rPr lang="en-US" dirty="0" smtClean="0"/>
              <a:t>WTF?</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So, here is the main point I want</a:t>
            </a:r>
            <a:r>
              <a:rPr lang="en-US" baseline="0" dirty="0" smtClean="0"/>
              <a:t> to establish in the first part of this talk &lt; cold war </a:t>
            </a:r>
            <a:r>
              <a:rPr lang="en-US" baseline="0" dirty="0" err="1" smtClean="0"/>
              <a:t>dna</a:t>
            </a:r>
            <a:r>
              <a:rPr lang="en-US" baseline="0" dirty="0" smtClean="0"/>
              <a:t> to business &gt; global arrogance</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Meanwhile, why would the rest of our competition and adversaries actually care how we think they should run their businesses?</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is one of my favorite terms.</a:t>
            </a:r>
            <a:r>
              <a:rPr lang="en-US" baseline="0" dirty="0" smtClean="0"/>
              <a:t> It illustrates so much of our collective current business mentality in two words. So elegant.</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the last several years the media has</a:t>
            </a:r>
            <a:r>
              <a:rPr lang="en-US" baseline="0" dirty="0" smtClean="0"/>
              <a:t> been an </a:t>
            </a:r>
            <a:r>
              <a:rPr lang="en-US" dirty="0" smtClean="0"/>
              <a:t>important factor in the newfound realization that,</a:t>
            </a:r>
            <a:r>
              <a:rPr lang="en-US" baseline="0" dirty="0" smtClean="0"/>
              <a:t> at least publically, we’re losing quite a bit of our intellectual property.</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&lt;click&gt;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Our </a:t>
            </a:r>
            <a:r>
              <a:rPr lang="en-US" dirty="0" err="1" smtClean="0"/>
              <a:t>infosec</a:t>
            </a:r>
            <a:r>
              <a:rPr lang="en-US" dirty="0" smtClean="0"/>
              <a:t> and business publications are overwhelmed with the latest buzzwords and the vendors</a:t>
            </a:r>
            <a:r>
              <a:rPr lang="en-US" baseline="0" dirty="0" smtClean="0"/>
              <a:t> are touting their latest “solutions” to the buzzwords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have a new business model pushing the “</a:t>
            </a:r>
            <a:r>
              <a:rPr lang="en-US" baseline="0" dirty="0" err="1" smtClean="0"/>
              <a:t>hackback</a:t>
            </a:r>
            <a:r>
              <a:rPr lang="en-US" baseline="0" dirty="0" smtClean="0"/>
              <a:t>” mentality. </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Now the US and other countries are reactively trying to legislate controls in an effort to “mitigate” everything we as leading nations have completely ignored</a:t>
            </a:r>
            <a:r>
              <a:rPr lang="en-US" baseline="0" dirty="0" smtClean="0"/>
              <a:t> due to our collective organizational entropy arrogance</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&lt;click&gt;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&lt;read&gt;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bottom line is this - If you get to the point where a problem becomes so big that you need to try to legislate it in order to protect the national, as well as </a:t>
            </a:r>
            <a:r>
              <a:rPr lang="en-US" baseline="0" dirty="0" smtClean="0"/>
              <a:t>global, </a:t>
            </a:r>
            <a:r>
              <a:rPr lang="en-US" dirty="0" smtClean="0"/>
              <a:t>economy as a whole, you have completely missed what was wrong to begin with. #FAIL</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 want to take a slide to simply perhaps reiterate what role </a:t>
            </a:r>
            <a:r>
              <a:rPr lang="en-US" dirty="0" err="1" smtClean="0"/>
              <a:t>infosec</a:t>
            </a:r>
            <a:r>
              <a:rPr lang="en-US" dirty="0" smtClean="0"/>
              <a:t> has in business.</a:t>
            </a:r>
            <a:r>
              <a:rPr lang="en-US" baseline="0" dirty="0" smtClean="0"/>
              <a:t> </a:t>
            </a:r>
          </a:p>
          <a:p>
            <a:endParaRPr lang="en-US" baseline="0" dirty="0" smtClean="0"/>
          </a:p>
          <a:p>
            <a:r>
              <a:rPr lang="en-US" baseline="0" dirty="0" smtClean="0"/>
              <a:t>&lt;click&gt;</a:t>
            </a:r>
          </a:p>
          <a:p>
            <a:endParaRPr lang="en-US" baseline="0" dirty="0" smtClean="0"/>
          </a:p>
          <a:p>
            <a:r>
              <a:rPr lang="en-US" baseline="0" dirty="0" smtClean="0"/>
              <a:t>And in order to successfully accomplish these tasks we need to at the very least understand the following.</a:t>
            </a:r>
          </a:p>
          <a:p>
            <a:endParaRPr lang="en-US" baseline="0" dirty="0" smtClean="0"/>
          </a:p>
          <a:p>
            <a:r>
              <a:rPr lang="en-US" baseline="0" dirty="0" smtClean="0"/>
              <a:t>Show of hands – </a:t>
            </a:r>
          </a:p>
          <a:p>
            <a:pPr marL="228600" indent="-228600">
              <a:buFont typeface="+mj-lt"/>
              <a:buAutoNum type="arabicPeriod"/>
            </a:pPr>
            <a:r>
              <a:rPr lang="en-US" baseline="0" dirty="0" smtClean="0"/>
              <a:t>Who in your current role in </a:t>
            </a:r>
            <a:r>
              <a:rPr lang="en-US" baseline="0" dirty="0" err="1" smtClean="0"/>
              <a:t>InfoSec</a:t>
            </a:r>
            <a:r>
              <a:rPr lang="en-US" baseline="0" dirty="0" smtClean="0"/>
              <a:t> is communicated by your business leaders </a:t>
            </a:r>
          </a:p>
          <a:p>
            <a:pPr marL="228600" indent="-228600">
              <a:buFont typeface="+mj-lt"/>
              <a:buAutoNum type="arabicPeriod"/>
            </a:pPr>
            <a:r>
              <a:rPr lang="en-US" baseline="0" dirty="0" smtClean="0"/>
              <a:t>Who knows what your organization’s business critical data is?</a:t>
            </a:r>
          </a:p>
          <a:p>
            <a:pPr marL="228600" indent="-228600">
              <a:buFont typeface="+mj-lt"/>
              <a:buAutoNum type="arabicPeriod"/>
            </a:pPr>
            <a:r>
              <a:rPr lang="en-US" baseline="0" dirty="0" smtClean="0"/>
              <a:t>Who knows where your organization’s business critical data lives?</a:t>
            </a:r>
          </a:p>
          <a:p>
            <a:pPr marL="228600" indent="-228600">
              <a:buFont typeface="+mj-lt"/>
              <a:buAutoNum type="arabicPeriod"/>
            </a:pPr>
            <a:r>
              <a:rPr lang="en-US" baseline="0" dirty="0" smtClean="0"/>
              <a:t>Anyone care to chime in on who might want to steal your data?</a:t>
            </a:r>
          </a:p>
          <a:p>
            <a:pPr marL="228600" indent="-228600">
              <a:buFont typeface="+mj-lt"/>
              <a:buAutoNum type="arabicPeriod"/>
            </a:pPr>
            <a:endParaRPr lang="en-US" baseline="0" dirty="0" smtClean="0"/>
          </a:p>
          <a:p>
            <a:r>
              <a:rPr lang="en-US" baseline="0" dirty="0" smtClean="0"/>
              <a:t>All of this information theft, be it corporate or </a:t>
            </a:r>
            <a:r>
              <a:rPr lang="en-US" baseline="0" dirty="0" err="1" smtClean="0"/>
              <a:t>nationstate</a:t>
            </a:r>
            <a:r>
              <a:rPr lang="en-US" baseline="0" dirty="0" smtClean="0"/>
              <a:t> espionage, is BIG BUSINESS. 1-800 24x7 support for malware and </a:t>
            </a:r>
            <a:r>
              <a:rPr lang="en-US" baseline="0" dirty="0" err="1" smtClean="0"/>
              <a:t>botnets</a:t>
            </a:r>
            <a:r>
              <a:rPr lang="en-US" baseline="0" dirty="0" smtClean="0"/>
              <a:t>, etc.</a:t>
            </a:r>
          </a:p>
          <a:p>
            <a:r>
              <a:rPr lang="en-US" baseline="0" dirty="0" smtClean="0"/>
              <a:t>&lt;click&gt;</a:t>
            </a:r>
          </a:p>
          <a:p>
            <a:endParaRPr lang="en-US" baseline="0" dirty="0" smtClean="0"/>
          </a:p>
          <a:p>
            <a:r>
              <a:rPr lang="en-US" dirty="0" smtClean="0"/>
              <a:t>Josh also speaks on lowering adversary ROI, which is a</a:t>
            </a:r>
            <a:r>
              <a:rPr lang="en-US" baseline="0" dirty="0" smtClean="0"/>
              <a:t> whole other talk which you should watch him present. He’s wicked smart. </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So, this slide is pretty generic. </a:t>
            </a:r>
          </a:p>
          <a:p>
            <a:endParaRPr lang="en-US" dirty="0" smtClean="0"/>
          </a:p>
          <a:p>
            <a:r>
              <a:rPr lang="en-US" dirty="0" smtClean="0"/>
              <a:t>&lt;read&gt; </a:t>
            </a:r>
          </a:p>
          <a:p>
            <a:endParaRPr lang="en-US" dirty="0" smtClean="0"/>
          </a:p>
          <a:p>
            <a:r>
              <a:rPr lang="en-US" dirty="0" smtClean="0"/>
              <a:t>But the message I want it to covey is that our communal </a:t>
            </a:r>
            <a:r>
              <a:rPr lang="en-US" dirty="0" err="1" smtClean="0"/>
              <a:t>infosec</a:t>
            </a:r>
            <a:r>
              <a:rPr lang="en-US" dirty="0" smtClean="0"/>
              <a:t> and risk problems are naturally related to larger issues.</a:t>
            </a:r>
            <a:r>
              <a:rPr lang="en-US" baseline="0" dirty="0" smtClean="0"/>
              <a:t> </a:t>
            </a:r>
          </a:p>
          <a:p>
            <a:endParaRPr lang="en-US" baseline="0" dirty="0" smtClean="0"/>
          </a:p>
          <a:p>
            <a:r>
              <a:rPr lang="en-US" baseline="0" dirty="0" smtClean="0"/>
              <a:t>So if our focused </a:t>
            </a:r>
            <a:r>
              <a:rPr lang="en-US" baseline="0" dirty="0" err="1" smtClean="0"/>
              <a:t>infosec</a:t>
            </a:r>
            <a:r>
              <a:rPr lang="en-US" baseline="0" dirty="0" smtClean="0"/>
              <a:t> issues are inherently related to larger, more common and natural issues, then that effectively makes our issues part of a smaller problem space. </a:t>
            </a:r>
          </a:p>
          <a:p>
            <a:endParaRPr lang="en-US" baseline="0" dirty="0" smtClean="0"/>
          </a:p>
          <a:p>
            <a:r>
              <a:rPr lang="en-US" baseline="0" dirty="0" smtClean="0"/>
              <a:t>&lt;If argument&gt;</a:t>
            </a:r>
          </a:p>
          <a:p>
            <a:endParaRPr lang="en-US" baseline="0" dirty="0" smtClean="0"/>
          </a:p>
          <a:p>
            <a:r>
              <a:rPr lang="en-US" baseline="0" dirty="0" smtClean="0"/>
              <a:t>Example: I need to protect data. The current mindset calls for </a:t>
            </a:r>
            <a:r>
              <a:rPr lang="en-US" baseline="0" dirty="0" err="1" smtClean="0"/>
              <a:t>pentests</a:t>
            </a:r>
            <a:r>
              <a:rPr lang="en-US" baseline="0" dirty="0" smtClean="0"/>
              <a:t>, software applications and appliance solutions.</a:t>
            </a:r>
          </a:p>
          <a:p>
            <a:endParaRPr lang="en-US" baseline="0" dirty="0" smtClean="0"/>
          </a:p>
          <a:p>
            <a:r>
              <a:rPr lang="en-US" baseline="0" dirty="0" smtClean="0"/>
              <a:t> But the larger issue is why can’t we adapt to our surroundings, which today our adversaries seem to be running in and out of our networks and systems? </a:t>
            </a:r>
          </a:p>
          <a:p>
            <a:endParaRPr lang="en-US" baseline="0" dirty="0" smtClean="0"/>
          </a:p>
          <a:p>
            <a:r>
              <a:rPr lang="en-US" baseline="0" dirty="0" smtClean="0"/>
              <a:t>Is there an appliance for business adaptation? </a:t>
            </a:r>
          </a:p>
          <a:p>
            <a:endParaRPr lang="en-US" baseline="0" dirty="0" smtClean="0"/>
          </a:p>
          <a:p>
            <a:r>
              <a:rPr lang="en-US" baseline="0" dirty="0" smtClean="0"/>
              <a:t>No. If we focus on that, the problem space has become small and manageable. </a:t>
            </a:r>
          </a:p>
          <a:p>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This is the moment during this</a:t>
            </a:r>
            <a:r>
              <a:rPr lang="en-US" sz="1200" b="0" i="0" kern="1200" baseline="0" dirty="0" smtClean="0">
                <a:solidFill>
                  <a:schemeClr val="tx1"/>
                </a:solidFill>
                <a:latin typeface="+mn-lt"/>
                <a:ea typeface="+mn-ea"/>
                <a:cs typeface="+mn-cs"/>
              </a:rPr>
              <a:t> talk where I have no segue, deal with it. Oh, and it’s a little political</a:t>
            </a:r>
            <a:endParaRPr lang="en-US" sz="1200" b="0" i="0" kern="1200" dirty="0" smtClean="0">
              <a:solidFill>
                <a:schemeClr val="tx1"/>
              </a:solidFill>
              <a:latin typeface="+mn-lt"/>
              <a:ea typeface="+mn-ea"/>
              <a:cs typeface="+mn-cs"/>
            </a:endParaRPr>
          </a:p>
          <a:p>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&lt;click&gt;&lt;read&gt;</a:t>
            </a:r>
          </a:p>
          <a:p>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Especially with policy dictating society,</a:t>
            </a:r>
            <a:r>
              <a:rPr lang="en-US" sz="1200" b="0" i="0" kern="1200" baseline="0" dirty="0" smtClean="0">
                <a:solidFill>
                  <a:schemeClr val="tx1"/>
                </a:solidFill>
                <a:latin typeface="+mn-lt"/>
                <a:ea typeface="+mn-ea"/>
                <a:cs typeface="+mn-cs"/>
              </a:rPr>
              <a:t> that is completely backwards. Society needs to dictate policy, not the other way around. But this talk is on business, that’s an entirely different talk</a:t>
            </a:r>
            <a:endParaRPr lang="en-US" sz="1200" b="0" i="0" kern="1200" dirty="0" smtClean="0">
              <a:solidFill>
                <a:schemeClr val="tx1"/>
              </a:solidFill>
              <a:latin typeface="+mn-lt"/>
              <a:ea typeface="+mn-ea"/>
              <a:cs typeface="+mn-cs"/>
            </a:endParaRPr>
          </a:p>
          <a:p>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And since this is completely unnatural, and basically driven by power, greed and profit, naturally it is failing.</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While Brenner’s book is more a source for security product vendor FUD, this quote is</a:t>
            </a:r>
            <a:r>
              <a:rPr lang="en-US" baseline="0" dirty="0" smtClean="0"/>
              <a:t> </a:t>
            </a:r>
            <a:r>
              <a:rPr lang="en-US" dirty="0" smtClean="0"/>
              <a:t>exceptionally relevant to the business adaptation argument, as learning is an</a:t>
            </a:r>
            <a:r>
              <a:rPr lang="en-US" baseline="0" dirty="0" smtClean="0"/>
              <a:t> essential variable to adapting</a:t>
            </a:r>
            <a:endParaRPr lang="en-US" dirty="0" smtClean="0"/>
          </a:p>
          <a:p>
            <a:endParaRPr lang="en-US" dirty="0" smtClean="0"/>
          </a:p>
          <a:p>
            <a:r>
              <a:rPr lang="en-US" dirty="0" smtClean="0"/>
              <a:t>Design your systems to assume</a:t>
            </a:r>
            <a:r>
              <a:rPr lang="en-US" baseline="0" dirty="0" smtClean="0"/>
              <a:t> </a:t>
            </a:r>
            <a:r>
              <a:rPr lang="en-US" dirty="0" smtClean="0"/>
              <a:t>the breach</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2013 DBIR</a:t>
            </a:r>
            <a:r>
              <a:rPr lang="en-US" baseline="0" dirty="0" smtClean="0"/>
              <a:t> doesn’t mention anything related to </a:t>
            </a:r>
            <a:r>
              <a:rPr lang="en-US" baseline="0" dirty="0" err="1" smtClean="0"/>
              <a:t>undetection</a:t>
            </a:r>
            <a:r>
              <a:rPr lang="en-US" baseline="0" dirty="0" smtClean="0"/>
              <a:t> percentages, which was probably wise. Regardless, if these numbers are even remotely accurate, how much of a contributing factor is detection to an organization’s security posture? Not saying don’t do it, just positing</a:t>
            </a:r>
          </a:p>
          <a:p>
            <a:endParaRPr lang="en-US" baseline="0" dirty="0" smtClean="0"/>
          </a:p>
          <a:p>
            <a:r>
              <a:rPr lang="en-US" baseline="0" dirty="0" smtClean="0"/>
              <a:t>Can we talk about the efficacy of many of our standard controls? They absolutely are effective for specific events …. But Richard </a:t>
            </a:r>
            <a:r>
              <a:rPr lang="en-US" baseline="0" dirty="0" err="1" smtClean="0"/>
              <a:t>Bejtlich</a:t>
            </a:r>
            <a:r>
              <a:rPr lang="en-US" baseline="0" dirty="0" smtClean="0"/>
              <a:t> said it best when he tweeted out a couple of years ago “Identity is the new corporate perimeter”</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Adding more or improving existing systems is not adapting</a:t>
            </a:r>
          </a:p>
          <a:p>
            <a:endParaRPr lang="en-US" baseline="0" dirty="0" smtClean="0"/>
          </a:p>
          <a:p>
            <a:r>
              <a:rPr lang="en-US" baseline="0" dirty="0" smtClean="0"/>
              <a:t>“Adaptation arises from leaving (or being forced from) your comfort zone”</a:t>
            </a:r>
          </a:p>
          <a:p>
            <a:endParaRPr lang="en-US" baseline="0" dirty="0" smtClean="0"/>
          </a:p>
          <a:p>
            <a:r>
              <a:rPr lang="en-US" baseline="0" dirty="0" smtClean="0"/>
              <a:t>This last point is key to the next half of this talk</a:t>
            </a:r>
          </a:p>
          <a:p>
            <a:endParaRPr lang="en-US" baseline="0" dirty="0" smtClean="0"/>
          </a:p>
          <a:p>
            <a:r>
              <a:rPr lang="en-US" baseline="0" dirty="0" smtClean="0"/>
              <a:t>&lt;click&gt;</a:t>
            </a:r>
          </a:p>
          <a:p>
            <a:endParaRPr lang="en-US" baseline="0" dirty="0" smtClean="0"/>
          </a:p>
          <a:p>
            <a:r>
              <a:rPr lang="en-US" baseline="0" dirty="0" smtClean="0"/>
              <a:t>If you’re in </a:t>
            </a:r>
            <a:r>
              <a:rPr lang="en-US" baseline="0" dirty="0" err="1" smtClean="0"/>
              <a:t>infosec</a:t>
            </a:r>
            <a:r>
              <a:rPr lang="en-US" baseline="0" dirty="0" smtClean="0"/>
              <a:t> you need to read this book. I got turned on to this book by some punk named </a:t>
            </a:r>
            <a:r>
              <a:rPr lang="en-US" baseline="0" dirty="0" err="1" smtClean="0"/>
              <a:t>nickerson</a:t>
            </a:r>
            <a:r>
              <a:rPr lang="en-US" baseline="0" dirty="0" smtClean="0"/>
              <a:t> on the exotic liability podcast. I was like “sounds like a bunch of other stuff I’ve read that I employ daily in my business world. I embraced it because it crosses over with a bunch of my own influences like James </a:t>
            </a:r>
            <a:r>
              <a:rPr lang="en-US" sz="1200" b="0" kern="1200" dirty="0" err="1" smtClean="0">
                <a:solidFill>
                  <a:schemeClr val="tx1"/>
                </a:solidFill>
                <a:latin typeface="+mn-lt"/>
                <a:ea typeface="+mn-ea"/>
                <a:cs typeface="+mn-cs"/>
              </a:rPr>
              <a:t>Surowiecki’s</a:t>
            </a:r>
            <a:r>
              <a:rPr lang="en-US" sz="1200" b="0" kern="1200" dirty="0" smtClean="0">
                <a:solidFill>
                  <a:schemeClr val="tx1"/>
                </a:solidFill>
                <a:latin typeface="+mn-lt"/>
                <a:ea typeface="+mn-ea"/>
                <a:cs typeface="+mn-cs"/>
              </a:rPr>
              <a:t> Wisdom</a:t>
            </a:r>
            <a:r>
              <a:rPr lang="en-US" sz="1200" b="0" kern="1200" baseline="0" dirty="0" smtClean="0">
                <a:solidFill>
                  <a:schemeClr val="tx1"/>
                </a:solidFill>
                <a:latin typeface="+mn-lt"/>
                <a:ea typeface="+mn-ea"/>
                <a:cs typeface="+mn-cs"/>
              </a:rPr>
              <a:t> of Crowds and Steven Johnson’s Emergence. </a:t>
            </a:r>
          </a:p>
          <a:p>
            <a:endParaRPr lang="en-US" sz="1200" b="0" kern="1200" baseline="0" dirty="0" smtClean="0">
              <a:solidFill>
                <a:schemeClr val="tx1"/>
              </a:solidFill>
              <a:latin typeface="+mn-lt"/>
              <a:ea typeface="+mn-ea"/>
              <a:cs typeface="+mn-cs"/>
            </a:endParaRPr>
          </a:p>
          <a:p>
            <a:r>
              <a:rPr lang="en-US" sz="1200" b="0" kern="1200" baseline="0" dirty="0" smtClean="0">
                <a:solidFill>
                  <a:schemeClr val="tx1"/>
                </a:solidFill>
                <a:latin typeface="+mn-lt"/>
                <a:ea typeface="+mn-ea"/>
                <a:cs typeface="+mn-cs"/>
              </a:rPr>
              <a:t>Anyone read wisdom of crowds? Scorpion and Iowa Electronic Markets (not for profit) example</a:t>
            </a:r>
          </a:p>
          <a:p>
            <a:endParaRPr lang="en-US" sz="1200" b="0" kern="1200" baseline="0" dirty="0" smtClean="0">
              <a:solidFill>
                <a:schemeClr val="tx1"/>
              </a:solidFill>
              <a:latin typeface="+mn-lt"/>
              <a:ea typeface="+mn-ea"/>
              <a:cs typeface="+mn-cs"/>
            </a:endParaRPr>
          </a:p>
          <a:p>
            <a:r>
              <a:rPr lang="en-US" sz="1200" b="0" kern="1200" baseline="0" dirty="0" smtClean="0">
                <a:solidFill>
                  <a:schemeClr val="tx1"/>
                </a:solidFill>
                <a:latin typeface="+mn-lt"/>
                <a:ea typeface="+mn-ea"/>
                <a:cs typeface="+mn-cs"/>
              </a:rPr>
              <a:t>The rest of this talk is going to be me trying to show why this guy’s work matters to </a:t>
            </a:r>
            <a:r>
              <a:rPr lang="en-US" sz="1200" b="0" kern="1200" baseline="0" dirty="0" err="1" smtClean="0">
                <a:solidFill>
                  <a:schemeClr val="tx1"/>
                </a:solidFill>
                <a:latin typeface="+mn-lt"/>
                <a:ea typeface="+mn-ea"/>
                <a:cs typeface="+mn-cs"/>
              </a:rPr>
              <a:t>infosec</a:t>
            </a:r>
            <a:r>
              <a:rPr lang="en-US" sz="1200" b="0" kern="1200" baseline="0" dirty="0" smtClean="0">
                <a:solidFill>
                  <a:schemeClr val="tx1"/>
                </a:solidFill>
                <a:latin typeface="+mn-lt"/>
                <a:ea typeface="+mn-ea"/>
                <a:cs typeface="+mn-cs"/>
              </a:rPr>
              <a:t> specifically and business generically</a:t>
            </a:r>
            <a:endParaRPr lang="en-US" baseline="0" dirty="0" smtClean="0"/>
          </a:p>
        </p:txBody>
      </p:sp>
      <p:sp>
        <p:nvSpPr>
          <p:cNvPr id="4" name="Slide Number Placeholder 3"/>
          <p:cNvSpPr>
            <a:spLocks noGrp="1"/>
          </p:cNvSpPr>
          <p:nvPr>
            <p:ph type="sldNum" sz="quarter" idx="10"/>
          </p:nvPr>
        </p:nvSpPr>
        <p:spPr/>
        <p:txBody>
          <a:bodyPr/>
          <a:lstStyle/>
          <a:p>
            <a:fld id="{66A0EC73-6147-4222-BCFD-030E49B743EB}"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So </a:t>
            </a:r>
            <a:r>
              <a:rPr lang="en-US" dirty="0" err="1" smtClean="0"/>
              <a:t>sagarin</a:t>
            </a:r>
            <a:r>
              <a:rPr lang="en-US" dirty="0" smtClean="0"/>
              <a:t> talks about the benefits of decentralized</a:t>
            </a:r>
            <a:r>
              <a:rPr lang="en-US" baseline="0" dirty="0" smtClean="0"/>
              <a:t> and distributed systems: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dirty="0" smtClean="0"/>
              <a:t>Multiple</a:t>
            </a:r>
            <a:r>
              <a:rPr lang="en-US" baseline="0" dirty="0" smtClean="0"/>
              <a:t> sensors have greater chances of identifying unusual change and additional opportunities. – Does anyone here have multiple resources in your organization?</a:t>
            </a:r>
          </a:p>
          <a:p>
            <a:pPr marL="228600" marR="0" indent="-228600" algn="l" defTabSz="914400" rtl="0" eaLnBrk="1" fontAlgn="auto" latinLnBrk="0" hangingPunct="1">
              <a:lnSpc>
                <a:spcPct val="100000"/>
              </a:lnSpc>
              <a:spcBef>
                <a:spcPts val="0"/>
              </a:spcBef>
              <a:spcAft>
                <a:spcPts val="0"/>
              </a:spcAft>
              <a:buClrTx/>
              <a:buSzTx/>
              <a:buFontTx/>
              <a:buAutoNum type="arabicParenR" startAt="2"/>
              <a:tabLst/>
              <a:defRPr/>
            </a:pPr>
            <a:r>
              <a:rPr lang="en-US" baseline="0" dirty="0" smtClean="0"/>
              <a:t>Distributed sensors </a:t>
            </a:r>
            <a:r>
              <a:rPr lang="en-US" sz="1200" b="0" i="0" kern="1200" dirty="0" smtClean="0">
                <a:solidFill>
                  <a:schemeClr val="tx1"/>
                </a:solidFill>
                <a:latin typeface="+mn-lt"/>
                <a:ea typeface="+mn-ea"/>
                <a:cs typeface="+mn-cs"/>
              </a:rPr>
              <a:t>see the environment for what it "is" rather than what it "should" be according to some preconceived notion.</a:t>
            </a:r>
          </a:p>
          <a:p>
            <a:pPr marL="228600" marR="0" indent="-228600" algn="l" defTabSz="914400" rtl="0" eaLnBrk="1" fontAlgn="auto" latinLnBrk="0" hangingPunct="1">
              <a:lnSpc>
                <a:spcPct val="100000"/>
              </a:lnSpc>
              <a:spcBef>
                <a:spcPts val="0"/>
              </a:spcBef>
              <a:spcAft>
                <a:spcPts val="0"/>
              </a:spcAft>
              <a:buClrTx/>
              <a:buSzTx/>
              <a:buFontTx/>
              <a:buAutoNum type="arabicParenR" startAt="2"/>
              <a:tabLst/>
              <a:defRPr/>
            </a:pPr>
            <a:r>
              <a:rPr lang="en-US" baseline="0" dirty="0" smtClean="0"/>
              <a:t>Specialized tasks save energy and allow resources to get assigned to important tasks.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Expertise and accuracy are unrelated. Diversity is crucial to collectively wise decisions</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Essentially, nobody can survive on their own. All organisms are constrained in their adaptability at some point, and symbiotic relationships allow us to extend our inherent adaptive capacity to exploit new resources and environments or adapt to their own environment as it changes.</a:t>
            </a:r>
            <a:endParaRPr lang="en-US" dirty="0" smtClean="0"/>
          </a:p>
          <a:p>
            <a:r>
              <a:rPr lang="en-US" dirty="0" smtClean="0"/>
              <a:t> &lt;click&gt;</a:t>
            </a:r>
          </a:p>
          <a:p>
            <a:r>
              <a:rPr lang="en-US" dirty="0" smtClean="0"/>
              <a:t>3</a:t>
            </a:r>
            <a:r>
              <a:rPr lang="en-US" baseline="0" dirty="0" smtClean="0"/>
              <a:t> types of symbiosis</a:t>
            </a:r>
          </a:p>
          <a:p>
            <a:r>
              <a:rPr lang="en-US" baseline="0" dirty="0" err="1" smtClean="0"/>
              <a:t>Mutualistic</a:t>
            </a:r>
            <a:endParaRPr lang="en-US" baseline="0" dirty="0" smtClean="0"/>
          </a:p>
          <a:p>
            <a:r>
              <a:rPr lang="en-US" baseline="0" dirty="0" err="1" smtClean="0"/>
              <a:t>Commensual</a:t>
            </a:r>
            <a:endParaRPr lang="en-US" baseline="0" dirty="0" smtClean="0"/>
          </a:p>
          <a:p>
            <a:r>
              <a:rPr lang="en-US" baseline="0" dirty="0" smtClean="0"/>
              <a:t>Parasitic</a:t>
            </a:r>
          </a:p>
          <a:p>
            <a:r>
              <a:rPr lang="en-US" baseline="0" dirty="0" smtClean="0"/>
              <a:t>&lt;click&gt;</a:t>
            </a:r>
          </a:p>
          <a:p>
            <a:r>
              <a:rPr lang="en-US" dirty="0" smtClean="0"/>
              <a:t>Symbiosis</a:t>
            </a:r>
            <a:r>
              <a:rPr lang="en-US" baseline="0" dirty="0" smtClean="0"/>
              <a:t> is everywhere in nature and the relationships are incredibly complex</a:t>
            </a:r>
          </a:p>
          <a:p>
            <a:endParaRPr lang="en-US" baseline="0" dirty="0" smtClean="0"/>
          </a:p>
          <a:p>
            <a:r>
              <a:rPr lang="en-US" baseline="0" dirty="0" smtClean="0"/>
              <a:t>I had several clients over a period of time ask me what are my other clients doing to address problem X. I decided to put them together quarterly</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arenR"/>
            </a:pPr>
            <a:r>
              <a:rPr lang="en-US" sz="1200" kern="1200" dirty="0" smtClean="0">
                <a:solidFill>
                  <a:schemeClr val="tx1"/>
                </a:solidFill>
                <a:latin typeface="+mn-lt"/>
                <a:ea typeface="+mn-ea"/>
                <a:cs typeface="+mn-cs"/>
              </a:rPr>
              <a:t>Learning is key to adaptive</a:t>
            </a:r>
            <a:r>
              <a:rPr lang="en-US" sz="1200" kern="1200" baseline="0" dirty="0" smtClean="0">
                <a:solidFill>
                  <a:schemeClr val="tx1"/>
                </a:solidFill>
                <a:latin typeface="+mn-lt"/>
                <a:ea typeface="+mn-ea"/>
                <a:cs typeface="+mn-cs"/>
              </a:rPr>
              <a:t> survival, not just for an individual but for the generational survival</a:t>
            </a:r>
          </a:p>
          <a:p>
            <a:pPr marL="228600" indent="-228600">
              <a:buAutoNum type="arabicParenR"/>
            </a:pPr>
            <a:r>
              <a:rPr lang="en-US" sz="1200" kern="1200" baseline="0" dirty="0" smtClean="0">
                <a:solidFill>
                  <a:schemeClr val="tx1"/>
                </a:solidFill>
                <a:latin typeface="+mn-lt"/>
                <a:ea typeface="+mn-ea"/>
                <a:cs typeface="+mn-cs"/>
              </a:rPr>
              <a:t>I’ve touched upon decentralized systems already. In nature there is no room for directives, multiple informational systems adapt quicker</a:t>
            </a:r>
          </a:p>
          <a:p>
            <a:pPr marL="228600" indent="-228600">
              <a:buAutoNum type="arabicParenR"/>
            </a:pPr>
            <a:r>
              <a:rPr lang="en-US" sz="1200" kern="1200" baseline="0" dirty="0" smtClean="0">
                <a:solidFill>
                  <a:schemeClr val="tx1"/>
                </a:solidFill>
                <a:latin typeface="+mn-lt"/>
                <a:ea typeface="+mn-ea"/>
                <a:cs typeface="+mn-cs"/>
              </a:rPr>
              <a:t>Redundancy should be obvious</a:t>
            </a:r>
          </a:p>
          <a:p>
            <a:pPr marL="228600" indent="-228600">
              <a:buAutoNum type="arabicParenR"/>
            </a:pPr>
            <a:r>
              <a:rPr lang="en-US" sz="1200" kern="1200" baseline="0" dirty="0" smtClean="0">
                <a:solidFill>
                  <a:schemeClr val="tx1"/>
                </a:solidFill>
                <a:latin typeface="+mn-lt"/>
                <a:ea typeface="+mn-ea"/>
                <a:cs typeface="+mn-cs"/>
              </a:rPr>
              <a:t>There is no place in nature for sitting on your laurels, in order to adapt you need to keep up with the competition</a:t>
            </a:r>
          </a:p>
          <a:p>
            <a:pPr marL="228600" indent="-228600">
              <a:buAutoNum type="arabicParenR"/>
            </a:pPr>
            <a:r>
              <a:rPr lang="en-US" sz="1200" kern="1200" dirty="0" smtClean="0">
                <a:solidFill>
                  <a:schemeClr val="tx1"/>
                </a:solidFill>
                <a:latin typeface="+mn-lt"/>
                <a:ea typeface="+mn-ea"/>
                <a:cs typeface="+mn-cs"/>
              </a:rPr>
              <a:t>Uncertainty/unpredictability is about increasing attacker costs, delaying their operation and increasing their potential for error</a:t>
            </a:r>
          </a:p>
          <a:p>
            <a:pPr marL="228600" indent="-228600">
              <a:buAutoNum type="arabicParenR"/>
            </a:pPr>
            <a:r>
              <a:rPr lang="en-US" sz="1200" kern="1200" dirty="0" smtClean="0">
                <a:solidFill>
                  <a:schemeClr val="tx1"/>
                </a:solidFill>
                <a:latin typeface="+mn-lt"/>
                <a:ea typeface="+mn-ea"/>
                <a:cs typeface="+mn-cs"/>
              </a:rPr>
              <a:t>Hi. Social Engineering.</a:t>
            </a:r>
            <a:r>
              <a:rPr lang="en-US" sz="1200" kern="1200" baseline="0" dirty="0" smtClean="0">
                <a:solidFill>
                  <a:schemeClr val="tx1"/>
                </a:solidFill>
                <a:latin typeface="+mn-lt"/>
                <a:ea typeface="+mn-ea"/>
                <a:cs typeface="+mn-cs"/>
              </a:rPr>
              <a:t> </a:t>
            </a:r>
            <a:endParaRPr lang="en-US" sz="1200" kern="1200" dirty="0" smtClean="0">
              <a:solidFill>
                <a:schemeClr val="tx1"/>
              </a:solidFill>
              <a:latin typeface="+mn-lt"/>
              <a:ea typeface="+mn-ea"/>
              <a:cs typeface="+mn-cs"/>
            </a:endParaRP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But these strategies can still fail because the simplest rule of nature is no organism can do it alone</a:t>
            </a:r>
            <a:endParaRPr lang="en-US" dirty="0" smtClean="0"/>
          </a:p>
          <a:p>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Most organizations are still looking for the least</a:t>
            </a:r>
            <a:r>
              <a:rPr lang="en-US" sz="1200" b="0" i="0" kern="1200" baseline="0" dirty="0" smtClean="0">
                <a:solidFill>
                  <a:schemeClr val="tx1"/>
                </a:solidFill>
                <a:latin typeface="+mn-lt"/>
                <a:ea typeface="+mn-ea"/>
                <a:cs typeface="+mn-cs"/>
              </a:rPr>
              <a:t> expensive, most effective “controls” to prevent BYOD threats, APT, Cyber&lt;insert here&gt; and whatever Gartner and </a:t>
            </a:r>
            <a:r>
              <a:rPr lang="en-US" sz="1200" b="0" i="0" kern="1200" baseline="0" dirty="0" err="1" smtClean="0">
                <a:solidFill>
                  <a:schemeClr val="tx1"/>
                </a:solidFill>
                <a:latin typeface="+mn-lt"/>
                <a:ea typeface="+mn-ea"/>
                <a:cs typeface="+mn-cs"/>
              </a:rPr>
              <a:t>Mandiant</a:t>
            </a:r>
            <a:r>
              <a:rPr lang="en-US" sz="1200" b="0" i="0" kern="1200" baseline="0" dirty="0" smtClean="0">
                <a:solidFill>
                  <a:schemeClr val="tx1"/>
                </a:solidFill>
                <a:latin typeface="+mn-lt"/>
                <a:ea typeface="+mn-ea"/>
                <a:cs typeface="+mn-cs"/>
              </a:rPr>
              <a:t> have determined are the most interesting threats to your business.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I might as well say something about The Art of War and Paradigm Shifts so I can at least finish this talk drunk but happy</a:t>
            </a:r>
            <a:endParaRPr lang="en-US" sz="1200" b="0" i="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&lt;read second point&gt;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smtClean="0">
                <a:solidFill>
                  <a:schemeClr val="tx1"/>
                </a:solidFill>
                <a:latin typeface="+mn-lt"/>
                <a:ea typeface="+mn-ea"/>
                <a:cs typeface="+mn-cs"/>
              </a:rPr>
              <a:t>Sagarin</a:t>
            </a:r>
            <a:r>
              <a:rPr lang="en-US" sz="1200" b="0" i="0" kern="1200" dirty="0" smtClean="0">
                <a:solidFill>
                  <a:schemeClr val="tx1"/>
                </a:solidFill>
                <a:latin typeface="+mn-lt"/>
                <a:ea typeface="+mn-ea"/>
                <a:cs typeface="+mn-cs"/>
              </a:rPr>
              <a:t> gives a great analogy to </a:t>
            </a:r>
            <a:r>
              <a:rPr lang="en-US" sz="1200" b="0" i="0" kern="1200" dirty="0" err="1" smtClean="0">
                <a:solidFill>
                  <a:schemeClr val="tx1"/>
                </a:solidFill>
                <a:latin typeface="+mn-lt"/>
                <a:ea typeface="+mn-ea"/>
                <a:cs typeface="+mn-cs"/>
              </a:rPr>
              <a:t>infosec</a:t>
            </a:r>
            <a:r>
              <a:rPr lang="en-US" sz="1200" b="0" i="0" kern="1200" dirty="0" smtClean="0">
                <a:solidFill>
                  <a:schemeClr val="tx1"/>
                </a:solidFill>
                <a:latin typeface="+mn-lt"/>
                <a:ea typeface="+mn-ea"/>
                <a:cs typeface="+mn-cs"/>
              </a:rPr>
              <a:t> – A species of jumping spider mimics the olfactory signal of an ant colony, moves around unnoticed and simulates the behavior intended to communicate a transfer of </a:t>
            </a:r>
            <a:r>
              <a:rPr lang="en-US" sz="1200" b="0" i="0" kern="1200" dirty="0" err="1" smtClean="0">
                <a:solidFill>
                  <a:schemeClr val="tx1"/>
                </a:solidFill>
                <a:latin typeface="+mn-lt"/>
                <a:ea typeface="+mn-ea"/>
                <a:cs typeface="+mn-cs"/>
              </a:rPr>
              <a:t>larve</a:t>
            </a:r>
            <a:r>
              <a:rPr lang="en-US" sz="1200" b="0" i="0" kern="1200" dirty="0" smtClean="0">
                <a:solidFill>
                  <a:schemeClr val="tx1"/>
                </a:solidFill>
                <a:latin typeface="+mn-lt"/>
                <a:ea typeface="+mn-ea"/>
                <a:cs typeface="+mn-cs"/>
              </a:rPr>
              <a:t>, getting an easy free meal.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What do we call that?  Social engineering.</a:t>
            </a:r>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The evolution of antibiotic resistant bacteria and viruses is paralleled by the overuse of antivirus for malware mitigation leading to adaptation of malware that is virtually AV resistant</a:t>
            </a:r>
            <a:endParaRPr lang="en-US" dirty="0" smtClean="0"/>
          </a:p>
          <a:p>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I’ve been talking about natural state</a:t>
            </a:r>
            <a:r>
              <a:rPr lang="en-US" sz="1200" b="0" i="0" kern="1200" baseline="0" dirty="0" smtClean="0">
                <a:solidFill>
                  <a:schemeClr val="tx1"/>
                </a:solidFill>
                <a:latin typeface="+mn-lt"/>
                <a:ea typeface="+mn-ea"/>
                <a:cs typeface="+mn-cs"/>
              </a:rPr>
              <a:t> security systems, but what does that mean? Should we just leave shit alone and not worry about our current threat landscape? Should we focus on building artificial barriers to thwart the threats to our organizations? No, we have options.</a:t>
            </a:r>
          </a:p>
          <a:p>
            <a:endParaRPr lang="en-US" sz="1200" b="0" i="0" kern="1200" baseline="0" dirty="0" smtClean="0">
              <a:solidFill>
                <a:schemeClr val="tx1"/>
              </a:solidFill>
              <a:latin typeface="+mn-lt"/>
              <a:ea typeface="+mn-ea"/>
              <a:cs typeface="+mn-cs"/>
            </a:endParaRPr>
          </a:p>
          <a:p>
            <a:r>
              <a:rPr lang="en-US" sz="1200" b="0" i="0" kern="1200" dirty="0" err="1" smtClean="0">
                <a:solidFill>
                  <a:schemeClr val="tx1"/>
                </a:solidFill>
                <a:latin typeface="+mn-lt"/>
                <a:ea typeface="+mn-ea"/>
                <a:cs typeface="+mn-cs"/>
              </a:rPr>
              <a:t>Sagarin</a:t>
            </a:r>
            <a:r>
              <a:rPr lang="en-US" sz="1200" b="0" i="0" kern="1200" dirty="0" smtClean="0">
                <a:solidFill>
                  <a:schemeClr val="tx1"/>
                </a:solidFill>
                <a:latin typeface="+mn-lt"/>
                <a:ea typeface="+mn-ea"/>
                <a:cs typeface="+mn-cs"/>
              </a:rPr>
              <a:t> talks about how nature has provided mangrove forests and wetlands to protect from storm surges, etc. Recently several state governments have recognized these controls and have begun building them back up after clear failures of static,</a:t>
            </a:r>
            <a:r>
              <a:rPr lang="en-US" sz="1200" b="0" i="0" kern="1200" baseline="0" dirty="0" smtClean="0">
                <a:solidFill>
                  <a:schemeClr val="tx1"/>
                </a:solidFill>
                <a:latin typeface="+mn-lt"/>
                <a:ea typeface="+mn-ea"/>
                <a:cs typeface="+mn-cs"/>
              </a:rPr>
              <a:t> manmade security controls</a:t>
            </a:r>
            <a:endParaRPr lang="en-US" sz="1200" b="0" i="0" kern="1200" dirty="0" smtClean="0">
              <a:solidFill>
                <a:schemeClr val="tx1"/>
              </a:solidFill>
              <a:latin typeface="+mn-lt"/>
              <a:ea typeface="+mn-ea"/>
              <a:cs typeface="+mn-cs"/>
            </a:endParaRPr>
          </a:p>
          <a:p>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We have our </a:t>
            </a:r>
            <a:r>
              <a:rPr lang="en-US" sz="1200" b="0" i="0" kern="1200" dirty="0" err="1" smtClean="0">
                <a:solidFill>
                  <a:schemeClr val="tx1"/>
                </a:solidFill>
                <a:latin typeface="+mn-lt"/>
                <a:ea typeface="+mn-ea"/>
                <a:cs typeface="+mn-cs"/>
              </a:rPr>
              <a:t>userspace</a:t>
            </a:r>
            <a:r>
              <a:rPr lang="en-US" sz="1200" b="0" i="0" kern="1200" dirty="0" smtClean="0">
                <a:solidFill>
                  <a:schemeClr val="tx1"/>
                </a:solidFill>
                <a:latin typeface="+mn-lt"/>
                <a:ea typeface="+mn-ea"/>
                <a:cs typeface="+mn-cs"/>
              </a:rPr>
              <a:t>. Dave Kennedy talks about the organizational benefits of having hundreds of human</a:t>
            </a:r>
            <a:r>
              <a:rPr lang="en-US" sz="1200" b="0" i="0" kern="1200" baseline="0" dirty="0" smtClean="0">
                <a:solidFill>
                  <a:schemeClr val="tx1"/>
                </a:solidFill>
                <a:latin typeface="+mn-lt"/>
                <a:ea typeface="+mn-ea"/>
                <a:cs typeface="+mn-cs"/>
              </a:rPr>
              <a:t> </a:t>
            </a:r>
            <a:r>
              <a:rPr lang="en-US" sz="1200" b="0" i="0" kern="1200" dirty="0" smtClean="0">
                <a:solidFill>
                  <a:schemeClr val="tx1"/>
                </a:solidFill>
                <a:latin typeface="+mn-lt"/>
                <a:ea typeface="+mn-ea"/>
                <a:cs typeface="+mn-cs"/>
              </a:rPr>
              <a:t>sensors through security awareness.</a:t>
            </a:r>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The anti awareness argument - just because a control isn't perfect isn't a reason to ignore it outright. Not having all the data is no reason not to look to adapt. </a:t>
            </a:r>
            <a:endParaRPr lang="en-US" dirty="0" smtClean="0"/>
          </a:p>
          <a:p>
            <a:endParaRPr lang="en-US" dirty="0" smtClean="0"/>
          </a:p>
          <a:p>
            <a:r>
              <a:rPr lang="en-US" dirty="0" smtClean="0"/>
              <a:t>The human</a:t>
            </a:r>
            <a:r>
              <a:rPr lang="en-US" baseline="0" dirty="0" smtClean="0"/>
              <a:t> race has gotten this far, can’t we just rely on our inherent </a:t>
            </a:r>
            <a:r>
              <a:rPr lang="en-US" baseline="0" dirty="0" err="1" smtClean="0"/>
              <a:t>adpatability</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We as a species</a:t>
            </a:r>
            <a:r>
              <a:rPr lang="en-US" baseline="0" dirty="0" smtClean="0"/>
              <a:t> </a:t>
            </a:r>
            <a:r>
              <a:rPr lang="en-US" dirty="0" smtClean="0"/>
              <a:t>are apparently really good at individual</a:t>
            </a:r>
            <a:r>
              <a:rPr lang="en-US" baseline="0" dirty="0" smtClean="0"/>
              <a:t> adaption under duress, </a:t>
            </a:r>
            <a:r>
              <a:rPr lang="en-US" dirty="0" smtClean="0"/>
              <a:t>yet we suck at institutional adaption under</a:t>
            </a:r>
            <a:r>
              <a:rPr lang="en-US" baseline="0" dirty="0" smtClean="0"/>
              <a:t> the constraints of modern day life, since it is “comfortable”</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Remember - </a:t>
            </a:r>
            <a:r>
              <a:rPr lang="en-US" sz="1200" b="0" i="0" kern="1200" dirty="0" smtClean="0">
                <a:solidFill>
                  <a:schemeClr val="tx1"/>
                </a:solidFill>
                <a:latin typeface="+mn-lt"/>
                <a:ea typeface="+mn-ea"/>
                <a:cs typeface="+mn-cs"/>
              </a:rPr>
              <a:t>Adaptation occurs when you leave your comfort zone.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This</a:t>
            </a:r>
            <a:r>
              <a:rPr lang="en-US" sz="1200" b="0" i="0" kern="1200" baseline="0" dirty="0" smtClean="0">
                <a:solidFill>
                  <a:schemeClr val="tx1"/>
                </a:solidFill>
                <a:latin typeface="+mn-lt"/>
                <a:ea typeface="+mn-ea"/>
                <a:cs typeface="+mn-cs"/>
              </a:rPr>
              <a:t> is one of the primary reasons our business infrastructure does not adapt well to changing environments like our Internet’s Unclean Conflicts. Most of our businesses culture is comfy in their own zone of revenue generation and profit sharing</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Information usage and sharing in nature is a vital variable for adaptation</a:t>
            </a:r>
          </a:p>
          <a:p>
            <a:endParaRPr lang="en-US" dirty="0" smtClean="0"/>
          </a:p>
          <a:p>
            <a:r>
              <a:rPr lang="en-US" dirty="0" smtClean="0"/>
              <a:t>Using information in survival</a:t>
            </a:r>
            <a:r>
              <a:rPr lang="en-US" baseline="0" dirty="0" smtClean="0"/>
              <a:t> situations can either create or reduce uncertainty. </a:t>
            </a:r>
            <a:r>
              <a:rPr lang="en-US" dirty="0" smtClean="0"/>
              <a:t>Hmmm.</a:t>
            </a:r>
            <a:r>
              <a:rPr lang="en-US" baseline="0" dirty="0" smtClean="0"/>
              <a:t> That sounds very much like some of the strategies </a:t>
            </a:r>
            <a:r>
              <a:rPr lang="en-US" baseline="0" dirty="0" err="1" smtClean="0"/>
              <a:t>infosec</a:t>
            </a:r>
            <a:r>
              <a:rPr lang="en-US" baseline="0" dirty="0" smtClean="0"/>
              <a:t> employs: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Unpredictability is about increasing attacker costs, delaying their operation and increasing their potential for error</a:t>
            </a:r>
          </a:p>
          <a:p>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Individual</a:t>
            </a:r>
            <a:r>
              <a:rPr lang="en-US" sz="1200" kern="1200" baseline="0" dirty="0" smtClean="0">
                <a:solidFill>
                  <a:schemeClr val="tx1"/>
                </a:solidFill>
                <a:latin typeface="+mn-lt"/>
                <a:ea typeface="+mn-ea"/>
                <a:cs typeface="+mn-cs"/>
              </a:rPr>
              <a:t> competition can lead to group cooperation. This then increases the effectiveness of the group</a:t>
            </a:r>
            <a:endParaRPr lang="en-US" sz="1200" kern="1200" dirty="0" smtClean="0">
              <a:solidFill>
                <a:schemeClr val="tx1"/>
              </a:solidFill>
              <a:latin typeface="+mn-lt"/>
              <a:ea typeface="+mn-ea"/>
              <a:cs typeface="+mn-cs"/>
            </a:endParaRPr>
          </a:p>
          <a:p>
            <a:endParaRPr lang="en-US" dirty="0" smtClean="0"/>
          </a:p>
          <a:p>
            <a:r>
              <a:rPr lang="en-US" dirty="0" smtClean="0"/>
              <a:t>As individuals begin to form social groups, the better they cooperate with each other the more effective they are at competing with other social groups </a:t>
            </a:r>
          </a:p>
          <a:p>
            <a:endParaRPr lang="en-US" dirty="0" smtClean="0"/>
          </a:p>
          <a:p>
            <a:r>
              <a:rPr lang="en-US" dirty="0" smtClean="0"/>
              <a:t>All of this competition sparked cooperation is a vital aspect of any organizations</a:t>
            </a:r>
            <a:r>
              <a:rPr lang="en-US" baseline="0" dirty="0" smtClean="0"/>
              <a:t> ability to adapt and survive</a:t>
            </a:r>
          </a:p>
          <a:p>
            <a:endParaRPr lang="en-US" baseline="0" dirty="0" smtClean="0"/>
          </a:p>
          <a:p>
            <a:r>
              <a:rPr lang="en-US" baseline="0" dirty="0" smtClean="0"/>
              <a:t>Does anyone here work for an organization that promotes this type of competition/cooperation internally to further their innovations?</a:t>
            </a:r>
          </a:p>
          <a:p>
            <a:endParaRPr lang="en-US" baseline="0" dirty="0" smtClean="0"/>
          </a:p>
          <a:p>
            <a:r>
              <a:rPr lang="en-US" baseline="0" dirty="0" smtClean="0"/>
              <a:t>The important features of cooperative networks are that they emerge naturally (not mandated) and they are designed to solve specific problems, not solve world peace</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Sagarin</a:t>
            </a:r>
            <a:r>
              <a:rPr lang="en-US" dirty="0" smtClean="0"/>
              <a:t> talks about Adaptability Cascades</a:t>
            </a:r>
            <a:r>
              <a:rPr lang="en-US" baseline="0" dirty="0" smtClean="0"/>
              <a:t> in terms of how can we harness the power of adaptability at will? </a:t>
            </a:r>
          </a:p>
          <a:p>
            <a:endParaRPr lang="en-US" baseline="0" smtClean="0"/>
          </a:p>
          <a:p>
            <a:r>
              <a:rPr lang="en-US" baseline="0" smtClean="0"/>
              <a:t>The </a:t>
            </a:r>
            <a:r>
              <a:rPr lang="en-US" baseline="0" dirty="0" smtClean="0"/>
              <a:t>goal would be to achieve adaptability cascades that effectively can deal with security problems by organically responding and overcoming problems as they arise</a:t>
            </a:r>
            <a:endParaRPr lang="en-US" dirty="0" smtClean="0"/>
          </a:p>
          <a:p>
            <a:endParaRPr lang="en-US" dirty="0" smtClean="0"/>
          </a:p>
          <a:p>
            <a:r>
              <a:rPr lang="en-US" dirty="0" smtClean="0"/>
              <a:t>Get examples for each</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sz="1200" b="0" i="0" kern="1200" dirty="0" smtClean="0">
                <a:solidFill>
                  <a:schemeClr val="tx1"/>
                </a:solidFill>
                <a:latin typeface="+mn-lt"/>
                <a:ea typeface="+mn-ea"/>
                <a:cs typeface="+mn-cs"/>
              </a:rPr>
              <a:t>Orders assume there is one solution to a problem. A challenge assumes there are many potential solutions, the more people involved, the more likely we are to find a really outstanding solution.</a:t>
            </a:r>
            <a:endParaRPr lang="en-US" dirty="0" smtClean="0"/>
          </a:p>
          <a:p>
            <a:pPr marL="228600" indent="-228600">
              <a:buAutoNum type="arabicParenR"/>
            </a:pPr>
            <a:r>
              <a:rPr lang="en-US" dirty="0" smtClean="0"/>
              <a:t>Monetary incentives are always good, symbiosis can arise from competition as well as different entities realizing they can solve problems better together (Iowa</a:t>
            </a:r>
            <a:r>
              <a:rPr lang="en-US" baseline="0" dirty="0" smtClean="0"/>
              <a:t> Electronic Markets)</a:t>
            </a:r>
            <a:endParaRPr lang="en-US" dirty="0" smtClean="0"/>
          </a:p>
          <a:p>
            <a:pPr marL="228600" indent="-228600">
              <a:buAutoNum type="arabicParenR"/>
            </a:pPr>
            <a:r>
              <a:rPr lang="en-US" dirty="0" smtClean="0"/>
              <a:t>Learning from failure (typical consultant’s advice) is wrong and may result in a single solution for a single problem</a:t>
            </a:r>
            <a:endParaRPr lang="en-US" dirty="0"/>
          </a:p>
        </p:txBody>
      </p:sp>
      <p:sp>
        <p:nvSpPr>
          <p:cNvPr id="4" name="Slide Number Placeholder 3"/>
          <p:cNvSpPr>
            <a:spLocks noGrp="1"/>
          </p:cNvSpPr>
          <p:nvPr>
            <p:ph type="sldNum" sz="quarter" idx="10"/>
          </p:nvPr>
        </p:nvSpPr>
        <p:spPr/>
        <p:txBody>
          <a:bodyPr/>
          <a:lstStyle/>
          <a:p>
            <a:fld id="{66A0EC73-6147-4222-BCFD-030E49B743EB}" type="slidenum">
              <a:rPr lang="en-US" smtClean="0"/>
              <a:pPr/>
              <a:t>28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14D4742-5340-4E21-86D9-0C1DC548BA10}" type="datetimeFigureOut">
              <a:rPr lang="en-US" smtClean="0"/>
              <a:pPr/>
              <a:t>6/11/2013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08137D-1BBC-43FD-9D20-143431AD00B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4D4742-5340-4E21-86D9-0C1DC548BA10}" type="datetimeFigureOut">
              <a:rPr lang="en-US" smtClean="0"/>
              <a:pPr/>
              <a:t>6/11/2013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08137D-1BBC-43FD-9D20-143431AD00B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14D4742-5340-4E21-86D9-0C1DC548BA10}" type="datetimeFigureOut">
              <a:rPr lang="en-US" smtClean="0"/>
              <a:pPr/>
              <a:t>6/11/2013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08137D-1BBC-43FD-9D20-143431AD00B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14D4742-5340-4E21-86D9-0C1DC548BA10}" type="datetimeFigureOut">
              <a:rPr lang="en-US" smtClean="0"/>
              <a:pPr/>
              <a:t>6/11/2013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08137D-1BBC-43FD-9D20-143431AD00B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14D4742-5340-4E21-86D9-0C1DC548BA10}" type="datetimeFigureOut">
              <a:rPr lang="en-US" smtClean="0"/>
              <a:pPr/>
              <a:t>6/11/2013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08137D-1BBC-43FD-9D20-143431AD00B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14D4742-5340-4E21-86D9-0C1DC548BA10}" type="datetimeFigureOut">
              <a:rPr lang="en-US" smtClean="0"/>
              <a:pPr/>
              <a:t>6/11/2013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08137D-1BBC-43FD-9D20-143431AD00B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4D4742-5340-4E21-86D9-0C1DC548BA10}" type="datetimeFigureOut">
              <a:rPr lang="en-US" smtClean="0"/>
              <a:pPr/>
              <a:t>6/11/2013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08137D-1BBC-43FD-9D20-143431AD00B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4D4742-5340-4E21-86D9-0C1DC548BA10}" type="datetimeFigureOut">
              <a:rPr lang="en-US" smtClean="0"/>
              <a:pPr/>
              <a:t>6/11/2013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08137D-1BBC-43FD-9D20-143431AD00B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4D4742-5340-4E21-86D9-0C1DC548BA10}" type="datetimeFigureOut">
              <a:rPr lang="en-US" smtClean="0"/>
              <a:pPr/>
              <a:t>6/11/2013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08137D-1BBC-43FD-9D20-143431AD00B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4D4742-5340-4E21-86D9-0C1DC548BA10}" type="datetimeFigureOut">
              <a:rPr lang="en-US" smtClean="0"/>
              <a:pPr/>
              <a:t>6/11/2013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08137D-1BBC-43FD-9D20-143431AD00B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4D4742-5340-4E21-86D9-0C1DC548BA10}" type="datetimeFigureOut">
              <a:rPr lang="en-US" smtClean="0"/>
              <a:pPr/>
              <a:t>6/11/2013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08137D-1BBC-43FD-9D20-143431AD00B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D4742-5340-4E21-86D9-0C1DC548BA10}" type="datetimeFigureOut">
              <a:rPr lang="en-US" smtClean="0"/>
              <a:pPr/>
              <a:t>6/11/2013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08137D-1BBC-43FD-9D20-143431AD00B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381000" y="1676400"/>
            <a:ext cx="8382000" cy="1470025"/>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Business Adaptation:</a:t>
            </a:r>
          </a:p>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smtClean="0">
                <a:latin typeface="+mj-lt"/>
                <a:ea typeface="+mj-ea"/>
                <a:cs typeface="+mj-cs"/>
              </a:rPr>
              <a:t>Or how I learned to love the Internet’s Unclean Conflicts</a:t>
            </a: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sp>
        <p:nvSpPr>
          <p:cNvPr id="6" name="Subtitle 2"/>
          <p:cNvSpPr txBox="1">
            <a:spLocks/>
          </p:cNvSpPr>
          <p:nvPr/>
        </p:nvSpPr>
        <p:spPr>
          <a:xfrm>
            <a:off x="228600" y="3962400"/>
            <a:ext cx="3962400" cy="1600200"/>
          </a:xfrm>
          <a:prstGeom prst="rect">
            <a:avLst/>
          </a:prstGeom>
        </p:spPr>
        <p:txBody>
          <a:bodyPr>
            <a:normAutofit fontScale="77500" lnSpcReduction="20000"/>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Rockie Brockway</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Security Practice Director</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Black Box Network Services</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rockiebrockway</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4" name="Picture 3" descr="blackboxlogo-whiteBG.jpg"/>
          <p:cNvPicPr/>
          <p:nvPr/>
        </p:nvPicPr>
        <p:blipFill>
          <a:blip r:embed="rId3" cstate="print"/>
          <a:stretch>
            <a:fillRect/>
          </a:stretch>
        </p:blipFill>
        <p:spPr>
          <a:xfrm>
            <a:off x="5486400" y="4953000"/>
            <a:ext cx="2724150" cy="5334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362200" y="1676400"/>
            <a:ext cx="4191000" cy="523220"/>
          </a:xfrm>
          <a:prstGeom prst="rect">
            <a:avLst/>
          </a:prstGeom>
          <a:noFill/>
        </p:spPr>
        <p:txBody>
          <a:bodyPr wrap="square" rtlCol="0">
            <a:spAutoFit/>
          </a:bodyPr>
          <a:lstStyle/>
          <a:p>
            <a:r>
              <a:rPr lang="en-US" sz="2800" dirty="0" smtClean="0"/>
              <a:t>Credentials</a:t>
            </a:r>
            <a:endParaRPr lang="en-US" sz="2800" dirty="0"/>
          </a:p>
        </p:txBody>
      </p:sp>
      <p:pic>
        <p:nvPicPr>
          <p:cNvPr id="4" name="Picture 2"/>
          <p:cNvPicPr>
            <a:picLocks noChangeAspect="1" noChangeArrowheads="1"/>
          </p:cNvPicPr>
          <p:nvPr/>
        </p:nvPicPr>
        <p:blipFill>
          <a:blip r:embed="rId3" cstate="print"/>
          <a:srcRect/>
          <a:stretch>
            <a:fillRect/>
          </a:stretch>
        </p:blipFill>
        <p:spPr bwMode="auto">
          <a:xfrm>
            <a:off x="4343400" y="2819400"/>
            <a:ext cx="3859813" cy="2743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00200" y="1752600"/>
            <a:ext cx="1350050" cy="369332"/>
          </a:xfrm>
          <a:prstGeom prst="rect">
            <a:avLst/>
          </a:prstGeom>
          <a:noFill/>
        </p:spPr>
        <p:txBody>
          <a:bodyPr wrap="none" rtlCol="0">
            <a:spAutoFit/>
          </a:bodyPr>
          <a:lstStyle/>
          <a:p>
            <a:r>
              <a:rPr lang="en-US" dirty="0" smtClean="0"/>
              <a:t>Disclaimer A</a:t>
            </a:r>
            <a:endParaRPr lang="en-US" dirty="0"/>
          </a:p>
        </p:txBody>
      </p:sp>
      <p:sp>
        <p:nvSpPr>
          <p:cNvPr id="10" name="TextBox 9"/>
          <p:cNvSpPr txBox="1"/>
          <p:nvPr/>
        </p:nvSpPr>
        <p:spPr>
          <a:xfrm>
            <a:off x="1600200" y="3200400"/>
            <a:ext cx="7391400" cy="369332"/>
          </a:xfrm>
          <a:prstGeom prst="rect">
            <a:avLst/>
          </a:prstGeom>
          <a:noFill/>
        </p:spPr>
        <p:txBody>
          <a:bodyPr wrap="square" rtlCol="0">
            <a:spAutoFit/>
          </a:bodyPr>
          <a:lstStyle/>
          <a:p>
            <a:r>
              <a:rPr lang="en-US" dirty="0" smtClean="0"/>
              <a:t>Nothing I say represents past, current or future employers</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00200" y="1752600"/>
            <a:ext cx="1342034" cy="369332"/>
          </a:xfrm>
          <a:prstGeom prst="rect">
            <a:avLst/>
          </a:prstGeom>
          <a:noFill/>
        </p:spPr>
        <p:txBody>
          <a:bodyPr wrap="none" rtlCol="0">
            <a:spAutoFit/>
          </a:bodyPr>
          <a:lstStyle/>
          <a:p>
            <a:r>
              <a:rPr lang="en-US" dirty="0" smtClean="0"/>
              <a:t>Disclaimer B</a:t>
            </a:r>
            <a:endParaRPr lang="en-US" dirty="0"/>
          </a:p>
        </p:txBody>
      </p:sp>
      <p:sp>
        <p:nvSpPr>
          <p:cNvPr id="5" name="TextBox 4"/>
          <p:cNvSpPr txBox="1"/>
          <p:nvPr/>
        </p:nvSpPr>
        <p:spPr>
          <a:xfrm>
            <a:off x="2971800" y="3124200"/>
            <a:ext cx="2217979" cy="369332"/>
          </a:xfrm>
          <a:prstGeom prst="rect">
            <a:avLst/>
          </a:prstGeom>
          <a:noFill/>
        </p:spPr>
        <p:txBody>
          <a:bodyPr wrap="none" rtlCol="0">
            <a:spAutoFit/>
          </a:bodyPr>
          <a:lstStyle/>
          <a:p>
            <a:r>
              <a:rPr lang="en-US" dirty="0" smtClean="0"/>
              <a:t>Not a box popper talk</a:t>
            </a:r>
            <a:endParaRPr lang="en-US" dirty="0"/>
          </a:p>
        </p:txBody>
      </p:sp>
      <p:sp>
        <p:nvSpPr>
          <p:cNvPr id="6" name="TextBox 5"/>
          <p:cNvSpPr txBox="1"/>
          <p:nvPr/>
        </p:nvSpPr>
        <p:spPr>
          <a:xfrm>
            <a:off x="2971800" y="3581400"/>
            <a:ext cx="1960217" cy="369332"/>
          </a:xfrm>
          <a:prstGeom prst="rect">
            <a:avLst/>
          </a:prstGeom>
          <a:noFill/>
        </p:spPr>
        <p:txBody>
          <a:bodyPr wrap="none" rtlCol="0">
            <a:spAutoFit/>
          </a:bodyPr>
          <a:lstStyle/>
          <a:p>
            <a:r>
              <a:rPr lang="en-US" dirty="0" smtClean="0"/>
              <a:t>Not a cool tool talk</a:t>
            </a:r>
            <a:endParaRPr lang="en-US" dirty="0"/>
          </a:p>
        </p:txBody>
      </p:sp>
      <p:sp>
        <p:nvSpPr>
          <p:cNvPr id="7" name="TextBox 6"/>
          <p:cNvSpPr txBox="1"/>
          <p:nvPr/>
        </p:nvSpPr>
        <p:spPr>
          <a:xfrm>
            <a:off x="2971800" y="4495800"/>
            <a:ext cx="2705356" cy="369332"/>
          </a:xfrm>
          <a:prstGeom prst="rect">
            <a:avLst/>
          </a:prstGeom>
          <a:noFill/>
        </p:spPr>
        <p:txBody>
          <a:bodyPr wrap="none" rtlCol="0">
            <a:spAutoFit/>
          </a:bodyPr>
          <a:lstStyle/>
          <a:p>
            <a:r>
              <a:rPr lang="en-US" dirty="0" smtClean="0"/>
              <a:t>Dabbles in generic politics</a:t>
            </a:r>
            <a:endParaRPr lang="en-US" dirty="0"/>
          </a:p>
        </p:txBody>
      </p:sp>
      <p:sp>
        <p:nvSpPr>
          <p:cNvPr id="8" name="TextBox 7"/>
          <p:cNvSpPr txBox="1"/>
          <p:nvPr/>
        </p:nvSpPr>
        <p:spPr>
          <a:xfrm>
            <a:off x="2971800" y="4953000"/>
            <a:ext cx="2478755" cy="369332"/>
          </a:xfrm>
          <a:prstGeom prst="rect">
            <a:avLst/>
          </a:prstGeom>
          <a:noFill/>
        </p:spPr>
        <p:txBody>
          <a:bodyPr wrap="none" rtlCol="0">
            <a:spAutoFit/>
          </a:bodyPr>
          <a:lstStyle/>
          <a:p>
            <a:r>
              <a:rPr lang="en-US" dirty="0" smtClean="0"/>
              <a:t>Arguments are expected</a:t>
            </a:r>
            <a:endParaRPr lang="en-US" dirty="0"/>
          </a:p>
        </p:txBody>
      </p:sp>
      <p:sp>
        <p:nvSpPr>
          <p:cNvPr id="9" name="TextBox 8"/>
          <p:cNvSpPr txBox="1"/>
          <p:nvPr/>
        </p:nvSpPr>
        <p:spPr>
          <a:xfrm>
            <a:off x="2971800" y="4038600"/>
            <a:ext cx="3590278" cy="369332"/>
          </a:xfrm>
          <a:prstGeom prst="rect">
            <a:avLst/>
          </a:prstGeom>
          <a:noFill/>
        </p:spPr>
        <p:txBody>
          <a:bodyPr wrap="none" rtlCol="0">
            <a:spAutoFit/>
          </a:bodyPr>
          <a:lstStyle/>
          <a:p>
            <a:r>
              <a:rPr lang="en-US" dirty="0" smtClean="0"/>
              <a:t>Focused on natural security systems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000"/>
                                        <p:tgtEl>
                                          <p:spTgt spid="9"/>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childTnLst>
                                </p:cTn>
                              </p:par>
                            </p:childTnLst>
                          </p:cTn>
                        </p:par>
                        <p:par>
                          <p:cTn id="20" fill="hold">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29000" y="3124200"/>
            <a:ext cx="2282997" cy="584775"/>
          </a:xfrm>
          <a:prstGeom prst="rect">
            <a:avLst/>
          </a:prstGeom>
          <a:noFill/>
        </p:spPr>
        <p:txBody>
          <a:bodyPr wrap="none" rtlCol="0">
            <a:spAutoFit/>
          </a:bodyPr>
          <a:lstStyle/>
          <a:p>
            <a:r>
              <a:rPr lang="en-US" sz="3200" dirty="0" smtClean="0"/>
              <a:t>June 5, 1942</a:t>
            </a:r>
            <a:endParaRPr lang="en-US" sz="3200" dirty="0"/>
          </a:p>
        </p:txBody>
      </p:sp>
      <p:sp>
        <p:nvSpPr>
          <p:cNvPr id="5" name="TextBox 4"/>
          <p:cNvSpPr txBox="1"/>
          <p:nvPr/>
        </p:nvSpPr>
        <p:spPr>
          <a:xfrm>
            <a:off x="6019800" y="6019800"/>
            <a:ext cx="2775760" cy="369332"/>
          </a:xfrm>
          <a:prstGeom prst="rect">
            <a:avLst/>
          </a:prstGeom>
          <a:noFill/>
        </p:spPr>
        <p:txBody>
          <a:bodyPr wrap="none" rtlCol="0">
            <a:spAutoFit/>
          </a:bodyPr>
          <a:lstStyle/>
          <a:p>
            <a:r>
              <a:rPr lang="en-US" dirty="0" smtClean="0"/>
              <a:t>Bulgaria, Romania, Hungary</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76600" y="4191000"/>
            <a:ext cx="725711" cy="369332"/>
          </a:xfrm>
          <a:prstGeom prst="rect">
            <a:avLst/>
          </a:prstGeom>
          <a:noFill/>
        </p:spPr>
        <p:txBody>
          <a:bodyPr wrap="none" rtlCol="0">
            <a:spAutoFit/>
          </a:bodyPr>
          <a:lstStyle/>
          <a:p>
            <a:r>
              <a:rPr lang="en-US" dirty="0" smtClean="0"/>
              <a:t>Korea</a:t>
            </a:r>
            <a:endParaRPr lang="en-US" dirty="0"/>
          </a:p>
        </p:txBody>
      </p:sp>
      <p:sp>
        <p:nvSpPr>
          <p:cNvPr id="5" name="TextBox 4"/>
          <p:cNvSpPr txBox="1"/>
          <p:nvPr/>
        </p:nvSpPr>
        <p:spPr>
          <a:xfrm>
            <a:off x="2667000" y="3810000"/>
            <a:ext cx="995785" cy="369332"/>
          </a:xfrm>
          <a:prstGeom prst="rect">
            <a:avLst/>
          </a:prstGeom>
          <a:noFill/>
        </p:spPr>
        <p:txBody>
          <a:bodyPr wrap="none" rtlCol="0">
            <a:spAutoFit/>
          </a:bodyPr>
          <a:lstStyle/>
          <a:p>
            <a:r>
              <a:rPr lang="en-US" dirty="0"/>
              <a:t>L</a:t>
            </a:r>
            <a:r>
              <a:rPr lang="en-US" dirty="0" smtClean="0"/>
              <a:t>ebanon</a:t>
            </a:r>
            <a:endParaRPr lang="en-US" dirty="0"/>
          </a:p>
        </p:txBody>
      </p:sp>
      <p:sp>
        <p:nvSpPr>
          <p:cNvPr id="6" name="TextBox 5"/>
          <p:cNvSpPr txBox="1"/>
          <p:nvPr/>
        </p:nvSpPr>
        <p:spPr>
          <a:xfrm>
            <a:off x="1143000" y="3429000"/>
            <a:ext cx="2047805" cy="369332"/>
          </a:xfrm>
          <a:prstGeom prst="rect">
            <a:avLst/>
          </a:prstGeom>
          <a:noFill/>
        </p:spPr>
        <p:txBody>
          <a:bodyPr wrap="none" rtlCol="0">
            <a:spAutoFit/>
          </a:bodyPr>
          <a:lstStyle/>
          <a:p>
            <a:r>
              <a:rPr lang="en-US" dirty="0" smtClean="0"/>
              <a:t>Dominican Republic</a:t>
            </a:r>
            <a:endParaRPr lang="en-US" dirty="0"/>
          </a:p>
        </p:txBody>
      </p:sp>
      <p:sp>
        <p:nvSpPr>
          <p:cNvPr id="7" name="TextBox 6"/>
          <p:cNvSpPr txBox="1"/>
          <p:nvPr/>
        </p:nvSpPr>
        <p:spPr>
          <a:xfrm>
            <a:off x="685800" y="3810000"/>
            <a:ext cx="976934" cy="369332"/>
          </a:xfrm>
          <a:prstGeom prst="rect">
            <a:avLst/>
          </a:prstGeom>
          <a:noFill/>
        </p:spPr>
        <p:txBody>
          <a:bodyPr wrap="square" rtlCol="0">
            <a:spAutoFit/>
          </a:bodyPr>
          <a:lstStyle/>
          <a:p>
            <a:r>
              <a:rPr lang="en-US" dirty="0" smtClean="0"/>
              <a:t>Vietnam</a:t>
            </a:r>
            <a:endParaRPr lang="en-US" dirty="0"/>
          </a:p>
        </p:txBody>
      </p:sp>
      <p:sp>
        <p:nvSpPr>
          <p:cNvPr id="8" name="TextBox 7"/>
          <p:cNvSpPr txBox="1"/>
          <p:nvPr/>
        </p:nvSpPr>
        <p:spPr>
          <a:xfrm>
            <a:off x="228600" y="4724400"/>
            <a:ext cx="550215" cy="369332"/>
          </a:xfrm>
          <a:prstGeom prst="rect">
            <a:avLst/>
          </a:prstGeom>
          <a:noFill/>
        </p:spPr>
        <p:txBody>
          <a:bodyPr wrap="none" rtlCol="0">
            <a:spAutoFit/>
          </a:bodyPr>
          <a:lstStyle/>
          <a:p>
            <a:r>
              <a:rPr lang="en-US" dirty="0" smtClean="0"/>
              <a:t>Iran</a:t>
            </a:r>
            <a:endParaRPr lang="en-US" dirty="0"/>
          </a:p>
        </p:txBody>
      </p:sp>
      <p:sp>
        <p:nvSpPr>
          <p:cNvPr id="9" name="TextBox 8"/>
          <p:cNvSpPr txBox="1"/>
          <p:nvPr/>
        </p:nvSpPr>
        <p:spPr>
          <a:xfrm>
            <a:off x="304800" y="5181600"/>
            <a:ext cx="987963" cy="369332"/>
          </a:xfrm>
          <a:prstGeom prst="rect">
            <a:avLst/>
          </a:prstGeom>
          <a:noFill/>
        </p:spPr>
        <p:txBody>
          <a:bodyPr wrap="none" rtlCol="0">
            <a:spAutoFit/>
          </a:bodyPr>
          <a:lstStyle/>
          <a:p>
            <a:r>
              <a:rPr lang="en-US" dirty="0" smtClean="0"/>
              <a:t>Grenada</a:t>
            </a:r>
            <a:endParaRPr lang="en-US" dirty="0"/>
          </a:p>
        </p:txBody>
      </p:sp>
      <p:sp>
        <p:nvSpPr>
          <p:cNvPr id="10" name="TextBox 9"/>
          <p:cNvSpPr txBox="1"/>
          <p:nvPr/>
        </p:nvSpPr>
        <p:spPr>
          <a:xfrm>
            <a:off x="304800" y="4191000"/>
            <a:ext cx="756938" cy="369332"/>
          </a:xfrm>
          <a:prstGeom prst="rect">
            <a:avLst/>
          </a:prstGeom>
          <a:noFill/>
        </p:spPr>
        <p:txBody>
          <a:bodyPr wrap="none" rtlCol="0">
            <a:spAutoFit/>
          </a:bodyPr>
          <a:lstStyle/>
          <a:p>
            <a:r>
              <a:rPr lang="en-US" dirty="0" err="1" smtClean="0"/>
              <a:t>Beruit</a:t>
            </a:r>
            <a:endParaRPr lang="en-US" dirty="0"/>
          </a:p>
        </p:txBody>
      </p:sp>
      <p:sp>
        <p:nvSpPr>
          <p:cNvPr id="11" name="TextBox 10"/>
          <p:cNvSpPr txBox="1"/>
          <p:nvPr/>
        </p:nvSpPr>
        <p:spPr>
          <a:xfrm>
            <a:off x="914400" y="5562600"/>
            <a:ext cx="663067" cy="369332"/>
          </a:xfrm>
          <a:prstGeom prst="rect">
            <a:avLst/>
          </a:prstGeom>
          <a:noFill/>
        </p:spPr>
        <p:txBody>
          <a:bodyPr wrap="none" rtlCol="0">
            <a:spAutoFit/>
          </a:bodyPr>
          <a:lstStyle/>
          <a:p>
            <a:r>
              <a:rPr lang="en-US" dirty="0" err="1" smtClean="0"/>
              <a:t>Lybia</a:t>
            </a:r>
            <a:endParaRPr lang="en-US" dirty="0"/>
          </a:p>
        </p:txBody>
      </p:sp>
      <p:sp>
        <p:nvSpPr>
          <p:cNvPr id="12" name="TextBox 11"/>
          <p:cNvSpPr txBox="1"/>
          <p:nvPr/>
        </p:nvSpPr>
        <p:spPr>
          <a:xfrm>
            <a:off x="1447800" y="5943600"/>
            <a:ext cx="936347" cy="369332"/>
          </a:xfrm>
          <a:prstGeom prst="rect">
            <a:avLst/>
          </a:prstGeom>
          <a:noFill/>
        </p:spPr>
        <p:txBody>
          <a:bodyPr wrap="none" rtlCol="0">
            <a:spAutoFit/>
          </a:bodyPr>
          <a:lstStyle/>
          <a:p>
            <a:r>
              <a:rPr lang="en-US" dirty="0" smtClean="0"/>
              <a:t>Panama</a:t>
            </a:r>
            <a:endParaRPr lang="en-US" dirty="0"/>
          </a:p>
        </p:txBody>
      </p:sp>
      <p:sp>
        <p:nvSpPr>
          <p:cNvPr id="13" name="TextBox 12"/>
          <p:cNvSpPr txBox="1"/>
          <p:nvPr/>
        </p:nvSpPr>
        <p:spPr>
          <a:xfrm>
            <a:off x="1905000" y="4495800"/>
            <a:ext cx="1837747" cy="369332"/>
          </a:xfrm>
          <a:prstGeom prst="rect">
            <a:avLst/>
          </a:prstGeom>
          <a:noFill/>
        </p:spPr>
        <p:txBody>
          <a:bodyPr wrap="none" rtlCol="0">
            <a:spAutoFit/>
          </a:bodyPr>
          <a:lstStyle/>
          <a:p>
            <a:r>
              <a:rPr lang="en-US" b="1" dirty="0" smtClean="0">
                <a:solidFill>
                  <a:srgbClr val="C00000"/>
                </a:solidFill>
              </a:rPr>
              <a:t>Unclean Conflicts</a:t>
            </a:r>
            <a:endParaRPr lang="en-US" b="1" dirty="0">
              <a:solidFill>
                <a:srgbClr val="C00000"/>
              </a:solidFill>
            </a:endParaRPr>
          </a:p>
        </p:txBody>
      </p:sp>
      <p:sp>
        <p:nvSpPr>
          <p:cNvPr id="14" name="TextBox 13"/>
          <p:cNvSpPr txBox="1"/>
          <p:nvPr/>
        </p:nvSpPr>
        <p:spPr>
          <a:xfrm>
            <a:off x="2514600" y="6248400"/>
            <a:ext cx="660822" cy="369332"/>
          </a:xfrm>
          <a:prstGeom prst="rect">
            <a:avLst/>
          </a:prstGeom>
          <a:noFill/>
        </p:spPr>
        <p:txBody>
          <a:bodyPr wrap="none" rtlCol="0">
            <a:spAutoFit/>
          </a:bodyPr>
          <a:lstStyle/>
          <a:p>
            <a:r>
              <a:rPr lang="en-US" dirty="0" smtClean="0"/>
              <a:t>Iraq I</a:t>
            </a:r>
            <a:endParaRPr lang="en-US" dirty="0"/>
          </a:p>
        </p:txBody>
      </p:sp>
      <p:sp>
        <p:nvSpPr>
          <p:cNvPr id="15" name="TextBox 14"/>
          <p:cNvSpPr txBox="1"/>
          <p:nvPr/>
        </p:nvSpPr>
        <p:spPr>
          <a:xfrm>
            <a:off x="3429000" y="6019800"/>
            <a:ext cx="1350113" cy="369332"/>
          </a:xfrm>
          <a:prstGeom prst="rect">
            <a:avLst/>
          </a:prstGeom>
          <a:noFill/>
        </p:spPr>
        <p:txBody>
          <a:bodyPr wrap="none" rtlCol="0">
            <a:spAutoFit/>
          </a:bodyPr>
          <a:lstStyle/>
          <a:p>
            <a:r>
              <a:rPr lang="en-US" dirty="0" smtClean="0"/>
              <a:t>Sierra Leone</a:t>
            </a:r>
            <a:endParaRPr lang="en-US" dirty="0"/>
          </a:p>
        </p:txBody>
      </p:sp>
      <p:sp>
        <p:nvSpPr>
          <p:cNvPr id="16" name="TextBox 15"/>
          <p:cNvSpPr txBox="1"/>
          <p:nvPr/>
        </p:nvSpPr>
        <p:spPr>
          <a:xfrm>
            <a:off x="4343400" y="5562600"/>
            <a:ext cx="2055563" cy="369332"/>
          </a:xfrm>
          <a:prstGeom prst="rect">
            <a:avLst/>
          </a:prstGeom>
          <a:noFill/>
        </p:spPr>
        <p:txBody>
          <a:bodyPr wrap="none" rtlCol="0">
            <a:spAutoFit/>
          </a:bodyPr>
          <a:lstStyle/>
          <a:p>
            <a:r>
              <a:rPr lang="en-US" dirty="0" smtClean="0"/>
              <a:t>Bosnia/Herzegovina</a:t>
            </a:r>
            <a:endParaRPr lang="en-US" dirty="0"/>
          </a:p>
        </p:txBody>
      </p:sp>
      <p:sp>
        <p:nvSpPr>
          <p:cNvPr id="17" name="TextBox 16"/>
          <p:cNvSpPr txBox="1"/>
          <p:nvPr/>
        </p:nvSpPr>
        <p:spPr>
          <a:xfrm>
            <a:off x="5181600" y="5029200"/>
            <a:ext cx="923651" cy="369332"/>
          </a:xfrm>
          <a:prstGeom prst="rect">
            <a:avLst/>
          </a:prstGeom>
          <a:noFill/>
        </p:spPr>
        <p:txBody>
          <a:bodyPr wrap="none" rtlCol="0">
            <a:spAutoFit/>
          </a:bodyPr>
          <a:lstStyle/>
          <a:p>
            <a:r>
              <a:rPr lang="en-US" dirty="0" smtClean="0"/>
              <a:t>Somalia</a:t>
            </a:r>
            <a:endParaRPr lang="en-US" dirty="0"/>
          </a:p>
        </p:txBody>
      </p:sp>
      <p:sp>
        <p:nvSpPr>
          <p:cNvPr id="18" name="TextBox 17"/>
          <p:cNvSpPr txBox="1"/>
          <p:nvPr/>
        </p:nvSpPr>
        <p:spPr>
          <a:xfrm>
            <a:off x="6172200" y="3810000"/>
            <a:ext cx="622286" cy="369332"/>
          </a:xfrm>
          <a:prstGeom prst="rect">
            <a:avLst/>
          </a:prstGeom>
          <a:noFill/>
        </p:spPr>
        <p:txBody>
          <a:bodyPr wrap="none" rtlCol="0">
            <a:spAutoFit/>
          </a:bodyPr>
          <a:lstStyle/>
          <a:p>
            <a:r>
              <a:rPr lang="en-US" dirty="0" smtClean="0"/>
              <a:t>Haiti</a:t>
            </a:r>
            <a:endParaRPr lang="en-US" dirty="0"/>
          </a:p>
        </p:txBody>
      </p:sp>
      <p:sp>
        <p:nvSpPr>
          <p:cNvPr id="19" name="TextBox 18"/>
          <p:cNvSpPr txBox="1"/>
          <p:nvPr/>
        </p:nvSpPr>
        <p:spPr>
          <a:xfrm>
            <a:off x="5943600" y="2133600"/>
            <a:ext cx="1291444" cy="369332"/>
          </a:xfrm>
          <a:prstGeom prst="rect">
            <a:avLst/>
          </a:prstGeom>
          <a:noFill/>
        </p:spPr>
        <p:txBody>
          <a:bodyPr wrap="none" rtlCol="0">
            <a:spAutoFit/>
          </a:bodyPr>
          <a:lstStyle/>
          <a:p>
            <a:r>
              <a:rPr lang="en-US" dirty="0" smtClean="0"/>
              <a:t>Afghanistan</a:t>
            </a:r>
            <a:endParaRPr lang="en-US" dirty="0"/>
          </a:p>
        </p:txBody>
      </p:sp>
      <p:sp>
        <p:nvSpPr>
          <p:cNvPr id="20" name="TextBox 19"/>
          <p:cNvSpPr txBox="1"/>
          <p:nvPr/>
        </p:nvSpPr>
        <p:spPr>
          <a:xfrm>
            <a:off x="6248400" y="3048000"/>
            <a:ext cx="766557" cy="369332"/>
          </a:xfrm>
          <a:prstGeom prst="rect">
            <a:avLst/>
          </a:prstGeom>
          <a:noFill/>
        </p:spPr>
        <p:txBody>
          <a:bodyPr wrap="none" rtlCol="0">
            <a:spAutoFit/>
          </a:bodyPr>
          <a:lstStyle/>
          <a:p>
            <a:r>
              <a:rPr lang="en-US" dirty="0" smtClean="0"/>
              <a:t>Sudan</a:t>
            </a:r>
            <a:endParaRPr lang="en-US" dirty="0"/>
          </a:p>
        </p:txBody>
      </p:sp>
      <p:sp>
        <p:nvSpPr>
          <p:cNvPr id="21" name="TextBox 20"/>
          <p:cNvSpPr txBox="1"/>
          <p:nvPr/>
        </p:nvSpPr>
        <p:spPr>
          <a:xfrm>
            <a:off x="5715000" y="4419600"/>
            <a:ext cx="771365" cy="369332"/>
          </a:xfrm>
          <a:prstGeom prst="rect">
            <a:avLst/>
          </a:prstGeom>
          <a:noFill/>
        </p:spPr>
        <p:txBody>
          <a:bodyPr wrap="none" rtlCol="0">
            <a:spAutoFit/>
          </a:bodyPr>
          <a:lstStyle/>
          <a:p>
            <a:r>
              <a:rPr lang="en-US" dirty="0" smtClean="0"/>
              <a:t>Serbia</a:t>
            </a:r>
            <a:endParaRPr lang="en-US" dirty="0"/>
          </a:p>
        </p:txBody>
      </p:sp>
      <p:sp>
        <p:nvSpPr>
          <p:cNvPr id="22" name="TextBox 21"/>
          <p:cNvSpPr txBox="1"/>
          <p:nvPr/>
        </p:nvSpPr>
        <p:spPr>
          <a:xfrm>
            <a:off x="5105400" y="1219200"/>
            <a:ext cx="718530" cy="369332"/>
          </a:xfrm>
          <a:prstGeom prst="rect">
            <a:avLst/>
          </a:prstGeom>
          <a:noFill/>
        </p:spPr>
        <p:txBody>
          <a:bodyPr wrap="none" rtlCol="0">
            <a:spAutoFit/>
          </a:bodyPr>
          <a:lstStyle/>
          <a:p>
            <a:r>
              <a:rPr lang="en-US" dirty="0" smtClean="0"/>
              <a:t>Iraq II</a:t>
            </a:r>
            <a:endParaRPr lang="en-US" dirty="0"/>
          </a:p>
        </p:txBody>
      </p:sp>
      <p:sp>
        <p:nvSpPr>
          <p:cNvPr id="23" name="TextBox 22"/>
          <p:cNvSpPr txBox="1"/>
          <p:nvPr/>
        </p:nvSpPr>
        <p:spPr>
          <a:xfrm>
            <a:off x="3276600" y="457200"/>
            <a:ext cx="959815" cy="369332"/>
          </a:xfrm>
          <a:prstGeom prst="rect">
            <a:avLst/>
          </a:prstGeom>
          <a:noFill/>
        </p:spPr>
        <p:txBody>
          <a:bodyPr wrap="none" rtlCol="0">
            <a:spAutoFit/>
          </a:bodyPr>
          <a:lstStyle/>
          <a:p>
            <a:r>
              <a:rPr lang="en-US" dirty="0" smtClean="0"/>
              <a:t>Pakistan</a:t>
            </a:r>
            <a:endParaRPr lang="en-US" dirty="0"/>
          </a:p>
        </p:txBody>
      </p:sp>
      <p:sp>
        <p:nvSpPr>
          <p:cNvPr id="24" name="TextBox 23"/>
          <p:cNvSpPr txBox="1"/>
          <p:nvPr/>
        </p:nvSpPr>
        <p:spPr>
          <a:xfrm>
            <a:off x="1447800" y="228600"/>
            <a:ext cx="817340" cy="369332"/>
          </a:xfrm>
          <a:prstGeom prst="rect">
            <a:avLst/>
          </a:prstGeom>
          <a:noFill/>
        </p:spPr>
        <p:txBody>
          <a:bodyPr wrap="none" rtlCol="0">
            <a:spAutoFit/>
          </a:bodyPr>
          <a:lstStyle/>
          <a:p>
            <a:r>
              <a:rPr lang="en-US" dirty="0" smtClean="0"/>
              <a:t>Yemen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childTnLst>
                                </p:cTn>
                              </p:par>
                            </p:childTnLst>
                          </p:cTn>
                        </p:par>
                        <p:par>
                          <p:cTn id="20" fill="hold">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childTnLst>
                                </p:cTn>
                              </p:par>
                            </p:childTnLst>
                          </p:cTn>
                        </p:par>
                        <p:par>
                          <p:cTn id="24" fill="hold">
                            <p:stCondLst>
                              <p:cond delay="50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childTnLst>
                                </p:cTn>
                              </p:par>
                            </p:childTnLst>
                          </p:cTn>
                        </p:par>
                        <p:par>
                          <p:cTn id="28" fill="hold">
                            <p:stCondLst>
                              <p:cond delay="60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childTnLst>
                                </p:cTn>
                              </p:par>
                            </p:childTnLst>
                          </p:cTn>
                        </p:par>
                        <p:par>
                          <p:cTn id="32" fill="hold">
                            <p:stCondLst>
                              <p:cond delay="7000"/>
                            </p:stCondLst>
                            <p:childTnLst>
                              <p:par>
                                <p:cTn id="33" presetID="1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childTnLst>
                                </p:cTn>
                              </p:par>
                            </p:childTnLst>
                          </p:cTn>
                        </p:par>
                        <p:par>
                          <p:cTn id="36" fill="hold">
                            <p:stCondLst>
                              <p:cond delay="8000"/>
                            </p:stCondLst>
                            <p:childTnLst>
                              <p:par>
                                <p:cTn id="37" presetID="10" presetClass="entr" presetSubtype="0"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1000"/>
                                        <p:tgtEl>
                                          <p:spTgt spid="12"/>
                                        </p:tgtEl>
                                      </p:cBhvr>
                                    </p:animEffect>
                                  </p:childTnLst>
                                </p:cTn>
                              </p:par>
                            </p:childTnLst>
                          </p:cTn>
                        </p:par>
                        <p:par>
                          <p:cTn id="40" fill="hold">
                            <p:stCondLst>
                              <p:cond delay="9000"/>
                            </p:stCondLst>
                            <p:childTnLst>
                              <p:par>
                                <p:cTn id="41" presetID="10"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1000"/>
                                        <p:tgtEl>
                                          <p:spTgt spid="14"/>
                                        </p:tgtEl>
                                      </p:cBhvr>
                                    </p:animEffect>
                                  </p:childTnLst>
                                </p:cTn>
                              </p:par>
                            </p:childTnLst>
                          </p:cTn>
                        </p:par>
                        <p:par>
                          <p:cTn id="44" fill="hold">
                            <p:stCondLst>
                              <p:cond delay="10000"/>
                            </p:stCondLst>
                            <p:childTnLst>
                              <p:par>
                                <p:cTn id="45" presetID="10" presetClass="entr" presetSubtype="0"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1000"/>
                                        <p:tgtEl>
                                          <p:spTgt spid="15"/>
                                        </p:tgtEl>
                                      </p:cBhvr>
                                    </p:animEffect>
                                  </p:childTnLst>
                                </p:cTn>
                              </p:par>
                            </p:childTnLst>
                          </p:cTn>
                        </p:par>
                        <p:par>
                          <p:cTn id="48" fill="hold">
                            <p:stCondLst>
                              <p:cond delay="11000"/>
                            </p:stCondLst>
                            <p:childTnLst>
                              <p:par>
                                <p:cTn id="49" presetID="10" presetClass="entr" presetSubtype="0"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1000"/>
                                        <p:tgtEl>
                                          <p:spTgt spid="16"/>
                                        </p:tgtEl>
                                      </p:cBhvr>
                                    </p:animEffect>
                                  </p:childTnLst>
                                </p:cTn>
                              </p:par>
                            </p:childTnLst>
                          </p:cTn>
                        </p:par>
                        <p:par>
                          <p:cTn id="52" fill="hold">
                            <p:stCondLst>
                              <p:cond delay="12000"/>
                            </p:stCondLst>
                            <p:childTnLst>
                              <p:par>
                                <p:cTn id="53" presetID="10"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1000"/>
                                        <p:tgtEl>
                                          <p:spTgt spid="17"/>
                                        </p:tgtEl>
                                      </p:cBhvr>
                                    </p:animEffect>
                                  </p:childTnLst>
                                </p:cTn>
                              </p:par>
                            </p:childTnLst>
                          </p:cTn>
                        </p:par>
                        <p:par>
                          <p:cTn id="56" fill="hold">
                            <p:stCondLst>
                              <p:cond delay="13000"/>
                            </p:stCondLst>
                            <p:childTnLst>
                              <p:par>
                                <p:cTn id="57" presetID="10" presetClass="entr" presetSubtype="0" fill="hold" grpId="0"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1000"/>
                                        <p:tgtEl>
                                          <p:spTgt spid="21"/>
                                        </p:tgtEl>
                                      </p:cBhvr>
                                    </p:animEffect>
                                  </p:childTnLst>
                                </p:cTn>
                              </p:par>
                            </p:childTnLst>
                          </p:cTn>
                        </p:par>
                        <p:par>
                          <p:cTn id="60" fill="hold">
                            <p:stCondLst>
                              <p:cond delay="14000"/>
                            </p:stCondLst>
                            <p:childTnLst>
                              <p:par>
                                <p:cTn id="61" presetID="10" presetClass="entr" presetSubtype="0" fill="hold" grpId="0"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1000"/>
                                        <p:tgtEl>
                                          <p:spTgt spid="18"/>
                                        </p:tgtEl>
                                      </p:cBhvr>
                                    </p:animEffect>
                                  </p:childTnLst>
                                </p:cTn>
                              </p:par>
                            </p:childTnLst>
                          </p:cTn>
                        </p:par>
                        <p:par>
                          <p:cTn id="64" fill="hold">
                            <p:stCondLst>
                              <p:cond delay="15000"/>
                            </p:stCondLst>
                            <p:childTnLst>
                              <p:par>
                                <p:cTn id="65" presetID="10" presetClass="entr" presetSubtype="0" fill="hold" grpId="0"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1000"/>
                                        <p:tgtEl>
                                          <p:spTgt spid="20"/>
                                        </p:tgtEl>
                                      </p:cBhvr>
                                    </p:animEffect>
                                  </p:childTnLst>
                                </p:cTn>
                              </p:par>
                            </p:childTnLst>
                          </p:cTn>
                        </p:par>
                        <p:par>
                          <p:cTn id="68" fill="hold">
                            <p:stCondLst>
                              <p:cond delay="16000"/>
                            </p:stCondLst>
                            <p:childTnLst>
                              <p:par>
                                <p:cTn id="69" presetID="10" presetClass="entr" presetSubtype="0" fill="hold" grpId="0" nodeType="after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1000"/>
                                        <p:tgtEl>
                                          <p:spTgt spid="19"/>
                                        </p:tgtEl>
                                      </p:cBhvr>
                                    </p:animEffect>
                                  </p:childTnLst>
                                </p:cTn>
                              </p:par>
                            </p:childTnLst>
                          </p:cTn>
                        </p:par>
                        <p:par>
                          <p:cTn id="72" fill="hold">
                            <p:stCondLst>
                              <p:cond delay="17000"/>
                            </p:stCondLst>
                            <p:childTnLst>
                              <p:par>
                                <p:cTn id="73" presetID="10" presetClass="entr" presetSubtype="0" fill="hold" grpId="0" nodeType="after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1000"/>
                                        <p:tgtEl>
                                          <p:spTgt spid="22"/>
                                        </p:tgtEl>
                                      </p:cBhvr>
                                    </p:animEffect>
                                  </p:childTnLst>
                                </p:cTn>
                              </p:par>
                            </p:childTnLst>
                          </p:cTn>
                        </p:par>
                        <p:par>
                          <p:cTn id="76" fill="hold">
                            <p:stCondLst>
                              <p:cond delay="18000"/>
                            </p:stCondLst>
                            <p:childTnLst>
                              <p:par>
                                <p:cTn id="77" presetID="10" presetClass="entr" presetSubtype="0" fill="hold" grpId="0" nodeType="after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1000"/>
                                        <p:tgtEl>
                                          <p:spTgt spid="23"/>
                                        </p:tgtEl>
                                      </p:cBhvr>
                                    </p:animEffect>
                                  </p:childTnLst>
                                </p:cTn>
                              </p:par>
                            </p:childTnLst>
                          </p:cTn>
                        </p:par>
                        <p:par>
                          <p:cTn id="80" fill="hold">
                            <p:stCondLst>
                              <p:cond delay="19000"/>
                            </p:stCondLst>
                            <p:childTnLst>
                              <p:par>
                                <p:cTn id="81" presetID="10" presetClass="entr" presetSubtype="0" fill="hold" grpId="0" nodeType="after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4" grpId="0"/>
      <p:bldP spid="15" grpId="0"/>
      <p:bldP spid="16" grpId="0"/>
      <p:bldP spid="17" grpId="0"/>
      <p:bldP spid="18" grpId="0"/>
      <p:bldP spid="19" grpId="0"/>
      <p:bldP spid="20" grpId="0"/>
      <p:bldP spid="21" grpId="0"/>
      <p:bldP spid="22" grpId="0"/>
      <p:bldP spid="23" grpId="0"/>
      <p:bldP spid="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71800" y="3124200"/>
            <a:ext cx="3448380" cy="584775"/>
          </a:xfrm>
          <a:prstGeom prst="rect">
            <a:avLst/>
          </a:prstGeom>
          <a:noFill/>
        </p:spPr>
        <p:txBody>
          <a:bodyPr wrap="none" rtlCol="0">
            <a:spAutoFit/>
          </a:bodyPr>
          <a:lstStyle/>
          <a:p>
            <a:pPr algn="ctr"/>
            <a:r>
              <a:rPr lang="en-US" sz="3200" dirty="0" smtClean="0"/>
              <a:t>December 25, 1991</a:t>
            </a:r>
            <a:endParaRPr lang="en-US" sz="3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38200" y="2133600"/>
            <a:ext cx="7010400" cy="923330"/>
          </a:xfrm>
          <a:prstGeom prst="rect">
            <a:avLst/>
          </a:prstGeom>
          <a:noFill/>
        </p:spPr>
        <p:txBody>
          <a:bodyPr wrap="square" rtlCol="0">
            <a:spAutoFit/>
          </a:bodyPr>
          <a:lstStyle/>
          <a:p>
            <a:r>
              <a:rPr lang="en-US" dirty="0" smtClean="0"/>
              <a:t>What country in their right mind would actively engage in any formal “clean conflict” with the US when you can potentially surpass your goals through small scale unofficial conflicts, espionage and/or terrorism? </a:t>
            </a:r>
            <a:endParaRPr lang="en-US" dirty="0"/>
          </a:p>
        </p:txBody>
      </p:sp>
      <p:sp>
        <p:nvSpPr>
          <p:cNvPr id="7" name="TextBox 6"/>
          <p:cNvSpPr txBox="1"/>
          <p:nvPr/>
        </p:nvSpPr>
        <p:spPr>
          <a:xfrm>
            <a:off x="914400" y="1143000"/>
            <a:ext cx="7329699" cy="369332"/>
          </a:xfrm>
          <a:prstGeom prst="rect">
            <a:avLst/>
          </a:prstGeom>
          <a:noFill/>
        </p:spPr>
        <p:txBody>
          <a:bodyPr wrap="none" rtlCol="0">
            <a:spAutoFit/>
          </a:bodyPr>
          <a:lstStyle/>
          <a:p>
            <a:r>
              <a:rPr lang="en-US" dirty="0" smtClean="0"/>
              <a:t>Post-Cold War Mindset - No nation was a credible threat to the U.S. anymore</a:t>
            </a:r>
            <a:endParaRPr lang="en-US" dirty="0"/>
          </a:p>
        </p:txBody>
      </p:sp>
      <p:sp>
        <p:nvSpPr>
          <p:cNvPr id="6" name="TextBox 5"/>
          <p:cNvSpPr txBox="1"/>
          <p:nvPr/>
        </p:nvSpPr>
        <p:spPr>
          <a:xfrm>
            <a:off x="838200" y="3352800"/>
            <a:ext cx="7772400" cy="923330"/>
          </a:xfrm>
          <a:prstGeom prst="rect">
            <a:avLst/>
          </a:prstGeom>
          <a:noFill/>
        </p:spPr>
        <p:txBody>
          <a:bodyPr wrap="square" rtlCol="0">
            <a:spAutoFit/>
          </a:bodyPr>
          <a:lstStyle/>
          <a:p>
            <a:r>
              <a:rPr lang="en-US" dirty="0" smtClean="0"/>
              <a:t>Our adversaries, both corporate and nation state, have become specialists at executing "Unclean Conflicts" against our business, innovation and defense infrastructure</a:t>
            </a:r>
            <a:endParaRPr lang="en-US" dirty="0"/>
          </a:p>
        </p:txBody>
      </p:sp>
      <p:sp>
        <p:nvSpPr>
          <p:cNvPr id="8" name="TextBox 7"/>
          <p:cNvSpPr txBox="1"/>
          <p:nvPr/>
        </p:nvSpPr>
        <p:spPr>
          <a:xfrm>
            <a:off x="838200" y="4572000"/>
            <a:ext cx="1830437" cy="369332"/>
          </a:xfrm>
          <a:prstGeom prst="rect">
            <a:avLst/>
          </a:prstGeom>
          <a:noFill/>
        </p:spPr>
        <p:txBody>
          <a:bodyPr wrap="none" rtlCol="0">
            <a:spAutoFit/>
          </a:bodyPr>
          <a:lstStyle/>
          <a:p>
            <a:r>
              <a:rPr lang="en-US" dirty="0" smtClean="0"/>
              <a:t>What Happened?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43000" y="2209800"/>
            <a:ext cx="7010400" cy="1200329"/>
          </a:xfrm>
          <a:prstGeom prst="rect">
            <a:avLst/>
          </a:prstGeom>
          <a:noFill/>
        </p:spPr>
        <p:txBody>
          <a:bodyPr wrap="square" rtlCol="0">
            <a:spAutoFit/>
          </a:bodyPr>
          <a:lstStyle/>
          <a:p>
            <a:r>
              <a:rPr lang="en-US" dirty="0" smtClean="0"/>
              <a:t>This mindset of the post Cold War environment naturally filtered into the DNA of our own industrial and corporate business culture – our business leaders, and perhaps to a certain extent, our innovators began thinking the same way</a:t>
            </a:r>
            <a:endParaRPr lang="en-US" dirty="0"/>
          </a:p>
        </p:txBody>
      </p:sp>
      <p:sp>
        <p:nvSpPr>
          <p:cNvPr id="5" name="TextBox 4"/>
          <p:cNvSpPr txBox="1"/>
          <p:nvPr/>
        </p:nvSpPr>
        <p:spPr>
          <a:xfrm>
            <a:off x="1143000" y="3733800"/>
            <a:ext cx="7010400" cy="923330"/>
          </a:xfrm>
          <a:prstGeom prst="rect">
            <a:avLst/>
          </a:prstGeom>
          <a:noFill/>
        </p:spPr>
        <p:txBody>
          <a:bodyPr wrap="square" rtlCol="0">
            <a:spAutoFit/>
          </a:bodyPr>
          <a:lstStyle/>
          <a:p>
            <a:r>
              <a:rPr lang="en-US" dirty="0" smtClean="0"/>
              <a:t>Our corporations have been trying to define how the rest of the world conducts business in the same way we as a country try to tell the rest of the world how to act and run themselves</a:t>
            </a:r>
            <a:endParaRPr lang="en-US" dirty="0"/>
          </a:p>
        </p:txBody>
      </p:sp>
      <p:sp>
        <p:nvSpPr>
          <p:cNvPr id="6" name="TextBox 5"/>
          <p:cNvSpPr txBox="1"/>
          <p:nvPr/>
        </p:nvSpPr>
        <p:spPr>
          <a:xfrm>
            <a:off x="1066800" y="1066800"/>
            <a:ext cx="1027397" cy="369332"/>
          </a:xfrm>
          <a:prstGeom prst="rect">
            <a:avLst/>
          </a:prstGeom>
          <a:noFill/>
        </p:spPr>
        <p:txBody>
          <a:bodyPr wrap="none" rtlCol="0">
            <a:spAutoFit/>
          </a:bodyPr>
          <a:lstStyle/>
          <a:p>
            <a:r>
              <a:rPr lang="en-US" dirty="0" smtClean="0"/>
              <a:t>Theory A</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0" y="2362200"/>
            <a:ext cx="7239000" cy="646331"/>
          </a:xfrm>
          <a:prstGeom prst="rect">
            <a:avLst/>
          </a:prstGeom>
          <a:noFill/>
        </p:spPr>
        <p:txBody>
          <a:bodyPr wrap="square" rtlCol="0">
            <a:spAutoFit/>
          </a:bodyPr>
          <a:lstStyle/>
          <a:p>
            <a:r>
              <a:rPr lang="en-US" dirty="0" smtClean="0"/>
              <a:t>Why spend billions of dollars developing technology when you can purchase stolen technology (or steal it) for a few millions dollars?*</a:t>
            </a:r>
            <a:endParaRPr lang="en-US" dirty="0"/>
          </a:p>
        </p:txBody>
      </p:sp>
      <p:sp>
        <p:nvSpPr>
          <p:cNvPr id="7" name="TextBox 6"/>
          <p:cNvSpPr txBox="1"/>
          <p:nvPr/>
        </p:nvSpPr>
        <p:spPr>
          <a:xfrm>
            <a:off x="914400" y="1066800"/>
            <a:ext cx="2325701" cy="369332"/>
          </a:xfrm>
          <a:prstGeom prst="rect">
            <a:avLst/>
          </a:prstGeom>
          <a:noFill/>
        </p:spPr>
        <p:txBody>
          <a:bodyPr wrap="none" rtlCol="0">
            <a:spAutoFit/>
          </a:bodyPr>
          <a:lstStyle/>
          <a:p>
            <a:r>
              <a:rPr lang="en-US" b="1" dirty="0" smtClean="0"/>
              <a:t>The Rest of the World:</a:t>
            </a:r>
            <a:endParaRPr lang="en-US" b="1" dirty="0"/>
          </a:p>
        </p:txBody>
      </p:sp>
      <p:sp>
        <p:nvSpPr>
          <p:cNvPr id="8" name="TextBox 7"/>
          <p:cNvSpPr txBox="1"/>
          <p:nvPr/>
        </p:nvSpPr>
        <p:spPr>
          <a:xfrm>
            <a:off x="457200" y="5410200"/>
            <a:ext cx="3337388" cy="369332"/>
          </a:xfrm>
          <a:prstGeom prst="rect">
            <a:avLst/>
          </a:prstGeom>
          <a:noFill/>
        </p:spPr>
        <p:txBody>
          <a:bodyPr wrap="none" rtlCol="0">
            <a:spAutoFit/>
          </a:bodyPr>
          <a:lstStyle/>
          <a:p>
            <a:r>
              <a:rPr lang="en-US" dirty="0" smtClean="0"/>
              <a:t>*</a:t>
            </a:r>
            <a:r>
              <a:rPr lang="en-US" dirty="0" err="1" smtClean="0"/>
              <a:t>Corman</a:t>
            </a:r>
            <a:r>
              <a:rPr lang="en-US" dirty="0" smtClean="0"/>
              <a:t>/</a:t>
            </a:r>
            <a:r>
              <a:rPr lang="en-US" dirty="0" err="1" smtClean="0"/>
              <a:t>Etue</a:t>
            </a:r>
            <a:r>
              <a:rPr lang="en-US" dirty="0" smtClean="0"/>
              <a:t> RSA talk &lt; inspired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47800" y="2514600"/>
            <a:ext cx="2370905" cy="369332"/>
          </a:xfrm>
          <a:prstGeom prst="rect">
            <a:avLst/>
          </a:prstGeom>
          <a:noFill/>
        </p:spPr>
        <p:txBody>
          <a:bodyPr wrap="none" rtlCol="0">
            <a:spAutoFit/>
          </a:bodyPr>
          <a:lstStyle/>
          <a:p>
            <a:r>
              <a:rPr lang="en-US" b="1" dirty="0" smtClean="0"/>
              <a:t>Organizational Entropy</a:t>
            </a:r>
            <a:endParaRPr lang="en-US" b="1" dirty="0"/>
          </a:p>
        </p:txBody>
      </p:sp>
      <p:sp>
        <p:nvSpPr>
          <p:cNvPr id="5" name="TextBox 4"/>
          <p:cNvSpPr txBox="1"/>
          <p:nvPr/>
        </p:nvSpPr>
        <p:spPr>
          <a:xfrm>
            <a:off x="1828800" y="4267200"/>
            <a:ext cx="6747616" cy="369332"/>
          </a:xfrm>
          <a:prstGeom prst="rect">
            <a:avLst/>
          </a:prstGeom>
          <a:noFill/>
        </p:spPr>
        <p:txBody>
          <a:bodyPr wrap="none" rtlCol="0">
            <a:spAutoFit/>
          </a:bodyPr>
          <a:lstStyle/>
          <a:p>
            <a:r>
              <a:rPr lang="en-US" dirty="0" smtClean="0"/>
              <a:t>(the natural result of assuming you are smarter than your adversaries)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90600" y="914400"/>
            <a:ext cx="1110369" cy="369332"/>
          </a:xfrm>
          <a:prstGeom prst="rect">
            <a:avLst/>
          </a:prstGeom>
          <a:noFill/>
        </p:spPr>
        <p:txBody>
          <a:bodyPr wrap="none" rtlCol="0">
            <a:spAutoFit/>
          </a:bodyPr>
          <a:lstStyle/>
          <a:p>
            <a:r>
              <a:rPr lang="en-US" dirty="0" smtClean="0"/>
              <a:t>Reaction?</a:t>
            </a:r>
            <a:endParaRPr lang="en-US" dirty="0"/>
          </a:p>
        </p:txBody>
      </p:sp>
      <p:sp>
        <p:nvSpPr>
          <p:cNvPr id="8" name="TextBox 7"/>
          <p:cNvSpPr txBox="1"/>
          <p:nvPr/>
        </p:nvSpPr>
        <p:spPr>
          <a:xfrm>
            <a:off x="838200" y="4495800"/>
            <a:ext cx="7162800" cy="923330"/>
          </a:xfrm>
          <a:prstGeom prst="rect">
            <a:avLst/>
          </a:prstGeom>
          <a:noFill/>
        </p:spPr>
        <p:txBody>
          <a:bodyPr wrap="square" rtlCol="0">
            <a:spAutoFit/>
          </a:bodyPr>
          <a:lstStyle/>
          <a:p>
            <a:r>
              <a:rPr lang="en-US" dirty="0" smtClean="0"/>
              <a:t>Irony – Big Business arrogance and the natural reaction to their Organizational Entropy has fueled a larger Big Business of product “solutions”</a:t>
            </a:r>
            <a:endParaRPr lang="en-US" dirty="0"/>
          </a:p>
        </p:txBody>
      </p:sp>
      <p:sp>
        <p:nvSpPr>
          <p:cNvPr id="5" name="TextBox 4"/>
          <p:cNvSpPr txBox="1"/>
          <p:nvPr/>
        </p:nvSpPr>
        <p:spPr>
          <a:xfrm>
            <a:off x="1295400" y="1981200"/>
            <a:ext cx="4854086" cy="369332"/>
          </a:xfrm>
          <a:prstGeom prst="rect">
            <a:avLst/>
          </a:prstGeom>
          <a:noFill/>
        </p:spPr>
        <p:txBody>
          <a:bodyPr wrap="none" rtlCol="0">
            <a:spAutoFit/>
          </a:bodyPr>
          <a:lstStyle/>
          <a:p>
            <a:r>
              <a:rPr lang="en-US" dirty="0" smtClean="0"/>
              <a:t>Buy more </a:t>
            </a:r>
            <a:r>
              <a:rPr lang="en-US" dirty="0" err="1" smtClean="0"/>
              <a:t>blinky</a:t>
            </a:r>
            <a:r>
              <a:rPr lang="en-US" dirty="0" smtClean="0"/>
              <a:t> lights (apologies to our sponsors)</a:t>
            </a:r>
            <a:endParaRPr lang="en-US" dirty="0"/>
          </a:p>
        </p:txBody>
      </p:sp>
      <p:sp>
        <p:nvSpPr>
          <p:cNvPr id="6" name="TextBox 5"/>
          <p:cNvSpPr txBox="1"/>
          <p:nvPr/>
        </p:nvSpPr>
        <p:spPr>
          <a:xfrm>
            <a:off x="1295400" y="2362200"/>
            <a:ext cx="1075936" cy="369332"/>
          </a:xfrm>
          <a:prstGeom prst="rect">
            <a:avLst/>
          </a:prstGeom>
          <a:noFill/>
        </p:spPr>
        <p:txBody>
          <a:bodyPr wrap="none" rtlCol="0">
            <a:spAutoFit/>
          </a:bodyPr>
          <a:lstStyle/>
          <a:p>
            <a:r>
              <a:rPr lang="en-US" dirty="0" err="1" smtClean="0"/>
              <a:t>Hackback</a:t>
            </a:r>
            <a:endParaRPr lang="en-US" dirty="0"/>
          </a:p>
        </p:txBody>
      </p:sp>
      <p:sp>
        <p:nvSpPr>
          <p:cNvPr id="7" name="TextBox 6"/>
          <p:cNvSpPr txBox="1"/>
          <p:nvPr/>
        </p:nvSpPr>
        <p:spPr>
          <a:xfrm>
            <a:off x="1295400" y="2743200"/>
            <a:ext cx="4232121" cy="369332"/>
          </a:xfrm>
          <a:prstGeom prst="rect">
            <a:avLst/>
          </a:prstGeom>
          <a:noFill/>
        </p:spPr>
        <p:txBody>
          <a:bodyPr wrap="none" rtlCol="0">
            <a:spAutoFit/>
          </a:bodyPr>
          <a:lstStyle/>
          <a:p>
            <a:r>
              <a:rPr lang="en-US" dirty="0" smtClean="0"/>
              <a:t>Legislation (SOPA (thank you </a:t>
            </a:r>
            <a:r>
              <a:rPr lang="en-US" dirty="0" err="1" smtClean="0"/>
              <a:t>reddit</a:t>
            </a:r>
            <a:r>
              <a:rPr lang="en-US" dirty="0" smtClean="0"/>
              <a:t>), CISPA)</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9600" y="457200"/>
            <a:ext cx="1466042" cy="369332"/>
          </a:xfrm>
          <a:prstGeom prst="rect">
            <a:avLst/>
          </a:prstGeom>
          <a:noFill/>
        </p:spPr>
        <p:txBody>
          <a:bodyPr wrap="none" rtlCol="0">
            <a:spAutoFit/>
          </a:bodyPr>
          <a:lstStyle/>
          <a:p>
            <a:r>
              <a:rPr lang="en-US" dirty="0" err="1" smtClean="0"/>
              <a:t>InfoSec’s</a:t>
            </a:r>
            <a:r>
              <a:rPr lang="en-US" dirty="0" smtClean="0"/>
              <a:t> Role</a:t>
            </a:r>
            <a:endParaRPr lang="en-US" dirty="0"/>
          </a:p>
        </p:txBody>
      </p:sp>
      <p:sp>
        <p:nvSpPr>
          <p:cNvPr id="5" name="TextBox 4"/>
          <p:cNvSpPr txBox="1"/>
          <p:nvPr/>
        </p:nvSpPr>
        <p:spPr>
          <a:xfrm>
            <a:off x="1447800" y="1143000"/>
            <a:ext cx="5836598" cy="369332"/>
          </a:xfrm>
          <a:prstGeom prst="rect">
            <a:avLst/>
          </a:prstGeom>
          <a:noFill/>
        </p:spPr>
        <p:txBody>
          <a:bodyPr wrap="none" rtlCol="0">
            <a:spAutoFit/>
          </a:bodyPr>
          <a:lstStyle/>
          <a:p>
            <a:r>
              <a:rPr lang="en-US" dirty="0" smtClean="0"/>
              <a:t>Prevent the loss of both replaceable and irreplaceable data*</a:t>
            </a:r>
            <a:endParaRPr lang="en-US" dirty="0"/>
          </a:p>
        </p:txBody>
      </p:sp>
      <p:sp>
        <p:nvSpPr>
          <p:cNvPr id="6" name="TextBox 5"/>
          <p:cNvSpPr txBox="1"/>
          <p:nvPr/>
        </p:nvSpPr>
        <p:spPr>
          <a:xfrm>
            <a:off x="1447800" y="1752600"/>
            <a:ext cx="1840825" cy="369332"/>
          </a:xfrm>
          <a:prstGeom prst="rect">
            <a:avLst/>
          </a:prstGeom>
          <a:noFill/>
        </p:spPr>
        <p:txBody>
          <a:bodyPr wrap="none" rtlCol="0">
            <a:spAutoFit/>
          </a:bodyPr>
          <a:lstStyle/>
          <a:p>
            <a:r>
              <a:rPr lang="en-US" dirty="0" smtClean="0"/>
              <a:t>Protect the Brand</a:t>
            </a:r>
            <a:endParaRPr lang="en-US" dirty="0"/>
          </a:p>
        </p:txBody>
      </p:sp>
      <p:sp>
        <p:nvSpPr>
          <p:cNvPr id="7" name="TextBox 6"/>
          <p:cNvSpPr txBox="1"/>
          <p:nvPr/>
        </p:nvSpPr>
        <p:spPr>
          <a:xfrm>
            <a:off x="1447800" y="1447800"/>
            <a:ext cx="2050626" cy="369332"/>
          </a:xfrm>
          <a:prstGeom prst="rect">
            <a:avLst/>
          </a:prstGeom>
          <a:noFill/>
        </p:spPr>
        <p:txBody>
          <a:bodyPr wrap="none" rtlCol="0">
            <a:spAutoFit/>
          </a:bodyPr>
          <a:lstStyle/>
          <a:p>
            <a:r>
              <a:rPr lang="en-US" dirty="0" smtClean="0"/>
              <a:t>Promote Innovation</a:t>
            </a:r>
            <a:endParaRPr lang="en-US" dirty="0"/>
          </a:p>
        </p:txBody>
      </p:sp>
      <p:sp>
        <p:nvSpPr>
          <p:cNvPr id="15" name="TextBox 14"/>
          <p:cNvSpPr txBox="1"/>
          <p:nvPr/>
        </p:nvSpPr>
        <p:spPr>
          <a:xfrm>
            <a:off x="457200" y="5486400"/>
            <a:ext cx="4141518" cy="369332"/>
          </a:xfrm>
          <a:prstGeom prst="rect">
            <a:avLst/>
          </a:prstGeom>
          <a:noFill/>
        </p:spPr>
        <p:txBody>
          <a:bodyPr wrap="none" rtlCol="0">
            <a:spAutoFit/>
          </a:bodyPr>
          <a:lstStyle/>
          <a:p>
            <a:r>
              <a:rPr lang="en-US" dirty="0" smtClean="0"/>
              <a:t>* More </a:t>
            </a:r>
            <a:r>
              <a:rPr lang="en-US" dirty="0" err="1" smtClean="0"/>
              <a:t>Corman</a:t>
            </a:r>
            <a:r>
              <a:rPr lang="en-US" dirty="0" smtClean="0"/>
              <a:t>/Cognitive Dissidents blog</a:t>
            </a:r>
            <a:endParaRPr lang="en-US" dirty="0"/>
          </a:p>
        </p:txBody>
      </p:sp>
      <p:sp>
        <p:nvSpPr>
          <p:cNvPr id="16" name="TextBox 15"/>
          <p:cNvSpPr txBox="1"/>
          <p:nvPr/>
        </p:nvSpPr>
        <p:spPr>
          <a:xfrm>
            <a:off x="4038600" y="3352800"/>
            <a:ext cx="4708725" cy="369332"/>
          </a:xfrm>
          <a:prstGeom prst="rect">
            <a:avLst/>
          </a:prstGeom>
          <a:noFill/>
        </p:spPr>
        <p:txBody>
          <a:bodyPr wrap="none" rtlCol="0">
            <a:spAutoFit/>
          </a:bodyPr>
          <a:lstStyle/>
          <a:p>
            <a:r>
              <a:rPr lang="en-US" dirty="0" smtClean="0"/>
              <a:t>What is the organization’s business critical data?</a:t>
            </a:r>
            <a:endParaRPr lang="en-US" dirty="0"/>
          </a:p>
        </p:txBody>
      </p:sp>
      <p:sp>
        <p:nvSpPr>
          <p:cNvPr id="17" name="TextBox 16"/>
          <p:cNvSpPr txBox="1"/>
          <p:nvPr/>
        </p:nvSpPr>
        <p:spPr>
          <a:xfrm>
            <a:off x="4876800" y="3962400"/>
            <a:ext cx="3870227" cy="369332"/>
          </a:xfrm>
          <a:prstGeom prst="rect">
            <a:avLst/>
          </a:prstGeom>
          <a:noFill/>
        </p:spPr>
        <p:txBody>
          <a:bodyPr wrap="none" rtlCol="0">
            <a:spAutoFit/>
          </a:bodyPr>
          <a:lstStyle/>
          <a:p>
            <a:r>
              <a:rPr lang="en-US" dirty="0" smtClean="0"/>
              <a:t>Who else might find value in that data?</a:t>
            </a:r>
            <a:endParaRPr lang="en-US" dirty="0"/>
          </a:p>
        </p:txBody>
      </p:sp>
      <p:sp>
        <p:nvSpPr>
          <p:cNvPr id="19" name="TextBox 18"/>
          <p:cNvSpPr txBox="1"/>
          <p:nvPr/>
        </p:nvSpPr>
        <p:spPr>
          <a:xfrm>
            <a:off x="5257800" y="3657600"/>
            <a:ext cx="3490571" cy="369332"/>
          </a:xfrm>
          <a:prstGeom prst="rect">
            <a:avLst/>
          </a:prstGeom>
          <a:noFill/>
        </p:spPr>
        <p:txBody>
          <a:bodyPr wrap="none" rtlCol="0">
            <a:spAutoFit/>
          </a:bodyPr>
          <a:lstStyle/>
          <a:p>
            <a:r>
              <a:rPr lang="en-US" dirty="0" smtClean="0"/>
              <a:t>Where does that data actually live?</a:t>
            </a:r>
            <a:endParaRPr lang="en-US" dirty="0"/>
          </a:p>
        </p:txBody>
      </p:sp>
      <p:sp>
        <p:nvSpPr>
          <p:cNvPr id="20" name="TextBox 19"/>
          <p:cNvSpPr txBox="1"/>
          <p:nvPr/>
        </p:nvSpPr>
        <p:spPr>
          <a:xfrm>
            <a:off x="4495800" y="3048000"/>
            <a:ext cx="4282070" cy="369332"/>
          </a:xfrm>
          <a:prstGeom prst="rect">
            <a:avLst/>
          </a:prstGeom>
          <a:noFill/>
        </p:spPr>
        <p:txBody>
          <a:bodyPr wrap="none" rtlCol="0">
            <a:spAutoFit/>
          </a:bodyPr>
          <a:lstStyle/>
          <a:p>
            <a:r>
              <a:rPr lang="en-US" dirty="0" smtClean="0"/>
              <a:t>What are the business initiatives and goals?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1000"/>
                                        <p:tgtEl>
                                          <p:spTgt spid="15"/>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childTnLst>
                                </p:cTn>
                              </p:par>
                            </p:childTnLst>
                          </p:cTn>
                        </p:par>
                        <p:par>
                          <p:cTn id="15" fill="hold">
                            <p:stCondLst>
                              <p:cond delay="200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2000"/>
                                        <p:tgtEl>
                                          <p:spTgt spid="20"/>
                                        </p:tgtEl>
                                      </p:cBhvr>
                                    </p:animEffect>
                                  </p:childTnLst>
                                </p:cTn>
                              </p:par>
                            </p:childTnLst>
                          </p:cTn>
                        </p:par>
                        <p:par>
                          <p:cTn id="24" fill="hold">
                            <p:stCondLst>
                              <p:cond delay="200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2000"/>
                                        <p:tgtEl>
                                          <p:spTgt spid="19"/>
                                        </p:tgtEl>
                                      </p:cBhvr>
                                    </p:animEffect>
                                  </p:childTnLst>
                                </p:cTn>
                              </p:par>
                            </p:childTnLst>
                          </p:cTn>
                        </p:par>
                        <p:par>
                          <p:cTn id="32" fill="hold">
                            <p:stCondLst>
                              <p:cond delay="5000"/>
                            </p:stCondLst>
                            <p:childTnLst>
                              <p:par>
                                <p:cTn id="33" presetID="10" presetClass="entr" presetSubtype="0"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5" grpId="0"/>
      <p:bldP spid="16" grpId="0"/>
      <p:bldP spid="17" grpId="0"/>
      <p:bldP spid="19"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52600" y="1752600"/>
            <a:ext cx="2230867" cy="369332"/>
          </a:xfrm>
          <a:prstGeom prst="rect">
            <a:avLst/>
          </a:prstGeom>
          <a:noFill/>
        </p:spPr>
        <p:txBody>
          <a:bodyPr wrap="none" rtlCol="0">
            <a:spAutoFit/>
          </a:bodyPr>
          <a:lstStyle/>
          <a:p>
            <a:r>
              <a:rPr lang="en-US" dirty="0" smtClean="0"/>
              <a:t>Information Problems</a:t>
            </a:r>
            <a:endParaRPr lang="en-US" dirty="0"/>
          </a:p>
        </p:txBody>
      </p:sp>
      <p:sp>
        <p:nvSpPr>
          <p:cNvPr id="5" name="TextBox 4"/>
          <p:cNvSpPr txBox="1"/>
          <p:nvPr/>
        </p:nvSpPr>
        <p:spPr>
          <a:xfrm>
            <a:off x="3810000" y="3581400"/>
            <a:ext cx="4343400" cy="1200329"/>
          </a:xfrm>
          <a:prstGeom prst="rect">
            <a:avLst/>
          </a:prstGeom>
          <a:noFill/>
        </p:spPr>
        <p:txBody>
          <a:bodyPr wrap="square" rtlCol="0">
            <a:spAutoFit/>
          </a:bodyPr>
          <a:lstStyle/>
          <a:p>
            <a:r>
              <a:rPr lang="en-US" dirty="0" smtClean="0"/>
              <a:t>Everything we deal with in #</a:t>
            </a:r>
            <a:r>
              <a:rPr lang="en-US" dirty="0" err="1" smtClean="0"/>
              <a:t>infosec</a:t>
            </a:r>
            <a:r>
              <a:rPr lang="en-US" dirty="0" smtClean="0"/>
              <a:t> and #</a:t>
            </a:r>
            <a:r>
              <a:rPr lang="en-US" dirty="0" err="1" smtClean="0"/>
              <a:t>businessrisk</a:t>
            </a:r>
            <a:r>
              <a:rPr lang="en-US" dirty="0" smtClean="0"/>
              <a:t> is a subset of a bigger set of information problems, and inherently naturally part of larger issues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90600" y="2286000"/>
            <a:ext cx="7086600" cy="1754326"/>
          </a:xfrm>
          <a:prstGeom prst="rect">
            <a:avLst/>
          </a:prstGeom>
          <a:noFill/>
        </p:spPr>
        <p:txBody>
          <a:bodyPr wrap="square" rtlCol="0">
            <a:spAutoFit/>
          </a:bodyPr>
          <a:lstStyle/>
          <a:p>
            <a:r>
              <a:rPr lang="en-US" dirty="0" smtClean="0"/>
              <a:t>We have defined an environment right now where greed and policy is dictating business and society</a:t>
            </a:r>
          </a:p>
          <a:p>
            <a:endParaRPr lang="en-US" dirty="0" smtClean="0"/>
          </a:p>
          <a:p>
            <a:r>
              <a:rPr lang="en-US" dirty="0" smtClean="0"/>
              <a:t>The longer we accept these unnatural systems that our reactive policies have dictated, the larger the window exists for our adversaries to catch up and surpass us.</a:t>
            </a:r>
          </a:p>
        </p:txBody>
      </p:sp>
      <p:sp>
        <p:nvSpPr>
          <p:cNvPr id="7" name="TextBox 6"/>
          <p:cNvSpPr txBox="1"/>
          <p:nvPr/>
        </p:nvSpPr>
        <p:spPr>
          <a:xfrm>
            <a:off x="990600" y="1066800"/>
            <a:ext cx="2055499" cy="369332"/>
          </a:xfrm>
          <a:prstGeom prst="rect">
            <a:avLst/>
          </a:prstGeom>
          <a:noFill/>
        </p:spPr>
        <p:txBody>
          <a:bodyPr wrap="none" rtlCol="0">
            <a:spAutoFit/>
          </a:bodyPr>
          <a:lstStyle/>
          <a:p>
            <a:r>
              <a:rPr lang="en-US" dirty="0" smtClean="0"/>
              <a:t>The Unnatural State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66800" y="1066800"/>
            <a:ext cx="7162800" cy="1754326"/>
          </a:xfrm>
          <a:prstGeom prst="rect">
            <a:avLst/>
          </a:prstGeom>
          <a:noFill/>
        </p:spPr>
        <p:txBody>
          <a:bodyPr wrap="square" rtlCol="0">
            <a:spAutoFit/>
          </a:bodyPr>
          <a:lstStyle/>
          <a:p>
            <a:r>
              <a:rPr lang="en-US" dirty="0" smtClean="0"/>
              <a:t>“Organizations must learn to live in a world where less and less information CAN be kept secret, and where secret information will remain secret for less and less time”</a:t>
            </a:r>
          </a:p>
          <a:p>
            <a:endParaRPr lang="en-US" dirty="0" smtClean="0"/>
          </a:p>
          <a:p>
            <a:r>
              <a:rPr lang="en-US" dirty="0" smtClean="0"/>
              <a:t>-Joel Brenner</a:t>
            </a:r>
          </a:p>
          <a:p>
            <a:r>
              <a:rPr lang="en-US" dirty="0" smtClean="0"/>
              <a:t>America the Vulnerable</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0" y="762000"/>
            <a:ext cx="1317348" cy="369332"/>
          </a:xfrm>
          <a:prstGeom prst="rect">
            <a:avLst/>
          </a:prstGeom>
          <a:noFill/>
        </p:spPr>
        <p:txBody>
          <a:bodyPr wrap="none" rtlCol="0">
            <a:spAutoFit/>
          </a:bodyPr>
          <a:lstStyle/>
          <a:p>
            <a:r>
              <a:rPr lang="en-US" dirty="0" smtClean="0"/>
              <a:t>Adaptability</a:t>
            </a:r>
            <a:endParaRPr lang="en-US" dirty="0"/>
          </a:p>
        </p:txBody>
      </p:sp>
      <p:sp>
        <p:nvSpPr>
          <p:cNvPr id="5" name="TextBox 4"/>
          <p:cNvSpPr txBox="1"/>
          <p:nvPr/>
        </p:nvSpPr>
        <p:spPr>
          <a:xfrm>
            <a:off x="914400" y="2286000"/>
            <a:ext cx="6248400" cy="923330"/>
          </a:xfrm>
          <a:prstGeom prst="rect">
            <a:avLst/>
          </a:prstGeom>
          <a:noFill/>
        </p:spPr>
        <p:txBody>
          <a:bodyPr wrap="square" rtlCol="0">
            <a:spAutoFit/>
          </a:bodyPr>
          <a:lstStyle/>
          <a:p>
            <a:r>
              <a:rPr lang="en-US" dirty="0" smtClean="0"/>
              <a:t>2012 DBIR states that 92% of breaches went undetected (estimates, unclear of sources). Better detection may not be the right answer</a:t>
            </a:r>
            <a:endParaRPr lang="en-US" dirty="0"/>
          </a:p>
        </p:txBody>
      </p:sp>
      <p:sp>
        <p:nvSpPr>
          <p:cNvPr id="6" name="TextBox 5"/>
          <p:cNvSpPr txBox="1"/>
          <p:nvPr/>
        </p:nvSpPr>
        <p:spPr>
          <a:xfrm>
            <a:off x="914400" y="3810000"/>
            <a:ext cx="5651996" cy="369332"/>
          </a:xfrm>
          <a:prstGeom prst="rect">
            <a:avLst/>
          </a:prstGeom>
          <a:noFill/>
        </p:spPr>
        <p:txBody>
          <a:bodyPr wrap="none" rtlCol="0">
            <a:spAutoFit/>
          </a:bodyPr>
          <a:lstStyle/>
          <a:p>
            <a:r>
              <a:rPr lang="en-US" dirty="0" smtClean="0"/>
              <a:t>Adding more or improving existing systems is not adapting</a:t>
            </a:r>
            <a:endParaRPr lang="en-US" dirty="0"/>
          </a:p>
        </p:txBody>
      </p:sp>
      <p:sp>
        <p:nvSpPr>
          <p:cNvPr id="7" name="TextBox 6"/>
          <p:cNvSpPr txBox="1"/>
          <p:nvPr/>
        </p:nvSpPr>
        <p:spPr>
          <a:xfrm>
            <a:off x="2743200" y="5791200"/>
            <a:ext cx="3964803" cy="369332"/>
          </a:xfrm>
          <a:prstGeom prst="rect">
            <a:avLst/>
          </a:prstGeom>
          <a:noFill/>
        </p:spPr>
        <p:txBody>
          <a:bodyPr wrap="none" rtlCol="0">
            <a:spAutoFit/>
          </a:bodyPr>
          <a:lstStyle/>
          <a:p>
            <a:r>
              <a:rPr lang="en-US" dirty="0" smtClean="0"/>
              <a:t>Learning from the Octopus, </a:t>
            </a:r>
            <a:r>
              <a:rPr lang="en-US" dirty="0" err="1" smtClean="0"/>
              <a:t>Rafe</a:t>
            </a:r>
            <a:r>
              <a:rPr lang="en-US" dirty="0" smtClean="0"/>
              <a:t> </a:t>
            </a:r>
            <a:r>
              <a:rPr lang="en-US" dirty="0" err="1" smtClean="0"/>
              <a:t>Sagarin</a:t>
            </a:r>
            <a:endParaRPr lang="en-US" dirty="0"/>
          </a:p>
        </p:txBody>
      </p:sp>
      <p:sp>
        <p:nvSpPr>
          <p:cNvPr id="8" name="TextBox 7"/>
          <p:cNvSpPr txBox="1"/>
          <p:nvPr/>
        </p:nvSpPr>
        <p:spPr>
          <a:xfrm>
            <a:off x="914400" y="4343400"/>
            <a:ext cx="5791199" cy="646331"/>
          </a:xfrm>
          <a:prstGeom prst="rect">
            <a:avLst/>
          </a:prstGeom>
          <a:noFill/>
        </p:spPr>
        <p:txBody>
          <a:bodyPr wrap="square" rtlCol="0">
            <a:spAutoFit/>
          </a:bodyPr>
          <a:lstStyle/>
          <a:p>
            <a:r>
              <a:rPr lang="en-US" dirty="0" smtClean="0"/>
              <a:t>Adaptation arises from leaving (or being forced from) your comfort zone.</a:t>
            </a:r>
            <a:endParaRPr lang="en-US" dirty="0"/>
          </a:p>
        </p:txBody>
      </p:sp>
      <p:sp>
        <p:nvSpPr>
          <p:cNvPr id="9" name="TextBox 8"/>
          <p:cNvSpPr txBox="1"/>
          <p:nvPr/>
        </p:nvSpPr>
        <p:spPr>
          <a:xfrm>
            <a:off x="914400" y="3276600"/>
            <a:ext cx="1525674" cy="369332"/>
          </a:xfrm>
          <a:prstGeom prst="rect">
            <a:avLst/>
          </a:prstGeom>
          <a:noFill/>
        </p:spPr>
        <p:txBody>
          <a:bodyPr wrap="none" rtlCol="0">
            <a:spAutoFit/>
          </a:bodyPr>
          <a:lstStyle/>
          <a:p>
            <a:r>
              <a:rPr lang="en-US" dirty="0" smtClean="0"/>
              <a:t>Firewalls? AV?</a:t>
            </a:r>
            <a:endParaRPr lang="en-US" dirty="0"/>
          </a:p>
        </p:txBody>
      </p:sp>
      <p:pic>
        <p:nvPicPr>
          <p:cNvPr id="10" name="Picture 9" descr="learinginfromtheoctopus.jpg"/>
          <p:cNvPicPr>
            <a:picLocks noChangeAspect="1"/>
          </p:cNvPicPr>
          <p:nvPr/>
        </p:nvPicPr>
        <p:blipFill>
          <a:blip r:embed="rId3" cstate="print"/>
          <a:stretch>
            <a:fillRect/>
          </a:stretch>
        </p:blipFill>
        <p:spPr>
          <a:xfrm>
            <a:off x="6934200" y="3810000"/>
            <a:ext cx="1733550" cy="26384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0" y="762000"/>
            <a:ext cx="2197909" cy="369332"/>
          </a:xfrm>
          <a:prstGeom prst="rect">
            <a:avLst/>
          </a:prstGeom>
          <a:noFill/>
        </p:spPr>
        <p:txBody>
          <a:bodyPr wrap="none" rtlCol="0">
            <a:spAutoFit/>
          </a:bodyPr>
          <a:lstStyle/>
          <a:p>
            <a:r>
              <a:rPr lang="en-US" dirty="0" smtClean="0"/>
              <a:t>Adaptability (</a:t>
            </a:r>
            <a:r>
              <a:rPr lang="en-US" dirty="0" err="1" smtClean="0"/>
              <a:t>Sagarin</a:t>
            </a:r>
            <a:r>
              <a:rPr lang="en-US" dirty="0" smtClean="0"/>
              <a:t>)</a:t>
            </a:r>
            <a:endParaRPr lang="en-US" dirty="0"/>
          </a:p>
        </p:txBody>
      </p:sp>
      <p:sp>
        <p:nvSpPr>
          <p:cNvPr id="5" name="TextBox 4"/>
          <p:cNvSpPr txBox="1"/>
          <p:nvPr/>
        </p:nvSpPr>
        <p:spPr>
          <a:xfrm>
            <a:off x="1219200" y="1676400"/>
            <a:ext cx="6605654" cy="369332"/>
          </a:xfrm>
          <a:prstGeom prst="rect">
            <a:avLst/>
          </a:prstGeom>
          <a:noFill/>
        </p:spPr>
        <p:txBody>
          <a:bodyPr wrap="none" rtlCol="0">
            <a:spAutoFit/>
          </a:bodyPr>
          <a:lstStyle/>
          <a:p>
            <a:r>
              <a:rPr lang="en-US" dirty="0" smtClean="0"/>
              <a:t>The benefits of Decentralized and Distributed organizational systems</a:t>
            </a:r>
            <a:endParaRPr lang="en-US" dirty="0"/>
          </a:p>
        </p:txBody>
      </p:sp>
      <p:sp>
        <p:nvSpPr>
          <p:cNvPr id="6" name="TextBox 5"/>
          <p:cNvSpPr txBox="1"/>
          <p:nvPr/>
        </p:nvSpPr>
        <p:spPr>
          <a:xfrm>
            <a:off x="1981200" y="2133600"/>
            <a:ext cx="1734001" cy="369332"/>
          </a:xfrm>
          <a:prstGeom prst="rect">
            <a:avLst/>
          </a:prstGeom>
          <a:noFill/>
        </p:spPr>
        <p:txBody>
          <a:bodyPr wrap="none" rtlCol="0">
            <a:spAutoFit/>
          </a:bodyPr>
          <a:lstStyle/>
          <a:p>
            <a:r>
              <a:rPr lang="en-US" dirty="0" smtClean="0"/>
              <a:t>Multiple sensors</a:t>
            </a:r>
            <a:endParaRPr lang="en-US" dirty="0"/>
          </a:p>
        </p:txBody>
      </p:sp>
      <p:sp>
        <p:nvSpPr>
          <p:cNvPr id="7" name="TextBox 6"/>
          <p:cNvSpPr txBox="1"/>
          <p:nvPr/>
        </p:nvSpPr>
        <p:spPr>
          <a:xfrm>
            <a:off x="2209800" y="2438400"/>
            <a:ext cx="2527487" cy="369332"/>
          </a:xfrm>
          <a:prstGeom prst="rect">
            <a:avLst/>
          </a:prstGeom>
          <a:noFill/>
        </p:spPr>
        <p:txBody>
          <a:bodyPr wrap="none" rtlCol="0">
            <a:spAutoFit/>
          </a:bodyPr>
          <a:lstStyle/>
          <a:p>
            <a:r>
              <a:rPr lang="en-US" dirty="0" smtClean="0"/>
              <a:t>No preconceived notions</a:t>
            </a:r>
            <a:endParaRPr lang="en-US" dirty="0"/>
          </a:p>
        </p:txBody>
      </p:sp>
      <p:sp>
        <p:nvSpPr>
          <p:cNvPr id="8" name="TextBox 7"/>
          <p:cNvSpPr txBox="1"/>
          <p:nvPr/>
        </p:nvSpPr>
        <p:spPr>
          <a:xfrm>
            <a:off x="2438400" y="2743200"/>
            <a:ext cx="1737463" cy="369332"/>
          </a:xfrm>
          <a:prstGeom prst="rect">
            <a:avLst/>
          </a:prstGeom>
          <a:noFill/>
        </p:spPr>
        <p:txBody>
          <a:bodyPr wrap="none" rtlCol="0">
            <a:spAutoFit/>
          </a:bodyPr>
          <a:lstStyle/>
          <a:p>
            <a:r>
              <a:rPr lang="en-US" dirty="0" smtClean="0"/>
              <a:t>Specialized tasks</a:t>
            </a:r>
            <a:endParaRPr lang="en-US" dirty="0"/>
          </a:p>
        </p:txBody>
      </p:sp>
      <p:sp>
        <p:nvSpPr>
          <p:cNvPr id="9" name="TextBox 8"/>
          <p:cNvSpPr txBox="1"/>
          <p:nvPr/>
        </p:nvSpPr>
        <p:spPr>
          <a:xfrm>
            <a:off x="1066800" y="4038600"/>
            <a:ext cx="2946384" cy="369332"/>
          </a:xfrm>
          <a:prstGeom prst="rect">
            <a:avLst/>
          </a:prstGeom>
          <a:noFill/>
        </p:spPr>
        <p:txBody>
          <a:bodyPr wrap="none" rtlCol="0">
            <a:spAutoFit/>
          </a:bodyPr>
          <a:lstStyle/>
          <a:p>
            <a:r>
              <a:rPr lang="en-US" dirty="0" smtClean="0"/>
              <a:t>Adaptable #Success requires</a:t>
            </a:r>
            <a:endParaRPr lang="en-US" dirty="0"/>
          </a:p>
        </p:txBody>
      </p:sp>
      <p:sp>
        <p:nvSpPr>
          <p:cNvPr id="10" name="TextBox 9"/>
          <p:cNvSpPr txBox="1"/>
          <p:nvPr/>
        </p:nvSpPr>
        <p:spPr>
          <a:xfrm>
            <a:off x="1981200" y="4572000"/>
            <a:ext cx="1266372" cy="369332"/>
          </a:xfrm>
          <a:prstGeom prst="rect">
            <a:avLst/>
          </a:prstGeom>
          <a:noFill/>
        </p:spPr>
        <p:txBody>
          <a:bodyPr wrap="none" rtlCol="0">
            <a:spAutoFit/>
          </a:bodyPr>
          <a:lstStyle/>
          <a:p>
            <a:r>
              <a:rPr lang="en-US" dirty="0" smtClean="0"/>
              <a:t>A challenge</a:t>
            </a:r>
            <a:endParaRPr lang="en-US" dirty="0"/>
          </a:p>
        </p:txBody>
      </p:sp>
      <p:sp>
        <p:nvSpPr>
          <p:cNvPr id="11" name="TextBox 10"/>
          <p:cNvSpPr txBox="1"/>
          <p:nvPr/>
        </p:nvSpPr>
        <p:spPr>
          <a:xfrm>
            <a:off x="2209800" y="4876800"/>
            <a:ext cx="1989968" cy="369332"/>
          </a:xfrm>
          <a:prstGeom prst="rect">
            <a:avLst/>
          </a:prstGeom>
          <a:noFill/>
        </p:spPr>
        <p:txBody>
          <a:bodyPr wrap="none" rtlCol="0">
            <a:spAutoFit/>
          </a:bodyPr>
          <a:lstStyle/>
          <a:p>
            <a:r>
              <a:rPr lang="en-US" dirty="0" smtClean="0"/>
              <a:t>Available resources</a:t>
            </a:r>
            <a:endParaRPr lang="en-US" dirty="0"/>
          </a:p>
        </p:txBody>
      </p:sp>
      <p:sp>
        <p:nvSpPr>
          <p:cNvPr id="12" name="TextBox 11"/>
          <p:cNvSpPr txBox="1"/>
          <p:nvPr/>
        </p:nvSpPr>
        <p:spPr>
          <a:xfrm>
            <a:off x="2514600" y="5181600"/>
            <a:ext cx="3748975" cy="369332"/>
          </a:xfrm>
          <a:prstGeom prst="rect">
            <a:avLst/>
          </a:prstGeom>
          <a:noFill/>
        </p:spPr>
        <p:txBody>
          <a:bodyPr wrap="none" rtlCol="0">
            <a:spAutoFit/>
          </a:bodyPr>
          <a:lstStyle/>
          <a:p>
            <a:r>
              <a:rPr lang="en-US" dirty="0" smtClean="0"/>
              <a:t>Information filtering and prioritization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childTnLst>
                                </p:cTn>
                              </p:par>
                            </p:childTnLst>
                          </p:cTn>
                        </p:par>
                        <p:par>
                          <p:cTn id="33" fill="hold">
                            <p:stCondLst>
                              <p:cond delay="30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990600"/>
            <a:ext cx="1105174" cy="369332"/>
          </a:xfrm>
          <a:prstGeom prst="rect">
            <a:avLst/>
          </a:prstGeom>
          <a:noFill/>
        </p:spPr>
        <p:txBody>
          <a:bodyPr wrap="none" rtlCol="0">
            <a:spAutoFit/>
          </a:bodyPr>
          <a:lstStyle/>
          <a:p>
            <a:r>
              <a:rPr lang="en-US" dirty="0" smtClean="0"/>
              <a:t>Symbiosis</a:t>
            </a:r>
            <a:endParaRPr lang="en-US" dirty="0"/>
          </a:p>
        </p:txBody>
      </p:sp>
      <p:sp>
        <p:nvSpPr>
          <p:cNvPr id="5" name="TextBox 4"/>
          <p:cNvSpPr txBox="1"/>
          <p:nvPr/>
        </p:nvSpPr>
        <p:spPr>
          <a:xfrm>
            <a:off x="1600200" y="1752600"/>
            <a:ext cx="4267200" cy="369332"/>
          </a:xfrm>
          <a:prstGeom prst="rect">
            <a:avLst/>
          </a:prstGeom>
          <a:noFill/>
        </p:spPr>
        <p:txBody>
          <a:bodyPr wrap="square" rtlCol="0">
            <a:spAutoFit/>
          </a:bodyPr>
          <a:lstStyle/>
          <a:p>
            <a:r>
              <a:rPr lang="en-US" dirty="0" smtClean="0"/>
              <a:t>A working relationship between organisms</a:t>
            </a:r>
            <a:endParaRPr lang="en-US" dirty="0"/>
          </a:p>
        </p:txBody>
      </p:sp>
      <p:sp>
        <p:nvSpPr>
          <p:cNvPr id="6" name="TextBox 5"/>
          <p:cNvSpPr txBox="1"/>
          <p:nvPr/>
        </p:nvSpPr>
        <p:spPr>
          <a:xfrm>
            <a:off x="1600200" y="2743200"/>
            <a:ext cx="5372496" cy="923330"/>
          </a:xfrm>
          <a:prstGeom prst="rect">
            <a:avLst/>
          </a:prstGeom>
          <a:noFill/>
        </p:spPr>
        <p:txBody>
          <a:bodyPr wrap="none" rtlCol="0">
            <a:spAutoFit/>
          </a:bodyPr>
          <a:lstStyle/>
          <a:p>
            <a:r>
              <a:rPr lang="en-US" dirty="0" err="1" smtClean="0"/>
              <a:t>Mutualistic</a:t>
            </a:r>
            <a:r>
              <a:rPr lang="en-US" dirty="0" smtClean="0"/>
              <a:t> - both parties benefit</a:t>
            </a:r>
          </a:p>
          <a:p>
            <a:r>
              <a:rPr lang="en-US" dirty="0" smtClean="0"/>
              <a:t>Commensalism - one party benefits, one is not affected</a:t>
            </a:r>
          </a:p>
          <a:p>
            <a:r>
              <a:rPr lang="en-US" dirty="0" smtClean="0"/>
              <a:t>Parasitic - one party benefits, one suffers</a:t>
            </a:r>
          </a:p>
        </p:txBody>
      </p:sp>
      <p:sp>
        <p:nvSpPr>
          <p:cNvPr id="7" name="TextBox 6"/>
          <p:cNvSpPr txBox="1"/>
          <p:nvPr/>
        </p:nvSpPr>
        <p:spPr>
          <a:xfrm>
            <a:off x="1600200" y="4191000"/>
            <a:ext cx="6781799" cy="923330"/>
          </a:xfrm>
          <a:prstGeom prst="rect">
            <a:avLst/>
          </a:prstGeom>
          <a:noFill/>
        </p:spPr>
        <p:txBody>
          <a:bodyPr wrap="square" rtlCol="0">
            <a:spAutoFit/>
          </a:bodyPr>
          <a:lstStyle/>
          <a:p>
            <a:r>
              <a:rPr lang="en-US" dirty="0" smtClean="0"/>
              <a:t>Symbiosis creates reactions that are more than just the sum of two           organisms working together - emergent properties that both transform the organism and transforms the environment around the organism</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990600"/>
            <a:ext cx="2664319" cy="369332"/>
          </a:xfrm>
          <a:prstGeom prst="rect">
            <a:avLst/>
          </a:prstGeom>
          <a:noFill/>
        </p:spPr>
        <p:txBody>
          <a:bodyPr wrap="none" rtlCol="0">
            <a:spAutoFit/>
          </a:bodyPr>
          <a:lstStyle/>
          <a:p>
            <a:r>
              <a:rPr lang="en-US" dirty="0" smtClean="0"/>
              <a:t>Natural Security Strategies</a:t>
            </a:r>
            <a:endParaRPr lang="en-US" dirty="0"/>
          </a:p>
        </p:txBody>
      </p:sp>
      <p:sp>
        <p:nvSpPr>
          <p:cNvPr id="5" name="TextBox 4"/>
          <p:cNvSpPr txBox="1"/>
          <p:nvPr/>
        </p:nvSpPr>
        <p:spPr>
          <a:xfrm>
            <a:off x="1600200" y="1752600"/>
            <a:ext cx="6781800" cy="2308324"/>
          </a:xfrm>
          <a:prstGeom prst="rect">
            <a:avLst/>
          </a:prstGeom>
          <a:noFill/>
        </p:spPr>
        <p:txBody>
          <a:bodyPr wrap="square" rtlCol="0">
            <a:spAutoFit/>
          </a:bodyPr>
          <a:lstStyle/>
          <a:p>
            <a:r>
              <a:rPr lang="en-US" dirty="0" smtClean="0"/>
              <a:t>1)  An organism needs to learn within its own lifetime and across generations</a:t>
            </a:r>
          </a:p>
          <a:p>
            <a:r>
              <a:rPr lang="en-US" dirty="0" smtClean="0"/>
              <a:t>2)  An organism needs a decentralized organizational system</a:t>
            </a:r>
          </a:p>
          <a:p>
            <a:r>
              <a:rPr lang="en-US" dirty="0" smtClean="0"/>
              <a:t>3)  It needs redundant features</a:t>
            </a:r>
          </a:p>
          <a:p>
            <a:r>
              <a:rPr lang="en-US" dirty="0" smtClean="0"/>
              <a:t>4)  It needs to keep running just to keep up</a:t>
            </a:r>
          </a:p>
          <a:p>
            <a:r>
              <a:rPr lang="en-US" dirty="0" smtClean="0"/>
              <a:t>5)  It needs to reduce uncertainty for itself and create uncertainty for its adversaries</a:t>
            </a:r>
          </a:p>
          <a:p>
            <a:r>
              <a:rPr lang="en-US" dirty="0" smtClean="0"/>
              <a:t>6)  If human, it needs to understand human behavior</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990600"/>
            <a:ext cx="2404313" cy="369332"/>
          </a:xfrm>
          <a:prstGeom prst="rect">
            <a:avLst/>
          </a:prstGeom>
          <a:noFill/>
        </p:spPr>
        <p:txBody>
          <a:bodyPr wrap="none" rtlCol="0">
            <a:spAutoFit/>
          </a:bodyPr>
          <a:lstStyle/>
          <a:p>
            <a:r>
              <a:rPr lang="en-US" dirty="0" smtClean="0"/>
              <a:t>The Problem with Walls</a:t>
            </a:r>
            <a:endParaRPr lang="en-US" dirty="0"/>
          </a:p>
        </p:txBody>
      </p:sp>
      <p:sp>
        <p:nvSpPr>
          <p:cNvPr id="5" name="TextBox 4"/>
          <p:cNvSpPr txBox="1"/>
          <p:nvPr/>
        </p:nvSpPr>
        <p:spPr>
          <a:xfrm>
            <a:off x="1600200" y="1752600"/>
            <a:ext cx="6781800" cy="1754326"/>
          </a:xfrm>
          <a:prstGeom prst="rect">
            <a:avLst/>
          </a:prstGeom>
          <a:noFill/>
        </p:spPr>
        <p:txBody>
          <a:bodyPr wrap="square" rtlCol="0">
            <a:spAutoFit/>
          </a:bodyPr>
          <a:lstStyle/>
          <a:p>
            <a:r>
              <a:rPr lang="en-US" dirty="0" smtClean="0"/>
              <a:t>So given the previous slide’s data, what is commonplace throughout most organizations? &lt; cheap “fixes”</a:t>
            </a:r>
          </a:p>
          <a:p>
            <a:endParaRPr lang="en-US" dirty="0" smtClean="0"/>
          </a:p>
          <a:p>
            <a:r>
              <a:rPr lang="en-US" dirty="0" smtClean="0"/>
              <a:t>Dikes, levees, firewalls - all examples static security incident reactions intended to protect against naturally dynamic threats. That eventually fail.</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990600"/>
            <a:ext cx="1914883" cy="369332"/>
          </a:xfrm>
          <a:prstGeom prst="rect">
            <a:avLst/>
          </a:prstGeom>
          <a:noFill/>
        </p:spPr>
        <p:txBody>
          <a:bodyPr wrap="none" rtlCol="0">
            <a:spAutoFit/>
          </a:bodyPr>
          <a:lstStyle/>
          <a:p>
            <a:r>
              <a:rPr lang="en-US" dirty="0" smtClean="0"/>
              <a:t>The Only Options?</a:t>
            </a:r>
            <a:endParaRPr lang="en-US" dirty="0"/>
          </a:p>
        </p:txBody>
      </p:sp>
      <p:sp>
        <p:nvSpPr>
          <p:cNvPr id="5" name="TextBox 4"/>
          <p:cNvSpPr txBox="1"/>
          <p:nvPr/>
        </p:nvSpPr>
        <p:spPr>
          <a:xfrm>
            <a:off x="1600200" y="1752600"/>
            <a:ext cx="6781800" cy="1754326"/>
          </a:xfrm>
          <a:prstGeom prst="rect">
            <a:avLst/>
          </a:prstGeom>
          <a:noFill/>
        </p:spPr>
        <p:txBody>
          <a:bodyPr wrap="square" rtlCol="0">
            <a:spAutoFit/>
          </a:bodyPr>
          <a:lstStyle/>
          <a:p>
            <a:r>
              <a:rPr lang="en-US" dirty="0" smtClean="0"/>
              <a:t>But either leaving things in their natural state or building artificial barriers can’t be our only options. </a:t>
            </a:r>
          </a:p>
          <a:p>
            <a:endParaRPr lang="en-US" dirty="0" smtClean="0"/>
          </a:p>
          <a:p>
            <a:r>
              <a:rPr lang="en-US" dirty="0" smtClean="0"/>
              <a:t>How can we build more natural and living security systems?</a:t>
            </a:r>
          </a:p>
          <a:p>
            <a:endParaRPr lang="en-US" dirty="0" smtClean="0"/>
          </a:p>
          <a:p>
            <a:r>
              <a:rPr lang="en-US" dirty="0" smtClean="0"/>
              <a:t>But aren’t we humans exceptionally adaptable?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990600"/>
            <a:ext cx="2200795" cy="369332"/>
          </a:xfrm>
          <a:prstGeom prst="rect">
            <a:avLst/>
          </a:prstGeom>
          <a:noFill/>
        </p:spPr>
        <p:txBody>
          <a:bodyPr wrap="none" rtlCol="0">
            <a:spAutoFit/>
          </a:bodyPr>
          <a:lstStyle/>
          <a:p>
            <a:r>
              <a:rPr lang="en-US" dirty="0" smtClean="0"/>
              <a:t>The Big Contradiction</a:t>
            </a:r>
            <a:endParaRPr lang="en-US" dirty="0"/>
          </a:p>
        </p:txBody>
      </p:sp>
      <p:sp>
        <p:nvSpPr>
          <p:cNvPr id="5" name="TextBox 4"/>
          <p:cNvSpPr txBox="1"/>
          <p:nvPr/>
        </p:nvSpPr>
        <p:spPr>
          <a:xfrm>
            <a:off x="1600200" y="1752600"/>
            <a:ext cx="6781800" cy="2585323"/>
          </a:xfrm>
          <a:prstGeom prst="rect">
            <a:avLst/>
          </a:prstGeom>
          <a:noFill/>
        </p:spPr>
        <p:txBody>
          <a:bodyPr wrap="square" rtlCol="0">
            <a:spAutoFit/>
          </a:bodyPr>
          <a:lstStyle/>
          <a:p>
            <a:r>
              <a:rPr lang="en-US" dirty="0" smtClean="0"/>
              <a:t>How can we as amazingly adaptable individual organisms have created systems and institutions so</a:t>
            </a:r>
            <a:r>
              <a:rPr lang="en-US" i="1" dirty="0" smtClean="0"/>
              <a:t> </a:t>
            </a:r>
            <a:r>
              <a:rPr lang="en-US" i="1" u="sng" dirty="0" err="1" smtClean="0"/>
              <a:t>nonadaptable</a:t>
            </a:r>
            <a:r>
              <a:rPr lang="en-US" i="1" dirty="0" smtClean="0"/>
              <a:t>?</a:t>
            </a:r>
            <a:endParaRPr lang="en-US" dirty="0" smtClean="0"/>
          </a:p>
          <a:p>
            <a:endParaRPr lang="en-US" dirty="0" smtClean="0"/>
          </a:p>
          <a:p>
            <a:r>
              <a:rPr lang="en-US" dirty="0" smtClean="0"/>
              <a:t>Businesses, like all other systems, are built on synergistic cooperative arrangements that tend to be self regulating, not static</a:t>
            </a:r>
          </a:p>
          <a:p>
            <a:endParaRPr lang="en-US" dirty="0" smtClean="0"/>
          </a:p>
          <a:p>
            <a:r>
              <a:rPr lang="en-US" dirty="0" smtClean="0"/>
              <a:t>Yet we rarely leave our comfort zones unless we find ourselves in an emergency situation and then we once again show our amazing adaptability</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990600"/>
            <a:ext cx="1508426" cy="369332"/>
          </a:xfrm>
          <a:prstGeom prst="rect">
            <a:avLst/>
          </a:prstGeom>
          <a:noFill/>
        </p:spPr>
        <p:txBody>
          <a:bodyPr wrap="none" rtlCol="0">
            <a:spAutoFit/>
          </a:bodyPr>
          <a:lstStyle/>
          <a:p>
            <a:r>
              <a:rPr lang="en-US" dirty="0" smtClean="0"/>
              <a:t>The Challenge</a:t>
            </a:r>
            <a:endParaRPr lang="en-US" dirty="0"/>
          </a:p>
        </p:txBody>
      </p:sp>
      <p:sp>
        <p:nvSpPr>
          <p:cNvPr id="5" name="TextBox 4"/>
          <p:cNvSpPr txBox="1"/>
          <p:nvPr/>
        </p:nvSpPr>
        <p:spPr>
          <a:xfrm>
            <a:off x="1524000" y="1752600"/>
            <a:ext cx="6477000" cy="646331"/>
          </a:xfrm>
          <a:prstGeom prst="rect">
            <a:avLst/>
          </a:prstGeom>
          <a:noFill/>
        </p:spPr>
        <p:txBody>
          <a:bodyPr wrap="square" rtlCol="0">
            <a:spAutoFit/>
          </a:bodyPr>
          <a:lstStyle/>
          <a:p>
            <a:r>
              <a:rPr lang="en-US" dirty="0" smtClean="0"/>
              <a:t>How do we design systems that can deal with security problems and respond to them organically and automatically?</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990600"/>
            <a:ext cx="1920077" cy="369332"/>
          </a:xfrm>
          <a:prstGeom prst="rect">
            <a:avLst/>
          </a:prstGeom>
          <a:noFill/>
        </p:spPr>
        <p:txBody>
          <a:bodyPr wrap="none" rtlCol="0">
            <a:spAutoFit/>
          </a:bodyPr>
          <a:lstStyle/>
          <a:p>
            <a:r>
              <a:rPr lang="en-US" dirty="0" smtClean="0"/>
              <a:t>Information Usage</a:t>
            </a:r>
            <a:endParaRPr lang="en-US" dirty="0"/>
          </a:p>
        </p:txBody>
      </p:sp>
      <p:sp>
        <p:nvSpPr>
          <p:cNvPr id="5" name="TextBox 4"/>
          <p:cNvSpPr txBox="1"/>
          <p:nvPr/>
        </p:nvSpPr>
        <p:spPr>
          <a:xfrm>
            <a:off x="1524000" y="1752600"/>
            <a:ext cx="6477000" cy="3416320"/>
          </a:xfrm>
          <a:prstGeom prst="rect">
            <a:avLst/>
          </a:prstGeom>
          <a:noFill/>
        </p:spPr>
        <p:txBody>
          <a:bodyPr wrap="square" rtlCol="0">
            <a:spAutoFit/>
          </a:bodyPr>
          <a:lstStyle/>
          <a:p>
            <a:r>
              <a:rPr lang="en-US" dirty="0" smtClean="0"/>
              <a:t> Information use and sharing can be as essential to survival as any other adaptation</a:t>
            </a:r>
            <a:br>
              <a:rPr lang="en-US" dirty="0" smtClean="0"/>
            </a:br>
            <a:endParaRPr lang="en-US" dirty="0" smtClean="0"/>
          </a:p>
          <a:p>
            <a:r>
              <a:rPr lang="en-US" dirty="0" smtClean="0"/>
              <a:t>Both a key goal and a resultant outcome of using information in survival situations is to create or reduce uncertainty</a:t>
            </a:r>
            <a:br>
              <a:rPr lang="en-US" dirty="0" smtClean="0"/>
            </a:br>
            <a:endParaRPr lang="en-US" dirty="0" smtClean="0"/>
          </a:p>
          <a:p>
            <a:r>
              <a:rPr lang="en-US" dirty="0" smtClean="0"/>
              <a:t>The way receivers of information, both friends and enemies, perceive the signals you are sending is vitally important to your survival.</a:t>
            </a:r>
            <a:br>
              <a:rPr lang="en-US" dirty="0" smtClean="0"/>
            </a:br>
            <a:endParaRPr lang="en-US" dirty="0" smtClean="0"/>
          </a:p>
          <a:p>
            <a:r>
              <a:rPr lang="en-US" dirty="0" smtClean="0"/>
              <a:t>Organisms seek to reduce uncertainty for themselves and increase uncertainty for their adversaries.</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990600"/>
            <a:ext cx="2975430" cy="369332"/>
          </a:xfrm>
          <a:prstGeom prst="rect">
            <a:avLst/>
          </a:prstGeom>
          <a:noFill/>
        </p:spPr>
        <p:txBody>
          <a:bodyPr wrap="none" rtlCol="0">
            <a:spAutoFit/>
          </a:bodyPr>
          <a:lstStyle/>
          <a:p>
            <a:r>
              <a:rPr lang="en-US" dirty="0" smtClean="0"/>
              <a:t>Competition and Cooperation</a:t>
            </a:r>
            <a:endParaRPr lang="en-US" dirty="0"/>
          </a:p>
        </p:txBody>
      </p:sp>
      <p:sp>
        <p:nvSpPr>
          <p:cNvPr id="5" name="TextBox 4"/>
          <p:cNvSpPr txBox="1"/>
          <p:nvPr/>
        </p:nvSpPr>
        <p:spPr>
          <a:xfrm>
            <a:off x="1524000" y="1752600"/>
            <a:ext cx="6477000" cy="2308324"/>
          </a:xfrm>
          <a:prstGeom prst="rect">
            <a:avLst/>
          </a:prstGeom>
          <a:noFill/>
        </p:spPr>
        <p:txBody>
          <a:bodyPr wrap="square" rtlCol="0">
            <a:spAutoFit/>
          </a:bodyPr>
          <a:lstStyle/>
          <a:p>
            <a:r>
              <a:rPr lang="en-US" dirty="0" smtClean="0"/>
              <a:t> Competition between organisms can lead to group cooperation</a:t>
            </a:r>
            <a:br>
              <a:rPr lang="en-US" dirty="0" smtClean="0"/>
            </a:br>
            <a:endParaRPr lang="en-US" dirty="0" smtClean="0"/>
          </a:p>
          <a:p>
            <a:r>
              <a:rPr lang="en-US" dirty="0" smtClean="0"/>
              <a:t>Group cooperation then increases the effectiveness of the group against other social groups</a:t>
            </a:r>
          </a:p>
          <a:p>
            <a:endParaRPr lang="en-US" dirty="0" smtClean="0"/>
          </a:p>
          <a:p>
            <a:r>
              <a:rPr lang="en-US" dirty="0" smtClean="0"/>
              <a:t>This group competition can then lead to group cooperation</a:t>
            </a:r>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990600"/>
            <a:ext cx="2056012" cy="369332"/>
          </a:xfrm>
          <a:prstGeom prst="rect">
            <a:avLst/>
          </a:prstGeom>
          <a:noFill/>
        </p:spPr>
        <p:txBody>
          <a:bodyPr wrap="none" rtlCol="0">
            <a:spAutoFit/>
          </a:bodyPr>
          <a:lstStyle/>
          <a:p>
            <a:r>
              <a:rPr lang="en-US" dirty="0" smtClean="0"/>
              <a:t>Adaptable Cascades</a:t>
            </a:r>
            <a:endParaRPr lang="en-US" dirty="0"/>
          </a:p>
        </p:txBody>
      </p:sp>
      <p:sp>
        <p:nvSpPr>
          <p:cNvPr id="5" name="TextBox 4"/>
          <p:cNvSpPr txBox="1"/>
          <p:nvPr/>
        </p:nvSpPr>
        <p:spPr>
          <a:xfrm>
            <a:off x="762000" y="2514600"/>
            <a:ext cx="7761805" cy="369332"/>
          </a:xfrm>
          <a:prstGeom prst="rect">
            <a:avLst/>
          </a:prstGeom>
          <a:noFill/>
        </p:spPr>
        <p:txBody>
          <a:bodyPr wrap="none" rtlCol="0">
            <a:spAutoFit/>
          </a:bodyPr>
          <a:lstStyle/>
          <a:p>
            <a:r>
              <a:rPr lang="en-US" dirty="0" smtClean="0"/>
              <a:t>Creates decentralized organization of multiple semi independent problem solvers</a:t>
            </a:r>
          </a:p>
        </p:txBody>
      </p:sp>
      <p:sp>
        <p:nvSpPr>
          <p:cNvPr id="6" name="TextBox 5"/>
          <p:cNvSpPr txBox="1"/>
          <p:nvPr/>
        </p:nvSpPr>
        <p:spPr>
          <a:xfrm>
            <a:off x="762000" y="2819400"/>
            <a:ext cx="4316246" cy="369332"/>
          </a:xfrm>
          <a:prstGeom prst="rect">
            <a:avLst/>
          </a:prstGeom>
          <a:noFill/>
        </p:spPr>
        <p:txBody>
          <a:bodyPr wrap="none" rtlCol="0">
            <a:spAutoFit/>
          </a:bodyPr>
          <a:lstStyle/>
          <a:p>
            <a:r>
              <a:rPr lang="en-US" dirty="0" smtClean="0"/>
              <a:t>Accelerates learning by selecting for success</a:t>
            </a:r>
          </a:p>
        </p:txBody>
      </p:sp>
      <p:sp>
        <p:nvSpPr>
          <p:cNvPr id="7" name="TextBox 6"/>
          <p:cNvSpPr txBox="1"/>
          <p:nvPr/>
        </p:nvSpPr>
        <p:spPr>
          <a:xfrm>
            <a:off x="762000" y="3124200"/>
            <a:ext cx="2933945" cy="369332"/>
          </a:xfrm>
          <a:prstGeom prst="rect">
            <a:avLst/>
          </a:prstGeom>
          <a:noFill/>
        </p:spPr>
        <p:txBody>
          <a:bodyPr wrap="none" rtlCol="0">
            <a:spAutoFit/>
          </a:bodyPr>
          <a:lstStyle/>
          <a:p>
            <a:r>
              <a:rPr lang="en-US" dirty="0" smtClean="0"/>
              <a:t>Creates redundancy naturally</a:t>
            </a:r>
          </a:p>
        </p:txBody>
      </p:sp>
      <p:sp>
        <p:nvSpPr>
          <p:cNvPr id="8" name="TextBox 7"/>
          <p:cNvSpPr txBox="1"/>
          <p:nvPr/>
        </p:nvSpPr>
        <p:spPr>
          <a:xfrm>
            <a:off x="762000" y="3429000"/>
            <a:ext cx="3865225" cy="369332"/>
          </a:xfrm>
          <a:prstGeom prst="rect">
            <a:avLst/>
          </a:prstGeom>
          <a:noFill/>
        </p:spPr>
        <p:txBody>
          <a:bodyPr wrap="none" rtlCol="0">
            <a:spAutoFit/>
          </a:bodyPr>
          <a:lstStyle/>
          <a:p>
            <a:r>
              <a:rPr lang="en-US" dirty="0" smtClean="0"/>
              <a:t>Helps facilitate symbiotic partnerships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par>
                          <p:cTn id="12" fill="hold">
                            <p:stCondLst>
                              <p:cond delay="3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childTnLst>
                                </p:cTn>
                              </p:par>
                            </p:childTnLst>
                          </p:cTn>
                        </p:par>
                        <p:par>
                          <p:cTn id="16" fill="hold">
                            <p:stCondLst>
                              <p:cond delay="40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914400"/>
            <a:ext cx="1152880" cy="369332"/>
          </a:xfrm>
          <a:prstGeom prst="rect">
            <a:avLst/>
          </a:prstGeom>
          <a:noFill/>
        </p:spPr>
        <p:txBody>
          <a:bodyPr wrap="none" rtlCol="0">
            <a:spAutoFit/>
          </a:bodyPr>
          <a:lstStyle/>
          <a:p>
            <a:r>
              <a:rPr lang="en-US" dirty="0" smtClean="0"/>
              <a:t>The Basics</a:t>
            </a:r>
            <a:endParaRPr lang="en-US" dirty="0"/>
          </a:p>
        </p:txBody>
      </p:sp>
      <p:sp>
        <p:nvSpPr>
          <p:cNvPr id="5" name="TextBox 4"/>
          <p:cNvSpPr txBox="1"/>
          <p:nvPr/>
        </p:nvSpPr>
        <p:spPr>
          <a:xfrm>
            <a:off x="685800" y="1828800"/>
            <a:ext cx="7696199" cy="646331"/>
          </a:xfrm>
          <a:prstGeom prst="rect">
            <a:avLst/>
          </a:prstGeom>
          <a:noFill/>
        </p:spPr>
        <p:txBody>
          <a:bodyPr wrap="square" rtlCol="0">
            <a:spAutoFit/>
          </a:bodyPr>
          <a:lstStyle/>
          <a:p>
            <a:r>
              <a:rPr lang="en-US" dirty="0" smtClean="0"/>
              <a:t>Introduce challenges, not directives (wisdom of crowds). Without challenges, organizations don't learn. </a:t>
            </a:r>
            <a:endParaRPr lang="en-US" dirty="0"/>
          </a:p>
        </p:txBody>
      </p:sp>
      <p:sp>
        <p:nvSpPr>
          <p:cNvPr id="6" name="TextBox 5"/>
          <p:cNvSpPr txBox="1"/>
          <p:nvPr/>
        </p:nvSpPr>
        <p:spPr>
          <a:xfrm>
            <a:off x="685800" y="2667000"/>
            <a:ext cx="7696200" cy="646331"/>
          </a:xfrm>
          <a:prstGeom prst="rect">
            <a:avLst/>
          </a:prstGeom>
          <a:noFill/>
        </p:spPr>
        <p:txBody>
          <a:bodyPr wrap="square" rtlCol="0">
            <a:spAutoFit/>
          </a:bodyPr>
          <a:lstStyle/>
          <a:p>
            <a:r>
              <a:rPr lang="en-US" dirty="0" smtClean="0"/>
              <a:t>Amplify, reward and replicate your successes. Innovation comes first and learning accrues from successful innovations. </a:t>
            </a:r>
            <a:endParaRPr lang="en-US" dirty="0"/>
          </a:p>
        </p:txBody>
      </p:sp>
      <p:sp>
        <p:nvSpPr>
          <p:cNvPr id="7" name="TextBox 6"/>
          <p:cNvSpPr txBox="1"/>
          <p:nvPr/>
        </p:nvSpPr>
        <p:spPr>
          <a:xfrm>
            <a:off x="685800" y="3505200"/>
            <a:ext cx="7619715" cy="369332"/>
          </a:xfrm>
          <a:prstGeom prst="rect">
            <a:avLst/>
          </a:prstGeom>
          <a:noFill/>
        </p:spPr>
        <p:txBody>
          <a:bodyPr wrap="none" rtlCol="0">
            <a:spAutoFit/>
          </a:bodyPr>
          <a:lstStyle/>
          <a:p>
            <a:r>
              <a:rPr lang="en-US" dirty="0" smtClean="0"/>
              <a:t>Take advantage of localized problem solvers within a centralized organization</a:t>
            </a:r>
          </a:p>
        </p:txBody>
      </p:sp>
      <p:sp>
        <p:nvSpPr>
          <p:cNvPr id="8" name="TextBox 7"/>
          <p:cNvSpPr txBox="1"/>
          <p:nvPr/>
        </p:nvSpPr>
        <p:spPr>
          <a:xfrm>
            <a:off x="685800" y="4114800"/>
            <a:ext cx="5652638" cy="369332"/>
          </a:xfrm>
          <a:prstGeom prst="rect">
            <a:avLst/>
          </a:prstGeom>
          <a:noFill/>
        </p:spPr>
        <p:txBody>
          <a:bodyPr wrap="none" rtlCol="0">
            <a:spAutoFit/>
          </a:bodyPr>
          <a:lstStyle/>
          <a:p>
            <a:r>
              <a:rPr lang="en-US" dirty="0" smtClean="0"/>
              <a:t>Promote learning, competition/cooperation and symbiosis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000"/>
                                        <p:tgtEl>
                                          <p:spTgt spid="6"/>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0"/>
                                        <p:tgtEl>
                                          <p:spTgt spid="7"/>
                                        </p:tgtEl>
                                      </p:cBhvr>
                                    </p:animEffect>
                                  </p:childTnLst>
                                </p:cTn>
                              </p:par>
                            </p:childTnLst>
                          </p:cTn>
                        </p:par>
                        <p:par>
                          <p:cTn id="16" fill="hold">
                            <p:stCondLst>
                              <p:cond delay="60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0" y="914400"/>
            <a:ext cx="2086277" cy="369332"/>
          </a:xfrm>
          <a:prstGeom prst="rect">
            <a:avLst/>
          </a:prstGeom>
          <a:noFill/>
        </p:spPr>
        <p:txBody>
          <a:bodyPr wrap="none" rtlCol="0">
            <a:spAutoFit/>
          </a:bodyPr>
          <a:lstStyle/>
          <a:p>
            <a:r>
              <a:rPr lang="en-US" dirty="0" smtClean="0"/>
              <a:t>Business Adaptation</a:t>
            </a:r>
            <a:endParaRPr lang="en-US" dirty="0"/>
          </a:p>
        </p:txBody>
      </p:sp>
      <p:sp>
        <p:nvSpPr>
          <p:cNvPr id="3" name="TextBox 2"/>
          <p:cNvSpPr txBox="1"/>
          <p:nvPr/>
        </p:nvSpPr>
        <p:spPr>
          <a:xfrm>
            <a:off x="1524000" y="1676400"/>
            <a:ext cx="6705600" cy="646331"/>
          </a:xfrm>
          <a:prstGeom prst="rect">
            <a:avLst/>
          </a:prstGeom>
          <a:noFill/>
        </p:spPr>
        <p:txBody>
          <a:bodyPr wrap="square" rtlCol="0">
            <a:spAutoFit/>
          </a:bodyPr>
          <a:lstStyle/>
          <a:p>
            <a:r>
              <a:rPr lang="en-US" dirty="0" smtClean="0"/>
              <a:t>Business, and therefore Security strategies, must switch from designing solutions to adapting solutions</a:t>
            </a:r>
            <a:endParaRPr lang="en-US" dirty="0"/>
          </a:p>
        </p:txBody>
      </p:sp>
      <p:sp>
        <p:nvSpPr>
          <p:cNvPr id="4" name="TextBox 3"/>
          <p:cNvSpPr txBox="1"/>
          <p:nvPr/>
        </p:nvSpPr>
        <p:spPr>
          <a:xfrm>
            <a:off x="1524000" y="3505200"/>
            <a:ext cx="6553199" cy="923330"/>
          </a:xfrm>
          <a:prstGeom prst="rect">
            <a:avLst/>
          </a:prstGeom>
          <a:noFill/>
        </p:spPr>
        <p:txBody>
          <a:bodyPr wrap="square" rtlCol="0">
            <a:spAutoFit/>
          </a:bodyPr>
          <a:lstStyle/>
          <a:p>
            <a:r>
              <a:rPr lang="en-US" dirty="0" smtClean="0"/>
              <a:t>A challenge assumes there are many potential solutions, the more people involved, the more likely we are to find a really outstanding solution</a:t>
            </a:r>
            <a:endParaRPr lang="en-US" dirty="0"/>
          </a:p>
        </p:txBody>
      </p:sp>
      <p:sp>
        <p:nvSpPr>
          <p:cNvPr id="6" name="TextBox 5"/>
          <p:cNvSpPr txBox="1"/>
          <p:nvPr/>
        </p:nvSpPr>
        <p:spPr>
          <a:xfrm>
            <a:off x="1524000" y="2514600"/>
            <a:ext cx="6781800" cy="923330"/>
          </a:xfrm>
          <a:prstGeom prst="rect">
            <a:avLst/>
          </a:prstGeom>
          <a:noFill/>
        </p:spPr>
        <p:txBody>
          <a:bodyPr wrap="square" rtlCol="0">
            <a:spAutoFit/>
          </a:bodyPr>
          <a:lstStyle/>
          <a:p>
            <a:r>
              <a:rPr lang="en-US" dirty="0" smtClean="0"/>
              <a:t>Move away from giving orders and towards providing challenges. (Aka Wisdom of Crowds). Orders assume there is only one solution to a problem</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62400" y="1447800"/>
            <a:ext cx="1074140" cy="369332"/>
          </a:xfrm>
          <a:prstGeom prst="rect">
            <a:avLst/>
          </a:prstGeom>
          <a:noFill/>
        </p:spPr>
        <p:txBody>
          <a:bodyPr wrap="none" rtlCol="0">
            <a:spAutoFit/>
          </a:bodyPr>
          <a:lstStyle/>
          <a:p>
            <a:r>
              <a:rPr lang="en-US" dirty="0" smtClean="0"/>
              <a:t>Feedback</a:t>
            </a:r>
            <a:endParaRPr lang="en-US" dirty="0"/>
          </a:p>
        </p:txBody>
      </p:sp>
      <p:sp>
        <p:nvSpPr>
          <p:cNvPr id="5" name="TextBox 4"/>
          <p:cNvSpPr txBox="1"/>
          <p:nvPr/>
        </p:nvSpPr>
        <p:spPr>
          <a:xfrm>
            <a:off x="2971800" y="4191000"/>
            <a:ext cx="2801473" cy="1477328"/>
          </a:xfrm>
          <a:prstGeom prst="rect">
            <a:avLst/>
          </a:prstGeom>
          <a:noFill/>
        </p:spPr>
        <p:txBody>
          <a:bodyPr wrap="none" rtlCol="0">
            <a:spAutoFit/>
          </a:bodyPr>
          <a:lstStyle/>
          <a:p>
            <a:r>
              <a:rPr lang="en-US" dirty="0" smtClean="0"/>
              <a:t>Rockie Brockway</a:t>
            </a:r>
          </a:p>
          <a:p>
            <a:r>
              <a:rPr lang="en-US" dirty="0" smtClean="0"/>
              <a:t>Security Practice Director</a:t>
            </a:r>
          </a:p>
          <a:p>
            <a:r>
              <a:rPr lang="en-US" dirty="0" smtClean="0"/>
              <a:t>Black Box Network Services</a:t>
            </a:r>
          </a:p>
          <a:p>
            <a:r>
              <a:rPr lang="en-US" dirty="0" smtClean="0"/>
              <a:t>securants.blogspot.com</a:t>
            </a:r>
          </a:p>
          <a:p>
            <a:r>
              <a:rPr lang="en-US" dirty="0" smtClean="0"/>
              <a:t>@</a:t>
            </a:r>
            <a:r>
              <a:rPr lang="en-US" dirty="0" err="1" smtClean="0"/>
              <a:t>rockiebrockway</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25988</TotalTime>
  <Words>3363</Words>
  <Application>Microsoft Office PowerPoint</Application>
  <PresentationFormat>On-screen Show (4:3)</PresentationFormat>
  <Paragraphs>351</Paragraphs>
  <Slides>30</Slides>
  <Notes>27</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LOGOS Communications,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Ramifications of the Internet’s Unclean Conflicts</dc:title>
  <dc:creator>Rockie Brockway</dc:creator>
  <cp:lastModifiedBy>jkouns</cp:lastModifiedBy>
  <cp:revision>1215</cp:revision>
  <dcterms:created xsi:type="dcterms:W3CDTF">2012-07-06T21:53:34Z</dcterms:created>
  <dcterms:modified xsi:type="dcterms:W3CDTF">2013-06-12T02:47:25Z</dcterms:modified>
</cp:coreProperties>
</file>