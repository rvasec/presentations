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embeddedFontLst>
    <p:embeddedFont>
      <p:font typeface="Libre Franklin SemiBold"/>
      <p:regular r:id="rId48"/>
      <p:bold r:id="rId49"/>
      <p:italic r:id="rId50"/>
      <p:boldItalic r:id="rId51"/>
    </p:embeddedFont>
    <p:embeddedFont>
      <p:font typeface="Rajdhani Light"/>
      <p:regular r:id="rId52"/>
      <p:bold r:id="rId53"/>
    </p:embeddedFont>
    <p:embeddedFont>
      <p:font typeface="Montserrat SemiBold"/>
      <p:regular r:id="rId54"/>
      <p:bold r:id="rId55"/>
      <p:italic r:id="rId56"/>
      <p:boldItalic r:id="rId57"/>
    </p:embeddedFont>
    <p:embeddedFont>
      <p:font typeface="Libre Franklin"/>
      <p:regular r:id="rId58"/>
      <p:bold r:id="rId59"/>
      <p:italic r:id="rId60"/>
      <p:boldItalic r:id="rId61"/>
    </p:embeddedFont>
    <p:embeddedFont>
      <p:font typeface="Montserrat"/>
      <p:regular r:id="rId62"/>
      <p:bold r:id="rId63"/>
      <p:italic r:id="rId64"/>
      <p:boldItalic r:id="rId65"/>
    </p:embeddedFont>
    <p:embeddedFont>
      <p:font typeface="Lato"/>
      <p:regular r:id="rId66"/>
      <p:bold r:id="rId67"/>
      <p:italic r:id="rId68"/>
      <p:boldItalic r:id="rId69"/>
    </p:embeddedFont>
    <p:embeddedFont>
      <p:font typeface="Open Sans SemiBold"/>
      <p:regular r:id="rId70"/>
      <p:bold r:id="rId71"/>
      <p:italic r:id="rId72"/>
      <p:boldItalic r:id="rId73"/>
    </p:embeddedFont>
    <p:embeddedFont>
      <p:font typeface="Average"/>
      <p:regular r:id="rId74"/>
    </p:embeddedFont>
    <p:embeddedFont>
      <p:font typeface="Rajdhani"/>
      <p:regular r:id="rId75"/>
      <p:bold r:id="rId76"/>
    </p:embeddedFont>
    <p:embeddedFont>
      <p:font typeface="Open Sans Light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font" Target="fonts/OpenSans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ibreFranklinSemiBold-regular.fntdata"/><Relationship Id="rId47" Type="http://schemas.openxmlformats.org/officeDocument/2006/relationships/slide" Target="slides/slide43.xml"/><Relationship Id="rId49" Type="http://schemas.openxmlformats.org/officeDocument/2006/relationships/font" Target="fonts/LibreFranklin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OpenSansSemiBold-boldItalic.fntdata"/><Relationship Id="rId72" Type="http://schemas.openxmlformats.org/officeDocument/2006/relationships/font" Target="fonts/OpenSansSemiBold-italic.fntdata"/><Relationship Id="rId31" Type="http://schemas.openxmlformats.org/officeDocument/2006/relationships/slide" Target="slides/slide27.xml"/><Relationship Id="rId75" Type="http://schemas.openxmlformats.org/officeDocument/2006/relationships/font" Target="fonts/Rajdhani-regular.fntdata"/><Relationship Id="rId30" Type="http://schemas.openxmlformats.org/officeDocument/2006/relationships/slide" Target="slides/slide26.xml"/><Relationship Id="rId74" Type="http://schemas.openxmlformats.org/officeDocument/2006/relationships/font" Target="fonts/Average-regular.fntdata"/><Relationship Id="rId33" Type="http://schemas.openxmlformats.org/officeDocument/2006/relationships/slide" Target="slides/slide29.xml"/><Relationship Id="rId77" Type="http://schemas.openxmlformats.org/officeDocument/2006/relationships/font" Target="fonts/OpenSansLight-regular.fntdata"/><Relationship Id="rId32" Type="http://schemas.openxmlformats.org/officeDocument/2006/relationships/slide" Target="slides/slide28.xml"/><Relationship Id="rId76" Type="http://schemas.openxmlformats.org/officeDocument/2006/relationships/font" Target="fonts/Rajdhani-bold.fntdata"/><Relationship Id="rId35" Type="http://schemas.openxmlformats.org/officeDocument/2006/relationships/slide" Target="slides/slide31.xml"/><Relationship Id="rId79" Type="http://schemas.openxmlformats.org/officeDocument/2006/relationships/font" Target="fonts/OpenSansLight-italic.fntdata"/><Relationship Id="rId34" Type="http://schemas.openxmlformats.org/officeDocument/2006/relationships/slide" Target="slides/slide30.xml"/><Relationship Id="rId78" Type="http://schemas.openxmlformats.org/officeDocument/2006/relationships/font" Target="fonts/OpenSansLight-bold.fntdata"/><Relationship Id="rId71" Type="http://schemas.openxmlformats.org/officeDocument/2006/relationships/font" Target="fonts/OpenSansSemiBold-bold.fntdata"/><Relationship Id="rId70" Type="http://schemas.openxmlformats.org/officeDocument/2006/relationships/font" Target="fonts/OpenSansSemiBold-regular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-regular.fntdata"/><Relationship Id="rId61" Type="http://schemas.openxmlformats.org/officeDocument/2006/relationships/font" Target="fonts/LibreFranklin-boldItalic.fntdata"/><Relationship Id="rId20" Type="http://schemas.openxmlformats.org/officeDocument/2006/relationships/slide" Target="slides/slide16.xml"/><Relationship Id="rId64" Type="http://schemas.openxmlformats.org/officeDocument/2006/relationships/font" Target="fonts/Montserrat-italic.fntdata"/><Relationship Id="rId63" Type="http://schemas.openxmlformats.org/officeDocument/2006/relationships/font" Target="fonts/Montserrat-bold.fntdata"/><Relationship Id="rId22" Type="http://schemas.openxmlformats.org/officeDocument/2006/relationships/slide" Target="slides/slide18.xml"/><Relationship Id="rId66" Type="http://schemas.openxmlformats.org/officeDocument/2006/relationships/font" Target="fonts/Lato-regular.fntdata"/><Relationship Id="rId21" Type="http://schemas.openxmlformats.org/officeDocument/2006/relationships/slide" Target="slides/slide17.xml"/><Relationship Id="rId65" Type="http://schemas.openxmlformats.org/officeDocument/2006/relationships/font" Target="fonts/Montserrat-boldItalic.fntdata"/><Relationship Id="rId24" Type="http://schemas.openxmlformats.org/officeDocument/2006/relationships/slide" Target="slides/slide20.xml"/><Relationship Id="rId68" Type="http://schemas.openxmlformats.org/officeDocument/2006/relationships/font" Target="fonts/Lato-italic.fntdata"/><Relationship Id="rId23" Type="http://schemas.openxmlformats.org/officeDocument/2006/relationships/slide" Target="slides/slide19.xml"/><Relationship Id="rId67" Type="http://schemas.openxmlformats.org/officeDocument/2006/relationships/font" Target="fonts/Lato-bold.fntdata"/><Relationship Id="rId60" Type="http://schemas.openxmlformats.org/officeDocument/2006/relationships/font" Target="fonts/LibreFranklin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Lat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LibreFranklinSemiBold-boldItalic.fntdata"/><Relationship Id="rId50" Type="http://schemas.openxmlformats.org/officeDocument/2006/relationships/font" Target="fonts/LibreFranklinSemiBold-italic.fntdata"/><Relationship Id="rId53" Type="http://schemas.openxmlformats.org/officeDocument/2006/relationships/font" Target="fonts/RajdhaniLight-bold.fntdata"/><Relationship Id="rId52" Type="http://schemas.openxmlformats.org/officeDocument/2006/relationships/font" Target="fonts/RajdhaniLight-regular.fntdata"/><Relationship Id="rId11" Type="http://schemas.openxmlformats.org/officeDocument/2006/relationships/slide" Target="slides/slide7.xml"/><Relationship Id="rId55" Type="http://schemas.openxmlformats.org/officeDocument/2006/relationships/font" Target="fonts/MontserratSemiBold-bold.fntdata"/><Relationship Id="rId10" Type="http://schemas.openxmlformats.org/officeDocument/2006/relationships/slide" Target="slides/slide6.xml"/><Relationship Id="rId54" Type="http://schemas.openxmlformats.org/officeDocument/2006/relationships/font" Target="fonts/MontserratSemiBold-regular.fntdata"/><Relationship Id="rId13" Type="http://schemas.openxmlformats.org/officeDocument/2006/relationships/slide" Target="slides/slide9.xml"/><Relationship Id="rId57" Type="http://schemas.openxmlformats.org/officeDocument/2006/relationships/font" Target="fonts/MontserratSemiBold-boldItalic.fntdata"/><Relationship Id="rId12" Type="http://schemas.openxmlformats.org/officeDocument/2006/relationships/slide" Target="slides/slide8.xml"/><Relationship Id="rId56" Type="http://schemas.openxmlformats.org/officeDocument/2006/relationships/font" Target="fonts/MontserratSemiBold-italic.fntdata"/><Relationship Id="rId15" Type="http://schemas.openxmlformats.org/officeDocument/2006/relationships/slide" Target="slides/slide11.xml"/><Relationship Id="rId59" Type="http://schemas.openxmlformats.org/officeDocument/2006/relationships/font" Target="fonts/LibreFranklin-bold.fntdata"/><Relationship Id="rId14" Type="http://schemas.openxmlformats.org/officeDocument/2006/relationships/slide" Target="slides/slide10.xml"/><Relationship Id="rId58" Type="http://schemas.openxmlformats.org/officeDocument/2006/relationships/font" Target="fonts/LibreFranklin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54d367ab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54d367ab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54d367ab2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54d367ab2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54d367ab2_5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354d367ab2_5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354d367ab2_5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354d367ab2_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54d367ab2_5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354d367ab2_5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54d367ab2_5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54d367ab2_5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54d367ab2_5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54d367ab2_5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54d367ab2_5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354d367ab2_5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54d367ab2_5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54d367ab2_5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54d367ab2_5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354d367ab2_5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54d367ab2_5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354d367ab2_5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54d367ab2_5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354d367ab2_5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354d367ab2_5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354d367ab2_5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354d367ab2_5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354d367ab2_5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354d367ab2_5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354d367ab2_5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54d367ab2_5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354d367ab2_5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54d367ab2_5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54d367ab2_5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54d367ab2_5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354d367ab2_5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354d367ab2_5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354d367ab2_5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54d367ab2_5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54d367ab2_5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354d367ab2_5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354d367ab2_5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54d367ab2_5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54d367ab2_5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354d367ab2_5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354d367ab2_5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54d367ab2_5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354d367ab2_5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54d367ab2_5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54d367ab2_5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54d367ab2_5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354d367ab2_5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54d367ab2_5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54d367ab2_5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54d367ab2_5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354d367ab2_5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54d367ab2_5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54d367ab2_5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354d367ab2_5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354d367ab2_5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354d367ab2_5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354d367ab2_5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354d367ab2_5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354d367ab2_5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354d367ab2_5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354d367ab2_5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54d367ab2_5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54d367ab2_5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354d367ab2_5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354d367ab2_5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54d367ab2_5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354d367ab2_5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354d367ab2_5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354d367ab2_5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354d367ab2_5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354d367ab2_5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354d367ab2_5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354d367ab2_5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354d367ab2_5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354d367ab2_5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354d367ab2_5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354d367ab2_5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354d367ab2_5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354d367ab2_5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5ee3b7933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5ee3b793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_1">
    <p:bg>
      <p:bgPr>
        <a:solidFill>
          <a:srgbClr val="1A1C33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8600" y="2321451"/>
            <a:ext cx="1217001" cy="23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2"/>
          <p:cNvCxnSpPr/>
          <p:nvPr/>
        </p:nvCxnSpPr>
        <p:spPr>
          <a:xfrm>
            <a:off x="2296875" y="1938813"/>
            <a:ext cx="0" cy="1001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2389800" y="2029900"/>
            <a:ext cx="67542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389800" y="2383847"/>
            <a:ext cx="67542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/FINAL SLIDE">
  <p:cSld name="TITLE_2_1_1">
    <p:bg>
      <p:bgPr>
        <a:solidFill>
          <a:srgbClr val="1A1C3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0" y="2268900"/>
            <a:ext cx="9144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ibre Franklin SemiBold"/>
              <a:buNone/>
              <a:defRPr sz="2200">
                <a:solidFill>
                  <a:srgbClr val="FFFFFF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descr="Image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3500" y="1988526"/>
            <a:ext cx="1217001" cy="2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0" y="2761025"/>
            <a:ext cx="91440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E4D0"/>
              </a:buClr>
              <a:buSzPts val="1300"/>
              <a:buFont typeface="Libre Franklin"/>
              <a:buNone/>
              <a:defRPr sz="1300">
                <a:solidFill>
                  <a:srgbClr val="3DE4D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8521"/>
              </a:buClr>
              <a:buSzPts val="1400"/>
              <a:buFont typeface="Libre Franklin"/>
              <a:buNone/>
              <a:defRPr>
                <a:solidFill>
                  <a:srgbClr val="FB852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1A1C33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0"/>
            <a:ext cx="8520600" cy="5143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Open Sans SemiBold"/>
              <a:buNone/>
              <a:defRPr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700"/>
              <a:buFont typeface="Libre Franklin SemiBold"/>
              <a:buNone/>
              <a:defRPr sz="1700">
                <a:solidFill>
                  <a:srgbClr val="1A1C33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813075"/>
            <a:ext cx="563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9pPr>
          </a:lstStyle>
          <a:p/>
        </p:txBody>
      </p:sp>
      <p:grpSp>
        <p:nvGrpSpPr>
          <p:cNvPr id="22" name="Google Shape;22;p5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23" name="Google Shape;23;p5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24" name="Google Shape;24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5"/>
            <p:cNvSpPr txBox="1"/>
            <p:nvPr/>
          </p:nvSpPr>
          <p:spPr>
            <a:xfrm>
              <a:off x="7890475" y="4867650"/>
              <a:ext cx="858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Rajdhani Light"/>
                <a:ea typeface="Rajdhani Light"/>
                <a:cs typeface="Rajdhani Light"/>
                <a:sym typeface="Rajdhani Light"/>
              </a:endParaRPr>
            </a:p>
          </p:txBody>
        </p:sp>
      </p:grp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744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COL BODY">
  <p:cSld name="TITLE_AND_BODY_2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700"/>
              <a:buFont typeface="Libre Franklin SemiBold"/>
              <a:buNone/>
              <a:defRPr sz="1700">
                <a:solidFill>
                  <a:srgbClr val="1A1C33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" name="Google Shape;29;p6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30" name="Google Shape;30;p6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31" name="Google Shape;31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4426725" y="813075"/>
            <a:ext cx="37842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311700" y="813075"/>
            <a:ext cx="37857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744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SUBTITLE + BODY">
  <p:cSld name="TITLE_AND_BODY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700"/>
              <a:buFont typeface="Libre Franklin SemiBold"/>
              <a:buNone/>
              <a:defRPr sz="1700">
                <a:solidFill>
                  <a:srgbClr val="1A1C33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0896" y="1106424"/>
            <a:ext cx="56319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9pPr>
          </a:lstStyle>
          <a:p/>
        </p:txBody>
      </p:sp>
      <p:grpSp>
        <p:nvGrpSpPr>
          <p:cNvPr id="38" name="Google Shape;38;p7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39" name="Google Shape;39;p7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40" name="Google Shape;40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 txBox="1"/>
          <p:nvPr>
            <p:ph idx="2" type="title"/>
          </p:nvPr>
        </p:nvSpPr>
        <p:spPr>
          <a:xfrm>
            <a:off x="311700" y="647075"/>
            <a:ext cx="71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C6AE0"/>
              </a:buClr>
              <a:buSzPts val="1300"/>
              <a:buFont typeface="Libre Franklin SemiBold"/>
              <a:buNone/>
              <a:defRPr sz="1300">
                <a:solidFill>
                  <a:srgbClr val="5C6AE0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Libre Franklin SemiBold"/>
              <a:buNone/>
              <a:defRPr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744">
          <p15:clr>
            <a:srgbClr val="FA7B17"/>
          </p15:clr>
        </p15:guide>
        <p15:guide id="2" pos="468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SUBTITLE + 2 COL BODY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8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45" name="Google Shape;45;p8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46" name="Google Shape;46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700"/>
              <a:buFont typeface="Libre Franklin SemiBold"/>
              <a:buNone/>
              <a:defRPr sz="1700">
                <a:solidFill>
                  <a:srgbClr val="1A1C33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311700" y="1110325"/>
            <a:ext cx="37842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2" type="title"/>
          </p:nvPr>
        </p:nvSpPr>
        <p:spPr>
          <a:xfrm>
            <a:off x="311700" y="647075"/>
            <a:ext cx="71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C6AE0"/>
              </a:buClr>
              <a:buSzPts val="1300"/>
              <a:buFont typeface="Libre Franklin SemiBold"/>
              <a:buNone/>
              <a:defRPr sz="1300">
                <a:solidFill>
                  <a:srgbClr val="5C6AE0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3" type="body"/>
          </p:nvPr>
        </p:nvSpPr>
        <p:spPr>
          <a:xfrm>
            <a:off x="4426725" y="1110325"/>
            <a:ext cx="37842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●"/>
              <a:defRPr sz="1000">
                <a:solidFill>
                  <a:srgbClr val="1A1C33"/>
                </a:solidFill>
              </a:defRPr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1A1C33"/>
              </a:buClr>
              <a:buSzPts val="1000"/>
              <a:buChar char="○"/>
              <a:defRPr sz="1000">
                <a:solidFill>
                  <a:srgbClr val="1A1C33"/>
                </a:solidFill>
              </a:defRPr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1A1C33"/>
              </a:buClr>
              <a:buSzPts val="1000"/>
              <a:buChar char="■"/>
              <a:defRPr sz="1000">
                <a:solidFill>
                  <a:srgbClr val="1A1C3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1434600" y="0"/>
            <a:ext cx="6367800" cy="47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A1C33"/>
              </a:buClr>
              <a:buSzPts val="2200"/>
              <a:buFont typeface="Libre Franklin SemiBold"/>
              <a:buNone/>
              <a:defRPr sz="2200">
                <a:solidFill>
                  <a:srgbClr val="1A1C33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55" name="Google Shape;55;p9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56" name="Google Shape;5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9"/>
            <p:cNvSpPr txBox="1"/>
            <p:nvPr/>
          </p:nvSpPr>
          <p:spPr>
            <a:xfrm>
              <a:off x="7890475" y="4867650"/>
              <a:ext cx="858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Rajdhani Light"/>
                <a:ea typeface="Rajdhani Light"/>
                <a:cs typeface="Rajdhani Light"/>
                <a:sym typeface="Rajdhani Light"/>
              </a:endParaRPr>
            </a:p>
          </p:txBody>
        </p:sp>
      </p:grp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0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61" name="Google Shape;61;p10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62" name="Google Shape;62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11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Slide 2">
  <p:cSld name="BLANK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-8367" y="4742989"/>
            <a:ext cx="9160800" cy="400500"/>
            <a:chOff x="-8367" y="4742989"/>
            <a:chExt cx="9160800" cy="400500"/>
          </a:xfrm>
        </p:grpSpPr>
        <p:sp>
          <p:nvSpPr>
            <p:cNvPr id="66" name="Google Shape;66;p11"/>
            <p:cNvSpPr/>
            <p:nvPr/>
          </p:nvSpPr>
          <p:spPr>
            <a:xfrm>
              <a:off x="-8367" y="4742989"/>
              <a:ext cx="9160800" cy="400500"/>
            </a:xfrm>
            <a:prstGeom prst="rect">
              <a:avLst/>
            </a:prstGeom>
            <a:solidFill>
              <a:srgbClr val="1A1C33"/>
            </a:solidFill>
            <a:ln>
              <a:noFill/>
            </a:ln>
          </p:spPr>
          <p:txBody>
            <a:bodyPr anchorCtr="0" anchor="ctr" bIns="71425" lIns="71425" spcFirstLastPara="1" rIns="71425" wrap="square" tIns="7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00"/>
                <a:buFont typeface="Helvetica Neue Light"/>
                <a:buNone/>
              </a:pPr>
              <a:r>
                <a:t/>
              </a:r>
              <a:endParaRPr b="0" i="0" sz="29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descr="Image" id="67" name="Google Shape;67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42505" y="4863063"/>
              <a:ext cx="826587" cy="160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1130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 algn="l">
              <a:buNone/>
              <a:defRPr sz="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050" y="184550"/>
            <a:ext cx="5727416" cy="443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11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71" name="Google Shape;71;p1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72" name="Google Shape;72;p1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4" name="Google Shape;74;p1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80" name="Google Shape;80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101" name="Google Shape;101;p14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4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10" name="Google Shape;110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Franklin SemiBold"/>
              <a:buNone/>
              <a:defRPr sz="2700">
                <a:solidFill>
                  <a:schemeClr val="dk1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Light"/>
              <a:buChar char="●"/>
              <a:defRPr sz="1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●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●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9.jpg"/><Relationship Id="rId5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jpg"/><Relationship Id="rId4" Type="http://schemas.openxmlformats.org/officeDocument/2006/relationships/image" Target="../media/image2.png"/><Relationship Id="rId5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Intelligence 2022, Actionable?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>
            <p:ph idx="1" type="subTitle"/>
          </p:nvPr>
        </p:nvSpPr>
        <p:spPr>
          <a:xfrm>
            <a:off x="3718850" y="2907525"/>
            <a:ext cx="5306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Peter Partyka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SVP Engineering Flashpoint, Flashpoint.io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1297500" y="1132625"/>
            <a:ext cx="7038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Whoami?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294299" y="2097575"/>
            <a:ext cx="55806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16 Years in Security / Engineering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294301" y="2423076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Helpdesk -&gt; Web Design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294301" y="2748576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NYC Hedge Fund Space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1294300" y="3074075"/>
            <a:ext cx="3376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 Teaming / Application Security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294301" y="3399577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Security Consulting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294300" y="3725075"/>
            <a:ext cx="5293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NYU SPS: Advanced Hacking, Defending Cyber Assets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285450" y="4063100"/>
            <a:ext cx="5293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SVP Engineering Flashpoint Intelligence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625" y="658450"/>
            <a:ext cx="2106778" cy="24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2499000" y="4818000"/>
            <a:ext cx="66450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61 73 6B 20 6D 79 20 68 61 6E 64 6C 65 73 20 69 6E 20 70 65 72 73 6F 6E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1297500" y="1132625"/>
            <a:ext cx="7038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Disclosures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294299" y="2097575"/>
            <a:ext cx="55806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RVAsec 2018: Mark Arnold: Hacking Intelligence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294299" y="2423075"/>
            <a:ext cx="4499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work for a Threat Intelligence Vendor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294299" y="2748575"/>
            <a:ext cx="43956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Privileged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Engineers and Makers Orgs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294300" y="3074075"/>
            <a:ext cx="3376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1294301" y="3399577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294300" y="3725075"/>
            <a:ext cx="5293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285450" y="4063100"/>
            <a:ext cx="5293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625" y="658450"/>
            <a:ext cx="2106778" cy="24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2499000" y="4818000"/>
            <a:ext cx="66450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57 65 20 61 72 65 20 61 6C 73 6F 20 68 69 72 69 6E 67 21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699" y="603524"/>
            <a:ext cx="1461500" cy="14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8575" y="3607538"/>
            <a:ext cx="29908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Threat Intelligence in 2022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19650" y="980125"/>
            <a:ext cx="72819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“Threat intelligence is evidence-based knowledge, including context, mechanisms, indicators, implications and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action-oriented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advice about an existing or emerging menace or hazard to assets. This intelligence can be used to inform decisions regarding the subject's response to that menace or hazard.” — Gartner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Intelligence allows you to take rapid, informed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actions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mitigate risk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everywhere. Intelligence is everywhere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need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be, around the clock. You need to have targeted, automated collection systems capturing the data from  OSINT sources that matter most to you, whether social media, chat services, foreign-language forums, illegal marketplaces, paste sites, or the deep and dark web.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Flashpoint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1111675" y="4818000"/>
            <a:ext cx="8032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43 68 65 63 6B 20 6F 75 74 20 47 61 72 74 6E 65 72 27 73 20 6E 65 77 20 72 65 70 6F 72 74 20 61 62 6F 75 74 20 4F 70 65 72 61 74 69 6F 6E 61 6C 69 7A 69 6E 67 20 54 49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Obligatory Concepts #1 (The Diagram)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19650" y="980125"/>
            <a:ext cx="72819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Intelligence Cycle: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Intelligence cycle describes how intelligence is ideally processed in civilian and military intelligence agencies, and law enforcement organizations. It is a closed path consisting of repeating nodes, which (if followed) will result in finished intelligence. - Wikipedia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 and Direction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Collection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Processing and Exploitation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Analysis and Production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Dissemination and Integration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Evaluation and Feedback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900" y="2328025"/>
            <a:ext cx="333375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Obligatory Concepts #2 (The Equation)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819650" y="980125"/>
            <a:ext cx="72819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Threat x Vulnerability = Risk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Threat x (Likelihood x Vulnerability) x Impact = Risk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Threat - Is a potential action or event that can take place against your assets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Vulnerability - A known or unknown point of exposure to your assets.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Likelihood - Is the credible possibility that a given vulnerability can be acted on, taking into account mitigating factors and controls.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Impact - Is the measure of loss that the business may suffer in the event of Risk.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Risk - Is what happens with threats act on vulnerabilities with an effect on your assets.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Shall we play a game?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Information Security Program</a:t>
            </a:r>
            <a:endParaRPr/>
          </a:p>
        </p:txBody>
      </p:sp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1297500" y="1243900"/>
            <a:ext cx="7038900" cy="17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Firewalls (NextGen, UTM: Built in IDS, IPS, Webfiltering, Sandbox etc.)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Palos, Fortinet, Checkpoint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Endpoint AV Agent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Symantec, McAfee, etc.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Vulnerability Scanner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Tenable, Rapid7, Qualys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===========================================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-638625" y="46656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CACACA"/>
                </a:solidFill>
                <a:latin typeface="Montserrat"/>
                <a:ea typeface="Montserrat"/>
                <a:cs typeface="Montserrat"/>
                <a:sym typeface="Montserrat"/>
              </a:rPr>
              <a:t>69 6E 66 6F 72 6D 61 74 69 6F 6E 20 73 65 63 75 72 69 74 79 20 69 73 20 61 20 70 72 6F 63 65 73 73 20 6E 6F 74 20 61 20 70 72 6F 64 75 63 74 20 2D 20 42 72 75 63 65 20 53 63 68 6E 65 69 65 72</a:t>
            </a:r>
            <a:endParaRPr sz="700"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1297500" y="2949100"/>
            <a:ext cx="3532800" cy="32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Endpoint Asset Management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Tanium…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Endpoint EDR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Crowdstrike, Intercept X, Carbon Black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DLP 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Digital Guardian, DLP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Mail Gateway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Mimecast, Proofpoint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Web Application firewall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Akamai, Cloudflare, Imperva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Repository Compliance and Security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Gitlab Ultimate / Github Enterprise</a:t>
            </a:r>
            <a:endParaRPr sz="800"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5062725" y="1425100"/>
            <a:ext cx="3532800" cy="32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SIEM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Splunk, ESM, Qradar, ArchSight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Threat Intelligence  c.2012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All the feeds, IOCS, Hashes, Yara, Surricata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Emails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Call me maybe is the summer jam. 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Personel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Including yourself you have +1 staff and you also change printer ink, and turn computers off and on again.</a:t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800"/>
              <a:t>We’re in good </a:t>
            </a:r>
            <a:r>
              <a:rPr lang="en" sz="800"/>
              <a:t>shape</a:t>
            </a:r>
            <a:r>
              <a:rPr lang="en" sz="800"/>
              <a:t> but can’t afford, a soar, tip, professional service hours, Or any </a:t>
            </a:r>
            <a:r>
              <a:rPr lang="en" sz="800"/>
              <a:t>sidecar</a:t>
            </a:r>
            <a:r>
              <a:rPr lang="en" sz="800"/>
              <a:t> products to live in our kube clusters.</a:t>
            </a:r>
            <a:endParaRPr sz="8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800"/>
          </a:p>
        </p:txBody>
      </p:sp>
      <p:pic>
        <p:nvPicPr>
          <p:cNvPr descr="9 Best Cyber Security Certifications and Courses to Learn in 2022 | by  javinpaul | Javarevisited | Medium"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500" y="3476875"/>
            <a:ext cx="390525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Shall we play a game?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Business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1297500" y="1243900"/>
            <a:ext cx="7038900" cy="17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We Issue Credit Cards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Credit Cards: Risky Business or Safe?" id="185" name="Google Shape;18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550" y="2152525"/>
            <a:ext cx="272415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 Participation</a:t>
            </a:r>
            <a:endParaRPr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3063675" y="881750"/>
            <a:ext cx="5882400" cy="176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going to show you a piece of threat intelligence. And we are going to determine whether it is actionable or not actionable.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Wait for Prompt! AYE or NAY!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Let’s start with an easy one: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100" y="152400"/>
            <a:ext cx="502979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113" y="152400"/>
            <a:ext cx="4641773" cy="483869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/>
          <p:nvPr/>
        </p:nvSpPr>
        <p:spPr>
          <a:xfrm>
            <a:off x="3632875" y="0"/>
            <a:ext cx="2366400" cy="462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/>
          <p:cNvPicPr preferRelativeResize="0"/>
          <p:nvPr/>
        </p:nvPicPr>
        <p:blipFill rotWithShape="1">
          <a:blip r:embed="rId3">
            <a:alphaModFix/>
          </a:blip>
          <a:srcRect b="0" l="0" r="0" t="9214"/>
          <a:stretch/>
        </p:blipFill>
        <p:spPr>
          <a:xfrm>
            <a:off x="1208238" y="375362"/>
            <a:ext cx="6727526" cy="4392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800" y="152400"/>
            <a:ext cx="6718408" cy="48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1052550" y="469950"/>
            <a:ext cx="70389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58.246.2.34</a:t>
            </a:r>
            <a:endParaRPr/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3850"/>
            <a:ext cx="8839199" cy="297224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/>
          <p:nvPr/>
        </p:nvSpPr>
        <p:spPr>
          <a:xfrm>
            <a:off x="2921400" y="4288500"/>
            <a:ext cx="33012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25th, 2004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1052550" y="998025"/>
            <a:ext cx="70389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8.8.8.8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88.4.4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1.1.1.1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1.0.0.1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4.2.2.2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57 68 6F 20 72 65 6D 65 6D 62 65 72 73 20 34 2E 32 2E 32 2E 32 3F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Ok, let’s fast forward to 2022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819650" y="980125"/>
            <a:ext cx="72819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Threat Intelligence  c.2022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Flashpoint, RBS, and others.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Topping the charts: Running up that hill by Kate Bush?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finally got our SIEM configured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Yay for professional service hours.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invested in hardware tokens and the PIV protocol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Duo, Okta, w/e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Low Code Automation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Flashpoint Automate, maybe Tines, and other. 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1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we now sell SIM cards!</a:t>
            </a:r>
            <a:endParaRPr b="1" sz="11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41 6E 79 6F 6E 65 20 65 6C 73 65 20 68 65 72 65 20 61 20 44 6E 44 20 6E 65 72 64 3F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Kate Bush's 'Running Up That Hill' Hits No. 1 on Billboard Global 200 –  Billboard" id="233" name="Google Shape;2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175" y="2123325"/>
            <a:ext cx="26003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r Trek's Warp Drive Leads to New Physics - Scientific American" id="234" name="Google Shape;2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2175" y="127025"/>
            <a:ext cx="25717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cal SIM Card For All Greece 2022 - Athens" id="235" name="Google Shape;23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275" y="3332550"/>
            <a:ext cx="2030150" cy="135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575" y="152400"/>
            <a:ext cx="452686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500" y="152400"/>
            <a:ext cx="592083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875" y="152400"/>
            <a:ext cx="858624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888" y="152400"/>
            <a:ext cx="592023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13" y="315150"/>
            <a:ext cx="8194181" cy="451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/>
          <p:nvPr/>
        </p:nvSpPr>
        <p:spPr>
          <a:xfrm>
            <a:off x="5745550" y="1782475"/>
            <a:ext cx="1266000" cy="39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/>
          <p:nvPr/>
        </p:nvSpPr>
        <p:spPr>
          <a:xfrm>
            <a:off x="5745550" y="3863000"/>
            <a:ext cx="1266000" cy="39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5"/>
          <p:cNvSpPr/>
          <p:nvPr/>
        </p:nvSpPr>
        <p:spPr>
          <a:xfrm>
            <a:off x="1558175" y="3838700"/>
            <a:ext cx="1421700" cy="447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a minute… What just happened? What changed?</a:t>
            </a: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330800" y="1628450"/>
            <a:ext cx="4056900" cy="246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Perimeter</a:t>
            </a:r>
            <a:endParaRPr/>
          </a:p>
        </p:txBody>
      </p:sp>
      <p:sp>
        <p:nvSpPr>
          <p:cNvPr id="270" name="Google Shape;270;p36"/>
          <p:cNvSpPr/>
          <p:nvPr/>
        </p:nvSpPr>
        <p:spPr>
          <a:xfrm>
            <a:off x="3465625" y="1908225"/>
            <a:ext cx="2441700" cy="1627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350" y="1511125"/>
            <a:ext cx="230505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125" y="357325"/>
            <a:ext cx="6296425" cy="45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57 68 6F 20 72 65 6D 65 6D 62 65 72 73 20 34 2E 32 2E 32 2E 32 3F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2" name="Google Shape;2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725" y="315150"/>
            <a:ext cx="4671809" cy="451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8" name="Google Shape;2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800" y="315150"/>
            <a:ext cx="7204404" cy="45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CACAC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6438"/>
            <a:ext cx="8839201" cy="3350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/>
          <p:nvPr/>
        </p:nvSpPr>
        <p:spPr>
          <a:xfrm>
            <a:off x="1488100" y="1081600"/>
            <a:ext cx="1335300" cy="232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900113"/>
            <a:ext cx="666750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1"/>
          <p:cNvSpPr txBox="1"/>
          <p:nvPr/>
        </p:nvSpPr>
        <p:spPr>
          <a:xfrm>
            <a:off x="47175" y="4818000"/>
            <a:ext cx="90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48 61 63 6B 20 74 68 65 20 50 6C 61 6E 65 74 3F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/>
        </p:nvSpPr>
        <p:spPr>
          <a:xfrm>
            <a:off x="2823450" y="2277050"/>
            <a:ext cx="73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42"/>
          <p:cNvSpPr txBox="1"/>
          <p:nvPr>
            <p:ph type="title"/>
          </p:nvPr>
        </p:nvSpPr>
        <p:spPr>
          <a:xfrm>
            <a:off x="1052550" y="1735550"/>
            <a:ext cx="70389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“inny”</a:t>
            </a:r>
            <a:endParaRPr/>
          </a:p>
        </p:txBody>
      </p:sp>
      <p:sp>
        <p:nvSpPr>
          <p:cNvPr id="308" name="Google Shape;308;p42"/>
          <p:cNvSpPr txBox="1"/>
          <p:nvPr>
            <p:ph type="title"/>
          </p:nvPr>
        </p:nvSpPr>
        <p:spPr>
          <a:xfrm>
            <a:off x="2272700" y="1735550"/>
            <a:ext cx="70389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Insider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/>
          <p:nvPr/>
        </p:nvSpPr>
        <p:spPr>
          <a:xfrm>
            <a:off x="229050" y="598325"/>
            <a:ext cx="8736900" cy="4031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6200"/>
            <a:ext cx="8839202" cy="411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150" y="152400"/>
            <a:ext cx="650370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/>
          <p:nvPr/>
        </p:nvSpPr>
        <p:spPr>
          <a:xfrm>
            <a:off x="629475" y="1908550"/>
            <a:ext cx="7885200" cy="1326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63" y="1908550"/>
            <a:ext cx="7885074" cy="1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200" y="152400"/>
            <a:ext cx="53016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475" y="152400"/>
            <a:ext cx="847906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Identity Management?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8"/>
          <p:cNvSpPr txBox="1"/>
          <p:nvPr/>
        </p:nvSpPr>
        <p:spPr>
          <a:xfrm>
            <a:off x="819650" y="980125"/>
            <a:ext cx="72819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enforce, strong usernames and passwords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have MFA on all our webapps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use PIV MFA to for laptop access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=========================================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about that web application that someone signed up for with the corporate card that IT doesn’t know about and doesn’t have MFA?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Original NESTLÉ® TOLL HOUSE® Chocolate Chip Cookie Recipe" id="342" name="Google Shape;34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250" y="2875075"/>
            <a:ext cx="2414700" cy="16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/>
          <p:nvPr/>
        </p:nvSpPr>
        <p:spPr>
          <a:xfrm>
            <a:off x="292650" y="2836625"/>
            <a:ext cx="2174700" cy="1487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25" y="819100"/>
            <a:ext cx="8839200" cy="3505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795338"/>
            <a:ext cx="22860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0"/>
          <p:cNvSpPr/>
          <p:nvPr/>
        </p:nvSpPr>
        <p:spPr>
          <a:xfrm>
            <a:off x="5277850" y="4006650"/>
            <a:ext cx="1920300" cy="470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1052550" y="2114700"/>
            <a:ext cx="70389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Indirect Matches?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/>
          <p:nvPr/>
        </p:nvSpPr>
        <p:spPr>
          <a:xfrm>
            <a:off x="152250" y="1310525"/>
            <a:ext cx="8839200" cy="1170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2200"/>
            <a:ext cx="8839203" cy="36162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2"/>
          <p:cNvSpPr txBox="1"/>
          <p:nvPr>
            <p:ph type="title"/>
          </p:nvPr>
        </p:nvSpPr>
        <p:spPr>
          <a:xfrm>
            <a:off x="1052550" y="396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that Supply Chain?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/>
          <p:nvPr>
            <p:ph type="title"/>
          </p:nvPr>
        </p:nvSpPr>
        <p:spPr>
          <a:xfrm>
            <a:off x="1052550" y="396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I told you that there are 3 vulnerabilities in your supply chain that don’t have CVE’s and 1 of them is an RCE </a:t>
            </a:r>
            <a:endParaRPr/>
          </a:p>
        </p:txBody>
      </p:sp>
      <p:pic>
        <p:nvPicPr>
          <p:cNvPr descr="Here's What Happened To Morpheus In The Matrix Resurrections" id="372" name="Google Shape;37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830488"/>
            <a:ext cx="28575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3961163"/>
            <a:ext cx="29908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5450" y="3929663"/>
            <a:ext cx="2990850" cy="8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3"/>
          <p:cNvSpPr/>
          <p:nvPr/>
        </p:nvSpPr>
        <p:spPr>
          <a:xfrm flipH="1">
            <a:off x="3721350" y="3533700"/>
            <a:ext cx="1701300" cy="1609800"/>
          </a:xfrm>
          <a:prstGeom prst="mathPlus">
            <a:avLst>
              <a:gd fmla="val 20698" name="adj1"/>
            </a:avLst>
          </a:prstGeom>
          <a:solidFill>
            <a:srgbClr val="3DE4D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“INT”</a:t>
            </a:r>
            <a:endParaRPr/>
          </a:p>
        </p:txBody>
      </p:sp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1398425" y="1008825"/>
            <a:ext cx="5882400" cy="176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“INT” has evolved.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 2018 Mark Arnold called out the “INT” disciplines that guided the start of “Threat </a:t>
            </a:r>
            <a:r>
              <a:rPr lang="en"/>
              <a:t>Intelligence</a:t>
            </a:r>
            <a:r>
              <a:rPr lang="en"/>
              <a:t>”:</a:t>
            </a:r>
            <a:br>
              <a:rPr lang="en"/>
            </a:br>
            <a:br>
              <a:rPr lang="en"/>
            </a:br>
            <a:r>
              <a:rPr lang="en"/>
              <a:t>HUMINT</a:t>
            </a:r>
            <a:br>
              <a:rPr lang="en"/>
            </a:br>
            <a:r>
              <a:rPr lang="en"/>
              <a:t>GEOINT</a:t>
            </a:r>
            <a:br>
              <a:rPr lang="en"/>
            </a:br>
            <a:r>
              <a:rPr lang="en"/>
              <a:t>MASINT</a:t>
            </a:r>
            <a:br>
              <a:rPr lang="en"/>
            </a:br>
            <a:r>
              <a:rPr lang="en"/>
              <a:t>OSINT</a:t>
            </a:r>
            <a:br>
              <a:rPr lang="en"/>
            </a:br>
            <a:r>
              <a:rPr lang="en"/>
              <a:t>SIGINT</a:t>
            </a:r>
            <a:br>
              <a:rPr lang="en"/>
            </a:br>
            <a:r>
              <a:rPr lang="en"/>
              <a:t>TECHINT</a:t>
            </a:r>
            <a:br>
              <a:rPr lang="en"/>
            </a:br>
            <a:r>
              <a:rPr lang="en"/>
              <a:t>CYBINT/DNINT</a:t>
            </a:r>
            <a:br>
              <a:rPr lang="en"/>
            </a:br>
            <a:r>
              <a:rPr lang="en"/>
              <a:t>FININT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While there is significant overlap, those do not always apply to our world. We have to rethink this ontological framework.</a:t>
            </a:r>
            <a:endParaRPr/>
          </a:p>
        </p:txBody>
      </p:sp>
      <p:pic>
        <p:nvPicPr>
          <p:cNvPr id="382" name="Google Shape;38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767" y="2146044"/>
            <a:ext cx="3523333" cy="17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7948" y="2029562"/>
            <a:ext cx="2190977" cy="199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5475" y="1879950"/>
            <a:ext cx="23050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9251" y="1956155"/>
            <a:ext cx="2305049" cy="171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Ontologies have to change:</a:t>
            </a:r>
            <a:endParaRPr/>
          </a:p>
        </p:txBody>
      </p:sp>
      <p:sp>
        <p:nvSpPr>
          <p:cNvPr id="391" name="Google Shape;391;p55"/>
          <p:cNvSpPr txBox="1"/>
          <p:nvPr>
            <p:ph idx="1" type="body"/>
          </p:nvPr>
        </p:nvSpPr>
        <p:spPr>
          <a:xfrm>
            <a:off x="1297500" y="1005300"/>
            <a:ext cx="7038900" cy="3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Threat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OSINT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Deep and Dark Web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Vulnerability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Breach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Identity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Attack Surface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Financial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Geo Political / Geo Spatial Intelligence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Security Community Intelligence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intelligence</a:t>
            </a:r>
            <a:endParaRPr/>
          </a:p>
        </p:txBody>
      </p:sp>
      <p:sp>
        <p:nvSpPr>
          <p:cNvPr id="397" name="Google Shape;397;p56"/>
          <p:cNvSpPr txBox="1"/>
          <p:nvPr>
            <p:ph type="title"/>
          </p:nvPr>
        </p:nvSpPr>
        <p:spPr>
          <a:xfrm>
            <a:off x="1777125" y="2403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Actionable?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>
            <p:ph type="ctrTitle"/>
          </p:nvPr>
        </p:nvSpPr>
        <p:spPr>
          <a:xfrm>
            <a:off x="0" y="2268900"/>
            <a:ext cx="9144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Partyka, SVP Engineering</a:t>
            </a:r>
            <a:endParaRPr/>
          </a:p>
        </p:txBody>
      </p:sp>
      <p:sp>
        <p:nvSpPr>
          <p:cNvPr id="403" name="Google Shape;403;p57"/>
          <p:cNvSpPr txBox="1"/>
          <p:nvPr>
            <p:ph idx="1" type="subTitle"/>
          </p:nvPr>
        </p:nvSpPr>
        <p:spPr>
          <a:xfrm>
            <a:off x="0" y="2761025"/>
            <a:ext cx="91440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Flashpoint.io</a:t>
            </a:r>
            <a:endParaRPr/>
          </a:p>
        </p:txBody>
      </p:sp>
      <p:pic>
        <p:nvPicPr>
          <p:cNvPr id="404" name="Google Shape;4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62" y="199575"/>
            <a:ext cx="2106778" cy="24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237" y="144649"/>
            <a:ext cx="1461500" cy="14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7"/>
          <p:cNvSpPr txBox="1"/>
          <p:nvPr>
            <p:ph idx="1" type="subTitle"/>
          </p:nvPr>
        </p:nvSpPr>
        <p:spPr>
          <a:xfrm>
            <a:off x="-27425" y="3309075"/>
            <a:ext cx="91440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