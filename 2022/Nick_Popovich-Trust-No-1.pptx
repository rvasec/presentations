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61" r:id="rId3"/>
    <p:sldId id="303" r:id="rId4"/>
    <p:sldId id="257" r:id="rId5"/>
    <p:sldId id="27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82" r:id="rId15"/>
    <p:sldId id="265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5" r:id="rId27"/>
    <p:sldId id="289" r:id="rId28"/>
    <p:sldId id="290" r:id="rId29"/>
    <p:sldId id="288" r:id="rId30"/>
    <p:sldId id="292" r:id="rId31"/>
    <p:sldId id="293" r:id="rId32"/>
    <p:sldId id="294" r:id="rId33"/>
    <p:sldId id="295" r:id="rId34"/>
    <p:sldId id="287" r:id="rId35"/>
    <p:sldId id="296" r:id="rId36"/>
    <p:sldId id="286" r:id="rId37"/>
    <p:sldId id="297" r:id="rId38"/>
    <p:sldId id="283" r:id="rId39"/>
    <p:sldId id="298" r:id="rId40"/>
    <p:sldId id="300" r:id="rId41"/>
    <p:sldId id="299" r:id="rId42"/>
    <p:sldId id="301" r:id="rId43"/>
    <p:sldId id="302" r:id="rId44"/>
    <p:sldId id="259" r:id="rId45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5" autoAdjust="0"/>
    <p:restoredTop sz="96353" autoAdjust="0"/>
  </p:normalViewPr>
  <p:slideViewPr>
    <p:cSldViewPr>
      <p:cViewPr varScale="1">
        <p:scale>
          <a:sx n="113" d="100"/>
          <a:sy n="113" d="100"/>
        </p:scale>
        <p:origin x="1398" y="108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3T19:36:58.8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24575,'1'5'0,"1"0"0,0-1 0,0 0 0,0 1 0,0-1 0,1 0 0,0 0 0,-1 0 0,2 0 0,-1-1 0,0 1 0,1-1 0,-1 0 0,6 4 0,6 7 0,8 12 0,-14-15 0,1 0 0,21 18 0,-29-28 0,-1 0 0,1-1 0,-1 1 0,1-1 0,-1 1 0,1-1 0,-1 1 0,1-1 0,0 0 0,-1 0 0,1 0 0,-1 0 0,1 0 0,0 0 0,-1-1 0,1 1 0,-1 0 0,1-1 0,-1 1 0,1-1 0,-1 0 0,1 1 0,-1-1 0,1 0 0,-1 0 0,2-2 0,37-32 0,-31 25 0,47-44-455,2 2 0,101-69 0,-138 108-6371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3T19:37:23.4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24575,'1'5'0,"1"0"0,0-1 0,0 0 0,0 1 0,0-1 0,1 0 0,0 0 0,-1 0 0,2 0 0,-1-1 0,0 1 0,1-1 0,-1 0 0,6 4 0,6 7 0,8 12 0,-14-15 0,1 0 0,21 18 0,-29-28 0,-1 0 0,1-1 0,-1 1 0,1-1 0,-1 1 0,1-1 0,-1 1 0,1-1 0,0 0 0,-1 0 0,1 0 0,-1 0 0,1 0 0,0 0 0,-1-1 0,1 1 0,-1 0 0,1-1 0,-1 1 0,1-1 0,-1 0 0,1 1 0,-1-1 0,1 0 0,-1 0 0,2-2 0,37-32 0,-31 25 0,47-44-455,2 2 0,101-69 0,-138 108-6371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3T19:38:19.8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24575,'1'5'0,"1"0"0,0-1 0,0 0 0,0 1 0,0-1 0,1 0 0,0 0 0,-1 0 0,2 0 0,-1-1 0,0 1 0,1-1 0,-1 0 0,6 4 0,6 7 0,8 12 0,-14-15 0,1 0 0,21 18 0,-29-28 0,-1 0 0,1-1 0,-1 1 0,1-1 0,-1 1 0,1-1 0,-1 1 0,1-1 0,0 0 0,-1 0 0,1 0 0,-1 0 0,1 0 0,0 0 0,-1-1 0,1 1 0,-1 0 0,1-1 0,-1 1 0,1-1 0,-1 0 0,1 1 0,-1-1 0,1 0 0,-1 0 0,2-2 0,37-32 0,-31 25 0,47-44-455,2 2 0,101-69 0,-138 108-6371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3T19:38:22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24575,'1'5'0,"1"0"0,0-1 0,0 0 0,0 1 0,0-1 0,1 0 0,0 0 0,-1 0 0,2 0 0,-1-1 0,0 1 0,1-1 0,-1 0 0,6 4 0,6 7 0,8 12 0,-14-15 0,1 0 0,21 18 0,-29-28 0,-1 0 0,1-1 0,-1 1 0,1-1 0,-1 1 0,1-1 0,-1 1 0,1-1 0,0 0 0,-1 0 0,1 0 0,-1 0 0,1 0 0,0 0 0,-1-1 0,1 1 0,-1 0 0,1-1 0,-1 1 0,1-1 0,-1 0 0,1 1 0,-1-1 0,1 0 0,-1 0 0,2-2 0,37-32 0,-31 25 0,47-44-455,2 2 0,101-69 0,-138 108-6371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3T19:38:52.3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24575,'1'5'0,"1"0"0,0-1 0,0 0 0,0 1 0,0-1 0,1 0 0,0 0 0,-1 0 0,2 0 0,-1-1 0,0 1 0,1-1 0,-1 0 0,6 4 0,6 7 0,8 12 0,-14-15 0,1 0 0,21 18 0,-29-28 0,-1 0 0,1-1 0,-1 1 0,1-1 0,-1 1 0,1-1 0,-1 1 0,1-1 0,0 0 0,-1 0 0,1 0 0,-1 0 0,1 0 0,0 0 0,-1-1 0,1 1 0,-1 0 0,1-1 0,-1 1 0,1-1 0,-1 0 0,1 1 0,-1-1 0,1 0 0,-1 0 0,2-2 0,37-32 0,-31 25 0,47-44-455,2 2 0,101-69 0,-138 108-6371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45F0C-7DC7-4809-B372-D5F0E63999F9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8F7F3-E4F5-42DC-9EFF-0B0805F6C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0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2016 hours at bill rate of 230 (cogs estimate $115) revenue = 1803200 GP = 901,600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8F7F3-E4F5-42DC-9EFF-0B0805F6C32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697263"/>
            <a:ext cx="7772400" cy="1225021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2077415"/>
            <a:ext cx="6400800" cy="84009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20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7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9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0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5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9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27544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5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195920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1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1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5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5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8"/>
            <a:ext cx="2057400" cy="4876271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8"/>
            <a:ext cx="6019800" cy="4876271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3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C7B30-D965-4227-A79E-29A1BD3CA070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C41A6-590B-475E-A8FA-4FEA8C2D2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0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Trust No 1</a:t>
            </a:r>
            <a:endParaRPr lang="en-US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E709B25-A7EB-D0A0-5DAF-079FD4E3D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7565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Background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E3CD4E-A537-DC06-830E-33A8229AF5EE}"/>
              </a:ext>
            </a:extLst>
          </p:cNvPr>
          <p:cNvSpPr txBox="1">
            <a:spLocks/>
          </p:cNvSpPr>
          <p:nvPr/>
        </p:nvSpPr>
        <p:spPr>
          <a:xfrm>
            <a:off x="457200" y="876300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Phishing</a:t>
            </a:r>
          </a:p>
          <a:p>
            <a:pPr algn="l"/>
            <a:r>
              <a:rPr lang="en-US" sz="18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Definition(s):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A technique for attempting to acquire sensitive data, such as bank account numbers, through a fraudulent solicitation in email or on a web site, in which the perpetrator masquerades as a legitimate business or reputable person.</a:t>
            </a:r>
          </a:p>
          <a:p>
            <a:pPr algn="r"/>
            <a:r>
              <a:rPr lang="en-US" sz="1800" dirty="0">
                <a:solidFill>
                  <a:srgbClr val="333333"/>
                </a:solidFill>
                <a:latin typeface="Source Sans Pro" panose="020B0503030403020204" pitchFamily="34" charset="0"/>
              </a:rPr>
              <a:t>- </a:t>
            </a: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NIST SP 800-12 Rev. 1 under Phishing from IETF RFC 4949 Ver 2</a:t>
            </a:r>
          </a:p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Common guidance on identifying phishing</a:t>
            </a: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Urgent call to action or threats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First time or infrequent senders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Generic greetings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Mismatched email domains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Suspicious links or unexpected attachments</a:t>
            </a:r>
          </a:p>
          <a:p>
            <a:pPr marL="171450" indent="-171450" algn="r"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Microsoft https://support.microsoft.com/en-us/windows/protect-yourself-from-phishing-0c7ea947-ba98-3bd9-7184-430e1f860a44</a:t>
            </a:r>
          </a:p>
          <a:p>
            <a:pPr marL="171450" indent="-171450" algn="r">
              <a:buFontTx/>
              <a:buChar char="-"/>
            </a:pPr>
            <a:endParaRPr lang="en-US" sz="1000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sz="1600" b="1" dirty="0">
                <a:solidFill>
                  <a:srgbClr val="333333"/>
                </a:solidFill>
                <a:latin typeface="Source Sans Pro" panose="020B0503030403020204" pitchFamily="34" charset="0"/>
              </a:rPr>
              <a:t>Some stats pulled from the Anti-Phishing Working Group</a:t>
            </a: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Phishers themselves register more than half of the domain names on which phishing occurs.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Sixty-five percent of maliciously registered domain names are used for phishing within five days of registration.</a:t>
            </a:r>
          </a:p>
          <a:p>
            <a:pPr algn="r"/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- </a:t>
            </a: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https://apwg.org/phishing-landscape-2020-a-study-of-the-scope-and-distribution-of-phishing/</a:t>
            </a:r>
          </a:p>
        </p:txBody>
      </p:sp>
    </p:spTree>
    <p:extLst>
      <p:ext uri="{BB962C8B-B14F-4D97-AF65-F5344CB8AC3E}">
        <p14:creationId xmlns:p14="http://schemas.microsoft.com/office/powerpoint/2010/main" val="148988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Background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E3CD4E-A537-DC06-830E-33A8229AF5EE}"/>
              </a:ext>
            </a:extLst>
          </p:cNvPr>
          <p:cNvSpPr txBox="1">
            <a:spLocks/>
          </p:cNvSpPr>
          <p:nvPr/>
        </p:nvSpPr>
        <p:spPr>
          <a:xfrm>
            <a:off x="457200" y="876300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Command and Control(C2 or C&amp;C)</a:t>
            </a:r>
          </a:p>
          <a:p>
            <a:pPr algn="l"/>
            <a:r>
              <a:rPr lang="en-US" sz="18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Definition(s):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A command-and-control [C&amp;C] server is a computer controlled by an attacker or cybercriminal which is used to send commands to systems compromised by malware and receive stolen data from a target network. </a:t>
            </a:r>
          </a:p>
          <a:p>
            <a:pPr marL="171450" indent="-171450" algn="r"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TrendMicro https://www.trendmicro.com/vinfo/us/security/definition/command-and-control-server</a:t>
            </a:r>
          </a:p>
          <a:p>
            <a:pPr marL="171450" indent="-171450" algn="r">
              <a:buFontTx/>
              <a:buChar char="-"/>
            </a:pPr>
            <a:endParaRPr lang="en-US" sz="1000" dirty="0">
              <a:solidFill>
                <a:srgbClr val="333333"/>
              </a:solidFill>
              <a:latin typeface="Source Sans Pro" panose="020B0503030403020204" pitchFamily="34" charset="0"/>
            </a:endParaRPr>
          </a:p>
          <a:p>
            <a:pPr marL="171450" indent="-171450" algn="l">
              <a:buFontTx/>
              <a:buChar char="-"/>
            </a:pPr>
            <a:endParaRPr lang="en-US" sz="1000" dirty="0">
              <a:solidFill>
                <a:srgbClr val="333333"/>
              </a:solidFill>
              <a:latin typeface="Source Sans Pro" panose="020B0503030403020204" pitchFamily="34" charset="0"/>
            </a:endParaRPr>
          </a:p>
          <a:p>
            <a:pPr marL="171450" indent="-171450" algn="r">
              <a:buFontTx/>
              <a:buChar char="-"/>
            </a:pPr>
            <a:endParaRPr lang="en-US" sz="1000" dirty="0">
              <a:solidFill>
                <a:srgbClr val="333333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500B275-5DE5-36FB-16BB-A481AD72F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05100"/>
            <a:ext cx="58769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522F6C-AFCA-2E6B-80FD-8A91AB5B0FA4}"/>
              </a:ext>
            </a:extLst>
          </p:cNvPr>
          <p:cNvSpPr txBox="1"/>
          <p:nvPr/>
        </p:nvSpPr>
        <p:spPr>
          <a:xfrm>
            <a:off x="3048000" y="4229100"/>
            <a:ext cx="3988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  <a:ea typeface="+mj-ea"/>
                <a:cs typeface="+mj-cs"/>
              </a:rPr>
              <a:t>-  Image from: https://payatu.com/redteaming-from-zero-to-one-part-1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1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Background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E3CD4E-A537-DC06-830E-33A8229AF5EE}"/>
              </a:ext>
            </a:extLst>
          </p:cNvPr>
          <p:cNvSpPr txBox="1">
            <a:spLocks/>
          </p:cNvSpPr>
          <p:nvPr/>
        </p:nvSpPr>
        <p:spPr>
          <a:xfrm>
            <a:off x="457200" y="876300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Organizations have steadily transitioned to relying on third-party entities to provide many common services to employees. </a:t>
            </a:r>
            <a:endParaRPr lang="en-US" sz="1800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F5BDA-D901-D7AE-4671-4737DBF7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90762"/>
            <a:ext cx="2533650" cy="619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D18B37-850C-8691-3E49-0F97E631F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332" y="2666379"/>
            <a:ext cx="1733550" cy="1181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063624-E826-2BA1-16DA-6F4DE7836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334" y="1789458"/>
            <a:ext cx="1533525" cy="590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14C63C-D9C6-A1B2-E007-415243F9E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10" y="3925542"/>
            <a:ext cx="1619250" cy="895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32C73D-3FDE-BB87-7355-73808EF6D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2743" y="2115171"/>
            <a:ext cx="1457325" cy="342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41E813-2440-34FB-800A-44E1347DC6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70" y="2728912"/>
            <a:ext cx="1162050" cy="8667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4BFFF7-A322-CAD8-544D-48C235FE1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90057"/>
            <a:ext cx="2633663" cy="11786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26E27C4-8507-F788-C36E-47621538C1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315" y="5032202"/>
            <a:ext cx="1838325" cy="5810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34EE933-1BAA-F8F7-3BFD-F2558BAA5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3170907"/>
            <a:ext cx="17811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6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Living Off Trusted Sites (LOTS)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CA6C-0503-FADA-D39B-A26F863C1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https://lots-project.com/ - </a:t>
            </a:r>
            <a:r>
              <a:rPr lang="en-US" sz="1600" dirty="0"/>
              <a:t>https://twitter.com/mrd0x</a:t>
            </a:r>
          </a:p>
        </p:txBody>
      </p:sp>
    </p:spTree>
    <p:extLst>
      <p:ext uri="{BB962C8B-B14F-4D97-AF65-F5344CB8AC3E}">
        <p14:creationId xmlns:p14="http://schemas.microsoft.com/office/powerpoint/2010/main" val="344951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/>
              <a:t>Groundback</a:t>
            </a:r>
            <a:endParaRPr lang="en-US" sz="32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E3CD4E-A537-DC06-830E-33A8229AF5EE}"/>
              </a:ext>
            </a:extLst>
          </p:cNvPr>
          <p:cNvSpPr txBox="1">
            <a:spLocks/>
          </p:cNvSpPr>
          <p:nvPr/>
        </p:nvSpPr>
        <p:spPr>
          <a:xfrm>
            <a:off x="457200" y="876300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Phishing</a:t>
            </a:r>
          </a:p>
          <a:p>
            <a:pPr algn="l"/>
            <a:r>
              <a:rPr lang="en-US" sz="18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Definition(s):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A technique for attempting to acquire sensitive data, such as bank account numbers, through a fraudulent solicitation in email or on a web site, in which the perpetrator masquerades as a legitimate business or reputable person.</a:t>
            </a:r>
          </a:p>
          <a:p>
            <a:pPr algn="r"/>
            <a:r>
              <a:rPr lang="en-US" sz="1800" dirty="0">
                <a:solidFill>
                  <a:srgbClr val="333333"/>
                </a:solidFill>
                <a:latin typeface="Source Sans Pro" panose="020B0503030403020204" pitchFamily="34" charset="0"/>
              </a:rPr>
              <a:t>- </a:t>
            </a: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NIST SP 800-12 Rev. 1 under Phishing from IETF RFC 4949 Ver 2</a:t>
            </a:r>
          </a:p>
          <a:p>
            <a:pPr algn="l"/>
            <a:r>
              <a:rPr lang="en-US" sz="16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Common guidance on identifying phishing</a:t>
            </a: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Urgent call to action or threats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First time or infrequent senders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Generic greetings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Mismatched email domains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Suspicious links or unexpected attachments</a:t>
            </a:r>
          </a:p>
          <a:p>
            <a:pPr marL="171450" indent="-171450" algn="r">
              <a:buFontTx/>
              <a:buChar char="-"/>
            </a:pP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Microsoft https://support.microsoft.com/en-us/windows/protect-yourself-from-phishing-0c7ea947-ba98-3bd9-7184-430e1f860a44</a:t>
            </a:r>
          </a:p>
          <a:p>
            <a:pPr marL="171450" indent="-171450" algn="r">
              <a:buFontTx/>
              <a:buChar char="-"/>
            </a:pPr>
            <a:endParaRPr lang="en-US" sz="1000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US" sz="1600" b="1" dirty="0">
                <a:solidFill>
                  <a:srgbClr val="333333"/>
                </a:solidFill>
                <a:latin typeface="Source Sans Pro" panose="020B0503030403020204" pitchFamily="34" charset="0"/>
              </a:rPr>
              <a:t>Some stats pulled from the Anti-Phishing Working Group</a:t>
            </a: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Phishers themselves register more than half of the domain names on which phishing occurs.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Sixty-five percent of maliciously registered domain names are used for phishing within five days of registration.</a:t>
            </a:r>
          </a:p>
          <a:p>
            <a:pPr algn="r"/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- </a:t>
            </a: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https://apwg.org/phishing-landscape-2020-a-study-of-the-scope-and-distribution-of-phishing/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9B0134-314D-9322-2D23-0DB0F8DC31E5}"/>
                  </a:ext>
                </a:extLst>
              </p14:cNvPr>
              <p14:cNvContentPartPr/>
              <p14:nvPr/>
            </p14:nvContentPartPr>
            <p14:xfrm>
              <a:off x="3546600" y="2369940"/>
              <a:ext cx="187200" cy="106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9B0134-314D-9322-2D23-0DB0F8DC31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7600" y="2360940"/>
                <a:ext cx="204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5025A0B-67DF-063B-0AE8-836110290374}"/>
                  </a:ext>
                </a:extLst>
              </p14:cNvPr>
              <p14:cNvContentPartPr/>
              <p14:nvPr/>
            </p14:nvContentPartPr>
            <p14:xfrm>
              <a:off x="3560515" y="2552700"/>
              <a:ext cx="187200" cy="106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5025A0B-67DF-063B-0AE8-8361102903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1515" y="2543700"/>
                <a:ext cx="204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1F38E61-1084-9816-0ECE-F981FE3B868E}"/>
                  </a:ext>
                </a:extLst>
              </p14:cNvPr>
              <p14:cNvContentPartPr/>
              <p14:nvPr/>
            </p14:nvContentPartPr>
            <p14:xfrm>
              <a:off x="2667000" y="2804220"/>
              <a:ext cx="187200" cy="10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1F38E61-1084-9816-0ECE-F981FE3B86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8000" y="2795220"/>
                <a:ext cx="204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9A662EE-B091-211B-1239-6FB1BFB6B645}"/>
                  </a:ext>
                </a:extLst>
              </p14:cNvPr>
              <p14:cNvContentPartPr/>
              <p14:nvPr/>
            </p14:nvContentPartPr>
            <p14:xfrm>
              <a:off x="3276600" y="3055740"/>
              <a:ext cx="187200" cy="106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9A662EE-B091-211B-1239-6FB1BFB6B6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7600" y="3046740"/>
                <a:ext cx="204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C3268E-15F3-4AE4-49BC-19EB5E7FEFE2}"/>
                  </a:ext>
                </a:extLst>
              </p14:cNvPr>
              <p14:cNvContentPartPr/>
              <p14:nvPr/>
            </p14:nvContentPartPr>
            <p14:xfrm>
              <a:off x="4648200" y="3238500"/>
              <a:ext cx="187200" cy="10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C3268E-15F3-4AE4-49BC-19EB5E7FEF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9200" y="3229500"/>
                <a:ext cx="204840" cy="1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92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Don’t Put It Down, Put It Away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E3CD4E-A537-DC06-830E-33A8229AF5EE}"/>
              </a:ext>
            </a:extLst>
          </p:cNvPr>
          <p:cNvSpPr txBox="1">
            <a:spLocks/>
          </p:cNvSpPr>
          <p:nvPr/>
        </p:nvSpPr>
        <p:spPr>
          <a:xfrm>
            <a:off x="457200" y="876300"/>
            <a:ext cx="8229600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habituation </a:t>
            </a:r>
          </a:p>
          <a:p>
            <a:pPr algn="l"/>
            <a:r>
              <a:rPr lang="en-US" sz="1800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Definition(s):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decrease in responsiveness upon repeated exposure to a stimulus</a:t>
            </a:r>
          </a:p>
          <a:p>
            <a:pPr algn="r"/>
            <a:r>
              <a:rPr lang="en-US" sz="1800" dirty="0">
                <a:solidFill>
                  <a:srgbClr val="333333"/>
                </a:solidFill>
                <a:latin typeface="Source Sans Pro" panose="020B0503030403020204" pitchFamily="34" charset="0"/>
              </a:rPr>
              <a:t>- </a:t>
            </a:r>
            <a:r>
              <a:rPr lang="en-US" sz="1000" dirty="0">
                <a:solidFill>
                  <a:srgbClr val="333333"/>
                </a:solidFill>
                <a:latin typeface="Source Sans Pro" panose="020B0503030403020204" pitchFamily="34" charset="0"/>
              </a:rPr>
              <a:t>https://www.merriam-webster.com/dictionary/habituation</a:t>
            </a:r>
          </a:p>
        </p:txBody>
      </p:sp>
    </p:spTree>
    <p:extLst>
      <p:ext uri="{BB962C8B-B14F-4D97-AF65-F5344CB8AC3E}">
        <p14:creationId xmlns:p14="http://schemas.microsoft.com/office/powerpoint/2010/main" val="29162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Crash Course: Setup Up a Phishing/C2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CA6C-0503-FADA-D39B-A26F863C1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2800" dirty="0"/>
              <a:t>Acquire Domain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Categorize Domain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Establishing DNS Records (MX/SPF/DMARC/DKIM)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Email Warm Up </a:t>
            </a:r>
          </a:p>
          <a:p>
            <a:pPr>
              <a:buFont typeface="+mj-lt"/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84432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Acquire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CA6C-0503-FADA-D39B-A26F863C1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05" y="971682"/>
            <a:ext cx="8229600" cy="377163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An expired domain with history is ideal (e.g. expireddomains.net)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2369F-CCB8-2EC1-69CA-14630A96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1257300"/>
            <a:ext cx="7322820" cy="44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Acquire Domain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B869C-E98D-3AE2-FD70-F811033CD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AD3EBF-5E24-1189-0FA1-B539DAEAD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40"/>
            <a:ext cx="9144000" cy="55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6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Categorize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CA6C-0503-FADA-D39B-A26F863C1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1682"/>
            <a:ext cx="8229600" cy="37716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If you’re domain is already categorized because you grabbed an expired domain: BONUS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Need to get domain categorized to add legitimacy for emails AND for egress filtering</a:t>
            </a:r>
          </a:p>
          <a:p>
            <a:r>
              <a:rPr lang="en-US" sz="1600" dirty="0"/>
              <a:t>https://sitereview.bluecoat.com</a:t>
            </a:r>
          </a:p>
          <a:p>
            <a:r>
              <a:rPr lang="en-US" sz="1600" dirty="0"/>
              <a:t>https://urlfiltering.paloaltonetworks.com/ </a:t>
            </a:r>
          </a:p>
          <a:p>
            <a:r>
              <a:rPr lang="en-US" sz="1600" dirty="0"/>
              <a:t>http://cfssupport.sonicwall.com/Support/web/eng/newui/viewRating.jsp</a:t>
            </a:r>
          </a:p>
          <a:p>
            <a:r>
              <a:rPr lang="en-US" sz="1600" dirty="0"/>
              <a:t>http://www.brightcloud.com/tools/url-ip-lookup.php</a:t>
            </a:r>
          </a:p>
          <a:p>
            <a:r>
              <a:rPr lang="en-US" sz="1600" dirty="0"/>
              <a:t>http://www.cyren.com/url-category-check.html</a:t>
            </a:r>
          </a:p>
          <a:p>
            <a:r>
              <a:rPr lang="en-US" sz="1600" dirty="0"/>
              <a:t>http://fortiguard.com/iprep?data=www.medforms.info#submit_form</a:t>
            </a:r>
          </a:p>
          <a:p>
            <a:r>
              <a:rPr lang="en-US" sz="1600" dirty="0"/>
              <a:t>http://csc.cyberoam.com/cyberoamsupport/webpages/webcat/webcathome.jsp</a:t>
            </a:r>
          </a:p>
          <a:p>
            <a:r>
              <a:rPr lang="en-US" sz="1600" dirty="0"/>
              <a:t>http://url.fortinet.net/rate/support.php?ref=nrt</a:t>
            </a:r>
          </a:p>
          <a:p>
            <a:r>
              <a:rPr lang="en-US" sz="1600" dirty="0"/>
              <a:t>https://global.sitesafety.trendmicro.com/</a:t>
            </a:r>
          </a:p>
          <a:p>
            <a:r>
              <a:rPr lang="en-US" sz="1600" dirty="0"/>
              <a:t>http://www.trustedsource.org/en/feedback/url?action=checksingle</a:t>
            </a:r>
          </a:p>
          <a:p>
            <a:r>
              <a:rPr lang="en-US" sz="1600" dirty="0"/>
              <a:t>http://www.barracudacentral.org/report/website-category/https://www.checkpoint.com/urlcat/main.htm</a:t>
            </a:r>
          </a:p>
        </p:txBody>
      </p:sp>
    </p:spTree>
    <p:extLst>
      <p:ext uri="{BB962C8B-B14F-4D97-AF65-F5344CB8AC3E}">
        <p14:creationId xmlns:p14="http://schemas.microsoft.com/office/powerpoint/2010/main" val="66339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Categorize Domain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341313-5E10-0C30-DBD8-D00114E3E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57773-F7AA-037F-DCB6-6C984A08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28569"/>
            <a:ext cx="6971785" cy="43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36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Categorize Domain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341313-5E10-0C30-DBD8-D00114E3E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EAA1F-CD44-23DE-E1F4-918AC481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26" y="987704"/>
            <a:ext cx="6935474" cy="472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6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347E-FA8A-B298-20F5-A9942EAF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Categorize Domain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F3847-2E74-B2C3-C8A3-6B1200E3E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092"/>
            <a:ext cx="9144000" cy="314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(MX)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E2873E-4AF8-8591-7E69-C5518187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57557C-9955-1455-5CDB-5C858BAB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869"/>
            <a:ext cx="9144000" cy="26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4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(MX)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E2873E-4AF8-8591-7E69-C5518187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35553-3ABD-285A-64CC-307872DE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181366"/>
            <a:ext cx="86296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17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(SPF)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AC94D2-8786-A0A8-4C3D-0FD59F851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900"/>
            <a:ext cx="9144000" cy="402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23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(SPF)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D7FAD-626A-65EF-3185-74CB6B743C95}"/>
              </a:ext>
            </a:extLst>
          </p:cNvPr>
          <p:cNvSpPr txBox="1"/>
          <p:nvPr/>
        </p:nvSpPr>
        <p:spPr>
          <a:xfrm>
            <a:off x="482065" y="438834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SPF = Sender Policy Framework. DNS record that shows which entities are allowed to send emails for your domain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55C4CD-348A-A4F8-2098-E975DFB38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8" y="1085164"/>
            <a:ext cx="5735101" cy="462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0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(SPF)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EBED-F218-517B-E97B-832AD31C4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388"/>
            <a:ext cx="9144000" cy="269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6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(DKIM)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66522-9EAE-E4B0-4286-1B6CBE8771BF}"/>
              </a:ext>
            </a:extLst>
          </p:cNvPr>
          <p:cNvSpPr txBox="1"/>
          <p:nvPr/>
        </p:nvSpPr>
        <p:spPr>
          <a:xfrm>
            <a:off x="494930" y="577334"/>
            <a:ext cx="8344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DKIM = DomainKeys Identified Mail: Email system signs header with private key, public key is published to DNS to validate signature.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9015B3-545A-88C7-2976-A710ABAA3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223664"/>
            <a:ext cx="8878233" cy="42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23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(DKIM)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28666-9A95-ABCC-BDBC-4A445AB2E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0991"/>
            <a:ext cx="9144000" cy="281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9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(DKIM)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E603F-7D7D-0D93-F816-A457A06C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09310"/>
            <a:ext cx="8446371" cy="520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3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(DMARC)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F96C3-AF2F-254D-9244-43554CD070C6}"/>
              </a:ext>
            </a:extLst>
          </p:cNvPr>
          <p:cNvSpPr txBox="1"/>
          <p:nvPr/>
        </p:nvSpPr>
        <p:spPr>
          <a:xfrm>
            <a:off x="419470" y="577334"/>
            <a:ext cx="73529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DMARC= Domain-based Message Authentication, Reporting &amp; Conformance</a:t>
            </a:r>
          </a:p>
          <a:p>
            <a:endParaRPr lang="en-US" dirty="0"/>
          </a:p>
          <a:p>
            <a:r>
              <a:rPr lang="en-US" dirty="0"/>
              <a:t>TL;DR DNS TXT record that specifies a policy on what to do with emails from sources you don’t trust, based on result of SPF and DKIM. Reject, quarantine,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pic>
        <p:nvPicPr>
          <p:cNvPr id="1026" name="Picture 2" descr="How SPF and DKIM work together with DMARC">
            <a:extLst>
              <a:ext uri="{FF2B5EF4-FFF2-40B4-BE49-F238E27FC236}">
                <a16:creationId xmlns:a16="http://schemas.microsoft.com/office/drawing/2014/main" id="{0E1FB1EB-444B-6B79-F227-2B84414A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04840"/>
            <a:ext cx="3114675" cy="391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C82653-AB80-110D-1527-AD46DDB4BFC7}"/>
              </a:ext>
            </a:extLst>
          </p:cNvPr>
          <p:cNvSpPr txBox="1"/>
          <p:nvPr/>
        </p:nvSpPr>
        <p:spPr>
          <a:xfrm>
            <a:off x="5486400" y="5219700"/>
            <a:ext cx="281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Image from https://postmarkapp.com/guides/dmarc</a:t>
            </a:r>
          </a:p>
        </p:txBody>
      </p:sp>
    </p:spTree>
    <p:extLst>
      <p:ext uri="{BB962C8B-B14F-4D97-AF65-F5344CB8AC3E}">
        <p14:creationId xmlns:p14="http://schemas.microsoft.com/office/powerpoint/2010/main" val="3739291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0" y="-1905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Establishing DNS Records (DMARC)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E2A51-9745-C0C1-D6E5-ABB7C6420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685"/>
            <a:ext cx="9144000" cy="331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30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2FC2-2CD4-818D-6E40-5CC667E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4300"/>
            <a:ext cx="90678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Email Warm Up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C068C-6BEC-C26A-46E9-CFD800BCA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0100"/>
            <a:ext cx="7391400" cy="451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8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73972-E303-D8F4-D156-BA0F1B32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043112"/>
            <a:ext cx="62865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88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06AC0-2A9B-C819-E6FA-22313179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369"/>
            <a:ext cx="9144000" cy="272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94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25B5E-B63B-F983-E34A-BB47970F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53" y="980889"/>
            <a:ext cx="9015953" cy="44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2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705A2-C947-91D3-7B6B-912DF655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847"/>
            <a:ext cx="8458200" cy="446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5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85B1B-6F56-6F32-51D1-B0868FE7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255"/>
            <a:ext cx="9144000" cy="467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43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51464-10D8-0270-3689-F2C90937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957262"/>
            <a:ext cx="90678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42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D50C9-0FFE-82C2-337E-A1E517F6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470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07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E3297-9F33-B9D4-382C-E04367B3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0100"/>
            <a:ext cx="6962775" cy="475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71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28FD5-1E2D-16C6-EE4C-063C31D7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63" y="881062"/>
            <a:ext cx="7142500" cy="45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50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E78F0-BE4B-054B-DF4D-78BD1573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9144000" cy="477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95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18D1C-0ED5-DDE8-0C81-31D6BC66A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42833"/>
            <a:ext cx="6934200" cy="50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46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Atlassian Confluence/Jira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38B4D-C474-AD65-3E81-6AC8D3C68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112"/>
            <a:ext cx="9144000" cy="39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01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API </a:t>
            </a:r>
            <a:r>
              <a:rPr lang="en-US" sz="3200" dirty="0" err="1"/>
              <a:t>Mgmt</a:t>
            </a:r>
            <a:r>
              <a:rPr lang="en-US" sz="3200" dirty="0"/>
              <a:t>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50832-6105-09EF-6C53-E132074E1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659"/>
            <a:ext cx="9144000" cy="44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95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API Management</a:t>
            </a:r>
          </a:p>
        </p:txBody>
      </p:sp>
      <p:pic>
        <p:nvPicPr>
          <p:cNvPr id="3" name="azure_mail_demo">
            <a:hlinkClick r:id="" action="ppaction://media"/>
            <a:extLst>
              <a:ext uri="{FF2B5EF4-FFF2-40B4-BE49-F238E27FC236}">
                <a16:creationId xmlns:a16="http://schemas.microsoft.com/office/drawing/2014/main" id="{71CDD41D-F41C-97DB-0432-F3C714CE27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647700"/>
            <a:ext cx="7467600" cy="511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Function Proxy for C2/Redirector</a:t>
            </a:r>
          </a:p>
        </p:txBody>
      </p:sp>
      <p:pic>
        <p:nvPicPr>
          <p:cNvPr id="4" name="azure_proxy">
            <a:hlinkClick r:id="" action="ppaction://media"/>
            <a:extLst>
              <a:ext uri="{FF2B5EF4-FFF2-40B4-BE49-F238E27FC236}">
                <a16:creationId xmlns:a16="http://schemas.microsoft.com/office/drawing/2014/main" id="{5BC40EA2-4560-F8C1-8966-E65A2861A8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721783"/>
            <a:ext cx="8534400" cy="499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0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Function Proxy for C2/Redirector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B69B8-EF70-721A-25E9-4E59A962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709612"/>
            <a:ext cx="78105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606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Function Proxy for C2/Redirector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E8BA5-C364-7346-A432-EFEB6441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3" y="777340"/>
            <a:ext cx="5767387" cy="47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33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040-9C57-E0D1-4B3D-7CE05103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Azure Function Proxy for C2/Redirector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7B5DB-C76C-9C68-0007-6C945C25D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930266"/>
            <a:ext cx="5724525" cy="46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87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9525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Remediation/Mitigation Thoughts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03E316-360F-0645-2645-247966CB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SaaS Sends Email from Org’s domain?</a:t>
            </a:r>
          </a:p>
          <a:p>
            <a:r>
              <a:rPr lang="en-US" dirty="0"/>
              <a:t>Encourage use of company portal?</a:t>
            </a:r>
          </a:p>
          <a:p>
            <a:r>
              <a:rPr lang="en-US" dirty="0"/>
              <a:t>Prepare users’ for the emails?</a:t>
            </a:r>
          </a:p>
        </p:txBody>
      </p:sp>
    </p:spTree>
    <p:extLst>
      <p:ext uri="{BB962C8B-B14F-4D97-AF65-F5344CB8AC3E}">
        <p14:creationId xmlns:p14="http://schemas.microsoft.com/office/powerpoint/2010/main" val="23126610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BEEAB3B-A098-4D61-A5BB-4FDDC5E4EBF3}" vid="{05587A6E-9274-4C0F-B77F-2529059D29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39439</TotalTime>
  <Words>1001</Words>
  <Application>Microsoft Office PowerPoint</Application>
  <PresentationFormat>On-screen Show (16:10)</PresentationFormat>
  <Paragraphs>114</Paragraphs>
  <Slides>44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Source Sans Pro</vt:lpstr>
      <vt:lpstr>Theme1</vt:lpstr>
      <vt:lpstr>Trust No 1</vt:lpstr>
      <vt:lpstr>Background</vt:lpstr>
      <vt:lpstr>Background</vt:lpstr>
      <vt:lpstr>Background</vt:lpstr>
      <vt:lpstr>Living Off Trusted Sites (LOTS)</vt:lpstr>
      <vt:lpstr>Groundback</vt:lpstr>
      <vt:lpstr>Don’t Put It Down, Put It Away</vt:lpstr>
      <vt:lpstr>Crash Course: Setup Up a Phishing/C2 Domain</vt:lpstr>
      <vt:lpstr>Acquire Domain</vt:lpstr>
      <vt:lpstr>Acquire Domain</vt:lpstr>
      <vt:lpstr>Categorize Domain</vt:lpstr>
      <vt:lpstr>Categorize Domain</vt:lpstr>
      <vt:lpstr>Categorize Domain</vt:lpstr>
      <vt:lpstr>Categorize Domain</vt:lpstr>
      <vt:lpstr>Establishing DNS Records (MX)</vt:lpstr>
      <vt:lpstr>Establishing DNS Records (MX)</vt:lpstr>
      <vt:lpstr>Establishing DNS Records (SPF)</vt:lpstr>
      <vt:lpstr>Establishing DNS Records (SPF)</vt:lpstr>
      <vt:lpstr>Establishing DNS Records (SPF)</vt:lpstr>
      <vt:lpstr>Establishing DNS Records (DKIM)</vt:lpstr>
      <vt:lpstr>Establishing DNS Records (DKIM)</vt:lpstr>
      <vt:lpstr>Establishing DNS Records (DKIM)</vt:lpstr>
      <vt:lpstr>Establishing DNS Records (DMARC)</vt:lpstr>
      <vt:lpstr>Establishing DNS Records (DMARC)</vt:lpstr>
      <vt:lpstr>Email Warm Up </vt:lpstr>
      <vt:lpstr>Atlassian Confluence/Jira</vt:lpstr>
      <vt:lpstr>Atlassian Confluence/Jira</vt:lpstr>
      <vt:lpstr>Atlassian Confluence/Jira</vt:lpstr>
      <vt:lpstr>Atlassian Confluence/Jira</vt:lpstr>
      <vt:lpstr>Atlassian Confluence/Jira</vt:lpstr>
      <vt:lpstr>Atlassian Confluence/Jira</vt:lpstr>
      <vt:lpstr>Atlassian Confluence/Jira</vt:lpstr>
      <vt:lpstr>Atlassian Confluence/Jira </vt:lpstr>
      <vt:lpstr>Atlassian Confluence/Jira</vt:lpstr>
      <vt:lpstr>Atlassian Confluence/Jira</vt:lpstr>
      <vt:lpstr>Atlassian Confluence/Jira</vt:lpstr>
      <vt:lpstr>Atlassian Confluence/Jira</vt:lpstr>
      <vt:lpstr>Azure API Mgmt Service</vt:lpstr>
      <vt:lpstr>Azure API Management</vt:lpstr>
      <vt:lpstr>Azure Function Proxy for C2/Redirector</vt:lpstr>
      <vt:lpstr>Azure Function Proxy for C2/Redirector</vt:lpstr>
      <vt:lpstr>Azure Function Proxy for C2/Redirector</vt:lpstr>
      <vt:lpstr>Azure Function Proxy for C2/Redirector</vt:lpstr>
      <vt:lpstr>Remediation/Mitigation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Assessment Services Practice</dc:title>
  <dc:creator>User</dc:creator>
  <cp:lastModifiedBy>Nicholas Popovich</cp:lastModifiedBy>
  <cp:revision>69</cp:revision>
  <dcterms:created xsi:type="dcterms:W3CDTF">2018-03-23T18:33:12Z</dcterms:created>
  <dcterms:modified xsi:type="dcterms:W3CDTF">2022-09-27T12:48:34Z</dcterms:modified>
</cp:coreProperties>
</file>