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7" r:id="rId3"/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Caveat"/>
      <p:regular r:id="rId30"/>
      <p:bold r:id="rId31"/>
    </p:embeddedFont>
    <p:embeddedFont>
      <p:font typeface="Walter Turncoat"/>
      <p:regular r:id="rId32"/>
    </p:embeddedFont>
    <p:embeddedFont>
      <p:font typeface="Montserrat"/>
      <p:regular r:id="rId33"/>
      <p:bold r:id="rId34"/>
      <p:italic r:id="rId35"/>
      <p:boldItalic r:id="rId36"/>
    </p:embeddedFont>
    <p:embeddedFont>
      <p:font typeface="Permanent Marker"/>
      <p:regular r:id="rId37"/>
    </p:embeddedFont>
    <p:embeddedFont>
      <p:font typeface="Lustria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veat-bold.fntdata"/><Relationship Id="rId30" Type="http://schemas.openxmlformats.org/officeDocument/2006/relationships/font" Target="fonts/Cavea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font" Target="fonts/WalterTurncoat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PermanentMarker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Lustria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Shape 19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Shape 199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Evasive testing:</a:t>
            </a:r>
            <a:endParaRPr sz="1200"/>
          </a:p>
          <a:p>
            <a: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595959"/>
                </a:solidFill>
              </a:rPr>
              <a:t>No infrastructure constraints</a:t>
            </a:r>
            <a:endParaRPr sz="1200">
              <a:solidFill>
                <a:srgbClr val="595959"/>
              </a:solidFill>
            </a:endParaRPr>
          </a:p>
          <a:p>
            <a: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595959"/>
                </a:solidFill>
              </a:rPr>
              <a:t>Obfuscate attack traffic</a:t>
            </a:r>
            <a:endParaRPr sz="1200">
              <a:solidFill>
                <a:srgbClr val="595959"/>
              </a:solidFill>
            </a:endParaRPr>
          </a:p>
          <a:p>
            <a:pPr indent="0" lvl="0" marL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</a:rPr>
              <a:t>Improving Defenses: </a:t>
            </a:r>
            <a:endParaRPr sz="1200">
              <a:solidFill>
                <a:srgbClr val="595959"/>
              </a:solidFill>
            </a:endParaRPr>
          </a:p>
          <a:p>
            <a:pPr indent="-304800" lvl="0" marL="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</a:pPr>
            <a:r>
              <a:rPr lang="en" sz="1200">
                <a:solidFill>
                  <a:srgbClr val="595959"/>
                </a:solidFill>
              </a:rPr>
              <a:t>Monitoring and detection capabilities and deficiencies</a:t>
            </a:r>
            <a:endParaRPr sz="1200">
              <a:solidFill>
                <a:srgbClr val="595959"/>
              </a:solidFill>
            </a:endParaRPr>
          </a:p>
          <a:p>
            <a: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</a:pPr>
            <a:r>
              <a:rPr lang="en" sz="1200">
                <a:solidFill>
                  <a:srgbClr val="595959"/>
                </a:solidFill>
              </a:rPr>
              <a:t>Tune existing control mechanisms</a:t>
            </a:r>
            <a:endParaRPr sz="1200">
              <a:solidFill>
                <a:srgbClr val="595959"/>
              </a:solidFill>
            </a:endParaRPr>
          </a:p>
          <a:p>
            <a:pPr indent="0" lvl="0" marL="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</a:endParaRPr>
          </a:p>
          <a:p>
            <a:pPr indent="0" lvl="0" marL="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11" name="Shape 211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Shape 21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Shape 223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Shape 22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Shape 23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Shape 24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Shape 24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Shape 2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Shape 2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Shape 26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Shape 27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Shape 2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Shape 2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Shape 2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Shape 29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Shape 30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Shape 3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Shape 31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Shape 32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Shape 33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Shape 33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type="title"/>
          </p:nvPr>
        </p:nvSpPr>
        <p:spPr>
          <a:xfrm>
            <a:off x="685346" y="457200"/>
            <a:ext cx="77655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346" y="1299337"/>
            <a:ext cx="7765500" cy="3044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91425" lIns="91425" spcFirstLastPara="1" rIns="91425" wrap="square" tIns="91425"/>
          <a:lstStyle>
            <a:lvl1pPr indent="-2984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Char char="◈"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857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794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730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730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73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3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3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305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4" name="Shape 54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5" name="Shape 55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/>
          <p:nvPr>
            <p:ph type="ctrTitle"/>
          </p:nvPr>
        </p:nvSpPr>
        <p:spPr>
          <a:xfrm>
            <a:off x="1028020" y="1327155"/>
            <a:ext cx="7080000" cy="137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100"/>
              <a:buFont typeface="Lustria"/>
              <a:buNone/>
              <a:defRPr b="0" i="0" sz="4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" type="subTitle"/>
          </p:nvPr>
        </p:nvSpPr>
        <p:spPr>
          <a:xfrm>
            <a:off x="1028020" y="2698754"/>
            <a:ext cx="7080000" cy="7875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ctr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>
            <p:ph type="title"/>
          </p:nvPr>
        </p:nvSpPr>
        <p:spPr>
          <a:xfrm>
            <a:off x="685346" y="457200"/>
            <a:ext cx="77655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1" type="body"/>
          </p:nvPr>
        </p:nvSpPr>
        <p:spPr>
          <a:xfrm>
            <a:off x="685346" y="1299337"/>
            <a:ext cx="7765500" cy="3044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984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Char char="◈"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857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794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730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730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73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3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3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305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71" name="Shape 71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72" name="Shape 72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73" name="Shape 73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>
            <p:ph type="title"/>
          </p:nvPr>
        </p:nvSpPr>
        <p:spPr>
          <a:xfrm>
            <a:off x="971551" y="1320800"/>
            <a:ext cx="7193100" cy="137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" type="body"/>
          </p:nvPr>
        </p:nvSpPr>
        <p:spPr>
          <a:xfrm>
            <a:off x="971551" y="2692409"/>
            <a:ext cx="7193100" cy="1130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78" name="Shape 78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>
            <p:ph type="title"/>
          </p:nvPr>
        </p:nvSpPr>
        <p:spPr>
          <a:xfrm>
            <a:off x="685346" y="457200"/>
            <a:ext cx="77655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x="685346" y="1299337"/>
            <a:ext cx="3795300" cy="3044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984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Char char="◈"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857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794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730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730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73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3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3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305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2" type="body"/>
          </p:nvPr>
        </p:nvSpPr>
        <p:spPr>
          <a:xfrm>
            <a:off x="4652169" y="1299337"/>
            <a:ext cx="3798300" cy="3044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984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Char char="◈"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857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794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730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730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73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3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3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305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4" name="Shape 84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5" name="Shape 85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6" name="Shape 86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compPhotoInset.png" id="88" name="Shape 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5346" y="1300880"/>
            <a:ext cx="3796097" cy="3098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compPhotoInset.png" id="89" name="Shape 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3864" y="1300880"/>
            <a:ext cx="3796097" cy="309858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Shape 90"/>
          <p:cNvSpPr txBox="1"/>
          <p:nvPr>
            <p:ph type="title"/>
          </p:nvPr>
        </p:nvSpPr>
        <p:spPr>
          <a:xfrm>
            <a:off x="685346" y="457200"/>
            <a:ext cx="77655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1" name="Shape 91"/>
          <p:cNvSpPr txBox="1"/>
          <p:nvPr>
            <p:ph idx="1" type="body"/>
          </p:nvPr>
        </p:nvSpPr>
        <p:spPr>
          <a:xfrm>
            <a:off x="754404" y="1376440"/>
            <a:ext cx="3657000" cy="408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-228600" lvl="0" marL="457200" marR="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Noto Sans Symbols"/>
              <a:buNone/>
              <a:defRPr b="0" i="0" sz="1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1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None/>
              <a:defRPr b="1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2" name="Shape 92"/>
          <p:cNvSpPr txBox="1"/>
          <p:nvPr>
            <p:ph idx="2" type="body"/>
          </p:nvPr>
        </p:nvSpPr>
        <p:spPr>
          <a:xfrm>
            <a:off x="754404" y="1785103"/>
            <a:ext cx="3657000" cy="2558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857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794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7305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667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Char char="◈"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667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Char char="◈"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73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3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3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305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3" name="Shape 93"/>
          <p:cNvSpPr txBox="1"/>
          <p:nvPr>
            <p:ph idx="3" type="body"/>
          </p:nvPr>
        </p:nvSpPr>
        <p:spPr>
          <a:xfrm>
            <a:off x="4721225" y="1376440"/>
            <a:ext cx="3671400" cy="408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-228600" lvl="0" marL="457200" marR="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Noto Sans Symbols"/>
              <a:buNone/>
              <a:defRPr b="0" i="0" sz="1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1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None/>
              <a:defRPr b="1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4" name="Shape 94"/>
          <p:cNvSpPr txBox="1"/>
          <p:nvPr>
            <p:ph idx="4" type="body"/>
          </p:nvPr>
        </p:nvSpPr>
        <p:spPr>
          <a:xfrm>
            <a:off x="4721225" y="1785103"/>
            <a:ext cx="3671400" cy="2558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857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794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7305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667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Char char="◈"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667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Char char="◈"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73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3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3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305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5" name="Shape 95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6" name="Shape 96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7" name="Shape 97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/>
          <p:nvPr>
            <p:ph type="title"/>
          </p:nvPr>
        </p:nvSpPr>
        <p:spPr>
          <a:xfrm>
            <a:off x="685346" y="457200"/>
            <a:ext cx="77655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0" name="Shape 100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1" name="Shape 101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2" name="Shape 102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5" name="Shape 105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6" name="Shape 106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>
            <p:ph type="title"/>
          </p:nvPr>
        </p:nvSpPr>
        <p:spPr>
          <a:xfrm>
            <a:off x="685346" y="457200"/>
            <a:ext cx="2780100" cy="13665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ustria"/>
              <a:buNone/>
              <a:defRPr b="0" i="0" sz="1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3641725" y="457200"/>
            <a:ext cx="4809000" cy="38862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984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Char char="◈"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857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794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730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730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73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3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3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305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10" name="Shape 110"/>
          <p:cNvSpPr txBox="1"/>
          <p:nvPr>
            <p:ph idx="2" type="body"/>
          </p:nvPr>
        </p:nvSpPr>
        <p:spPr>
          <a:xfrm>
            <a:off x="685346" y="1823638"/>
            <a:ext cx="2780100" cy="2519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11" name="Shape 111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12" name="Shape 112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13" name="Shape 113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vertPhotoInset.png" id="115" name="Shape 1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70249" y="457200"/>
            <a:ext cx="2679164" cy="388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Shape 116"/>
          <p:cNvSpPr txBox="1"/>
          <p:nvPr>
            <p:ph type="title"/>
          </p:nvPr>
        </p:nvSpPr>
        <p:spPr>
          <a:xfrm>
            <a:off x="685346" y="457442"/>
            <a:ext cx="4451100" cy="13722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b="0" i="0" sz="2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7" name="Shape 117"/>
          <p:cNvSpPr/>
          <p:nvPr>
            <p:ph idx="2" type="pic"/>
          </p:nvPr>
        </p:nvSpPr>
        <p:spPr>
          <a:xfrm>
            <a:off x="5581913" y="572777"/>
            <a:ext cx="2456700" cy="3684600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9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x="685346" y="1829446"/>
            <a:ext cx="4451100" cy="25320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19" name="Shape 119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20" name="Shape 120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21" name="Shape 121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anoramic Picture with Caption">
  <p:cSld name="Panoramic Picture with Captio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panoPhotoInset.png" id="123" name="Shape 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0412" y="410855"/>
            <a:ext cx="7516023" cy="285294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Shape 124"/>
          <p:cNvSpPr txBox="1"/>
          <p:nvPr>
            <p:ph type="title"/>
          </p:nvPr>
        </p:nvSpPr>
        <p:spPr>
          <a:xfrm>
            <a:off x="685354" y="3423941"/>
            <a:ext cx="7766400" cy="407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Lustria"/>
              <a:buNone/>
              <a:defRPr b="0" i="0" sz="2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5" name="Shape 125"/>
          <p:cNvSpPr/>
          <p:nvPr>
            <p:ph idx="2" type="pic"/>
          </p:nvPr>
        </p:nvSpPr>
        <p:spPr>
          <a:xfrm>
            <a:off x="877012" y="521257"/>
            <a:ext cx="7383900" cy="2644200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9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x="685346" y="3831546"/>
            <a:ext cx="7765500" cy="511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27" name="Shape 127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28" name="Shape 128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29" name="Shape 129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aption">
  <p:cSld name="Title and Caption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/>
          <p:nvPr>
            <p:ph type="title"/>
          </p:nvPr>
        </p:nvSpPr>
        <p:spPr>
          <a:xfrm>
            <a:off x="685346" y="456328"/>
            <a:ext cx="7765500" cy="2650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b="0" i="0" sz="2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2" name="Shape 132"/>
          <p:cNvSpPr txBox="1"/>
          <p:nvPr>
            <p:ph idx="1" type="body"/>
          </p:nvPr>
        </p:nvSpPr>
        <p:spPr>
          <a:xfrm>
            <a:off x="685346" y="3221385"/>
            <a:ext cx="7765500" cy="11265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33" name="Shape 133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34" name="Shape 134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35" name="Shape 135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 with Caption">
  <p:cSld name="Quote with Ca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/>
          <p:nvPr>
            <p:ph type="title"/>
          </p:nvPr>
        </p:nvSpPr>
        <p:spPr>
          <a:xfrm>
            <a:off x="1084659" y="457200"/>
            <a:ext cx="6977100" cy="2244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b="0" i="0" sz="2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Shape 138"/>
          <p:cNvSpPr txBox="1"/>
          <p:nvPr>
            <p:ph idx="1" type="body"/>
          </p:nvPr>
        </p:nvSpPr>
        <p:spPr>
          <a:xfrm>
            <a:off x="1290483" y="2707524"/>
            <a:ext cx="6564300" cy="399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39" name="Shape 139"/>
          <p:cNvSpPr txBox="1"/>
          <p:nvPr>
            <p:ph idx="2" type="body"/>
          </p:nvPr>
        </p:nvSpPr>
        <p:spPr>
          <a:xfrm>
            <a:off x="685346" y="3228265"/>
            <a:ext cx="7765500" cy="11172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0" name="Shape 140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1" name="Shape 141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2" name="Shape 142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Shape 143"/>
          <p:cNvSpPr txBox="1"/>
          <p:nvPr/>
        </p:nvSpPr>
        <p:spPr>
          <a:xfrm>
            <a:off x="742950" y="66359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ustria"/>
              <a:buNone/>
            </a:pPr>
            <a:r>
              <a:rPr b="0" i="0" lang="en" sz="6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 sz="1100"/>
          </a:p>
        </p:txBody>
      </p:sp>
      <p:sp>
        <p:nvSpPr>
          <p:cNvPr id="144" name="Shape 144"/>
          <p:cNvSpPr txBox="1"/>
          <p:nvPr/>
        </p:nvSpPr>
        <p:spPr>
          <a:xfrm>
            <a:off x="7878537" y="2196194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ustria"/>
              <a:buNone/>
            </a:pPr>
            <a:r>
              <a:rPr b="0" i="0" lang="en" sz="6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Name Card">
  <p:cSld name="Name Card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/>
          <p:nvPr>
            <p:ph type="title"/>
          </p:nvPr>
        </p:nvSpPr>
        <p:spPr>
          <a:xfrm>
            <a:off x="685346" y="1595206"/>
            <a:ext cx="7765500" cy="18840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b="0" i="0" sz="2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7" name="Shape 147"/>
          <p:cNvSpPr txBox="1"/>
          <p:nvPr>
            <p:ph idx="1" type="body"/>
          </p:nvPr>
        </p:nvSpPr>
        <p:spPr>
          <a:xfrm>
            <a:off x="685338" y="3487917"/>
            <a:ext cx="7764000" cy="855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8" name="Shape 148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9" name="Shape 149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50" name="Shape 150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Column">
  <p:cSld name="3 Colum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/>
          <p:nvPr>
            <p:ph type="title"/>
          </p:nvPr>
        </p:nvSpPr>
        <p:spPr>
          <a:xfrm>
            <a:off x="685346" y="457200"/>
            <a:ext cx="77655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x="685346" y="1414463"/>
            <a:ext cx="2475600" cy="432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-228600" lvl="0" marL="457200" marR="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1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None/>
              <a:defRPr b="1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54" name="Shape 154"/>
          <p:cNvSpPr txBox="1"/>
          <p:nvPr>
            <p:ph idx="2" type="body"/>
          </p:nvPr>
        </p:nvSpPr>
        <p:spPr>
          <a:xfrm>
            <a:off x="685346" y="1928813"/>
            <a:ext cx="2475600" cy="2414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55" name="Shape 155"/>
          <p:cNvSpPr txBox="1"/>
          <p:nvPr>
            <p:ph idx="3" type="body"/>
          </p:nvPr>
        </p:nvSpPr>
        <p:spPr>
          <a:xfrm>
            <a:off x="3335033" y="1414463"/>
            <a:ext cx="2475600" cy="432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-228600" lvl="0" marL="457200" marR="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1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None/>
              <a:defRPr b="1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56" name="Shape 156"/>
          <p:cNvSpPr txBox="1"/>
          <p:nvPr>
            <p:ph idx="4" type="body"/>
          </p:nvPr>
        </p:nvSpPr>
        <p:spPr>
          <a:xfrm>
            <a:off x="3331076" y="1928813"/>
            <a:ext cx="2475600" cy="2414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57" name="Shape 157"/>
          <p:cNvSpPr txBox="1"/>
          <p:nvPr>
            <p:ph idx="5" type="body"/>
          </p:nvPr>
        </p:nvSpPr>
        <p:spPr>
          <a:xfrm>
            <a:off x="5974929" y="1414463"/>
            <a:ext cx="2475600" cy="432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-228600" lvl="0" marL="457200" marR="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Noto Sans Symbols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1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None/>
              <a:defRPr b="1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58" name="Shape 158"/>
          <p:cNvSpPr txBox="1"/>
          <p:nvPr>
            <p:ph idx="6" type="body"/>
          </p:nvPr>
        </p:nvSpPr>
        <p:spPr>
          <a:xfrm>
            <a:off x="5974929" y="1928813"/>
            <a:ext cx="2475600" cy="2414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59" name="Shape 159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60" name="Shape 160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61" name="Shape 161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Picture Column">
  <p:cSld name="3 Picture Column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3colPhotoInset.png" id="163" name="Shape 1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3472" y="1363661"/>
            <a:ext cx="2501430" cy="1385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64" name="Shape 1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02850" y="1363661"/>
            <a:ext cx="2501430" cy="1385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65" name="Shape 1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2038" y="1363661"/>
            <a:ext cx="2501430" cy="138554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Shape 166"/>
          <p:cNvSpPr txBox="1"/>
          <p:nvPr>
            <p:ph type="title"/>
          </p:nvPr>
        </p:nvSpPr>
        <p:spPr>
          <a:xfrm>
            <a:off x="685346" y="457200"/>
            <a:ext cx="77655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Shape 167"/>
          <p:cNvSpPr txBox="1"/>
          <p:nvPr>
            <p:ph idx="1" type="body"/>
          </p:nvPr>
        </p:nvSpPr>
        <p:spPr>
          <a:xfrm>
            <a:off x="685346" y="2928079"/>
            <a:ext cx="2475600" cy="432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-228600" lvl="0" marL="457200" marR="0" rtl="0" algn="ctr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1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None/>
              <a:defRPr b="1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68" name="Shape 168"/>
          <p:cNvSpPr/>
          <p:nvPr>
            <p:ph idx="2" type="pic"/>
          </p:nvPr>
        </p:nvSpPr>
        <p:spPr>
          <a:xfrm>
            <a:off x="763576" y="1454188"/>
            <a:ext cx="2319300" cy="12021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9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69" name="Shape 169"/>
          <p:cNvSpPr txBox="1"/>
          <p:nvPr>
            <p:ph idx="3" type="body"/>
          </p:nvPr>
        </p:nvSpPr>
        <p:spPr>
          <a:xfrm>
            <a:off x="685346" y="3360276"/>
            <a:ext cx="2475600" cy="983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70" name="Shape 170"/>
          <p:cNvSpPr txBox="1"/>
          <p:nvPr>
            <p:ph idx="4" type="body"/>
          </p:nvPr>
        </p:nvSpPr>
        <p:spPr>
          <a:xfrm>
            <a:off x="3332091" y="2928079"/>
            <a:ext cx="2475600" cy="432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-228600" lvl="0" marL="457200" marR="0" rtl="0" algn="ctr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1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None/>
              <a:defRPr b="1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71" name="Shape 171"/>
          <p:cNvSpPr/>
          <p:nvPr>
            <p:ph idx="5" type="pic"/>
          </p:nvPr>
        </p:nvSpPr>
        <p:spPr>
          <a:xfrm>
            <a:off x="3409307" y="1454320"/>
            <a:ext cx="2319300" cy="12063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9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72" name="Shape 172"/>
          <p:cNvSpPr txBox="1"/>
          <p:nvPr>
            <p:ph idx="6" type="body"/>
          </p:nvPr>
        </p:nvSpPr>
        <p:spPr>
          <a:xfrm>
            <a:off x="3331076" y="3360275"/>
            <a:ext cx="2475600" cy="983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73" name="Shape 173"/>
          <p:cNvSpPr txBox="1"/>
          <p:nvPr>
            <p:ph idx="7" type="body"/>
          </p:nvPr>
        </p:nvSpPr>
        <p:spPr>
          <a:xfrm>
            <a:off x="5975023" y="2928079"/>
            <a:ext cx="2475600" cy="432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68575" lIns="68575" spcFirstLastPara="1" rIns="68575" wrap="square" tIns="68575"/>
          <a:lstStyle>
            <a:lvl1pPr indent="-228600" lvl="0" marL="457200" marR="0" rtl="0" algn="ctr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0" i="0" sz="15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  <a:defRPr b="1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None/>
              <a:defRPr b="1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1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74" name="Shape 174"/>
          <p:cNvSpPr/>
          <p:nvPr>
            <p:ph idx="8" type="pic"/>
          </p:nvPr>
        </p:nvSpPr>
        <p:spPr>
          <a:xfrm>
            <a:off x="6056773" y="1450824"/>
            <a:ext cx="2319300" cy="12057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9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800"/>
              <a:buFont typeface="Noto Sans Symbols"/>
              <a:buNone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75" name="Shape 175"/>
          <p:cNvSpPr txBox="1"/>
          <p:nvPr>
            <p:ph idx="9" type="body"/>
          </p:nvPr>
        </p:nvSpPr>
        <p:spPr>
          <a:xfrm>
            <a:off x="5974929" y="3360274"/>
            <a:ext cx="2475600" cy="983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ctr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None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  <a:defRPr b="0" i="0" sz="9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286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28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500"/>
              <a:buFont typeface="Noto Sans Symbols"/>
              <a:buNone/>
              <a:defRPr b="0" i="0" sz="7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76" name="Shape 176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77" name="Shape 177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78" name="Shape 178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>
            <p:ph type="title"/>
          </p:nvPr>
        </p:nvSpPr>
        <p:spPr>
          <a:xfrm>
            <a:off x="685346" y="457200"/>
            <a:ext cx="77655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1" name="Shape 181"/>
          <p:cNvSpPr txBox="1"/>
          <p:nvPr>
            <p:ph idx="1" type="body"/>
          </p:nvPr>
        </p:nvSpPr>
        <p:spPr>
          <a:xfrm rot="5400000">
            <a:off x="3045868" y="-1061363"/>
            <a:ext cx="3044100" cy="77655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984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Char char="◈"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857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794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730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730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73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3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3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305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82" name="Shape 182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83" name="Shape 183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84" name="Shape 184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/>
          <p:nvPr>
            <p:ph type="title"/>
          </p:nvPr>
        </p:nvSpPr>
        <p:spPr>
          <a:xfrm rot="5400000">
            <a:off x="5650916" y="1543649"/>
            <a:ext cx="3886200" cy="1713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Shape 187"/>
          <p:cNvSpPr txBox="1"/>
          <p:nvPr>
            <p:ph idx="1" type="body"/>
          </p:nvPr>
        </p:nvSpPr>
        <p:spPr>
          <a:xfrm rot="5400000">
            <a:off x="1711101" y="-568501"/>
            <a:ext cx="3886200" cy="5937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984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Char char="◈"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857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794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730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730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73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3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3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305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88" name="Shape 188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89" name="Shape 189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90" name="Shape 190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stretch>
            <a:fillRect b="0" l="0" r="0" t="0"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/>
          <p:nvPr>
            <p:ph type="title"/>
          </p:nvPr>
        </p:nvSpPr>
        <p:spPr>
          <a:xfrm>
            <a:off x="685346" y="457200"/>
            <a:ext cx="77655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68575" lIns="68575" spcFirstLastPara="1" rIns="68575" wrap="square" tIns="6857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ustria"/>
              <a:buNone/>
              <a:defRPr b="0" i="0" sz="3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685346" y="1299337"/>
            <a:ext cx="7765500" cy="3044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/>
          <a:lstStyle>
            <a:lvl1pPr indent="-2984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Char char="◈"/>
              <a:defRPr b="0" i="0" sz="15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28575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7940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oto Sans Symbols"/>
              <a:buChar char="◈"/>
              <a:defRPr b="0" i="0" sz="12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730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730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73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3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3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305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lt2"/>
              </a:buClr>
              <a:buSzPts val="700"/>
              <a:buFont typeface="Noto Sans Symbols"/>
              <a:buChar char="◈"/>
              <a:defRPr b="0" i="0" sz="11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5759052" y="44124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1" type="ftr"/>
          </p:nvPr>
        </p:nvSpPr>
        <p:spPr>
          <a:xfrm>
            <a:off x="685346" y="4412456"/>
            <a:ext cx="500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12" type="sldNum"/>
          </p:nvPr>
        </p:nvSpPr>
        <p:spPr>
          <a:xfrm>
            <a:off x="7885508" y="4412456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jp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jp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jp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jp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/>
          <p:nvPr>
            <p:ph type="ctrTitle"/>
          </p:nvPr>
        </p:nvSpPr>
        <p:spPr>
          <a:xfrm>
            <a:off x="311700" y="1050850"/>
            <a:ext cx="8520600" cy="13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latin typeface="Caveat"/>
                <a:ea typeface="Caveat"/>
                <a:cs typeface="Caveat"/>
                <a:sym typeface="Caveat"/>
              </a:rPr>
              <a:t>Hiding in the Clouds</a:t>
            </a:r>
            <a:endParaRPr b="1" sz="8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96" name="Shape 196"/>
          <p:cNvSpPr txBox="1"/>
          <p:nvPr>
            <p:ph idx="1" type="subTitle"/>
          </p:nvPr>
        </p:nvSpPr>
        <p:spPr>
          <a:xfrm>
            <a:off x="311700" y="24812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Leveraging Cloud Infrastructure to Evade Detection</a:t>
            </a:r>
            <a:endParaRPr sz="24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/>
        </p:nvSpPr>
        <p:spPr>
          <a:xfrm>
            <a:off x="614888" y="289238"/>
            <a:ext cx="5484300" cy="1892700"/>
          </a:xfrm>
          <a:prstGeom prst="wedgeRectCallout">
            <a:avLst>
              <a:gd fmla="val 43896" name="adj1"/>
              <a:gd fmla="val 89819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Shape 202"/>
          <p:cNvSpPr txBox="1"/>
          <p:nvPr/>
        </p:nvSpPr>
        <p:spPr>
          <a:xfrm>
            <a:off x="733894" y="398138"/>
            <a:ext cx="5286300" cy="18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latin typeface="Permanent Marker"/>
                <a:ea typeface="Permanent Marker"/>
                <a:cs typeface="Permanent Marker"/>
                <a:sym typeface="Permanent Marker"/>
              </a:rPr>
              <a:t>Optiv Security </a:t>
            </a:r>
            <a:endParaRPr sz="2300" u="sng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Attack &amp; Pen Consultant</a:t>
            </a:r>
            <a:endParaRPr sz="2000">
              <a:solidFill>
                <a:srgbClr val="434343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Full Stack Developer</a:t>
            </a:r>
            <a:endParaRPr sz="2000">
              <a:solidFill>
                <a:srgbClr val="434343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000">
                <a:solidFill>
                  <a:srgbClr val="434343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OSCP | Assoc. CISSP | CEH</a:t>
            </a:r>
            <a:endParaRPr sz="2000">
              <a:solidFill>
                <a:srgbClr val="434343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/>
          <p:nvPr>
            <p:ph type="title"/>
          </p:nvPr>
        </p:nvSpPr>
        <p:spPr>
          <a:xfrm>
            <a:off x="685346" y="457200"/>
            <a:ext cx="7765500" cy="72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The Cloud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8" name="Shape 208"/>
          <p:cNvSpPr txBox="1"/>
          <p:nvPr>
            <p:ph idx="1" type="body"/>
          </p:nvPr>
        </p:nvSpPr>
        <p:spPr>
          <a:xfrm>
            <a:off x="625050" y="1495750"/>
            <a:ext cx="7886100" cy="34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⇨ 1999: Salesforce delivers application to customers via the ‘cloud’</a:t>
            </a:r>
            <a:endParaRPr sz="24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⇨ 2000’s: Amazon realizes they were only using 10% of their computing capacity</a:t>
            </a:r>
            <a:endParaRPr sz="2400">
              <a:solidFill>
                <a:schemeClr val="dk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>
              <a:spcBef>
                <a:spcPts val="500"/>
              </a:spcBef>
              <a:spcAft>
                <a:spcPts val="0"/>
              </a:spcAft>
              <a:buNone/>
            </a:pPr>
            <a:br>
              <a:rPr lang="en" sz="24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r>
              <a:rPr lang="en" sz="24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⇨ Cue revolution</a:t>
            </a:r>
            <a:endParaRPr sz="2400">
              <a:solidFill>
                <a:schemeClr val="dk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/>
          <p:nvPr>
            <p:ph type="title"/>
          </p:nvPr>
        </p:nvSpPr>
        <p:spPr>
          <a:xfrm>
            <a:off x="689340" y="153488"/>
            <a:ext cx="77655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Why Evasive Testing?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14" name="Shape 214"/>
          <p:cNvSpPr txBox="1"/>
          <p:nvPr>
            <p:ph idx="1" type="body"/>
          </p:nvPr>
        </p:nvSpPr>
        <p:spPr>
          <a:xfrm>
            <a:off x="6114694" y="1922700"/>
            <a:ext cx="2939100" cy="1298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Improving </a:t>
            </a:r>
            <a:endParaRPr sz="3000">
              <a:solidFill>
                <a:schemeClr val="dk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Defenses</a:t>
            </a:r>
            <a:endParaRPr sz="30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92044" y="1922700"/>
            <a:ext cx="2371200" cy="1298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Threat </a:t>
            </a:r>
            <a:endParaRPr sz="3000">
              <a:solidFill>
                <a:schemeClr val="dk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Replication</a:t>
            </a:r>
            <a:endParaRPr sz="3000">
              <a:solidFill>
                <a:schemeClr val="dk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 txBox="1"/>
          <p:nvPr>
            <p:ph type="title"/>
          </p:nvPr>
        </p:nvSpPr>
        <p:spPr>
          <a:xfrm>
            <a:off x="3881650" y="513850"/>
            <a:ext cx="4950600" cy="263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Web Application Attacks</a:t>
            </a:r>
            <a:endParaRPr sz="4800">
              <a:solidFill>
                <a:schemeClr val="lt1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/>
          <p:nvPr>
            <p:ph type="title"/>
          </p:nvPr>
        </p:nvSpPr>
        <p:spPr>
          <a:xfrm>
            <a:off x="975450" y="222380"/>
            <a:ext cx="7193100" cy="9051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Proxying Web Traffic</a:t>
            </a:r>
            <a:endParaRPr sz="5400">
              <a:solidFill>
                <a:srgbClr val="FFFFFF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226" name="Shape 226"/>
          <p:cNvSpPr txBox="1"/>
          <p:nvPr/>
        </p:nvSpPr>
        <p:spPr>
          <a:xfrm>
            <a:off x="938700" y="2891925"/>
            <a:ext cx="7266600" cy="20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Discovery and Exploitation</a:t>
            </a:r>
            <a:endParaRPr sz="26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Brute Force </a:t>
            </a:r>
            <a:endParaRPr sz="26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Blocked? No problem</a:t>
            </a:r>
            <a:endParaRPr sz="26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/>
          <p:nvPr>
            <p:ph type="title"/>
          </p:nvPr>
        </p:nvSpPr>
        <p:spPr>
          <a:xfrm>
            <a:off x="1352550" y="0"/>
            <a:ext cx="64389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API Gateway</a:t>
            </a:r>
            <a:endParaRPr b="1" sz="50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32" name="Shape 2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425" y="912750"/>
            <a:ext cx="4627152" cy="401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/>
          <p:nvPr>
            <p:ph type="title"/>
          </p:nvPr>
        </p:nvSpPr>
        <p:spPr>
          <a:xfrm>
            <a:off x="1170875" y="1961400"/>
            <a:ext cx="4609800" cy="122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Permanent Marker"/>
                <a:ea typeface="Permanent Marker"/>
                <a:cs typeface="Permanent Marker"/>
                <a:sym typeface="Permanent Marker"/>
              </a:rPr>
              <a:t>Domain </a:t>
            </a:r>
            <a:endParaRPr sz="400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Permanent Marker"/>
                <a:ea typeface="Permanent Marker"/>
                <a:cs typeface="Permanent Marker"/>
                <a:sym typeface="Permanent Marker"/>
              </a:rPr>
              <a:t>Fronting</a:t>
            </a:r>
            <a:endParaRPr sz="400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/>
          <p:nvPr>
            <p:ph type="title"/>
          </p:nvPr>
        </p:nvSpPr>
        <p:spPr>
          <a:xfrm>
            <a:off x="311700" y="184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What is Domain Fronting?</a:t>
            </a:r>
            <a:endParaRPr b="1" sz="5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43" name="Shape 243"/>
          <p:cNvSpPr txBox="1"/>
          <p:nvPr>
            <p:ph idx="1" type="body"/>
          </p:nvPr>
        </p:nvSpPr>
        <p:spPr>
          <a:xfrm>
            <a:off x="1411550" y="1434400"/>
            <a:ext cx="68376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Walter Turncoat"/>
              <a:buChar char="●"/>
            </a:pPr>
            <a:r>
              <a:rPr lang="en" sz="2400">
                <a:solidFill>
                  <a:srgbClr val="474747"/>
                </a:solidFill>
                <a:highlight>
                  <a:srgbClr val="FFFFFF"/>
                </a:highlight>
                <a:latin typeface="Walter Turncoat"/>
                <a:ea typeface="Walter Turncoat"/>
                <a:cs typeface="Walter Turncoat"/>
                <a:sym typeface="Walter Turncoat"/>
              </a:rPr>
              <a:t>Originally a technique using CDNs to bypass Internet censorship</a:t>
            </a:r>
            <a:br>
              <a:rPr lang="en" sz="2400">
                <a:solidFill>
                  <a:srgbClr val="474747"/>
                </a:solidFill>
                <a:highlight>
                  <a:srgbClr val="FFFFFF"/>
                </a:highlight>
                <a:latin typeface="Walter Turncoat"/>
                <a:ea typeface="Walter Turncoat"/>
                <a:cs typeface="Walter Turncoat"/>
                <a:sym typeface="Walter Turncoat"/>
              </a:rPr>
            </a:br>
            <a:endParaRPr sz="2400">
              <a:solidFill>
                <a:srgbClr val="474747"/>
              </a:solidFill>
              <a:highlight>
                <a:srgbClr val="FFFFFF"/>
              </a:highlight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Walter Turncoat"/>
              <a:buChar char="●"/>
            </a:pPr>
            <a:r>
              <a:rPr lang="en" sz="2400">
                <a:solidFill>
                  <a:srgbClr val="474747"/>
                </a:solidFill>
                <a:highlight>
                  <a:srgbClr val="FFFFFF"/>
                </a:highlight>
                <a:latin typeface="Walter Turncoat"/>
                <a:ea typeface="Walter Turncoat"/>
                <a:cs typeface="Walter Turncoat"/>
                <a:sym typeface="Walter Turncoat"/>
              </a:rPr>
              <a:t>Stopping it == Breaks Stuff</a:t>
            </a:r>
            <a:endParaRPr sz="2400">
              <a:solidFill>
                <a:srgbClr val="474747"/>
              </a:solidFill>
              <a:highlight>
                <a:srgbClr val="FFFFFF"/>
              </a:highlight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474747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/>
          <p:nvPr>
            <p:ph type="title"/>
          </p:nvPr>
        </p:nvSpPr>
        <p:spPr>
          <a:xfrm>
            <a:off x="204300" y="214775"/>
            <a:ext cx="3447300" cy="1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Why care?</a:t>
            </a:r>
            <a:endParaRPr b="1" sz="5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49" name="Shape 249"/>
          <p:cNvSpPr txBox="1"/>
          <p:nvPr>
            <p:ph idx="1" type="body"/>
          </p:nvPr>
        </p:nvSpPr>
        <p:spPr>
          <a:xfrm>
            <a:off x="5676675" y="605925"/>
            <a:ext cx="3278400" cy="45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alter Turncoat"/>
              <a:buChar char="●"/>
            </a:pPr>
            <a:r>
              <a:rPr lang="en" sz="26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Bypass egress controls</a:t>
            </a:r>
            <a:br>
              <a:rPr lang="en" sz="26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endParaRPr sz="26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-3937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alter Turncoat"/>
              <a:buChar char="●"/>
            </a:pPr>
            <a:r>
              <a:rPr lang="en" sz="26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Communication over SSL</a:t>
            </a:r>
            <a:br>
              <a:rPr lang="en" sz="26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endParaRPr sz="26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-3937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alter Turncoat"/>
              <a:buChar char="●"/>
            </a:pPr>
            <a:r>
              <a:rPr lang="en" sz="26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Leverages very popular domains</a:t>
            </a:r>
            <a:endParaRPr sz="26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/>
          <p:nvPr>
            <p:ph type="title"/>
          </p:nvPr>
        </p:nvSpPr>
        <p:spPr>
          <a:xfrm>
            <a:off x="4766825" y="368200"/>
            <a:ext cx="4065600" cy="15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Who’s Affected?</a:t>
            </a:r>
            <a:endParaRPr b="1" sz="50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55" name="Shape 255"/>
          <p:cNvSpPr txBox="1"/>
          <p:nvPr>
            <p:ph idx="1" type="body"/>
          </p:nvPr>
        </p:nvSpPr>
        <p:spPr>
          <a:xfrm>
            <a:off x="5555825" y="1915600"/>
            <a:ext cx="3276600" cy="30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Virtually all the major cloud providers</a:t>
            </a:r>
            <a:endParaRPr sz="30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/>
          <p:nvPr>
            <p:ph type="title"/>
          </p:nvPr>
        </p:nvSpPr>
        <p:spPr>
          <a:xfrm>
            <a:off x="311700" y="274775"/>
            <a:ext cx="8520600" cy="7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666666"/>
                </a:solidFill>
                <a:latin typeface="Caveat"/>
                <a:ea typeface="Caveat"/>
                <a:cs typeface="Caveat"/>
                <a:sym typeface="Caveat"/>
              </a:rPr>
              <a:t>Example: Google App Engine</a:t>
            </a:r>
            <a:endParaRPr b="1" sz="5000">
              <a:solidFill>
                <a:srgbClr val="666666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61" name="Shape 261"/>
          <p:cNvSpPr txBox="1"/>
          <p:nvPr>
            <p:ph idx="1" type="body"/>
          </p:nvPr>
        </p:nvSpPr>
        <p:spPr>
          <a:xfrm>
            <a:off x="2641300" y="1648675"/>
            <a:ext cx="3775500" cy="7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>
                <a:latin typeface="Walter Turncoat"/>
                <a:ea typeface="Walter Turncoat"/>
                <a:cs typeface="Walter Turncoat"/>
                <a:sym typeface="Walter Turncoat"/>
              </a:rPr>
              <a:t>Reverse Proxy App</a:t>
            </a:r>
            <a:endParaRPr sz="3000"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262" name="Shape 262"/>
          <p:cNvSpPr txBox="1"/>
          <p:nvPr>
            <p:ph idx="1" type="body"/>
          </p:nvPr>
        </p:nvSpPr>
        <p:spPr>
          <a:xfrm>
            <a:off x="4809025" y="3125575"/>
            <a:ext cx="40611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>
                <a:latin typeface="Walter Turncoat"/>
                <a:ea typeface="Walter Turncoat"/>
                <a:cs typeface="Walter Turncoat"/>
                <a:sym typeface="Walter Turncoat"/>
              </a:rPr>
              <a:t>*.Google.com Domains</a:t>
            </a:r>
            <a:endParaRPr sz="3000"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263" name="Shape 263"/>
          <p:cNvSpPr txBox="1"/>
          <p:nvPr>
            <p:ph idx="1" type="body"/>
          </p:nvPr>
        </p:nvSpPr>
        <p:spPr>
          <a:xfrm>
            <a:off x="518225" y="3125575"/>
            <a:ext cx="3775500" cy="7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>
                <a:latin typeface="Walter Turncoat"/>
                <a:ea typeface="Walter Turncoat"/>
                <a:cs typeface="Walter Turncoat"/>
                <a:sym typeface="Walter Turncoat"/>
              </a:rPr>
              <a:t>TLS Negotiation</a:t>
            </a:r>
            <a:endParaRPr sz="3000"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 txBox="1"/>
          <p:nvPr>
            <p:ph type="title"/>
          </p:nvPr>
        </p:nvSpPr>
        <p:spPr>
          <a:xfrm>
            <a:off x="311700" y="176325"/>
            <a:ext cx="8617500" cy="10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Prerequisites</a:t>
            </a:r>
            <a:endParaRPr b="1" sz="5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69" name="Shape 269"/>
          <p:cNvSpPr txBox="1"/>
          <p:nvPr>
            <p:ph idx="1" type="body"/>
          </p:nvPr>
        </p:nvSpPr>
        <p:spPr>
          <a:xfrm>
            <a:off x="311700" y="1173575"/>
            <a:ext cx="6914700" cy="37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alter Turncoat"/>
              <a:buAutoNum type="arabicPeriod"/>
            </a:pPr>
            <a:r>
              <a:rPr lang="en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C2 Server</a:t>
            </a:r>
            <a:br>
              <a:rPr lang="en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endParaRPr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alter Turncoat"/>
              <a:buAutoNum type="arabicPeriod"/>
            </a:pPr>
            <a:r>
              <a:rPr lang="en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Google Cloud Account</a:t>
            </a:r>
            <a:br>
              <a:rPr lang="en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endParaRPr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alter Turncoat"/>
              <a:buAutoNum type="arabicPeriod"/>
            </a:pPr>
            <a:r>
              <a:rPr lang="en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Redirector Program </a:t>
            </a:r>
            <a:br>
              <a:rPr lang="en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endParaRPr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alter Turncoat"/>
              <a:buAutoNum type="arabicPeriod"/>
            </a:pPr>
            <a:r>
              <a:rPr lang="en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C2 Communication Configuration with proper host header (I.e. Malleable C2 Profile)</a:t>
            </a:r>
            <a:endParaRPr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Former two can be found here - https://github.com/rmikehodges/Google_Domain_Fronting</a:t>
            </a:r>
            <a:endParaRPr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/>
          <p:nvPr>
            <p:ph type="title"/>
          </p:nvPr>
        </p:nvSpPr>
        <p:spPr>
          <a:xfrm>
            <a:off x="13439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  C2 Listener </a:t>
            </a:r>
            <a:endParaRPr b="1" sz="5000"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75" name="Shape 2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8925" y="1098501"/>
            <a:ext cx="4024350" cy="27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 txBox="1"/>
          <p:nvPr>
            <p:ph type="title"/>
          </p:nvPr>
        </p:nvSpPr>
        <p:spPr>
          <a:xfrm>
            <a:off x="1032800" y="2991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Huh??</a:t>
            </a:r>
            <a:endParaRPr sz="6000">
              <a:solidFill>
                <a:schemeClr val="lt1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pic>
        <p:nvPicPr>
          <p:cNvPr id="281" name="Shape 2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563" y="0"/>
            <a:ext cx="4162425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 txBox="1"/>
          <p:nvPr>
            <p:ph type="title"/>
          </p:nvPr>
        </p:nvSpPr>
        <p:spPr>
          <a:xfrm>
            <a:off x="384850" y="235725"/>
            <a:ext cx="84474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Connectivity</a:t>
            </a:r>
            <a:endParaRPr sz="50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87" name="Shape 2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850" y="1252600"/>
            <a:ext cx="5612126" cy="111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Shape 2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850" y="2821100"/>
            <a:ext cx="5427060" cy="78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Shape 2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8300" y="4052850"/>
            <a:ext cx="8447401" cy="5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Shape 2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1413"/>
            <a:ext cx="8839202" cy="21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Shape 295"/>
          <p:cNvSpPr txBox="1"/>
          <p:nvPr/>
        </p:nvSpPr>
        <p:spPr>
          <a:xfrm>
            <a:off x="902100" y="268375"/>
            <a:ext cx="73398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Greetings From Mountain View</a:t>
            </a:r>
            <a:endParaRPr b="1" sz="50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 txBox="1"/>
          <p:nvPr>
            <p:ph type="title"/>
          </p:nvPr>
        </p:nvSpPr>
        <p:spPr>
          <a:xfrm>
            <a:off x="225850" y="596100"/>
            <a:ext cx="8520600" cy="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Mitigations</a:t>
            </a:r>
            <a:endParaRPr b="1" sz="50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01" name="Shape 301"/>
          <p:cNvSpPr txBox="1"/>
          <p:nvPr>
            <p:ph idx="1" type="body"/>
          </p:nvPr>
        </p:nvSpPr>
        <p:spPr>
          <a:xfrm>
            <a:off x="3452100" y="1669375"/>
            <a:ext cx="22398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SSL Stripping</a:t>
            </a:r>
            <a:endParaRPr sz="24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302" name="Shape 302"/>
          <p:cNvSpPr txBox="1"/>
          <p:nvPr>
            <p:ph idx="1" type="body"/>
          </p:nvPr>
        </p:nvSpPr>
        <p:spPr>
          <a:xfrm>
            <a:off x="2833350" y="3341600"/>
            <a:ext cx="34773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SSL/TLS Handshakes</a:t>
            </a:r>
            <a:endParaRPr sz="24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303" name="Shape 303"/>
          <p:cNvSpPr txBox="1"/>
          <p:nvPr>
            <p:ph idx="1" type="body"/>
          </p:nvPr>
        </p:nvSpPr>
        <p:spPr>
          <a:xfrm>
            <a:off x="3063850" y="4105875"/>
            <a:ext cx="28446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Network Baseline</a:t>
            </a:r>
            <a:endParaRPr sz="24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  <p:sp>
        <p:nvSpPr>
          <p:cNvPr id="304" name="Shape 304"/>
          <p:cNvSpPr txBox="1"/>
          <p:nvPr>
            <p:ph idx="1" type="body"/>
          </p:nvPr>
        </p:nvSpPr>
        <p:spPr>
          <a:xfrm>
            <a:off x="2833350" y="2295975"/>
            <a:ext cx="34773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RFC 2616 Compliant Proxy</a:t>
            </a:r>
            <a:endParaRPr sz="24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 txBox="1"/>
          <p:nvPr>
            <p:ph type="title"/>
          </p:nvPr>
        </p:nvSpPr>
        <p:spPr>
          <a:xfrm>
            <a:off x="434450" y="621275"/>
            <a:ext cx="4782000" cy="21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ermanent Marker"/>
                <a:ea typeface="Permanent Marker"/>
                <a:cs typeface="Permanent Marker"/>
                <a:sym typeface="Permanent Marker"/>
              </a:rPr>
              <a:t>Automation</a:t>
            </a:r>
            <a:endParaRPr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Ephemeral Infrastructure</a:t>
            </a:r>
            <a:endParaRPr b="1" sz="5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5" name="Shape 315"/>
          <p:cNvSpPr txBox="1"/>
          <p:nvPr>
            <p:ph idx="1" type="body"/>
          </p:nvPr>
        </p:nvSpPr>
        <p:spPr>
          <a:xfrm>
            <a:off x="311700" y="1442575"/>
            <a:ext cx="8520600" cy="3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Global, Cross-Provider Infrastructure</a:t>
            </a:r>
            <a:br>
              <a:rPr lang="en" sz="30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br>
              <a:rPr lang="en" sz="30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r>
              <a:rPr lang="en" sz="3000">
                <a:solidFill>
                  <a:schemeClr val="dk1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 Small Footprints</a:t>
            </a:r>
            <a:br>
              <a:rPr lang="en" sz="30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br>
              <a:rPr lang="en" sz="30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r>
              <a:rPr lang="en" sz="30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https://github.com/rmikehodges/hideNsneak_teaser</a:t>
            </a:r>
            <a:r>
              <a:rPr lang="en" sz="2400">
                <a:solidFill>
                  <a:srgbClr val="666666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r</a:t>
            </a:r>
            <a:endParaRPr sz="24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Proxychain to Greatness</a:t>
            </a:r>
            <a:endParaRPr b="1" sz="50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21" name="Shape 321"/>
          <p:cNvSpPr txBox="1"/>
          <p:nvPr>
            <p:ph idx="1" type="body"/>
          </p:nvPr>
        </p:nvSpPr>
        <p:spPr>
          <a:xfrm>
            <a:off x="311700" y="1986725"/>
            <a:ext cx="8520600" cy="25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Proxychains and SOCKSd have randomization options</a:t>
            </a:r>
            <a:endParaRPr sz="22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Send each request via a random proxy in your chain</a:t>
            </a:r>
            <a:endParaRPr sz="22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200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..There Are Drawbacks..</a:t>
            </a:r>
            <a:endParaRPr sz="2200">
              <a:solidFill>
                <a:srgbClr val="FFFFFF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/>
          <p:nvPr>
            <p:ph type="title"/>
          </p:nvPr>
        </p:nvSpPr>
        <p:spPr>
          <a:xfrm>
            <a:off x="311700" y="23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Distributed Scanning</a:t>
            </a:r>
            <a:endParaRPr b="1" sz="50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27" name="Shape 327"/>
          <p:cNvSpPr txBox="1"/>
          <p:nvPr>
            <p:ph idx="1" type="body"/>
          </p:nvPr>
        </p:nvSpPr>
        <p:spPr>
          <a:xfrm>
            <a:off x="311700" y="1204250"/>
            <a:ext cx="8520600" cy="33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Global presence allows for efficient and evasive port scans</a:t>
            </a:r>
            <a:br>
              <a:rPr lang="en" sz="22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endParaRPr sz="22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A single scan can cycle through multiple rounds of hosts</a:t>
            </a:r>
            <a:br>
              <a:rPr lang="en" sz="22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</a:br>
            <a:endParaRPr sz="22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200">
                <a:solidFill>
                  <a:srgbClr val="000000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Sprinkle some randomization</a:t>
            </a:r>
            <a:endParaRPr sz="2200">
              <a:solidFill>
                <a:srgbClr val="000000"/>
              </a:solidFill>
              <a:latin typeface="Walter Turncoat"/>
              <a:ea typeface="Walter Turncoat"/>
              <a:cs typeface="Walter Turncoat"/>
              <a:sym typeface="Walter Turnco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 txBox="1"/>
          <p:nvPr>
            <p:ph type="title"/>
          </p:nvPr>
        </p:nvSpPr>
        <p:spPr>
          <a:xfrm>
            <a:off x="311700" y="616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ermanent Marker"/>
                <a:ea typeface="Permanent Marker"/>
                <a:cs typeface="Permanent Marker"/>
                <a:sym typeface="Permanent Marker"/>
              </a:rPr>
              <a:t>Possibilities Are Growing...</a:t>
            </a:r>
            <a:endParaRPr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 txBox="1"/>
          <p:nvPr/>
        </p:nvSpPr>
        <p:spPr>
          <a:xfrm>
            <a:off x="4661250" y="2013281"/>
            <a:ext cx="43377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photo credits: various artists from pexels.com &amp;&amp; unsplash.com </a:t>
            </a:r>
            <a:endParaRPr sz="8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design credits: my amazing wife</a:t>
            </a:r>
            <a:endParaRPr sz="8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