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6858000" cx="12192000"/>
  <p:notesSz cx="6858000" cy="9144000"/>
  <p:embeddedFontLst>
    <p:embeddedFont>
      <p:font typeface="Arial Black"/>
      <p:regular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font" Target="fonts/ArialBlack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Shape 7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Shape 7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Shape 8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Shape 92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Shape 10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Shape 10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Shape 11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Shape 12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Shape 12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Shape 139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hape 146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Shape 15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Shape 15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Shape 16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Shape 17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Shape 17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Shape 18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Shape 19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Shape 19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Shape 202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Shape 21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Shape 21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Shape 22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Shape 23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Shape 23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Shape 24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Shape 25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Shape 25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Shape 26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Shape 27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Shape 27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Shape 28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Shape 28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Shape 294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Shape 30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Shape 30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Shape 312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hape 31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Shape 31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Shape 32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/>
          <p:nvPr/>
        </p:nvSpPr>
        <p:spPr>
          <a:xfrm>
            <a:off x="0" y="0"/>
            <a:ext cx="12192000" cy="1123661"/>
          </a:xfrm>
          <a:prstGeom prst="rect">
            <a:avLst/>
          </a:prstGeom>
          <a:gradFill>
            <a:gsLst>
              <a:gs pos="0">
                <a:srgbClr val="757070"/>
              </a:gs>
              <a:gs pos="7000">
                <a:srgbClr val="4C4949"/>
              </a:gs>
              <a:gs pos="75000">
                <a:srgbClr val="262626"/>
              </a:gs>
              <a:gs pos="88000">
                <a:srgbClr val="3D5E5E"/>
              </a:gs>
              <a:gs pos="99000">
                <a:srgbClr val="3F3F3F"/>
              </a:gs>
              <a:gs pos="100000">
                <a:srgbClr val="3F3F3F"/>
              </a:gs>
            </a:gsLst>
            <a:path path="circle">
              <a:fillToRect r="100%" t="100%"/>
            </a:path>
            <a:tileRect b="-100%" l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Shape 15"/>
          <p:cNvSpPr txBox="1"/>
          <p:nvPr>
            <p:ph type="ctrTitle"/>
          </p:nvPr>
        </p:nvSpPr>
        <p:spPr>
          <a:xfrm>
            <a:off x="1524000" y="1436399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  <a:defRPr b="0" i="0" sz="4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Shape 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Shape 17"/>
          <p:cNvSpPr txBox="1"/>
          <p:nvPr>
            <p:ph idx="10" type="dt"/>
          </p:nvPr>
        </p:nvSpPr>
        <p:spPr>
          <a:xfrm>
            <a:off x="1373910" y="5989638"/>
            <a:ext cx="37522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Black Hills Information Security" id="18" name="Shape 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885" y="5244668"/>
            <a:ext cx="1642630" cy="1642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www.blackhillsinfosec.com/wp-content/uploads/2016/11/header.png" id="19" name="Shape 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50820" y="0"/>
            <a:ext cx="3034359" cy="1123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838200" y="193963"/>
            <a:ext cx="10515600" cy="974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  <a:defRPr b="0" i="0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838200" y="1366983"/>
            <a:ext cx="10515600" cy="45812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Shape 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Shape 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Shape 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  <a:defRPr b="0" i="0" sz="4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Shape 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Shape 3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Shape 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Shape 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Shape 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  <a:defRPr b="0" i="0" sz="4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Shape 4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Shape 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Shape 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Shape 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  <a:defRPr b="0" i="0" sz="4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Shape 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Shape 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Shape 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b="0" i="0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Shape 5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Shape 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Shape 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b="0" i="0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Shape 6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Shape 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Shape 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757070"/>
            </a:gs>
            <a:gs pos="25000">
              <a:srgbClr val="000000"/>
            </a:gs>
            <a:gs pos="75000">
              <a:srgbClr val="000000">
                <a:alpha val="81960"/>
              </a:srgbClr>
            </a:gs>
            <a:gs pos="85000">
              <a:srgbClr val="262626"/>
            </a:gs>
            <a:gs pos="100000">
              <a:srgbClr val="262626"/>
            </a:gs>
          </a:gsLst>
          <a:path path="circle">
            <a:fillToRect r="100%" t="100%"/>
          </a:path>
          <a:tileRect b="-100%" l="-100%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  <a:defRPr b="0" i="0" sz="4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Shape 9"/>
          <p:cNvSpPr/>
          <p:nvPr/>
        </p:nvSpPr>
        <p:spPr>
          <a:xfrm>
            <a:off x="0" y="0"/>
            <a:ext cx="12192000" cy="1123661"/>
          </a:xfrm>
          <a:prstGeom prst="rect">
            <a:avLst/>
          </a:prstGeom>
          <a:gradFill>
            <a:gsLst>
              <a:gs pos="0">
                <a:srgbClr val="757070"/>
              </a:gs>
              <a:gs pos="7000">
                <a:srgbClr val="4C4949"/>
              </a:gs>
              <a:gs pos="75000">
                <a:srgbClr val="262626"/>
              </a:gs>
              <a:gs pos="88000">
                <a:srgbClr val="3D5E5E"/>
              </a:gs>
              <a:gs pos="99000">
                <a:srgbClr val="3F3F3F"/>
              </a:gs>
              <a:gs pos="100000">
                <a:srgbClr val="3F3F3F"/>
              </a:gs>
            </a:gsLst>
            <a:path path="circle">
              <a:fillToRect r="100%" t="100%"/>
            </a:path>
            <a:tileRect b="-100%" l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www.blackhillsinfosec.com/wp-content/uploads/2016/11/header.png" id="10" name="Shape 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150820" y="0"/>
            <a:ext cx="3034359" cy="112366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/>
          <p:nvPr/>
        </p:nvSpPr>
        <p:spPr>
          <a:xfrm>
            <a:off x="1373910" y="5989638"/>
            <a:ext cx="37522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Black Hills Information Security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@BHInfoSecurity </a:t>
            </a:r>
            <a:endParaRPr/>
          </a:p>
        </p:txBody>
      </p:sp>
      <p:pic>
        <p:nvPicPr>
          <p:cNvPr descr="Black Hills Information Security" id="12" name="Shape 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885" y="5244668"/>
            <a:ext cx="1642630" cy="164263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dafthack/MailSniper" TargetMode="External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ithub.com/s0lst1c3/eaphammer" TargetMode="External"/><Relationship Id="rId4" Type="http://schemas.openxmlformats.org/officeDocument/2006/relationships/hyperlink" Target="https://github.com/OpenSecurityResearch/hostapd-wpe" TargetMode="External"/><Relationship Id="rId5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ithub.com/Kevin-Robertson/Inveigh" TargetMode="External"/><Relationship Id="rId4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blackhillsinfosec.com/how-to-build-your-own-penetration-testing-drop-box/" TargetMode="External"/><Relationship Id="rId4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ithub.com/NetSPI/PowerUpSQL" TargetMode="External"/><Relationship Id="rId4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github.com/creddefense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github.com/salesforce/ja3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ithub.com/vysec/RedTips" TargetMode="External"/><Relationship Id="rId4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://www.blackhillsinfosec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ctrTitle"/>
          </p:nvPr>
        </p:nvSpPr>
        <p:spPr>
          <a:xfrm>
            <a:off x="287382" y="261256"/>
            <a:ext cx="9144000" cy="766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</a:pPr>
            <a:r>
              <a:rPr b="0" i="0" lang="en-US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Red</a:t>
            </a:r>
            <a:r>
              <a:rPr b="0" i="0" lang="en-US" sz="4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Team Apocalypse</a:t>
            </a:r>
            <a:endParaRPr b="0" i="0" sz="40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3" name="Shape 73"/>
          <p:cNvSpPr txBox="1"/>
          <p:nvPr>
            <p:ph idx="1" type="subTitle"/>
          </p:nvPr>
        </p:nvSpPr>
        <p:spPr>
          <a:xfrm>
            <a:off x="8177348" y="5126038"/>
            <a:ext cx="3492137" cy="1100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Derek Banks (@0xderuke)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Beau Bullock (@dafthack)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3.googleusercontent.com/o4Y75OOSmXON_pwLurLo6azCQhXLGIupZkZjV6-_18h7FkFCxAsH8CqlVty8qhBCTmMRbEmwNglYUfoGrQTcqR2THDIYpyd7Q1-qe12rpcO4czAFHrfA2XVf-KpK243w7WRLGYqUh8evxQpjbw" id="74" name="Shape 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2443" y="1276803"/>
            <a:ext cx="6324600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768531" y="26565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About	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838200" y="1446934"/>
            <a:ext cx="1073496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organization has a vulnerability management program and regularly patches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implemented application whitelisting and network egress controls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Shape 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6182" y="3246526"/>
            <a:ext cx="4287510" cy="333931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Shape 82"/>
          <p:cNvSpPr txBox="1"/>
          <p:nvPr/>
        </p:nvSpPr>
        <p:spPr>
          <a:xfrm>
            <a:off x="838200" y="2772497"/>
            <a:ext cx="6725575" cy="3492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latest round of pen testers didn’t find anything too concerning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have the latest Cyber Anti APT Blinky box appliance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organization’s critical database is being sold on the dark web.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happened?!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/>
          <p:nvPr>
            <p:ph type="title"/>
          </p:nvPr>
        </p:nvSpPr>
        <p:spPr>
          <a:xfrm>
            <a:off x="838200" y="30790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About Us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8" name="Shape 8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Pentesters at Black Hills Information Security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Have a number of SANS, OffSec, and other certs…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CitySec Meetup Organizers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CigarCitySec – (Tampa, FL)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CitrusSec – (Orlando, FL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TidewaterSec – (Hampton, VA)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Tradecraft Security Weekly and Hacker Dialogues podcasts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Avid OWA enthusiasts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3.googleusercontent.com/KUorX3LYRylLh3csXlehLvU6hSHvrss-lDA3P6i3n5tK5HCyYw47sAFHTjsaKQpG2LAX3OGwEQ54TCe_MHNcbwyXGMbw1-ohknpRCz9dAbS9UpJnwXcXvRZkOR4U6xlVstkaYhSOLh6S5BZy0g" id="89" name="Shape 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5682" y="2586445"/>
            <a:ext cx="3357090" cy="1974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>
            <p:ph type="title"/>
          </p:nvPr>
        </p:nvSpPr>
        <p:spPr>
          <a:xfrm>
            <a:off x="838200" y="29545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Original Pentest Apocalypse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5" name="Shape 95"/>
          <p:cNvSpPr txBox="1"/>
          <p:nvPr>
            <p:ph idx="1" type="body"/>
          </p:nvPr>
        </p:nvSpPr>
        <p:spPr>
          <a:xfrm>
            <a:off x="341745" y="1825625"/>
            <a:ext cx="564341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Vulnerability Management Program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Group Policy Preferences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Widespread Local Administrator Account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Weak Passwords (Password Spraying)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Over Privileged Users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Shape 96"/>
          <p:cNvSpPr txBox="1"/>
          <p:nvPr/>
        </p:nvSpPr>
        <p:spPr>
          <a:xfrm>
            <a:off x="6096000" y="1825625"/>
            <a:ext cx="514696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Sensitive Data in File Shares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Intranet Information Disclosure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NetBios and LLMNR Poisoning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Local Workstation Privilege Escalation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3.googleusercontent.com/lshF7oQKeWjv9XwJfP85a0VZVTjGya7yuRm6L90e2Qq4hxuG7Qy80KypnpeUllvGsrGPpgE6ZbW8Uz723dFfuWW5ulwSdXLil4RjvHYgHzHSCsoe0epL9gpYQVb7p1xIDgNZmj0RN8vYAm9THw" id="97" name="Shape 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3437" y="3769132"/>
            <a:ext cx="3386818" cy="2542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>
            <p:ph type="title"/>
          </p:nvPr>
        </p:nvSpPr>
        <p:spPr>
          <a:xfrm>
            <a:off x="768532" y="24384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Red Team vs Pen Test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3" name="Shape 103"/>
          <p:cNvSpPr txBox="1"/>
          <p:nvPr>
            <p:ph idx="1" type="body"/>
          </p:nvPr>
        </p:nvSpPr>
        <p:spPr>
          <a:xfrm>
            <a:off x="838200" y="1520825"/>
            <a:ext cx="11088687" cy="194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Penetration test goals tend to be find as many vulnerabilities in the allotted time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COTS tools automated tools like vulnerability scanners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Generally not concerned with alerting the blue team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i0.kym-cdn.com/photos/images/original/000/125/546/piratesvsninjasannualco.jpg" id="104" name="Shape 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500" y="3153834"/>
            <a:ext cx="4370387" cy="339936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Shape 105"/>
          <p:cNvSpPr txBox="1"/>
          <p:nvPr/>
        </p:nvSpPr>
        <p:spPr>
          <a:xfrm>
            <a:off x="838201" y="3168122"/>
            <a:ext cx="6718300" cy="27754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 teams engagements model real world adversaries and are focused on achieving a goal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May use custom written malware and tools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Generally attempt to be stealthy and not alert the blue team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/>
          <p:nvPr>
            <p:ph type="title"/>
          </p:nvPr>
        </p:nvSpPr>
        <p:spPr>
          <a:xfrm>
            <a:off x="838200" y="28674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Red Team Methodology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1" name="Shape 111"/>
          <p:cNvSpPr txBox="1"/>
          <p:nvPr>
            <p:ph idx="1" type="body"/>
          </p:nvPr>
        </p:nvSpPr>
        <p:spPr>
          <a:xfrm>
            <a:off x="838200" y="1533826"/>
            <a:ext cx="4164000" cy="4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Reconnaissance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Compromise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Persistence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Command and Control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Asset Discovery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Privilege Escalation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Lateral Movement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Actions on Objectives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5.googleusercontent.com/oUAP46Qq8HS9k-cI6EyieyNNS6-I-DMvOv6KetJX1zkFzFGwV5s8N8UdHK-v066KB1yoBulPl3hKZH3plEbQjkqZZNWt86bBxtqN7J7lNctPSZpWWpKiOe2Y6htisTGYtUZ92cbmGeg" id="112" name="Shape 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6237" y="1612311"/>
            <a:ext cx="5550609" cy="410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/>
          <p:nvPr>
            <p:ph type="title"/>
          </p:nvPr>
        </p:nvSpPr>
        <p:spPr>
          <a:xfrm>
            <a:off x="77445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Calendar Event Injection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/>
          <p:nvPr>
            <p:ph type="title"/>
          </p:nvPr>
        </p:nvSpPr>
        <p:spPr>
          <a:xfrm>
            <a:off x="701964" y="365125"/>
            <a:ext cx="1065183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Google Calendar Event Injection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x="701970" y="1825625"/>
            <a:ext cx="5737200" cy="43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Silently inject events into calendars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Creates urgency via reminders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Include a link to a fake agenda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 email isn’t necessary, simply add a Google user to an event and select checkbox to not notify them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Google will automatically add it to their calendar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presents a unique phishing situation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Shape 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3925" y="1924600"/>
            <a:ext cx="4630175" cy="387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/>
          <p:nvPr>
            <p:ph type="title"/>
          </p:nvPr>
        </p:nvSpPr>
        <p:spPr>
          <a:xfrm>
            <a:off x="701970" y="265900"/>
            <a:ext cx="10651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Google Calendar Event Injection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x="701970" y="1393825"/>
            <a:ext cx="6359230" cy="43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few ideas: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Include a link to a conference call site but have it pointing to a credential collection page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Include a malicious “agenda”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Have victims navigate to a fake Google Auth page and collect creds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Gets more fun with Google API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It’s possible to make it look like they already accepted the invite! 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completely bypasses the setting in G-calendar for not auto-adding events.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b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Shape 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6274" y="2213125"/>
            <a:ext cx="4272800" cy="371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/>
          <p:nvPr>
            <p:ph type="title"/>
          </p:nvPr>
        </p:nvSpPr>
        <p:spPr>
          <a:xfrm>
            <a:off x="83820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Email Attacks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/>
          <p:nvPr>
            <p:ph type="title"/>
          </p:nvPr>
        </p:nvSpPr>
        <p:spPr>
          <a:xfrm>
            <a:off x="838200" y="392835"/>
            <a:ext cx="10515600" cy="974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Business Email Capture</a:t>
            </a:r>
            <a:endParaRPr/>
          </a:p>
        </p:txBody>
      </p:sp>
      <p:sp>
        <p:nvSpPr>
          <p:cNvPr id="142" name="Shape 142"/>
          <p:cNvSpPr txBox="1"/>
          <p:nvPr>
            <p:ph idx="1" type="body"/>
          </p:nvPr>
        </p:nvSpPr>
        <p:spPr>
          <a:xfrm>
            <a:off x="838200" y="1366983"/>
            <a:ext cx="7495903" cy="45812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Externally accessible email portals are a target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 if they are 2FA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OWA I’m looking at you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Cloud services are a target too (Gmail, O365, etc.)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Pen testers may overlook email systems as a target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Threat actors (and Red Teamers) do not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 is a huge resource for an attacker to learn more about your environment</a:t>
            </a:r>
            <a:b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4.googleusercontent.com/_-DcrQtIwDxbIrhBVulRaam6_oLkkCUmAj_NUvJZ8g5YrPKu23TBdDT_uLsWQJVhgO8Y1QWjp7FZL-fzIrBoF2dLUzloFwOolQjAkVKbaDY-QdmNdELnZ8gqvg-XinNDO-vn_XeWn3c" id="143" name="Shape 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1189" y="1420145"/>
            <a:ext cx="3210015" cy="472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/>
          <p:nvPr>
            <p:ph type="title"/>
          </p:nvPr>
        </p:nvSpPr>
        <p:spPr>
          <a:xfrm>
            <a:off x="838200" y="392835"/>
            <a:ext cx="10515600" cy="974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Business Email Capture</a:t>
            </a:r>
            <a:endParaRPr/>
          </a:p>
        </p:txBody>
      </p:sp>
      <p:sp>
        <p:nvSpPr>
          <p:cNvPr id="149" name="Shape 149"/>
          <p:cNvSpPr txBox="1"/>
          <p:nvPr>
            <p:ph idx="1" type="body"/>
          </p:nvPr>
        </p:nvSpPr>
        <p:spPr>
          <a:xfrm>
            <a:off x="777240" y="1070892"/>
            <a:ext cx="8001000" cy="45812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MailSniper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https://github.com/dafthack/MailSniper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Domain / Username enumeration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Password Spraying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GAL Download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Inbox delegation discovery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 searching for terms like passwords, 2FA codes, etc…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Bypasses some 2FA products by connecting to EWS instead of OWA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b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4.googleusercontent.com/Mt9h3rD_1MPRybR48rfTX5TTGo4uE20XC9C8xG-HoiiHAhMHxDkERhejXVAGbVcg8og0JAlNnwBuqvMfdGjuhkGi0L0ZN3xEWyaRRnZXBBLiYcet6LlEHpAL0EyU_burLAxmQ0o3DkQ" id="150" name="Shape 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5582" y="2045040"/>
            <a:ext cx="3710864" cy="3374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/>
          <p:nvPr>
            <p:ph type="title"/>
          </p:nvPr>
        </p:nvSpPr>
        <p:spPr>
          <a:xfrm>
            <a:off x="83820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Unicode Domain Names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/>
          <p:nvPr>
            <p:ph type="title"/>
          </p:nvPr>
        </p:nvSpPr>
        <p:spPr>
          <a:xfrm>
            <a:off x="838200" y="2590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Unicode Domain Names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1" name="Shape 161"/>
          <p:cNvSpPr txBox="1"/>
          <p:nvPr/>
        </p:nvSpPr>
        <p:spPr>
          <a:xfrm>
            <a:off x="710400" y="1584725"/>
            <a:ext cx="10692300" cy="41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/>
          <p:nvPr>
            <p:ph idx="1" type="body"/>
          </p:nvPr>
        </p:nvSpPr>
        <p:spPr>
          <a:xfrm>
            <a:off x="738900" y="1528774"/>
            <a:ext cx="6096876" cy="44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of domain names that include unicode characters such as letters with a dot (.) under them like: ṇ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Creates a really great look-alike domain for phishing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dot gets completely hidden when hyperlinked with a line underneath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Gotta be careful with some spam filters though</a:t>
            </a:r>
            <a:endParaRPr/>
          </a:p>
        </p:txBody>
      </p:sp>
      <p:pic>
        <p:nvPicPr>
          <p:cNvPr id="163" name="Shape 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2125" y="1330100"/>
            <a:ext cx="4566924" cy="54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/>
          <p:nvPr>
            <p:ph type="title"/>
          </p:nvPr>
        </p:nvSpPr>
        <p:spPr>
          <a:xfrm>
            <a:off x="83820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Expired Categorized Domains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/>
          <p:nvPr>
            <p:ph type="title"/>
          </p:nvPr>
        </p:nvSpPr>
        <p:spPr>
          <a:xfrm>
            <a:off x="709612" y="2508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Expired Categorized Domains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4" name="Shape 174"/>
          <p:cNvSpPr txBox="1"/>
          <p:nvPr>
            <p:ph idx="1" type="body"/>
          </p:nvPr>
        </p:nvSpPr>
        <p:spPr>
          <a:xfrm>
            <a:off x="442912" y="1355724"/>
            <a:ext cx="7316788" cy="486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Technique used to circumvent categorization web proxy blocks for C2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Uses previous categorization for some length of time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Trivial to find 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expireddomains.net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Domainhunter.py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Simulates using a compromised 3rd party website</a:t>
            </a:r>
            <a:endParaRPr/>
          </a:p>
        </p:txBody>
      </p:sp>
      <p:pic>
        <p:nvPicPr>
          <p:cNvPr id="175" name="Shape 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5188" y="3149600"/>
            <a:ext cx="4762500" cy="31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/>
          <p:nvPr>
            <p:ph type="title"/>
          </p:nvPr>
        </p:nvSpPr>
        <p:spPr>
          <a:xfrm>
            <a:off x="83820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Domain Fronting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Domain Fronting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6" name="Shape 186"/>
          <p:cNvSpPr txBox="1"/>
          <p:nvPr>
            <p:ph idx="1" type="body"/>
          </p:nvPr>
        </p:nvSpPr>
        <p:spPr>
          <a:xfrm>
            <a:off x="838200" y="1825625"/>
            <a:ext cx="10515600" cy="11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Another technique used to circumvent web proxy restrictions for C2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Hides the true endpoint of an HTTP connection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Shape 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237" y="3346687"/>
            <a:ext cx="5422899" cy="303823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Shape 188"/>
          <p:cNvSpPr txBox="1"/>
          <p:nvPr/>
        </p:nvSpPr>
        <p:spPr>
          <a:xfrm>
            <a:off x="838200" y="2843213"/>
            <a:ext cx="5519738" cy="290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Initial target domain for the traffic redirects to secondary host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use a Content Delivery Network such as AWS Cloudfront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be difficult to detect and block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Domain Fronting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https://lh6.googleusercontent.com/vMfRWWabYY1h-QlXJDs20urq3ULAHpugDf_60DJzqKjCkJj9VYXU7o9psXEQnZjOD4TRLVMpeli66pM6MqrKZGwxPHg594n8HrxUgcTW9Ni4O2TQQMCpowKa1h0yEL_n2PISCGEXRIQKWDnw8g" id="194" name="Shape 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2713" y="1981200"/>
            <a:ext cx="6886575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 txBox="1"/>
          <p:nvPr>
            <p:ph type="title"/>
          </p:nvPr>
        </p:nvSpPr>
        <p:spPr>
          <a:xfrm>
            <a:off x="83820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Hashes Just Want to Be Cracked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/>
          <p:nvPr>
            <p:ph type="title"/>
          </p:nvPr>
        </p:nvSpPr>
        <p:spPr>
          <a:xfrm>
            <a:off x="838200" y="30844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Kerberoasting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5" name="Shape 205"/>
          <p:cNvSpPr txBox="1"/>
          <p:nvPr>
            <p:ph idx="1" type="body"/>
          </p:nvPr>
        </p:nvSpPr>
        <p:spPr>
          <a:xfrm>
            <a:off x="838200" y="1825625"/>
            <a:ext cx="105156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Ability for any domain user to query the domain for a Service Principal Name for an account associated with running a service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Shape 206"/>
          <p:cNvSpPr txBox="1"/>
          <p:nvPr/>
        </p:nvSpPr>
        <p:spPr>
          <a:xfrm>
            <a:off x="838200" y="2767950"/>
            <a:ext cx="6748152" cy="30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request to authenticate over Kerberos results in a service ticket where a portion is encrypted with the service account hash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Effectively any domain user can get a hash of a service account with an SPN and take the resulting ticket offline and attempt to crack it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lh6.googleusercontent.com/bTlBAQcjdQ6w_s_3SMQpEc5MbW1UYtAloGGv7uDpvtfkSHFXYFaZG9VFRXBLtBq1OtgYEPqV8-aZMJTRyLZAYWWzGifj62cBBXNqM5ah5NyUqobI_O4UVY-TyfH4_spZwPWZJm7_99U" id="207" name="Shape 2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6352" y="3324962"/>
            <a:ext cx="4307196" cy="239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/>
          <p:nvPr>
            <p:ph type="title"/>
          </p:nvPr>
        </p:nvSpPr>
        <p:spPr>
          <a:xfrm>
            <a:off x="759823" y="2432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Evil Twin Wireless Attack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3" name="Shape 213"/>
          <p:cNvSpPr txBox="1"/>
          <p:nvPr>
            <p:ph idx="1" type="body"/>
          </p:nvPr>
        </p:nvSpPr>
        <p:spPr>
          <a:xfrm>
            <a:off x="759823" y="1320528"/>
            <a:ext cx="10152017" cy="160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Evil Wireless AP that uses the same ESSID as the target AP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Goal is to trick a user into joining the evil AP and gather the NetNTLMv2 hash from the authentication attempt</a:t>
            </a:r>
            <a:endParaRPr/>
          </a:p>
        </p:txBody>
      </p:sp>
      <p:sp>
        <p:nvSpPr>
          <p:cNvPr id="214" name="Shape 214"/>
          <p:cNvSpPr txBox="1"/>
          <p:nvPr/>
        </p:nvSpPr>
        <p:spPr>
          <a:xfrm>
            <a:off x="759823" y="2840173"/>
            <a:ext cx="6642464" cy="336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Eaphammer from s0lst1c3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https://github.com/s0lst1c3/eaphammer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Hostapd-wpe 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https://github.com/OpenSecurityResearch/hostapd-wpe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Aircrack suite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3.googleusercontent.com/lv_3QXWb1D_LxBIFKO_ufB7JEUXSkZdsOFhRi8si6Vk-SHK2L1Kb6t4X7rt_2yPliYalAO7pz8HDYTWSX72yo5_mKBlY78gMoSu8acDLNG2F-8giYONrzFDdhfASMjMWCgBCdEl9mmzZl27Fqw" id="215" name="Shape 2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6720" y="3547562"/>
            <a:ext cx="4726046" cy="2652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 txBox="1"/>
          <p:nvPr>
            <p:ph type="title"/>
          </p:nvPr>
        </p:nvSpPr>
        <p:spPr>
          <a:xfrm>
            <a:off x="759823" y="2432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Weaponized LNK File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1" name="Shape 221"/>
          <p:cNvSpPr txBox="1"/>
          <p:nvPr>
            <p:ph idx="1" type="body"/>
          </p:nvPr>
        </p:nvSpPr>
        <p:spPr>
          <a:xfrm>
            <a:off x="759823" y="1574119"/>
            <a:ext cx="10152017" cy="1325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Place shortcut file located on a commonly used public share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Icon for shortcut points back a UNC location on attacker system</a:t>
            </a:r>
            <a:endParaRPr/>
          </a:p>
        </p:txBody>
      </p:sp>
      <p:sp>
        <p:nvSpPr>
          <p:cNvPr id="222" name="Shape 222"/>
          <p:cNvSpPr txBox="1"/>
          <p:nvPr/>
        </p:nvSpPr>
        <p:spPr>
          <a:xfrm>
            <a:off x="759823" y="2840173"/>
            <a:ext cx="6642464" cy="336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SMB Listener on attacker controlled system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use Inveigh for the listener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https://github.com/Kevin-Robertson/Inveigh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Gather NetNTLMv2 hashes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3.googleusercontent.com/tdEyka8t8lD3USPrnqQQ4kcVdoQCpem58z-sIm6IiPICe_kfVGjH9GaA72lbLzzOHHhN76DLdXMHKPRLKLVwcJWwSxsK5xkE1QWWnzR1zDFmtk1TKuy329Y1aSq8kwtHBaNd_OWH-igUdDwxKw" id="223" name="Shape 2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3565" y="3300277"/>
            <a:ext cx="4905375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/>
          <p:nvPr>
            <p:ph type="title"/>
          </p:nvPr>
        </p:nvSpPr>
        <p:spPr>
          <a:xfrm>
            <a:off x="83820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Onsite Attacks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NAC Bypass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4" name="Shape 234"/>
          <p:cNvSpPr txBox="1"/>
          <p:nvPr>
            <p:ph idx="1" type="body"/>
          </p:nvPr>
        </p:nvSpPr>
        <p:spPr>
          <a:xfrm>
            <a:off x="838200" y="1601420"/>
            <a:ext cx="6718300" cy="435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Spoof another device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a printer or VOIP phone; Spoof MAC and/or IP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Voiphopper to hop VLAN’s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Wi-Fi NAC spoof MAC and User Agent of connected device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Layer 2 and 3 NAT device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Helps avoid triggering port security rules on 802.1X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 spoofs both sides of wire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Passively learns MAC addresses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Shape 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6062" y="1825625"/>
            <a:ext cx="3322638" cy="413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/>
          <p:nvPr>
            <p:ph type="title"/>
          </p:nvPr>
        </p:nvSpPr>
        <p:spPr>
          <a:xfrm>
            <a:off x="838200" y="288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Dropbox</a:t>
            </a:r>
            <a:endParaRPr b="0" i="0" sz="4400" u="none" cap="none" strike="noStrike">
              <a:solidFill>
                <a:srgbClr val="F2F2F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1" name="Shape 241"/>
          <p:cNvSpPr txBox="1"/>
          <p:nvPr>
            <p:ph idx="1" type="body"/>
          </p:nvPr>
        </p:nvSpPr>
        <p:spPr>
          <a:xfrm>
            <a:off x="838200" y="1825625"/>
            <a:ext cx="670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Fully functional pentesting device to leave at onsite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Persistent reverse SSH tunnels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be controlled over WiFi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Relatively unnoticeable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ODROID-C2 build instructions here: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https://www.blackhillsinfosec.com/how-to-build-your-own-penetration-testing-drop-box/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Shape 2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3800" y="2336800"/>
            <a:ext cx="4424976" cy="2504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/>
          <p:nvPr>
            <p:ph type="title"/>
          </p:nvPr>
        </p:nvSpPr>
        <p:spPr>
          <a:xfrm>
            <a:off x="838200" y="161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PXE Booting Attacks</a:t>
            </a:r>
            <a:endParaRPr b="0" i="0" sz="4400" u="none" cap="none" strike="noStrike">
              <a:solidFill>
                <a:srgbClr val="F2F2F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8" name="Shape 248"/>
          <p:cNvSpPr txBox="1"/>
          <p:nvPr>
            <p:ph idx="1" type="body"/>
          </p:nvPr>
        </p:nvSpPr>
        <p:spPr>
          <a:xfrm>
            <a:off x="838200" y="1304924"/>
            <a:ext cx="7277100" cy="447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Obtain the “Golden” image from the network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Set VM to “Boot from network”, boot VM, and get the image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Mount image &amp; profit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Steal Admin hashes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Set local admin pass pre-boot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Overwrite Sticky keys (sethc.exe)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 txBox="1"/>
          <p:nvPr>
            <p:ph type="title"/>
          </p:nvPr>
        </p:nvSpPr>
        <p:spPr>
          <a:xfrm>
            <a:off x="83820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Post Exploitation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 txBox="1"/>
          <p:nvPr>
            <p:ph type="title"/>
          </p:nvPr>
        </p:nvSpPr>
        <p:spPr>
          <a:xfrm>
            <a:off x="838200" y="14446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PowerUp SQL</a:t>
            </a:r>
            <a:endParaRPr b="0" i="0" sz="4400" u="none" cap="none" strike="noStrike">
              <a:solidFill>
                <a:srgbClr val="F2F2F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9" name="Shape 259"/>
          <p:cNvSpPr txBox="1"/>
          <p:nvPr>
            <p:ph idx="1" type="body"/>
          </p:nvPr>
        </p:nvSpPr>
        <p:spPr>
          <a:xfrm>
            <a:off x="838200" y="1470025"/>
            <a:ext cx="7188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PowerShell tool for attacking MSSQL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https://github.com/NetSPI/PowerUpSQL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SQL Server discovery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Weak configuration auditing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Privilege escalation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sample searches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OS command injection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at scale across the enterprise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3.googleusercontent.com/X7INu_P_aEn9cJz_UU1K2A6dkAJLFDCHuRuN30lfZOViw-H489bhiqaZ0Uf2ugpapFr5OW8Y9zsWWKIz-8ocdwRZtSwZdUVddTH3qzd9oVbMDdqWaNPUkQHDH86vwQzrVaGy824Pk74" id="260" name="Shape 2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6942" y="1266824"/>
            <a:ext cx="3567039" cy="538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 txBox="1"/>
          <p:nvPr>
            <p:ph type="title"/>
          </p:nvPr>
        </p:nvSpPr>
        <p:spPr>
          <a:xfrm>
            <a:off x="838200" y="2127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Living off the Land</a:t>
            </a:r>
            <a:endParaRPr b="0" i="0" sz="4400" u="none" cap="none" strike="noStrike">
              <a:solidFill>
                <a:srgbClr val="F2F2F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6" name="Shape 266"/>
          <p:cNvSpPr txBox="1"/>
          <p:nvPr>
            <p:ph idx="1" type="body"/>
          </p:nvPr>
        </p:nvSpPr>
        <p:spPr>
          <a:xfrm>
            <a:off x="838200" y="1825625"/>
            <a:ext cx="10515600" cy="294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Using built in Windows tools to avoid dropping malware 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Internal user and group recon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Remote file listing and copying data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Remote process spawning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Lateral movement </a:t>
            </a:r>
            <a:endParaRPr/>
          </a:p>
        </p:txBody>
      </p:sp>
      <p:pic>
        <p:nvPicPr>
          <p:cNvPr id="267" name="Shape 2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7991" y="3597808"/>
            <a:ext cx="4945809" cy="2354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 txBox="1"/>
          <p:nvPr>
            <p:ph type="title"/>
          </p:nvPr>
        </p:nvSpPr>
        <p:spPr>
          <a:xfrm>
            <a:off x="838200" y="2000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Living of the Land</a:t>
            </a:r>
            <a:endParaRPr b="0" i="0" sz="4400" u="none" cap="none" strike="noStrike">
              <a:solidFill>
                <a:srgbClr val="F2F2F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3" name="Shape 273"/>
          <p:cNvSpPr txBox="1"/>
          <p:nvPr>
            <p:ph idx="1" type="body"/>
          </p:nvPr>
        </p:nvSpPr>
        <p:spPr>
          <a:xfrm>
            <a:off x="838200" y="15255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Net commands 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net groups “DOMAIN ADMINS” /DOMAIN</a:t>
            </a:r>
            <a:endParaRPr b="0" i="0" sz="28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Listing files on remote hosts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dir \\host\C$\files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WinRM to run remote commands (port 5985)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Invoke-Command -ComputerName -ScriptBlock {Command Here}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 txBox="1"/>
          <p:nvPr>
            <p:ph type="title"/>
          </p:nvPr>
        </p:nvSpPr>
        <p:spPr>
          <a:xfrm>
            <a:off x="172621" y="309475"/>
            <a:ext cx="11658349" cy="114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000" u="none" cap="none" strike="noStrike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Stealthy Host/Domain Enumeration</a:t>
            </a:r>
            <a:endParaRPr b="0" i="0" sz="4000" u="none" cap="none" strike="noStrike">
              <a:solidFill>
                <a:srgbClr val="F2F2F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9" name="Shape 279"/>
          <p:cNvSpPr txBox="1"/>
          <p:nvPr>
            <p:ph idx="1" type="body"/>
          </p:nvPr>
        </p:nvSpPr>
        <p:spPr>
          <a:xfrm>
            <a:off x="480296" y="1825625"/>
            <a:ext cx="5521500" cy="43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More and more AV, behavioral analysis, app whitelisting, etc. products are starting to either block or alert on built-in system commands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Ex. net, ipconfig, whoami, netstat, etc.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HostRecon PowerShell instead of built-in commands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https://github.com/dafthack/HostRecon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Combine with PowerShell Without PowerShell technique for added bonus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Shape 2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500" y="2038000"/>
            <a:ext cx="5422350" cy="361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 txBox="1"/>
          <p:nvPr>
            <p:ph type="title"/>
          </p:nvPr>
        </p:nvSpPr>
        <p:spPr>
          <a:xfrm>
            <a:off x="83820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Detection and Prevention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290"/>
          <p:cNvSpPr txBox="1"/>
          <p:nvPr>
            <p:ph type="title"/>
          </p:nvPr>
        </p:nvSpPr>
        <p:spPr>
          <a:xfrm>
            <a:off x="838200" y="2254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Solid Systems Administration</a:t>
            </a:r>
            <a:endParaRPr b="0" i="0" sz="4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1" name="Shape 291"/>
          <p:cNvSpPr txBox="1"/>
          <p:nvPr>
            <p:ph idx="1" type="body"/>
          </p:nvPr>
        </p:nvSpPr>
        <p:spPr>
          <a:xfrm>
            <a:off x="685800" y="13938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Systems and software inventory (yes, CSC Top 20 are useful)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Workstations should never talk to workstations - client to server communication only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Windows firewall or Private VLANS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Baseline images with GPO enforcement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All inbound and outbound network traffic go through an application proxy system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Any exceptions for direct outbound communication are by documented exception only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b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 txBox="1"/>
          <p:nvPr>
            <p:ph type="title"/>
          </p:nvPr>
        </p:nvSpPr>
        <p:spPr>
          <a:xfrm>
            <a:off x="838200" y="2254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Enforce Good User Behavior</a:t>
            </a:r>
            <a:endParaRPr b="0" i="0" sz="4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7" name="Shape 29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Change every inbound email subject line with a tag such as (External):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Inform your users that any email with that tag needs extra scrutiny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Minimum of 15 characters for any domain account password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If you have to compromise to sell it to the business, no complexity requirements and 6 month change interval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Consider additional credential defenses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Commercial offerings available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CredDefense Toolkit for Free</a:t>
            </a:r>
            <a:endParaRPr/>
          </a:p>
          <a:p>
            <a: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https://github.com/creddefense</a:t>
            </a:r>
            <a:endParaRPr b="0" i="0" sz="20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 txBox="1"/>
          <p:nvPr>
            <p:ph type="title"/>
          </p:nvPr>
        </p:nvSpPr>
        <p:spPr>
          <a:xfrm>
            <a:off x="838200" y="2254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Host Log Consolidation</a:t>
            </a:r>
            <a:endParaRPr b="0" i="0" sz="4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3" name="Shape 303"/>
          <p:cNvSpPr txBox="1"/>
          <p:nvPr>
            <p:ph idx="1" type="body"/>
          </p:nvPr>
        </p:nvSpPr>
        <p:spPr>
          <a:xfrm>
            <a:off x="838200" y="13557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Consolidate key logs from endpoints, servers, and appliances to a central location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Specifically monitor PowerShell and process execution 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Sysmon a powerful and free option for gaining insight into host based activity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Once the logging foundation is in place, alert on “abnormal commands” like net commands 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Can be done on the cheap: 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https://www.blackhillsinfosec.com/end-point-log-consolidation-windows-event-forwarder/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 txBox="1"/>
          <p:nvPr>
            <p:ph type="title"/>
          </p:nvPr>
        </p:nvSpPr>
        <p:spPr>
          <a:xfrm>
            <a:off x="838200" y="2254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Network Logging</a:t>
            </a:r>
            <a:endParaRPr b="0" i="0" sz="4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9" name="Shape 309"/>
          <p:cNvSpPr txBox="1"/>
          <p:nvPr>
            <p:ph idx="1" type="body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NetFlow, Bro, or Full Packet Capture?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Depends on your budget and staff capabilities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Bro is a good balance between NetFlow 5-Tuple and Full Packet Capture mass storage requirements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Out of the box captures common protocols into text based files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Can provide an amount of visibility into SSL traffic without breaking SSL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Abnormal certificate information 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SSL fingerprinting - JA3 project - </a:t>
            </a: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https://github.com/salesforce/ja3</a:t>
            </a:r>
            <a:endParaRPr b="0" i="0" sz="24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Beacon detection with RITA (AIHunt)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https://www.blackhillsinfosec.com/projects/rita/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 txBox="1"/>
          <p:nvPr>
            <p:ph type="title"/>
          </p:nvPr>
        </p:nvSpPr>
        <p:spPr>
          <a:xfrm>
            <a:off x="838200" y="161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rgbClr val="F2F2F2"/>
                </a:solidFill>
                <a:latin typeface="Arial Black"/>
                <a:ea typeface="Arial Black"/>
                <a:cs typeface="Arial Black"/>
                <a:sym typeface="Arial Black"/>
              </a:rPr>
              <a:t>Red Team Prepper</a:t>
            </a:r>
            <a:endParaRPr b="0" i="0" sz="4400" u="none" cap="none" strike="noStrike">
              <a:solidFill>
                <a:srgbClr val="F2F2F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5" name="Shape 315"/>
          <p:cNvSpPr txBox="1"/>
          <p:nvPr>
            <p:ph idx="1" type="body"/>
          </p:nvPr>
        </p:nvSpPr>
        <p:spPr>
          <a:xfrm>
            <a:off x="838200" y="1253330"/>
            <a:ext cx="7658100" cy="5249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Don’t wait on the Red Team prepare on your own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Use @vysecurity’s Red Team Tips to find techniques to try to detect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https://github.com/vysec/RedTips</a:t>
            </a:r>
            <a:endParaRPr b="0" i="0" sz="24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MITRE ATT&amp;CK Framework for threat actor techniques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https://attack.mitre.org/wiki/Main_Page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Red Canary’s Atomic Red Team - portable scripts to test ATT&amp;CK framework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https://github.com/redcanaryco/atomic-red-team</a:t>
            </a:r>
            <a:endParaRPr/>
          </a:p>
          <a:p>
            <a:pPr indent="0" lvl="0" marL="50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b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5.googleusercontent.com/-R_k7Lt84FT5tDt0MVRwY0R_G7mB3HElnLX8sKghBj9UNDbqDDIQwYPVaau9wHuZoIJe0pYvWDk-vyybf9OYjF4m9YWKwJlETNikBgnf9d9Bh_hp69rHI1VhRPXr0y1lWgEUi3OK1dM" id="316" name="Shape 3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1600" y="2578187"/>
            <a:ext cx="4257675" cy="2857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321"/>
          <p:cNvSpPr txBox="1"/>
          <p:nvPr>
            <p:ph type="title"/>
          </p:nvPr>
        </p:nvSpPr>
        <p:spPr>
          <a:xfrm>
            <a:off x="738909" y="312874"/>
            <a:ext cx="1061489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About that Bypass Technique</a:t>
            </a:r>
            <a:endParaRPr b="0" i="0" sz="44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2" name="Shape 322"/>
          <p:cNvSpPr txBox="1"/>
          <p:nvPr>
            <p:ph idx="1" type="body"/>
          </p:nvPr>
        </p:nvSpPr>
        <p:spPr>
          <a:xfrm>
            <a:off x="738909" y="1528763"/>
            <a:ext cx="10614891" cy="192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Recently some products have been getting a little better…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But they still seem to be getting better at catching pen testers and common tools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then sometimes its just stupid simple to get past a well known security product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Shape 3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3050" y="3579926"/>
            <a:ext cx="8991600" cy="2587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328"/>
          <p:cNvSpPr txBox="1"/>
          <p:nvPr>
            <p:ph type="title"/>
          </p:nvPr>
        </p:nvSpPr>
        <p:spPr>
          <a:xfrm>
            <a:off x="838200" y="2254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Summary and Conclusions</a:t>
            </a:r>
            <a:endParaRPr b="0" i="0" sz="4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9" name="Shape 329"/>
          <p:cNvSpPr txBox="1"/>
          <p:nvPr>
            <p:ph idx="1" type="body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Black Hills Information Security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http://www.blackhillsinfosec.com</a:t>
            </a:r>
            <a:endParaRPr b="0" i="0" sz="24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@BHInfoSecurity</a:t>
            </a:r>
            <a:endParaRPr b="0" i="0" sz="24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Beau Bullock @dafthack</a:t>
            </a:r>
            <a:endParaRPr b="0" i="0" sz="28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Derek Banks @deruke</a:t>
            </a:r>
            <a:endParaRPr b="0" i="0" sz="28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b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