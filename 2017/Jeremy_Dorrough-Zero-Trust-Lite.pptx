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mp4" ContentType="video/mp4"/>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Lst>
  <p:notesMasterIdLst>
    <p:notesMasterId r:id="rId34"/>
  </p:notesMasterIdLst>
  <p:handoutMasterIdLst>
    <p:handoutMasterId r:id="rId35"/>
  </p:handoutMasterIdLst>
  <p:sldIdLst>
    <p:sldId id="270" r:id="rId2"/>
    <p:sldId id="261" r:id="rId3"/>
    <p:sldId id="271" r:id="rId4"/>
    <p:sldId id="260" r:id="rId5"/>
    <p:sldId id="273" r:id="rId6"/>
    <p:sldId id="308" r:id="rId7"/>
    <p:sldId id="290" r:id="rId8"/>
    <p:sldId id="289" r:id="rId9"/>
    <p:sldId id="274" r:id="rId10"/>
    <p:sldId id="275" r:id="rId11"/>
    <p:sldId id="306" r:id="rId12"/>
    <p:sldId id="297" r:id="rId13"/>
    <p:sldId id="276" r:id="rId14"/>
    <p:sldId id="292" r:id="rId15"/>
    <p:sldId id="291" r:id="rId16"/>
    <p:sldId id="293" r:id="rId17"/>
    <p:sldId id="296" r:id="rId18"/>
    <p:sldId id="299" r:id="rId19"/>
    <p:sldId id="280" r:id="rId20"/>
    <p:sldId id="298" r:id="rId21"/>
    <p:sldId id="309" r:id="rId22"/>
    <p:sldId id="278" r:id="rId23"/>
    <p:sldId id="279" r:id="rId24"/>
    <p:sldId id="300" r:id="rId25"/>
    <p:sldId id="307" r:id="rId26"/>
    <p:sldId id="302" r:id="rId27"/>
    <p:sldId id="303" r:id="rId28"/>
    <p:sldId id="304" r:id="rId29"/>
    <p:sldId id="305" r:id="rId30"/>
    <p:sldId id="281" r:id="rId31"/>
    <p:sldId id="282" r:id="rId32"/>
    <p:sldId id="269" r:id="rId3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85749" autoAdjust="0"/>
  </p:normalViewPr>
  <p:slideViewPr>
    <p:cSldViewPr>
      <p:cViewPr varScale="1">
        <p:scale>
          <a:sx n="99" d="100"/>
          <a:sy n="99" d="100"/>
        </p:scale>
        <p:origin x="1022" y="82"/>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notesViewPr>
    <p:cSldViewPr>
      <p:cViewPr varScale="1">
        <p:scale>
          <a:sx n="95" d="100"/>
          <a:sy n="95" d="100"/>
        </p:scale>
        <p:origin x="3720"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137AD8-B3C2-4D6F-B443-CE66415E4C92}" type="datetimeFigureOut">
              <a:rPr lang="en-US" smtClean="0"/>
              <a:t>6/1/2017</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AFAA6B0-FCB1-47CF-8CE7-0AC78D28A881}" type="slidenum">
              <a:rPr lang="en-US" smtClean="0"/>
              <a:t>‹#›</a:t>
            </a:fld>
            <a:endParaRPr lang="en-US"/>
          </a:p>
        </p:txBody>
      </p:sp>
    </p:spTree>
    <p:extLst>
      <p:ext uri="{BB962C8B-B14F-4D97-AF65-F5344CB8AC3E}">
        <p14:creationId xmlns:p14="http://schemas.microsoft.com/office/powerpoint/2010/main" val="3563135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BC10DE-E66F-6E4C-8760-1843E35156A9}" type="datetimeFigureOut">
              <a:rPr lang="en-US" smtClean="0"/>
              <a:t>6/1/2017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B5D951-520B-FC4B-8A13-FD8CD31F2110}" type="slidenum">
              <a:rPr lang="en-US" smtClean="0"/>
              <a:t>‹#›</a:t>
            </a:fld>
            <a:endParaRPr lang="en-US"/>
          </a:p>
        </p:txBody>
      </p:sp>
    </p:spTree>
    <p:extLst>
      <p:ext uri="{BB962C8B-B14F-4D97-AF65-F5344CB8AC3E}">
        <p14:creationId xmlns:p14="http://schemas.microsoft.com/office/powerpoint/2010/main" val="1236793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Chris,</a:t>
            </a:r>
            <a:r>
              <a:rPr lang="en-US" baseline="0" dirty="0" smtClean="0"/>
              <a:t> Jake and Karen</a:t>
            </a:r>
            <a:endParaRPr lang="en-US" dirty="0"/>
          </a:p>
        </p:txBody>
      </p:sp>
      <p:sp>
        <p:nvSpPr>
          <p:cNvPr id="4" name="Slide Number Placeholder 3"/>
          <p:cNvSpPr>
            <a:spLocks noGrp="1"/>
          </p:cNvSpPr>
          <p:nvPr>
            <p:ph type="sldNum" sz="quarter" idx="10"/>
          </p:nvPr>
        </p:nvSpPr>
        <p:spPr/>
        <p:txBody>
          <a:bodyPr/>
          <a:lstStyle/>
          <a:p>
            <a:fld id="{6AB5D951-520B-FC4B-8A13-FD8CD31F2110}" type="slidenum">
              <a:rPr lang="en-US" smtClean="0"/>
              <a:t>1</a:t>
            </a:fld>
            <a:endParaRPr lang="en-US"/>
          </a:p>
        </p:txBody>
      </p:sp>
    </p:spTree>
    <p:extLst>
      <p:ext uri="{BB962C8B-B14F-4D97-AF65-F5344CB8AC3E}">
        <p14:creationId xmlns:p14="http://schemas.microsoft.com/office/powerpoint/2010/main" val="1059260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VP, Principal</a:t>
            </a:r>
            <a:r>
              <a:rPr lang="en-US" baseline="0" dirty="0" smtClean="0"/>
              <a:t> Analyst, Forrester Research</a:t>
            </a:r>
            <a:endParaRPr lang="en-US" dirty="0"/>
          </a:p>
        </p:txBody>
      </p:sp>
      <p:sp>
        <p:nvSpPr>
          <p:cNvPr id="4" name="Slide Number Placeholder 3"/>
          <p:cNvSpPr>
            <a:spLocks noGrp="1"/>
          </p:cNvSpPr>
          <p:nvPr>
            <p:ph type="sldNum" sz="quarter" idx="10"/>
          </p:nvPr>
        </p:nvSpPr>
        <p:spPr/>
        <p:txBody>
          <a:bodyPr/>
          <a:lstStyle/>
          <a:p>
            <a:fld id="{6AB5D951-520B-FC4B-8A13-FD8CD31F2110}" type="slidenum">
              <a:rPr lang="en-US" smtClean="0"/>
              <a:t>10</a:t>
            </a:fld>
            <a:endParaRPr lang="en-US"/>
          </a:p>
        </p:txBody>
      </p:sp>
    </p:spTree>
    <p:extLst>
      <p:ext uri="{BB962C8B-B14F-4D97-AF65-F5344CB8AC3E}">
        <p14:creationId xmlns:p14="http://schemas.microsoft.com/office/powerpoint/2010/main" val="22436537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Philip</a:t>
            </a:r>
            <a:r>
              <a:rPr lang="en-US" baseline="0" dirty="0" smtClean="0"/>
              <a:t> Cummings, stole credit reports Equifax, Transunion, Experian</a:t>
            </a:r>
            <a:endParaRPr lang="en-US" dirty="0"/>
          </a:p>
        </p:txBody>
      </p:sp>
      <p:sp>
        <p:nvSpPr>
          <p:cNvPr id="4" name="Slide Number Placeholder 3"/>
          <p:cNvSpPr>
            <a:spLocks noGrp="1"/>
          </p:cNvSpPr>
          <p:nvPr>
            <p:ph type="sldNum" sz="quarter" idx="10"/>
          </p:nvPr>
        </p:nvSpPr>
        <p:spPr/>
        <p:txBody>
          <a:bodyPr/>
          <a:lstStyle/>
          <a:p>
            <a:fld id="{6AB5D951-520B-FC4B-8A13-FD8CD31F2110}" type="slidenum">
              <a:rPr lang="en-US" smtClean="0"/>
              <a:t>11</a:t>
            </a:fld>
            <a:endParaRPr lang="en-US"/>
          </a:p>
        </p:txBody>
      </p:sp>
    </p:spTree>
    <p:extLst>
      <p:ext uri="{BB962C8B-B14F-4D97-AF65-F5344CB8AC3E}">
        <p14:creationId xmlns:p14="http://schemas.microsoft.com/office/powerpoint/2010/main" val="1112820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Databreaches.net</a:t>
            </a:r>
          </a:p>
          <a:p>
            <a:endParaRPr lang="en-US" dirty="0" smtClean="0"/>
          </a:p>
          <a:p>
            <a:r>
              <a:rPr lang="en-US" dirty="0" err="1" smtClean="0"/>
              <a:t>Playstation</a:t>
            </a:r>
            <a:r>
              <a:rPr lang="en-US" dirty="0" smtClean="0"/>
              <a:t>- 77 million</a:t>
            </a:r>
            <a:r>
              <a:rPr lang="en-US" baseline="0" dirty="0" smtClean="0"/>
              <a:t> </a:t>
            </a:r>
            <a:r>
              <a:rPr lang="en-US" baseline="0" dirty="0" err="1" smtClean="0"/>
              <a:t>lulzsec</a:t>
            </a:r>
            <a:endParaRPr lang="en-US" baseline="0" dirty="0" smtClean="0"/>
          </a:p>
          <a:p>
            <a:r>
              <a:rPr lang="en-US" baseline="0" dirty="0" smtClean="0"/>
              <a:t>Home Depot – 56 million </a:t>
            </a:r>
          </a:p>
          <a:p>
            <a:r>
              <a:rPr lang="en-US" baseline="0" dirty="0" smtClean="0"/>
              <a:t>Target – 70 million</a:t>
            </a:r>
          </a:p>
          <a:p>
            <a:r>
              <a:rPr lang="en-US" baseline="0" dirty="0" smtClean="0"/>
              <a:t>Yahoo  - 500 million</a:t>
            </a:r>
          </a:p>
          <a:p>
            <a:r>
              <a:rPr lang="en-US" baseline="0" dirty="0" err="1" smtClean="0"/>
              <a:t>Ebay</a:t>
            </a:r>
            <a:r>
              <a:rPr lang="en-US" baseline="0" dirty="0" smtClean="0"/>
              <a:t> – 145 million</a:t>
            </a:r>
          </a:p>
          <a:p>
            <a:r>
              <a:rPr lang="en-US" dirty="0" smtClean="0"/>
              <a:t>LinkedIn- 117 million</a:t>
            </a:r>
          </a:p>
          <a:p>
            <a:r>
              <a:rPr lang="en-US" dirty="0" err="1" smtClean="0"/>
              <a:t>DropBox</a:t>
            </a:r>
            <a:r>
              <a:rPr lang="en-US" dirty="0" smtClean="0"/>
              <a:t> – 68 million</a:t>
            </a:r>
          </a:p>
          <a:p>
            <a:r>
              <a:rPr lang="en-US" dirty="0" smtClean="0"/>
              <a:t>Adobe</a:t>
            </a:r>
            <a:r>
              <a:rPr lang="en-US" baseline="0" dirty="0" smtClean="0"/>
              <a:t> – 36 million</a:t>
            </a:r>
          </a:p>
          <a:p>
            <a:r>
              <a:rPr lang="en-US" baseline="0" dirty="0" smtClean="0"/>
              <a:t>UPS- 4 million</a:t>
            </a:r>
          </a:p>
          <a:p>
            <a:r>
              <a:rPr lang="en-US" baseline="0" dirty="0" smtClean="0"/>
              <a:t>Living Social – 50 million</a:t>
            </a:r>
          </a:p>
          <a:p>
            <a:r>
              <a:rPr lang="en-US" baseline="0" dirty="0" smtClean="0"/>
              <a:t>JP Morgan – 76 million</a:t>
            </a:r>
          </a:p>
          <a:p>
            <a:r>
              <a:rPr lang="en-US" baseline="0" dirty="0" smtClean="0"/>
              <a:t>Tumblr – 65 million</a:t>
            </a:r>
            <a:endParaRPr lang="en-US" dirty="0"/>
          </a:p>
        </p:txBody>
      </p:sp>
      <p:sp>
        <p:nvSpPr>
          <p:cNvPr id="4" name="Slide Number Placeholder 3"/>
          <p:cNvSpPr>
            <a:spLocks noGrp="1"/>
          </p:cNvSpPr>
          <p:nvPr>
            <p:ph type="sldNum" sz="quarter" idx="10"/>
          </p:nvPr>
        </p:nvSpPr>
        <p:spPr/>
        <p:txBody>
          <a:bodyPr/>
          <a:lstStyle/>
          <a:p>
            <a:fld id="{6AB5D951-520B-FC4B-8A13-FD8CD31F2110}" type="slidenum">
              <a:rPr lang="en-US" smtClean="0"/>
              <a:t>12</a:t>
            </a:fld>
            <a:endParaRPr lang="en-US"/>
          </a:p>
        </p:txBody>
      </p:sp>
    </p:spTree>
    <p:extLst>
      <p:ext uri="{BB962C8B-B14F-4D97-AF65-F5344CB8AC3E}">
        <p14:creationId xmlns:p14="http://schemas.microsoft.com/office/powerpoint/2010/main" val="40482377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AB5D951-520B-FC4B-8A13-FD8CD31F2110}" type="slidenum">
              <a:rPr lang="en-US" smtClean="0"/>
              <a:t>19</a:t>
            </a:fld>
            <a:endParaRPr lang="en-US"/>
          </a:p>
        </p:txBody>
      </p:sp>
    </p:spTree>
    <p:extLst>
      <p:ext uri="{BB962C8B-B14F-4D97-AF65-F5344CB8AC3E}">
        <p14:creationId xmlns:p14="http://schemas.microsoft.com/office/powerpoint/2010/main" val="42233585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13 recommendations</a:t>
            </a:r>
            <a:r>
              <a:rPr lang="en-US" baseline="0" dirty="0" smtClean="0"/>
              <a:t> </a:t>
            </a:r>
            <a:r>
              <a:rPr lang="en-US" dirty="0" smtClean="0"/>
              <a:t>2</a:t>
            </a:r>
            <a:r>
              <a:rPr lang="en-US" baseline="30000" dirty="0" smtClean="0"/>
              <a:t>nd</a:t>
            </a:r>
            <a:r>
              <a:rPr lang="en-US" baseline="0" dirty="0" smtClean="0"/>
              <a:t> only to “Ensure </a:t>
            </a:r>
            <a:r>
              <a:rPr lang="en-US" baseline="0" dirty="0" err="1" smtClean="0"/>
              <a:t>Angcy</a:t>
            </a:r>
            <a:r>
              <a:rPr lang="en-US" baseline="0" dirty="0" smtClean="0"/>
              <a:t> CIOs are Empowered, Accountable, and Competent”</a:t>
            </a:r>
            <a:endParaRPr lang="en-US" dirty="0" smtClean="0"/>
          </a:p>
          <a:p>
            <a:r>
              <a:rPr lang="en-US" dirty="0" smtClean="0"/>
              <a:t>OMB should provide</a:t>
            </a:r>
            <a:r>
              <a:rPr lang="en-US" baseline="0" dirty="0" smtClean="0"/>
              <a:t> guidance to agencies to promote a zero trust IT security model. The OPM data breaches discovered in 2014 and 2015 illustrate the challenge of securing large, and therefore high-value, data repositories when defenses are geared toward perimeter defenses. In both cases the attackers compromised user credentials to gain initial network access, utilized tactics to elevate their privileges, and once inside the perimeter, were able to move throughout OPM’s network, and ultimately accessed the “crown jewel” data held by OPM. The agency was unable to visualize and log network traffic which led to gaps in knowledge regarding how much data was actually </a:t>
            </a:r>
            <a:r>
              <a:rPr lang="en-US" baseline="0" dirty="0" err="1" smtClean="0"/>
              <a:t>exfiltrated</a:t>
            </a:r>
            <a:r>
              <a:rPr lang="en-US" baseline="0" dirty="0" smtClean="0"/>
              <a:t> by attackers. To combat the advanced persistent threats seeking to compromise or exploit federal government IT networks, agencies should move towards a “zero trust” model of information security and IT architecture.</a:t>
            </a:r>
            <a:endParaRPr lang="en-US" dirty="0"/>
          </a:p>
        </p:txBody>
      </p:sp>
      <p:sp>
        <p:nvSpPr>
          <p:cNvPr id="4" name="Slide Number Placeholder 3"/>
          <p:cNvSpPr>
            <a:spLocks noGrp="1"/>
          </p:cNvSpPr>
          <p:nvPr>
            <p:ph type="sldNum" sz="quarter" idx="10"/>
          </p:nvPr>
        </p:nvSpPr>
        <p:spPr/>
        <p:txBody>
          <a:bodyPr/>
          <a:lstStyle/>
          <a:p>
            <a:fld id="{6AB5D951-520B-FC4B-8A13-FD8CD31F2110}" type="slidenum">
              <a:rPr lang="en-US" smtClean="0"/>
              <a:t>20</a:t>
            </a:fld>
            <a:endParaRPr lang="en-US"/>
          </a:p>
        </p:txBody>
      </p:sp>
    </p:spTree>
    <p:extLst>
      <p:ext uri="{BB962C8B-B14F-4D97-AF65-F5344CB8AC3E}">
        <p14:creationId xmlns:p14="http://schemas.microsoft.com/office/powerpoint/2010/main" val="6521395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AB5D951-520B-FC4B-8A13-FD8CD31F2110}" type="slidenum">
              <a:rPr lang="en-US" smtClean="0"/>
              <a:t>21</a:t>
            </a:fld>
            <a:endParaRPr lang="en-US"/>
          </a:p>
        </p:txBody>
      </p:sp>
    </p:spTree>
    <p:extLst>
      <p:ext uri="{BB962C8B-B14F-4D97-AF65-F5344CB8AC3E}">
        <p14:creationId xmlns:p14="http://schemas.microsoft.com/office/powerpoint/2010/main" val="22055950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AB5D951-520B-FC4B-8A13-FD8CD31F2110}" type="slidenum">
              <a:rPr lang="en-US" smtClean="0"/>
              <a:t>24</a:t>
            </a:fld>
            <a:endParaRPr lang="en-US"/>
          </a:p>
        </p:txBody>
      </p:sp>
    </p:spTree>
    <p:extLst>
      <p:ext uri="{BB962C8B-B14F-4D97-AF65-F5344CB8AC3E}">
        <p14:creationId xmlns:p14="http://schemas.microsoft.com/office/powerpoint/2010/main" val="10143075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AB5D951-520B-FC4B-8A13-FD8CD31F2110}" type="slidenum">
              <a:rPr lang="en-US" smtClean="0"/>
              <a:t>25</a:t>
            </a:fld>
            <a:endParaRPr lang="en-US"/>
          </a:p>
        </p:txBody>
      </p:sp>
    </p:spTree>
    <p:extLst>
      <p:ext uri="{BB962C8B-B14F-4D97-AF65-F5344CB8AC3E}">
        <p14:creationId xmlns:p14="http://schemas.microsoft.com/office/powerpoint/2010/main" val="23639658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 no image">
    <p:spTree>
      <p:nvGrpSpPr>
        <p:cNvPr id="1" name=""/>
        <p:cNvGrpSpPr/>
        <p:nvPr/>
      </p:nvGrpSpPr>
      <p:grpSpPr>
        <a:xfrm>
          <a:off x="0" y="0"/>
          <a:ext cx="0" cy="0"/>
          <a:chOff x="0" y="0"/>
          <a:chExt cx="0" cy="0"/>
        </a:xfrm>
      </p:grpSpPr>
      <p:grpSp>
        <p:nvGrpSpPr>
          <p:cNvPr id="4" name="Group 3"/>
          <p:cNvGrpSpPr/>
          <p:nvPr/>
        </p:nvGrpSpPr>
        <p:grpSpPr>
          <a:xfrm>
            <a:off x="-1" y="1021684"/>
            <a:ext cx="8827035" cy="3917981"/>
            <a:chOff x="-1" y="1362245"/>
            <a:chExt cx="8827035" cy="5223974"/>
          </a:xfrm>
        </p:grpSpPr>
        <p:sp>
          <p:nvSpPr>
            <p:cNvPr id="11" name="Rectangle 10"/>
            <p:cNvSpPr/>
            <p:nvPr userDrawn="1"/>
          </p:nvSpPr>
          <p:spPr>
            <a:xfrm>
              <a:off x="-1" y="1600200"/>
              <a:ext cx="8631936" cy="3657600"/>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a:p>
          </p:txBody>
        </p:sp>
        <p:sp>
          <p:nvSpPr>
            <p:cNvPr id="14" name="Rectangle 13"/>
            <p:cNvSpPr/>
            <p:nvPr userDrawn="1"/>
          </p:nvSpPr>
          <p:spPr>
            <a:xfrm>
              <a:off x="-1" y="4468012"/>
              <a:ext cx="8631936" cy="714535"/>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a:p>
          </p:txBody>
        </p:sp>
        <p:sp>
          <p:nvSpPr>
            <p:cNvPr id="15" name="Rectangle 14"/>
            <p:cNvSpPr/>
            <p:nvPr userDrawn="1"/>
          </p:nvSpPr>
          <p:spPr>
            <a:xfrm>
              <a:off x="-1" y="5137169"/>
              <a:ext cx="8631936" cy="120631"/>
            </a:xfrm>
            <a:prstGeom prst="rect">
              <a:avLst/>
            </a:prstGeom>
            <a:solidFill>
              <a:schemeClr val="tx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a:p>
          </p:txBody>
        </p:sp>
        <p:sp>
          <p:nvSpPr>
            <p:cNvPr id="5" name="Donut 4"/>
            <p:cNvSpPr>
              <a:spLocks/>
            </p:cNvSpPr>
            <p:nvPr userDrawn="1"/>
          </p:nvSpPr>
          <p:spPr>
            <a:xfrm>
              <a:off x="8571002" y="1362245"/>
              <a:ext cx="256032" cy="341376"/>
            </a:xfrm>
            <a:prstGeom prst="donut">
              <a:avLst>
                <a:gd name="adj" fmla="val 20998"/>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289511" y="5765799"/>
              <a:ext cx="1363345" cy="820420"/>
            </a:xfrm>
            <a:prstGeom prst="rect">
              <a:avLst/>
            </a:prstGeom>
          </p:spPr>
        </p:pic>
      </p:grpSp>
      <p:sp>
        <p:nvSpPr>
          <p:cNvPr id="3" name="Subtitle 2"/>
          <p:cNvSpPr>
            <a:spLocks noGrp="1"/>
          </p:cNvSpPr>
          <p:nvPr>
            <p:ph type="subTitle" idx="1"/>
          </p:nvPr>
        </p:nvSpPr>
        <p:spPr>
          <a:xfrm>
            <a:off x="457200" y="3405689"/>
            <a:ext cx="6400800" cy="383125"/>
          </a:xfrm>
        </p:spPr>
        <p:txBody>
          <a:bodyPr/>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2" name="Title 1"/>
          <p:cNvSpPr>
            <a:spLocks noGrp="1"/>
          </p:cNvSpPr>
          <p:nvPr>
            <p:ph type="ctrTitle"/>
          </p:nvPr>
        </p:nvSpPr>
        <p:spPr>
          <a:xfrm>
            <a:off x="457200" y="1791179"/>
            <a:ext cx="6400800" cy="1102519"/>
          </a:xfrm>
        </p:spPr>
        <p:txBody>
          <a:bodyPr/>
          <a:lstStyle>
            <a:lvl1pPr>
              <a:defRPr sz="3600" b="1">
                <a:solidFill>
                  <a:schemeClr val="tx2"/>
                </a:solidFill>
              </a:defRPr>
            </a:lvl1pPr>
          </a:lstStyle>
          <a:p>
            <a:r>
              <a:rPr lang="en-US" smtClean="0"/>
              <a:t>Click to edit Master title style</a:t>
            </a:r>
            <a:endParaRPr lang="en-US" dirty="0"/>
          </a:p>
        </p:txBody>
      </p:sp>
      <p:sp>
        <p:nvSpPr>
          <p:cNvPr id="10" name="Footer Placeholder 3"/>
          <p:cNvSpPr txBox="1">
            <a:spLocks/>
          </p:cNvSpPr>
          <p:nvPr userDrawn="1"/>
        </p:nvSpPr>
        <p:spPr>
          <a:xfrm>
            <a:off x="0" y="4989272"/>
            <a:ext cx="9144000" cy="157842"/>
          </a:xfrm>
          <a:prstGeom prst="rect">
            <a:avLst/>
          </a:prstGeom>
        </p:spPr>
        <p:txBody>
          <a:bodyPr anchor="ctr"/>
          <a:lstStyle>
            <a:defPPr>
              <a:defRPr lang="en-US"/>
            </a:defPPr>
            <a:lvl1pPr marL="0" algn="ctr" defTabSz="914400" rtl="0" eaLnBrk="1" latinLnBrk="0" hangingPunct="1">
              <a:defRPr sz="18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smtClean="0">
                <a:ln>
                  <a:noFill/>
                </a:ln>
                <a:solidFill>
                  <a:schemeClr val="tx1">
                    <a:lumMod val="10000"/>
                    <a:lumOff val="90000"/>
                  </a:schemeClr>
                </a:solidFill>
                <a:effectLst/>
                <a:uLnTx/>
                <a:uFillTx/>
                <a:latin typeface="Arial"/>
                <a:ea typeface="+mn-ea"/>
                <a:cs typeface="Arial"/>
              </a:rPr>
              <a:t>Proprietary and Confidential. Do Not Distribute. © 2017 </a:t>
            </a:r>
            <a:r>
              <a:rPr kumimoji="0" lang="en-US" sz="600" b="0" i="0" u="none" strike="noStrike" kern="1200" cap="none" spc="0" normalizeH="0" baseline="0" noProof="0" dirty="0" err="1" smtClean="0">
                <a:ln>
                  <a:noFill/>
                </a:ln>
                <a:solidFill>
                  <a:schemeClr val="tx1">
                    <a:lumMod val="10000"/>
                    <a:lumOff val="90000"/>
                  </a:schemeClr>
                </a:solidFill>
                <a:effectLst/>
                <a:uLnTx/>
                <a:uFillTx/>
                <a:latin typeface="Arial"/>
                <a:ea typeface="+mn-ea"/>
                <a:cs typeface="Arial"/>
              </a:rPr>
              <a:t>Optiv</a:t>
            </a:r>
            <a:r>
              <a:rPr kumimoji="0" lang="en-US" sz="600" b="0" i="0" u="none" strike="noStrike" kern="1200" cap="none" spc="0" normalizeH="0" baseline="0" noProof="0" dirty="0" smtClean="0">
                <a:ln>
                  <a:noFill/>
                </a:ln>
                <a:solidFill>
                  <a:schemeClr val="tx1">
                    <a:lumMod val="10000"/>
                    <a:lumOff val="90000"/>
                  </a:schemeClr>
                </a:solidFill>
                <a:effectLst/>
                <a:uLnTx/>
                <a:uFillTx/>
                <a:latin typeface="Arial"/>
                <a:ea typeface="+mn-ea"/>
                <a:cs typeface="Arial"/>
              </a:rPr>
              <a:t> Inc. All Rights Reserved.</a:t>
            </a:r>
          </a:p>
        </p:txBody>
      </p:sp>
    </p:spTree>
    <p:extLst>
      <p:ext uri="{BB962C8B-B14F-4D97-AF65-F5344CB8AC3E}">
        <p14:creationId xmlns:p14="http://schemas.microsoft.com/office/powerpoint/2010/main" val="2852796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22128"/>
            <a:ext cx="7772400" cy="603069"/>
          </a:xfrm>
        </p:spPr>
        <p:txBody>
          <a:bodyPr/>
          <a:lstStyle>
            <a:lvl1pPr>
              <a:defRPr sz="3600"/>
            </a:lvl1pPr>
          </a:lstStyle>
          <a:p>
            <a:r>
              <a:rPr lang="en-US" dirty="0" smtClean="0"/>
              <a:t>Agenda</a:t>
            </a:r>
            <a:endParaRPr lang="en-US" dirty="0"/>
          </a:p>
        </p:txBody>
      </p:sp>
      <p:sp>
        <p:nvSpPr>
          <p:cNvPr id="3" name="Content Placeholder 2"/>
          <p:cNvSpPr>
            <a:spLocks noGrp="1"/>
          </p:cNvSpPr>
          <p:nvPr>
            <p:ph idx="1"/>
          </p:nvPr>
        </p:nvSpPr>
        <p:spPr>
          <a:xfrm>
            <a:off x="685800" y="1378460"/>
            <a:ext cx="7772400" cy="3216162"/>
          </a:xfrm>
        </p:spPr>
        <p:txBody>
          <a:bodyPr/>
          <a:lstStyle>
            <a:lvl1pPr marL="342900" indent="-342900">
              <a:spcBef>
                <a:spcPts val="1200"/>
              </a:spcBef>
              <a:buClrTx/>
              <a:buFont typeface="+mj-lt"/>
              <a:buAutoNum type="arabicPeriod"/>
              <a:defRPr sz="1800"/>
            </a:lvl1pPr>
            <a:lvl2pPr marL="457200" indent="-342900">
              <a:buFont typeface="+mj-lt"/>
              <a:buAutoNum type="arabicPeriod"/>
              <a:defRPr sz="1800"/>
            </a:lvl2pPr>
            <a:lvl3pPr marL="630238" indent="-342900">
              <a:buFont typeface="+mj-lt"/>
              <a:buAutoNum type="arabicPeriod"/>
              <a:defRPr sz="1800"/>
            </a:lvl3pPr>
            <a:lvl4pPr marL="744537" indent="-342900">
              <a:buFont typeface="+mj-lt"/>
              <a:buAutoNum type="arabicPeriod"/>
              <a:defRPr sz="1800"/>
            </a:lvl4pPr>
            <a:lvl5pPr marL="917575" indent="-342900">
              <a:buFont typeface="+mj-lt"/>
              <a:buAutoNum type="arabicPeriod"/>
              <a:defRPr sz="1800"/>
            </a:lvl5pPr>
          </a:lstStyle>
          <a:p>
            <a:pPr lvl="0"/>
            <a:r>
              <a:rPr lang="en-US" smtClean="0"/>
              <a:t>Click to edit Master text styles</a:t>
            </a:r>
          </a:p>
        </p:txBody>
      </p:sp>
      <p:sp>
        <p:nvSpPr>
          <p:cNvPr id="4" name="Footer Placeholder 3"/>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2815776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Footer Placeholder 3"/>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341464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2887" y="1152145"/>
            <a:ext cx="3657600" cy="3394472"/>
          </a:xfrm>
        </p:spPr>
        <p:txBody>
          <a:bodyPr/>
          <a:lstStyle>
            <a:lvl1pPr>
              <a:defRPr sz="1400"/>
            </a:lvl1pPr>
            <a:lvl2pPr>
              <a:defRPr sz="1400"/>
            </a:lvl2pPr>
            <a:lvl3pPr>
              <a:defRPr sz="14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00600" y="1152145"/>
            <a:ext cx="3657600" cy="3394472"/>
          </a:xfrm>
        </p:spPr>
        <p:txBody>
          <a:bodyPr/>
          <a:lstStyle>
            <a:lvl1pPr>
              <a:defRPr sz="1400"/>
            </a:lvl1pPr>
            <a:lvl2pPr>
              <a:defRPr sz="1400"/>
            </a:lvl2pPr>
            <a:lvl3pPr>
              <a:defRPr sz="14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10"/>
          </p:nvPr>
        </p:nvSpPr>
        <p:spPr/>
        <p:txBody>
          <a:bodyPr/>
          <a:lstStyle/>
          <a:p>
            <a:endParaRPr lang="en-US"/>
          </a:p>
        </p:txBody>
      </p:sp>
      <p:sp>
        <p:nvSpPr>
          <p:cNvPr id="7" name="Title 6"/>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004814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a:p>
        </p:txBody>
      </p:sp>
      <p:sp>
        <p:nvSpPr>
          <p:cNvPr id="4" name="Title 3"/>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1974609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2945870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Bdivider_blue">
    <p:spTree>
      <p:nvGrpSpPr>
        <p:cNvPr id="1" name=""/>
        <p:cNvGrpSpPr/>
        <p:nvPr/>
      </p:nvGrpSpPr>
      <p:grpSpPr>
        <a:xfrm>
          <a:off x="0" y="0"/>
          <a:ext cx="0" cy="0"/>
          <a:chOff x="0" y="0"/>
          <a:chExt cx="0" cy="0"/>
        </a:xfrm>
      </p:grpSpPr>
      <p:sp>
        <p:nvSpPr>
          <p:cNvPr id="5" name="Rectangle 4"/>
          <p:cNvSpPr/>
          <p:nvPr userDrawn="1"/>
        </p:nvSpPr>
        <p:spPr>
          <a:xfrm>
            <a:off x="662240" y="1294409"/>
            <a:ext cx="8481760" cy="2547258"/>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p>
        </p:txBody>
      </p:sp>
      <p:sp>
        <p:nvSpPr>
          <p:cNvPr id="2" name="Title 1"/>
          <p:cNvSpPr>
            <a:spLocks noGrp="1"/>
          </p:cNvSpPr>
          <p:nvPr>
            <p:ph type="title"/>
          </p:nvPr>
        </p:nvSpPr>
        <p:spPr>
          <a:xfrm>
            <a:off x="1208505" y="1294409"/>
            <a:ext cx="7490170" cy="1463040"/>
          </a:xfrm>
        </p:spPr>
        <p:txBody>
          <a:bodyPr anchor="b"/>
          <a:lstStyle>
            <a:lvl1pPr algn="l">
              <a:defRPr sz="3600" b="1" cap="none">
                <a:solidFill>
                  <a:schemeClr val="tx2"/>
                </a:solidFill>
              </a:defRPr>
            </a:lvl1pPr>
          </a:lstStyle>
          <a:p>
            <a:r>
              <a:rPr lang="en-US" dirty="0" smtClean="0"/>
              <a:t>Click to edit Master title style</a:t>
            </a:r>
            <a:endParaRPr lang="en-US" dirty="0"/>
          </a:p>
        </p:txBody>
      </p:sp>
      <p:sp>
        <p:nvSpPr>
          <p:cNvPr id="11" name="Rectangle 10"/>
          <p:cNvSpPr/>
          <p:nvPr userDrawn="1"/>
        </p:nvSpPr>
        <p:spPr>
          <a:xfrm>
            <a:off x="662240" y="3728853"/>
            <a:ext cx="8481760" cy="11281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p>
        </p:txBody>
      </p:sp>
      <p:sp>
        <p:nvSpPr>
          <p:cNvPr id="12" name="Text Placeholder 11"/>
          <p:cNvSpPr>
            <a:spLocks noGrp="1"/>
          </p:cNvSpPr>
          <p:nvPr>
            <p:ph type="body" sz="quarter" idx="10"/>
          </p:nvPr>
        </p:nvSpPr>
        <p:spPr>
          <a:xfrm>
            <a:off x="1208505" y="2757449"/>
            <a:ext cx="5384800" cy="487363"/>
          </a:xfrm>
          <a:ln>
            <a:noFill/>
          </a:ln>
        </p:spPr>
        <p:txBody>
          <a:bodyPr/>
          <a:lstStyle>
            <a:lvl1pPr marL="0" indent="0">
              <a:buNone/>
              <a:defRPr sz="1600"/>
            </a:lvl1pPr>
          </a:lstStyle>
          <a:p>
            <a:pPr lvl="0"/>
            <a:endParaRPr lang="en-US" dirty="0" smtClean="0"/>
          </a:p>
        </p:txBody>
      </p:sp>
    </p:spTree>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UBdivider_green">
    <p:spTree>
      <p:nvGrpSpPr>
        <p:cNvPr id="1" name=""/>
        <p:cNvGrpSpPr/>
        <p:nvPr/>
      </p:nvGrpSpPr>
      <p:grpSpPr>
        <a:xfrm>
          <a:off x="0" y="0"/>
          <a:ext cx="0" cy="0"/>
          <a:chOff x="0" y="0"/>
          <a:chExt cx="0" cy="0"/>
        </a:xfrm>
      </p:grpSpPr>
      <p:sp>
        <p:nvSpPr>
          <p:cNvPr id="5" name="Rectangle 4"/>
          <p:cNvSpPr/>
          <p:nvPr userDrawn="1"/>
        </p:nvSpPr>
        <p:spPr>
          <a:xfrm>
            <a:off x="662240" y="1294409"/>
            <a:ext cx="8481760" cy="2547258"/>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p>
        </p:txBody>
      </p:sp>
      <p:sp>
        <p:nvSpPr>
          <p:cNvPr id="2" name="Title 1"/>
          <p:cNvSpPr>
            <a:spLocks noGrp="1"/>
          </p:cNvSpPr>
          <p:nvPr>
            <p:ph type="title"/>
          </p:nvPr>
        </p:nvSpPr>
        <p:spPr>
          <a:xfrm>
            <a:off x="1208505" y="1294409"/>
            <a:ext cx="7490170" cy="1463040"/>
          </a:xfrm>
        </p:spPr>
        <p:txBody>
          <a:bodyPr anchor="b"/>
          <a:lstStyle>
            <a:lvl1pPr algn="l">
              <a:defRPr sz="3600" b="1" cap="none">
                <a:solidFill>
                  <a:schemeClr val="accent2"/>
                </a:solidFill>
              </a:defRPr>
            </a:lvl1pPr>
          </a:lstStyle>
          <a:p>
            <a:r>
              <a:rPr lang="en-US" dirty="0" smtClean="0"/>
              <a:t>Click to edit Master title style</a:t>
            </a:r>
            <a:endParaRPr lang="en-US" dirty="0"/>
          </a:p>
        </p:txBody>
      </p:sp>
      <p:sp>
        <p:nvSpPr>
          <p:cNvPr id="11" name="Rectangle 10"/>
          <p:cNvSpPr/>
          <p:nvPr userDrawn="1"/>
        </p:nvSpPr>
        <p:spPr>
          <a:xfrm>
            <a:off x="662240" y="3728853"/>
            <a:ext cx="8481760" cy="11281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p>
        </p:txBody>
      </p:sp>
      <p:sp>
        <p:nvSpPr>
          <p:cNvPr id="12" name="Text Placeholder 11"/>
          <p:cNvSpPr>
            <a:spLocks noGrp="1"/>
          </p:cNvSpPr>
          <p:nvPr>
            <p:ph type="body" sz="quarter" idx="10"/>
          </p:nvPr>
        </p:nvSpPr>
        <p:spPr>
          <a:xfrm>
            <a:off x="1208505" y="2757449"/>
            <a:ext cx="5384800" cy="487363"/>
          </a:xfrm>
          <a:ln>
            <a:noFill/>
          </a:ln>
        </p:spPr>
        <p:txBody>
          <a:bodyPr/>
          <a:lstStyle>
            <a:lvl1pPr marL="0" indent="0">
              <a:buNone/>
              <a:defRPr sz="1600"/>
            </a:lvl1pPr>
          </a:lstStyle>
          <a:p>
            <a:pPr lvl="0"/>
            <a:endParaRPr lang="en-US" dirty="0" smtClean="0"/>
          </a:p>
        </p:txBody>
      </p:sp>
    </p:spTree>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Bdivider_purple">
    <p:spTree>
      <p:nvGrpSpPr>
        <p:cNvPr id="1" name=""/>
        <p:cNvGrpSpPr/>
        <p:nvPr/>
      </p:nvGrpSpPr>
      <p:grpSpPr>
        <a:xfrm>
          <a:off x="0" y="0"/>
          <a:ext cx="0" cy="0"/>
          <a:chOff x="0" y="0"/>
          <a:chExt cx="0" cy="0"/>
        </a:xfrm>
      </p:grpSpPr>
      <p:sp>
        <p:nvSpPr>
          <p:cNvPr id="5" name="Rectangle 4"/>
          <p:cNvSpPr/>
          <p:nvPr userDrawn="1"/>
        </p:nvSpPr>
        <p:spPr>
          <a:xfrm>
            <a:off x="662240" y="1294409"/>
            <a:ext cx="8481760" cy="2547258"/>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p>
        </p:txBody>
      </p:sp>
      <p:sp>
        <p:nvSpPr>
          <p:cNvPr id="2" name="Title 1"/>
          <p:cNvSpPr>
            <a:spLocks noGrp="1"/>
          </p:cNvSpPr>
          <p:nvPr>
            <p:ph type="title"/>
          </p:nvPr>
        </p:nvSpPr>
        <p:spPr>
          <a:xfrm>
            <a:off x="1208505" y="1294409"/>
            <a:ext cx="7490170" cy="1463040"/>
          </a:xfrm>
        </p:spPr>
        <p:txBody>
          <a:bodyPr anchor="b"/>
          <a:lstStyle>
            <a:lvl1pPr algn="l">
              <a:defRPr sz="3600" b="1" cap="none">
                <a:solidFill>
                  <a:schemeClr val="accent4"/>
                </a:solidFill>
              </a:defRPr>
            </a:lvl1pPr>
          </a:lstStyle>
          <a:p>
            <a:r>
              <a:rPr lang="en-US" dirty="0" smtClean="0"/>
              <a:t>Click to edit Master title style</a:t>
            </a:r>
            <a:endParaRPr lang="en-US" dirty="0"/>
          </a:p>
        </p:txBody>
      </p:sp>
      <p:sp>
        <p:nvSpPr>
          <p:cNvPr id="11" name="Rectangle 10"/>
          <p:cNvSpPr/>
          <p:nvPr userDrawn="1"/>
        </p:nvSpPr>
        <p:spPr>
          <a:xfrm>
            <a:off x="662240" y="3728853"/>
            <a:ext cx="8481760" cy="11281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p>
        </p:txBody>
      </p:sp>
      <p:sp>
        <p:nvSpPr>
          <p:cNvPr id="12" name="Text Placeholder 11"/>
          <p:cNvSpPr>
            <a:spLocks noGrp="1"/>
          </p:cNvSpPr>
          <p:nvPr>
            <p:ph type="body" sz="quarter" idx="10"/>
          </p:nvPr>
        </p:nvSpPr>
        <p:spPr>
          <a:xfrm>
            <a:off x="1208505" y="2757449"/>
            <a:ext cx="5384800" cy="487363"/>
          </a:xfrm>
          <a:ln>
            <a:noFill/>
          </a:ln>
        </p:spPr>
        <p:txBody>
          <a:bodyPr/>
          <a:lstStyle>
            <a:lvl1pPr marL="0" indent="0">
              <a:buNone/>
              <a:defRPr sz="1600"/>
            </a:lvl1pPr>
          </a:lstStyle>
          <a:p>
            <a:pPr lvl="0"/>
            <a:endParaRPr lang="en-US" dirty="0" smtClean="0"/>
          </a:p>
        </p:txBody>
      </p:sp>
    </p:spTree>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Bdivider_red">
    <p:spTree>
      <p:nvGrpSpPr>
        <p:cNvPr id="1" name=""/>
        <p:cNvGrpSpPr/>
        <p:nvPr/>
      </p:nvGrpSpPr>
      <p:grpSpPr>
        <a:xfrm>
          <a:off x="0" y="0"/>
          <a:ext cx="0" cy="0"/>
          <a:chOff x="0" y="0"/>
          <a:chExt cx="0" cy="0"/>
        </a:xfrm>
      </p:grpSpPr>
      <p:sp>
        <p:nvSpPr>
          <p:cNvPr id="5" name="Rectangle 4"/>
          <p:cNvSpPr/>
          <p:nvPr userDrawn="1"/>
        </p:nvSpPr>
        <p:spPr>
          <a:xfrm>
            <a:off x="662240" y="1294409"/>
            <a:ext cx="8481760" cy="2547258"/>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p>
        </p:txBody>
      </p:sp>
      <p:sp>
        <p:nvSpPr>
          <p:cNvPr id="2" name="Title 1"/>
          <p:cNvSpPr>
            <a:spLocks noGrp="1"/>
          </p:cNvSpPr>
          <p:nvPr>
            <p:ph type="title"/>
          </p:nvPr>
        </p:nvSpPr>
        <p:spPr>
          <a:xfrm>
            <a:off x="1208505" y="1294409"/>
            <a:ext cx="7490170" cy="1463040"/>
          </a:xfrm>
        </p:spPr>
        <p:txBody>
          <a:bodyPr anchor="b"/>
          <a:lstStyle>
            <a:lvl1pPr algn="l">
              <a:defRPr sz="3600" b="1" cap="none">
                <a:solidFill>
                  <a:schemeClr val="accent3"/>
                </a:solidFill>
              </a:defRPr>
            </a:lvl1pPr>
          </a:lstStyle>
          <a:p>
            <a:r>
              <a:rPr lang="en-US" dirty="0" smtClean="0"/>
              <a:t>Click to edit Master title style</a:t>
            </a:r>
            <a:endParaRPr lang="en-US" dirty="0"/>
          </a:p>
        </p:txBody>
      </p:sp>
      <p:sp>
        <p:nvSpPr>
          <p:cNvPr id="11" name="Rectangle 10"/>
          <p:cNvSpPr/>
          <p:nvPr userDrawn="1"/>
        </p:nvSpPr>
        <p:spPr>
          <a:xfrm>
            <a:off x="662240" y="3728853"/>
            <a:ext cx="8481760" cy="112814"/>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dirty="0"/>
          </a:p>
        </p:txBody>
      </p:sp>
      <p:sp>
        <p:nvSpPr>
          <p:cNvPr id="12" name="Text Placeholder 11"/>
          <p:cNvSpPr>
            <a:spLocks noGrp="1"/>
          </p:cNvSpPr>
          <p:nvPr>
            <p:ph type="body" sz="quarter" idx="10"/>
          </p:nvPr>
        </p:nvSpPr>
        <p:spPr>
          <a:xfrm>
            <a:off x="1208505" y="2757449"/>
            <a:ext cx="5384800" cy="487363"/>
          </a:xfrm>
          <a:ln>
            <a:noFill/>
          </a:ln>
        </p:spPr>
        <p:txBody>
          <a:bodyPr/>
          <a:lstStyle>
            <a:lvl1pPr marL="0" indent="0">
              <a:buNone/>
              <a:defRPr sz="1600"/>
            </a:lvl1pPr>
          </a:lstStyle>
          <a:p>
            <a:pPr lvl="0"/>
            <a:endParaRPr lang="en-US" dirty="0" smtClean="0"/>
          </a:p>
        </p:txBody>
      </p:sp>
    </p:spTree>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Back Page Optiv">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6529" y="1657350"/>
            <a:ext cx="3047477" cy="1375410"/>
          </a:xfrm>
          <a:prstGeom prst="rect">
            <a:avLst/>
          </a:prstGeom>
        </p:spPr>
      </p:pic>
      <p:sp>
        <p:nvSpPr>
          <p:cNvPr id="4" name="Footer Placeholder 3"/>
          <p:cNvSpPr txBox="1">
            <a:spLocks/>
          </p:cNvSpPr>
          <p:nvPr userDrawn="1"/>
        </p:nvSpPr>
        <p:spPr>
          <a:xfrm>
            <a:off x="0" y="4989272"/>
            <a:ext cx="9144000" cy="157842"/>
          </a:xfrm>
          <a:prstGeom prst="rect">
            <a:avLst/>
          </a:prstGeom>
        </p:spPr>
        <p:txBody>
          <a:bodyPr anchor="ctr"/>
          <a:lstStyle>
            <a:defPPr>
              <a:defRPr lang="en-US"/>
            </a:defPPr>
            <a:lvl1pPr marL="0" algn="ctr" defTabSz="914400" rtl="0" eaLnBrk="1" latinLnBrk="0" hangingPunct="1">
              <a:defRPr sz="18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a:ea typeface="+mn-ea"/>
                <a:cs typeface="Arial"/>
              </a:rPr>
              <a:t>Proprietary and Confidential. Do Not Distribute. © 2017 </a:t>
            </a:r>
            <a:r>
              <a:rPr kumimoji="0" lang="en-US" sz="600" b="0" i="0" u="none" strike="noStrike" kern="1200" cap="none" spc="0" normalizeH="0" baseline="0" noProof="0" dirty="0" err="1" smtClean="0">
                <a:ln>
                  <a:noFill/>
                </a:ln>
                <a:solidFill>
                  <a:schemeClr val="bg2"/>
                </a:solidFill>
                <a:effectLst/>
                <a:uLnTx/>
                <a:uFillTx/>
                <a:latin typeface="Arial"/>
                <a:ea typeface="+mn-ea"/>
                <a:cs typeface="Arial"/>
              </a:rPr>
              <a:t>Optiv</a:t>
            </a:r>
            <a:r>
              <a:rPr kumimoji="0" lang="en-US" sz="600" b="0" i="0" u="none" strike="noStrike" kern="1200" cap="none" spc="0" normalizeH="0" baseline="0" noProof="0" dirty="0" smtClean="0">
                <a:ln>
                  <a:noFill/>
                </a:ln>
                <a:solidFill>
                  <a:schemeClr val="bg2"/>
                </a:solidFill>
                <a:effectLst/>
                <a:uLnTx/>
                <a:uFillTx/>
                <a:latin typeface="Arial"/>
                <a:ea typeface="+mn-ea"/>
                <a:cs typeface="Arial"/>
              </a:rPr>
              <a:t> Inc. All Rights Reserved.</a:t>
            </a:r>
          </a:p>
        </p:txBody>
      </p:sp>
    </p:spTree>
    <p:extLst>
      <p:ext uri="{BB962C8B-B14F-4D97-AF65-F5344CB8AC3E}">
        <p14:creationId xmlns:p14="http://schemas.microsoft.com/office/powerpoint/2010/main" val="37559013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with side Image">
    <p:spTree>
      <p:nvGrpSpPr>
        <p:cNvPr id="1" name=""/>
        <p:cNvGrpSpPr/>
        <p:nvPr/>
      </p:nvGrpSpPr>
      <p:grpSpPr>
        <a:xfrm>
          <a:off x="0" y="0"/>
          <a:ext cx="0" cy="0"/>
          <a:chOff x="0" y="0"/>
          <a:chExt cx="0" cy="0"/>
        </a:xfrm>
      </p:grpSpPr>
      <p:grpSp>
        <p:nvGrpSpPr>
          <p:cNvPr id="5" name="Group 4"/>
          <p:cNvGrpSpPr/>
          <p:nvPr/>
        </p:nvGrpSpPr>
        <p:grpSpPr>
          <a:xfrm>
            <a:off x="4212692" y="1200150"/>
            <a:ext cx="4931308" cy="3691046"/>
            <a:chOff x="4212692" y="1600200"/>
            <a:chExt cx="4931308" cy="4921394"/>
          </a:xfrm>
        </p:grpSpPr>
        <p:grpSp>
          <p:nvGrpSpPr>
            <p:cNvPr id="4" name="Group 3"/>
            <p:cNvGrpSpPr/>
            <p:nvPr userDrawn="1"/>
          </p:nvGrpSpPr>
          <p:grpSpPr>
            <a:xfrm>
              <a:off x="4212692" y="1600200"/>
              <a:ext cx="4931308" cy="3657600"/>
              <a:chOff x="4212692" y="1600200"/>
              <a:chExt cx="4931308" cy="3657600"/>
            </a:xfrm>
          </p:grpSpPr>
          <p:sp>
            <p:nvSpPr>
              <p:cNvPr id="11" name="Rectangle 10"/>
              <p:cNvSpPr/>
              <p:nvPr userDrawn="1"/>
            </p:nvSpPr>
            <p:spPr>
              <a:xfrm>
                <a:off x="4212692" y="1600200"/>
                <a:ext cx="4931308" cy="365745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Rectangle 14"/>
              <p:cNvSpPr/>
              <p:nvPr userDrawn="1"/>
            </p:nvSpPr>
            <p:spPr>
              <a:xfrm>
                <a:off x="9033358" y="1600200"/>
                <a:ext cx="110642" cy="3657600"/>
              </a:xfrm>
              <a:prstGeom prst="rect">
                <a:avLst/>
              </a:prstGeom>
              <a:solidFill>
                <a:schemeClr val="tx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852195" y="5918343"/>
              <a:ext cx="1002460" cy="603251"/>
            </a:xfrm>
            <a:prstGeom prst="rect">
              <a:avLst/>
            </a:prstGeom>
          </p:spPr>
        </p:pic>
      </p:grpSp>
      <p:sp>
        <p:nvSpPr>
          <p:cNvPr id="2" name="Title 1"/>
          <p:cNvSpPr>
            <a:spLocks noGrp="1"/>
          </p:cNvSpPr>
          <p:nvPr>
            <p:ph type="ctrTitle"/>
          </p:nvPr>
        </p:nvSpPr>
        <p:spPr>
          <a:xfrm>
            <a:off x="4560905" y="1980660"/>
            <a:ext cx="4113195" cy="1102519"/>
          </a:xfrm>
        </p:spPr>
        <p:txBody>
          <a:bodyPr/>
          <a:lstStyle>
            <a:lvl1pPr>
              <a:defRPr sz="3600">
                <a:solidFill>
                  <a:schemeClr val="bg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4560905" y="3408426"/>
            <a:ext cx="4113195" cy="383125"/>
          </a:xfrm>
        </p:spPr>
        <p:txBody>
          <a:bodyPr/>
          <a:lstStyle>
            <a:lvl1pPr marL="0" indent="0" algn="l">
              <a:buNone/>
              <a:defRPr sz="18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Picture Placeholder 6"/>
          <p:cNvSpPr>
            <a:spLocks noGrp="1"/>
          </p:cNvSpPr>
          <p:nvPr>
            <p:ph type="pic" sz="quarter" idx="10"/>
          </p:nvPr>
        </p:nvSpPr>
        <p:spPr>
          <a:xfrm>
            <a:off x="556073" y="1200150"/>
            <a:ext cx="3657600" cy="2743200"/>
          </a:xfrm>
          <a:solidFill>
            <a:schemeClr val="bg1"/>
          </a:solidFill>
        </p:spPr>
        <p:txBody>
          <a:bodyPr/>
          <a:lstStyle>
            <a:lvl1pPr marL="0" indent="0">
              <a:buNone/>
              <a:defRPr/>
            </a:lvl1pPr>
          </a:lstStyle>
          <a:p>
            <a:r>
              <a:rPr lang="en-US" smtClean="0"/>
              <a:t>Drag picture to placeholder or click icon to add</a:t>
            </a:r>
            <a:endParaRPr lang="en-US"/>
          </a:p>
        </p:txBody>
      </p:sp>
      <p:sp>
        <p:nvSpPr>
          <p:cNvPr id="12" name="Donut 11"/>
          <p:cNvSpPr>
            <a:spLocks noChangeAspect="1"/>
          </p:cNvSpPr>
          <p:nvPr/>
        </p:nvSpPr>
        <p:spPr>
          <a:xfrm>
            <a:off x="353568" y="1022283"/>
            <a:ext cx="256032" cy="256032"/>
          </a:xfrm>
          <a:prstGeom prst="donut">
            <a:avLst>
              <a:gd name="adj" fmla="val 20998"/>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3" name="Footer Placeholder 3"/>
          <p:cNvSpPr txBox="1">
            <a:spLocks/>
          </p:cNvSpPr>
          <p:nvPr userDrawn="1"/>
        </p:nvSpPr>
        <p:spPr>
          <a:xfrm>
            <a:off x="0" y="4989272"/>
            <a:ext cx="9144000" cy="157842"/>
          </a:xfrm>
          <a:prstGeom prst="rect">
            <a:avLst/>
          </a:prstGeom>
        </p:spPr>
        <p:txBody>
          <a:bodyPr anchor="ctr"/>
          <a:lstStyle>
            <a:defPPr>
              <a:defRPr lang="en-US"/>
            </a:defPPr>
            <a:lvl1pPr marL="0" algn="ctr" defTabSz="914400" rtl="0" eaLnBrk="1" latinLnBrk="0" hangingPunct="1">
              <a:defRPr sz="18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smtClean="0">
                <a:ln>
                  <a:noFill/>
                </a:ln>
                <a:solidFill>
                  <a:schemeClr val="bg2"/>
                </a:solidFill>
                <a:effectLst/>
                <a:uLnTx/>
                <a:uFillTx/>
                <a:latin typeface="Arial"/>
                <a:ea typeface="+mn-ea"/>
                <a:cs typeface="Arial"/>
              </a:rPr>
              <a:t>Proprietary and Confidential. Do Not Distribute. © 2017 </a:t>
            </a:r>
            <a:r>
              <a:rPr kumimoji="0" lang="en-US" sz="600" b="0" i="0" u="none" strike="noStrike" kern="1200" cap="none" spc="0" normalizeH="0" baseline="0" noProof="0" dirty="0" err="1" smtClean="0">
                <a:ln>
                  <a:noFill/>
                </a:ln>
                <a:solidFill>
                  <a:schemeClr val="bg2"/>
                </a:solidFill>
                <a:effectLst/>
                <a:uLnTx/>
                <a:uFillTx/>
                <a:latin typeface="Arial"/>
                <a:ea typeface="+mn-ea"/>
                <a:cs typeface="Arial"/>
              </a:rPr>
              <a:t>Optiv</a:t>
            </a:r>
            <a:r>
              <a:rPr kumimoji="0" lang="en-US" sz="600" b="0" i="0" u="none" strike="noStrike" kern="1200" cap="none" spc="0" normalizeH="0" baseline="0" noProof="0" dirty="0" smtClean="0">
                <a:ln>
                  <a:noFill/>
                </a:ln>
                <a:solidFill>
                  <a:schemeClr val="bg2"/>
                </a:solidFill>
                <a:effectLst/>
                <a:uLnTx/>
                <a:uFillTx/>
                <a:latin typeface="Arial"/>
                <a:ea typeface="+mn-ea"/>
                <a:cs typeface="Arial"/>
              </a:rPr>
              <a:t> Inc. All Rights Reserved.</a:t>
            </a:r>
          </a:p>
        </p:txBody>
      </p:sp>
    </p:spTree>
    <p:extLst>
      <p:ext uri="{BB962C8B-B14F-4D97-AF65-F5344CB8AC3E}">
        <p14:creationId xmlns:p14="http://schemas.microsoft.com/office/powerpoint/2010/main" val="41232611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Full Image_2">
    <p:spTree>
      <p:nvGrpSpPr>
        <p:cNvPr id="1" name=""/>
        <p:cNvGrpSpPr/>
        <p:nvPr/>
      </p:nvGrpSpPr>
      <p:grpSpPr>
        <a:xfrm>
          <a:off x="0" y="0"/>
          <a:ext cx="0" cy="0"/>
          <a:chOff x="0" y="0"/>
          <a:chExt cx="0" cy="0"/>
        </a:xfrm>
      </p:grpSpPr>
      <p:pic>
        <p:nvPicPr>
          <p:cNvPr id="15" name="Picture 14"/>
          <p:cNvPicPr>
            <a:picLocks noChangeAspect="1"/>
          </p:cNvPicPr>
          <p:nvPr userDrawn="1"/>
        </p:nvPicPr>
        <p:blipFill rotWithShape="1">
          <a:blip r:embed="rId2" cstate="print">
            <a:extLst>
              <a:ext uri="{28A0092B-C50C-407E-A947-70E740481C1C}">
                <a14:useLocalDpi xmlns:a14="http://schemas.microsoft.com/office/drawing/2010/main" val="0"/>
              </a:ext>
            </a:extLst>
          </a:blip>
          <a:srcRect l="-3"/>
          <a:stretch/>
        </p:blipFill>
        <p:spPr>
          <a:xfrm flipH="1">
            <a:off x="0" y="0"/>
            <a:ext cx="9144000" cy="5143500"/>
          </a:xfrm>
          <a:prstGeom prst="rect">
            <a:avLst/>
          </a:prstGeom>
        </p:spPr>
      </p:pic>
      <p:sp>
        <p:nvSpPr>
          <p:cNvPr id="9" name="Rectangle 8"/>
          <p:cNvSpPr/>
          <p:nvPr userDrawn="1"/>
        </p:nvSpPr>
        <p:spPr>
          <a:xfrm>
            <a:off x="0" y="1200150"/>
            <a:ext cx="4973766" cy="2743200"/>
          </a:xfrm>
          <a:prstGeom prst="rect">
            <a:avLst/>
          </a:prstGeom>
          <a:solidFill>
            <a:schemeClr val="bg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a:p>
        </p:txBody>
      </p:sp>
      <p:sp>
        <p:nvSpPr>
          <p:cNvPr id="10" name="Rectangle 9"/>
          <p:cNvSpPr/>
          <p:nvPr userDrawn="1"/>
        </p:nvSpPr>
        <p:spPr>
          <a:xfrm>
            <a:off x="0" y="3407449"/>
            <a:ext cx="4973766" cy="53590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a:p>
        </p:txBody>
      </p:sp>
      <p:sp>
        <p:nvSpPr>
          <p:cNvPr id="13" name="Rectangle 12"/>
          <p:cNvSpPr/>
          <p:nvPr userDrawn="1"/>
        </p:nvSpPr>
        <p:spPr>
          <a:xfrm>
            <a:off x="0" y="3929077"/>
            <a:ext cx="4973766" cy="90473"/>
          </a:xfrm>
          <a:prstGeom prst="rect">
            <a:avLst/>
          </a:prstGeom>
          <a:solidFill>
            <a:schemeClr val="tx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a:p>
        </p:txBody>
      </p:sp>
      <p:sp>
        <p:nvSpPr>
          <p:cNvPr id="2" name="Title 1"/>
          <p:cNvSpPr>
            <a:spLocks noGrp="1"/>
          </p:cNvSpPr>
          <p:nvPr>
            <p:ph type="ctrTitle"/>
          </p:nvPr>
        </p:nvSpPr>
        <p:spPr>
          <a:xfrm>
            <a:off x="457201" y="1789938"/>
            <a:ext cx="4113195" cy="1102519"/>
          </a:xfrm>
        </p:spPr>
        <p:txBody>
          <a:bodyPr/>
          <a:lstStyle>
            <a:lvl1pPr>
              <a:defRPr sz="3600">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457201" y="3408426"/>
            <a:ext cx="4113195" cy="383125"/>
          </a:xfrm>
        </p:spPr>
        <p:txBody>
          <a:bodyPr/>
          <a:lstStyle>
            <a:lvl1pPr marL="0" indent="0" algn="l">
              <a:buNone/>
              <a:defRPr sz="18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1" name="Donut 10"/>
          <p:cNvSpPr>
            <a:spLocks noChangeAspect="1"/>
          </p:cNvSpPr>
          <p:nvPr userDrawn="1"/>
        </p:nvSpPr>
        <p:spPr>
          <a:xfrm>
            <a:off x="4876800" y="971550"/>
            <a:ext cx="256032" cy="256032"/>
          </a:xfrm>
          <a:prstGeom prst="donut">
            <a:avLst>
              <a:gd name="adj" fmla="val 20998"/>
            </a:avLst>
          </a:prstGeom>
          <a:solidFill>
            <a:schemeClr val="tx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281671" y="4394835"/>
            <a:ext cx="1363345" cy="615315"/>
          </a:xfrm>
          <a:prstGeom prst="rect">
            <a:avLst/>
          </a:prstGeom>
        </p:spPr>
      </p:pic>
      <p:sp>
        <p:nvSpPr>
          <p:cNvPr id="14" name="Footer Placeholder 3"/>
          <p:cNvSpPr txBox="1">
            <a:spLocks/>
          </p:cNvSpPr>
          <p:nvPr userDrawn="1"/>
        </p:nvSpPr>
        <p:spPr>
          <a:xfrm>
            <a:off x="0" y="4989272"/>
            <a:ext cx="9144000" cy="157842"/>
          </a:xfrm>
          <a:prstGeom prst="rect">
            <a:avLst/>
          </a:prstGeom>
        </p:spPr>
        <p:txBody>
          <a:bodyPr anchor="ctr"/>
          <a:lstStyle>
            <a:defPPr>
              <a:defRPr lang="en-US"/>
            </a:defPPr>
            <a:lvl1pPr marL="0" algn="ctr" defTabSz="914400" rtl="0" eaLnBrk="1" latinLnBrk="0" hangingPunct="1">
              <a:defRPr sz="18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smtClean="0">
                <a:ln>
                  <a:noFill/>
                </a:ln>
                <a:solidFill>
                  <a:schemeClr val="tx2">
                    <a:lumMod val="75000"/>
                  </a:schemeClr>
                </a:solidFill>
                <a:effectLst/>
                <a:uLnTx/>
                <a:uFillTx/>
                <a:latin typeface="Arial"/>
                <a:ea typeface="+mn-ea"/>
                <a:cs typeface="Arial"/>
              </a:rPr>
              <a:t>Proprietary and Confidential. Do Not Distribute. © 2017 </a:t>
            </a:r>
            <a:r>
              <a:rPr kumimoji="0" lang="en-US" sz="600" b="0" i="0" u="none" strike="noStrike" kern="1200" cap="none" spc="0" normalizeH="0" baseline="0" noProof="0" dirty="0" err="1" smtClean="0">
                <a:ln>
                  <a:noFill/>
                </a:ln>
                <a:solidFill>
                  <a:schemeClr val="tx2">
                    <a:lumMod val="75000"/>
                  </a:schemeClr>
                </a:solidFill>
                <a:effectLst/>
                <a:uLnTx/>
                <a:uFillTx/>
                <a:latin typeface="Arial"/>
                <a:ea typeface="+mn-ea"/>
                <a:cs typeface="Arial"/>
              </a:rPr>
              <a:t>Optiv</a:t>
            </a:r>
            <a:r>
              <a:rPr kumimoji="0" lang="en-US" sz="600" b="0" i="0" u="none" strike="noStrike" kern="1200" cap="none" spc="0" normalizeH="0" baseline="0" noProof="0" dirty="0" smtClean="0">
                <a:ln>
                  <a:noFill/>
                </a:ln>
                <a:solidFill>
                  <a:schemeClr val="tx2">
                    <a:lumMod val="75000"/>
                  </a:schemeClr>
                </a:solidFill>
                <a:effectLst/>
                <a:uLnTx/>
                <a:uFillTx/>
                <a:latin typeface="Arial"/>
                <a:ea typeface="+mn-ea"/>
                <a:cs typeface="Arial"/>
              </a:rPr>
              <a:t> Inc. All Rights Reserved.</a:t>
            </a:r>
          </a:p>
        </p:txBody>
      </p:sp>
    </p:spTree>
    <p:extLst>
      <p:ext uri="{BB962C8B-B14F-4D97-AF65-F5344CB8AC3E}">
        <p14:creationId xmlns:p14="http://schemas.microsoft.com/office/powerpoint/2010/main" val="39749017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ooter Placeholder 3"/>
          <p:cNvSpPr txBox="1">
            <a:spLocks/>
          </p:cNvSpPr>
          <p:nvPr userDrawn="1"/>
        </p:nvSpPr>
        <p:spPr>
          <a:xfrm>
            <a:off x="0" y="4989272"/>
            <a:ext cx="9144000" cy="157842"/>
          </a:xfrm>
          <a:prstGeom prst="rect">
            <a:avLst/>
          </a:prstGeom>
          <a:solidFill>
            <a:schemeClr val="bg1"/>
          </a:solidFill>
        </p:spPr>
        <p:txBody>
          <a:bodyPr anchor="ctr"/>
          <a:lstStyle>
            <a:defPPr>
              <a:defRPr lang="en-US"/>
            </a:defPPr>
            <a:lvl1pPr marL="0" algn="ctr" defTabSz="914400" rtl="0" eaLnBrk="1" latinLnBrk="0" hangingPunct="1">
              <a:defRPr sz="18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smtClean="0">
                <a:ln>
                  <a:noFill/>
                </a:ln>
                <a:solidFill>
                  <a:schemeClr val="bg1">
                    <a:lumMod val="95000"/>
                  </a:schemeClr>
                </a:solidFill>
                <a:effectLst/>
                <a:uLnTx/>
                <a:uFillTx/>
                <a:latin typeface="Arial"/>
                <a:ea typeface="+mn-ea"/>
                <a:cs typeface="Arial"/>
              </a:rPr>
              <a:t>Proprietary and Confidential. Do Not Distribute. © 2017 </a:t>
            </a:r>
            <a:r>
              <a:rPr kumimoji="0" lang="en-US" sz="600" b="0" i="0" u="none" strike="noStrike" kern="1200" cap="none" spc="0" normalizeH="0" baseline="0" noProof="0" dirty="0" err="1" smtClean="0">
                <a:ln>
                  <a:noFill/>
                </a:ln>
                <a:solidFill>
                  <a:schemeClr val="bg1">
                    <a:lumMod val="95000"/>
                  </a:schemeClr>
                </a:solidFill>
                <a:effectLst/>
                <a:uLnTx/>
                <a:uFillTx/>
                <a:latin typeface="Arial"/>
                <a:ea typeface="+mn-ea"/>
                <a:cs typeface="Arial"/>
              </a:rPr>
              <a:t>Optiv</a:t>
            </a:r>
            <a:r>
              <a:rPr kumimoji="0" lang="en-US" sz="600" b="0" i="0" u="none" strike="noStrike" kern="1200" cap="none" spc="0" normalizeH="0" baseline="0" noProof="0" dirty="0" smtClean="0">
                <a:ln>
                  <a:noFill/>
                </a:ln>
                <a:solidFill>
                  <a:schemeClr val="bg1">
                    <a:lumMod val="95000"/>
                  </a:schemeClr>
                </a:solidFill>
                <a:effectLst/>
                <a:uLnTx/>
                <a:uFillTx/>
                <a:latin typeface="Arial"/>
                <a:ea typeface="+mn-ea"/>
                <a:cs typeface="Arial"/>
              </a:rPr>
              <a:t> Inc. All Rights Reserved.</a:t>
            </a:r>
          </a:p>
        </p:txBody>
      </p:sp>
      <p:sp>
        <p:nvSpPr>
          <p:cNvPr id="2" name="Title Placeholder 1"/>
          <p:cNvSpPr>
            <a:spLocks noGrp="1"/>
          </p:cNvSpPr>
          <p:nvPr>
            <p:ph type="title"/>
          </p:nvPr>
        </p:nvSpPr>
        <p:spPr>
          <a:xfrm>
            <a:off x="685800" y="446366"/>
            <a:ext cx="7772400" cy="685800"/>
          </a:xfrm>
          <a:prstGeom prst="rect">
            <a:avLst/>
          </a:prstGeom>
          <a:noFill/>
        </p:spPr>
        <p:txBody>
          <a:bodyPr vert="horz" lIns="0" tIns="45720" rIns="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0" y="1154062"/>
            <a:ext cx="7772400" cy="3394472"/>
          </a:xfrm>
          <a:prstGeom prst="rect">
            <a:avLst/>
          </a:prstGeom>
          <a:noFill/>
        </p:spPr>
        <p:txBody>
          <a:bodyPr vert="horz" lIns="0" tIns="45720" rIns="0" bIns="4572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Box 8"/>
          <p:cNvSpPr txBox="1"/>
          <p:nvPr/>
        </p:nvSpPr>
        <p:spPr>
          <a:xfrm>
            <a:off x="252627" y="4818298"/>
            <a:ext cx="452981" cy="170947"/>
          </a:xfrm>
          <a:prstGeom prst="rect">
            <a:avLst/>
          </a:prstGeom>
          <a:noFill/>
        </p:spPr>
        <p:txBody>
          <a:bodyPr wrap="square" lIns="0" rIns="0" rtlCol="0">
            <a:noAutofit/>
          </a:bodyPr>
          <a:lstStyle/>
          <a:p>
            <a:pPr algn="l"/>
            <a:fld id="{4E088A79-16B0-EB47-9803-132C51922F54}" type="slidenum">
              <a:rPr lang="en-US" sz="800" smtClean="0"/>
              <a:pPr algn="l"/>
              <a:t>‹#›</a:t>
            </a:fld>
            <a:endParaRPr lang="en-US" sz="800" dirty="0"/>
          </a:p>
        </p:txBody>
      </p:sp>
      <p:sp>
        <p:nvSpPr>
          <p:cNvPr id="4" name="Footer Placeholder 3"/>
          <p:cNvSpPr>
            <a:spLocks noGrp="1"/>
          </p:cNvSpPr>
          <p:nvPr>
            <p:ph type="ftr" sz="quarter" idx="3"/>
          </p:nvPr>
        </p:nvSpPr>
        <p:spPr>
          <a:xfrm>
            <a:off x="685800" y="4818298"/>
            <a:ext cx="3197352" cy="170974"/>
          </a:xfrm>
          <a:prstGeom prst="rect">
            <a:avLst/>
          </a:prstGeom>
          <a:noFill/>
        </p:spPr>
        <p:txBody>
          <a:bodyPr wrap="square" lIns="0" rIns="0" rtlCol="0">
            <a:noAutofit/>
          </a:bodyPr>
          <a:lstStyle>
            <a:lvl1pPr>
              <a:defRPr lang="en-US" sz="800"/>
            </a:lvl1pPr>
          </a:lstStyle>
          <a:p>
            <a:endParaRPr lang="en-US" dirty="0"/>
          </a:p>
        </p:txBody>
      </p:sp>
      <p:pic>
        <p:nvPicPr>
          <p:cNvPr id="10" name="Picture 9"/>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019777" y="4680647"/>
            <a:ext cx="683816" cy="308625"/>
          </a:xfrm>
          <a:prstGeom prst="rect">
            <a:avLst/>
          </a:prstGeom>
        </p:spPr>
      </p:pic>
    </p:spTree>
    <p:extLst>
      <p:ext uri="{BB962C8B-B14F-4D97-AF65-F5344CB8AC3E}">
        <p14:creationId xmlns:p14="http://schemas.microsoft.com/office/powerpoint/2010/main" val="1084258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75" r:id="rId7"/>
    <p:sldLayoutId id="2147483676" r:id="rId8"/>
    <p:sldLayoutId id="2147483677" r:id="rId9"/>
    <p:sldLayoutId id="2147483678" r:id="rId10"/>
    <p:sldLayoutId id="2147483671" r:id="rId11"/>
    <p:sldLayoutId id="2147483672" r:id="rId12"/>
    <p:sldLayoutId id="2147483673" r:id="rId13"/>
  </p:sldLayoutIdLst>
  <p:txStyles>
    <p:titleStyle>
      <a:lvl1pPr algn="l" defTabSz="457200" rtl="0" eaLnBrk="1" latinLnBrk="0" hangingPunct="1">
        <a:spcBef>
          <a:spcPct val="0"/>
        </a:spcBef>
        <a:buNone/>
        <a:defRPr sz="2400" b="1" kern="1200">
          <a:solidFill>
            <a:schemeClr val="tx2"/>
          </a:solidFill>
          <a:latin typeface="+mj-lt"/>
          <a:ea typeface="+mj-ea"/>
          <a:cs typeface="+mj-cs"/>
        </a:defRPr>
      </a:lvl1pPr>
    </p:titleStyle>
    <p:bodyStyle>
      <a:lvl1pPr marL="114300" indent="-114300" algn="l" defTabSz="457200" rtl="0" eaLnBrk="1" latinLnBrk="0" hangingPunct="1">
        <a:spcBef>
          <a:spcPts val="0"/>
        </a:spcBef>
        <a:buClr>
          <a:schemeClr val="tx2"/>
        </a:buClr>
        <a:buFont typeface="Arial"/>
        <a:buChar char="•"/>
        <a:defRPr sz="1400" kern="1200">
          <a:solidFill>
            <a:schemeClr val="tx1"/>
          </a:solidFill>
          <a:latin typeface="+mn-lt"/>
          <a:ea typeface="+mn-ea"/>
          <a:cs typeface="+mn-cs"/>
        </a:defRPr>
      </a:lvl1pPr>
      <a:lvl2pPr marL="287338" indent="-173038" algn="l" defTabSz="457200" rtl="0" eaLnBrk="1" latinLnBrk="0" hangingPunct="1">
        <a:spcBef>
          <a:spcPts val="0"/>
        </a:spcBef>
        <a:buClr>
          <a:schemeClr val="tx2"/>
        </a:buClr>
        <a:buFont typeface="Arial"/>
        <a:buChar char="–"/>
        <a:defRPr sz="1400" kern="1200">
          <a:solidFill>
            <a:schemeClr val="tx1"/>
          </a:solidFill>
          <a:latin typeface="+mn-lt"/>
          <a:ea typeface="+mn-ea"/>
          <a:cs typeface="+mn-cs"/>
        </a:defRPr>
      </a:lvl2pPr>
      <a:lvl3pPr marL="401638" indent="-114300" algn="l" defTabSz="457200" rtl="0" eaLnBrk="1" latinLnBrk="0" hangingPunct="1">
        <a:spcBef>
          <a:spcPts val="0"/>
        </a:spcBef>
        <a:buClr>
          <a:schemeClr val="tx2"/>
        </a:buClr>
        <a:buFont typeface="Arial"/>
        <a:buChar char="•"/>
        <a:defRPr sz="1400" kern="1200">
          <a:solidFill>
            <a:schemeClr val="tx1"/>
          </a:solidFill>
          <a:latin typeface="+mn-lt"/>
          <a:ea typeface="+mn-ea"/>
          <a:cs typeface="+mn-cs"/>
        </a:defRPr>
      </a:lvl3pPr>
      <a:lvl4pPr marL="574675" indent="-173038" algn="l" defTabSz="457200" rtl="0" eaLnBrk="1" latinLnBrk="0" hangingPunct="1">
        <a:spcBef>
          <a:spcPts val="0"/>
        </a:spcBef>
        <a:buClr>
          <a:schemeClr val="tx2"/>
        </a:buClr>
        <a:buFont typeface="Arial"/>
        <a:buChar char="–"/>
        <a:defRPr sz="1400" kern="1200">
          <a:solidFill>
            <a:schemeClr val="tx1"/>
          </a:solidFill>
          <a:latin typeface="+mn-lt"/>
          <a:ea typeface="+mn-ea"/>
          <a:cs typeface="+mn-cs"/>
        </a:defRPr>
      </a:lvl4pPr>
      <a:lvl5pPr marL="682625" indent="-107950" algn="l" defTabSz="457200" rtl="0" eaLnBrk="1" latinLnBrk="0" hangingPunct="1">
        <a:spcBef>
          <a:spcPts val="0"/>
        </a:spcBef>
        <a:buClr>
          <a:schemeClr val="tx2"/>
        </a:buClr>
        <a:buSzPct val="100000"/>
        <a:buFont typeface="Arial"/>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gif"/><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emf"/><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emf"/></Relationships>
</file>

<file path=ppt/slides/_rels/slide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jp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image" Target="../media/image33.png"/></Relationships>
</file>

<file path=ppt/slides/_rels/slide1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image" Target="../media/image43.emf"/><Relationship Id="rId3" Type="http://schemas.openxmlformats.org/officeDocument/2006/relationships/image" Target="../media/image38.emf"/><Relationship Id="rId7" Type="http://schemas.openxmlformats.org/officeDocument/2006/relationships/image" Target="../media/image42.emf"/><Relationship Id="rId12" Type="http://schemas.openxmlformats.org/officeDocument/2006/relationships/image" Target="../media/image47.emf"/><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41.emf"/><Relationship Id="rId11" Type="http://schemas.openxmlformats.org/officeDocument/2006/relationships/image" Target="../media/image46.emf"/><Relationship Id="rId5" Type="http://schemas.openxmlformats.org/officeDocument/2006/relationships/image" Target="../media/image40.emf"/><Relationship Id="rId10" Type="http://schemas.openxmlformats.org/officeDocument/2006/relationships/image" Target="../media/image45.emf"/><Relationship Id="rId4" Type="http://schemas.openxmlformats.org/officeDocument/2006/relationships/image" Target="../media/image39.emf"/><Relationship Id="rId9" Type="http://schemas.openxmlformats.org/officeDocument/2006/relationships/image" Target="../media/image44.emf"/></Relationships>
</file>

<file path=ppt/slides/_rels/slide2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9.png"/></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5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Jeremy Dorrough – RVASEC 2017</a:t>
            </a:r>
            <a:endParaRPr lang="en-US" dirty="0"/>
          </a:p>
          <a:p>
            <a:endParaRPr lang="en-US" dirty="0"/>
          </a:p>
        </p:txBody>
      </p:sp>
      <p:sp>
        <p:nvSpPr>
          <p:cNvPr id="3" name="Title 2"/>
          <p:cNvSpPr>
            <a:spLocks noGrp="1"/>
          </p:cNvSpPr>
          <p:nvPr>
            <p:ph type="ctrTitle"/>
          </p:nvPr>
        </p:nvSpPr>
        <p:spPr>
          <a:xfrm>
            <a:off x="457200" y="1428750"/>
            <a:ext cx="6400800" cy="1102519"/>
          </a:xfrm>
        </p:spPr>
        <p:txBody>
          <a:bodyPr/>
          <a:lstStyle/>
          <a:p>
            <a:r>
              <a:rPr lang="en-US" dirty="0"/>
              <a:t>Zero Trust “Lite” Architecture to Securely Future-Proof your Network</a:t>
            </a:r>
          </a:p>
        </p:txBody>
      </p:sp>
    </p:spTree>
    <p:extLst>
      <p:ext uri="{BB962C8B-B14F-4D97-AF65-F5344CB8AC3E}">
        <p14:creationId xmlns:p14="http://schemas.microsoft.com/office/powerpoint/2010/main" val="34108681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Disclaimer</a:t>
            </a:r>
          </a:p>
        </p:txBody>
      </p:sp>
      <p:sp>
        <p:nvSpPr>
          <p:cNvPr id="3" name="Content Placeholder 2"/>
          <p:cNvSpPr>
            <a:spLocks noGrp="1"/>
          </p:cNvSpPr>
          <p:nvPr>
            <p:ph idx="1"/>
          </p:nvPr>
        </p:nvSpPr>
        <p:spPr>
          <a:xfrm>
            <a:off x="685800" y="1235727"/>
            <a:ext cx="7924800" cy="1219200"/>
          </a:xfrm>
        </p:spPr>
        <p:txBody>
          <a:bodyPr/>
          <a:lstStyle/>
          <a:p>
            <a:pPr marL="0" indent="0" algn="ctr">
              <a:buNone/>
            </a:pPr>
            <a:r>
              <a:rPr lang="en-US" altLang="en-US" sz="2000" dirty="0"/>
              <a:t>Opinions expressed in this presentation are my own. I am speaking for myself, not </a:t>
            </a:r>
            <a:r>
              <a:rPr lang="en-US" altLang="en-US" sz="2000" dirty="0" err="1" smtClean="0"/>
              <a:t>Optiv</a:t>
            </a:r>
            <a:r>
              <a:rPr lang="en-US" altLang="en-US" sz="2000" dirty="0" smtClean="0"/>
              <a:t>, </a:t>
            </a:r>
            <a:r>
              <a:rPr lang="en-US" altLang="en-US" sz="2000" dirty="0"/>
              <a:t>nor anyone else.</a:t>
            </a:r>
          </a:p>
          <a:p>
            <a:pPr marL="0" indent="0" algn="ctr">
              <a:buNone/>
            </a:pPr>
            <a:endParaRPr lang="en-US" dirty="0"/>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2114550"/>
            <a:ext cx="2600325" cy="24553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566525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4800600" cy="51435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04800" y="1154062"/>
            <a:ext cx="4343400" cy="3394472"/>
          </a:xfrm>
        </p:spPr>
        <p:txBody>
          <a:bodyPr/>
          <a:lstStyle/>
          <a:p>
            <a:pPr marL="342900" indent="-342900">
              <a:spcBef>
                <a:spcPts val="1200"/>
              </a:spcBef>
              <a:buClrTx/>
              <a:buFont typeface="Arial" panose="020B0604020202020204" pitchFamily="34" charset="0"/>
              <a:buChar char="•"/>
            </a:pPr>
            <a:r>
              <a:rPr lang="en-US" altLang="en-US" sz="1800" dirty="0">
                <a:solidFill>
                  <a:schemeClr val="bg1"/>
                </a:solidFill>
              </a:rPr>
              <a:t>10+ years in IT Security </a:t>
            </a:r>
            <a:r>
              <a:rPr lang="en-US" altLang="en-US" sz="1800" dirty="0" smtClean="0">
                <a:solidFill>
                  <a:schemeClr val="bg1"/>
                </a:solidFill>
              </a:rPr>
              <a:t>industry</a:t>
            </a:r>
          </a:p>
          <a:p>
            <a:pPr marL="342900" indent="-342900">
              <a:spcBef>
                <a:spcPts val="1200"/>
              </a:spcBef>
              <a:buClrTx/>
              <a:buFont typeface="Arial" panose="020B0604020202020204" pitchFamily="34" charset="0"/>
              <a:buChar char="•"/>
            </a:pPr>
            <a:r>
              <a:rPr lang="en-US" altLang="en-US" sz="1800" dirty="0">
                <a:solidFill>
                  <a:schemeClr val="bg1"/>
                </a:solidFill>
              </a:rPr>
              <a:t>Worked in defense, utility &amp; financial </a:t>
            </a:r>
            <a:r>
              <a:rPr lang="en-US" altLang="en-US" sz="1800" dirty="0" smtClean="0">
                <a:solidFill>
                  <a:schemeClr val="bg1"/>
                </a:solidFill>
              </a:rPr>
              <a:t>sectors</a:t>
            </a:r>
          </a:p>
          <a:p>
            <a:pPr marL="342900" indent="-342900">
              <a:spcBef>
                <a:spcPts val="1200"/>
              </a:spcBef>
              <a:buClrTx/>
              <a:buFont typeface="Arial" panose="020B0604020202020204" pitchFamily="34" charset="0"/>
              <a:buChar char="•"/>
            </a:pPr>
            <a:r>
              <a:rPr lang="en-US" altLang="en-US" sz="1800" dirty="0" smtClean="0">
                <a:solidFill>
                  <a:schemeClr val="bg1"/>
                </a:solidFill>
              </a:rPr>
              <a:t>Presented at </a:t>
            </a:r>
            <a:r>
              <a:rPr lang="en-US" altLang="en-US" sz="1800" dirty="0" err="1" smtClean="0">
                <a:solidFill>
                  <a:schemeClr val="bg1"/>
                </a:solidFill>
              </a:rPr>
              <a:t>Defcon</a:t>
            </a:r>
            <a:r>
              <a:rPr lang="en-US" altLang="en-US" sz="1800" dirty="0" smtClean="0">
                <a:solidFill>
                  <a:schemeClr val="bg1"/>
                </a:solidFill>
              </a:rPr>
              <a:t>, UNC, JMU, RISE, FBI </a:t>
            </a:r>
            <a:r>
              <a:rPr lang="en-US" altLang="en-US" sz="1800" dirty="0" err="1" smtClean="0">
                <a:solidFill>
                  <a:schemeClr val="bg1"/>
                </a:solidFill>
              </a:rPr>
              <a:t>Infragard</a:t>
            </a:r>
            <a:endParaRPr lang="en-US" altLang="en-US" sz="1800" dirty="0">
              <a:solidFill>
                <a:schemeClr val="bg1"/>
              </a:solidFill>
            </a:endParaRPr>
          </a:p>
          <a:p>
            <a:pPr marL="342900" indent="-342900">
              <a:spcBef>
                <a:spcPts val="1200"/>
              </a:spcBef>
              <a:buClrTx/>
              <a:buFont typeface="Arial" panose="020B0604020202020204" pitchFamily="34" charset="0"/>
              <a:buChar char="•"/>
            </a:pPr>
            <a:r>
              <a:rPr lang="en-US" altLang="en-US" sz="1800" dirty="0" smtClean="0">
                <a:solidFill>
                  <a:schemeClr val="bg1"/>
                </a:solidFill>
              </a:rPr>
              <a:t>CISSP, GIAC GPPA, CCSK, CISM, CEH, PCNSE</a:t>
            </a:r>
          </a:p>
          <a:p>
            <a:pPr marL="342900" indent="-342900">
              <a:spcBef>
                <a:spcPts val="1200"/>
              </a:spcBef>
              <a:buClrTx/>
              <a:buFont typeface="Arial" panose="020B0604020202020204" pitchFamily="34" charset="0"/>
              <a:buChar char="•"/>
            </a:pPr>
            <a:r>
              <a:rPr lang="en-US" altLang="en-US" sz="1800" dirty="0" smtClean="0">
                <a:solidFill>
                  <a:schemeClr val="bg1"/>
                </a:solidFill>
              </a:rPr>
              <a:t>Currently a Client </a:t>
            </a:r>
            <a:r>
              <a:rPr lang="en-US" altLang="en-US" sz="1800" dirty="0">
                <a:solidFill>
                  <a:schemeClr val="bg1"/>
                </a:solidFill>
              </a:rPr>
              <a:t>Solutions Architect </a:t>
            </a:r>
            <a:r>
              <a:rPr lang="en-US" altLang="en-US" sz="1800" dirty="0" smtClean="0">
                <a:solidFill>
                  <a:schemeClr val="bg1"/>
                </a:solidFill>
              </a:rPr>
              <a:t>at OPTIV</a:t>
            </a:r>
            <a:endParaRPr lang="en-US" altLang="en-US" sz="1800" dirty="0">
              <a:solidFill>
                <a:schemeClr val="bg1"/>
              </a:solidFill>
            </a:endParaRPr>
          </a:p>
          <a:p>
            <a:endParaRPr lang="en-US" dirty="0">
              <a:solidFill>
                <a:schemeClr val="bg1"/>
              </a:solidFill>
            </a:endParaRPr>
          </a:p>
        </p:txBody>
      </p:sp>
      <p:pic>
        <p:nvPicPr>
          <p:cNvPr id="5" name="Picture 6" descr="https://upload.wikimedia.org/wikipedia/en/thumb/3/31/Dominion_logo.svg/800px-Dominion_logo.svg.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4952998" y="1781054"/>
            <a:ext cx="1830539" cy="63973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http://usarmy.vo.llnwd.net/e2/rv5_downloads/symbols/ArmySealHigh.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97262" y="1660984"/>
            <a:ext cx="1080145" cy="108014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https://www.genworth.com/dam/Global/Images/Public/Logos/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26854" y="742950"/>
            <a:ext cx="2482829" cy="82761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91400" y="742950"/>
            <a:ext cx="1528482" cy="687817"/>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52998" y="2896029"/>
            <a:ext cx="3460628" cy="425150"/>
          </a:xfrm>
          <a:prstGeom prst="rect">
            <a:avLst/>
          </a:prstGeom>
        </p:spPr>
      </p:pic>
      <p:sp>
        <p:nvSpPr>
          <p:cNvPr id="2" name="Title 1"/>
          <p:cNvSpPr>
            <a:spLocks noGrp="1"/>
          </p:cNvSpPr>
          <p:nvPr>
            <p:ph type="title"/>
          </p:nvPr>
        </p:nvSpPr>
        <p:spPr/>
        <p:txBody>
          <a:bodyPr/>
          <a:lstStyle/>
          <a:p>
            <a:r>
              <a:rPr lang="en-US" dirty="0" smtClean="0">
                <a:solidFill>
                  <a:schemeClr val="bg1"/>
                </a:solidFill>
              </a:rPr>
              <a:t>About Me</a:t>
            </a:r>
            <a:endParaRPr lang="en-US" dirty="0">
              <a:solidFill>
                <a:schemeClr val="bg1"/>
              </a:solidFill>
            </a:endParaRPr>
          </a:p>
        </p:txBody>
      </p:sp>
    </p:spTree>
    <p:extLst>
      <p:ext uri="{BB962C8B-B14F-4D97-AF65-F5344CB8AC3E}">
        <p14:creationId xmlns:p14="http://schemas.microsoft.com/office/powerpoint/2010/main" val="1195132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sp>
        <p:nvSpPr>
          <p:cNvPr id="3" name="Content Placeholder 2"/>
          <p:cNvSpPr>
            <a:spLocks noGrp="1"/>
          </p:cNvSpPr>
          <p:nvPr>
            <p:ph idx="1"/>
          </p:nvPr>
        </p:nvSpPr>
        <p:spPr/>
        <p:txBody>
          <a:bodyPr/>
          <a:lstStyle/>
          <a:p>
            <a:pPr>
              <a:buFont typeface="Arial" panose="020B0604020202020204" pitchFamily="34" charset="0"/>
              <a:buChar char="•"/>
            </a:pPr>
            <a:r>
              <a:rPr lang="en-US" dirty="0"/>
              <a:t>3 Tier Architecture</a:t>
            </a:r>
          </a:p>
          <a:p>
            <a:pPr>
              <a:buFont typeface="Arial" panose="020B0604020202020204" pitchFamily="34" charset="0"/>
              <a:buChar char="•"/>
            </a:pPr>
            <a:r>
              <a:rPr lang="en-US" dirty="0" smtClean="0"/>
              <a:t>History </a:t>
            </a:r>
            <a:r>
              <a:rPr lang="en-US" dirty="0"/>
              <a:t>of </a:t>
            </a:r>
            <a:r>
              <a:rPr lang="en-US" dirty="0" smtClean="0"/>
              <a:t>Zero Trust</a:t>
            </a:r>
            <a:endParaRPr lang="en-US" dirty="0"/>
          </a:p>
          <a:p>
            <a:pPr>
              <a:buFont typeface="Arial" panose="020B0604020202020204" pitchFamily="34" charset="0"/>
              <a:buChar char="•"/>
            </a:pPr>
            <a:r>
              <a:rPr lang="en-US" dirty="0"/>
              <a:t>Definition of </a:t>
            </a:r>
            <a:r>
              <a:rPr lang="en-US" dirty="0" smtClean="0"/>
              <a:t>Zero Trust </a:t>
            </a:r>
            <a:r>
              <a:rPr lang="en-US" dirty="0"/>
              <a:t>and </a:t>
            </a:r>
            <a:r>
              <a:rPr lang="en-US" dirty="0" smtClean="0"/>
              <a:t>key terms</a:t>
            </a:r>
          </a:p>
          <a:p>
            <a:pPr>
              <a:buFont typeface="Arial" panose="020B0604020202020204" pitchFamily="34" charset="0"/>
              <a:buChar char="•"/>
            </a:pPr>
            <a:r>
              <a:rPr lang="en-US" dirty="0" smtClean="0"/>
              <a:t>Current events related to Zero Trust</a:t>
            </a:r>
          </a:p>
          <a:p>
            <a:pPr>
              <a:buFont typeface="Arial" panose="020B0604020202020204" pitchFamily="34" charset="0"/>
              <a:buChar char="•"/>
            </a:pPr>
            <a:r>
              <a:rPr lang="en-US" dirty="0" smtClean="0"/>
              <a:t>Challenges I’ve experienced with Zero Trust</a:t>
            </a:r>
            <a:endParaRPr lang="en-US" dirty="0"/>
          </a:p>
          <a:p>
            <a:pPr>
              <a:buFont typeface="Arial" panose="020B0604020202020204" pitchFamily="34" charset="0"/>
              <a:buChar char="•"/>
            </a:pPr>
            <a:r>
              <a:rPr lang="en-US" dirty="0" smtClean="0"/>
              <a:t>My </a:t>
            </a:r>
            <a:r>
              <a:rPr lang="en-US" dirty="0"/>
              <a:t>s</a:t>
            </a:r>
            <a:r>
              <a:rPr lang="en-US" dirty="0" smtClean="0"/>
              <a:t>uggestions </a:t>
            </a:r>
            <a:r>
              <a:rPr lang="en-US" dirty="0"/>
              <a:t>to </a:t>
            </a:r>
            <a:r>
              <a:rPr lang="en-US" dirty="0" smtClean="0"/>
              <a:t>successfully </a:t>
            </a:r>
            <a:r>
              <a:rPr lang="en-US" dirty="0"/>
              <a:t>e</a:t>
            </a:r>
            <a:r>
              <a:rPr lang="en-US" dirty="0" smtClean="0"/>
              <a:t>mbrace Zero Trust</a:t>
            </a:r>
            <a:endParaRPr lang="en-US" dirty="0"/>
          </a:p>
          <a:p>
            <a:endParaRPr lang="en-US" dirty="0"/>
          </a:p>
        </p:txBody>
      </p:sp>
    </p:spTree>
    <p:extLst>
      <p:ext uri="{BB962C8B-B14F-4D97-AF65-F5344CB8AC3E}">
        <p14:creationId xmlns:p14="http://schemas.microsoft.com/office/powerpoint/2010/main" val="38338452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3-Tier Architecture</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3105150"/>
            <a:ext cx="5791200" cy="1490286"/>
          </a:xfrm>
          <a:prstGeom prst="rect">
            <a:avLst/>
          </a:prstGeom>
        </p:spPr>
      </p:pic>
      <p:pic>
        <p:nvPicPr>
          <p:cNvPr id="6" name="Picture 5"/>
          <p:cNvPicPr>
            <a:picLocks noChangeAspect="1"/>
          </p:cNvPicPr>
          <p:nvPr/>
        </p:nvPicPr>
        <p:blipFill>
          <a:blip r:embed="rId3"/>
          <a:stretch>
            <a:fillRect/>
          </a:stretch>
        </p:blipFill>
        <p:spPr>
          <a:xfrm>
            <a:off x="533400" y="1352550"/>
            <a:ext cx="3704104" cy="1676400"/>
          </a:xfrm>
          <a:prstGeom prst="rect">
            <a:avLst/>
          </a:prstGeom>
        </p:spPr>
      </p:pic>
    </p:spTree>
    <p:extLst>
      <p:ext uri="{BB962C8B-B14F-4D97-AF65-F5344CB8AC3E}">
        <p14:creationId xmlns:p14="http://schemas.microsoft.com/office/powerpoint/2010/main" val="11866783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Vuw9m5wXviFIQ">
            <a:hlinkClick r:id="" action="ppaction://media"/>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2286000" y="285750"/>
            <a:ext cx="4941887" cy="4096842"/>
          </a:xfrm>
        </p:spPr>
      </p:pic>
    </p:spTree>
    <p:extLst>
      <p:ext uri="{BB962C8B-B14F-4D97-AF65-F5344CB8AC3E}">
        <p14:creationId xmlns:p14="http://schemas.microsoft.com/office/powerpoint/2010/main" val="1465475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72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31988"/>
            <a:ext cx="6548437" cy="4744799"/>
          </a:xfrm>
          <a:prstGeom prst="rect">
            <a:avLst/>
          </a:prstGeom>
        </p:spPr>
      </p:pic>
    </p:spTree>
    <p:extLst>
      <p:ext uri="{BB962C8B-B14F-4D97-AF65-F5344CB8AC3E}">
        <p14:creationId xmlns:p14="http://schemas.microsoft.com/office/powerpoint/2010/main" val="10152764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3-Tier Architecture</a:t>
            </a:r>
            <a:endParaRPr lang="en-US" dirty="0"/>
          </a:p>
        </p:txBody>
      </p:sp>
      <p:pic>
        <p:nvPicPr>
          <p:cNvPr id="3" name="Picture 2"/>
          <p:cNvPicPr>
            <a:picLocks noChangeAspect="1"/>
          </p:cNvPicPr>
          <p:nvPr/>
        </p:nvPicPr>
        <p:blipFill>
          <a:blip r:embed="rId2"/>
          <a:stretch>
            <a:fillRect/>
          </a:stretch>
        </p:blipFill>
        <p:spPr>
          <a:xfrm>
            <a:off x="1905000" y="666750"/>
            <a:ext cx="5598780" cy="4154101"/>
          </a:xfrm>
          <a:prstGeom prst="rect">
            <a:avLst/>
          </a:prstGeom>
        </p:spPr>
      </p:pic>
      <p:pic>
        <p:nvPicPr>
          <p:cNvPr id="4" name="Picture 3"/>
          <p:cNvPicPr>
            <a:picLocks noChangeAspect="1"/>
          </p:cNvPicPr>
          <p:nvPr/>
        </p:nvPicPr>
        <p:blipFill>
          <a:blip r:embed="rId3"/>
          <a:stretch>
            <a:fillRect/>
          </a:stretch>
        </p:blipFill>
        <p:spPr>
          <a:xfrm>
            <a:off x="3505201" y="3028949"/>
            <a:ext cx="4419600" cy="1905001"/>
          </a:xfrm>
          <a:prstGeom prst="rect">
            <a:avLst/>
          </a:prstGeom>
        </p:spPr>
      </p:pic>
      <p:pic>
        <p:nvPicPr>
          <p:cNvPr id="5" name="Picture 4"/>
          <p:cNvPicPr>
            <a:picLocks noChangeAspect="1"/>
          </p:cNvPicPr>
          <p:nvPr/>
        </p:nvPicPr>
        <p:blipFill>
          <a:blip r:embed="rId4"/>
          <a:stretch>
            <a:fillRect/>
          </a:stretch>
        </p:blipFill>
        <p:spPr>
          <a:xfrm>
            <a:off x="5486400" y="486017"/>
            <a:ext cx="1277100" cy="866533"/>
          </a:xfrm>
          <a:prstGeom prst="rect">
            <a:avLst/>
          </a:prstGeom>
        </p:spPr>
      </p:pic>
      <p:sp>
        <p:nvSpPr>
          <p:cNvPr id="7" name="TextBox 6"/>
          <p:cNvSpPr txBox="1"/>
          <p:nvPr/>
        </p:nvSpPr>
        <p:spPr>
          <a:xfrm>
            <a:off x="6781800" y="429220"/>
            <a:ext cx="2362200" cy="923330"/>
          </a:xfrm>
          <a:prstGeom prst="rect">
            <a:avLst/>
          </a:prstGeom>
          <a:noFill/>
        </p:spPr>
        <p:txBody>
          <a:bodyPr wrap="square" rtlCol="0">
            <a:spAutoFit/>
          </a:bodyPr>
          <a:lstStyle/>
          <a:p>
            <a:r>
              <a:rPr lang="en-US" dirty="0">
                <a:solidFill>
                  <a:schemeClr val="accent1"/>
                </a:solidFill>
                <a:latin typeface="Calibri" panose="020F0502020204030204" pitchFamily="34" charset="0"/>
                <a:cs typeface="Calibri" panose="020F0502020204030204" pitchFamily="34" charset="0"/>
              </a:rPr>
              <a:t>PCI, </a:t>
            </a:r>
            <a:r>
              <a:rPr lang="en-US" dirty="0" smtClean="0">
                <a:solidFill>
                  <a:schemeClr val="accent1"/>
                </a:solidFill>
                <a:latin typeface="Calibri" panose="020F0502020204030204" pitchFamily="34" charset="0"/>
                <a:cs typeface="Calibri" panose="020F0502020204030204" pitchFamily="34" charset="0"/>
              </a:rPr>
              <a:t>HIPAA</a:t>
            </a:r>
            <a:r>
              <a:rPr lang="en-US" dirty="0">
                <a:solidFill>
                  <a:schemeClr val="accent1"/>
                </a:solidFill>
                <a:latin typeface="Calibri" panose="020F0502020204030204" pitchFamily="34" charset="0"/>
                <a:cs typeface="Calibri" panose="020F0502020204030204" pitchFamily="34" charset="0"/>
              </a:rPr>
              <a:t>, PII, PHI, FISM, Company Competitive Data</a:t>
            </a:r>
          </a:p>
        </p:txBody>
      </p:sp>
      <p:cxnSp>
        <p:nvCxnSpPr>
          <p:cNvPr id="9" name="Straight Connector 8"/>
          <p:cNvCxnSpPr/>
          <p:nvPr/>
        </p:nvCxnSpPr>
        <p:spPr>
          <a:xfrm>
            <a:off x="6400800" y="1132166"/>
            <a:ext cx="609600" cy="1896784"/>
          </a:xfrm>
          <a:prstGeom prst="line">
            <a:avLst/>
          </a:prstGeom>
          <a:ln>
            <a:prstDash val="dash"/>
          </a:ln>
          <a:effectLst/>
        </p:spPr>
        <p:style>
          <a:lnRef idx="2">
            <a:schemeClr val="accent1"/>
          </a:lnRef>
          <a:fillRef idx="0">
            <a:schemeClr val="accent1"/>
          </a:fillRef>
          <a:effectRef idx="1">
            <a:schemeClr val="accent1"/>
          </a:effectRef>
          <a:fontRef idx="minor">
            <a:schemeClr val="tx1"/>
          </a:fontRef>
        </p:style>
      </p:cxnSp>
      <p:pic>
        <p:nvPicPr>
          <p:cNvPr id="12" name="Picture 11"/>
          <p:cNvPicPr>
            <a:picLocks noChangeAspect="1"/>
          </p:cNvPicPr>
          <p:nvPr/>
        </p:nvPicPr>
        <p:blipFill>
          <a:blip r:embed="rId5"/>
          <a:stretch>
            <a:fillRect/>
          </a:stretch>
        </p:blipFill>
        <p:spPr>
          <a:xfrm>
            <a:off x="1249921" y="3333750"/>
            <a:ext cx="1645680" cy="925695"/>
          </a:xfrm>
          <a:prstGeom prst="rect">
            <a:avLst/>
          </a:prstGeom>
        </p:spPr>
      </p:pic>
      <p:pic>
        <p:nvPicPr>
          <p:cNvPr id="15" name="Picture 14"/>
          <p:cNvPicPr>
            <a:picLocks noChangeAspect="1"/>
          </p:cNvPicPr>
          <p:nvPr/>
        </p:nvPicPr>
        <p:blipFill>
          <a:blip r:embed="rId6"/>
          <a:stretch>
            <a:fillRect/>
          </a:stretch>
        </p:blipFill>
        <p:spPr>
          <a:xfrm>
            <a:off x="4343400" y="3517898"/>
            <a:ext cx="2904090" cy="944419"/>
          </a:xfrm>
          <a:prstGeom prst="rect">
            <a:avLst/>
          </a:prstGeom>
        </p:spPr>
      </p:pic>
    </p:spTree>
    <p:extLst>
      <p:ext uri="{BB962C8B-B14F-4D97-AF65-F5344CB8AC3E}">
        <p14:creationId xmlns:p14="http://schemas.microsoft.com/office/powerpoint/2010/main" val="2974100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Challenges</a:t>
            </a:r>
            <a:endParaRPr lang="en-US" dirty="0"/>
          </a:p>
        </p:txBody>
      </p:sp>
      <p:sp>
        <p:nvSpPr>
          <p:cNvPr id="3" name="Content Placeholder 2"/>
          <p:cNvSpPr>
            <a:spLocks noGrp="1"/>
          </p:cNvSpPr>
          <p:nvPr>
            <p:ph idx="1"/>
          </p:nvPr>
        </p:nvSpPr>
        <p:spPr>
          <a:xfrm>
            <a:off x="685800" y="1154062"/>
            <a:ext cx="7924800" cy="3394472"/>
          </a:xfrm>
        </p:spPr>
        <p:txBody>
          <a:bodyPr/>
          <a:lstStyle/>
          <a:p>
            <a:pPr>
              <a:lnSpc>
                <a:spcPct val="150000"/>
              </a:lnSpc>
            </a:pPr>
            <a:r>
              <a:rPr lang="en-US" sz="1500" dirty="0" smtClean="0"/>
              <a:t>Limited visibility once traffic is Trusted</a:t>
            </a:r>
          </a:p>
          <a:p>
            <a:pPr>
              <a:lnSpc>
                <a:spcPct val="150000"/>
              </a:lnSpc>
            </a:pPr>
            <a:r>
              <a:rPr lang="en-US" sz="1500" dirty="0" smtClean="0"/>
              <a:t>Lack of enforcement options in Trusted zones</a:t>
            </a:r>
          </a:p>
          <a:p>
            <a:pPr>
              <a:lnSpc>
                <a:spcPct val="150000"/>
              </a:lnSpc>
            </a:pPr>
            <a:r>
              <a:rPr lang="en-US" sz="1500" dirty="0" smtClean="0"/>
              <a:t>Typically relied on layer-4 enforcement</a:t>
            </a:r>
          </a:p>
          <a:p>
            <a:pPr>
              <a:lnSpc>
                <a:spcPct val="150000"/>
              </a:lnSpc>
            </a:pPr>
            <a:r>
              <a:rPr lang="en-US" sz="1500" dirty="0"/>
              <a:t>Application designs increasingly diverge from 3-tier topology </a:t>
            </a:r>
            <a:endParaRPr lang="en-US" sz="1500" dirty="0" smtClean="0"/>
          </a:p>
          <a:p>
            <a:pPr>
              <a:lnSpc>
                <a:spcPct val="150000"/>
              </a:lnSpc>
            </a:pPr>
            <a:r>
              <a:rPr lang="en-US" sz="1500" dirty="0" smtClean="0"/>
              <a:t>Cloud offerings move critical data to offsite locations making perimeter protections useless</a:t>
            </a:r>
          </a:p>
          <a:p>
            <a:pPr>
              <a:lnSpc>
                <a:spcPct val="150000"/>
              </a:lnSpc>
            </a:pPr>
            <a:r>
              <a:rPr lang="en-US" sz="1500" dirty="0" smtClean="0"/>
              <a:t>BYOD increases risk of introducing threats inside Trusted zones</a:t>
            </a:r>
          </a:p>
          <a:p>
            <a:pPr>
              <a:lnSpc>
                <a:spcPct val="150000"/>
              </a:lnSpc>
            </a:pPr>
            <a:r>
              <a:rPr lang="en-US" sz="1500" dirty="0" smtClean="0"/>
              <a:t>External </a:t>
            </a:r>
            <a:r>
              <a:rPr lang="en-US" sz="1500" dirty="0"/>
              <a:t>connections are difficult to control once given access to any internal Trusted resource </a:t>
            </a:r>
          </a:p>
          <a:p>
            <a:pPr>
              <a:lnSpc>
                <a:spcPct val="150000"/>
              </a:lnSpc>
            </a:pPr>
            <a:endParaRPr lang="en-US" sz="15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8400" y="133350"/>
            <a:ext cx="2753860" cy="2362200"/>
          </a:xfrm>
          <a:prstGeom prst="rect">
            <a:avLst/>
          </a:prstGeom>
        </p:spPr>
      </p:pic>
    </p:spTree>
    <p:extLst>
      <p:ext uri="{BB962C8B-B14F-4D97-AF65-F5344CB8AC3E}">
        <p14:creationId xmlns:p14="http://schemas.microsoft.com/office/powerpoint/2010/main" val="42987728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Zero Trust?</a:t>
            </a:r>
            <a:endParaRPr lang="en-US" dirty="0"/>
          </a:p>
        </p:txBody>
      </p:sp>
      <p:pic>
        <p:nvPicPr>
          <p:cNvPr id="6" name="Content Placeholder 5"/>
          <p:cNvPicPr>
            <a:picLocks noGrp="1" noChangeAspect="1"/>
          </p:cNvPicPr>
          <p:nvPr>
            <p:ph idx="1"/>
          </p:nvPr>
        </p:nvPicPr>
        <p:blipFill>
          <a:blip r:embed="rId3"/>
          <a:stretch>
            <a:fillRect/>
          </a:stretch>
        </p:blipFill>
        <p:spPr>
          <a:xfrm>
            <a:off x="228600" y="1578532"/>
            <a:ext cx="8499277" cy="1831418"/>
          </a:xfrm>
          <a:prstGeom prst="rect">
            <a:avLst/>
          </a:prstGeom>
        </p:spPr>
      </p:pic>
    </p:spTree>
    <p:extLst>
      <p:ext uri="{BB962C8B-B14F-4D97-AF65-F5344CB8AC3E}">
        <p14:creationId xmlns:p14="http://schemas.microsoft.com/office/powerpoint/2010/main" val="38538294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76200" y="1581150"/>
            <a:ext cx="8929687" cy="1167431"/>
          </a:xfrm>
          <a:prstGeom prst="rect">
            <a:avLst/>
          </a:prstGeom>
        </p:spPr>
      </p:pic>
      <p:sp>
        <p:nvSpPr>
          <p:cNvPr id="4" name="TextBox 3"/>
          <p:cNvSpPr txBox="1"/>
          <p:nvPr/>
        </p:nvSpPr>
        <p:spPr>
          <a:xfrm>
            <a:off x="1524000" y="2876550"/>
            <a:ext cx="7391400" cy="276999"/>
          </a:xfrm>
          <a:prstGeom prst="rect">
            <a:avLst/>
          </a:prstGeom>
          <a:noFill/>
        </p:spPr>
        <p:txBody>
          <a:bodyPr wrap="square" rtlCol="0">
            <a:spAutoFit/>
          </a:bodyPr>
          <a:lstStyle/>
          <a:p>
            <a:r>
              <a:rPr lang="en-US" sz="1200" i="1" dirty="0" smtClean="0"/>
              <a:t>-“</a:t>
            </a:r>
            <a:r>
              <a:rPr lang="en-US" sz="1200" i="1" dirty="0"/>
              <a:t>No More Chewy Centers: Introducing The </a:t>
            </a:r>
            <a:r>
              <a:rPr lang="en-US" sz="1200" i="1" dirty="0" err="1" smtClean="0"/>
              <a:t>ZeroTrust</a:t>
            </a:r>
            <a:r>
              <a:rPr lang="en-US" sz="1200" i="1" dirty="0" smtClean="0"/>
              <a:t> </a:t>
            </a:r>
            <a:r>
              <a:rPr lang="en-US" sz="1200" i="1" dirty="0"/>
              <a:t>Model Of Information </a:t>
            </a:r>
            <a:r>
              <a:rPr lang="en-US" sz="1200" i="1" dirty="0" smtClean="0"/>
              <a:t>Security” September </a:t>
            </a:r>
            <a:r>
              <a:rPr lang="en-US" sz="1200" i="1" dirty="0"/>
              <a:t>14, 2010</a:t>
            </a:r>
          </a:p>
        </p:txBody>
      </p:sp>
    </p:spTree>
    <p:extLst>
      <p:ext uri="{BB962C8B-B14F-4D97-AF65-F5344CB8AC3E}">
        <p14:creationId xmlns:p14="http://schemas.microsoft.com/office/powerpoint/2010/main" val="19393130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Breaches since 2010…</a:t>
            </a:r>
            <a:endParaRPr lang="en-US" dirty="0"/>
          </a:p>
        </p:txBody>
      </p:sp>
      <p:pic>
        <p:nvPicPr>
          <p:cNvPr id="12" name="Content Placeholder 11"/>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11181" y="1184104"/>
            <a:ext cx="1030898" cy="755992"/>
          </a:xfrm>
        </p:spPr>
      </p:pic>
      <p:pic>
        <p:nvPicPr>
          <p:cNvPr id="13" name="Picture 12"/>
          <p:cNvPicPr>
            <a:picLocks noChangeAspect="1"/>
          </p:cNvPicPr>
          <p:nvPr/>
        </p:nvPicPr>
        <p:blipFill>
          <a:blip r:embed="rId4"/>
          <a:stretch>
            <a:fillRect/>
          </a:stretch>
        </p:blipFill>
        <p:spPr>
          <a:xfrm>
            <a:off x="2241217" y="1163486"/>
            <a:ext cx="797228" cy="797228"/>
          </a:xfrm>
          <a:prstGeom prst="rect">
            <a:avLst/>
          </a:prstGeom>
        </p:spPr>
      </p:pic>
      <p:pic>
        <p:nvPicPr>
          <p:cNvPr id="14" name="Picture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39040" y="1122250"/>
            <a:ext cx="662175" cy="879700"/>
          </a:xfrm>
          <a:prstGeom prst="rect">
            <a:avLst/>
          </a:prstGeom>
        </p:spPr>
      </p:pic>
      <p:pic>
        <p:nvPicPr>
          <p:cNvPr id="15" name="Picture 1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53166" y="1115377"/>
            <a:ext cx="893446" cy="893446"/>
          </a:xfrm>
          <a:prstGeom prst="rect">
            <a:avLst/>
          </a:prstGeom>
        </p:spPr>
      </p:pic>
      <p:pic>
        <p:nvPicPr>
          <p:cNvPr id="16" name="Picture 15"/>
          <p:cNvPicPr>
            <a:picLocks noChangeAspect="1"/>
          </p:cNvPicPr>
          <p:nvPr/>
        </p:nvPicPr>
        <p:blipFill>
          <a:blip r:embed="rId7"/>
          <a:stretch>
            <a:fillRect/>
          </a:stretch>
        </p:blipFill>
        <p:spPr>
          <a:xfrm>
            <a:off x="6514822" y="1078462"/>
            <a:ext cx="1307131" cy="967277"/>
          </a:xfrm>
          <a:prstGeom prst="rect">
            <a:avLst/>
          </a:prstGeom>
        </p:spPr>
      </p:pic>
      <p:pic>
        <p:nvPicPr>
          <p:cNvPr id="17" name="Picture 1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04038" y="2531360"/>
            <a:ext cx="845185" cy="845185"/>
          </a:xfrm>
          <a:prstGeom prst="rect">
            <a:avLst/>
          </a:prstGeom>
        </p:spPr>
      </p:pic>
      <p:pic>
        <p:nvPicPr>
          <p:cNvPr id="18" name="Picture 17"/>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308096" y="2531360"/>
            <a:ext cx="663470" cy="845185"/>
          </a:xfrm>
          <a:prstGeom prst="rect">
            <a:avLst/>
          </a:prstGeom>
        </p:spPr>
      </p:pic>
      <p:pic>
        <p:nvPicPr>
          <p:cNvPr id="19" name="Picture 1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074742" y="3862166"/>
            <a:ext cx="1804073" cy="373500"/>
          </a:xfrm>
          <a:prstGeom prst="rect">
            <a:avLst/>
          </a:prstGeom>
        </p:spPr>
      </p:pic>
      <p:pic>
        <p:nvPicPr>
          <p:cNvPr id="20" name="Picture 19"/>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22333" y="3862166"/>
            <a:ext cx="3343218" cy="373500"/>
          </a:xfrm>
          <a:prstGeom prst="rect">
            <a:avLst/>
          </a:prstGeom>
        </p:spPr>
      </p:pic>
      <p:pic>
        <p:nvPicPr>
          <p:cNvPr id="21" name="Picture 20"/>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374704" y="2458529"/>
            <a:ext cx="990847" cy="990847"/>
          </a:xfrm>
          <a:prstGeom prst="rect">
            <a:avLst/>
          </a:prstGeom>
        </p:spPr>
      </p:pic>
      <p:pic>
        <p:nvPicPr>
          <p:cNvPr id="22" name="Picture 2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4823000" y="2377063"/>
            <a:ext cx="1153779" cy="1153779"/>
          </a:xfrm>
          <a:prstGeom prst="rect">
            <a:avLst/>
          </a:prstGeom>
        </p:spPr>
      </p:pic>
      <p:pic>
        <p:nvPicPr>
          <p:cNvPr id="23" name="Picture 2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517495" y="2303060"/>
            <a:ext cx="1301785" cy="1301785"/>
          </a:xfrm>
          <a:prstGeom prst="rect">
            <a:avLst/>
          </a:prstGeom>
        </p:spPr>
      </p:pic>
    </p:spTree>
    <p:extLst>
      <p:ext uri="{BB962C8B-B14F-4D97-AF65-F5344CB8AC3E}">
        <p14:creationId xmlns:p14="http://schemas.microsoft.com/office/powerpoint/2010/main" val="30216404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Zero Trust Fundamentals</a:t>
            </a:r>
            <a:endParaRPr lang="en-US" dirty="0"/>
          </a:p>
        </p:txBody>
      </p:sp>
      <p:pic>
        <p:nvPicPr>
          <p:cNvPr id="6" name="Picture 5"/>
          <p:cNvPicPr>
            <a:picLocks noChangeAspect="1"/>
          </p:cNvPicPr>
          <p:nvPr/>
        </p:nvPicPr>
        <p:blipFill>
          <a:blip r:embed="rId2"/>
          <a:stretch>
            <a:fillRect/>
          </a:stretch>
        </p:blipFill>
        <p:spPr>
          <a:xfrm>
            <a:off x="1143000" y="1733550"/>
            <a:ext cx="6535718" cy="2209800"/>
          </a:xfrm>
          <a:prstGeom prst="rect">
            <a:avLst/>
          </a:prstGeom>
        </p:spPr>
      </p:pic>
      <p:sp>
        <p:nvSpPr>
          <p:cNvPr id="7" name="Multiply 6"/>
          <p:cNvSpPr/>
          <p:nvPr/>
        </p:nvSpPr>
        <p:spPr>
          <a:xfrm>
            <a:off x="4191000" y="1885950"/>
            <a:ext cx="1981200" cy="1905000"/>
          </a:xfrm>
          <a:prstGeom prst="mathMultiply">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p:cNvSpPr txBox="1"/>
          <p:nvPr/>
        </p:nvSpPr>
        <p:spPr>
          <a:xfrm>
            <a:off x="4648200" y="3606284"/>
            <a:ext cx="1837541" cy="369332"/>
          </a:xfrm>
          <a:prstGeom prst="rect">
            <a:avLst/>
          </a:prstGeom>
          <a:noFill/>
        </p:spPr>
        <p:txBody>
          <a:bodyPr wrap="square" rtlCol="0">
            <a:spAutoFit/>
          </a:bodyPr>
          <a:lstStyle/>
          <a:p>
            <a:r>
              <a:rPr lang="en-US" dirty="0" smtClean="0">
                <a:solidFill>
                  <a:schemeClr val="accent1"/>
                </a:solidFill>
              </a:rPr>
              <a:t>Untrusted</a:t>
            </a:r>
            <a:endParaRPr lang="en-US" dirty="0">
              <a:solidFill>
                <a:schemeClr val="accent1"/>
              </a:solidFill>
            </a:endParaRPr>
          </a:p>
        </p:txBody>
      </p:sp>
    </p:spTree>
    <p:extLst>
      <p:ext uri="{BB962C8B-B14F-4D97-AF65-F5344CB8AC3E}">
        <p14:creationId xmlns:p14="http://schemas.microsoft.com/office/powerpoint/2010/main" val="3342350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Zero Trust Fundamentals</a:t>
            </a:r>
            <a:endParaRPr lang="en-US" dirty="0"/>
          </a:p>
        </p:txBody>
      </p:sp>
      <p:sp>
        <p:nvSpPr>
          <p:cNvPr id="3" name="Content Placeholder 2"/>
          <p:cNvSpPr>
            <a:spLocks noGrp="1"/>
          </p:cNvSpPr>
          <p:nvPr>
            <p:ph idx="1"/>
          </p:nvPr>
        </p:nvSpPr>
        <p:spPr/>
        <p:txBody>
          <a:bodyPr/>
          <a:lstStyle/>
          <a:p>
            <a:pPr>
              <a:lnSpc>
                <a:spcPct val="150000"/>
              </a:lnSpc>
            </a:pPr>
            <a:r>
              <a:rPr lang="en-US" sz="2000" dirty="0"/>
              <a:t>All resources are accessed in a secure </a:t>
            </a:r>
            <a:r>
              <a:rPr lang="en-US" sz="2000" dirty="0" smtClean="0"/>
              <a:t>manner </a:t>
            </a:r>
            <a:r>
              <a:rPr lang="en-US" sz="2000" dirty="0"/>
              <a:t>regardless of location</a:t>
            </a:r>
            <a:r>
              <a:rPr lang="en-US" sz="2000" dirty="0" smtClean="0"/>
              <a:t>.</a:t>
            </a:r>
          </a:p>
          <a:p>
            <a:pPr>
              <a:lnSpc>
                <a:spcPct val="150000"/>
              </a:lnSpc>
            </a:pPr>
            <a:r>
              <a:rPr lang="en-US" sz="2000" dirty="0"/>
              <a:t>Access control is on a “</a:t>
            </a:r>
            <a:r>
              <a:rPr lang="en-US" sz="2000" dirty="0" smtClean="0"/>
              <a:t>need-to-know” basis </a:t>
            </a:r>
            <a:r>
              <a:rPr lang="en-US" sz="2000" dirty="0"/>
              <a:t>and is strictly enforced</a:t>
            </a:r>
            <a:r>
              <a:rPr lang="en-US" sz="2000" dirty="0" smtClean="0"/>
              <a:t>.</a:t>
            </a:r>
          </a:p>
          <a:p>
            <a:pPr>
              <a:lnSpc>
                <a:spcPct val="150000"/>
              </a:lnSpc>
            </a:pPr>
            <a:r>
              <a:rPr lang="en-US" sz="2000" dirty="0"/>
              <a:t>Verify and never trust</a:t>
            </a:r>
            <a:r>
              <a:rPr lang="en-US" sz="2000" dirty="0" smtClean="0"/>
              <a:t>.</a:t>
            </a:r>
          </a:p>
          <a:p>
            <a:pPr>
              <a:lnSpc>
                <a:spcPct val="150000"/>
              </a:lnSpc>
            </a:pPr>
            <a:r>
              <a:rPr lang="en-US" sz="2000" dirty="0"/>
              <a:t>Inspect and log all traffic</a:t>
            </a:r>
            <a:r>
              <a:rPr lang="en-US" sz="2000" dirty="0" smtClean="0"/>
              <a:t>.</a:t>
            </a:r>
          </a:p>
          <a:p>
            <a:pPr>
              <a:lnSpc>
                <a:spcPct val="150000"/>
              </a:lnSpc>
            </a:pPr>
            <a:r>
              <a:rPr lang="en-US" sz="2000" dirty="0"/>
              <a:t>The network is designed from the </a:t>
            </a:r>
            <a:r>
              <a:rPr lang="en-US" sz="2000" dirty="0" smtClean="0"/>
              <a:t>inside out</a:t>
            </a:r>
            <a:r>
              <a:rPr lang="en-US" sz="2000" dirty="0"/>
              <a:t>.</a:t>
            </a:r>
          </a:p>
          <a:p>
            <a:endParaRPr lang="en-US" dirty="0"/>
          </a:p>
          <a:p>
            <a:endParaRPr lang="en-US" dirty="0"/>
          </a:p>
          <a:p>
            <a:endParaRPr lang="en-US" dirty="0"/>
          </a:p>
        </p:txBody>
      </p:sp>
    </p:spTree>
    <p:extLst>
      <p:ext uri="{BB962C8B-B14F-4D97-AF65-F5344CB8AC3E}">
        <p14:creationId xmlns:p14="http://schemas.microsoft.com/office/powerpoint/2010/main" val="13954634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Zero Trust Terminology</a:t>
            </a:r>
            <a:endParaRPr lang="en-US" dirty="0"/>
          </a:p>
        </p:txBody>
      </p:sp>
      <p:sp>
        <p:nvSpPr>
          <p:cNvPr id="3" name="Content Placeholder 2"/>
          <p:cNvSpPr>
            <a:spLocks noGrp="1"/>
          </p:cNvSpPr>
          <p:nvPr>
            <p:ph idx="1"/>
          </p:nvPr>
        </p:nvSpPr>
        <p:spPr/>
        <p:txBody>
          <a:bodyPr/>
          <a:lstStyle/>
          <a:p>
            <a:pPr>
              <a:lnSpc>
                <a:spcPct val="150000"/>
              </a:lnSpc>
            </a:pPr>
            <a:r>
              <a:rPr lang="en-US" sz="1600" b="1" dirty="0" smtClean="0"/>
              <a:t>Segmentation Gateway (SG) </a:t>
            </a:r>
            <a:r>
              <a:rPr lang="en-US" sz="1600" dirty="0" smtClean="0"/>
              <a:t>– High speed security device providing Firewall, IPS, WAF, NAC, VPN and Encryption services</a:t>
            </a:r>
            <a:endParaRPr lang="en-US" sz="1600" dirty="0"/>
          </a:p>
          <a:p>
            <a:pPr>
              <a:lnSpc>
                <a:spcPct val="150000"/>
              </a:lnSpc>
            </a:pPr>
            <a:r>
              <a:rPr lang="en-US" sz="1600" b="1" dirty="0" err="1" smtClean="0"/>
              <a:t>Microcore</a:t>
            </a:r>
            <a:r>
              <a:rPr lang="en-US" sz="1600" b="1" dirty="0" smtClean="0"/>
              <a:t> and Perimeter (MCAP) </a:t>
            </a:r>
            <a:r>
              <a:rPr lang="en-US" sz="1600" dirty="0" smtClean="0"/>
              <a:t>– Physically segmented by SG interface zone that shares similar functionality and global policy attributes</a:t>
            </a:r>
          </a:p>
          <a:p>
            <a:pPr>
              <a:lnSpc>
                <a:spcPct val="150000"/>
              </a:lnSpc>
            </a:pPr>
            <a:r>
              <a:rPr lang="en-US" sz="1600" b="1" dirty="0" smtClean="0"/>
              <a:t>Data Acquisition Network (DAN) </a:t>
            </a:r>
            <a:r>
              <a:rPr lang="en-US" sz="1600" dirty="0" smtClean="0"/>
              <a:t>– Facilitates the extraction of network data – typically, packets, syslog, or SNMP messages to a central inspection point</a:t>
            </a:r>
          </a:p>
          <a:p>
            <a:pPr>
              <a:lnSpc>
                <a:spcPct val="150000"/>
              </a:lnSpc>
            </a:pPr>
            <a:r>
              <a:rPr lang="en-US" sz="1600" b="1" dirty="0"/>
              <a:t>MGMT </a:t>
            </a:r>
            <a:r>
              <a:rPr lang="en-US" sz="1600" b="1" dirty="0" smtClean="0"/>
              <a:t>Server </a:t>
            </a:r>
            <a:r>
              <a:rPr lang="en-US" sz="1600" dirty="0" smtClean="0"/>
              <a:t>– Backplane that acts as a jump host in separate MCAP for management of devices</a:t>
            </a:r>
            <a:endParaRPr lang="en-US" sz="1600" b="1" dirty="0"/>
          </a:p>
          <a:p>
            <a:pPr marL="0" indent="0">
              <a:lnSpc>
                <a:spcPct val="150000"/>
              </a:lnSpc>
              <a:buNone/>
            </a:pPr>
            <a:endParaRPr lang="en-US" dirty="0" smtClean="0"/>
          </a:p>
          <a:p>
            <a:pPr marL="0" indent="0">
              <a:buNone/>
            </a:pPr>
            <a:endParaRPr lang="en-US" b="1" dirty="0" smtClean="0"/>
          </a:p>
          <a:p>
            <a:pPr marL="0" indent="0">
              <a:buNone/>
            </a:pPr>
            <a:endParaRPr lang="en-US" b="1" dirty="0"/>
          </a:p>
          <a:p>
            <a:endParaRPr lang="en-US" dirty="0"/>
          </a:p>
        </p:txBody>
      </p:sp>
    </p:spTree>
    <p:extLst>
      <p:ext uri="{BB962C8B-B14F-4D97-AF65-F5344CB8AC3E}">
        <p14:creationId xmlns:p14="http://schemas.microsoft.com/office/powerpoint/2010/main" val="165120973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Segmentation Gateway (SG)</a:t>
            </a:r>
            <a:endParaRPr lang="en-US" dirty="0"/>
          </a:p>
        </p:txBody>
      </p:sp>
      <p:sp>
        <p:nvSpPr>
          <p:cNvPr id="3" name="Content Placeholder 2"/>
          <p:cNvSpPr>
            <a:spLocks noGrp="1"/>
          </p:cNvSpPr>
          <p:nvPr>
            <p:ph idx="1"/>
          </p:nvPr>
        </p:nvSpPr>
        <p:spPr/>
        <p:txBody>
          <a:bodyPr/>
          <a:lstStyle/>
          <a:p>
            <a:pPr marL="0" indent="0">
              <a:lnSpc>
                <a:spcPct val="150000"/>
              </a:lnSpc>
              <a:buNone/>
            </a:pPr>
            <a:endParaRPr lang="en-US" dirty="0" smtClean="0"/>
          </a:p>
          <a:p>
            <a:pPr marL="0" indent="0">
              <a:buNone/>
            </a:pPr>
            <a:endParaRPr lang="en-US" b="1" dirty="0" smtClean="0"/>
          </a:p>
          <a:p>
            <a:pPr marL="0" indent="0">
              <a:buNone/>
            </a:pPr>
            <a:endParaRPr lang="en-US" b="1" dirty="0"/>
          </a:p>
          <a:p>
            <a:endParaRPr lang="en-US" dirty="0"/>
          </a:p>
        </p:txBody>
      </p:sp>
      <p:sp>
        <p:nvSpPr>
          <p:cNvPr id="4" name="Content Placeholder 2"/>
          <p:cNvSpPr txBox="1">
            <a:spLocks/>
          </p:cNvSpPr>
          <p:nvPr/>
        </p:nvSpPr>
        <p:spPr>
          <a:xfrm>
            <a:off x="685800" y="1132166"/>
            <a:ext cx="7772400" cy="3394472"/>
          </a:xfrm>
          <a:prstGeom prst="rect">
            <a:avLst/>
          </a:prstGeom>
          <a:noFill/>
        </p:spPr>
        <p:txBody>
          <a:bodyPr vert="horz" lIns="0" tIns="45720" rIns="0" bIns="45720" rtlCol="0">
            <a:noAutofit/>
          </a:bodyPr>
          <a:lstStyle>
            <a:lvl1pPr marL="114300" indent="-114300" algn="l" defTabSz="457200" rtl="0" eaLnBrk="1" latinLnBrk="0" hangingPunct="1">
              <a:spcBef>
                <a:spcPts val="0"/>
              </a:spcBef>
              <a:buClr>
                <a:schemeClr val="tx2"/>
              </a:buClr>
              <a:buFont typeface="Arial"/>
              <a:buChar char="•"/>
              <a:defRPr sz="1400" kern="1200">
                <a:solidFill>
                  <a:schemeClr val="tx1"/>
                </a:solidFill>
                <a:latin typeface="+mn-lt"/>
                <a:ea typeface="+mn-ea"/>
                <a:cs typeface="+mn-cs"/>
              </a:defRPr>
            </a:lvl1pPr>
            <a:lvl2pPr marL="287338" indent="-173038" algn="l" defTabSz="457200" rtl="0" eaLnBrk="1" latinLnBrk="0" hangingPunct="1">
              <a:spcBef>
                <a:spcPts val="0"/>
              </a:spcBef>
              <a:buClr>
                <a:schemeClr val="tx2"/>
              </a:buClr>
              <a:buFont typeface="Arial"/>
              <a:buChar char="–"/>
              <a:defRPr sz="1400" kern="1200">
                <a:solidFill>
                  <a:schemeClr val="tx1"/>
                </a:solidFill>
                <a:latin typeface="+mn-lt"/>
                <a:ea typeface="+mn-ea"/>
                <a:cs typeface="+mn-cs"/>
              </a:defRPr>
            </a:lvl2pPr>
            <a:lvl3pPr marL="401638" indent="-114300" algn="l" defTabSz="457200" rtl="0" eaLnBrk="1" latinLnBrk="0" hangingPunct="1">
              <a:spcBef>
                <a:spcPts val="0"/>
              </a:spcBef>
              <a:buClr>
                <a:schemeClr val="tx2"/>
              </a:buClr>
              <a:buFont typeface="Arial"/>
              <a:buChar char="•"/>
              <a:defRPr sz="1400" kern="1200">
                <a:solidFill>
                  <a:schemeClr val="tx1"/>
                </a:solidFill>
                <a:latin typeface="+mn-lt"/>
                <a:ea typeface="+mn-ea"/>
                <a:cs typeface="+mn-cs"/>
              </a:defRPr>
            </a:lvl3pPr>
            <a:lvl4pPr marL="574675" indent="-173038" algn="l" defTabSz="457200" rtl="0" eaLnBrk="1" latinLnBrk="0" hangingPunct="1">
              <a:spcBef>
                <a:spcPts val="0"/>
              </a:spcBef>
              <a:buClr>
                <a:schemeClr val="tx2"/>
              </a:buClr>
              <a:buFont typeface="Arial"/>
              <a:buChar char="–"/>
              <a:defRPr sz="1400" kern="1200">
                <a:solidFill>
                  <a:schemeClr val="tx1"/>
                </a:solidFill>
                <a:latin typeface="+mn-lt"/>
                <a:ea typeface="+mn-ea"/>
                <a:cs typeface="+mn-cs"/>
              </a:defRPr>
            </a:lvl4pPr>
            <a:lvl5pPr marL="682625" indent="-107950" algn="l" defTabSz="457200" rtl="0" eaLnBrk="1" latinLnBrk="0" hangingPunct="1">
              <a:spcBef>
                <a:spcPts val="0"/>
              </a:spcBef>
              <a:buClr>
                <a:schemeClr val="tx2"/>
              </a:buClr>
              <a:buSzPct val="100000"/>
              <a:buFont typeface="Arial"/>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50000"/>
              </a:lnSpc>
            </a:pPr>
            <a:r>
              <a:rPr lang="en-US" sz="1600" dirty="0" smtClean="0"/>
              <a:t>Next Generation Firewall</a:t>
            </a:r>
          </a:p>
          <a:p>
            <a:pPr>
              <a:lnSpc>
                <a:spcPct val="150000"/>
              </a:lnSpc>
            </a:pPr>
            <a:r>
              <a:rPr lang="en-US" sz="1600" dirty="0" smtClean="0"/>
              <a:t>Spec’d to handle very high throughput</a:t>
            </a:r>
          </a:p>
          <a:p>
            <a:pPr>
              <a:lnSpc>
                <a:spcPct val="150000"/>
              </a:lnSpc>
            </a:pPr>
            <a:r>
              <a:rPr lang="en-US" sz="1600" dirty="0" smtClean="0"/>
              <a:t>Virtual offering to support cloud and fabric environments</a:t>
            </a:r>
          </a:p>
          <a:p>
            <a:pPr>
              <a:lnSpc>
                <a:spcPct val="150000"/>
              </a:lnSpc>
            </a:pPr>
            <a:r>
              <a:rPr lang="en-US" sz="1600" dirty="0" smtClean="0"/>
              <a:t>Needs to integrate with user identity strategy</a:t>
            </a:r>
          </a:p>
          <a:p>
            <a:pPr>
              <a:lnSpc>
                <a:spcPct val="150000"/>
              </a:lnSpc>
            </a:pPr>
            <a:r>
              <a:rPr lang="en-US" sz="1600" dirty="0" smtClean="0"/>
              <a:t>Automated rule base support</a:t>
            </a:r>
          </a:p>
          <a:p>
            <a:pPr>
              <a:lnSpc>
                <a:spcPct val="150000"/>
              </a:lnSpc>
            </a:pPr>
            <a:r>
              <a:rPr lang="en-US" sz="1600" dirty="0" smtClean="0"/>
              <a:t>Compatible with DAN</a:t>
            </a:r>
          </a:p>
          <a:p>
            <a:pPr marL="0" indent="0">
              <a:lnSpc>
                <a:spcPct val="150000"/>
              </a:lnSpc>
              <a:buNone/>
            </a:pPr>
            <a:endParaRPr lang="en-US" dirty="0" smtClean="0"/>
          </a:p>
          <a:p>
            <a:pPr marL="0" indent="0">
              <a:buFont typeface="Arial"/>
              <a:buNone/>
            </a:pPr>
            <a:endParaRPr lang="en-US" b="1" dirty="0" smtClean="0"/>
          </a:p>
          <a:p>
            <a:pPr marL="0" indent="0">
              <a:buFont typeface="Arial"/>
              <a:buNone/>
            </a:pPr>
            <a:endParaRPr lang="en-US" b="1" dirty="0" smtClean="0"/>
          </a:p>
          <a:p>
            <a:endParaRPr lang="en-US" dirty="0"/>
          </a:p>
        </p:txBody>
      </p:sp>
      <p:pic>
        <p:nvPicPr>
          <p:cNvPr id="5" name="Picture 4"/>
          <p:cNvPicPr>
            <a:picLocks noChangeAspect="1"/>
          </p:cNvPicPr>
          <p:nvPr/>
        </p:nvPicPr>
        <p:blipFill>
          <a:blip r:embed="rId2"/>
          <a:stretch>
            <a:fillRect/>
          </a:stretch>
        </p:blipFill>
        <p:spPr>
          <a:xfrm>
            <a:off x="6463020" y="427271"/>
            <a:ext cx="1399560" cy="2277784"/>
          </a:xfrm>
          <a:prstGeom prst="rect">
            <a:avLst/>
          </a:prstGeom>
        </p:spPr>
      </p:pic>
      <p:pic>
        <p:nvPicPr>
          <p:cNvPr id="6" name="Picture 5"/>
          <p:cNvPicPr>
            <a:picLocks noChangeAspect="1"/>
          </p:cNvPicPr>
          <p:nvPr/>
        </p:nvPicPr>
        <p:blipFill rotWithShape="1">
          <a:blip r:embed="rId3"/>
          <a:srcRect t="22411"/>
          <a:stretch/>
        </p:blipFill>
        <p:spPr>
          <a:xfrm>
            <a:off x="3657600" y="2952750"/>
            <a:ext cx="2200275" cy="1707171"/>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5037" y="2859142"/>
            <a:ext cx="2133600" cy="1506855"/>
          </a:xfrm>
          <a:prstGeom prst="rect">
            <a:avLst/>
          </a:prstGeom>
        </p:spPr>
      </p:pic>
    </p:spTree>
    <p:extLst>
      <p:ext uri="{BB962C8B-B14F-4D97-AF65-F5344CB8AC3E}">
        <p14:creationId xmlns:p14="http://schemas.microsoft.com/office/powerpoint/2010/main" val="3083171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Microcore</a:t>
            </a:r>
            <a:r>
              <a:rPr lang="en-US" dirty="0"/>
              <a:t> and </a:t>
            </a:r>
            <a:r>
              <a:rPr lang="en-US" dirty="0" err="1"/>
              <a:t>Microperimeters</a:t>
            </a:r>
            <a:r>
              <a:rPr lang="en-US" dirty="0"/>
              <a:t> (MCAP)</a:t>
            </a:r>
          </a:p>
        </p:txBody>
      </p:sp>
      <p:sp>
        <p:nvSpPr>
          <p:cNvPr id="3" name="Content Placeholder 2"/>
          <p:cNvSpPr>
            <a:spLocks noGrp="1"/>
          </p:cNvSpPr>
          <p:nvPr>
            <p:ph idx="1"/>
          </p:nvPr>
        </p:nvSpPr>
        <p:spPr/>
        <p:txBody>
          <a:bodyPr/>
          <a:lstStyle/>
          <a:p>
            <a:pPr>
              <a:lnSpc>
                <a:spcPct val="150000"/>
              </a:lnSpc>
            </a:pPr>
            <a:r>
              <a:rPr lang="en-US" sz="1800" dirty="0"/>
              <a:t>Every Interface connected to SG </a:t>
            </a:r>
          </a:p>
          <a:p>
            <a:pPr>
              <a:lnSpc>
                <a:spcPct val="150000"/>
              </a:lnSpc>
            </a:pPr>
            <a:r>
              <a:rPr lang="en-US" sz="1800" dirty="0"/>
              <a:t>Creates protected L2 switching zone</a:t>
            </a:r>
          </a:p>
          <a:p>
            <a:pPr>
              <a:lnSpc>
                <a:spcPct val="150000"/>
              </a:lnSpc>
            </a:pPr>
            <a:r>
              <a:rPr lang="en-US" sz="1800" dirty="0"/>
              <a:t>Members of MCAP should share similar functionality and global policy attributes</a:t>
            </a:r>
          </a:p>
          <a:p>
            <a:pPr>
              <a:lnSpc>
                <a:spcPct val="150000"/>
              </a:lnSpc>
            </a:pPr>
            <a:r>
              <a:rPr lang="en-US" sz="1800" dirty="0" smtClean="0"/>
              <a:t>Can be more </a:t>
            </a:r>
            <a:r>
              <a:rPr lang="en-US" sz="1800" dirty="0"/>
              <a:t>specific than traditional </a:t>
            </a:r>
            <a:r>
              <a:rPr lang="en-US" sz="1800" dirty="0" smtClean="0"/>
              <a:t>DMZ</a:t>
            </a:r>
            <a:endParaRPr lang="en-US" sz="1800" dirty="0"/>
          </a:p>
          <a:p>
            <a:pPr>
              <a:lnSpc>
                <a:spcPct val="150000"/>
              </a:lnSpc>
            </a:pPr>
            <a:endParaRPr lang="en-US" sz="1800" dirty="0"/>
          </a:p>
        </p:txBody>
      </p:sp>
    </p:spTree>
    <p:extLst>
      <p:ext uri="{BB962C8B-B14F-4D97-AF65-F5344CB8AC3E}">
        <p14:creationId xmlns:p14="http://schemas.microsoft.com/office/powerpoint/2010/main" val="17505421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Acquisition Network (DAN)</a:t>
            </a:r>
            <a:endParaRPr lang="en-US" dirty="0"/>
          </a:p>
        </p:txBody>
      </p:sp>
      <p:sp>
        <p:nvSpPr>
          <p:cNvPr id="3" name="Content Placeholder 2"/>
          <p:cNvSpPr>
            <a:spLocks noGrp="1"/>
          </p:cNvSpPr>
          <p:nvPr>
            <p:ph idx="1"/>
          </p:nvPr>
        </p:nvSpPr>
        <p:spPr/>
        <p:txBody>
          <a:bodyPr/>
          <a:lstStyle/>
          <a:p>
            <a:pPr>
              <a:lnSpc>
                <a:spcPct val="150000"/>
              </a:lnSpc>
            </a:pPr>
            <a:r>
              <a:rPr lang="en-US" sz="1800" dirty="0" smtClean="0"/>
              <a:t>Confined network dedicated to log analysis</a:t>
            </a:r>
            <a:endParaRPr lang="en-US" sz="1800" dirty="0"/>
          </a:p>
          <a:p>
            <a:pPr>
              <a:lnSpc>
                <a:spcPct val="150000"/>
              </a:lnSpc>
            </a:pPr>
            <a:r>
              <a:rPr lang="en-US" sz="1800" dirty="0" smtClean="0"/>
              <a:t>All traffic to and from each SA interface logged</a:t>
            </a:r>
          </a:p>
          <a:p>
            <a:pPr>
              <a:lnSpc>
                <a:spcPct val="150000"/>
              </a:lnSpc>
            </a:pPr>
            <a:r>
              <a:rPr lang="en-US" sz="1800" dirty="0" smtClean="0"/>
              <a:t>Security Information and Event Management (SIEM)</a:t>
            </a:r>
          </a:p>
          <a:p>
            <a:pPr>
              <a:lnSpc>
                <a:spcPct val="150000"/>
              </a:lnSpc>
            </a:pPr>
            <a:r>
              <a:rPr lang="en-US" sz="1800" dirty="0" smtClean="0"/>
              <a:t>Network Analysis and Visibility (NAV)</a:t>
            </a:r>
          </a:p>
          <a:p>
            <a:pPr>
              <a:lnSpc>
                <a:spcPct val="150000"/>
              </a:lnSpc>
            </a:pPr>
            <a:r>
              <a:rPr lang="en-US" sz="1800" dirty="0" smtClean="0"/>
              <a:t>Enables quicker TTR and </a:t>
            </a:r>
            <a:r>
              <a:rPr lang="en-US" sz="1800" smtClean="0"/>
              <a:t>event discovery</a:t>
            </a:r>
            <a:endParaRPr lang="en-US" sz="1800" dirty="0"/>
          </a:p>
          <a:p>
            <a:pPr marL="0" indent="0">
              <a:lnSpc>
                <a:spcPct val="150000"/>
              </a:lnSpc>
              <a:buNone/>
            </a:pPr>
            <a:endParaRPr lang="en-US" sz="1800" dirty="0"/>
          </a:p>
          <a:p>
            <a:pPr>
              <a:lnSpc>
                <a:spcPct val="150000"/>
              </a:lnSpc>
            </a:pPr>
            <a:endParaRPr lang="en-US" sz="1800" dirty="0"/>
          </a:p>
        </p:txBody>
      </p:sp>
    </p:spTree>
    <p:extLst>
      <p:ext uri="{BB962C8B-B14F-4D97-AF65-F5344CB8AC3E}">
        <p14:creationId xmlns:p14="http://schemas.microsoft.com/office/powerpoint/2010/main" val="21496009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Picture 47"/>
          <p:cNvPicPr>
            <a:picLocks noChangeAspect="1"/>
          </p:cNvPicPr>
          <p:nvPr/>
        </p:nvPicPr>
        <p:blipFill>
          <a:blip r:embed="rId3"/>
          <a:stretch>
            <a:fillRect/>
          </a:stretch>
        </p:blipFill>
        <p:spPr>
          <a:xfrm>
            <a:off x="5105400" y="3845226"/>
            <a:ext cx="748254" cy="707724"/>
          </a:xfrm>
          <a:prstGeom prst="rect">
            <a:avLst/>
          </a:prstGeom>
        </p:spPr>
      </p:pic>
      <p:pic>
        <p:nvPicPr>
          <p:cNvPr id="12" name="Picture 11"/>
          <p:cNvPicPr>
            <a:picLocks noChangeAspect="1"/>
          </p:cNvPicPr>
          <p:nvPr/>
        </p:nvPicPr>
        <p:blipFill>
          <a:blip r:embed="rId4"/>
          <a:stretch>
            <a:fillRect/>
          </a:stretch>
        </p:blipFill>
        <p:spPr>
          <a:xfrm>
            <a:off x="1447800" y="2495550"/>
            <a:ext cx="825600" cy="827733"/>
          </a:xfrm>
          <a:prstGeom prst="rect">
            <a:avLst/>
          </a:prstGeom>
        </p:spPr>
      </p:pic>
      <p:sp>
        <p:nvSpPr>
          <p:cNvPr id="2" name="Title 1"/>
          <p:cNvSpPr>
            <a:spLocks noGrp="1"/>
          </p:cNvSpPr>
          <p:nvPr>
            <p:ph type="title"/>
          </p:nvPr>
        </p:nvSpPr>
        <p:spPr>
          <a:xfrm>
            <a:off x="685800" y="446306"/>
            <a:ext cx="7772400" cy="685800"/>
          </a:xfrm>
        </p:spPr>
        <p:txBody>
          <a:bodyPr/>
          <a:lstStyle/>
          <a:p>
            <a:r>
              <a:rPr lang="en-US" dirty="0" smtClean="0"/>
              <a:t>Network Design</a:t>
            </a:r>
            <a:endParaRPr lang="en-US" dirty="0"/>
          </a:p>
        </p:txBody>
      </p:sp>
      <p:pic>
        <p:nvPicPr>
          <p:cNvPr id="10" name="Picture 9"/>
          <p:cNvPicPr>
            <a:picLocks noChangeAspect="1"/>
          </p:cNvPicPr>
          <p:nvPr/>
        </p:nvPicPr>
        <p:blipFill>
          <a:blip r:embed="rId5"/>
          <a:stretch>
            <a:fillRect/>
          </a:stretch>
        </p:blipFill>
        <p:spPr>
          <a:xfrm>
            <a:off x="1447800" y="1279416"/>
            <a:ext cx="819150" cy="821267"/>
          </a:xfrm>
          <a:prstGeom prst="rect">
            <a:avLst/>
          </a:prstGeom>
        </p:spPr>
      </p:pic>
      <p:pic>
        <p:nvPicPr>
          <p:cNvPr id="11" name="Picture 10"/>
          <p:cNvPicPr>
            <a:picLocks noChangeAspect="1"/>
          </p:cNvPicPr>
          <p:nvPr/>
        </p:nvPicPr>
        <p:blipFill>
          <a:blip r:embed="rId4"/>
          <a:stretch>
            <a:fillRect/>
          </a:stretch>
        </p:blipFill>
        <p:spPr>
          <a:xfrm>
            <a:off x="1447800" y="1232764"/>
            <a:ext cx="825600" cy="827733"/>
          </a:xfrm>
          <a:prstGeom prst="rect">
            <a:avLst/>
          </a:prstGeom>
        </p:spPr>
      </p:pic>
      <p:pic>
        <p:nvPicPr>
          <p:cNvPr id="13" name="Picture 12"/>
          <p:cNvPicPr>
            <a:picLocks noChangeAspect="1"/>
          </p:cNvPicPr>
          <p:nvPr/>
        </p:nvPicPr>
        <p:blipFill>
          <a:blip r:embed="rId4"/>
          <a:stretch>
            <a:fillRect/>
          </a:stretch>
        </p:blipFill>
        <p:spPr>
          <a:xfrm>
            <a:off x="1447800" y="3749808"/>
            <a:ext cx="825600" cy="827733"/>
          </a:xfrm>
          <a:prstGeom prst="rect">
            <a:avLst/>
          </a:prstGeom>
        </p:spPr>
      </p:pic>
      <p:pic>
        <p:nvPicPr>
          <p:cNvPr id="14" name="Picture 13"/>
          <p:cNvPicPr>
            <a:picLocks noChangeAspect="1"/>
          </p:cNvPicPr>
          <p:nvPr/>
        </p:nvPicPr>
        <p:blipFill>
          <a:blip r:embed="rId4"/>
          <a:stretch>
            <a:fillRect/>
          </a:stretch>
        </p:blipFill>
        <p:spPr>
          <a:xfrm>
            <a:off x="3222227" y="3749808"/>
            <a:ext cx="825600" cy="827733"/>
          </a:xfrm>
          <a:prstGeom prst="rect">
            <a:avLst/>
          </a:prstGeom>
        </p:spPr>
      </p:pic>
      <p:pic>
        <p:nvPicPr>
          <p:cNvPr id="16" name="Picture 15"/>
          <p:cNvPicPr>
            <a:picLocks noChangeAspect="1"/>
          </p:cNvPicPr>
          <p:nvPr/>
        </p:nvPicPr>
        <p:blipFill>
          <a:blip r:embed="rId4"/>
          <a:stretch>
            <a:fillRect/>
          </a:stretch>
        </p:blipFill>
        <p:spPr>
          <a:xfrm>
            <a:off x="5027398" y="3749808"/>
            <a:ext cx="825600" cy="827733"/>
          </a:xfrm>
          <a:prstGeom prst="rect">
            <a:avLst/>
          </a:prstGeom>
        </p:spPr>
      </p:pic>
      <p:pic>
        <p:nvPicPr>
          <p:cNvPr id="17" name="Picture 16"/>
          <p:cNvPicPr>
            <a:picLocks noChangeAspect="1"/>
          </p:cNvPicPr>
          <p:nvPr/>
        </p:nvPicPr>
        <p:blipFill>
          <a:blip r:embed="rId4"/>
          <a:stretch>
            <a:fillRect/>
          </a:stretch>
        </p:blipFill>
        <p:spPr>
          <a:xfrm>
            <a:off x="6738895" y="1236083"/>
            <a:ext cx="825600" cy="827733"/>
          </a:xfrm>
          <a:prstGeom prst="rect">
            <a:avLst/>
          </a:prstGeom>
        </p:spPr>
      </p:pic>
      <p:pic>
        <p:nvPicPr>
          <p:cNvPr id="18" name="Picture 17"/>
          <p:cNvPicPr>
            <a:picLocks noChangeAspect="1"/>
          </p:cNvPicPr>
          <p:nvPr/>
        </p:nvPicPr>
        <p:blipFill>
          <a:blip r:embed="rId4"/>
          <a:stretch>
            <a:fillRect/>
          </a:stretch>
        </p:blipFill>
        <p:spPr>
          <a:xfrm>
            <a:off x="6738895" y="2495550"/>
            <a:ext cx="825600" cy="827733"/>
          </a:xfrm>
          <a:prstGeom prst="rect">
            <a:avLst/>
          </a:prstGeom>
        </p:spPr>
      </p:pic>
      <p:pic>
        <p:nvPicPr>
          <p:cNvPr id="19" name="Picture 18"/>
          <p:cNvPicPr>
            <a:picLocks noChangeAspect="1"/>
          </p:cNvPicPr>
          <p:nvPr/>
        </p:nvPicPr>
        <p:blipFill>
          <a:blip r:embed="rId4"/>
          <a:stretch>
            <a:fillRect/>
          </a:stretch>
        </p:blipFill>
        <p:spPr>
          <a:xfrm>
            <a:off x="6738895" y="3749808"/>
            <a:ext cx="825600" cy="827733"/>
          </a:xfrm>
          <a:prstGeom prst="rect">
            <a:avLst/>
          </a:prstGeom>
        </p:spPr>
      </p:pic>
      <p:sp>
        <p:nvSpPr>
          <p:cNvPr id="20" name="TextBox 19"/>
          <p:cNvSpPr txBox="1"/>
          <p:nvPr/>
        </p:nvSpPr>
        <p:spPr>
          <a:xfrm>
            <a:off x="1219200" y="2013844"/>
            <a:ext cx="1359000" cy="307777"/>
          </a:xfrm>
          <a:prstGeom prst="rect">
            <a:avLst/>
          </a:prstGeom>
          <a:noFill/>
        </p:spPr>
        <p:txBody>
          <a:bodyPr wrap="square" rtlCol="0">
            <a:spAutoFit/>
          </a:bodyPr>
          <a:lstStyle/>
          <a:p>
            <a:r>
              <a:rPr lang="en-US" sz="1400" dirty="0" smtClean="0"/>
              <a:t>WLAN MCAP</a:t>
            </a:r>
            <a:endParaRPr lang="en-US" sz="1400" dirty="0"/>
          </a:p>
        </p:txBody>
      </p:sp>
      <p:pic>
        <p:nvPicPr>
          <p:cNvPr id="22" name="Picture 21"/>
          <p:cNvPicPr>
            <a:picLocks noChangeAspect="1"/>
          </p:cNvPicPr>
          <p:nvPr/>
        </p:nvPicPr>
        <p:blipFill>
          <a:blip r:embed="rId6"/>
          <a:stretch>
            <a:fillRect/>
          </a:stretch>
        </p:blipFill>
        <p:spPr>
          <a:xfrm>
            <a:off x="2185950" y="1137385"/>
            <a:ext cx="619200" cy="549667"/>
          </a:xfrm>
          <a:prstGeom prst="rect">
            <a:avLst/>
          </a:prstGeom>
        </p:spPr>
      </p:pic>
      <p:sp>
        <p:nvSpPr>
          <p:cNvPr id="23" name="TextBox 22"/>
          <p:cNvSpPr txBox="1"/>
          <p:nvPr/>
        </p:nvSpPr>
        <p:spPr>
          <a:xfrm>
            <a:off x="1219200" y="4556307"/>
            <a:ext cx="1423220" cy="307777"/>
          </a:xfrm>
          <a:prstGeom prst="rect">
            <a:avLst/>
          </a:prstGeom>
          <a:noFill/>
        </p:spPr>
        <p:txBody>
          <a:bodyPr wrap="square" rtlCol="0">
            <a:spAutoFit/>
          </a:bodyPr>
          <a:lstStyle/>
          <a:p>
            <a:r>
              <a:rPr lang="en-US" sz="1400" dirty="0" smtClean="0"/>
              <a:t>3</a:t>
            </a:r>
            <a:r>
              <a:rPr lang="en-US" sz="1400" baseline="30000" dirty="0" smtClean="0"/>
              <a:t>rd</a:t>
            </a:r>
            <a:r>
              <a:rPr lang="en-US" sz="1400" dirty="0" smtClean="0"/>
              <a:t> Party MCAP</a:t>
            </a:r>
            <a:endParaRPr lang="en-US" sz="1400" dirty="0"/>
          </a:p>
        </p:txBody>
      </p:sp>
      <p:sp>
        <p:nvSpPr>
          <p:cNvPr id="24" name="TextBox 23"/>
          <p:cNvSpPr txBox="1"/>
          <p:nvPr/>
        </p:nvSpPr>
        <p:spPr>
          <a:xfrm>
            <a:off x="2996376" y="4561790"/>
            <a:ext cx="1359000" cy="307777"/>
          </a:xfrm>
          <a:prstGeom prst="rect">
            <a:avLst/>
          </a:prstGeom>
          <a:noFill/>
        </p:spPr>
        <p:txBody>
          <a:bodyPr wrap="square" rtlCol="0">
            <a:spAutoFit/>
          </a:bodyPr>
          <a:lstStyle/>
          <a:p>
            <a:pPr algn="ctr"/>
            <a:r>
              <a:rPr lang="en-US" sz="1400" dirty="0" smtClean="0"/>
              <a:t>MGMT MCAP</a:t>
            </a:r>
            <a:endParaRPr lang="en-US" sz="1400" dirty="0"/>
          </a:p>
        </p:txBody>
      </p:sp>
      <p:sp>
        <p:nvSpPr>
          <p:cNvPr id="26" name="TextBox 25"/>
          <p:cNvSpPr txBox="1"/>
          <p:nvPr/>
        </p:nvSpPr>
        <p:spPr>
          <a:xfrm>
            <a:off x="4800600" y="4561791"/>
            <a:ext cx="1359000" cy="307777"/>
          </a:xfrm>
          <a:prstGeom prst="rect">
            <a:avLst/>
          </a:prstGeom>
          <a:noFill/>
        </p:spPr>
        <p:txBody>
          <a:bodyPr wrap="square" rtlCol="0">
            <a:spAutoFit/>
          </a:bodyPr>
          <a:lstStyle/>
          <a:p>
            <a:pPr algn="ctr"/>
            <a:r>
              <a:rPr lang="en-US" sz="1400" dirty="0" smtClean="0"/>
              <a:t>DAN MCAP</a:t>
            </a:r>
            <a:endParaRPr lang="en-US" sz="1400" dirty="0"/>
          </a:p>
        </p:txBody>
      </p:sp>
      <p:sp>
        <p:nvSpPr>
          <p:cNvPr id="27" name="TextBox 26"/>
          <p:cNvSpPr txBox="1"/>
          <p:nvPr/>
        </p:nvSpPr>
        <p:spPr>
          <a:xfrm>
            <a:off x="6386398" y="4568928"/>
            <a:ext cx="1531147" cy="307777"/>
          </a:xfrm>
          <a:prstGeom prst="rect">
            <a:avLst/>
          </a:prstGeom>
          <a:noFill/>
        </p:spPr>
        <p:txBody>
          <a:bodyPr wrap="square" rtlCol="0">
            <a:spAutoFit/>
          </a:bodyPr>
          <a:lstStyle/>
          <a:p>
            <a:r>
              <a:rPr lang="en-US" sz="1400" dirty="0" smtClean="0"/>
              <a:t>Database MCAP</a:t>
            </a:r>
            <a:endParaRPr lang="en-US" sz="1400" dirty="0"/>
          </a:p>
        </p:txBody>
      </p:sp>
      <p:sp>
        <p:nvSpPr>
          <p:cNvPr id="28" name="TextBox 27"/>
          <p:cNvSpPr txBox="1"/>
          <p:nvPr/>
        </p:nvSpPr>
        <p:spPr>
          <a:xfrm>
            <a:off x="6543678" y="3286328"/>
            <a:ext cx="1685922" cy="307777"/>
          </a:xfrm>
          <a:prstGeom prst="rect">
            <a:avLst/>
          </a:prstGeom>
          <a:noFill/>
        </p:spPr>
        <p:txBody>
          <a:bodyPr wrap="square" rtlCol="0">
            <a:spAutoFit/>
          </a:bodyPr>
          <a:lstStyle/>
          <a:p>
            <a:r>
              <a:rPr lang="en-US" sz="1400" dirty="0" smtClean="0"/>
              <a:t>Application MCAP</a:t>
            </a:r>
            <a:endParaRPr lang="en-US" sz="1400" dirty="0"/>
          </a:p>
        </p:txBody>
      </p:sp>
      <p:sp>
        <p:nvSpPr>
          <p:cNvPr id="29" name="TextBox 28"/>
          <p:cNvSpPr txBox="1"/>
          <p:nvPr/>
        </p:nvSpPr>
        <p:spPr>
          <a:xfrm>
            <a:off x="6472195" y="2010867"/>
            <a:ext cx="1359000" cy="307777"/>
          </a:xfrm>
          <a:prstGeom prst="rect">
            <a:avLst/>
          </a:prstGeom>
          <a:noFill/>
        </p:spPr>
        <p:txBody>
          <a:bodyPr wrap="square" rtlCol="0">
            <a:spAutoFit/>
          </a:bodyPr>
          <a:lstStyle/>
          <a:p>
            <a:r>
              <a:rPr lang="en-US" sz="1400" dirty="0" smtClean="0"/>
              <a:t>WWW MCAP</a:t>
            </a:r>
            <a:endParaRPr lang="en-US" sz="1400" dirty="0"/>
          </a:p>
        </p:txBody>
      </p:sp>
      <p:sp>
        <p:nvSpPr>
          <p:cNvPr id="30" name="TextBox 29"/>
          <p:cNvSpPr txBox="1"/>
          <p:nvPr/>
        </p:nvSpPr>
        <p:spPr>
          <a:xfrm>
            <a:off x="1219124" y="3285594"/>
            <a:ext cx="1359000" cy="307777"/>
          </a:xfrm>
          <a:prstGeom prst="rect">
            <a:avLst/>
          </a:prstGeom>
          <a:noFill/>
        </p:spPr>
        <p:txBody>
          <a:bodyPr wrap="square" rtlCol="0">
            <a:spAutoFit/>
          </a:bodyPr>
          <a:lstStyle/>
          <a:p>
            <a:pPr algn="ctr"/>
            <a:r>
              <a:rPr lang="en-US" sz="1400" dirty="0" smtClean="0"/>
              <a:t>Users MCAP</a:t>
            </a:r>
            <a:endParaRPr lang="en-US" sz="1400" dirty="0"/>
          </a:p>
        </p:txBody>
      </p:sp>
      <p:pic>
        <p:nvPicPr>
          <p:cNvPr id="33" name="Picture 32"/>
          <p:cNvPicPr>
            <a:picLocks noChangeAspect="1"/>
          </p:cNvPicPr>
          <p:nvPr/>
        </p:nvPicPr>
        <p:blipFill>
          <a:blip r:embed="rId7"/>
          <a:stretch>
            <a:fillRect/>
          </a:stretch>
        </p:blipFill>
        <p:spPr>
          <a:xfrm>
            <a:off x="1493533" y="2628133"/>
            <a:ext cx="754650" cy="523800"/>
          </a:xfrm>
          <a:prstGeom prst="rect">
            <a:avLst/>
          </a:prstGeom>
        </p:spPr>
      </p:pic>
      <p:pic>
        <p:nvPicPr>
          <p:cNvPr id="34" name="Picture 33"/>
          <p:cNvPicPr>
            <a:picLocks noChangeAspect="1"/>
          </p:cNvPicPr>
          <p:nvPr/>
        </p:nvPicPr>
        <p:blipFill>
          <a:blip r:embed="rId6"/>
          <a:stretch>
            <a:fillRect/>
          </a:stretch>
        </p:blipFill>
        <p:spPr>
          <a:xfrm>
            <a:off x="2184040" y="2392508"/>
            <a:ext cx="619200" cy="549667"/>
          </a:xfrm>
          <a:prstGeom prst="rect">
            <a:avLst/>
          </a:prstGeom>
        </p:spPr>
      </p:pic>
      <p:pic>
        <p:nvPicPr>
          <p:cNvPr id="36" name="Picture 35"/>
          <p:cNvPicPr>
            <a:picLocks noChangeAspect="1"/>
          </p:cNvPicPr>
          <p:nvPr/>
        </p:nvPicPr>
        <p:blipFill>
          <a:blip r:embed="rId6"/>
          <a:stretch>
            <a:fillRect/>
          </a:stretch>
        </p:blipFill>
        <p:spPr>
          <a:xfrm>
            <a:off x="2155444" y="3617170"/>
            <a:ext cx="619200" cy="549667"/>
          </a:xfrm>
          <a:prstGeom prst="rect">
            <a:avLst/>
          </a:prstGeom>
        </p:spPr>
      </p:pic>
      <p:pic>
        <p:nvPicPr>
          <p:cNvPr id="37" name="Picture 36"/>
          <p:cNvPicPr>
            <a:picLocks noChangeAspect="1"/>
          </p:cNvPicPr>
          <p:nvPr/>
        </p:nvPicPr>
        <p:blipFill>
          <a:blip r:embed="rId6"/>
          <a:stretch>
            <a:fillRect/>
          </a:stretch>
        </p:blipFill>
        <p:spPr>
          <a:xfrm>
            <a:off x="3754215" y="3474974"/>
            <a:ext cx="619200" cy="549667"/>
          </a:xfrm>
          <a:prstGeom prst="rect">
            <a:avLst/>
          </a:prstGeom>
        </p:spPr>
      </p:pic>
      <p:pic>
        <p:nvPicPr>
          <p:cNvPr id="38" name="Picture 37"/>
          <p:cNvPicPr>
            <a:picLocks noChangeAspect="1"/>
          </p:cNvPicPr>
          <p:nvPr/>
        </p:nvPicPr>
        <p:blipFill>
          <a:blip r:embed="rId6"/>
          <a:stretch>
            <a:fillRect/>
          </a:stretch>
        </p:blipFill>
        <p:spPr>
          <a:xfrm>
            <a:off x="4704923" y="3474974"/>
            <a:ext cx="619200" cy="549667"/>
          </a:xfrm>
          <a:prstGeom prst="rect">
            <a:avLst/>
          </a:prstGeom>
        </p:spPr>
      </p:pic>
      <p:pic>
        <p:nvPicPr>
          <p:cNvPr id="39" name="Picture 38"/>
          <p:cNvPicPr>
            <a:picLocks noChangeAspect="1"/>
          </p:cNvPicPr>
          <p:nvPr/>
        </p:nvPicPr>
        <p:blipFill>
          <a:blip r:embed="rId6"/>
          <a:stretch>
            <a:fillRect/>
          </a:stretch>
        </p:blipFill>
        <p:spPr>
          <a:xfrm>
            <a:off x="6303694" y="3571222"/>
            <a:ext cx="619200" cy="549667"/>
          </a:xfrm>
          <a:prstGeom prst="rect">
            <a:avLst/>
          </a:prstGeom>
        </p:spPr>
      </p:pic>
      <p:pic>
        <p:nvPicPr>
          <p:cNvPr id="40" name="Picture 39"/>
          <p:cNvPicPr>
            <a:picLocks noChangeAspect="1"/>
          </p:cNvPicPr>
          <p:nvPr/>
        </p:nvPicPr>
        <p:blipFill>
          <a:blip r:embed="rId6"/>
          <a:stretch>
            <a:fillRect/>
          </a:stretch>
        </p:blipFill>
        <p:spPr>
          <a:xfrm>
            <a:off x="6278479" y="2327101"/>
            <a:ext cx="619200" cy="549667"/>
          </a:xfrm>
          <a:prstGeom prst="rect">
            <a:avLst/>
          </a:prstGeom>
        </p:spPr>
      </p:pic>
      <p:pic>
        <p:nvPicPr>
          <p:cNvPr id="41" name="Picture 40"/>
          <p:cNvPicPr>
            <a:picLocks noChangeAspect="1"/>
          </p:cNvPicPr>
          <p:nvPr/>
        </p:nvPicPr>
        <p:blipFill>
          <a:blip r:embed="rId6"/>
          <a:stretch>
            <a:fillRect/>
          </a:stretch>
        </p:blipFill>
        <p:spPr>
          <a:xfrm>
            <a:off x="6278479" y="1107683"/>
            <a:ext cx="619200" cy="549667"/>
          </a:xfrm>
          <a:prstGeom prst="rect">
            <a:avLst/>
          </a:prstGeom>
        </p:spPr>
      </p:pic>
      <p:pic>
        <p:nvPicPr>
          <p:cNvPr id="42" name="Picture 41"/>
          <p:cNvPicPr>
            <a:picLocks noChangeAspect="1"/>
          </p:cNvPicPr>
          <p:nvPr/>
        </p:nvPicPr>
        <p:blipFill>
          <a:blip r:embed="rId8"/>
          <a:stretch>
            <a:fillRect/>
          </a:stretch>
        </p:blipFill>
        <p:spPr>
          <a:xfrm>
            <a:off x="6787199" y="3932091"/>
            <a:ext cx="728992" cy="571774"/>
          </a:xfrm>
          <a:prstGeom prst="rect">
            <a:avLst/>
          </a:prstGeom>
        </p:spPr>
      </p:pic>
      <p:pic>
        <p:nvPicPr>
          <p:cNvPr id="43" name="Picture 42"/>
          <p:cNvPicPr>
            <a:picLocks noChangeAspect="1"/>
          </p:cNvPicPr>
          <p:nvPr/>
        </p:nvPicPr>
        <p:blipFill>
          <a:blip r:embed="rId9"/>
          <a:stretch>
            <a:fillRect/>
          </a:stretch>
        </p:blipFill>
        <p:spPr>
          <a:xfrm>
            <a:off x="3810000" y="301393"/>
            <a:ext cx="1426265" cy="963662"/>
          </a:xfrm>
          <a:prstGeom prst="rect">
            <a:avLst/>
          </a:prstGeom>
        </p:spPr>
      </p:pic>
      <p:pic>
        <p:nvPicPr>
          <p:cNvPr id="45" name="Picture 44"/>
          <p:cNvPicPr>
            <a:picLocks noChangeAspect="1"/>
          </p:cNvPicPr>
          <p:nvPr/>
        </p:nvPicPr>
        <p:blipFill>
          <a:blip r:embed="rId7"/>
          <a:stretch>
            <a:fillRect/>
          </a:stretch>
        </p:blipFill>
        <p:spPr>
          <a:xfrm>
            <a:off x="1480050" y="3876070"/>
            <a:ext cx="754650" cy="523800"/>
          </a:xfrm>
          <a:prstGeom prst="rect">
            <a:avLst/>
          </a:prstGeom>
        </p:spPr>
      </p:pic>
      <p:pic>
        <p:nvPicPr>
          <p:cNvPr id="46" name="Picture 45"/>
          <p:cNvPicPr>
            <a:picLocks noChangeAspect="1"/>
          </p:cNvPicPr>
          <p:nvPr/>
        </p:nvPicPr>
        <p:blipFill>
          <a:blip r:embed="rId3"/>
          <a:stretch>
            <a:fillRect/>
          </a:stretch>
        </p:blipFill>
        <p:spPr>
          <a:xfrm>
            <a:off x="3264271" y="3813001"/>
            <a:ext cx="748254" cy="707724"/>
          </a:xfrm>
          <a:prstGeom prst="rect">
            <a:avLst/>
          </a:prstGeom>
        </p:spPr>
      </p:pic>
      <p:pic>
        <p:nvPicPr>
          <p:cNvPr id="47" name="Picture 46"/>
          <p:cNvPicPr>
            <a:picLocks noChangeAspect="1"/>
          </p:cNvPicPr>
          <p:nvPr/>
        </p:nvPicPr>
        <p:blipFill>
          <a:blip r:embed="rId10"/>
          <a:stretch>
            <a:fillRect/>
          </a:stretch>
        </p:blipFill>
        <p:spPr>
          <a:xfrm>
            <a:off x="4078083" y="401418"/>
            <a:ext cx="890100" cy="691933"/>
          </a:xfrm>
          <a:prstGeom prst="rect">
            <a:avLst/>
          </a:prstGeom>
        </p:spPr>
      </p:pic>
      <p:pic>
        <p:nvPicPr>
          <p:cNvPr id="49" name="Picture 48"/>
          <p:cNvPicPr>
            <a:picLocks noChangeAspect="1"/>
          </p:cNvPicPr>
          <p:nvPr/>
        </p:nvPicPr>
        <p:blipFill>
          <a:blip r:embed="rId11"/>
          <a:stretch>
            <a:fillRect/>
          </a:stretch>
        </p:blipFill>
        <p:spPr>
          <a:xfrm>
            <a:off x="6829281" y="2641108"/>
            <a:ext cx="644827" cy="595986"/>
          </a:xfrm>
          <a:prstGeom prst="rect">
            <a:avLst/>
          </a:prstGeom>
        </p:spPr>
      </p:pic>
      <p:pic>
        <p:nvPicPr>
          <p:cNvPr id="50" name="Picture 49"/>
          <p:cNvPicPr>
            <a:picLocks noChangeAspect="1"/>
          </p:cNvPicPr>
          <p:nvPr/>
        </p:nvPicPr>
        <p:blipFill>
          <a:blip r:embed="rId11"/>
          <a:stretch>
            <a:fillRect/>
          </a:stretch>
        </p:blipFill>
        <p:spPr>
          <a:xfrm>
            <a:off x="6824065" y="1386907"/>
            <a:ext cx="644827" cy="595986"/>
          </a:xfrm>
          <a:prstGeom prst="rect">
            <a:avLst/>
          </a:prstGeom>
        </p:spPr>
      </p:pic>
      <p:cxnSp>
        <p:nvCxnSpPr>
          <p:cNvPr id="52" name="Straight Connector 51"/>
          <p:cNvCxnSpPr>
            <a:stCxn id="22" idx="3"/>
          </p:cNvCxnSpPr>
          <p:nvPr/>
        </p:nvCxnSpPr>
        <p:spPr>
          <a:xfrm>
            <a:off x="2805150" y="1412219"/>
            <a:ext cx="1673975" cy="1184621"/>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54" name="Straight Connector 53"/>
          <p:cNvCxnSpPr>
            <a:stCxn id="34" idx="3"/>
          </p:cNvCxnSpPr>
          <p:nvPr/>
        </p:nvCxnSpPr>
        <p:spPr>
          <a:xfrm flipV="1">
            <a:off x="2803240" y="2588168"/>
            <a:ext cx="1702267" cy="79174"/>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56" name="Straight Connector 55"/>
          <p:cNvCxnSpPr>
            <a:stCxn id="36" idx="3"/>
          </p:cNvCxnSpPr>
          <p:nvPr/>
        </p:nvCxnSpPr>
        <p:spPr>
          <a:xfrm flipV="1">
            <a:off x="2774644" y="2596840"/>
            <a:ext cx="1720766" cy="1295164"/>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58" name="Straight Connector 57"/>
          <p:cNvCxnSpPr>
            <a:stCxn id="37" idx="0"/>
          </p:cNvCxnSpPr>
          <p:nvPr/>
        </p:nvCxnSpPr>
        <p:spPr>
          <a:xfrm flipV="1">
            <a:off x="4063815" y="2588168"/>
            <a:ext cx="415310" cy="886806"/>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0" name="Straight Connector 59"/>
          <p:cNvCxnSpPr>
            <a:stCxn id="38" idx="0"/>
          </p:cNvCxnSpPr>
          <p:nvPr/>
        </p:nvCxnSpPr>
        <p:spPr>
          <a:xfrm flipH="1" flipV="1">
            <a:off x="4492900" y="2596840"/>
            <a:ext cx="521623" cy="878134"/>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2" name="Straight Connector 61"/>
          <p:cNvCxnSpPr>
            <a:stCxn id="39" idx="1"/>
          </p:cNvCxnSpPr>
          <p:nvPr/>
        </p:nvCxnSpPr>
        <p:spPr>
          <a:xfrm flipH="1" flipV="1">
            <a:off x="4492900" y="2596840"/>
            <a:ext cx="1810794" cy="1249216"/>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4" name="Straight Connector 63"/>
          <p:cNvCxnSpPr>
            <a:stCxn id="40" idx="1"/>
          </p:cNvCxnSpPr>
          <p:nvPr/>
        </p:nvCxnSpPr>
        <p:spPr>
          <a:xfrm flipH="1" flipV="1">
            <a:off x="4491732" y="2596840"/>
            <a:ext cx="1786747" cy="5095"/>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6" name="Straight Connector 65"/>
          <p:cNvCxnSpPr>
            <a:stCxn id="41" idx="1"/>
          </p:cNvCxnSpPr>
          <p:nvPr/>
        </p:nvCxnSpPr>
        <p:spPr>
          <a:xfrm flipH="1">
            <a:off x="4479125" y="1382517"/>
            <a:ext cx="1799354" cy="1195167"/>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68" name="Straight Connector 67"/>
          <p:cNvCxnSpPr>
            <a:stCxn id="43" idx="2"/>
          </p:cNvCxnSpPr>
          <p:nvPr/>
        </p:nvCxnSpPr>
        <p:spPr>
          <a:xfrm flipH="1">
            <a:off x="4518114" y="1265055"/>
            <a:ext cx="5019" cy="1353121"/>
          </a:xfrm>
          <a:prstGeom prst="line">
            <a:avLst/>
          </a:prstGeom>
          <a:effectLst/>
        </p:spPr>
        <p:style>
          <a:lnRef idx="2">
            <a:schemeClr val="accent1"/>
          </a:lnRef>
          <a:fillRef idx="0">
            <a:schemeClr val="accent1"/>
          </a:fillRef>
          <a:effectRef idx="1">
            <a:schemeClr val="accent1"/>
          </a:effectRef>
          <a:fontRef idx="minor">
            <a:schemeClr val="tx1"/>
          </a:fontRef>
        </p:style>
      </p:cxnSp>
      <p:pic>
        <p:nvPicPr>
          <p:cNvPr id="4" name="Picture 3"/>
          <p:cNvPicPr>
            <a:picLocks noChangeAspect="1"/>
          </p:cNvPicPr>
          <p:nvPr/>
        </p:nvPicPr>
        <p:blipFill>
          <a:blip r:embed="rId12"/>
          <a:stretch>
            <a:fillRect/>
          </a:stretch>
        </p:blipFill>
        <p:spPr>
          <a:xfrm>
            <a:off x="3799276" y="1884566"/>
            <a:ext cx="1502850" cy="1325667"/>
          </a:xfrm>
          <a:prstGeom prst="rect">
            <a:avLst/>
          </a:prstGeom>
        </p:spPr>
      </p:pic>
    </p:spTree>
    <p:extLst>
      <p:ext uri="{BB962C8B-B14F-4D97-AF65-F5344CB8AC3E}">
        <p14:creationId xmlns:p14="http://schemas.microsoft.com/office/powerpoint/2010/main" val="4274614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childTnLst>
                          </p:cTn>
                        </p:par>
                        <p:par>
                          <p:cTn id="53" fill="hold">
                            <p:stCondLst>
                              <p:cond delay="0"/>
                            </p:stCondLst>
                            <p:childTnLst>
                              <p:par>
                                <p:cTn id="54" presetID="1" presetClass="entr" presetSubtype="0" fill="hold" grpId="0" nodeType="afterEffect">
                                  <p:stCondLst>
                                    <p:cond delay="0"/>
                                  </p:stCondLst>
                                  <p:childTnLst>
                                    <p:set>
                                      <p:cBhvr>
                                        <p:cTn id="55" dur="1" fill="hold">
                                          <p:stCondLst>
                                            <p:cond delay="0"/>
                                          </p:stCondLst>
                                        </p:cTn>
                                        <p:tgtEl>
                                          <p:spTgt spid="24"/>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58"/>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37"/>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48"/>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16"/>
                                        </p:tgtEl>
                                        <p:attrNameLst>
                                          <p:attrName>style.visibility</p:attrName>
                                        </p:attrNameLst>
                                      </p:cBhvr>
                                      <p:to>
                                        <p:strVal val="visible"/>
                                      </p:to>
                                    </p:set>
                                  </p:childTnLst>
                                </p:cTn>
                              </p:par>
                              <p:par>
                                <p:cTn id="66" presetID="1" presetClass="entr" presetSubtype="0" fill="hold" grpId="1" nodeType="withEffect">
                                  <p:stCondLst>
                                    <p:cond delay="0"/>
                                  </p:stCondLst>
                                  <p:childTnLst>
                                    <p:set>
                                      <p:cBhvr>
                                        <p:cTn id="67" dur="1" fill="hold">
                                          <p:stCondLst>
                                            <p:cond delay="0"/>
                                          </p:stCondLst>
                                        </p:cTn>
                                        <p:tgtEl>
                                          <p:spTgt spid="26"/>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60"/>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38"/>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17"/>
                                        </p:tgtEl>
                                        <p:attrNameLst>
                                          <p:attrName>style.visibility</p:attrName>
                                        </p:attrNameLst>
                                      </p:cBhvr>
                                      <p:to>
                                        <p:strVal val="visible"/>
                                      </p:to>
                                    </p:set>
                                  </p:childTnLst>
                                </p:cTn>
                              </p:par>
                              <p:par>
                                <p:cTn id="76" presetID="1" presetClass="entr" presetSubtype="0" fill="hold" nodeType="withEffect">
                                  <p:stCondLst>
                                    <p:cond delay="0"/>
                                  </p:stCondLst>
                                  <p:childTnLst>
                                    <p:set>
                                      <p:cBhvr>
                                        <p:cTn id="77" dur="1" fill="hold">
                                          <p:stCondLst>
                                            <p:cond delay="0"/>
                                          </p:stCondLst>
                                        </p:cTn>
                                        <p:tgtEl>
                                          <p:spTgt spid="18"/>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19"/>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27"/>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childTnLst>
                                </p:cTn>
                              </p:par>
                              <p:par>
                                <p:cTn id="86" presetID="1" presetClass="entr" presetSubtype="0" fill="hold" nodeType="withEffect">
                                  <p:stCondLst>
                                    <p:cond delay="0"/>
                                  </p:stCondLst>
                                  <p:childTnLst>
                                    <p:set>
                                      <p:cBhvr>
                                        <p:cTn id="87" dur="1" fill="hold">
                                          <p:stCondLst>
                                            <p:cond delay="0"/>
                                          </p:stCondLst>
                                        </p:cTn>
                                        <p:tgtEl>
                                          <p:spTgt spid="39"/>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40"/>
                                        </p:tgtEl>
                                        <p:attrNameLst>
                                          <p:attrName>style.visibility</p:attrName>
                                        </p:attrNameLst>
                                      </p:cBhvr>
                                      <p:to>
                                        <p:strVal val="visible"/>
                                      </p:to>
                                    </p:set>
                                  </p:childTnLst>
                                </p:cTn>
                              </p:par>
                              <p:par>
                                <p:cTn id="90" presetID="1" presetClass="entr" presetSubtype="0" fill="hold" nodeType="withEffect">
                                  <p:stCondLst>
                                    <p:cond delay="0"/>
                                  </p:stCondLst>
                                  <p:childTnLst>
                                    <p:set>
                                      <p:cBhvr>
                                        <p:cTn id="91" dur="1" fill="hold">
                                          <p:stCondLst>
                                            <p:cond delay="0"/>
                                          </p:stCondLst>
                                        </p:cTn>
                                        <p:tgtEl>
                                          <p:spTgt spid="41"/>
                                        </p:tgtEl>
                                        <p:attrNameLst>
                                          <p:attrName>style.visibility</p:attrName>
                                        </p:attrNameLst>
                                      </p:cBhvr>
                                      <p:to>
                                        <p:strVal val="visible"/>
                                      </p:to>
                                    </p:set>
                                  </p:childTnLst>
                                </p:cTn>
                              </p:par>
                              <p:par>
                                <p:cTn id="92" presetID="1" presetClass="entr" presetSubtype="0" fill="hold" nodeType="withEffect">
                                  <p:stCondLst>
                                    <p:cond delay="0"/>
                                  </p:stCondLst>
                                  <p:childTnLst>
                                    <p:set>
                                      <p:cBhvr>
                                        <p:cTn id="93" dur="1" fill="hold">
                                          <p:stCondLst>
                                            <p:cond delay="0"/>
                                          </p:stCondLst>
                                        </p:cTn>
                                        <p:tgtEl>
                                          <p:spTgt spid="42"/>
                                        </p:tgtEl>
                                        <p:attrNameLst>
                                          <p:attrName>style.visibility</p:attrName>
                                        </p:attrNameLst>
                                      </p:cBhvr>
                                      <p:to>
                                        <p:strVal val="visible"/>
                                      </p:to>
                                    </p:set>
                                  </p:childTnLst>
                                </p:cTn>
                              </p:par>
                              <p:par>
                                <p:cTn id="94" presetID="1" presetClass="entr" presetSubtype="0" fill="hold" nodeType="withEffect">
                                  <p:stCondLst>
                                    <p:cond delay="0"/>
                                  </p:stCondLst>
                                  <p:childTnLst>
                                    <p:set>
                                      <p:cBhvr>
                                        <p:cTn id="95" dur="1" fill="hold">
                                          <p:stCondLst>
                                            <p:cond delay="0"/>
                                          </p:stCondLst>
                                        </p:cTn>
                                        <p:tgtEl>
                                          <p:spTgt spid="49"/>
                                        </p:tgtEl>
                                        <p:attrNameLst>
                                          <p:attrName>style.visibility</p:attrName>
                                        </p:attrNameLst>
                                      </p:cBhvr>
                                      <p:to>
                                        <p:strVal val="visible"/>
                                      </p:to>
                                    </p:set>
                                  </p:childTnLst>
                                </p:cTn>
                              </p:par>
                              <p:par>
                                <p:cTn id="96" presetID="1" presetClass="entr" presetSubtype="0" fill="hold" nodeType="withEffect">
                                  <p:stCondLst>
                                    <p:cond delay="0"/>
                                  </p:stCondLst>
                                  <p:childTnLst>
                                    <p:set>
                                      <p:cBhvr>
                                        <p:cTn id="97" dur="1" fill="hold">
                                          <p:stCondLst>
                                            <p:cond delay="0"/>
                                          </p:stCondLst>
                                        </p:cTn>
                                        <p:tgtEl>
                                          <p:spTgt spid="50"/>
                                        </p:tgtEl>
                                        <p:attrNameLst>
                                          <p:attrName>style.visibility</p:attrName>
                                        </p:attrNameLst>
                                      </p:cBhvr>
                                      <p:to>
                                        <p:strVal val="visible"/>
                                      </p:to>
                                    </p:set>
                                  </p:childTnLst>
                                </p:cTn>
                              </p:par>
                              <p:par>
                                <p:cTn id="98" presetID="1" presetClass="entr" presetSubtype="0" fill="hold" nodeType="withEffect">
                                  <p:stCondLst>
                                    <p:cond delay="0"/>
                                  </p:stCondLst>
                                  <p:childTnLst>
                                    <p:set>
                                      <p:cBhvr>
                                        <p:cTn id="99" dur="1" fill="hold">
                                          <p:stCondLst>
                                            <p:cond delay="0"/>
                                          </p:stCondLst>
                                        </p:cTn>
                                        <p:tgtEl>
                                          <p:spTgt spid="66"/>
                                        </p:tgtEl>
                                        <p:attrNameLst>
                                          <p:attrName>style.visibility</p:attrName>
                                        </p:attrNameLst>
                                      </p:cBhvr>
                                      <p:to>
                                        <p:strVal val="visible"/>
                                      </p:to>
                                    </p:set>
                                  </p:childTnLst>
                                </p:cTn>
                              </p:par>
                              <p:par>
                                <p:cTn id="100" presetID="1" presetClass="entr" presetSubtype="0" fill="hold" nodeType="withEffect">
                                  <p:stCondLst>
                                    <p:cond delay="0"/>
                                  </p:stCondLst>
                                  <p:childTnLst>
                                    <p:set>
                                      <p:cBhvr>
                                        <p:cTn id="101" dur="1" fill="hold">
                                          <p:stCondLst>
                                            <p:cond delay="0"/>
                                          </p:stCondLst>
                                        </p:cTn>
                                        <p:tgtEl>
                                          <p:spTgt spid="64"/>
                                        </p:tgtEl>
                                        <p:attrNameLst>
                                          <p:attrName>style.visibility</p:attrName>
                                        </p:attrNameLst>
                                      </p:cBhvr>
                                      <p:to>
                                        <p:strVal val="visible"/>
                                      </p:to>
                                    </p:set>
                                  </p:childTnLst>
                                </p:cTn>
                              </p:par>
                              <p:par>
                                <p:cTn id="102" presetID="1" presetClass="entr" presetSubtype="0" fill="hold" nodeType="withEffect">
                                  <p:stCondLst>
                                    <p:cond delay="0"/>
                                  </p:stCondLst>
                                  <p:childTnLst>
                                    <p:set>
                                      <p:cBhvr>
                                        <p:cTn id="103"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3" grpId="0"/>
      <p:bldP spid="24" grpId="0"/>
      <p:bldP spid="26" grpId="1"/>
      <p:bldP spid="27" grpId="0"/>
      <p:bldP spid="28" grpId="0"/>
      <p:bldP spid="29" grpId="0"/>
      <p:bldP spid="3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3"/>
          <a:stretch>
            <a:fillRect/>
          </a:stretch>
        </p:blipFill>
        <p:spPr>
          <a:xfrm>
            <a:off x="2411718" y="113331"/>
            <a:ext cx="3939564" cy="2565396"/>
          </a:xfrm>
          <a:prstGeom prst="rect">
            <a:avLst/>
          </a:prstGeom>
        </p:spPr>
      </p:pic>
      <p:grpSp>
        <p:nvGrpSpPr>
          <p:cNvPr id="10" name="Group 9"/>
          <p:cNvGrpSpPr/>
          <p:nvPr/>
        </p:nvGrpSpPr>
        <p:grpSpPr>
          <a:xfrm>
            <a:off x="1181100" y="3257550"/>
            <a:ext cx="6477000" cy="1752600"/>
            <a:chOff x="990600" y="3181350"/>
            <a:chExt cx="6477000" cy="1752600"/>
          </a:xfrm>
        </p:grpSpPr>
        <p:sp>
          <p:nvSpPr>
            <p:cNvPr id="8" name="Wave 7"/>
            <p:cNvSpPr/>
            <p:nvPr/>
          </p:nvSpPr>
          <p:spPr>
            <a:xfrm>
              <a:off x="990600" y="3181350"/>
              <a:ext cx="6400800" cy="1752600"/>
            </a:xfrm>
            <a:prstGeom prst="wav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p:nvPr/>
          </p:nvSpPr>
          <p:spPr>
            <a:xfrm>
              <a:off x="1066800" y="3678019"/>
              <a:ext cx="6400800" cy="677108"/>
            </a:xfrm>
            <a:prstGeom prst="rect">
              <a:avLst/>
            </a:prstGeom>
            <a:noFill/>
          </p:spPr>
          <p:txBody>
            <a:bodyPr wrap="square" rtlCol="0">
              <a:spAutoFit/>
            </a:bodyPr>
            <a:lstStyle/>
            <a:p>
              <a:r>
                <a:rPr lang="en-US" sz="1900" dirty="0" smtClean="0">
                  <a:solidFill>
                    <a:schemeClr val="bg1"/>
                  </a:solidFill>
                </a:rPr>
                <a:t>…Recommendation 2 – Reprioritize Federal Information Security Efforts Towards a Zero Trust Model…</a:t>
              </a:r>
              <a:endParaRPr lang="en-US" sz="1900" dirty="0">
                <a:solidFill>
                  <a:schemeClr val="bg1"/>
                </a:solidFill>
              </a:endParaRPr>
            </a:p>
          </p:txBody>
        </p:sp>
      </p:grpSp>
      <p:pic>
        <p:nvPicPr>
          <p:cNvPr id="11" name="Picture 10"/>
          <p:cNvPicPr>
            <a:picLocks noChangeAspect="1"/>
          </p:cNvPicPr>
          <p:nvPr/>
        </p:nvPicPr>
        <p:blipFill>
          <a:blip r:embed="rId4"/>
          <a:stretch>
            <a:fillRect/>
          </a:stretch>
        </p:blipFill>
        <p:spPr>
          <a:xfrm>
            <a:off x="3048000" y="2663273"/>
            <a:ext cx="2667000" cy="594277"/>
          </a:xfrm>
          <a:prstGeom prst="rect">
            <a:avLst/>
          </a:prstGeom>
        </p:spPr>
      </p:pic>
      <p:sp>
        <p:nvSpPr>
          <p:cNvPr id="12" name="TextBox 11"/>
          <p:cNvSpPr txBox="1"/>
          <p:nvPr/>
        </p:nvSpPr>
        <p:spPr>
          <a:xfrm>
            <a:off x="1290515" y="3199689"/>
            <a:ext cx="533400" cy="1107996"/>
          </a:xfrm>
          <a:prstGeom prst="rect">
            <a:avLst/>
          </a:prstGeom>
          <a:noFill/>
        </p:spPr>
        <p:txBody>
          <a:bodyPr wrap="square" rtlCol="0">
            <a:spAutoFit/>
          </a:bodyPr>
          <a:lstStyle/>
          <a:p>
            <a:r>
              <a:rPr lang="en-US" sz="6600" dirty="0" smtClean="0">
                <a:solidFill>
                  <a:schemeClr val="bg1"/>
                </a:solidFill>
              </a:rPr>
              <a:t>“</a:t>
            </a:r>
            <a:endParaRPr lang="en-US" sz="6600" dirty="0">
              <a:solidFill>
                <a:schemeClr val="bg1"/>
              </a:solidFill>
            </a:endParaRPr>
          </a:p>
        </p:txBody>
      </p:sp>
      <p:sp>
        <p:nvSpPr>
          <p:cNvPr id="13" name="TextBox 12"/>
          <p:cNvSpPr txBox="1"/>
          <p:nvPr/>
        </p:nvSpPr>
        <p:spPr>
          <a:xfrm>
            <a:off x="6743700" y="4130754"/>
            <a:ext cx="952500" cy="1107996"/>
          </a:xfrm>
          <a:prstGeom prst="rect">
            <a:avLst/>
          </a:prstGeom>
          <a:noFill/>
        </p:spPr>
        <p:txBody>
          <a:bodyPr wrap="square" rtlCol="0">
            <a:spAutoFit/>
          </a:bodyPr>
          <a:lstStyle/>
          <a:p>
            <a:r>
              <a:rPr lang="en-US" sz="6600" dirty="0" smtClean="0">
                <a:solidFill>
                  <a:schemeClr val="tx2"/>
                </a:solidFill>
              </a:rPr>
              <a:t>“</a:t>
            </a:r>
            <a:r>
              <a:rPr lang="en-US" sz="6600" dirty="0" smtClean="0">
                <a:solidFill>
                  <a:schemeClr val="bg1"/>
                </a:solidFill>
              </a:rPr>
              <a:t>”</a:t>
            </a:r>
            <a:endParaRPr lang="en-US" sz="6600" dirty="0">
              <a:solidFill>
                <a:schemeClr val="bg1"/>
              </a:solidFill>
            </a:endParaRPr>
          </a:p>
        </p:txBody>
      </p:sp>
    </p:spTree>
    <p:extLst>
      <p:ext uri="{BB962C8B-B14F-4D97-AF65-F5344CB8AC3E}">
        <p14:creationId xmlns:p14="http://schemas.microsoft.com/office/powerpoint/2010/main" val="121537424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1290515" y="3199689"/>
            <a:ext cx="533400" cy="1107996"/>
          </a:xfrm>
          <a:prstGeom prst="rect">
            <a:avLst/>
          </a:prstGeom>
          <a:noFill/>
        </p:spPr>
        <p:txBody>
          <a:bodyPr wrap="square" rtlCol="0">
            <a:spAutoFit/>
          </a:bodyPr>
          <a:lstStyle/>
          <a:p>
            <a:r>
              <a:rPr lang="en-US" sz="6600" dirty="0" smtClean="0">
                <a:solidFill>
                  <a:schemeClr val="bg1"/>
                </a:solidFill>
              </a:rPr>
              <a:t>“</a:t>
            </a:r>
            <a:endParaRPr lang="en-US" sz="6600" dirty="0">
              <a:solidFill>
                <a:schemeClr val="bg1"/>
              </a:solidFill>
            </a:endParaRPr>
          </a:p>
        </p:txBody>
      </p:sp>
      <p:sp>
        <p:nvSpPr>
          <p:cNvPr id="13" name="TextBox 12"/>
          <p:cNvSpPr txBox="1"/>
          <p:nvPr/>
        </p:nvSpPr>
        <p:spPr>
          <a:xfrm>
            <a:off x="6743700" y="4130754"/>
            <a:ext cx="952500" cy="1107996"/>
          </a:xfrm>
          <a:prstGeom prst="rect">
            <a:avLst/>
          </a:prstGeom>
          <a:noFill/>
        </p:spPr>
        <p:txBody>
          <a:bodyPr wrap="square" rtlCol="0">
            <a:spAutoFit/>
          </a:bodyPr>
          <a:lstStyle/>
          <a:p>
            <a:r>
              <a:rPr lang="en-US" sz="6600" dirty="0" smtClean="0">
                <a:solidFill>
                  <a:schemeClr val="bg1"/>
                </a:solidFill>
              </a:rPr>
              <a:t>”</a:t>
            </a:r>
            <a:endParaRPr lang="en-US" sz="6600" dirty="0">
              <a:solidFill>
                <a:schemeClr val="bg1"/>
              </a:solidFill>
            </a:endParaRPr>
          </a:p>
        </p:txBody>
      </p:sp>
      <p:pic>
        <p:nvPicPr>
          <p:cNvPr id="4" name="Picture 3"/>
          <p:cNvPicPr>
            <a:picLocks noChangeAspect="1"/>
          </p:cNvPicPr>
          <p:nvPr/>
        </p:nvPicPr>
        <p:blipFill>
          <a:blip r:embed="rId3"/>
          <a:stretch>
            <a:fillRect/>
          </a:stretch>
        </p:blipFill>
        <p:spPr>
          <a:xfrm>
            <a:off x="609600" y="2190750"/>
            <a:ext cx="7772400" cy="1419225"/>
          </a:xfrm>
          <a:prstGeom prst="rect">
            <a:avLst/>
          </a:prstGeom>
        </p:spPr>
      </p:pic>
      <p:sp>
        <p:nvSpPr>
          <p:cNvPr id="5" name="Rectangle 4"/>
          <p:cNvSpPr/>
          <p:nvPr/>
        </p:nvSpPr>
        <p:spPr>
          <a:xfrm>
            <a:off x="2486276" y="4019550"/>
            <a:ext cx="4019049" cy="369332"/>
          </a:xfrm>
          <a:prstGeom prst="rect">
            <a:avLst/>
          </a:prstGeom>
        </p:spPr>
        <p:txBody>
          <a:bodyPr wrap="none">
            <a:spAutoFit/>
          </a:bodyPr>
          <a:lstStyle/>
          <a:p>
            <a:r>
              <a:rPr lang="en-US" dirty="0"/>
              <a:t>https://cloud.google.com/beyondcorp/</a:t>
            </a:r>
          </a:p>
        </p:txBody>
      </p:sp>
      <p:pic>
        <p:nvPicPr>
          <p:cNvPr id="7" name="Picture 6"/>
          <p:cNvPicPr>
            <a:picLocks noChangeAspect="1"/>
          </p:cNvPicPr>
          <p:nvPr/>
        </p:nvPicPr>
        <p:blipFill>
          <a:blip r:embed="rId4"/>
          <a:stretch>
            <a:fillRect/>
          </a:stretch>
        </p:blipFill>
        <p:spPr>
          <a:xfrm>
            <a:off x="2238375" y="426915"/>
            <a:ext cx="4514851" cy="1503446"/>
          </a:xfrm>
          <a:prstGeom prst="rect">
            <a:avLst/>
          </a:prstGeom>
        </p:spPr>
      </p:pic>
    </p:spTree>
    <p:extLst>
      <p:ext uri="{BB962C8B-B14F-4D97-AF65-F5344CB8AC3E}">
        <p14:creationId xmlns:p14="http://schemas.microsoft.com/office/powerpoint/2010/main" val="412392707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Limits I find within Zero Trust</a:t>
            </a:r>
            <a:endParaRPr lang="en-US" dirty="0"/>
          </a:p>
        </p:txBody>
      </p:sp>
      <p:sp>
        <p:nvSpPr>
          <p:cNvPr id="3" name="Content Placeholder 2"/>
          <p:cNvSpPr>
            <a:spLocks noGrp="1"/>
          </p:cNvSpPr>
          <p:nvPr>
            <p:ph idx="1"/>
          </p:nvPr>
        </p:nvSpPr>
        <p:spPr/>
        <p:txBody>
          <a:bodyPr/>
          <a:lstStyle/>
          <a:p>
            <a:pPr>
              <a:lnSpc>
                <a:spcPct val="150000"/>
              </a:lnSpc>
            </a:pPr>
            <a:r>
              <a:rPr lang="en-US" sz="1800" dirty="0" smtClean="0"/>
              <a:t>Costly in time and money to redesign large enterprise network</a:t>
            </a:r>
          </a:p>
          <a:p>
            <a:pPr>
              <a:lnSpc>
                <a:spcPct val="150000"/>
              </a:lnSpc>
            </a:pPr>
            <a:r>
              <a:rPr lang="en-US" sz="1800" dirty="0" smtClean="0"/>
              <a:t>Virtualization segmentation adds complexity</a:t>
            </a:r>
          </a:p>
          <a:p>
            <a:pPr>
              <a:lnSpc>
                <a:spcPct val="150000"/>
              </a:lnSpc>
            </a:pPr>
            <a:r>
              <a:rPr lang="en-US" sz="1800" dirty="0" smtClean="0"/>
              <a:t>Organizations may not be equipped to make use of additional logging data</a:t>
            </a:r>
          </a:p>
          <a:p>
            <a:pPr>
              <a:lnSpc>
                <a:spcPct val="150000"/>
              </a:lnSpc>
            </a:pPr>
            <a:r>
              <a:rPr lang="en-US" sz="1800" dirty="0" smtClean="0"/>
              <a:t>Network infrastructure may not support throughput/connectivity to route all traffic to Security Gateway</a:t>
            </a:r>
          </a:p>
          <a:p>
            <a:pPr>
              <a:lnSpc>
                <a:spcPct val="150000"/>
              </a:lnSpc>
            </a:pPr>
            <a:r>
              <a:rPr lang="en-US" sz="1800" dirty="0" smtClean="0"/>
              <a:t>Possibly limits productivity if user experience is degraded</a:t>
            </a:r>
          </a:p>
          <a:p>
            <a:pPr marL="0" indent="0">
              <a:buNone/>
            </a:pPr>
            <a:endParaRPr lang="en-US" dirty="0"/>
          </a:p>
        </p:txBody>
      </p:sp>
    </p:spTree>
    <p:extLst>
      <p:ext uri="{BB962C8B-B14F-4D97-AF65-F5344CB8AC3E}">
        <p14:creationId xmlns:p14="http://schemas.microsoft.com/office/powerpoint/2010/main" val="345891178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My Suggestions when Rolling out Zero Trust</a:t>
            </a:r>
            <a:endParaRPr lang="en-US" dirty="0"/>
          </a:p>
        </p:txBody>
      </p:sp>
      <p:sp>
        <p:nvSpPr>
          <p:cNvPr id="3" name="Content Placeholder 2"/>
          <p:cNvSpPr>
            <a:spLocks noGrp="1"/>
          </p:cNvSpPr>
          <p:nvPr>
            <p:ph idx="1"/>
          </p:nvPr>
        </p:nvSpPr>
        <p:spPr/>
        <p:txBody>
          <a:bodyPr/>
          <a:lstStyle/>
          <a:p>
            <a:pPr>
              <a:lnSpc>
                <a:spcPct val="150000"/>
              </a:lnSpc>
            </a:pPr>
            <a:r>
              <a:rPr lang="en-US" sz="1800" dirty="0"/>
              <a:t>Classify data based on business criticality</a:t>
            </a:r>
          </a:p>
          <a:p>
            <a:pPr>
              <a:lnSpc>
                <a:spcPct val="150000"/>
              </a:lnSpc>
            </a:pPr>
            <a:r>
              <a:rPr lang="en-US" sz="1800" dirty="0" smtClean="0"/>
              <a:t>Identify </a:t>
            </a:r>
            <a:r>
              <a:rPr lang="en-US" sz="1800" dirty="0"/>
              <a:t>data flows</a:t>
            </a:r>
          </a:p>
          <a:p>
            <a:pPr>
              <a:lnSpc>
                <a:spcPct val="150000"/>
              </a:lnSpc>
            </a:pPr>
            <a:r>
              <a:rPr lang="en-US" sz="1800" dirty="0"/>
              <a:t>Prepare log analytic tools for total network visibility</a:t>
            </a:r>
          </a:p>
          <a:p>
            <a:pPr>
              <a:lnSpc>
                <a:spcPct val="150000"/>
              </a:lnSpc>
            </a:pPr>
            <a:r>
              <a:rPr lang="en-US" sz="1800" dirty="0"/>
              <a:t>All access mediums must support user identification</a:t>
            </a:r>
          </a:p>
          <a:p>
            <a:pPr>
              <a:lnSpc>
                <a:spcPct val="150000"/>
              </a:lnSpc>
            </a:pPr>
            <a:r>
              <a:rPr lang="en-US" sz="1800" dirty="0"/>
              <a:t>Deploy SG with critical MCAPs first </a:t>
            </a:r>
          </a:p>
          <a:p>
            <a:pPr>
              <a:lnSpc>
                <a:spcPct val="150000"/>
              </a:lnSpc>
            </a:pPr>
            <a:r>
              <a:rPr lang="en-US" sz="1800" dirty="0"/>
              <a:t>Any new systems should be deployed in MCAP</a:t>
            </a:r>
          </a:p>
        </p:txBody>
      </p:sp>
    </p:spTree>
    <p:extLst>
      <p:ext uri="{BB962C8B-B14F-4D97-AF65-F5344CB8AC3E}">
        <p14:creationId xmlns:p14="http://schemas.microsoft.com/office/powerpoint/2010/main" val="11402937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Classify Data</a:t>
            </a:r>
            <a:endParaRPr lang="en-US" dirty="0"/>
          </a:p>
        </p:txBody>
      </p:sp>
      <p:sp>
        <p:nvSpPr>
          <p:cNvPr id="3" name="Content Placeholder 2"/>
          <p:cNvSpPr>
            <a:spLocks noGrp="1"/>
          </p:cNvSpPr>
          <p:nvPr>
            <p:ph idx="1"/>
          </p:nvPr>
        </p:nvSpPr>
        <p:spPr/>
        <p:txBody>
          <a:bodyPr/>
          <a:lstStyle/>
          <a:p>
            <a:pPr>
              <a:lnSpc>
                <a:spcPct val="150000"/>
              </a:lnSpc>
            </a:pPr>
            <a:r>
              <a:rPr lang="en-US" sz="1800" dirty="0" smtClean="0"/>
              <a:t>Forrester suggest using “Unclassified, Toxic, Radioactive” scale</a:t>
            </a:r>
            <a:endParaRPr lang="en-US" sz="1800" dirty="0"/>
          </a:p>
          <a:p>
            <a:pPr>
              <a:lnSpc>
                <a:spcPct val="150000"/>
              </a:lnSpc>
            </a:pPr>
            <a:r>
              <a:rPr lang="en-US" sz="1800" dirty="0" smtClean="0"/>
              <a:t>Aligned data classification with business impact</a:t>
            </a:r>
            <a:endParaRPr lang="en-US" sz="1800" dirty="0"/>
          </a:p>
          <a:p>
            <a:pPr>
              <a:lnSpc>
                <a:spcPct val="150000"/>
              </a:lnSpc>
            </a:pPr>
            <a:r>
              <a:rPr lang="en-US" sz="1800" dirty="0" smtClean="0"/>
              <a:t>Difficult but imperative step and often skipped</a:t>
            </a:r>
            <a:endParaRPr lang="en-US" sz="1800" dirty="0"/>
          </a:p>
          <a:p>
            <a:pPr>
              <a:lnSpc>
                <a:spcPct val="150000"/>
              </a:lnSpc>
            </a:pPr>
            <a:r>
              <a:rPr lang="en-US" sz="1800" dirty="0" smtClean="0"/>
              <a:t>Tools available to help locate data based on pattern match</a:t>
            </a:r>
            <a:endParaRPr lang="en-US" sz="1800" dirty="0"/>
          </a:p>
          <a:p>
            <a:pPr>
              <a:lnSpc>
                <a:spcPct val="150000"/>
              </a:lnSpc>
            </a:pPr>
            <a:r>
              <a:rPr lang="en-US" sz="1800" dirty="0" smtClean="0"/>
              <a:t>Ongoing process as new data will continue to be created</a:t>
            </a:r>
            <a:endParaRPr lang="en-US" sz="1800" dirty="0"/>
          </a:p>
          <a:p>
            <a:pPr>
              <a:lnSpc>
                <a:spcPct val="150000"/>
              </a:lnSpc>
            </a:pPr>
            <a:r>
              <a:rPr lang="en-US" sz="1800" dirty="0" smtClean="0"/>
              <a:t>Internal training should align to data classification strategies</a:t>
            </a:r>
            <a:endParaRPr lang="en-US" sz="1800" dirty="0"/>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17372" y="3695700"/>
            <a:ext cx="3309256" cy="1447800"/>
          </a:xfrm>
          <a:prstGeom prst="rect">
            <a:avLst/>
          </a:prstGeom>
        </p:spPr>
      </p:pic>
    </p:spTree>
    <p:extLst>
      <p:ext uri="{BB962C8B-B14F-4D97-AF65-F5344CB8AC3E}">
        <p14:creationId xmlns:p14="http://schemas.microsoft.com/office/powerpoint/2010/main" val="311231167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38723" y="0"/>
            <a:ext cx="4800600" cy="51435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04800" y="1154062"/>
            <a:ext cx="4343400" cy="3394472"/>
          </a:xfrm>
        </p:spPr>
        <p:txBody>
          <a:bodyPr/>
          <a:lstStyle/>
          <a:p>
            <a:pPr marL="342900" indent="-342900">
              <a:spcBef>
                <a:spcPts val="1200"/>
              </a:spcBef>
              <a:buClrTx/>
              <a:buFont typeface="Arial" panose="020B0604020202020204" pitchFamily="34" charset="0"/>
              <a:buChar char="•"/>
            </a:pPr>
            <a:r>
              <a:rPr lang="en-US" altLang="en-US" sz="1800" dirty="0" smtClean="0">
                <a:solidFill>
                  <a:schemeClr val="bg1"/>
                </a:solidFill>
              </a:rPr>
              <a:t>Map </a:t>
            </a:r>
            <a:r>
              <a:rPr lang="en-US" altLang="en-US" sz="1800" dirty="0">
                <a:solidFill>
                  <a:schemeClr val="bg1"/>
                </a:solidFill>
              </a:rPr>
              <a:t>data lifecycle of critical </a:t>
            </a:r>
            <a:r>
              <a:rPr lang="en-US" altLang="en-US" sz="1800" dirty="0" smtClean="0">
                <a:solidFill>
                  <a:schemeClr val="bg1"/>
                </a:solidFill>
              </a:rPr>
              <a:t>data</a:t>
            </a:r>
          </a:p>
          <a:p>
            <a:pPr marL="342900" indent="-342900">
              <a:spcBef>
                <a:spcPts val="1200"/>
              </a:spcBef>
              <a:buClrTx/>
              <a:buFont typeface="Arial" panose="020B0604020202020204" pitchFamily="34" charset="0"/>
              <a:buChar char="•"/>
            </a:pPr>
            <a:r>
              <a:rPr lang="en-US" altLang="en-US" sz="1800" dirty="0">
                <a:solidFill>
                  <a:schemeClr val="bg1"/>
                </a:solidFill>
              </a:rPr>
              <a:t>Identify all points of possible </a:t>
            </a:r>
            <a:r>
              <a:rPr lang="en-US" altLang="en-US" sz="1800" dirty="0" smtClean="0">
                <a:solidFill>
                  <a:schemeClr val="bg1"/>
                </a:solidFill>
              </a:rPr>
              <a:t>compromise</a:t>
            </a:r>
          </a:p>
          <a:p>
            <a:pPr marL="342900" indent="-342900">
              <a:spcBef>
                <a:spcPts val="1200"/>
              </a:spcBef>
              <a:buClrTx/>
              <a:buFont typeface="Arial" panose="020B0604020202020204" pitchFamily="34" charset="0"/>
              <a:buChar char="•"/>
            </a:pPr>
            <a:r>
              <a:rPr lang="en-US" altLang="en-US" sz="1800" dirty="0">
                <a:solidFill>
                  <a:schemeClr val="bg1"/>
                </a:solidFill>
              </a:rPr>
              <a:t>This exercise creates blueprints for MCAP segmentation</a:t>
            </a:r>
          </a:p>
          <a:p>
            <a:pPr marL="342900" indent="-342900">
              <a:spcBef>
                <a:spcPts val="1200"/>
              </a:spcBef>
              <a:buClrTx/>
              <a:buFont typeface="Arial" panose="020B0604020202020204" pitchFamily="34" charset="0"/>
              <a:buChar char="•"/>
            </a:pPr>
            <a:endParaRPr lang="en-US" altLang="en-US" sz="1800" dirty="0" smtClean="0">
              <a:solidFill>
                <a:schemeClr val="bg1"/>
              </a:solidFill>
            </a:endParaRPr>
          </a:p>
          <a:p>
            <a:pPr marL="342900" indent="-342900">
              <a:spcBef>
                <a:spcPts val="1200"/>
              </a:spcBef>
              <a:buClrTx/>
              <a:buFont typeface="Arial" panose="020B0604020202020204" pitchFamily="34" charset="0"/>
              <a:buChar char="•"/>
            </a:pPr>
            <a:endParaRPr lang="en-US" altLang="en-US" sz="1800" dirty="0" smtClean="0">
              <a:solidFill>
                <a:schemeClr val="bg1"/>
              </a:solidFill>
            </a:endParaRPr>
          </a:p>
          <a:p>
            <a:pPr marL="342900" indent="-342900">
              <a:spcBef>
                <a:spcPts val="1200"/>
              </a:spcBef>
              <a:buClrTx/>
              <a:buFont typeface="Arial" panose="020B0604020202020204" pitchFamily="34" charset="0"/>
              <a:buChar char="•"/>
            </a:pPr>
            <a:endParaRPr lang="en-US" altLang="en-US" sz="1800" dirty="0">
              <a:solidFill>
                <a:schemeClr val="bg1"/>
              </a:solidFill>
            </a:endParaRPr>
          </a:p>
          <a:p>
            <a:pPr marL="342900" indent="-342900">
              <a:spcBef>
                <a:spcPts val="1200"/>
              </a:spcBef>
              <a:buClrTx/>
              <a:buFont typeface="Arial" panose="020B0604020202020204" pitchFamily="34" charset="0"/>
              <a:buChar char="•"/>
            </a:pPr>
            <a:endParaRPr lang="en-US" altLang="en-US" sz="1800" dirty="0" smtClean="0">
              <a:solidFill>
                <a:schemeClr val="bg1"/>
              </a:solidFill>
            </a:endParaRPr>
          </a:p>
          <a:p>
            <a:pPr marL="342900" indent="-342900">
              <a:spcBef>
                <a:spcPts val="1200"/>
              </a:spcBef>
              <a:buClrTx/>
              <a:buFont typeface="Arial" panose="020B0604020202020204" pitchFamily="34" charset="0"/>
              <a:buChar char="•"/>
            </a:pPr>
            <a:endParaRPr lang="en-US" altLang="en-US" sz="1800" dirty="0" smtClean="0">
              <a:solidFill>
                <a:schemeClr val="bg1"/>
              </a:solidFill>
            </a:endParaRPr>
          </a:p>
          <a:p>
            <a:endParaRPr lang="en-US" dirty="0">
              <a:solidFill>
                <a:schemeClr val="bg1"/>
              </a:solidFill>
            </a:endParaRPr>
          </a:p>
        </p:txBody>
      </p:sp>
      <p:sp>
        <p:nvSpPr>
          <p:cNvPr id="2" name="Title 1"/>
          <p:cNvSpPr>
            <a:spLocks noGrp="1"/>
          </p:cNvSpPr>
          <p:nvPr>
            <p:ph type="title"/>
          </p:nvPr>
        </p:nvSpPr>
        <p:spPr/>
        <p:txBody>
          <a:bodyPr/>
          <a:lstStyle/>
          <a:p>
            <a:r>
              <a:rPr lang="en-US" dirty="0" smtClean="0">
                <a:solidFill>
                  <a:schemeClr val="bg1"/>
                </a:solidFill>
              </a:rPr>
              <a:t>Identify data flows</a:t>
            </a:r>
            <a:endParaRPr lang="en-US" dirty="0">
              <a:solidFill>
                <a:schemeClr val="bg1"/>
              </a:solidFill>
            </a:endParaRP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57800" y="742950"/>
            <a:ext cx="3696950" cy="3404727"/>
          </a:xfrm>
          <a:prstGeom prst="rect">
            <a:avLst/>
          </a:prstGeom>
        </p:spPr>
      </p:pic>
    </p:spTree>
    <p:extLst>
      <p:ext uri="{BB962C8B-B14F-4D97-AF65-F5344CB8AC3E}">
        <p14:creationId xmlns:p14="http://schemas.microsoft.com/office/powerpoint/2010/main" val="53379253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Prepare DAN toolsets</a:t>
            </a:r>
            <a:endParaRPr lang="en-US" dirty="0"/>
          </a:p>
        </p:txBody>
      </p:sp>
      <p:sp>
        <p:nvSpPr>
          <p:cNvPr id="3" name="Content Placeholder 2"/>
          <p:cNvSpPr>
            <a:spLocks noGrp="1"/>
          </p:cNvSpPr>
          <p:nvPr>
            <p:ph idx="1"/>
          </p:nvPr>
        </p:nvSpPr>
        <p:spPr>
          <a:xfrm>
            <a:off x="609600" y="1154062"/>
            <a:ext cx="4419600" cy="3394472"/>
          </a:xfrm>
        </p:spPr>
        <p:txBody>
          <a:bodyPr/>
          <a:lstStyle/>
          <a:p>
            <a:pPr>
              <a:lnSpc>
                <a:spcPct val="150000"/>
              </a:lnSpc>
            </a:pPr>
            <a:r>
              <a:rPr lang="en-US" sz="1800" dirty="0" smtClean="0"/>
              <a:t>Forecast throughput and flow metrics</a:t>
            </a:r>
          </a:p>
          <a:p>
            <a:pPr>
              <a:lnSpc>
                <a:spcPct val="150000"/>
              </a:lnSpc>
            </a:pPr>
            <a:r>
              <a:rPr lang="en-US" sz="1800" dirty="0" smtClean="0"/>
              <a:t>Factor in future growth expectations</a:t>
            </a:r>
          </a:p>
          <a:p>
            <a:pPr>
              <a:lnSpc>
                <a:spcPct val="150000"/>
              </a:lnSpc>
            </a:pPr>
            <a:r>
              <a:rPr lang="en-US" sz="1800" dirty="0" smtClean="0"/>
              <a:t>Develop configuration strategy to obtain all relevant logging</a:t>
            </a:r>
            <a:endParaRPr lang="en-US" sz="1800" dirty="0"/>
          </a:p>
          <a:p>
            <a:pPr>
              <a:lnSpc>
                <a:spcPct val="150000"/>
              </a:lnSpc>
            </a:pPr>
            <a:r>
              <a:rPr lang="en-US" sz="1800" dirty="0" smtClean="0"/>
              <a:t>Upgrade or acquire tools as necessary</a:t>
            </a:r>
            <a:endParaRPr lang="en-US" sz="18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5400" y="1154062"/>
            <a:ext cx="3908333" cy="2952750"/>
          </a:xfrm>
          <a:prstGeom prst="rect">
            <a:avLst/>
          </a:prstGeom>
        </p:spPr>
      </p:pic>
    </p:spTree>
    <p:extLst>
      <p:ext uri="{BB962C8B-B14F-4D97-AF65-F5344CB8AC3E}">
        <p14:creationId xmlns:p14="http://schemas.microsoft.com/office/powerpoint/2010/main" val="110527903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Implement Holistic User Identification</a:t>
            </a:r>
            <a:endParaRPr lang="en-US" dirty="0"/>
          </a:p>
        </p:txBody>
      </p:sp>
      <p:sp>
        <p:nvSpPr>
          <p:cNvPr id="3" name="Content Placeholder 2"/>
          <p:cNvSpPr>
            <a:spLocks noGrp="1"/>
          </p:cNvSpPr>
          <p:nvPr>
            <p:ph idx="1"/>
          </p:nvPr>
        </p:nvSpPr>
        <p:spPr/>
        <p:txBody>
          <a:bodyPr/>
          <a:lstStyle/>
          <a:p>
            <a:pPr>
              <a:lnSpc>
                <a:spcPct val="150000"/>
              </a:lnSpc>
            </a:pPr>
            <a:r>
              <a:rPr lang="en-US" sz="1800" dirty="0" smtClean="0"/>
              <a:t>Assign username </a:t>
            </a:r>
            <a:r>
              <a:rPr lang="en-US" sz="1800" dirty="0"/>
              <a:t>to every packet that </a:t>
            </a:r>
            <a:r>
              <a:rPr lang="en-US" sz="1800" dirty="0" smtClean="0"/>
              <a:t>is </a:t>
            </a:r>
            <a:r>
              <a:rPr lang="en-US" sz="1800" dirty="0"/>
              <a:t>generated by </a:t>
            </a:r>
            <a:r>
              <a:rPr lang="en-US" sz="1800" dirty="0" smtClean="0"/>
              <a:t>end user </a:t>
            </a:r>
          </a:p>
          <a:p>
            <a:pPr>
              <a:lnSpc>
                <a:spcPct val="150000"/>
              </a:lnSpc>
            </a:pPr>
            <a:r>
              <a:rPr lang="en-US" sz="1800" dirty="0" smtClean="0"/>
              <a:t>Choose tools that integrate </a:t>
            </a:r>
          </a:p>
          <a:p>
            <a:pPr>
              <a:lnSpc>
                <a:spcPct val="150000"/>
              </a:lnSpc>
            </a:pPr>
            <a:r>
              <a:rPr lang="en-US" sz="1800" dirty="0" smtClean="0"/>
              <a:t>Imperative for automated security policy</a:t>
            </a:r>
            <a:endParaRPr lang="en-US" sz="1800" dirty="0"/>
          </a:p>
          <a:p>
            <a:pPr>
              <a:lnSpc>
                <a:spcPct val="150000"/>
              </a:lnSpc>
            </a:pPr>
            <a:r>
              <a:rPr lang="en-US" sz="1800" dirty="0" smtClean="0"/>
              <a:t>Agent, Cert, Captive Portal, AD Logs, Exchange Logs, Syslog, etc.  </a:t>
            </a:r>
            <a:endParaRPr lang="en-US" sz="1800" dirty="0"/>
          </a:p>
        </p:txBody>
      </p:sp>
    </p:spTree>
    <p:extLst>
      <p:ext uri="{BB962C8B-B14F-4D97-AF65-F5344CB8AC3E}">
        <p14:creationId xmlns:p14="http://schemas.microsoft.com/office/powerpoint/2010/main" val="320319142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Deploy SG in phased approach</a:t>
            </a:r>
            <a:endParaRPr lang="en-US" dirty="0"/>
          </a:p>
        </p:txBody>
      </p:sp>
      <p:sp>
        <p:nvSpPr>
          <p:cNvPr id="3" name="Content Placeholder 2"/>
          <p:cNvSpPr>
            <a:spLocks noGrp="1"/>
          </p:cNvSpPr>
          <p:nvPr>
            <p:ph idx="1"/>
          </p:nvPr>
        </p:nvSpPr>
        <p:spPr>
          <a:xfrm>
            <a:off x="685800" y="1154062"/>
            <a:ext cx="6096000" cy="3394472"/>
          </a:xfrm>
        </p:spPr>
        <p:txBody>
          <a:bodyPr/>
          <a:lstStyle/>
          <a:p>
            <a:pPr>
              <a:lnSpc>
                <a:spcPct val="150000"/>
              </a:lnSpc>
            </a:pPr>
            <a:r>
              <a:rPr lang="en-US" sz="1800" dirty="0" smtClean="0"/>
              <a:t>Place SG in nucleus of network</a:t>
            </a:r>
          </a:p>
          <a:p>
            <a:pPr>
              <a:lnSpc>
                <a:spcPct val="150000"/>
              </a:lnSpc>
            </a:pPr>
            <a:r>
              <a:rPr lang="en-US" sz="1800" dirty="0" smtClean="0"/>
              <a:t>Prioritize segmentation based on business criticality</a:t>
            </a:r>
          </a:p>
          <a:p>
            <a:pPr>
              <a:lnSpc>
                <a:spcPct val="150000"/>
              </a:lnSpc>
            </a:pPr>
            <a:r>
              <a:rPr lang="en-US" sz="1800" dirty="0" smtClean="0"/>
              <a:t>User MCAP will likely be most challenging</a:t>
            </a:r>
          </a:p>
          <a:p>
            <a:pPr>
              <a:lnSpc>
                <a:spcPct val="150000"/>
              </a:lnSpc>
            </a:pPr>
            <a:r>
              <a:rPr lang="en-US" sz="1800" dirty="0" smtClean="0"/>
              <a:t>Utilize sample user groups</a:t>
            </a:r>
          </a:p>
          <a:p>
            <a:pPr>
              <a:lnSpc>
                <a:spcPct val="150000"/>
              </a:lnSpc>
            </a:pPr>
            <a:r>
              <a:rPr lang="en-US" sz="1800" dirty="0" smtClean="0"/>
              <a:t>Minimize downtime by leveraging DAN output</a:t>
            </a:r>
          </a:p>
          <a:p>
            <a:pPr>
              <a:lnSpc>
                <a:spcPct val="150000"/>
              </a:lnSpc>
            </a:pPr>
            <a:endParaRPr lang="en-US" sz="1800"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00800" y="1154062"/>
            <a:ext cx="2297463" cy="2266950"/>
          </a:xfrm>
          <a:prstGeom prst="rect">
            <a:avLst/>
          </a:prstGeom>
        </p:spPr>
      </p:pic>
    </p:spTree>
    <p:extLst>
      <p:ext uri="{BB962C8B-B14F-4D97-AF65-F5344CB8AC3E}">
        <p14:creationId xmlns:p14="http://schemas.microsoft.com/office/powerpoint/2010/main" val="301482634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Continually Reassess MCAP Business Alignment</a:t>
            </a:r>
            <a:endParaRPr lang="en-US" dirty="0"/>
          </a:p>
        </p:txBody>
      </p:sp>
      <p:sp>
        <p:nvSpPr>
          <p:cNvPr id="3" name="Content Placeholder 2"/>
          <p:cNvSpPr>
            <a:spLocks noGrp="1"/>
          </p:cNvSpPr>
          <p:nvPr>
            <p:ph idx="1"/>
          </p:nvPr>
        </p:nvSpPr>
        <p:spPr/>
        <p:txBody>
          <a:bodyPr/>
          <a:lstStyle/>
          <a:p>
            <a:pPr>
              <a:lnSpc>
                <a:spcPct val="150000"/>
              </a:lnSpc>
            </a:pPr>
            <a:r>
              <a:rPr lang="en-US" sz="1800" dirty="0" smtClean="0"/>
              <a:t>Policies and Procedures should reinforce Zero Trust strategy</a:t>
            </a:r>
            <a:endParaRPr lang="en-US" sz="1800" dirty="0"/>
          </a:p>
          <a:p>
            <a:pPr>
              <a:lnSpc>
                <a:spcPct val="150000"/>
              </a:lnSpc>
            </a:pPr>
            <a:r>
              <a:rPr lang="en-US" sz="1800" dirty="0" smtClean="0"/>
              <a:t>Recurring review of Data delineation </a:t>
            </a:r>
          </a:p>
          <a:p>
            <a:pPr>
              <a:lnSpc>
                <a:spcPct val="150000"/>
              </a:lnSpc>
            </a:pPr>
            <a:r>
              <a:rPr lang="en-US" sz="1800" dirty="0" smtClean="0"/>
              <a:t>All new business functions should undergo review process BEFORE adoption</a:t>
            </a:r>
            <a:endParaRPr lang="en-US" sz="1800" dirty="0"/>
          </a:p>
          <a:p>
            <a:pPr>
              <a:lnSpc>
                <a:spcPct val="150000"/>
              </a:lnSpc>
            </a:pPr>
            <a:r>
              <a:rPr lang="en-US" sz="1800" dirty="0" smtClean="0"/>
              <a:t>Future compliance requirements become much easier once Zero Trust model is deployed</a:t>
            </a:r>
          </a:p>
        </p:txBody>
      </p:sp>
    </p:spTree>
    <p:extLst>
      <p:ext uri="{BB962C8B-B14F-4D97-AF65-F5344CB8AC3E}">
        <p14:creationId xmlns:p14="http://schemas.microsoft.com/office/powerpoint/2010/main" val="230412129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Final Thoughts</a:t>
            </a:r>
            <a:endParaRPr lang="en-US" dirty="0"/>
          </a:p>
        </p:txBody>
      </p:sp>
      <p:sp>
        <p:nvSpPr>
          <p:cNvPr id="3" name="Content Placeholder 2"/>
          <p:cNvSpPr>
            <a:spLocks noGrp="1"/>
          </p:cNvSpPr>
          <p:nvPr>
            <p:ph idx="1"/>
          </p:nvPr>
        </p:nvSpPr>
        <p:spPr/>
        <p:txBody>
          <a:bodyPr/>
          <a:lstStyle/>
          <a:p>
            <a:pPr>
              <a:lnSpc>
                <a:spcPct val="150000"/>
              </a:lnSpc>
            </a:pPr>
            <a:r>
              <a:rPr lang="en-US" sz="1800" dirty="0"/>
              <a:t>Trust will be exploited therefore “</a:t>
            </a:r>
            <a:r>
              <a:rPr lang="en-US" sz="1800" dirty="0" err="1"/>
              <a:t>Untrust</a:t>
            </a:r>
            <a:r>
              <a:rPr lang="en-US" sz="1800" dirty="0"/>
              <a:t> and Verify”</a:t>
            </a:r>
          </a:p>
          <a:p>
            <a:pPr>
              <a:lnSpc>
                <a:spcPct val="150000"/>
              </a:lnSpc>
            </a:pPr>
            <a:r>
              <a:rPr lang="en-US" sz="1800" dirty="0"/>
              <a:t>No Silver Bullet</a:t>
            </a:r>
          </a:p>
          <a:p>
            <a:pPr>
              <a:lnSpc>
                <a:spcPct val="150000"/>
              </a:lnSpc>
            </a:pPr>
            <a:r>
              <a:rPr lang="en-US" sz="1800" dirty="0"/>
              <a:t>Zero Trust is a theoretical end state</a:t>
            </a:r>
          </a:p>
          <a:p>
            <a:pPr>
              <a:lnSpc>
                <a:spcPct val="150000"/>
              </a:lnSpc>
            </a:pPr>
            <a:r>
              <a:rPr lang="en-US" sz="1800" dirty="0"/>
              <a:t>End results should yield higher security posture with less operational overhead </a:t>
            </a:r>
          </a:p>
        </p:txBody>
      </p:sp>
      <p:pic>
        <p:nvPicPr>
          <p:cNvPr id="5" name="Picture 4"/>
          <p:cNvPicPr>
            <a:picLocks noChangeAspect="1"/>
          </p:cNvPicPr>
          <p:nvPr/>
        </p:nvPicPr>
        <p:blipFill>
          <a:blip r:embed="rId2"/>
          <a:stretch>
            <a:fillRect/>
          </a:stretch>
        </p:blipFill>
        <p:spPr>
          <a:xfrm>
            <a:off x="2974181" y="3028950"/>
            <a:ext cx="3195637" cy="1408368"/>
          </a:xfrm>
          <a:prstGeom prst="rect">
            <a:avLst/>
          </a:prstGeom>
        </p:spPr>
      </p:pic>
    </p:spTree>
    <p:extLst>
      <p:ext uri="{BB962C8B-B14F-4D97-AF65-F5344CB8AC3E}">
        <p14:creationId xmlns:p14="http://schemas.microsoft.com/office/powerpoint/2010/main" val="356703018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09550"/>
            <a:ext cx="8225692" cy="4084688"/>
          </a:xfrm>
        </p:spPr>
        <p:txBody>
          <a:bodyPr/>
          <a:lstStyle/>
          <a:p>
            <a:pPr algn="ctr"/>
            <a:r>
              <a:rPr lang="en-US" sz="29600" dirty="0" smtClean="0"/>
              <a:t>?</a:t>
            </a:r>
            <a:endParaRPr lang="en-US" sz="29600" dirty="0"/>
          </a:p>
        </p:txBody>
      </p:sp>
    </p:spTree>
    <p:extLst>
      <p:ext uri="{BB962C8B-B14F-4D97-AF65-F5344CB8AC3E}">
        <p14:creationId xmlns:p14="http://schemas.microsoft.com/office/powerpoint/2010/main" val="334750775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481600"/>
      </p:ext>
    </p:extLst>
  </p:cSld>
  <p:clrMapOvr>
    <a:masterClrMapping/>
  </p:clrMapOvr>
  <p:timing>
    <p:tnLst>
      <p:par>
        <p:cTn id="1" dur="indefinite" restart="never" nodeType="tmRoot"/>
      </p:par>
    </p:tnLst>
  </p:timing>
</p:sld>
</file>

<file path=ppt/theme/theme1.xml><?xml version="1.0" encoding="utf-8"?>
<a:theme xmlns:a="http://schemas.openxmlformats.org/drawingml/2006/main" name="Optiv">
  <a:themeElements>
    <a:clrScheme name="Optiv">
      <a:dk1>
        <a:srgbClr val="141313"/>
      </a:dk1>
      <a:lt1>
        <a:srgbClr val="FFFFFF"/>
      </a:lt1>
      <a:dk2>
        <a:srgbClr val="005092"/>
      </a:dk2>
      <a:lt2>
        <a:srgbClr val="E1E1DD"/>
      </a:lt2>
      <a:accent1>
        <a:srgbClr val="005092"/>
      </a:accent1>
      <a:accent2>
        <a:srgbClr val="249579"/>
      </a:accent2>
      <a:accent3>
        <a:srgbClr val="C93220"/>
      </a:accent3>
      <a:accent4>
        <a:srgbClr val="5E2B6D"/>
      </a:accent4>
      <a:accent5>
        <a:srgbClr val="313231"/>
      </a:accent5>
      <a:accent6>
        <a:srgbClr val="7BAFD4"/>
      </a:accent6>
      <a:hlink>
        <a:srgbClr val="00467E"/>
      </a:hlink>
      <a:folHlink>
        <a:srgbClr val="7BAFD4"/>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ptiv_template-16x9_Public_2016" id="{E8F4DC35-02EF-2944-B44C-DC45F9A9C1DB}" vid="{07DA8F8B-9193-9844-B1E5-4C402279A3A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Optiv 2016 Public Template - 16x9</Template>
  <TotalTime>0</TotalTime>
  <Words>1126</Words>
  <Application>Microsoft Office PowerPoint</Application>
  <PresentationFormat>On-screen Show (16:9)</PresentationFormat>
  <Paragraphs>167</Paragraphs>
  <Slides>32</Slides>
  <Notes>9</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Optiv</vt:lpstr>
      <vt:lpstr>Zero Trust “Lite” Architecture to Securely Future-Proof your Network</vt:lpstr>
      <vt:lpstr>Disclaimer</vt:lpstr>
      <vt:lpstr>About Me</vt:lpstr>
      <vt:lpstr>Agenda</vt:lpstr>
      <vt:lpstr>3-Tier Architecture</vt:lpstr>
      <vt:lpstr>PowerPoint Presentation</vt:lpstr>
      <vt:lpstr>PowerPoint Presentation</vt:lpstr>
      <vt:lpstr>3-Tier Architecture</vt:lpstr>
      <vt:lpstr>Challenges</vt:lpstr>
      <vt:lpstr>What is Zero Trust?</vt:lpstr>
      <vt:lpstr>PowerPoint Presentation</vt:lpstr>
      <vt:lpstr>Breaches since 2010…</vt:lpstr>
      <vt:lpstr>Zero Trust Fundamentals</vt:lpstr>
      <vt:lpstr>Zero Trust Fundamentals</vt:lpstr>
      <vt:lpstr>Zero Trust Terminology</vt:lpstr>
      <vt:lpstr>Segmentation Gateway (SG)</vt:lpstr>
      <vt:lpstr>Microcore and Microperimeters (MCAP)</vt:lpstr>
      <vt:lpstr>Data Acquisition Network (DAN)</vt:lpstr>
      <vt:lpstr>Network Design</vt:lpstr>
      <vt:lpstr>PowerPoint Presentation</vt:lpstr>
      <vt:lpstr>PowerPoint Presentation</vt:lpstr>
      <vt:lpstr>Limits I find within Zero Trust</vt:lpstr>
      <vt:lpstr>My Suggestions when Rolling out Zero Trust</vt:lpstr>
      <vt:lpstr>Classify Data</vt:lpstr>
      <vt:lpstr>Identify data flows</vt:lpstr>
      <vt:lpstr>Prepare DAN toolsets</vt:lpstr>
      <vt:lpstr>Implement Holistic User Identification</vt:lpstr>
      <vt:lpstr>Deploy SG in phased approach</vt:lpstr>
      <vt:lpstr>Continually Reassess MCAP Business Alignment</vt:lpstr>
      <vt:lpstr>Final Thoughts</vt:lpstr>
      <vt:lpst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2017-05-25T19:49:51Z</dcterms:created>
  <dcterms:modified xsi:type="dcterms:W3CDTF">2017-06-01T13:24:37Z</dcterms:modified>
</cp:coreProperties>
</file>