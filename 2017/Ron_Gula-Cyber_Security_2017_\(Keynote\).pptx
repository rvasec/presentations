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521861E7-EECE-4A7C-8CC0-E9D301CDC2B7}">
  <a:tblStyle styleId="{521861E7-EECE-4A7C-8CC0-E9D301CDC2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2" name="Shape 92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9" name="Shape 9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6" name="Shape 106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2" name="Shape 112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8" name="Shape 118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4" name="Shape 12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9" name="Shape 12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4" name="Shape 13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0" name="Shape 140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5" name="Shape 145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1" name="Shape 151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8" name="Shape 158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4" name="Shape 16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0" name="Shape 170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5" name="Shape 175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0" name="Shape 180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5" name="Shape 185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0" name="Shape 190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5" name="Shape 195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2" name="Shape 202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9" name="Shape 20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4" name="Shape 21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9" name="Shape 21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4" name="Shape 22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9" name="Shape 22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4" name="Shape 23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9" name="Shape 23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4" name="Shape 24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9" name="Shape 24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4" name="Shape 25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9" name="Shape 259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4" name="Shape 264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2" name="Shape 272"/>
          <p:cNvSpPr/>
          <p:nvPr>
            <p:ph idx="2" type="sldImg"/>
          </p:nvPr>
        </p:nvSpPr>
        <p:spPr>
          <a:xfrm>
            <a:off x="685800" y="1143000"/>
            <a:ext cx="5486399" cy="308609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1524000" y="11223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524000" y="3602037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icture+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idx="2" type="pic"/>
          </p:nvPr>
        </p:nvSpPr>
        <p:spPr>
          <a:xfrm>
            <a:off x="474135" y="1509183"/>
            <a:ext cx="5472000" cy="43680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l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24" name="Shape 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" type="body"/>
          </p:nvPr>
        </p:nvSpPr>
        <p:spPr>
          <a:xfrm>
            <a:off x="6239932" y="1509183"/>
            <a:ext cx="5472000" cy="43680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775" lvl="0" marL="14476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Font typeface="Arial"/>
              <a:buNone/>
              <a:defRPr b="0" i="0" sz="18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500"/>
              </a:spcBef>
              <a:buClr>
                <a:schemeClr val="l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1606" lvl="2" marL="303706" marR="0" rtl="0" algn="l">
              <a:lnSpc>
                <a:spcPct val="90000"/>
              </a:lnSpc>
              <a:spcBef>
                <a:spcPts val="500"/>
              </a:spcBef>
              <a:buClr>
                <a:schemeClr val="lt1"/>
              </a:buClr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595" lvl="3" marL="1828695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560" lvl="4" marL="243826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type="title"/>
          </p:nvPr>
        </p:nvSpPr>
        <p:spPr>
          <a:xfrm>
            <a:off x="478366" y="424654"/>
            <a:ext cx="11235267" cy="894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obj">
  <p:cSld name="Title and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3" name="Shape 33"/>
          <p:cNvSpPr txBox="1"/>
          <p:nvPr>
            <p:ph idx="1" type="body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Shape 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>
            <p:ph type="title"/>
          </p:nvPr>
        </p:nvSpPr>
        <p:spPr>
          <a:xfrm>
            <a:off x="831850" y="1709738"/>
            <a:ext cx="10515599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9" name="Shape 39"/>
          <p:cNvSpPr txBox="1"/>
          <p:nvPr>
            <p:ph idx="1" type="body"/>
          </p:nvPr>
        </p:nvSpPr>
        <p:spPr>
          <a:xfrm>
            <a:off x="831850" y="4589462"/>
            <a:ext cx="1051559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rgbClr val="888888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Shape 42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Obj">
  <p:cSld name="Two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5" name="Shape 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TxTwoObj">
  <p:cSld name="Comparis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title"/>
          </p:nvPr>
        </p:nvSpPr>
        <p:spPr>
          <a:xfrm>
            <a:off x="839787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839787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2" type="body"/>
          </p:nvPr>
        </p:nvSpPr>
        <p:spPr>
          <a:xfrm>
            <a:off x="839787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Shape 54"/>
          <p:cNvSpPr txBox="1"/>
          <p:nvPr>
            <p:ph idx="3" type="body"/>
          </p:nvPr>
        </p:nvSpPr>
        <p:spPr>
          <a:xfrm>
            <a:off x="6172200" y="1681163"/>
            <a:ext cx="51831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Shape 55"/>
          <p:cNvSpPr txBox="1"/>
          <p:nvPr>
            <p:ph idx="4" type="body"/>
          </p:nvPr>
        </p:nvSpPr>
        <p:spPr>
          <a:xfrm>
            <a:off x="6172200" y="2505075"/>
            <a:ext cx="51831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1" name="Shape 61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objTx">
  <p:cSld name="Content with Ca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54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08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2" type="body"/>
          </p:nvPr>
        </p:nvSpPr>
        <p:spPr>
          <a:xfrm>
            <a:off x="839787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picTx">
  <p:cSld name="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3" name="Shape 73"/>
          <p:cNvSpPr/>
          <p:nvPr>
            <p:ph idx="2" type="pic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x="839787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vertTx">
  <p:cSld name="Title and Vertical 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 rot="5400000">
            <a:off x="3920331" y="-1256505"/>
            <a:ext cx="4351338" cy="10515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vertTitleAndTx">
  <p:cSld name="Vertical Title and 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 rot="5400000">
            <a:off x="7133431" y="1956594"/>
            <a:ext cx="5811838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6" name="Shape 86"/>
          <p:cNvSpPr txBox="1"/>
          <p:nvPr>
            <p:ph idx="1" type="body"/>
          </p:nvPr>
        </p:nvSpPr>
        <p:spPr>
          <a:xfrm rot="5400000">
            <a:off x="1799431" y="-596105"/>
            <a:ext cx="5811838" cy="7734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Shape 89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508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0" lvl="1" marL="685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mailto:ron@gula.tech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4.png"/><Relationship Id="rId13" Type="http://schemas.openxmlformats.org/officeDocument/2006/relationships/image" Target="../media/image21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5" Type="http://schemas.openxmlformats.org/officeDocument/2006/relationships/image" Target="../media/image20.png"/><Relationship Id="rId14" Type="http://schemas.openxmlformats.org/officeDocument/2006/relationships/image" Target="../media/image19.png"/><Relationship Id="rId17" Type="http://schemas.openxmlformats.org/officeDocument/2006/relationships/image" Target="../media/image23.png"/><Relationship Id="rId16" Type="http://schemas.openxmlformats.org/officeDocument/2006/relationships/image" Target="../media/image2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18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ctrTitle"/>
          </p:nvPr>
        </p:nvSpPr>
        <p:spPr>
          <a:xfrm>
            <a:off x="0" y="497677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Security 2017</a:t>
            </a:r>
          </a:p>
        </p:txBody>
      </p:sp>
      <p:sp>
        <p:nvSpPr>
          <p:cNvPr id="95" name="Shape 95"/>
          <p:cNvSpPr txBox="1"/>
          <p:nvPr>
            <p:ph idx="1" type="subTitle"/>
          </p:nvPr>
        </p:nvSpPr>
        <p:spPr>
          <a:xfrm>
            <a:off x="1524000" y="2885276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Trends and Start Ups</a:t>
            </a:r>
          </a:p>
        </p:txBody>
      </p:sp>
      <p:pic>
        <p:nvPicPr>
          <p:cNvPr id="96" name="Shape 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766" y="5357737"/>
            <a:ext cx="3980467" cy="1131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idx="1" type="body"/>
          </p:nvPr>
        </p:nvSpPr>
        <p:spPr>
          <a:xfrm>
            <a:off x="6239932" y="1509183"/>
            <a:ext cx="5616706" cy="4368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82766" lvl="0" marL="39546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1996 NSA PEN TESTER</a:t>
            </a:r>
          </a:p>
          <a:p>
            <a:pPr indent="-382766" lvl="0" marL="39546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1998 COMMERCIAL HONEYPOTS</a:t>
            </a:r>
          </a:p>
          <a:p>
            <a:pPr indent="-382766" lvl="0" marL="39546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1999 CLOUD SECURITY - USi</a:t>
            </a:r>
          </a:p>
          <a:p>
            <a:pPr indent="-382766" lvl="0" marL="39546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2000 DRAGON INTRUSION DETECTION SYSTEM</a:t>
            </a:r>
          </a:p>
          <a:p>
            <a:pPr indent="-382766" lvl="0" marL="39546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2002 TENABLE NETWORK SECURITY (NESSUS!)</a:t>
            </a:r>
          </a:p>
          <a:p>
            <a:pPr indent="-382766" lvl="0" marL="39546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2017 GULA TECH ADVENTURES</a:t>
            </a:r>
          </a:p>
          <a:p>
            <a:pPr indent="-382766" lvl="0" marL="39546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Married, 2 boys, into sci-fi, cigars, scuba, progressive music, travel and most forms of alcohol </a:t>
            </a:r>
          </a:p>
          <a:p>
            <a:pPr indent="-1775" lvl="0" marL="1447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1" i="0" sz="1867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5" lvl="0" marL="1447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Shape 102"/>
          <p:cNvSpPr txBox="1"/>
          <p:nvPr>
            <p:ph type="title"/>
          </p:nvPr>
        </p:nvSpPr>
        <p:spPr>
          <a:xfrm>
            <a:off x="478366" y="424654"/>
            <a:ext cx="11235267" cy="894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Ron Gula</a:t>
            </a:r>
          </a:p>
        </p:txBody>
      </p:sp>
      <p:pic>
        <p:nvPicPr>
          <p:cNvPr id="103" name="Shape 1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34" r="3034" t="0"/>
          <a:stretch/>
        </p:blipFill>
        <p:spPr>
          <a:xfrm>
            <a:off x="474135" y="1509183"/>
            <a:ext cx="5472000" cy="4368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type="ctrTitle"/>
          </p:nvPr>
        </p:nvSpPr>
        <p:spPr>
          <a:xfrm>
            <a:off x="0" y="1122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</a:p>
        </p:txBody>
      </p:sp>
      <p:sp>
        <p:nvSpPr>
          <p:cNvPr id="109" name="Shape 109"/>
          <p:cNvSpPr txBox="1"/>
          <p:nvPr>
            <p:ph idx="1" type="subTitle"/>
          </p:nvPr>
        </p:nvSpPr>
        <p:spPr>
          <a:xfrm>
            <a:off x="0" y="3602037"/>
            <a:ext cx="12192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Market, How to Pitch and the Future!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>
            <p:ph type="ctrTitle"/>
          </p:nvPr>
        </p:nvSpPr>
        <p:spPr>
          <a:xfrm>
            <a:off x="0" y="1122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Market</a:t>
            </a:r>
          </a:p>
        </p:txBody>
      </p:sp>
      <p:sp>
        <p:nvSpPr>
          <p:cNvPr id="115" name="Shape 115"/>
          <p:cNvSpPr txBox="1"/>
          <p:nvPr>
            <p:ph idx="1" type="subTitle"/>
          </p:nvPr>
        </p:nvSpPr>
        <p:spPr>
          <a:xfrm>
            <a:off x="0" y="3602037"/>
            <a:ext cx="12192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Bad, Find Good &amp; Build New Good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type="ctrTitle"/>
          </p:nvPr>
        </p:nvSpPr>
        <p:spPr>
          <a:xfrm>
            <a:off x="0" y="1122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Cyber Bad</a:t>
            </a:r>
          </a:p>
        </p:txBody>
      </p:sp>
      <p:sp>
        <p:nvSpPr>
          <p:cNvPr id="121" name="Shape 121"/>
          <p:cNvSpPr txBox="1"/>
          <p:nvPr>
            <p:ph idx="1" type="subTitle"/>
          </p:nvPr>
        </p:nvSpPr>
        <p:spPr>
          <a:xfrm>
            <a:off x="0" y="3602037"/>
            <a:ext cx="12192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EDR, Threat, Forensics, ML/AI, UBA, Cloud, Insider, Honeypots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ctrTitle"/>
          </p:nvPr>
        </p:nvSpPr>
        <p:spPr>
          <a:xfrm>
            <a:off x="0" y="1979613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rgbClr val="FF0000"/>
              </a:buClr>
              <a:buSzPct val="25000"/>
              <a:buFont typeface="Calibri"/>
              <a:buNone/>
            </a:pPr>
            <a:r>
              <a:rPr b="1" i="1" lang="en-US" sz="13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r>
              <a:rPr b="1" i="0" lang="en-US" sz="1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b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X VULNERABILITY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Shape 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0244" y="0"/>
            <a:ext cx="7997124" cy="776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>
            <p:ph type="ctrTitle"/>
          </p:nvPr>
        </p:nvSpPr>
        <p:spPr>
          <a:xfrm>
            <a:off x="0" y="1122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Cyber Good</a:t>
            </a:r>
          </a:p>
        </p:txBody>
      </p:sp>
      <p:sp>
        <p:nvSpPr>
          <p:cNvPr id="137" name="Shape 137"/>
          <p:cNvSpPr txBox="1"/>
          <p:nvPr>
            <p:ph idx="1" type="subTitle"/>
          </p:nvPr>
        </p:nvSpPr>
        <p:spPr>
          <a:xfrm>
            <a:off x="0" y="3602037"/>
            <a:ext cx="12192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VM, Audit, Frameworks, Risk, Insurance, Third Party, Employee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Shape 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70" y="0"/>
            <a:ext cx="1217231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Shape 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8839" y="1135759"/>
            <a:ext cx="7781121" cy="4383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Shape 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93326"/>
            <a:ext cx="11793507" cy="676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Shape 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8839" y="1135759"/>
            <a:ext cx="7781121" cy="4383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Shape 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8838" y="1135759"/>
            <a:ext cx="7794932" cy="4471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Shape 1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" y="400050"/>
            <a:ext cx="11917111" cy="588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>
            <p:ph type="ctrTitle"/>
          </p:nvPr>
        </p:nvSpPr>
        <p:spPr>
          <a:xfrm>
            <a:off x="0" y="1122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Cyber Good</a:t>
            </a:r>
          </a:p>
        </p:txBody>
      </p:sp>
      <p:sp>
        <p:nvSpPr>
          <p:cNvPr id="161" name="Shape 161"/>
          <p:cNvSpPr txBox="1"/>
          <p:nvPr>
            <p:ph idx="1" type="subTitle"/>
          </p:nvPr>
        </p:nvSpPr>
        <p:spPr>
          <a:xfrm>
            <a:off x="0" y="3602037"/>
            <a:ext cx="12192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Migration, Hard Endpoints, Secure Web, Migrating Off Legacy &amp; Employee Training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ctrTitle"/>
          </p:nvPr>
        </p:nvSpPr>
        <p:spPr>
          <a:xfrm>
            <a:off x="0" y="1122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Start Ups</a:t>
            </a:r>
          </a:p>
        </p:txBody>
      </p:sp>
      <p:sp>
        <p:nvSpPr>
          <p:cNvPr id="167" name="Shape 167"/>
          <p:cNvSpPr txBox="1"/>
          <p:nvPr>
            <p:ph idx="1" type="subTitle"/>
          </p:nvPr>
        </p:nvSpPr>
        <p:spPr>
          <a:xfrm>
            <a:off x="0" y="3602037"/>
            <a:ext cx="12192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Ideas, RSA &amp; How to Pitch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type="ctrTitle"/>
          </p:nvPr>
        </p:nvSpPr>
        <p:spPr>
          <a:xfrm>
            <a:off x="0" y="2341563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PROBLEM </a:t>
            </a:r>
            <a:b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You SOLVING?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>
            <p:ph type="ctrTitle"/>
          </p:nvPr>
        </p:nvSpPr>
        <p:spPr>
          <a:xfrm>
            <a:off x="0" y="2341563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How do </a:t>
            </a:r>
            <a:b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SOLVE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type="ctrTitle"/>
          </p:nvPr>
        </p:nvSpPr>
        <p:spPr>
          <a:xfrm>
            <a:off x="0" y="2341563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Show some </a:t>
            </a:r>
            <a:b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/>
          <p:nvPr>
            <p:ph type="ctrTitle"/>
          </p:nvPr>
        </p:nvSpPr>
        <p:spPr>
          <a:xfrm>
            <a:off x="0" y="2341563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What FUNDS do you need to do what?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>
            <p:ph type="ctrTitle"/>
          </p:nvPr>
        </p:nvSpPr>
        <p:spPr>
          <a:xfrm>
            <a:off x="0" y="2341563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What is </a:t>
            </a:r>
            <a:b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VISION?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isn’t in the 5-slide deck?</a:t>
            </a:r>
          </a:p>
        </p:txBody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Bios</a:t>
            </a: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Advisors</a:t>
            </a: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Success Stories </a:t>
            </a: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Funding to Date</a:t>
            </a: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Coverage </a:t>
            </a: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Size and Growth with huge numbers</a:t>
            </a:r>
          </a:p>
        </p:txBody>
      </p:sp>
      <p:sp>
        <p:nvSpPr>
          <p:cNvPr id="199" name="Shape 199"/>
          <p:cNvSpPr txBox="1"/>
          <p:nvPr/>
        </p:nvSpPr>
        <p:spPr>
          <a:xfrm rot="2777971">
            <a:off x="8026232" y="766296"/>
            <a:ext cx="5708232" cy="5232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BACKUP SLIDES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/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Shape 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27"/>
            <a:ext cx="12192000" cy="6850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 txBox="1"/>
          <p:nvPr>
            <p:ph type="ctrTitle"/>
          </p:nvPr>
        </p:nvSpPr>
        <p:spPr>
          <a:xfrm>
            <a:off x="0" y="1656618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Predicting The Future 10+ years from now !!!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Shape 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23" y="0"/>
            <a:ext cx="1210235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/>
          <p:nvPr>
            <p:ph type="ctrTitle"/>
          </p:nvPr>
        </p:nvSpPr>
        <p:spPr>
          <a:xfrm>
            <a:off x="0" y="2147599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long will legacy stuff hang around?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Shape 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23" y="0"/>
            <a:ext cx="1210235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type="ctrTitle"/>
          </p:nvPr>
        </p:nvSpPr>
        <p:spPr>
          <a:xfrm>
            <a:off x="0" y="2147599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bad will the next 5 billion IOT devices be?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Shape 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4346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/>
          <p:nvPr>
            <p:ph type="ctrTitle"/>
          </p:nvPr>
        </p:nvSpPr>
        <p:spPr>
          <a:xfrm>
            <a:off x="0" y="2147599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the move to the cloud ever be reversed?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Shape 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/>
          <p:nvPr>
            <p:ph type="ctrTitle"/>
          </p:nvPr>
        </p:nvSpPr>
        <p:spPr>
          <a:xfrm>
            <a:off x="0" y="3408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social response be to government back-dooring everything?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Shape 2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5455" y="0"/>
            <a:ext cx="1242291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/>
          <p:nvPr>
            <p:ph type="ctrTitle"/>
          </p:nvPr>
        </p:nvSpPr>
        <p:spPr>
          <a:xfrm>
            <a:off x="0" y="3408362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the terms “network”, “vulnerability” and “privacy” even mean in 2028?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 txBox="1"/>
          <p:nvPr>
            <p:ph type="ctrTitle"/>
          </p:nvPr>
        </p:nvSpPr>
        <p:spPr>
          <a:xfrm>
            <a:off x="0" y="290156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</a:p>
        </p:txBody>
      </p:sp>
      <p:sp>
        <p:nvSpPr>
          <p:cNvPr id="267" name="Shape 267"/>
          <p:cNvSpPr txBox="1"/>
          <p:nvPr>
            <p:ph idx="1" type="subTitle"/>
          </p:nvPr>
        </p:nvSpPr>
        <p:spPr>
          <a:xfrm>
            <a:off x="0" y="3157016"/>
            <a:ext cx="12192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@RonGula        </a:t>
            </a:r>
            <a:r>
              <a:rPr b="1" i="1" lang="en-US" sz="4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ron@gula.tech</a:t>
            </a: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RonGula</a:t>
            </a:r>
          </a:p>
        </p:txBody>
      </p:sp>
      <p:pic>
        <p:nvPicPr>
          <p:cNvPr id="268" name="Shape 2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6053" y="3074822"/>
            <a:ext cx="698500" cy="73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Shape 2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5766" y="5357737"/>
            <a:ext cx="3980467" cy="1131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Shape 274"/>
          <p:cNvGraphicFramePr/>
          <p:nvPr/>
        </p:nvGraphicFramePr>
        <p:xfrm>
          <a:off x="0" y="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{521861E7-EECE-4A7C-8CC0-E9D301CDC2B7}</a:tableStyleId>
              </a:tblPr>
              <a:tblGrid>
                <a:gridCol w="3048000"/>
                <a:gridCol w="3048000"/>
                <a:gridCol w="3048000"/>
                <a:gridCol w="3048000"/>
              </a:tblGrid>
              <a:tr h="8100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Automated white listing</a:t>
                      </a:r>
                      <a:r>
                        <a:rPr lang="en-US" sz="1600"/>
                        <a:t> web application firewall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Container orchestration</a:t>
                      </a:r>
                      <a:r>
                        <a:rPr lang="en-US" sz="1600"/>
                        <a:t> to increase utilization of virtual resources</a:t>
                      </a:r>
                    </a:p>
                  </a:txBody>
                  <a:tcPr marT="45725" marB="45725" marR="91450" marL="91450"/>
                </a:tc>
              </a:tr>
              <a:tr h="8856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Cloud based patch management for Win,</a:t>
                      </a:r>
                      <a:r>
                        <a:rPr lang="en-US" sz="1600"/>
                        <a:t> OSX and Linux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Secure voice and text communications, even</a:t>
                      </a:r>
                      <a:r>
                        <a:rPr lang="en-US" sz="1600"/>
                        <a:t> on hostile phone network</a:t>
                      </a:r>
                    </a:p>
                  </a:txBody>
                  <a:tcPr marT="45725" marB="45725" marR="91450" marL="91450"/>
                </a:tc>
              </a:tr>
              <a:tr h="8856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Blocks 100% of your threat intel and undesirable countries on premise and in cloud 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Privileged account management for cloud and on-prem </a:t>
                      </a:r>
                    </a:p>
                  </a:txBody>
                  <a:tcPr marT="45725" marB="45725" marR="91450" marL="91450"/>
                </a:tc>
              </a:tr>
              <a:tr h="8100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Like Slack but encrypted and secure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Uses computer vision to connect all of your security technologies</a:t>
                      </a:r>
                    </a:p>
                  </a:txBody>
                  <a:tcPr marT="45725" marB="45725" marR="91450" marL="91450"/>
                </a:tc>
              </a:tr>
              <a:tr h="8856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Leading RASP solution</a:t>
                      </a:r>
                      <a:r>
                        <a:rPr lang="en-US" sz="1600"/>
                        <a:t> to secure web sites from the inside out.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Malware</a:t>
                      </a:r>
                      <a:r>
                        <a:rPr lang="en-US" sz="1600"/>
                        <a:t> sandbox focused on evasive malware</a:t>
                      </a:r>
                    </a:p>
                  </a:txBody>
                  <a:tcPr marT="45725" marB="45725" marR="91450" marL="91450"/>
                </a:tc>
              </a:tr>
              <a:tr h="8100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Insider threat prevention and visibility through hardware</a:t>
                      </a:r>
                      <a:r>
                        <a:rPr lang="en-US" sz="1600"/>
                        <a:t> base application enforcement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Tests network</a:t>
                      </a:r>
                      <a:r>
                        <a:rPr lang="en-US" sz="1600"/>
                        <a:t> and host based security tools with attack simulations</a:t>
                      </a:r>
                    </a:p>
                  </a:txBody>
                  <a:tcPr marT="45725" marB="45725" marR="91450" marL="91450"/>
                </a:tc>
              </a:tr>
              <a:tr h="8856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Online cyber</a:t>
                      </a:r>
                      <a:r>
                        <a:rPr lang="en-US" sz="1600"/>
                        <a:t> certification and training for your team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Threat intelligence platform and orchestrator </a:t>
                      </a:r>
                    </a:p>
                  </a:txBody>
                  <a:tcPr marT="45725" marB="45725" marR="91450" marL="91450"/>
                </a:tc>
              </a:tr>
              <a:tr h="8856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600"/>
                        <a:t>Produces</a:t>
                      </a:r>
                      <a:r>
                        <a:rPr lang="en-US" sz="1600"/>
                        <a:t> cyber t</a:t>
                      </a:r>
                      <a:r>
                        <a:rPr lang="en-US" sz="1600"/>
                        <a:t>hreat</a:t>
                      </a:r>
                      <a:r>
                        <a:rPr lang="en-US" sz="1600"/>
                        <a:t> intelligence related to fraud and terror.</a:t>
                      </a:r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lang="en-US" sz="1600"/>
                        <a:t>Removes bots from your web leads</a:t>
                      </a: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75" name="Shape 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33" y="-7588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Shape 2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88" y="768827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Shape 2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083" y="1662394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Shape 2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14" y="2505523"/>
            <a:ext cx="2789139" cy="796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Shape 2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014" y="3327171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Shape 28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535" y="5079912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Shape 28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9535" y="5941889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Shape 28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6767" y="1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Shape 28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2026" y="920349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Shape 28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1205" y="1791250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Shape 28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1478" y="2639678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Shape 28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82026" y="3465321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Shape 28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51205" y="4317912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Shape 28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30657" y="5197039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Shape 28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10108" y="6027521"/>
            <a:ext cx="26669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Shape 29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20854" y="4274607"/>
            <a:ext cx="266699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