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8" r:id="rId3"/>
    <p:sldId id="261" r:id="rId4"/>
    <p:sldId id="277" r:id="rId5"/>
    <p:sldId id="268" r:id="rId6"/>
    <p:sldId id="269" r:id="rId7"/>
    <p:sldId id="274" r:id="rId8"/>
    <p:sldId id="273" r:id="rId9"/>
    <p:sldId id="272" r:id="rId10"/>
    <p:sldId id="271" r:id="rId11"/>
    <p:sldId id="270" r:id="rId12"/>
    <p:sldId id="283" r:id="rId13"/>
    <p:sldId id="267" r:id="rId14"/>
    <p:sldId id="266" r:id="rId15"/>
    <p:sldId id="265" r:id="rId16"/>
    <p:sldId id="278" r:id="rId17"/>
    <p:sldId id="282" r:id="rId18"/>
    <p:sldId id="279" r:id="rId19"/>
    <p:sldId id="275" r:id="rId20"/>
    <p:sldId id="281" r:id="rId21"/>
    <p:sldId id="276" r:id="rId22"/>
    <p:sldId id="262" r:id="rId23"/>
    <p:sldId id="259" r:id="rId24"/>
    <p:sldId id="26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A6CD"/>
    <a:srgbClr val="9D8C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77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E8FA7-2F4C-5D49-9BA4-AF921E49AE74}" type="datetime1">
              <a:rPr lang="en-US" smtClean="0"/>
              <a:pPr/>
              <a:t>4/7/2017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37E74-6FDC-BA4C-B798-CEB3174D95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49898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6B0FB-EA67-3A40-825F-8F252A860502}" type="datetime1">
              <a:rPr lang="en-US" smtClean="0"/>
              <a:pPr/>
              <a:t>4/7/2017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C66A3-1D14-8C46-8C0C-97773EFB71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333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2514600"/>
          </a:xfrm>
          <a:prstGeom prst="rect">
            <a:avLst/>
          </a:prstGeom>
          <a:solidFill>
            <a:srgbClr val="10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Picture 6" descr="SNL_Stacked_Whit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4200" y="1008063"/>
            <a:ext cx="15240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7" descr="SNL_Motto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27138" y="1185863"/>
            <a:ext cx="5394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9E8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6451600"/>
            <a:ext cx="9144000" cy="7620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6" name="Picture 13" descr="NNSAlogo_Black.jpg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212725" y="6119813"/>
            <a:ext cx="1023938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ectangle 16"/>
          <p:cNvSpPr/>
          <p:nvPr/>
        </p:nvSpPr>
        <p:spPr>
          <a:xfrm>
            <a:off x="0" y="2590800"/>
            <a:ext cx="3768892" cy="1615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Photos placed in horizontal position </a:t>
            </a:r>
            <a:br>
              <a:rPr lang="en-US" sz="14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with even amount of white space</a:t>
            </a:r>
            <a:br>
              <a:rPr lang="en-US" sz="14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between photos and header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2060" y="2590800"/>
            <a:ext cx="2286000" cy="1615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226864" y="2590800"/>
            <a:ext cx="2917136" cy="1615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0646" y="4260258"/>
            <a:ext cx="7772400" cy="898198"/>
          </a:xfrm>
        </p:spPr>
        <p:txBody>
          <a:bodyPr/>
          <a:lstStyle>
            <a:lvl1pPr algn="r">
              <a:defRPr>
                <a:solidFill>
                  <a:srgbClr val="9D8C7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4352" y="5173652"/>
            <a:ext cx="5641337" cy="593737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9536" y="4197659"/>
            <a:ext cx="931864" cy="28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100">
                <a:latin typeface="Calibri"/>
                <a:cs typeface="Calibri"/>
              </a:defRPr>
            </a:lvl1pPr>
          </a:lstStyle>
          <a:p>
            <a:fld id="{E3A661A9-AB95-644B-88B2-9DDC7A23F4F4}" type="datetime1">
              <a:rPr lang="en-US" smtClean="0"/>
              <a:pPr/>
              <a:t>4/7/2017</a:t>
            </a:fld>
            <a:endParaRPr lang="en-US" dirty="0"/>
          </a:p>
        </p:txBody>
      </p:sp>
      <p:pic>
        <p:nvPicPr>
          <p:cNvPr id="32" name="Picture 12" descr="NNSAlogo_Black.jp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auto">
          <a:xfrm>
            <a:off x="1380066" y="6115572"/>
            <a:ext cx="850737" cy="276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3405" y="6519332"/>
            <a:ext cx="2895600" cy="2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  <a:latin typeface="Calibri"/>
                <a:cs typeface="Calibri"/>
              </a:defRPr>
            </a:lvl1pPr>
          </a:lstStyle>
          <a:p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3124200" y="6172200"/>
            <a:ext cx="5562600" cy="2769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sz="600" kern="1200" dirty="0">
                <a:solidFill>
                  <a:schemeClr val="tx1"/>
                </a:solidFill>
                <a:effectLst/>
                <a:latin typeface="Arial"/>
                <a:ea typeface="+mn-ea"/>
                <a:cs typeface="Arial"/>
              </a:rPr>
              <a:t>Sandia National Laboratories is a multi-program laboratory managed and operated by Sandia Corporation, a wholly owned subsidiary of Lockheed Martin Corporation, for the U.S. Department of Energy’s National Nuclear Security Administration under contract DE-AC04-94AL85000. SAND NO. 2011-XXXXP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593850"/>
          </a:xfrm>
          <a:prstGeom prst="rect">
            <a:avLst/>
          </a:prstGeom>
          <a:solidFill>
            <a:srgbClr val="10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9E8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6451600"/>
            <a:ext cx="9144000" cy="7620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6" name="Picture 13" descr="NNSAlogo_Blac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725" y="6119813"/>
            <a:ext cx="1023938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ectangle 16"/>
          <p:cNvSpPr/>
          <p:nvPr/>
        </p:nvSpPr>
        <p:spPr>
          <a:xfrm>
            <a:off x="0" y="1676633"/>
            <a:ext cx="3768892" cy="1615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Photos placed in horizontal position </a:t>
            </a:r>
            <a:br>
              <a:rPr lang="en-US" sz="14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with even amount of white space</a:t>
            </a:r>
            <a:br>
              <a:rPr lang="en-US" sz="14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between photos and header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2060" y="1676633"/>
            <a:ext cx="2286000" cy="1615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226864" y="1676633"/>
            <a:ext cx="2917136" cy="1615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0646" y="3517300"/>
            <a:ext cx="7772400" cy="898198"/>
          </a:xfrm>
        </p:spPr>
        <p:txBody>
          <a:bodyPr/>
          <a:lstStyle>
            <a:lvl1pPr algn="r">
              <a:defRPr>
                <a:solidFill>
                  <a:srgbClr val="9D8C7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4352" y="4430694"/>
            <a:ext cx="5641337" cy="593737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1" name="Picture 6" descr="SNL_Stacked_White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6934200" y="533559"/>
            <a:ext cx="15240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7" descr="SNL_Motto.png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227138" y="711359"/>
            <a:ext cx="5394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934199" y="5797079"/>
            <a:ext cx="1751489" cy="322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Calibri"/>
                <a:cs typeface="Calibri"/>
              </a:defRPr>
            </a:lvl1pPr>
          </a:lstStyle>
          <a:p>
            <a:fld id="{1B799630-9E30-DE4D-BE8D-4E9CA304B925}" type="datetime1">
              <a:rPr lang="en-US" smtClean="0"/>
              <a:pPr/>
              <a:t>4/7/2017</a:t>
            </a:fld>
            <a:endParaRPr lang="en-US"/>
          </a:p>
        </p:txBody>
      </p:sp>
      <p:pic>
        <p:nvPicPr>
          <p:cNvPr id="20" name="Picture 12" descr="NNSAlogo_Black.jp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auto">
          <a:xfrm>
            <a:off x="1380066" y="6115572"/>
            <a:ext cx="850737" cy="276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3405" y="6519332"/>
            <a:ext cx="2895600" cy="2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  <a:latin typeface="Calibri"/>
                <a:cs typeface="Calibri"/>
              </a:defRPr>
            </a:lvl1pPr>
          </a:lstStyle>
          <a:p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124200" y="6172200"/>
            <a:ext cx="5562600" cy="2769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sz="600" kern="1200" dirty="0">
                <a:solidFill>
                  <a:schemeClr val="tx1"/>
                </a:solidFill>
                <a:effectLst/>
                <a:latin typeface="Arial"/>
                <a:ea typeface="+mn-ea"/>
                <a:cs typeface="Arial"/>
              </a:rPr>
              <a:t>Sandia National Laboratories is a multi-program laboratory managed and operated by Sandia Corporation, a wholly owned subsidiary of Lockheed Martin Corporation, for the U.S. Department of Energy’s National Nuclear Security Administration under contract DE-AC04-94AL85000. SAND NO. 2011-XXXXP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 userDrawn="1"/>
        </p:nvSpPr>
        <p:spPr>
          <a:xfrm>
            <a:off x="0" y="0"/>
            <a:ext cx="9144000" cy="66124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9E8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6451600"/>
            <a:ext cx="9144000" cy="7620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6" name="Picture 13" descr="NNSAlogo_Blac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725" y="6119813"/>
            <a:ext cx="1023938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ectangle 16"/>
          <p:cNvSpPr/>
          <p:nvPr/>
        </p:nvSpPr>
        <p:spPr>
          <a:xfrm>
            <a:off x="0" y="1456267"/>
            <a:ext cx="3768892" cy="183569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Photos placed in horizontal position </a:t>
            </a:r>
            <a:br>
              <a:rPr lang="en-US" sz="14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with even amount of white space</a:t>
            </a:r>
            <a:br>
              <a:rPr lang="en-US" sz="14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between photos and header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2060" y="1456267"/>
            <a:ext cx="2286000" cy="183569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226864" y="1456267"/>
            <a:ext cx="2917136" cy="183569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0646" y="3678173"/>
            <a:ext cx="7772400" cy="898198"/>
          </a:xfrm>
        </p:spPr>
        <p:txBody>
          <a:bodyPr/>
          <a:lstStyle>
            <a:lvl1pPr algn="r">
              <a:defRPr>
                <a:solidFill>
                  <a:srgbClr val="9D8C7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4352" y="4591567"/>
            <a:ext cx="5641337" cy="593737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1" name="Picture 6" descr="SNL_Stacked_White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6934200" y="533559"/>
            <a:ext cx="15240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7" descr="SNL_Motto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auto">
          <a:xfrm>
            <a:off x="1227748" y="601288"/>
            <a:ext cx="5393104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934199" y="5797079"/>
            <a:ext cx="1751489" cy="322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Calibri"/>
                <a:cs typeface="Calibri"/>
              </a:defRPr>
            </a:lvl1pPr>
          </a:lstStyle>
          <a:p>
            <a:fld id="{504244A8-8889-154D-9568-D8C635C53E9B}" type="datetime1">
              <a:rPr lang="en-US" smtClean="0"/>
              <a:pPr/>
              <a:t>4/7/2017</a:t>
            </a:fld>
            <a:endParaRPr lang="en-US"/>
          </a:p>
        </p:txBody>
      </p:sp>
      <p:pic>
        <p:nvPicPr>
          <p:cNvPr id="33" name="Picture 8" descr="SNL_color_stack.png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6934201" y="408000"/>
            <a:ext cx="1524000" cy="669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" name="Rectangle 35"/>
          <p:cNvSpPr/>
          <p:nvPr userDrawn="1"/>
        </p:nvSpPr>
        <p:spPr>
          <a:xfrm>
            <a:off x="0" y="3369731"/>
            <a:ext cx="9144000" cy="397933"/>
          </a:xfrm>
          <a:prstGeom prst="rect">
            <a:avLst/>
          </a:prstGeom>
          <a:solidFill>
            <a:srgbClr val="10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37" name="Picture 12" descr="NNSAlogo_Black.jpg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auto">
          <a:xfrm>
            <a:off x="1380066" y="6115572"/>
            <a:ext cx="850737" cy="276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3405" y="6519332"/>
            <a:ext cx="2895600" cy="2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  <a:latin typeface="Calibri"/>
                <a:cs typeface="Calibri"/>
              </a:defRPr>
            </a:lvl1pPr>
          </a:lstStyle>
          <a:p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3124200" y="6172200"/>
            <a:ext cx="5562600" cy="2769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sz="600" kern="1200" dirty="0">
                <a:solidFill>
                  <a:schemeClr val="tx1"/>
                </a:solidFill>
                <a:effectLst/>
                <a:latin typeface="Arial"/>
                <a:ea typeface="+mn-ea"/>
                <a:cs typeface="Arial"/>
              </a:rPr>
              <a:t>Sandia National Laboratories is a multi-program laboratory managed and operated by Sandia Corporation, a wholly owned subsidiary of Lockheed Martin Corporation, for the U.S. Department of Energy’s National Nuclear Security Administration under contract DE-AC04-94AL85000. SAND NO. 2011-XXXXP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 userDrawn="1"/>
        </p:nvSpPr>
        <p:spPr>
          <a:xfrm>
            <a:off x="0" y="0"/>
            <a:ext cx="9144000" cy="66124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3369731"/>
            <a:ext cx="9144000" cy="3089807"/>
          </a:xfrm>
          <a:prstGeom prst="rect">
            <a:avLst/>
          </a:prstGeom>
          <a:solidFill>
            <a:srgbClr val="9E8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30A6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6451600"/>
            <a:ext cx="9144000" cy="7620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5" name="Picture 12" descr="NNSAlogo_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80066" y="6115572"/>
            <a:ext cx="850737" cy="276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3" descr="NNSAlogo_Black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2725" y="6119813"/>
            <a:ext cx="1023938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ectangle 16"/>
          <p:cNvSpPr/>
          <p:nvPr/>
        </p:nvSpPr>
        <p:spPr>
          <a:xfrm>
            <a:off x="0" y="1456267"/>
            <a:ext cx="3768892" cy="183569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Photos placed in horizontal position </a:t>
            </a:r>
            <a:br>
              <a:rPr lang="en-US" sz="14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with even amount of white space</a:t>
            </a:r>
            <a:br>
              <a:rPr lang="en-US" sz="14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between photos and header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2060" y="1456267"/>
            <a:ext cx="2286000" cy="183569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226864" y="1456267"/>
            <a:ext cx="2917136" cy="183569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0646" y="3678173"/>
            <a:ext cx="7772400" cy="898198"/>
          </a:xfrm>
        </p:spPr>
        <p:txBody>
          <a:bodyPr/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4352" y="4591567"/>
            <a:ext cx="5641337" cy="593737"/>
          </a:xfrm>
        </p:spPr>
        <p:txBody>
          <a:bodyPr/>
          <a:lstStyle>
            <a:lvl1pPr marL="0" indent="0" algn="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1" name="Picture 6" descr="SNL_Stacked_White.png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6934200" y="533559"/>
            <a:ext cx="15240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7" descr="SNL_Motto.pn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auto">
          <a:xfrm>
            <a:off x="1227748" y="601288"/>
            <a:ext cx="5393104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934199" y="5797079"/>
            <a:ext cx="1751489" cy="322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Calibri"/>
                <a:cs typeface="Calibri"/>
              </a:defRPr>
            </a:lvl1pPr>
          </a:lstStyle>
          <a:p>
            <a:fld id="{9522E0D4-989F-3A4B-AA2E-486ADFE0E698}" type="datetime1">
              <a:rPr lang="en-US" smtClean="0"/>
              <a:pPr/>
              <a:t>4/7/2017</a:t>
            </a:fld>
            <a:endParaRPr lang="en-US"/>
          </a:p>
        </p:txBody>
      </p:sp>
      <p:pic>
        <p:nvPicPr>
          <p:cNvPr id="33" name="Picture 8" descr="SNL_color_stack.png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6934201" y="408000"/>
            <a:ext cx="1524000" cy="669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3405" y="6519332"/>
            <a:ext cx="2895600" cy="2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  <a:latin typeface="Calibri"/>
                <a:cs typeface="Calibri"/>
              </a:defRPr>
            </a:lvl1pPr>
          </a:lstStyle>
          <a:p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3124200" y="6172200"/>
            <a:ext cx="5562600" cy="2769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sz="600" kern="1200" dirty="0">
                <a:solidFill>
                  <a:schemeClr val="tx1"/>
                </a:solidFill>
                <a:effectLst/>
                <a:latin typeface="Arial"/>
                <a:ea typeface="+mn-ea"/>
                <a:cs typeface="Arial"/>
              </a:rPr>
              <a:t>Sandia National Laboratories is a multi-program laboratory managed and operated by Sandia Corporation, a wholly owned subsidiary of Lockheed Martin Corporation, for the U.S. Department of Energy’s National Nuclear Security Administration under contract DE-AC04-94AL85000. SAND NO. 2011-XXXXP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 userDrawn="1"/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 userDrawn="1"/>
        </p:nvSpPr>
        <p:spPr>
          <a:xfrm>
            <a:off x="-1" y="4040484"/>
            <a:ext cx="2484223" cy="2817515"/>
          </a:xfrm>
          <a:prstGeom prst="rect">
            <a:avLst/>
          </a:prstGeom>
          <a:solidFill>
            <a:srgbClr val="10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" y="0"/>
            <a:ext cx="2484223" cy="893232"/>
          </a:xfrm>
          <a:prstGeom prst="rect">
            <a:avLst/>
          </a:prstGeom>
          <a:solidFill>
            <a:srgbClr val="10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806432" y="-1"/>
            <a:ext cx="337567" cy="6857999"/>
          </a:xfrm>
          <a:prstGeom prst="rect">
            <a:avLst/>
          </a:prstGeom>
          <a:solidFill>
            <a:srgbClr val="9D8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" y="989095"/>
            <a:ext cx="1359657" cy="139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4502" y="1250965"/>
            <a:ext cx="5971187" cy="1233338"/>
          </a:xfrm>
        </p:spPr>
        <p:txBody>
          <a:bodyPr/>
          <a:lstStyle>
            <a:lvl1pPr algn="l">
              <a:lnSpc>
                <a:spcPts val="3800"/>
              </a:lnSpc>
              <a:defRPr>
                <a:solidFill>
                  <a:srgbClr val="9D8C7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502" y="2588978"/>
            <a:ext cx="5641337" cy="593737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1" name="Picture 6" descr="SNL_Stacked_White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57199" y="4339006"/>
            <a:ext cx="15240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7" descr="SNL_Motto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298048" y="5157318"/>
            <a:ext cx="970718" cy="1453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13" descr="NNSAlogo_Black.jpg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2763683" y="5932869"/>
            <a:ext cx="1023938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714502" y="26517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100">
                <a:latin typeface="Calibri"/>
                <a:cs typeface="Calibri"/>
              </a:defRPr>
            </a:lvl1pPr>
          </a:lstStyle>
          <a:p>
            <a:fld id="{5B35050C-AFC0-D74A-963F-148736DC45A4}" type="datetime1">
              <a:rPr lang="en-US" smtClean="0"/>
              <a:pPr/>
              <a:t>4/7/2017</a:t>
            </a:fld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0" y="2484303"/>
            <a:ext cx="2484222" cy="14679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1472391" y="989095"/>
            <a:ext cx="1011831" cy="139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Rectangle 30"/>
          <p:cNvSpPr/>
          <p:nvPr userDrawn="1"/>
        </p:nvSpPr>
        <p:spPr>
          <a:xfrm>
            <a:off x="8693778" y="-1"/>
            <a:ext cx="77764" cy="6857999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33" name="Picture 12" descr="NNSAlogo_Black.jp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auto">
          <a:xfrm>
            <a:off x="4039700" y="5921220"/>
            <a:ext cx="850737" cy="276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08522" y="6519332"/>
            <a:ext cx="2895600" cy="2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3124200" y="6172200"/>
            <a:ext cx="5562600" cy="2769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sz="600" kern="1200" dirty="0">
                <a:solidFill>
                  <a:schemeClr val="tx1"/>
                </a:solidFill>
                <a:effectLst/>
                <a:latin typeface="Arial"/>
                <a:ea typeface="+mn-ea"/>
                <a:cs typeface="Arial"/>
              </a:rPr>
              <a:t>Sandia National Laboratories is a multi-program laboratory managed and operated by Sandia Corporation, a wholly owned subsidiary of Lockheed Martin Corporation, for the U.S. Department of Energy’s National Nuclear Security Administration under contract DE-AC04-94AL85000. SAND NO. 2016-10508PE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 userDrawn="1"/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 userDrawn="1"/>
        </p:nvSpPr>
        <p:spPr>
          <a:xfrm>
            <a:off x="4571999" y="0"/>
            <a:ext cx="4572001" cy="2817515"/>
          </a:xfrm>
          <a:prstGeom prst="rect">
            <a:avLst/>
          </a:prstGeom>
          <a:solidFill>
            <a:srgbClr val="10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1999" y="5964768"/>
            <a:ext cx="4572001" cy="893232"/>
          </a:xfrm>
          <a:prstGeom prst="rect">
            <a:avLst/>
          </a:prstGeom>
          <a:solidFill>
            <a:srgbClr val="102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72001" y="2908379"/>
            <a:ext cx="1359657" cy="139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Photos placed in horizontal position </a:t>
            </a:r>
            <a:br>
              <a:rPr lang="en-US" sz="11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with even amount of white space</a:t>
            </a:r>
            <a:br>
              <a:rPr lang="en-US" sz="11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 between photos and header</a:t>
            </a:r>
          </a:p>
        </p:txBody>
      </p:sp>
      <p:pic>
        <p:nvPicPr>
          <p:cNvPr id="21" name="Picture 6" descr="SNL_Stacked_White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193248" y="1488545"/>
            <a:ext cx="15240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tangle 19"/>
          <p:cNvSpPr/>
          <p:nvPr userDrawn="1"/>
        </p:nvSpPr>
        <p:spPr>
          <a:xfrm>
            <a:off x="4572000" y="4403587"/>
            <a:ext cx="4572000" cy="14679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Photos placed in horizontal position </a:t>
            </a:r>
            <a:br>
              <a:rPr lang="en-US" sz="14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with even amount of white space</a:t>
            </a:r>
            <a:br>
              <a:rPr lang="en-US" sz="14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between photos and header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6044391" y="2908379"/>
            <a:ext cx="3099609" cy="13958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 rot="10800000">
            <a:off x="112655" y="-1"/>
            <a:ext cx="337567" cy="6857999"/>
          </a:xfrm>
          <a:prstGeom prst="rect">
            <a:avLst/>
          </a:prstGeom>
          <a:solidFill>
            <a:srgbClr val="9D8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700353" y="6375406"/>
            <a:ext cx="3761580" cy="579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950" baseline="30000" dirty="0">
                <a:latin typeface="Arial" pitchFamily="-112" charset="0"/>
              </a:rPr>
              <a:t>Sandia National Laboratories is a multi-program laboratory managed and operated by Sandia Corporation, a wholly owned subsidiary of Lockheed Martin Corporation, for the U.S. Department of Energy’s National Nuclear Security Administration under contract DE-AC04-94AL85000. </a:t>
            </a:r>
            <a:br>
              <a:rPr lang="en-US" sz="950" baseline="30000" dirty="0">
                <a:latin typeface="Arial" pitchFamily="-112" charset="0"/>
              </a:rPr>
            </a:br>
            <a:r>
              <a:rPr lang="en-US" sz="950" baseline="30000" dirty="0">
                <a:latin typeface="Arial" pitchFamily="-112" charset="0"/>
              </a:rPr>
              <a:t>SAND No. 2011–XXXXP.</a:t>
            </a:r>
          </a:p>
          <a:p>
            <a:pPr algn="l">
              <a:defRPr/>
            </a:pPr>
            <a:endParaRPr lang="en-US" sz="950" baseline="30000" dirty="0">
              <a:latin typeface="Arial" pitchFamily="-11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2418" y="1250965"/>
            <a:ext cx="3789515" cy="1233338"/>
          </a:xfrm>
        </p:spPr>
        <p:txBody>
          <a:bodyPr/>
          <a:lstStyle>
            <a:lvl1pPr algn="l">
              <a:lnSpc>
                <a:spcPts val="3800"/>
              </a:lnSpc>
              <a:defRPr>
                <a:solidFill>
                  <a:srgbClr val="9D8C7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2418" y="2588978"/>
            <a:ext cx="3586315" cy="1085555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7" name="Picture 13" descr="NNSAlogo_Black.jp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01957" y="6051407"/>
            <a:ext cx="1023938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72418" y="265178"/>
            <a:ext cx="1029382" cy="285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100">
                <a:latin typeface="Calibri"/>
                <a:cs typeface="Calibri"/>
              </a:defRPr>
            </a:lvl1pPr>
          </a:lstStyle>
          <a:p>
            <a:fld id="{7D098A99-26EF-B34F-91F8-30EA53688AF7}" type="datetime1">
              <a:rPr lang="en-US" smtClean="0"/>
              <a:pPr/>
              <a:t>4/7/2017</a:t>
            </a:fld>
            <a:endParaRPr lang="en-US" dirty="0"/>
          </a:p>
        </p:txBody>
      </p:sp>
      <p:sp>
        <p:nvSpPr>
          <p:cNvPr id="31" name="Rectangle 30"/>
          <p:cNvSpPr/>
          <p:nvPr userDrawn="1"/>
        </p:nvSpPr>
        <p:spPr>
          <a:xfrm rot="10800000">
            <a:off x="1" y="-1"/>
            <a:ext cx="77764" cy="6857999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33" name="Picture 12" descr="NNSAlogo_Black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auto">
          <a:xfrm>
            <a:off x="2077974" y="6039758"/>
            <a:ext cx="850737" cy="276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7" descr="SNL_motto_2 lines.pn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995332" y="1586652"/>
            <a:ext cx="1935484" cy="394494"/>
          </a:xfrm>
          <a:prstGeom prst="rect">
            <a:avLst/>
          </a:prstGeom>
        </p:spPr>
      </p:pic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13597" y="6519332"/>
            <a:ext cx="2895600" cy="2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rgbClr val="FFFFFF"/>
                </a:solidFill>
                <a:latin typeface="Calibri"/>
                <a:cs typeface="Calibri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2300" y="6166934"/>
            <a:ext cx="2133600" cy="476250"/>
          </a:xfrm>
          <a:ln/>
        </p:spPr>
        <p:txBody>
          <a:bodyPr/>
          <a:lstStyle>
            <a:lvl1pPr>
              <a:defRPr>
                <a:latin typeface="Calibri"/>
                <a:cs typeface="Calibri"/>
              </a:defRPr>
            </a:lvl1pPr>
          </a:lstStyle>
          <a:p>
            <a:fld id="{C9CA6C2B-6061-6F46-BF6B-C0454CDDAB35}" type="datetime1">
              <a:rPr lang="en-US" smtClean="0"/>
              <a:pPr/>
              <a:t>4/7/2017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E55A7B-7854-E145-92D9-B491DF4BAE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3405" y="6519332"/>
            <a:ext cx="2895600" cy="2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  <a:latin typeface="Calibri"/>
                <a:cs typeface="Calibri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DE15B5-4D50-754D-8585-236811896E05}" type="datetime1">
              <a:rPr lang="en-US" smtClean="0"/>
              <a:pPr/>
              <a:t>4/7/2017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E55A7B-7854-E145-92D9-B491DF4BAE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4F66A0-55BE-484A-9667-5C4C7A46FB26}" type="datetime1">
              <a:rPr lang="en-US" smtClean="0"/>
              <a:pPr/>
              <a:t>4/7/2017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E55A7B-7854-E145-92D9-B491DF4BAE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31639C-5EF8-8C48-833F-078F90087180}" type="datetime1">
              <a:rPr lang="en-US" smtClean="0"/>
              <a:pPr/>
              <a:t>4/7/2017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E55A7B-7854-E145-92D9-B491DF4BAE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35C3D4-B14E-194D-A22F-ABBD9D7BE7F7}" type="datetime1">
              <a:rPr lang="en-US" smtClean="0"/>
              <a:pPr/>
              <a:t>4/7/2017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E55A7B-7854-E145-92D9-B491DF4BAE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CFF6A9-F7ED-464D-9ECE-18CDAAFFF013}" type="datetime1">
              <a:rPr lang="en-US" smtClean="0"/>
              <a:pPr/>
              <a:t>4/7/2017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E55A7B-7854-E145-92D9-B491DF4BAE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865AE2-28C7-4947-8319-D60EEB07BE79}" type="datetime1">
              <a:rPr lang="en-US" smtClean="0"/>
              <a:pPr/>
              <a:t>4/7/2017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0E4600-0381-4CF3-88F2-7ED7D2E3F9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782EBC-51D7-AB40-8702-393A26BF0924}" type="datetime1">
              <a:rPr lang="en-US" smtClean="0"/>
              <a:pPr/>
              <a:t>4/7/2017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E55A7B-7854-E145-92D9-B491DF4BAE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9A187D-6C3F-6D41-880E-F6B6C4095670}" type="datetime1">
              <a:rPr lang="en-US" smtClean="0"/>
              <a:pPr/>
              <a:t>4/7/2017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E55A7B-7854-E145-92D9-B491DF4BAE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07F8E1-8F00-1645-9B46-B2F7ACC8F53A}" type="datetime1">
              <a:rPr lang="en-US" smtClean="0"/>
              <a:pPr/>
              <a:t>4/7/2017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E55A7B-7854-E145-92D9-B491DF4BAE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38B7F0-25BC-B045-8049-7CADA7B3A1D1}" type="datetime1">
              <a:rPr lang="en-US" smtClean="0"/>
              <a:pPr/>
              <a:t>4/7/2017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5E55A7B-7854-E145-92D9-B491DF4BAE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9E8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451600"/>
            <a:ext cx="9144000" cy="7620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28" name="Picture 8" descr="SNL_color_stack.png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8001000" y="228600"/>
            <a:ext cx="936625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78740"/>
            <a:ext cx="8229600" cy="484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9274" y="6166934"/>
            <a:ext cx="1490926" cy="2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Calibri"/>
                <a:cs typeface="Calibri"/>
              </a:defRPr>
            </a:lvl1pPr>
          </a:lstStyle>
          <a:p>
            <a:fld id="{30B37176-1C50-7042-8162-64D2C2671FE5}" type="datetime1">
              <a:rPr lang="en-US" smtClean="0"/>
              <a:pPr/>
              <a:t>4/7/2017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3405" y="6519332"/>
            <a:ext cx="2895600" cy="2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  <a:latin typeface="Calibri"/>
                <a:cs typeface="Calibri"/>
              </a:defRPr>
            </a:lvl1pPr>
          </a:lstStyle>
          <a:p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05800" y="6153150"/>
            <a:ext cx="6096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Calibri"/>
                <a:cs typeface="Calibri"/>
              </a:defRPr>
            </a:lvl1pPr>
          </a:lstStyle>
          <a:p>
            <a:fld id="{A5E55A7B-7854-E145-92D9-B491DF4BAE2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98" r:id="rId2"/>
    <p:sldLayoutId id="2147483796" r:id="rId3"/>
    <p:sldLayoutId id="2147483799" r:id="rId4"/>
    <p:sldLayoutId id="2147483797" r:id="rId5"/>
    <p:sldLayoutId id="2147483800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102E54"/>
          </a:solidFill>
          <a:latin typeface="Calibri"/>
          <a:ea typeface="ＭＳ Ｐゴシック" charset="-128"/>
          <a:cs typeface="Calibri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102E54"/>
          </a:solidFill>
          <a:latin typeface="Calibri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102E54"/>
          </a:solidFill>
          <a:latin typeface="Calibri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102E54"/>
          </a:solidFill>
          <a:latin typeface="Calibri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102E54"/>
          </a:solidFill>
          <a:latin typeface="Calibri" charset="0"/>
          <a:ea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102E54"/>
        </a:buClr>
        <a:buFont typeface="Wingdings" pitchFamily="-111" charset="2"/>
        <a:buChar char="§"/>
        <a:defRPr sz="2400">
          <a:solidFill>
            <a:schemeClr val="tx1"/>
          </a:solidFill>
          <a:latin typeface="Calibri"/>
          <a:ea typeface="ＭＳ Ｐゴシック" charset="-128"/>
          <a:cs typeface="Calibri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800000"/>
        </a:buClr>
        <a:buFont typeface="Wingdings" pitchFamily="-111" charset="2"/>
        <a:buChar char="§"/>
        <a:defRPr sz="2000">
          <a:solidFill>
            <a:schemeClr val="tx1"/>
          </a:solidFill>
          <a:latin typeface="Calibri"/>
          <a:ea typeface="ＭＳ Ｐゴシック" pitchFamily="-112" charset="-128"/>
          <a:cs typeface="Calibri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9E8C78"/>
        </a:buClr>
        <a:buFont typeface="Wingdings" pitchFamily="-111" charset="2"/>
        <a:buChar char="§"/>
        <a:defRPr>
          <a:solidFill>
            <a:schemeClr val="tx1"/>
          </a:solidFill>
          <a:latin typeface="Calibri"/>
          <a:ea typeface="ＭＳ Ｐゴシック" pitchFamily="-112" charset="-128"/>
          <a:cs typeface="Calibri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Calibri"/>
          <a:ea typeface="ＭＳ Ｐゴシック" pitchFamily="-112" charset="-128"/>
          <a:cs typeface="Calibri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Calibri"/>
          <a:ea typeface="ＭＳ Ｐゴシック" pitchFamily="-112" charset="-128"/>
          <a:cs typeface="Calibri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rrmitch@sandia.gov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rrmitch@sandia.gov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Recent Developments in Linkography Based Cyber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Robert Mitchell</a:t>
            </a:r>
            <a:br>
              <a:rPr lang="en-US" dirty="0"/>
            </a:br>
            <a:r>
              <a:rPr lang="en-US" dirty="0">
                <a:hlinkClick r:id="rId2"/>
              </a:rPr>
              <a:t>rrmitch@sandia.gov</a:t>
            </a:r>
            <a:br>
              <a:rPr lang="en-US" dirty="0"/>
            </a:br>
            <a:r>
              <a:rPr lang="en-US" dirty="0"/>
              <a:t>703.597.3730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Linkography</a:t>
            </a:r>
          </a:p>
          <a:p>
            <a:r>
              <a:rPr lang="en-US" dirty="0"/>
              <a:t>Concept of Operations</a:t>
            </a:r>
          </a:p>
          <a:p>
            <a:r>
              <a:rPr lang="en-US" dirty="0"/>
              <a:t>Machine Learning</a:t>
            </a:r>
          </a:p>
          <a:p>
            <a:r>
              <a:rPr lang="en-US" dirty="0" err="1"/>
              <a:t>Subsessionization</a:t>
            </a:r>
            <a:endParaRPr lang="en-US" dirty="0"/>
          </a:p>
          <a:p>
            <a:r>
              <a:rPr lang="en-US" dirty="0"/>
              <a:t>Abstractions</a:t>
            </a:r>
          </a:p>
          <a:p>
            <a:r>
              <a:rPr lang="en-US" dirty="0"/>
              <a:t>Ontologies</a:t>
            </a:r>
          </a:p>
          <a:p>
            <a:r>
              <a:rPr lang="en-US" dirty="0"/>
              <a:t>Dynamic Defense</a:t>
            </a:r>
          </a:p>
          <a:p>
            <a:r>
              <a:rPr lang="en-US" dirty="0"/>
              <a:t>Game Theory</a:t>
            </a:r>
          </a:p>
          <a:p>
            <a:r>
              <a:rPr lang="en-US" dirty="0" err="1"/>
              <a:t>Shareables</a:t>
            </a:r>
            <a:endParaRPr lang="en-US" dirty="0"/>
          </a:p>
          <a:p>
            <a:r>
              <a:rPr lang="en-US" dirty="0"/>
              <a:t>Conclusions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5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Linkography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Founded by Gabriela Goldschmidt</a:t>
            </a:r>
          </a:p>
          <a:p>
            <a:r>
              <a:rPr lang="en-US" sz="2000" dirty="0"/>
              <a:t>The fields of architecture and design first used linkographs to support the training process</a:t>
            </a:r>
          </a:p>
          <a:p>
            <a:r>
              <a:rPr lang="en-US" sz="2000" dirty="0"/>
              <a:t>Linkographs visualize the creativity of a human’s behavior or the interaction of a group</a:t>
            </a:r>
          </a:p>
          <a:p>
            <a:r>
              <a:rPr lang="en-US" sz="2000" dirty="0" err="1"/>
              <a:t>Linkographs</a:t>
            </a:r>
            <a:r>
              <a:rPr lang="en-US" sz="2000" dirty="0"/>
              <a:t> reveal insights to humans (via shape and size) and machines (via features)</a:t>
            </a:r>
          </a:p>
          <a:p>
            <a:pPr lvl="1"/>
            <a:r>
              <a:rPr lang="en-US" sz="1800" dirty="0"/>
              <a:t>Novice architect linkographs differ from experienced architect linkographs</a:t>
            </a:r>
          </a:p>
          <a:p>
            <a:pPr lvl="1"/>
            <a:r>
              <a:rPr lang="en-US" sz="1800" dirty="0"/>
              <a:t>Linkographs generated from cyber attackers differ from legitimate user linkographs</a:t>
            </a:r>
          </a:p>
          <a:p>
            <a:pPr lvl="1"/>
            <a:r>
              <a:rPr lang="en-US" sz="1800" dirty="0"/>
              <a:t>Attacker A linkographs differ from attacker B linkographs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84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619" y="1149523"/>
            <a:ext cx="5929395" cy="47435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Linkography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2" y="1033755"/>
            <a:ext cx="4751482" cy="37028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863" y="4537877"/>
            <a:ext cx="2507198" cy="150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80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Rectangles are logic blocks</a:t>
            </a:r>
          </a:p>
          <a:p>
            <a:r>
              <a:rPr lang="en-US" dirty="0"/>
              <a:t>Parallelograms are data at rest</a:t>
            </a:r>
          </a:p>
          <a:p>
            <a:r>
              <a:rPr lang="en-US" dirty="0"/>
              <a:t>Green blocks are complete</a:t>
            </a:r>
          </a:p>
          <a:p>
            <a:r>
              <a:rPr lang="en-US" dirty="0"/>
              <a:t>Yellow indicates preliminary research results</a:t>
            </a:r>
          </a:p>
          <a:p>
            <a:r>
              <a:rPr lang="en-US" dirty="0"/>
              <a:t>Red blocks identify future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30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72" y="2959880"/>
            <a:ext cx="8885396" cy="1290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Concept of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5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Detail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480" y="2937034"/>
            <a:ext cx="6797040" cy="153162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43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Intrusion Detection Detail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67769"/>
            <a:ext cx="8229600" cy="1070149"/>
          </a:xfrm>
        </p:spPr>
      </p:pic>
    </p:spTree>
    <p:extLst>
      <p:ext uri="{BB962C8B-B14F-4D97-AF65-F5344CB8AC3E}">
        <p14:creationId xmlns:p14="http://schemas.microsoft.com/office/powerpoint/2010/main" val="109386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Linkograph Detail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980" y="3051334"/>
            <a:ext cx="4892040" cy="130302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6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 Prediction Detail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86220"/>
            <a:ext cx="8229600" cy="1033247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70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Ontology Refinement Detail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890" y="3199924"/>
            <a:ext cx="6332220" cy="100584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91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see our CyberSci 2015 presentation “Dimension Reduction for Cyber-attack Detection and Analysis” for additional detail on linkography-related:</a:t>
            </a:r>
          </a:p>
          <a:p>
            <a:pPr lvl="1"/>
            <a:r>
              <a:rPr lang="en-US" dirty="0"/>
              <a:t>Dimension Reduction</a:t>
            </a:r>
          </a:p>
          <a:p>
            <a:pPr lvl="1"/>
            <a:r>
              <a:rPr lang="en-US" dirty="0"/>
              <a:t>Behavior Prediction</a:t>
            </a:r>
          </a:p>
          <a:p>
            <a:pPr lvl="1"/>
            <a:r>
              <a:rPr lang="en-US" dirty="0"/>
              <a:t>Clustering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04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Subsessionization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Substringing</a:t>
            </a:r>
            <a:r>
              <a:rPr lang="en-US" dirty="0"/>
              <a:t> and </a:t>
            </a:r>
            <a:r>
              <a:rPr lang="en-US" dirty="0" err="1"/>
              <a:t>subsequencing</a:t>
            </a:r>
            <a:r>
              <a:rPr lang="en-US" dirty="0"/>
              <a:t> approaches</a:t>
            </a:r>
          </a:p>
          <a:p>
            <a:pPr lvl="1"/>
            <a:r>
              <a:rPr lang="en-US" dirty="0"/>
              <a:t>Time-based </a:t>
            </a:r>
            <a:r>
              <a:rPr lang="en-US" dirty="0" err="1"/>
              <a:t>substringing</a:t>
            </a:r>
            <a:endParaRPr lang="en-US" dirty="0"/>
          </a:p>
          <a:p>
            <a:pPr lvl="1"/>
            <a:r>
              <a:rPr lang="en-US" dirty="0"/>
              <a:t>Source-based </a:t>
            </a:r>
            <a:r>
              <a:rPr lang="en-US" dirty="0" err="1"/>
              <a:t>substringing</a:t>
            </a:r>
            <a:endParaRPr lang="en-US" dirty="0"/>
          </a:p>
          <a:p>
            <a:pPr lvl="1"/>
            <a:r>
              <a:rPr lang="en-US" dirty="0"/>
              <a:t>Linkograph entropy-based </a:t>
            </a:r>
            <a:r>
              <a:rPr lang="en-US" dirty="0" err="1"/>
              <a:t>substringing</a:t>
            </a:r>
            <a:endParaRPr lang="en-US" dirty="0"/>
          </a:p>
          <a:p>
            <a:pPr lvl="1"/>
            <a:r>
              <a:rPr lang="en-US" dirty="0"/>
              <a:t>Statistical </a:t>
            </a:r>
            <a:r>
              <a:rPr lang="en-US" dirty="0" err="1"/>
              <a:t>substringing</a:t>
            </a:r>
            <a:endParaRPr lang="en-US" dirty="0"/>
          </a:p>
          <a:p>
            <a:r>
              <a:rPr lang="en-US" dirty="0"/>
              <a:t>Offline and online approaches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36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Cyber Attacker Abstraction</a:t>
            </a:r>
          </a:p>
          <a:p>
            <a:pPr lvl="1"/>
            <a:r>
              <a:rPr lang="en-US" dirty="0"/>
              <a:t>Move</a:t>
            </a:r>
          </a:p>
          <a:p>
            <a:pPr lvl="1"/>
            <a:r>
              <a:rPr lang="en-US" dirty="0"/>
              <a:t>Execute</a:t>
            </a:r>
          </a:p>
          <a:p>
            <a:pPr lvl="1"/>
            <a:r>
              <a:rPr lang="en-US" dirty="0"/>
              <a:t>Look</a:t>
            </a:r>
          </a:p>
          <a:p>
            <a:pPr lvl="1"/>
            <a:r>
              <a:rPr lang="en-US" dirty="0"/>
              <a:t>Transfer</a:t>
            </a:r>
          </a:p>
          <a:p>
            <a:pPr lvl="1"/>
            <a:r>
              <a:rPr lang="en-US" dirty="0"/>
              <a:t>Cleanup</a:t>
            </a:r>
          </a:p>
          <a:p>
            <a:r>
              <a:rPr lang="en-US" dirty="0"/>
              <a:t>Static Cyber Defender Abstraction</a:t>
            </a:r>
          </a:p>
          <a:p>
            <a:pPr lvl="1"/>
            <a:r>
              <a:rPr lang="en-US" dirty="0"/>
              <a:t>Research</a:t>
            </a:r>
          </a:p>
          <a:p>
            <a:pPr lvl="1"/>
            <a:r>
              <a:rPr lang="en-US" dirty="0"/>
              <a:t>Collaborate</a:t>
            </a:r>
          </a:p>
          <a:p>
            <a:pPr lvl="1"/>
            <a:r>
              <a:rPr lang="en-US" dirty="0"/>
              <a:t>Annotate</a:t>
            </a:r>
          </a:p>
          <a:p>
            <a:pPr lvl="1"/>
            <a:r>
              <a:rPr lang="en-US" dirty="0"/>
              <a:t>Remediate</a:t>
            </a:r>
          </a:p>
          <a:p>
            <a:r>
              <a:rPr lang="en-US" dirty="0"/>
              <a:t>Functional Abstractions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45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Naïve: Self Loop, Empty, Complete</a:t>
            </a:r>
          </a:p>
          <a:p>
            <a:r>
              <a:rPr lang="en-US" dirty="0"/>
              <a:t>Thoughtful: Forward Progress</a:t>
            </a:r>
          </a:p>
          <a:p>
            <a:r>
              <a:rPr lang="en-US" dirty="0"/>
              <a:t>Dynamic: Ontology Refinement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91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Ontologies: Naïve and Thoughtful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 Loop Ontology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90" y="2565421"/>
            <a:ext cx="2855208" cy="3170195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Forward Progress Ontology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308" y="2667030"/>
            <a:ext cx="2855208" cy="2966977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51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Ontologies: Ontology Refinement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Ontology Refinement Formulation: (O, L) -&gt; O’</a:t>
            </a:r>
          </a:p>
          <a:p>
            <a:r>
              <a:rPr lang="en-US" dirty="0"/>
              <a:t>Brute Force Minimum Similarity</a:t>
            </a:r>
          </a:p>
          <a:p>
            <a:r>
              <a:rPr lang="en-US" dirty="0"/>
              <a:t>High Impact First Minimum Similarity</a:t>
            </a:r>
          </a:p>
          <a:p>
            <a:r>
              <a:rPr lang="en-US" dirty="0"/>
              <a:t>MapReduce Prototype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49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Ontologies: Ontology Refinement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47" y="1840210"/>
            <a:ext cx="8905199" cy="309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00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Ontology Refinement</a:t>
            </a:r>
          </a:p>
          <a:p>
            <a:r>
              <a:rPr lang="en-US" dirty="0"/>
              <a:t>Retrain Machine Learning Models</a:t>
            </a:r>
          </a:p>
          <a:p>
            <a:r>
              <a:rPr lang="en-US" dirty="0"/>
              <a:t>Generating </a:t>
            </a:r>
            <a:r>
              <a:rPr lang="en-US" dirty="0" err="1"/>
              <a:t>Honeycues</a:t>
            </a:r>
            <a:endParaRPr lang="en-US" dirty="0"/>
          </a:p>
          <a:p>
            <a:r>
              <a:rPr lang="en-US" dirty="0"/>
              <a:t>Measuring Honeycue Effectiveness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1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Components</a:t>
            </a:r>
          </a:p>
          <a:p>
            <a:pPr lvl="1"/>
            <a:r>
              <a:rPr lang="en-US" dirty="0"/>
              <a:t>Players</a:t>
            </a:r>
          </a:p>
          <a:p>
            <a:pPr lvl="1"/>
            <a:r>
              <a:rPr lang="en-US" dirty="0"/>
              <a:t>Information</a:t>
            </a:r>
          </a:p>
          <a:p>
            <a:pPr lvl="1"/>
            <a:r>
              <a:rPr lang="en-US" dirty="0"/>
              <a:t>Actions</a:t>
            </a:r>
          </a:p>
          <a:p>
            <a:pPr lvl="1"/>
            <a:r>
              <a:rPr lang="en-US" dirty="0"/>
              <a:t>Payoffs</a:t>
            </a:r>
          </a:p>
          <a:p>
            <a:r>
              <a:rPr lang="en-US" dirty="0"/>
              <a:t>Variant</a:t>
            </a:r>
          </a:p>
          <a:p>
            <a:pPr lvl="1"/>
            <a:r>
              <a:rPr lang="en-US" dirty="0" err="1"/>
              <a:t>Noncooperative</a:t>
            </a:r>
            <a:endParaRPr lang="en-US" dirty="0"/>
          </a:p>
          <a:p>
            <a:pPr lvl="1"/>
            <a:r>
              <a:rPr lang="en-US" dirty="0"/>
              <a:t>Asymmetric</a:t>
            </a:r>
          </a:p>
          <a:p>
            <a:pPr lvl="1"/>
            <a:r>
              <a:rPr lang="en-US" dirty="0"/>
              <a:t>Imperfect Information</a:t>
            </a:r>
          </a:p>
          <a:p>
            <a:pPr lvl="1"/>
            <a:r>
              <a:rPr lang="en-US" dirty="0"/>
              <a:t>Zero Sum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199" y="2"/>
            <a:ext cx="3142183" cy="639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035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Shareables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linkshop</a:t>
            </a:r>
            <a:r>
              <a:rPr lang="en-US" dirty="0"/>
              <a:t> Package</a:t>
            </a:r>
          </a:p>
          <a:p>
            <a:r>
              <a:rPr lang="en-US" dirty="0"/>
              <a:t>SAND Report: “Using Linkography of </a:t>
            </a:r>
            <a:r>
              <a:rPr lang="sv-SE" dirty="0"/>
              <a:t>Cyber Attack Patterns to Inform </a:t>
            </a:r>
            <a:r>
              <a:rPr lang="en-US" dirty="0"/>
              <a:t>Honeytoken Placement”</a:t>
            </a:r>
          </a:p>
          <a:p>
            <a:r>
              <a:rPr lang="en-US" dirty="0"/>
              <a:t>IEEE CNS Paper: “Using Linkography to Understand Cyberattacks”</a:t>
            </a:r>
          </a:p>
          <a:p>
            <a:r>
              <a:rPr lang="en-US" dirty="0"/>
              <a:t>IEEE CCWC Paper: “Linkography Ontology Refinement and Cybersecurity”</a:t>
            </a:r>
          </a:p>
          <a:p>
            <a:r>
              <a:rPr lang="en-US" dirty="0"/>
              <a:t>IEEE MILCOM Paper (submitted): “</a:t>
            </a:r>
            <a:r>
              <a:rPr lang="en-US" dirty="0" err="1"/>
              <a:t>Linkography</a:t>
            </a:r>
            <a:r>
              <a:rPr lang="en-US" dirty="0"/>
              <a:t> Abstraction Refinement and Cybersecurity”</a:t>
            </a:r>
          </a:p>
          <a:p>
            <a:r>
              <a:rPr lang="en-US" dirty="0"/>
              <a:t>Seminar at Your Worksite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47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  <a:p>
            <a:pPr lvl="1"/>
            <a:r>
              <a:rPr lang="en-US" dirty="0"/>
              <a:t>Interdisciplinary Research Challenges</a:t>
            </a:r>
          </a:p>
          <a:p>
            <a:pPr lvl="1"/>
            <a:r>
              <a:rPr lang="en-US" dirty="0"/>
              <a:t>Current Cyber Attack Models are Macroscale</a:t>
            </a:r>
          </a:p>
          <a:p>
            <a:pPr lvl="1"/>
            <a:r>
              <a:rPr lang="en-US" dirty="0"/>
              <a:t>Humans In The Loop</a:t>
            </a:r>
          </a:p>
          <a:p>
            <a:r>
              <a:rPr lang="en-US" dirty="0"/>
              <a:t>Future Work</a:t>
            </a:r>
          </a:p>
          <a:p>
            <a:pPr lvl="1"/>
            <a:r>
              <a:rPr lang="en-US" dirty="0"/>
              <a:t>Subsequence-Based </a:t>
            </a:r>
            <a:r>
              <a:rPr lang="en-US" dirty="0" err="1"/>
              <a:t>Subsessionization</a:t>
            </a:r>
            <a:endParaRPr lang="en-US" dirty="0"/>
          </a:p>
          <a:p>
            <a:pPr lvl="1"/>
            <a:r>
              <a:rPr lang="en-US" dirty="0"/>
              <a:t>Alert Correlation</a:t>
            </a:r>
          </a:p>
          <a:p>
            <a:pPr lvl="1"/>
            <a:r>
              <a:rPr lang="en-US" dirty="0"/>
              <a:t>Additional Data Sources</a:t>
            </a:r>
          </a:p>
          <a:p>
            <a:pPr lvl="1"/>
            <a:r>
              <a:rPr lang="en-US"/>
              <a:t>Human </a:t>
            </a:r>
            <a:r>
              <a:rPr lang="en-US" dirty="0"/>
              <a:t>Subject Research</a:t>
            </a:r>
          </a:p>
          <a:p>
            <a:pPr lvl="1"/>
            <a:r>
              <a:rPr lang="en-US" dirty="0"/>
              <a:t>Training Pivot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04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Linkography</a:t>
            </a:r>
          </a:p>
          <a:p>
            <a:r>
              <a:rPr lang="en-US" dirty="0"/>
              <a:t>Concept of Operations</a:t>
            </a:r>
          </a:p>
          <a:p>
            <a:r>
              <a:rPr lang="en-US" dirty="0"/>
              <a:t>Machine Learning</a:t>
            </a:r>
          </a:p>
          <a:p>
            <a:r>
              <a:rPr lang="en-US" dirty="0" err="1"/>
              <a:t>Subsessionization</a:t>
            </a:r>
            <a:endParaRPr lang="en-US" dirty="0"/>
          </a:p>
          <a:p>
            <a:r>
              <a:rPr lang="en-US" dirty="0"/>
              <a:t>Abstractions</a:t>
            </a:r>
          </a:p>
          <a:p>
            <a:r>
              <a:rPr lang="en-US" dirty="0"/>
              <a:t>Ontologies</a:t>
            </a:r>
          </a:p>
          <a:p>
            <a:r>
              <a:rPr lang="en-US" dirty="0"/>
              <a:t>Dynamic Defense</a:t>
            </a:r>
          </a:p>
          <a:p>
            <a:r>
              <a:rPr lang="en-US" dirty="0"/>
              <a:t>Game Theory</a:t>
            </a:r>
          </a:p>
          <a:p>
            <a:r>
              <a:rPr lang="en-US" dirty="0" err="1"/>
              <a:t>Shareables</a:t>
            </a:r>
            <a:endParaRPr lang="en-US" dirty="0"/>
          </a:p>
          <a:p>
            <a:r>
              <a:rPr lang="en-US" dirty="0"/>
              <a:t>Conclusions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5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Recent Developments in Linkography Based Cyber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Robert Mitchell</a:t>
            </a:r>
            <a:br>
              <a:rPr lang="en-US" dirty="0"/>
            </a:br>
            <a:r>
              <a:rPr lang="en-US" dirty="0">
                <a:hlinkClick r:id="rId2"/>
              </a:rPr>
              <a:t>rrmitch@sandia.gov</a:t>
            </a:r>
            <a:br>
              <a:rPr lang="en-US" dirty="0"/>
            </a:br>
            <a:r>
              <a:rPr lang="en-US" dirty="0"/>
              <a:t>703.597.3730</a:t>
            </a:r>
          </a:p>
        </p:txBody>
      </p:sp>
    </p:spTree>
    <p:extLst>
      <p:ext uri="{BB962C8B-B14F-4D97-AF65-F5344CB8AC3E}">
        <p14:creationId xmlns:p14="http://schemas.microsoft.com/office/powerpoint/2010/main" val="1024269846"/>
      </p:ext>
    </p:extLst>
  </p:cSld>
  <p:clrMapOvr>
    <a:masterClrMapping/>
  </p:clrMapOvr>
</p:sld>
</file>

<file path=ppt/theme/theme1.xml><?xml version="1.0" encoding="utf-8"?>
<a:theme xmlns:a="http://schemas.openxmlformats.org/drawingml/2006/main" name="Sandia_CorpPresentation_Template1">
  <a:themeElements>
    <a:clrScheme name="Sandia Brand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103160"/>
      </a:accent5>
      <a:accent6>
        <a:srgbClr val="730E00"/>
      </a:accent6>
      <a:hlink>
        <a:srgbClr val="37A6D2"/>
      </a:hlink>
      <a:folHlink>
        <a:srgbClr val="B71A2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Sandia_CorpPresentation_Template1.thmx</Template>
  <TotalTime>2654</TotalTime>
  <Words>442</Words>
  <Application>Microsoft Office PowerPoint</Application>
  <PresentationFormat>On-screen Show (4:3)</PresentationFormat>
  <Paragraphs>141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ＭＳ Ｐゴシック</vt:lpstr>
      <vt:lpstr>Arial</vt:lpstr>
      <vt:lpstr>Calibri</vt:lpstr>
      <vt:lpstr>Wingdings</vt:lpstr>
      <vt:lpstr>Sandia_CorpPresentation_Template1</vt:lpstr>
      <vt:lpstr>Recent Developments in Linkography Based Cyber Security</vt:lpstr>
      <vt:lpstr>Agenda</vt:lpstr>
      <vt:lpstr>Introduction to Linkography</vt:lpstr>
      <vt:lpstr>Introduction to Linkography</vt:lpstr>
      <vt:lpstr>Concept of Operations</vt:lpstr>
      <vt:lpstr>Overall Concept of Operations</vt:lpstr>
      <vt:lpstr>Preprocessing Detail</vt:lpstr>
      <vt:lpstr>Intrusion Detection Detail</vt:lpstr>
      <vt:lpstr>Create Linkograph Detail</vt:lpstr>
      <vt:lpstr>Behavior Prediction Detail</vt:lpstr>
      <vt:lpstr>Ontology Refinement Detail</vt:lpstr>
      <vt:lpstr>Machine Learning</vt:lpstr>
      <vt:lpstr>Subsessionization</vt:lpstr>
      <vt:lpstr>Abstractions</vt:lpstr>
      <vt:lpstr>Ontologies</vt:lpstr>
      <vt:lpstr>Ontologies: Naïve and Thoughtful</vt:lpstr>
      <vt:lpstr>Ontologies: Ontology Refinement</vt:lpstr>
      <vt:lpstr>Ontologies: Ontology Refinement</vt:lpstr>
      <vt:lpstr>Dynamic Defense</vt:lpstr>
      <vt:lpstr>Game Theory</vt:lpstr>
      <vt:lpstr>Shareables</vt:lpstr>
      <vt:lpstr>Conclusions</vt:lpstr>
      <vt:lpstr>Recap</vt:lpstr>
      <vt:lpstr>Recent Developments in Linkography Based Cyber Security</vt:lpstr>
    </vt:vector>
  </TitlesOfParts>
  <Company>Sandia National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Vittitow, Michael P</dc:creator>
  <cp:lastModifiedBy> </cp:lastModifiedBy>
  <cp:revision>57</cp:revision>
  <dcterms:created xsi:type="dcterms:W3CDTF">2011-10-03T16:15:05Z</dcterms:created>
  <dcterms:modified xsi:type="dcterms:W3CDTF">2017-04-07T19:59:30Z</dcterms:modified>
</cp:coreProperties>
</file>