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9" r:id="rId3"/>
    <p:sldId id="258" r:id="rId4"/>
    <p:sldId id="260" r:id="rId5"/>
    <p:sldId id="262" r:id="rId6"/>
    <p:sldId id="261" r:id="rId7"/>
    <p:sldId id="263" r:id="rId8"/>
    <p:sldId id="275" r:id="rId9"/>
    <p:sldId id="267" r:id="rId10"/>
    <p:sldId id="268" r:id="rId11"/>
    <p:sldId id="270" r:id="rId12"/>
    <p:sldId id="272" r:id="rId13"/>
    <p:sldId id="273" r:id="rId14"/>
    <p:sldId id="278" r:id="rId15"/>
    <p:sldId id="276" r:id="rId16"/>
    <p:sldId id="281" r:id="rId17"/>
    <p:sldId id="282" r:id="rId18"/>
    <p:sldId id="283" r:id="rId19"/>
    <p:sldId id="279" r:id="rId20"/>
    <p:sldId id="284" r:id="rId21"/>
    <p:sldId id="285" r:id="rId22"/>
    <p:sldId id="280" r:id="rId23"/>
    <p:sldId id="287" r:id="rId24"/>
    <p:sldId id="288" r:id="rId25"/>
    <p:sldId id="286" r:id="rId26"/>
    <p:sldId id="274"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755"/>
    <p:restoredTop sz="70061"/>
  </p:normalViewPr>
  <p:slideViewPr>
    <p:cSldViewPr snapToGrid="0" snapToObjects="1">
      <p:cViewPr varScale="1">
        <p:scale>
          <a:sx n="65" d="100"/>
          <a:sy n="65" d="100"/>
        </p:scale>
        <p:origin x="208"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22CFBF-9E99-524F-806B-014DCC1DB6AB}" type="datetimeFigureOut">
              <a:rPr lang="en-US" smtClean="0"/>
              <a:t>5/30/17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3016A-DF03-E647-893D-7110A3F1E2B8}" type="slidenum">
              <a:rPr lang="en-US" smtClean="0"/>
              <a:t>‹#›</a:t>
            </a:fld>
            <a:endParaRPr lang="en-US"/>
          </a:p>
        </p:txBody>
      </p:sp>
    </p:spTree>
    <p:extLst>
      <p:ext uri="{BB962C8B-B14F-4D97-AF65-F5344CB8AC3E}">
        <p14:creationId xmlns:p14="http://schemas.microsoft.com/office/powerpoint/2010/main" val="64619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1</a:t>
            </a:fld>
            <a:endParaRPr lang="en-US"/>
          </a:p>
        </p:txBody>
      </p:sp>
    </p:spTree>
    <p:extLst>
      <p:ext uri="{BB962C8B-B14F-4D97-AF65-F5344CB8AC3E}">
        <p14:creationId xmlns:p14="http://schemas.microsoft.com/office/powerpoint/2010/main" val="1421578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Information security draws professionals who want some combination of:</a:t>
            </a:r>
          </a:p>
          <a:p>
            <a:pPr lvl="1"/>
            <a:r>
              <a:rPr lang="en-US" dirty="0" smtClean="0"/>
              <a:t>Solving hard problems</a:t>
            </a:r>
          </a:p>
          <a:p>
            <a:pPr lvl="1"/>
            <a:r>
              <a:rPr lang="en-US" dirty="0" smtClean="0"/>
              <a:t>High pay</a:t>
            </a:r>
          </a:p>
          <a:p>
            <a:pPr lvl="1"/>
            <a:r>
              <a:rPr lang="en-US" dirty="0" smtClean="0"/>
              <a:t>Self-worth / status from “fixing”, “hacking”, “Securing”</a:t>
            </a:r>
          </a:p>
          <a:p>
            <a:pPr lvl="1"/>
            <a:r>
              <a:rPr lang="en-US" dirty="0" smtClean="0"/>
              <a:t>Blue Teams / Defenders add – adversaries can make every day different</a:t>
            </a:r>
          </a:p>
          <a:p>
            <a:r>
              <a:rPr lang="en-US" dirty="0" smtClean="0"/>
              <a:t>Orgs often struggle to spend for </a:t>
            </a:r>
            <a:r>
              <a:rPr lang="en-US" dirty="0" err="1" smtClean="0"/>
              <a:t>infosec</a:t>
            </a:r>
            <a:r>
              <a:rPr lang="en-US" dirty="0" smtClean="0"/>
              <a:t> in advance of serious issues</a:t>
            </a:r>
          </a:p>
          <a:p>
            <a:r>
              <a:rPr lang="en-US" dirty="0" smtClean="0"/>
              <a:t>Managers and team members should consider emotional self- / Team-care critical</a:t>
            </a:r>
          </a:p>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a:t>
            </a:fld>
            <a:endParaRPr lang="en-US"/>
          </a:p>
        </p:txBody>
      </p:sp>
    </p:spTree>
    <p:extLst>
      <p:ext uri="{BB962C8B-B14F-4D97-AF65-F5344CB8AC3E}">
        <p14:creationId xmlns:p14="http://schemas.microsoft.com/office/powerpoint/2010/main" val="721468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3</a:t>
            </a:fld>
            <a:endParaRPr lang="en-US"/>
          </a:p>
        </p:txBody>
      </p:sp>
    </p:spTree>
    <p:extLst>
      <p:ext uri="{BB962C8B-B14F-4D97-AF65-F5344CB8AC3E}">
        <p14:creationId xmlns:p14="http://schemas.microsoft.com/office/powerpoint/2010/main" val="1031859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4</a:t>
            </a:fld>
            <a:endParaRPr lang="en-US"/>
          </a:p>
        </p:txBody>
      </p:sp>
    </p:spTree>
    <p:extLst>
      <p:ext uri="{BB962C8B-B14F-4D97-AF65-F5344CB8AC3E}">
        <p14:creationId xmlns:p14="http://schemas.microsoft.com/office/powerpoint/2010/main" val="825904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6</a:t>
            </a:fld>
            <a:endParaRPr lang="en-US"/>
          </a:p>
        </p:txBody>
      </p:sp>
    </p:spTree>
    <p:extLst>
      <p:ext uri="{BB962C8B-B14F-4D97-AF65-F5344CB8AC3E}">
        <p14:creationId xmlns:p14="http://schemas.microsoft.com/office/powerpoint/2010/main" val="742948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7</a:t>
            </a:fld>
            <a:endParaRPr lang="en-US"/>
          </a:p>
        </p:txBody>
      </p:sp>
    </p:spTree>
    <p:extLst>
      <p:ext uri="{BB962C8B-B14F-4D97-AF65-F5344CB8AC3E}">
        <p14:creationId xmlns:p14="http://schemas.microsoft.com/office/powerpoint/2010/main" val="1109608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9</a:t>
            </a:fld>
            <a:endParaRPr lang="en-US"/>
          </a:p>
        </p:txBody>
      </p:sp>
    </p:spTree>
    <p:extLst>
      <p:ext uri="{BB962C8B-B14F-4D97-AF65-F5344CB8AC3E}">
        <p14:creationId xmlns:p14="http://schemas.microsoft.com/office/powerpoint/2010/main" val="886643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14</a:t>
            </a:fld>
            <a:endParaRPr lang="en-US"/>
          </a:p>
        </p:txBody>
      </p:sp>
    </p:spTree>
    <p:extLst>
      <p:ext uri="{BB962C8B-B14F-4D97-AF65-F5344CB8AC3E}">
        <p14:creationId xmlns:p14="http://schemas.microsoft.com/office/powerpoint/2010/main" val="1432874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16</a:t>
            </a:fld>
            <a:endParaRPr lang="en-US"/>
          </a:p>
        </p:txBody>
      </p:sp>
    </p:spTree>
    <p:extLst>
      <p:ext uri="{BB962C8B-B14F-4D97-AF65-F5344CB8AC3E}">
        <p14:creationId xmlns:p14="http://schemas.microsoft.com/office/powerpoint/2010/main" val="1857561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17</a:t>
            </a:fld>
            <a:endParaRPr lang="en-US"/>
          </a:p>
        </p:txBody>
      </p:sp>
    </p:spTree>
    <p:extLst>
      <p:ext uri="{BB962C8B-B14F-4D97-AF65-F5344CB8AC3E}">
        <p14:creationId xmlns:p14="http://schemas.microsoft.com/office/powerpoint/2010/main" val="684406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18</a:t>
            </a:fld>
            <a:endParaRPr lang="en-US"/>
          </a:p>
        </p:txBody>
      </p:sp>
    </p:spTree>
    <p:extLst>
      <p:ext uri="{BB962C8B-B14F-4D97-AF65-F5344CB8AC3E}">
        <p14:creationId xmlns:p14="http://schemas.microsoft.com/office/powerpoint/2010/main" val="1435624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19</a:t>
            </a:fld>
            <a:endParaRPr lang="en-US"/>
          </a:p>
        </p:txBody>
      </p:sp>
    </p:spTree>
    <p:extLst>
      <p:ext uri="{BB962C8B-B14F-4D97-AF65-F5344CB8AC3E}">
        <p14:creationId xmlns:p14="http://schemas.microsoft.com/office/powerpoint/2010/main" val="1500064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20</a:t>
            </a:fld>
            <a:endParaRPr lang="en-US"/>
          </a:p>
        </p:txBody>
      </p:sp>
    </p:spTree>
    <p:extLst>
      <p:ext uri="{BB962C8B-B14F-4D97-AF65-F5344CB8AC3E}">
        <p14:creationId xmlns:p14="http://schemas.microsoft.com/office/powerpoint/2010/main" val="2061785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21</a:t>
            </a:fld>
            <a:endParaRPr lang="en-US"/>
          </a:p>
        </p:txBody>
      </p:sp>
    </p:spTree>
    <p:extLst>
      <p:ext uri="{BB962C8B-B14F-4D97-AF65-F5344CB8AC3E}">
        <p14:creationId xmlns:p14="http://schemas.microsoft.com/office/powerpoint/2010/main" val="721241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23</a:t>
            </a:fld>
            <a:endParaRPr lang="en-US"/>
          </a:p>
        </p:txBody>
      </p:sp>
    </p:spTree>
    <p:extLst>
      <p:ext uri="{BB962C8B-B14F-4D97-AF65-F5344CB8AC3E}">
        <p14:creationId xmlns:p14="http://schemas.microsoft.com/office/powerpoint/2010/main" val="1209614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25</a:t>
            </a:fld>
            <a:endParaRPr lang="en-US"/>
          </a:p>
        </p:txBody>
      </p:sp>
    </p:spTree>
    <p:extLst>
      <p:ext uri="{BB962C8B-B14F-4D97-AF65-F5344CB8AC3E}">
        <p14:creationId xmlns:p14="http://schemas.microsoft.com/office/powerpoint/2010/main" val="1721240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26</a:t>
            </a:fld>
            <a:endParaRPr lang="en-US"/>
          </a:p>
        </p:txBody>
      </p:sp>
    </p:spTree>
    <p:extLst>
      <p:ext uri="{BB962C8B-B14F-4D97-AF65-F5344CB8AC3E}">
        <p14:creationId xmlns:p14="http://schemas.microsoft.com/office/powerpoint/2010/main" val="429813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323016A-DF03-E647-893D-7110A3F1E2B8}" type="slidenum">
              <a:rPr lang="en-US" smtClean="0"/>
              <a:t>27</a:t>
            </a:fld>
            <a:endParaRPr lang="en-US"/>
          </a:p>
        </p:txBody>
      </p:sp>
    </p:spTree>
    <p:extLst>
      <p:ext uri="{BB962C8B-B14F-4D97-AF65-F5344CB8AC3E}">
        <p14:creationId xmlns:p14="http://schemas.microsoft.com/office/powerpoint/2010/main" val="609845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5/30/17</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5/30/17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5/30/17</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qz.com/625870/after-years-of-intensive-analysis-google-discovers-the-key-to-good-teamwork-is-being-ni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3" Type="http://schemas.openxmlformats.org/officeDocument/2006/relationships/hyperlink" Target="http://communication-leadership-change.com/files/119516674.pdf" TargetMode="External"/><Relationship Id="rId4" Type="http://schemas.openxmlformats.org/officeDocument/2006/relationships/hyperlink" Target="https://twitter.com/sarahmei/status/832662375073329152" TargetMode="External"/><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accent4"/>
                </a:solidFill>
              </a:rPr>
              <a:t>Defend the Defenders</a:t>
            </a:r>
            <a:endParaRPr lang="en-US" dirty="0">
              <a:solidFill>
                <a:schemeClr val="accent4"/>
              </a:solidFill>
            </a:endParaRPr>
          </a:p>
        </p:txBody>
      </p:sp>
      <p:sp>
        <p:nvSpPr>
          <p:cNvPr id="3" name="Subtitle 2"/>
          <p:cNvSpPr>
            <a:spLocks noGrp="1"/>
          </p:cNvSpPr>
          <p:nvPr>
            <p:ph type="subTitle" idx="1"/>
          </p:nvPr>
        </p:nvSpPr>
        <p:spPr/>
        <p:txBody>
          <a:bodyPr/>
          <a:lstStyle/>
          <a:p>
            <a:r>
              <a:rPr lang="en-US" dirty="0" smtClean="0"/>
              <a:t>Managing and Participating in Excellent Teams</a:t>
            </a:r>
            <a:endParaRPr lang="en-US" dirty="0"/>
          </a:p>
          <a:p>
            <a:r>
              <a:rPr lang="en-US" dirty="0" smtClean="0"/>
              <a:t>Seth Hanford, </a:t>
            </a:r>
            <a:r>
              <a:rPr lang="en-US" dirty="0" err="1" smtClean="0"/>
              <a:t>Proofpoint</a:t>
            </a:r>
            <a:endParaRPr lang="en-US" dirty="0" smtClean="0"/>
          </a:p>
          <a:p>
            <a:r>
              <a:rPr lang="en-US" dirty="0" smtClean="0"/>
              <a:t>RVASEC 6</a:t>
            </a:r>
          </a:p>
          <a:p>
            <a:r>
              <a:rPr lang="en-US" dirty="0" smtClean="0"/>
              <a:t>June 8-9, 2017</a:t>
            </a:r>
          </a:p>
        </p:txBody>
      </p:sp>
    </p:spTree>
    <p:extLst>
      <p:ext uri="{BB962C8B-B14F-4D97-AF65-F5344CB8AC3E}">
        <p14:creationId xmlns:p14="http://schemas.microsoft.com/office/powerpoint/2010/main" val="6235461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521527" y="182880"/>
            <a:ext cx="4006734" cy="3857106"/>
          </a:xfrm>
          <a:prstGeom prst="ellipse">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smtClean="0"/>
              <a:t>Solving problems w/ limited resources (budget, people, process, tech)</a:t>
            </a:r>
            <a:endParaRPr lang="en-US" cap="small" dirty="0"/>
          </a:p>
        </p:txBody>
      </p:sp>
      <p:sp>
        <p:nvSpPr>
          <p:cNvPr id="5" name="Oval 4"/>
          <p:cNvSpPr/>
          <p:nvPr/>
        </p:nvSpPr>
        <p:spPr>
          <a:xfrm>
            <a:off x="5913119" y="182880"/>
            <a:ext cx="4006734" cy="3857106"/>
          </a:xfrm>
          <a:prstGeom prst="ellipse">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smtClean="0"/>
              <a:t>Combatting human adversaries</a:t>
            </a:r>
            <a:endParaRPr lang="en-US" cap="small" dirty="0"/>
          </a:p>
        </p:txBody>
      </p:sp>
      <p:sp>
        <p:nvSpPr>
          <p:cNvPr id="6" name="Oval 5"/>
          <p:cNvSpPr/>
          <p:nvPr/>
        </p:nvSpPr>
        <p:spPr>
          <a:xfrm>
            <a:off x="4217323" y="2768138"/>
            <a:ext cx="4006734" cy="3857106"/>
          </a:xfrm>
          <a:prstGeom prst="ellipse">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smtClean="0"/>
              <a:t>Attract and retain the people you need</a:t>
            </a:r>
            <a:endParaRPr lang="en-US" cap="small" dirty="0"/>
          </a:p>
        </p:txBody>
      </p:sp>
      <p:sp>
        <p:nvSpPr>
          <p:cNvPr id="9" name="Rectangle 8"/>
          <p:cNvSpPr/>
          <p:nvPr/>
        </p:nvSpPr>
        <p:spPr>
          <a:xfrm>
            <a:off x="1014153" y="5203767"/>
            <a:ext cx="2776451" cy="54864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cap="small" dirty="0" smtClean="0">
                <a:solidFill>
                  <a:schemeClr val="accent3"/>
                </a:solidFill>
              </a:rPr>
              <a:t>Defend the Defenders</a:t>
            </a:r>
            <a:endParaRPr lang="en-US" cap="small" dirty="0">
              <a:solidFill>
                <a:schemeClr val="accent3"/>
              </a:solidFill>
            </a:endParaRPr>
          </a:p>
        </p:txBody>
      </p:sp>
      <p:cxnSp>
        <p:nvCxnSpPr>
          <p:cNvPr id="13" name="Straight Arrow Connector 12"/>
          <p:cNvCxnSpPr/>
          <p:nvPr/>
        </p:nvCxnSpPr>
        <p:spPr>
          <a:xfrm flipV="1">
            <a:off x="2385754" y="2892829"/>
            <a:ext cx="3848792" cy="2310938"/>
          </a:xfrm>
          <a:prstGeom prst="straightConnector1">
            <a:avLst/>
          </a:prstGeom>
          <a:ln w="79375">
            <a:solidFill>
              <a:schemeClr val="tx1"/>
            </a:solidFill>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29183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solidFill>
                  <a:schemeClr val="accent5"/>
                </a:solidFill>
              </a:rPr>
              <a:t>$ </a:t>
            </a:r>
            <a:r>
              <a:rPr lang="en-US" cap="none" dirty="0" err="1" smtClean="0">
                <a:solidFill>
                  <a:schemeClr val="accent5"/>
                </a:solidFill>
              </a:rPr>
              <a:t>whoami</a:t>
            </a:r>
            <a:r>
              <a:rPr lang="en-US" cap="none" dirty="0" smtClean="0">
                <a:solidFill>
                  <a:schemeClr val="accent5"/>
                </a:solidFill>
              </a:rPr>
              <a:t/>
            </a:r>
            <a:br>
              <a:rPr lang="en-US" cap="none" dirty="0" smtClean="0">
                <a:solidFill>
                  <a:schemeClr val="accent5"/>
                </a:solidFill>
              </a:rPr>
            </a:br>
            <a:r>
              <a:rPr lang="en-US" cap="none" dirty="0" smtClean="0">
                <a:solidFill>
                  <a:schemeClr val="accent5"/>
                </a:solidFill>
              </a:rPr>
              <a:t>@</a:t>
            </a:r>
            <a:r>
              <a:rPr lang="en-US" cap="none" dirty="0" err="1" smtClean="0">
                <a:solidFill>
                  <a:schemeClr val="accent5"/>
                </a:solidFill>
              </a:rPr>
              <a:t>SethHanford</a:t>
            </a:r>
            <a:endParaRPr lang="en-US" cap="none" dirty="0">
              <a:solidFill>
                <a:schemeClr val="accent5"/>
              </a:solidFill>
            </a:endParaRPr>
          </a:p>
        </p:txBody>
      </p:sp>
      <p:sp>
        <p:nvSpPr>
          <p:cNvPr id="3" name="Content Placeholder 2"/>
          <p:cNvSpPr>
            <a:spLocks noGrp="1"/>
          </p:cNvSpPr>
          <p:nvPr>
            <p:ph idx="1"/>
          </p:nvPr>
        </p:nvSpPr>
        <p:spPr>
          <a:xfrm>
            <a:off x="1141413" y="1942604"/>
            <a:ext cx="9905998" cy="4327567"/>
          </a:xfrm>
        </p:spPr>
        <p:txBody>
          <a:bodyPr>
            <a:normAutofit/>
          </a:bodyPr>
          <a:lstStyle/>
          <a:p>
            <a:r>
              <a:rPr lang="en-US" dirty="0" smtClean="0">
                <a:solidFill>
                  <a:schemeClr val="accent3"/>
                </a:solidFill>
              </a:rPr>
              <a:t>Current: </a:t>
            </a:r>
          </a:p>
          <a:p>
            <a:pPr lvl="1"/>
            <a:r>
              <a:rPr lang="en-US" dirty="0" smtClean="0"/>
              <a:t>Staff Information Security Engineer, </a:t>
            </a:r>
            <a:r>
              <a:rPr lang="en-US" dirty="0" err="1" smtClean="0"/>
              <a:t>Proofpoint</a:t>
            </a:r>
            <a:r>
              <a:rPr lang="en-US" dirty="0" smtClean="0"/>
              <a:t> (Blue Team, PSIRT, </a:t>
            </a:r>
            <a:r>
              <a:rPr lang="en-US" dirty="0" err="1" smtClean="0"/>
              <a:t>Etc</a:t>
            </a:r>
            <a:r>
              <a:rPr lang="en-US" dirty="0" smtClean="0"/>
              <a:t>)</a:t>
            </a:r>
          </a:p>
          <a:p>
            <a:r>
              <a:rPr lang="en-US" dirty="0" smtClean="0">
                <a:solidFill>
                  <a:schemeClr val="accent3"/>
                </a:solidFill>
              </a:rPr>
              <a:t>Former:</a:t>
            </a:r>
          </a:p>
          <a:p>
            <a:pPr lvl="1"/>
            <a:r>
              <a:rPr lang="en-US" dirty="0" smtClean="0"/>
              <a:t>Sr. Lead Manager, Detection &amp; Response (F100 Financial; Local &amp; Distributed Team)</a:t>
            </a:r>
          </a:p>
          <a:p>
            <a:pPr lvl="1"/>
            <a:r>
              <a:rPr lang="en-US" dirty="0" smtClean="0"/>
              <a:t>Manager, Threat Research Team (F100 Tech; Global Team)</a:t>
            </a:r>
          </a:p>
          <a:p>
            <a:pPr lvl="1"/>
            <a:r>
              <a:rPr lang="en-US" dirty="0" smtClean="0"/>
              <a:t>PSIRT Incident Manager (F100 Tech; Global Team)</a:t>
            </a:r>
          </a:p>
          <a:p>
            <a:pPr lvl="1"/>
            <a:r>
              <a:rPr lang="en-US" dirty="0" smtClean="0"/>
              <a:t>OSINT Hipster (Startup / F100 Tech; Local Team)</a:t>
            </a:r>
          </a:p>
          <a:p>
            <a:r>
              <a:rPr lang="en-US" dirty="0" smtClean="0">
                <a:solidFill>
                  <a:schemeClr val="accent3"/>
                </a:solidFill>
              </a:rPr>
              <a:t>Other:</a:t>
            </a:r>
          </a:p>
          <a:p>
            <a:pPr lvl="1"/>
            <a:r>
              <a:rPr lang="en-US" dirty="0" smtClean="0"/>
              <a:t>~11 years Full-Time Teleworker</a:t>
            </a:r>
            <a:endParaRPr lang="en-US" dirty="0"/>
          </a:p>
        </p:txBody>
      </p:sp>
    </p:spTree>
    <p:extLst>
      <p:ext uri="{BB962C8B-B14F-4D97-AF65-F5344CB8AC3E}">
        <p14:creationId xmlns:p14="http://schemas.microsoft.com/office/powerpoint/2010/main" val="581055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 </a:t>
            </a:r>
            <a:r>
              <a:rPr lang="en-US" cap="none" dirty="0" err="1" smtClean="0">
                <a:solidFill>
                  <a:schemeClr val="accent5"/>
                </a:solidFill>
              </a:rPr>
              <a:t>whoami</a:t>
            </a:r>
            <a:r>
              <a:rPr lang="en-US" dirty="0" smtClean="0">
                <a:solidFill>
                  <a:schemeClr val="accent5"/>
                </a:solidFill>
              </a:rPr>
              <a:t/>
            </a:r>
            <a:br>
              <a:rPr lang="en-US" dirty="0" smtClean="0">
                <a:solidFill>
                  <a:schemeClr val="accent5"/>
                </a:solidFill>
              </a:rPr>
            </a:br>
            <a:r>
              <a:rPr lang="en-US" cap="none" dirty="0" smtClean="0">
                <a:solidFill>
                  <a:schemeClr val="accent5"/>
                </a:solidFill>
              </a:rPr>
              <a:t>guest</a:t>
            </a:r>
            <a:endParaRPr lang="en-US" dirty="0">
              <a:solidFill>
                <a:schemeClr val="accent5"/>
              </a:solidFill>
            </a:endParaRPr>
          </a:p>
        </p:txBody>
      </p:sp>
      <p:sp>
        <p:nvSpPr>
          <p:cNvPr id="3" name="Content Placeholder 2"/>
          <p:cNvSpPr>
            <a:spLocks noGrp="1"/>
          </p:cNvSpPr>
          <p:nvPr>
            <p:ph idx="1"/>
          </p:nvPr>
        </p:nvSpPr>
        <p:spPr>
          <a:xfrm>
            <a:off x="1141413" y="2094808"/>
            <a:ext cx="9905998" cy="4405745"/>
          </a:xfrm>
        </p:spPr>
        <p:txBody>
          <a:bodyPr>
            <a:normAutofit lnSpcReduction="10000"/>
          </a:bodyPr>
          <a:lstStyle/>
          <a:p>
            <a:r>
              <a:rPr lang="en-US" dirty="0" smtClean="0">
                <a:solidFill>
                  <a:schemeClr val="accent3"/>
                </a:solidFill>
              </a:rPr>
              <a:t>Individuals</a:t>
            </a:r>
          </a:p>
          <a:p>
            <a:pPr lvl="1"/>
            <a:r>
              <a:rPr lang="en-US" dirty="0" smtClean="0"/>
              <a:t>Defenders of all types (or those aspiring to be): detection, response, threat intelligence, tools and other security operations</a:t>
            </a:r>
          </a:p>
          <a:p>
            <a:pPr lvl="1"/>
            <a:r>
              <a:rPr lang="en-US" dirty="0" smtClean="0"/>
              <a:t>Aspiring leaders (coaches / mentors / influencers, not necessarily managers)</a:t>
            </a:r>
          </a:p>
          <a:p>
            <a:pPr lvl="1"/>
            <a:r>
              <a:rPr lang="en-US" dirty="0" smtClean="0"/>
              <a:t>Longing to find that “Awesome Gig”, fearing the “grass is always greener”</a:t>
            </a:r>
          </a:p>
          <a:p>
            <a:pPr lvl="1"/>
            <a:r>
              <a:rPr lang="en-US" dirty="0" smtClean="0"/>
              <a:t>Burned out by a past security gig, didn’t feel the company had your back</a:t>
            </a:r>
          </a:p>
          <a:p>
            <a:r>
              <a:rPr lang="en-US" dirty="0" smtClean="0">
                <a:solidFill>
                  <a:schemeClr val="accent3"/>
                </a:solidFill>
              </a:rPr>
              <a:t>Managers</a:t>
            </a:r>
          </a:p>
          <a:p>
            <a:pPr lvl="1"/>
            <a:r>
              <a:rPr lang="en-US" dirty="0" smtClean="0"/>
              <a:t>Building a new program, or significantly expanding / rebuilding one</a:t>
            </a:r>
          </a:p>
          <a:p>
            <a:pPr lvl="1"/>
            <a:r>
              <a:rPr lang="en-US" dirty="0" smtClean="0"/>
              <a:t>Struggling to get the “people part” right with various internal pressures (Budget, Vision, Direction, Skill Sets, Organizational Challenges)</a:t>
            </a:r>
          </a:p>
          <a:p>
            <a:pPr lvl="1"/>
            <a:r>
              <a:rPr lang="en-US" dirty="0" smtClean="0"/>
              <a:t>Feeling like the team is great, not sure how it got here and/or how to keep it here</a:t>
            </a:r>
          </a:p>
          <a:p>
            <a:pPr lvl="1"/>
            <a:r>
              <a:rPr lang="en-US" dirty="0" smtClean="0"/>
              <a:t>Feeling like the team is at risk, worried its members are getting close to burning out</a:t>
            </a:r>
            <a:endParaRPr lang="en-US" dirty="0"/>
          </a:p>
        </p:txBody>
      </p:sp>
    </p:spTree>
    <p:extLst>
      <p:ext uri="{BB962C8B-B14F-4D97-AF65-F5344CB8AC3E}">
        <p14:creationId xmlns:p14="http://schemas.microsoft.com/office/powerpoint/2010/main" val="15401983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What this IS, and What it isn’t</a:t>
            </a:r>
            <a:endParaRPr lang="en-US" dirty="0">
              <a:solidFill>
                <a:schemeClr val="accent5"/>
              </a:solidFill>
            </a:endParaRPr>
          </a:p>
        </p:txBody>
      </p:sp>
      <p:sp>
        <p:nvSpPr>
          <p:cNvPr id="3" name="Content Placeholder 2"/>
          <p:cNvSpPr>
            <a:spLocks noGrp="1"/>
          </p:cNvSpPr>
          <p:nvPr>
            <p:ph idx="1"/>
          </p:nvPr>
        </p:nvSpPr>
        <p:spPr>
          <a:xfrm>
            <a:off x="1141413" y="2667000"/>
            <a:ext cx="9905998" cy="2223978"/>
          </a:xfrm>
        </p:spPr>
        <p:txBody>
          <a:bodyPr/>
          <a:lstStyle/>
          <a:p>
            <a:r>
              <a:rPr lang="en-US" dirty="0" smtClean="0">
                <a:solidFill>
                  <a:schemeClr val="accent5"/>
                </a:solidFill>
              </a:rPr>
              <a:t>Is</a:t>
            </a:r>
            <a:r>
              <a:rPr lang="en-US" dirty="0" smtClean="0"/>
              <a:t> Self- and team-care, </a:t>
            </a:r>
            <a:r>
              <a:rPr lang="en-US" dirty="0" smtClean="0">
                <a:solidFill>
                  <a:schemeClr val="accent5"/>
                </a:solidFill>
              </a:rPr>
              <a:t>NOT</a:t>
            </a:r>
            <a:r>
              <a:rPr lang="en-US" dirty="0" smtClean="0"/>
              <a:t> professional mental health advice or counseling</a:t>
            </a:r>
          </a:p>
          <a:p>
            <a:r>
              <a:rPr lang="en-US" dirty="0" smtClean="0">
                <a:solidFill>
                  <a:schemeClr val="accent5"/>
                </a:solidFill>
              </a:rPr>
              <a:t>Is</a:t>
            </a:r>
            <a:r>
              <a:rPr lang="en-US" dirty="0" smtClean="0"/>
              <a:t> Encouraging growth &amp; challenge </a:t>
            </a:r>
            <a:r>
              <a:rPr lang="en-US" dirty="0" smtClean="0">
                <a:solidFill>
                  <a:schemeClr val="accent5"/>
                </a:solidFill>
              </a:rPr>
              <a:t>NOT</a:t>
            </a:r>
            <a:r>
              <a:rPr lang="en-US" dirty="0" smtClean="0"/>
              <a:t> advocating staying in toxicity</a:t>
            </a:r>
          </a:p>
          <a:p>
            <a:r>
              <a:rPr lang="en-US" dirty="0" smtClean="0">
                <a:solidFill>
                  <a:schemeClr val="accent5"/>
                </a:solidFill>
              </a:rPr>
              <a:t>Is</a:t>
            </a:r>
            <a:r>
              <a:rPr lang="en-US" dirty="0" smtClean="0"/>
              <a:t> Making non-tech subjects accessible </a:t>
            </a:r>
            <a:r>
              <a:rPr lang="en-US" dirty="0" smtClean="0">
                <a:solidFill>
                  <a:schemeClr val="accent5"/>
                </a:solidFill>
              </a:rPr>
              <a:t>NOT</a:t>
            </a:r>
            <a:r>
              <a:rPr lang="en-US" dirty="0" smtClean="0"/>
              <a:t> Encouraging rigid modeling</a:t>
            </a:r>
          </a:p>
          <a:p>
            <a:r>
              <a:rPr lang="en-US" dirty="0" smtClean="0">
                <a:solidFill>
                  <a:schemeClr val="accent5"/>
                </a:solidFill>
              </a:rPr>
              <a:t>Is</a:t>
            </a:r>
            <a:r>
              <a:rPr lang="en-US" dirty="0" smtClean="0"/>
              <a:t> Anecdote and mental models </a:t>
            </a:r>
            <a:r>
              <a:rPr lang="en-US" dirty="0" smtClean="0">
                <a:solidFill>
                  <a:schemeClr val="accent5"/>
                </a:solidFill>
              </a:rPr>
              <a:t>NOT</a:t>
            </a:r>
            <a:r>
              <a:rPr lang="en-US" dirty="0" smtClean="0"/>
              <a:t> net-new social science or research</a:t>
            </a:r>
          </a:p>
        </p:txBody>
      </p:sp>
    </p:spTree>
    <p:extLst>
      <p:ext uri="{BB962C8B-B14F-4D97-AF65-F5344CB8AC3E}">
        <p14:creationId xmlns:p14="http://schemas.microsoft.com/office/powerpoint/2010/main" val="16741814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smtClean="0">
                <a:solidFill>
                  <a:schemeClr val="accent5"/>
                </a:solidFill>
              </a:rPr>
              <a:t>Threat</a:t>
            </a:r>
            <a:r>
              <a:rPr lang="en-US" dirty="0" smtClean="0">
                <a:solidFill>
                  <a:schemeClr val="accent5"/>
                </a:solidFill>
              </a:rPr>
              <a:t> challenge </a:t>
            </a:r>
            <a:r>
              <a:rPr lang="en-US" dirty="0">
                <a:solidFill>
                  <a:schemeClr val="accent5"/>
                </a:solidFill>
              </a:rPr>
              <a:t>Modeling</a:t>
            </a:r>
          </a:p>
        </p:txBody>
      </p:sp>
      <p:sp>
        <p:nvSpPr>
          <p:cNvPr id="3" name="Text Placeholder 2"/>
          <p:cNvSpPr>
            <a:spLocks noGrp="1"/>
          </p:cNvSpPr>
          <p:nvPr>
            <p:ph type="body" idx="1"/>
          </p:nvPr>
        </p:nvSpPr>
        <p:spPr/>
        <p:txBody>
          <a:bodyPr/>
          <a:lstStyle/>
          <a:p>
            <a:r>
              <a:rPr lang="en-US" dirty="0" smtClean="0"/>
              <a:t>Because words matter</a:t>
            </a:r>
            <a:endParaRPr lang="en-US" dirty="0"/>
          </a:p>
        </p:txBody>
      </p:sp>
    </p:spTree>
    <p:extLst>
      <p:ext uri="{BB962C8B-B14F-4D97-AF65-F5344CB8AC3E}">
        <p14:creationId xmlns:p14="http://schemas.microsoft.com/office/powerpoint/2010/main" val="20939908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With apologies to security architects</a:t>
            </a:r>
            <a:endParaRPr lang="en-US" dirty="0">
              <a:solidFill>
                <a:schemeClr val="accent5"/>
              </a:solidFill>
            </a:endParaRPr>
          </a:p>
        </p:txBody>
      </p:sp>
      <p:sp>
        <p:nvSpPr>
          <p:cNvPr id="3" name="Content Placeholder 2"/>
          <p:cNvSpPr>
            <a:spLocks noGrp="1"/>
          </p:cNvSpPr>
          <p:nvPr>
            <p:ph idx="1"/>
          </p:nvPr>
        </p:nvSpPr>
        <p:spPr/>
        <p:txBody>
          <a:bodyPr/>
          <a:lstStyle/>
          <a:p>
            <a:r>
              <a:rPr lang="en-US" dirty="0" smtClean="0"/>
              <a:t>The approach:</a:t>
            </a:r>
          </a:p>
          <a:p>
            <a:pPr lvl="1"/>
            <a:r>
              <a:rPr lang="en-US" dirty="0" smtClean="0"/>
              <a:t>Identify Assets</a:t>
            </a:r>
          </a:p>
          <a:p>
            <a:pPr lvl="1"/>
            <a:r>
              <a:rPr lang="en-US" dirty="0" smtClean="0"/>
              <a:t>Create </a:t>
            </a:r>
            <a:r>
              <a:rPr lang="en-US" dirty="0"/>
              <a:t>an Architecture Overview (team &amp; </a:t>
            </a:r>
            <a:r>
              <a:rPr lang="en-US" dirty="0" smtClean="0"/>
              <a:t>org)</a:t>
            </a:r>
          </a:p>
          <a:p>
            <a:pPr lvl="1"/>
            <a:r>
              <a:rPr lang="en-US" dirty="0" smtClean="0"/>
              <a:t>Decompose </a:t>
            </a:r>
            <a:r>
              <a:rPr lang="en-US" dirty="0"/>
              <a:t>the Application (</a:t>
            </a:r>
            <a:r>
              <a:rPr lang="en-US" dirty="0" smtClean="0"/>
              <a:t>goals/processes)</a:t>
            </a:r>
          </a:p>
          <a:p>
            <a:pPr lvl="1"/>
            <a:r>
              <a:rPr lang="en-US" dirty="0" smtClean="0"/>
              <a:t>Identify </a:t>
            </a:r>
            <a:r>
              <a:rPr lang="en-US" dirty="0"/>
              <a:t>the </a:t>
            </a:r>
            <a:r>
              <a:rPr lang="en-US" dirty="0" smtClean="0"/>
              <a:t>challenges</a:t>
            </a:r>
          </a:p>
          <a:p>
            <a:pPr lvl="1"/>
            <a:r>
              <a:rPr lang="en-US" dirty="0" smtClean="0"/>
              <a:t>Document </a:t>
            </a:r>
            <a:r>
              <a:rPr lang="en-US" dirty="0"/>
              <a:t>the </a:t>
            </a:r>
            <a:r>
              <a:rPr lang="en-US" dirty="0" smtClean="0"/>
              <a:t>challenges</a:t>
            </a:r>
          </a:p>
          <a:p>
            <a:pPr lvl="1"/>
            <a:r>
              <a:rPr lang="en-US" dirty="0" smtClean="0"/>
              <a:t>Rate </a:t>
            </a:r>
            <a:r>
              <a:rPr lang="en-US" dirty="0"/>
              <a:t>the </a:t>
            </a:r>
            <a:r>
              <a:rPr lang="en-US" dirty="0" smtClean="0"/>
              <a:t>challenges</a:t>
            </a:r>
            <a:endParaRPr lang="en-US" dirty="0"/>
          </a:p>
        </p:txBody>
      </p:sp>
    </p:spTree>
    <p:extLst>
      <p:ext uri="{BB962C8B-B14F-4D97-AF65-F5344CB8AC3E}">
        <p14:creationId xmlns:p14="http://schemas.microsoft.com/office/powerpoint/2010/main" val="15212573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Assets</a:t>
            </a:r>
            <a:endParaRPr lang="en-US" dirty="0">
              <a:solidFill>
                <a:schemeClr val="accent5"/>
              </a:solidFill>
            </a:endParaRPr>
          </a:p>
        </p:txBody>
      </p:sp>
      <p:sp>
        <p:nvSpPr>
          <p:cNvPr id="3" name="Content Placeholder 2"/>
          <p:cNvSpPr>
            <a:spLocks noGrp="1"/>
          </p:cNvSpPr>
          <p:nvPr>
            <p:ph idx="1"/>
          </p:nvPr>
        </p:nvSpPr>
        <p:spPr>
          <a:xfrm>
            <a:off x="1141413" y="2667000"/>
            <a:ext cx="2750103" cy="1543493"/>
          </a:xfrm>
        </p:spPr>
        <p:txBody>
          <a:bodyPr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Team</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Personalities, drive, motive; impact &amp; affect; skills</a:t>
            </a:r>
            <a:endParaRPr lang="en-US" dirty="0"/>
          </a:p>
        </p:txBody>
      </p:sp>
      <p:sp>
        <p:nvSpPr>
          <p:cNvPr id="6" name="Content Placeholder 2"/>
          <p:cNvSpPr txBox="1">
            <a:spLocks/>
          </p:cNvSpPr>
          <p:nvPr/>
        </p:nvSpPr>
        <p:spPr>
          <a:xfrm>
            <a:off x="3891516" y="2667000"/>
            <a:ext cx="2750103"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Partners</a:t>
            </a:r>
          </a:p>
          <a:p>
            <a:pPr marL="0" indent="0" defTabSz="914400">
              <a:spcBef>
                <a:spcPts val="0"/>
              </a:spcBef>
              <a:spcAft>
                <a:spcPts val="0"/>
              </a:spcAft>
              <a:buClrTx/>
              <a:buSzTx/>
              <a:buFontTx/>
              <a:buNone/>
            </a:pPr>
            <a:r>
              <a:rPr lang="en-US" dirty="0" smtClean="0"/>
              <a:t>CISO, Auditors, Red Team, Tech Teams, Business-area partners</a:t>
            </a:r>
            <a:endParaRPr lang="en-US" dirty="0"/>
          </a:p>
        </p:txBody>
      </p:sp>
      <p:sp>
        <p:nvSpPr>
          <p:cNvPr id="7" name="Content Placeholder 2"/>
          <p:cNvSpPr txBox="1">
            <a:spLocks/>
          </p:cNvSpPr>
          <p:nvPr/>
        </p:nvSpPr>
        <p:spPr>
          <a:xfrm>
            <a:off x="6641619" y="2666998"/>
            <a:ext cx="2750103" cy="1543495"/>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Financial</a:t>
            </a:r>
          </a:p>
          <a:p>
            <a:pPr marL="0" indent="0" defTabSz="914400">
              <a:spcBef>
                <a:spcPts val="0"/>
              </a:spcBef>
              <a:spcAft>
                <a:spcPts val="0"/>
              </a:spcAft>
              <a:buClrTx/>
              <a:buSzTx/>
              <a:buFontTx/>
              <a:buNone/>
            </a:pPr>
            <a:r>
              <a:rPr lang="en-US" dirty="0" smtClean="0"/>
              <a:t>Budget, headcount, open requisitions</a:t>
            </a:r>
            <a:endParaRPr lang="en-US" dirty="0"/>
          </a:p>
        </p:txBody>
      </p:sp>
      <p:sp>
        <p:nvSpPr>
          <p:cNvPr id="8" name="Content Placeholder 2"/>
          <p:cNvSpPr txBox="1">
            <a:spLocks/>
          </p:cNvSpPr>
          <p:nvPr/>
        </p:nvSpPr>
        <p:spPr>
          <a:xfrm>
            <a:off x="1141413" y="4362893"/>
            <a:ext cx="2750103"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Inventory</a:t>
            </a:r>
          </a:p>
          <a:p>
            <a:pPr marL="0" indent="0" defTabSz="914400">
              <a:spcBef>
                <a:spcPts val="0"/>
              </a:spcBef>
              <a:spcAft>
                <a:spcPts val="0"/>
              </a:spcAft>
              <a:buClrTx/>
              <a:buSzTx/>
              <a:buFontTx/>
              <a:buNone/>
            </a:pPr>
            <a:r>
              <a:rPr lang="en-US" dirty="0" smtClean="0"/>
              <a:t>Systems, applications, tools, subscriptions, data sources</a:t>
            </a:r>
            <a:endParaRPr lang="en-US" dirty="0"/>
          </a:p>
        </p:txBody>
      </p:sp>
      <p:sp>
        <p:nvSpPr>
          <p:cNvPr id="9" name="Content Placeholder 2"/>
          <p:cNvSpPr txBox="1">
            <a:spLocks/>
          </p:cNvSpPr>
          <p:nvPr/>
        </p:nvSpPr>
        <p:spPr>
          <a:xfrm>
            <a:off x="3891516" y="4362893"/>
            <a:ext cx="2750103"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Influence</a:t>
            </a:r>
          </a:p>
          <a:p>
            <a:pPr marL="0" indent="0" defTabSz="914400">
              <a:spcBef>
                <a:spcPts val="0"/>
              </a:spcBef>
              <a:spcAft>
                <a:spcPts val="0"/>
              </a:spcAft>
              <a:buClrTx/>
              <a:buSzTx/>
              <a:buFontTx/>
              <a:buNone/>
            </a:pPr>
            <a:r>
              <a:rPr lang="en-US" dirty="0" smtClean="0"/>
              <a:t>Political or social capital; trust. Business alignment</a:t>
            </a:r>
            <a:endParaRPr lang="en-US" dirty="0"/>
          </a:p>
        </p:txBody>
      </p:sp>
    </p:spTree>
    <p:extLst>
      <p:ext uri="{BB962C8B-B14F-4D97-AF65-F5344CB8AC3E}">
        <p14:creationId xmlns:p14="http://schemas.microsoft.com/office/powerpoint/2010/main" val="1497466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chorCtr="0"/>
          <a:lstStyle/>
          <a:p>
            <a:r>
              <a:rPr lang="en-US" dirty="0" smtClean="0">
                <a:solidFill>
                  <a:schemeClr val="accent5"/>
                </a:solidFill>
              </a:rPr>
              <a:t>Architecture Overview – </a:t>
            </a:r>
            <a:r>
              <a:rPr lang="en-US" dirty="0" smtClean="0">
                <a:solidFill>
                  <a:schemeClr val="accent5"/>
                </a:solidFill>
              </a:rPr>
              <a:t>Example Team/Org</a:t>
            </a:r>
            <a:endParaRPr lang="en-US" dirty="0">
              <a:solidFill>
                <a:schemeClr val="accent5"/>
              </a:solidFill>
            </a:endParaRPr>
          </a:p>
        </p:txBody>
      </p:sp>
      <p:sp>
        <p:nvSpPr>
          <p:cNvPr id="4" name="Rectangle 3"/>
          <p:cNvSpPr/>
          <p:nvPr/>
        </p:nvSpPr>
        <p:spPr>
          <a:xfrm>
            <a:off x="593199" y="1996886"/>
            <a:ext cx="2277311"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Event Detection</a:t>
            </a:r>
            <a:endParaRPr lang="en-US" dirty="0"/>
          </a:p>
        </p:txBody>
      </p:sp>
      <p:sp>
        <p:nvSpPr>
          <p:cNvPr id="6" name="Rectangle 5"/>
          <p:cNvSpPr/>
          <p:nvPr/>
        </p:nvSpPr>
        <p:spPr>
          <a:xfrm>
            <a:off x="604844" y="3198156"/>
            <a:ext cx="2277312"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Incident Response</a:t>
            </a:r>
            <a:endParaRPr lang="en-US" dirty="0"/>
          </a:p>
        </p:txBody>
      </p:sp>
      <p:sp>
        <p:nvSpPr>
          <p:cNvPr id="7" name="Rectangle 6"/>
          <p:cNvSpPr/>
          <p:nvPr/>
        </p:nvSpPr>
        <p:spPr>
          <a:xfrm>
            <a:off x="3381698" y="3184714"/>
            <a:ext cx="2319241"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Threat Intelligence  &amp; Communications</a:t>
            </a:r>
            <a:endParaRPr lang="en-US" dirty="0"/>
          </a:p>
        </p:txBody>
      </p:sp>
      <p:sp>
        <p:nvSpPr>
          <p:cNvPr id="8" name="Rectangle 7"/>
          <p:cNvSpPr/>
          <p:nvPr/>
        </p:nvSpPr>
        <p:spPr>
          <a:xfrm>
            <a:off x="3381698" y="2030506"/>
            <a:ext cx="2319241"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Security Engineering</a:t>
            </a:r>
            <a:endParaRPr lang="en-US" dirty="0"/>
          </a:p>
        </p:txBody>
      </p:sp>
      <p:sp>
        <p:nvSpPr>
          <p:cNvPr id="9" name="Rectangle 8"/>
          <p:cNvSpPr/>
          <p:nvPr/>
        </p:nvSpPr>
        <p:spPr>
          <a:xfrm>
            <a:off x="3381697" y="4338922"/>
            <a:ext cx="2319241"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Governance, Risk and Compliance</a:t>
            </a:r>
            <a:endParaRPr lang="en-US" dirty="0"/>
          </a:p>
        </p:txBody>
      </p:sp>
      <p:sp>
        <p:nvSpPr>
          <p:cNvPr id="10" name="Rectangle 9"/>
          <p:cNvSpPr/>
          <p:nvPr/>
        </p:nvSpPr>
        <p:spPr>
          <a:xfrm>
            <a:off x="9000628" y="2030506"/>
            <a:ext cx="2277312"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Application Security</a:t>
            </a:r>
            <a:endParaRPr lang="en-US" dirty="0"/>
          </a:p>
        </p:txBody>
      </p:sp>
      <p:sp>
        <p:nvSpPr>
          <p:cNvPr id="11" name="Rectangle 10"/>
          <p:cNvSpPr/>
          <p:nvPr/>
        </p:nvSpPr>
        <p:spPr>
          <a:xfrm>
            <a:off x="6212127" y="2030506"/>
            <a:ext cx="2277313"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Vulnerability Remediation</a:t>
            </a:r>
            <a:endParaRPr lang="en-US" dirty="0"/>
          </a:p>
        </p:txBody>
      </p:sp>
      <p:sp>
        <p:nvSpPr>
          <p:cNvPr id="12" name="Rectangle 11"/>
          <p:cNvSpPr/>
          <p:nvPr/>
        </p:nvSpPr>
        <p:spPr>
          <a:xfrm>
            <a:off x="6212126" y="4338922"/>
            <a:ext cx="2277313"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Security Tools Development</a:t>
            </a:r>
            <a:endParaRPr lang="en-US" dirty="0"/>
          </a:p>
        </p:txBody>
      </p:sp>
      <p:sp>
        <p:nvSpPr>
          <p:cNvPr id="13" name="Rectangle 12"/>
          <p:cNvSpPr/>
          <p:nvPr/>
        </p:nvSpPr>
        <p:spPr>
          <a:xfrm>
            <a:off x="9000627" y="3183592"/>
            <a:ext cx="2277313"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Security Awareness &amp; Communications</a:t>
            </a:r>
            <a:endParaRPr lang="en-US" dirty="0"/>
          </a:p>
        </p:txBody>
      </p:sp>
      <p:sp>
        <p:nvSpPr>
          <p:cNvPr id="3" name="TextBox 2"/>
          <p:cNvSpPr txBox="1"/>
          <p:nvPr/>
        </p:nvSpPr>
        <p:spPr>
          <a:xfrm>
            <a:off x="550280" y="1393354"/>
            <a:ext cx="2363147" cy="369332"/>
          </a:xfrm>
          <a:prstGeom prst="rect">
            <a:avLst/>
          </a:prstGeom>
          <a:noFill/>
        </p:spPr>
        <p:txBody>
          <a:bodyPr wrap="none" rtlCol="0">
            <a:spAutoFit/>
          </a:bodyPr>
          <a:lstStyle/>
          <a:p>
            <a:r>
              <a:rPr lang="en-US" dirty="0" smtClean="0">
                <a:solidFill>
                  <a:schemeClr val="accent3"/>
                </a:solidFill>
              </a:rPr>
              <a:t>Security Operations</a:t>
            </a:r>
            <a:endParaRPr lang="en-US" dirty="0">
              <a:solidFill>
                <a:schemeClr val="accent3"/>
              </a:solidFill>
            </a:endParaRPr>
          </a:p>
        </p:txBody>
      </p:sp>
      <p:sp>
        <p:nvSpPr>
          <p:cNvPr id="14" name="TextBox 13"/>
          <p:cNvSpPr txBox="1"/>
          <p:nvPr/>
        </p:nvSpPr>
        <p:spPr>
          <a:xfrm>
            <a:off x="6345357" y="1393354"/>
            <a:ext cx="2010850" cy="369332"/>
          </a:xfrm>
          <a:prstGeom prst="rect">
            <a:avLst/>
          </a:prstGeom>
          <a:noFill/>
        </p:spPr>
        <p:txBody>
          <a:bodyPr wrap="square" rtlCol="0">
            <a:spAutoFit/>
          </a:bodyPr>
          <a:lstStyle/>
          <a:p>
            <a:pPr algn="ctr"/>
            <a:r>
              <a:rPr lang="en-US" dirty="0" smtClean="0">
                <a:solidFill>
                  <a:schemeClr val="accent3"/>
                </a:solidFill>
              </a:rPr>
              <a:t>Internal Partners</a:t>
            </a:r>
            <a:endParaRPr lang="en-US" dirty="0">
              <a:solidFill>
                <a:schemeClr val="accent3"/>
              </a:solidFill>
            </a:endParaRPr>
          </a:p>
        </p:txBody>
      </p:sp>
      <p:sp>
        <p:nvSpPr>
          <p:cNvPr id="15" name="TextBox 14"/>
          <p:cNvSpPr txBox="1"/>
          <p:nvPr/>
        </p:nvSpPr>
        <p:spPr>
          <a:xfrm>
            <a:off x="3535892" y="1238934"/>
            <a:ext cx="2010850" cy="646331"/>
          </a:xfrm>
          <a:prstGeom prst="rect">
            <a:avLst/>
          </a:prstGeom>
          <a:noFill/>
        </p:spPr>
        <p:txBody>
          <a:bodyPr wrap="square" rtlCol="0">
            <a:spAutoFit/>
          </a:bodyPr>
          <a:lstStyle/>
          <a:p>
            <a:pPr algn="ctr"/>
            <a:r>
              <a:rPr lang="en-US" dirty="0" smtClean="0">
                <a:solidFill>
                  <a:schemeClr val="accent3"/>
                </a:solidFill>
              </a:rPr>
              <a:t>Security Organization</a:t>
            </a:r>
            <a:endParaRPr lang="en-US" dirty="0">
              <a:solidFill>
                <a:schemeClr val="accent3"/>
              </a:solidFill>
            </a:endParaRPr>
          </a:p>
        </p:txBody>
      </p:sp>
      <p:sp>
        <p:nvSpPr>
          <p:cNvPr id="16" name="TextBox 15"/>
          <p:cNvSpPr txBox="1"/>
          <p:nvPr/>
        </p:nvSpPr>
        <p:spPr>
          <a:xfrm>
            <a:off x="9154822" y="1395598"/>
            <a:ext cx="2010850" cy="369332"/>
          </a:xfrm>
          <a:prstGeom prst="rect">
            <a:avLst/>
          </a:prstGeom>
          <a:noFill/>
        </p:spPr>
        <p:txBody>
          <a:bodyPr wrap="square" rtlCol="0">
            <a:spAutoFit/>
          </a:bodyPr>
          <a:lstStyle/>
          <a:p>
            <a:pPr algn="ctr"/>
            <a:r>
              <a:rPr lang="en-US" dirty="0" smtClean="0">
                <a:solidFill>
                  <a:schemeClr val="accent3"/>
                </a:solidFill>
              </a:rPr>
              <a:t>External Partners</a:t>
            </a:r>
            <a:endParaRPr lang="en-US" dirty="0">
              <a:solidFill>
                <a:schemeClr val="accent3"/>
              </a:solidFill>
            </a:endParaRPr>
          </a:p>
        </p:txBody>
      </p:sp>
      <p:sp>
        <p:nvSpPr>
          <p:cNvPr id="17" name="Rectangle 16"/>
          <p:cNvSpPr/>
          <p:nvPr/>
        </p:nvSpPr>
        <p:spPr>
          <a:xfrm>
            <a:off x="6212127" y="3183592"/>
            <a:ext cx="2277313" cy="968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Corporate Communications</a:t>
            </a:r>
            <a:endParaRPr lang="en-US" dirty="0"/>
          </a:p>
        </p:txBody>
      </p:sp>
    </p:spTree>
    <p:extLst>
      <p:ext uri="{BB962C8B-B14F-4D97-AF65-F5344CB8AC3E}">
        <p14:creationId xmlns:p14="http://schemas.microsoft.com/office/powerpoint/2010/main" val="21123987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Decompose the team - Goals &amp; Processes</a:t>
            </a:r>
            <a:endParaRPr lang="en-US" dirty="0">
              <a:solidFill>
                <a:schemeClr val="accent5"/>
              </a:solidFill>
            </a:endParaRPr>
          </a:p>
        </p:txBody>
      </p:sp>
      <p:sp>
        <p:nvSpPr>
          <p:cNvPr id="3" name="Content Placeholder 2"/>
          <p:cNvSpPr>
            <a:spLocks noGrp="1"/>
          </p:cNvSpPr>
          <p:nvPr>
            <p:ph idx="1"/>
          </p:nvPr>
        </p:nvSpPr>
        <p:spPr/>
        <p:txBody>
          <a:bodyPr/>
          <a:lstStyle/>
          <a:p>
            <a:r>
              <a:rPr lang="en-US" dirty="0" smtClean="0"/>
              <a:t>Mission &amp; Vision, Team Charters</a:t>
            </a:r>
          </a:p>
          <a:p>
            <a:r>
              <a:rPr lang="en-US" dirty="0" smtClean="0"/>
              <a:t>Explicit &amp; Implicit responsibilities</a:t>
            </a:r>
          </a:p>
          <a:p>
            <a:r>
              <a:rPr lang="en-US" dirty="0" smtClean="0"/>
              <a:t>Process &amp; Procedure</a:t>
            </a:r>
          </a:p>
          <a:p>
            <a:r>
              <a:rPr lang="en-US" dirty="0" smtClean="0"/>
              <a:t>Consider also time-based challenges – where you are vs where you want to go</a:t>
            </a:r>
          </a:p>
        </p:txBody>
      </p:sp>
    </p:spTree>
    <p:extLst>
      <p:ext uri="{BB962C8B-B14F-4D97-AF65-F5344CB8AC3E}">
        <p14:creationId xmlns:p14="http://schemas.microsoft.com/office/powerpoint/2010/main" val="4212972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Mission &amp; </a:t>
            </a:r>
            <a:r>
              <a:rPr lang="en-US" dirty="0" smtClean="0">
                <a:solidFill>
                  <a:schemeClr val="accent5"/>
                </a:solidFill>
              </a:rPr>
              <a:t>Charters - example</a:t>
            </a:r>
            <a:endParaRPr lang="en-US" dirty="0">
              <a:solidFill>
                <a:schemeClr val="accent5"/>
              </a:solidFill>
            </a:endParaRPr>
          </a:p>
        </p:txBody>
      </p:sp>
      <p:sp>
        <p:nvSpPr>
          <p:cNvPr id="3" name="Content Placeholder 2"/>
          <p:cNvSpPr>
            <a:spLocks noGrp="1"/>
          </p:cNvSpPr>
          <p:nvPr>
            <p:ph sz="half" idx="1"/>
          </p:nvPr>
        </p:nvSpPr>
        <p:spPr/>
        <p:txBody>
          <a:bodyPr anchor="t" anchorCtr="0">
            <a:normAutofit lnSpcReduction="10000"/>
          </a:bodyPr>
          <a:lstStyle/>
          <a:p>
            <a:pPr marL="0" indent="0">
              <a:buNone/>
            </a:pPr>
            <a:r>
              <a:rPr lang="en-US" dirty="0" smtClean="0">
                <a:solidFill>
                  <a:schemeClr val="accent5"/>
                </a:solidFill>
              </a:rPr>
              <a:t>Mission</a:t>
            </a:r>
          </a:p>
          <a:p>
            <a:pPr marL="0" indent="0">
              <a:buNone/>
            </a:pPr>
            <a:r>
              <a:rPr lang="en-US" dirty="0" smtClean="0"/>
              <a:t>Protecting the information resources of $company </a:t>
            </a:r>
            <a:r>
              <a:rPr lang="en-US" dirty="0" smtClean="0"/>
              <a:t>by </a:t>
            </a:r>
            <a:r>
              <a:rPr lang="en-US" dirty="0" smtClean="0"/>
              <a:t>monitoring for information security </a:t>
            </a:r>
            <a:r>
              <a:rPr lang="en-US" dirty="0" smtClean="0"/>
              <a:t>incidents and responding </a:t>
            </a:r>
            <a:r>
              <a:rPr lang="en-US" dirty="0" smtClean="0"/>
              <a:t>to contain, eradicate, and recover from </a:t>
            </a:r>
            <a:r>
              <a:rPr lang="en-US" dirty="0" smtClean="0"/>
              <a:t>them.</a:t>
            </a:r>
            <a:endParaRPr lang="en-US" dirty="0"/>
          </a:p>
        </p:txBody>
      </p:sp>
      <p:sp>
        <p:nvSpPr>
          <p:cNvPr id="4" name="Content Placeholder 3"/>
          <p:cNvSpPr>
            <a:spLocks noGrp="1"/>
          </p:cNvSpPr>
          <p:nvPr>
            <p:ph sz="half" idx="2"/>
          </p:nvPr>
        </p:nvSpPr>
        <p:spPr/>
        <p:txBody>
          <a:bodyPr anchor="t" anchorCtr="0">
            <a:normAutofit lnSpcReduction="10000"/>
          </a:bodyPr>
          <a:lstStyle/>
          <a:p>
            <a:pPr marL="0" indent="0">
              <a:buNone/>
            </a:pPr>
            <a:r>
              <a:rPr lang="en-US" dirty="0" smtClean="0">
                <a:solidFill>
                  <a:schemeClr val="accent5"/>
                </a:solidFill>
              </a:rPr>
              <a:t>Event Detection</a:t>
            </a:r>
          </a:p>
          <a:p>
            <a:pPr marL="0" indent="0">
              <a:buNone/>
            </a:pPr>
            <a:r>
              <a:rPr lang="en-US" dirty="0" smtClean="0"/>
              <a:t>Continuously improving our ability to promptly and effectively triage and disposition the security events that threaten our organization. </a:t>
            </a:r>
          </a:p>
          <a:p>
            <a:pPr marL="0" indent="0">
              <a:buNone/>
            </a:pPr>
            <a:r>
              <a:rPr lang="en-US" dirty="0" smtClean="0">
                <a:solidFill>
                  <a:schemeClr val="accent5"/>
                </a:solidFill>
              </a:rPr>
              <a:t>Incident Response</a:t>
            </a:r>
          </a:p>
          <a:p>
            <a:pPr marL="0" indent="0">
              <a:buNone/>
            </a:pPr>
            <a:r>
              <a:rPr lang="en-US" dirty="0" smtClean="0"/>
              <a:t>Dedicated to consistent and repeatable investigation, crisis management, and containment / eradication / recovery of information security incidents.</a:t>
            </a:r>
            <a:endParaRPr lang="en-US" dirty="0"/>
          </a:p>
        </p:txBody>
      </p:sp>
    </p:spTree>
    <p:extLst>
      <p:ext uri="{BB962C8B-B14F-4D97-AF65-F5344CB8AC3E}">
        <p14:creationId xmlns:p14="http://schemas.microsoft.com/office/powerpoint/2010/main" val="143746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Identify and document challenges:</a:t>
            </a:r>
            <a:br>
              <a:rPr lang="en-US" dirty="0" smtClean="0">
                <a:solidFill>
                  <a:schemeClr val="accent5"/>
                </a:solidFill>
              </a:rPr>
            </a:br>
            <a:r>
              <a:rPr lang="en-US" dirty="0" smtClean="0">
                <a:solidFill>
                  <a:schemeClr val="accent5"/>
                </a:solidFill>
              </a:rPr>
              <a:t>sources</a:t>
            </a:r>
            <a:endParaRPr lang="en-US" dirty="0">
              <a:solidFill>
                <a:schemeClr val="accent5"/>
              </a:solidFill>
            </a:endParaRPr>
          </a:p>
        </p:txBody>
      </p:sp>
      <p:sp>
        <p:nvSpPr>
          <p:cNvPr id="3" name="Content Placeholder 2"/>
          <p:cNvSpPr>
            <a:spLocks noGrp="1"/>
          </p:cNvSpPr>
          <p:nvPr>
            <p:ph idx="1"/>
          </p:nvPr>
        </p:nvSpPr>
        <p:spPr>
          <a:xfrm>
            <a:off x="1141413" y="2666999"/>
            <a:ext cx="2750103" cy="3124201"/>
          </a:xfrm>
        </p:spPr>
        <p:txBody>
          <a:bodyPr anchor="t" anchorCtr="0">
            <a:normAutofit lnSpcReduction="10000"/>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Internal</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Originating within the team you are on (your peers, direct manager, and any of your reports), </a:t>
            </a:r>
            <a:r>
              <a:rPr lang="en-US" dirty="0" smtClean="0">
                <a:solidFill>
                  <a:schemeClr val="accent3"/>
                </a:solidFill>
              </a:rPr>
              <a:t>under your control to accomplish your mission</a:t>
            </a:r>
            <a:endParaRPr lang="en-US" dirty="0">
              <a:solidFill>
                <a:schemeClr val="accent3"/>
              </a:solidFill>
            </a:endParaRPr>
          </a:p>
        </p:txBody>
      </p:sp>
      <p:sp>
        <p:nvSpPr>
          <p:cNvPr id="6" name="Content Placeholder 2"/>
          <p:cNvSpPr txBox="1">
            <a:spLocks/>
          </p:cNvSpPr>
          <p:nvPr/>
        </p:nvSpPr>
        <p:spPr>
          <a:xfrm>
            <a:off x="3891516" y="2666999"/>
            <a:ext cx="2750103" cy="3124201"/>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Partner</a:t>
            </a:r>
          </a:p>
          <a:p>
            <a:pPr marL="0" indent="0" defTabSz="914400">
              <a:spcBef>
                <a:spcPts val="0"/>
              </a:spcBef>
              <a:spcAft>
                <a:spcPts val="0"/>
              </a:spcAft>
              <a:buClrTx/>
              <a:buSzTx/>
              <a:buFontTx/>
              <a:buNone/>
            </a:pPr>
            <a:endParaRPr lang="en-US" dirty="0"/>
          </a:p>
          <a:p>
            <a:pPr marL="0" indent="0" defTabSz="914400">
              <a:spcBef>
                <a:spcPts val="0"/>
              </a:spcBef>
              <a:spcAft>
                <a:spcPts val="0"/>
              </a:spcAft>
              <a:buClrTx/>
              <a:buSzTx/>
              <a:buFontTx/>
              <a:buNone/>
            </a:pPr>
            <a:r>
              <a:rPr lang="en-US" dirty="0" smtClean="0"/>
              <a:t>Originating in the larger security organization, the company, or </a:t>
            </a:r>
            <a:r>
              <a:rPr lang="en-US" dirty="0" smtClean="0">
                <a:solidFill>
                  <a:schemeClr val="accent3"/>
                </a:solidFill>
              </a:rPr>
              <a:t>working with you toward your mission</a:t>
            </a:r>
            <a:endParaRPr lang="en-US" dirty="0">
              <a:solidFill>
                <a:schemeClr val="accent3"/>
              </a:solidFill>
            </a:endParaRPr>
          </a:p>
        </p:txBody>
      </p:sp>
      <p:sp>
        <p:nvSpPr>
          <p:cNvPr id="7" name="Content Placeholder 2"/>
          <p:cNvSpPr txBox="1">
            <a:spLocks/>
          </p:cNvSpPr>
          <p:nvPr/>
        </p:nvSpPr>
        <p:spPr>
          <a:xfrm>
            <a:off x="6641619" y="2666998"/>
            <a:ext cx="2750103" cy="3124201"/>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External</a:t>
            </a:r>
          </a:p>
          <a:p>
            <a:pPr marL="0" indent="0" defTabSz="914400">
              <a:spcBef>
                <a:spcPts val="0"/>
              </a:spcBef>
              <a:spcAft>
                <a:spcPts val="0"/>
              </a:spcAft>
              <a:buClrTx/>
              <a:buSzTx/>
              <a:buFontTx/>
              <a:buNone/>
            </a:pPr>
            <a:endParaRPr lang="en-US" dirty="0"/>
          </a:p>
          <a:p>
            <a:pPr marL="0" indent="0" defTabSz="914400">
              <a:spcBef>
                <a:spcPts val="0"/>
              </a:spcBef>
              <a:spcAft>
                <a:spcPts val="0"/>
              </a:spcAft>
              <a:buClrTx/>
              <a:buSzTx/>
              <a:buFontTx/>
              <a:buNone/>
            </a:pPr>
            <a:r>
              <a:rPr lang="en-US" dirty="0" smtClean="0"/>
              <a:t>Originating from outside your company, or otherwise </a:t>
            </a:r>
            <a:r>
              <a:rPr lang="en-US" dirty="0" smtClean="0">
                <a:solidFill>
                  <a:schemeClr val="accent3"/>
                </a:solidFill>
              </a:rPr>
              <a:t>tangential to accomplishing your mission</a:t>
            </a:r>
            <a:endParaRPr lang="en-US" dirty="0">
              <a:solidFill>
                <a:schemeClr val="accent3"/>
              </a:solidFill>
            </a:endParaRPr>
          </a:p>
        </p:txBody>
      </p:sp>
    </p:spTree>
    <p:extLst>
      <p:ext uri="{BB962C8B-B14F-4D97-AF65-F5344CB8AC3E}">
        <p14:creationId xmlns:p14="http://schemas.microsoft.com/office/powerpoint/2010/main" val="10346489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Identify and document challenges:</a:t>
            </a:r>
            <a:br>
              <a:rPr lang="en-US" dirty="0" smtClean="0">
                <a:solidFill>
                  <a:schemeClr val="accent5"/>
                </a:solidFill>
              </a:rPr>
            </a:br>
            <a:r>
              <a:rPr lang="en-US" dirty="0" smtClean="0">
                <a:solidFill>
                  <a:schemeClr val="accent5"/>
                </a:solidFill>
              </a:rPr>
              <a:t>Types</a:t>
            </a:r>
            <a:endParaRPr lang="en-US" dirty="0">
              <a:solidFill>
                <a:schemeClr val="accent5"/>
              </a:solidFill>
            </a:endParaRPr>
          </a:p>
        </p:txBody>
      </p:sp>
      <p:sp>
        <p:nvSpPr>
          <p:cNvPr id="3" name="Content Placeholder 2"/>
          <p:cNvSpPr>
            <a:spLocks noGrp="1"/>
          </p:cNvSpPr>
          <p:nvPr>
            <p:ph idx="1"/>
          </p:nvPr>
        </p:nvSpPr>
        <p:spPr>
          <a:xfrm>
            <a:off x="1141413" y="2667000"/>
            <a:ext cx="2750103" cy="1543493"/>
          </a:xfrm>
        </p:spPr>
        <p:txBody>
          <a:bodyPr anchor="t" anchorCtr="0">
            <a:normAutofit lnSpcReduction="10000"/>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Social</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Personalities, interactions, </a:t>
            </a:r>
            <a:r>
              <a:rPr lang="en-US" dirty="0" smtClean="0"/>
              <a:t>temperaments, </a:t>
            </a:r>
            <a:br>
              <a:rPr lang="en-US" dirty="0" smtClean="0"/>
            </a:br>
            <a:r>
              <a:rPr lang="en-US" dirty="0" smtClean="0"/>
              <a:t>org </a:t>
            </a:r>
            <a:r>
              <a:rPr lang="en-US" dirty="0" smtClean="0"/>
              <a:t>politics</a:t>
            </a:r>
            <a:endParaRPr lang="en-US" dirty="0"/>
          </a:p>
        </p:txBody>
      </p:sp>
      <p:sp>
        <p:nvSpPr>
          <p:cNvPr id="6" name="Content Placeholder 2"/>
          <p:cNvSpPr txBox="1">
            <a:spLocks/>
          </p:cNvSpPr>
          <p:nvPr/>
        </p:nvSpPr>
        <p:spPr>
          <a:xfrm>
            <a:off x="3891516" y="2667000"/>
            <a:ext cx="2750103"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Error / misuse</a:t>
            </a:r>
          </a:p>
          <a:p>
            <a:pPr marL="0" indent="0" defTabSz="914400">
              <a:spcBef>
                <a:spcPts val="0"/>
              </a:spcBef>
              <a:spcAft>
                <a:spcPts val="0"/>
              </a:spcAft>
              <a:buClrTx/>
              <a:buSzTx/>
              <a:buFontTx/>
              <a:buNone/>
            </a:pPr>
            <a:r>
              <a:rPr lang="en-US" dirty="0" smtClean="0"/>
              <a:t>Skills, capabilities, and the (un)intentional damage from them</a:t>
            </a:r>
            <a:endParaRPr lang="en-US" dirty="0"/>
          </a:p>
        </p:txBody>
      </p:sp>
      <p:sp>
        <p:nvSpPr>
          <p:cNvPr id="7" name="Content Placeholder 2"/>
          <p:cNvSpPr txBox="1">
            <a:spLocks/>
          </p:cNvSpPr>
          <p:nvPr/>
        </p:nvSpPr>
        <p:spPr>
          <a:xfrm>
            <a:off x="6641619" y="2666998"/>
            <a:ext cx="2750103" cy="1543495"/>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Financial</a:t>
            </a:r>
          </a:p>
          <a:p>
            <a:pPr marL="0" indent="0" defTabSz="914400">
              <a:spcBef>
                <a:spcPts val="0"/>
              </a:spcBef>
              <a:spcAft>
                <a:spcPts val="0"/>
              </a:spcAft>
              <a:buClrTx/>
              <a:buSzTx/>
              <a:buFontTx/>
              <a:buNone/>
            </a:pPr>
            <a:r>
              <a:rPr lang="en-US" dirty="0" smtClean="0"/>
              <a:t>Budgets, pay, training, </a:t>
            </a:r>
            <a:r>
              <a:rPr lang="en-US" dirty="0" err="1" smtClean="0"/>
              <a:t>Opex</a:t>
            </a:r>
            <a:r>
              <a:rPr lang="en-US" dirty="0" smtClean="0"/>
              <a:t> / Capex</a:t>
            </a:r>
            <a:endParaRPr lang="en-US" dirty="0"/>
          </a:p>
        </p:txBody>
      </p:sp>
      <p:sp>
        <p:nvSpPr>
          <p:cNvPr id="8" name="Content Placeholder 2"/>
          <p:cNvSpPr txBox="1">
            <a:spLocks/>
          </p:cNvSpPr>
          <p:nvPr/>
        </p:nvSpPr>
        <p:spPr>
          <a:xfrm>
            <a:off x="1141413" y="4362893"/>
            <a:ext cx="2750103"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Crisis</a:t>
            </a:r>
          </a:p>
          <a:p>
            <a:pPr marL="0" indent="0" defTabSz="914400">
              <a:spcBef>
                <a:spcPts val="0"/>
              </a:spcBef>
              <a:spcAft>
                <a:spcPts val="0"/>
              </a:spcAft>
              <a:buClrTx/>
              <a:buSzTx/>
              <a:buFontTx/>
              <a:buNone/>
            </a:pPr>
            <a:r>
              <a:rPr lang="en-US" dirty="0" smtClean="0"/>
              <a:t>Unstable, crucial situations</a:t>
            </a:r>
            <a:endParaRPr lang="en-US" dirty="0"/>
          </a:p>
        </p:txBody>
      </p:sp>
      <p:sp>
        <p:nvSpPr>
          <p:cNvPr id="9" name="Content Placeholder 2"/>
          <p:cNvSpPr txBox="1">
            <a:spLocks/>
          </p:cNvSpPr>
          <p:nvPr/>
        </p:nvSpPr>
        <p:spPr>
          <a:xfrm>
            <a:off x="3891516" y="4362893"/>
            <a:ext cx="2750103"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Responsibilities</a:t>
            </a:r>
          </a:p>
          <a:p>
            <a:pPr marL="0" indent="0" defTabSz="914400">
              <a:spcBef>
                <a:spcPts val="0"/>
              </a:spcBef>
              <a:spcAft>
                <a:spcPts val="0"/>
              </a:spcAft>
              <a:buClrTx/>
              <a:buSzTx/>
              <a:buFontTx/>
              <a:buNone/>
            </a:pPr>
            <a:r>
              <a:rPr lang="en-US" dirty="0" smtClean="0"/>
              <a:t>Impacts from doing assigned work (time, money, mental harm)</a:t>
            </a:r>
            <a:endParaRPr lang="en-US" dirty="0"/>
          </a:p>
        </p:txBody>
      </p:sp>
      <p:sp>
        <p:nvSpPr>
          <p:cNvPr id="10" name="Content Placeholder 2"/>
          <p:cNvSpPr txBox="1">
            <a:spLocks/>
          </p:cNvSpPr>
          <p:nvPr/>
        </p:nvSpPr>
        <p:spPr>
          <a:xfrm>
            <a:off x="6641618" y="4362893"/>
            <a:ext cx="3140335" cy="1543493"/>
          </a:xfrm>
          <a:prstGeom prst="rect">
            <a:avLst/>
          </a:prstGeom>
        </p:spPr>
        <p:txBody>
          <a:bodyPr vert="horz" lIns="91440" tIns="45720" rIns="91440" bIns="45720" rtlCol="0" anchor="t" anchorCtr="0">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defTabSz="914400">
              <a:spcBef>
                <a:spcPts val="0"/>
              </a:spcBef>
              <a:spcAft>
                <a:spcPts val="0"/>
              </a:spcAft>
              <a:buClrTx/>
              <a:buSzTx/>
              <a:buFontTx/>
              <a:buNone/>
            </a:pPr>
            <a:r>
              <a:rPr lang="en-US" dirty="0" smtClean="0">
                <a:solidFill>
                  <a:schemeClr val="accent5"/>
                </a:solidFill>
              </a:rPr>
              <a:t>Physical / environmental</a:t>
            </a:r>
          </a:p>
          <a:p>
            <a:pPr marL="0" indent="0" defTabSz="914400">
              <a:spcBef>
                <a:spcPts val="0"/>
              </a:spcBef>
              <a:spcAft>
                <a:spcPts val="0"/>
              </a:spcAft>
              <a:buClrTx/>
              <a:buSzTx/>
              <a:buFontTx/>
              <a:buNone/>
            </a:pPr>
            <a:r>
              <a:rPr lang="en-US" dirty="0" smtClean="0"/>
              <a:t>Health, workplace conditions, violence or physical danger</a:t>
            </a:r>
            <a:endParaRPr lang="en-US" dirty="0"/>
          </a:p>
        </p:txBody>
      </p:sp>
    </p:spTree>
    <p:extLst>
      <p:ext uri="{BB962C8B-B14F-4D97-AF65-F5344CB8AC3E}">
        <p14:creationId xmlns:p14="http://schemas.microsoft.com/office/powerpoint/2010/main" val="5407940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Identify and document challenges:</a:t>
            </a:r>
            <a:br>
              <a:rPr lang="en-US" dirty="0" smtClean="0">
                <a:solidFill>
                  <a:schemeClr val="accent5"/>
                </a:solidFill>
              </a:rPr>
            </a:br>
            <a:r>
              <a:rPr lang="en-US" dirty="0" smtClean="0">
                <a:solidFill>
                  <a:schemeClr val="accent5"/>
                </a:solidFill>
              </a:rPr>
              <a:t>Examples</a:t>
            </a:r>
            <a:endParaRPr lang="en-US" dirty="0">
              <a:solidFill>
                <a:schemeClr val="accent5"/>
              </a:solidFill>
            </a:endParaRPr>
          </a:p>
        </p:txBody>
      </p:sp>
      <p:sp>
        <p:nvSpPr>
          <p:cNvPr id="3" name="Content Placeholder 2"/>
          <p:cNvSpPr>
            <a:spLocks noGrp="1"/>
          </p:cNvSpPr>
          <p:nvPr>
            <p:ph idx="1"/>
          </p:nvPr>
        </p:nvSpPr>
        <p:spPr>
          <a:xfrm>
            <a:off x="1141413" y="2667000"/>
            <a:ext cx="9905998" cy="3521149"/>
          </a:xfrm>
        </p:spPr>
        <p:txBody>
          <a:bodyPr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Title: </a:t>
            </a:r>
            <a:r>
              <a:rPr lang="en-US" dirty="0" smtClean="0">
                <a:solidFill>
                  <a:schemeClr val="accent3"/>
                </a:solidFill>
              </a:rPr>
              <a:t>External </a:t>
            </a:r>
            <a:r>
              <a:rPr lang="en-US" dirty="0" err="1" smtClean="0">
                <a:solidFill>
                  <a:schemeClr val="accent3"/>
                </a:solidFill>
              </a:rPr>
              <a:t>pentest</a:t>
            </a:r>
            <a:r>
              <a:rPr lang="en-US" dirty="0" smtClean="0">
                <a:solidFill>
                  <a:schemeClr val="accent3"/>
                </a:solidFill>
              </a:rPr>
              <a:t> reports focused on niche shortcomings</a:t>
            </a: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Source: </a:t>
            </a:r>
            <a:r>
              <a:rPr lang="en-US" dirty="0" smtClean="0">
                <a:solidFill>
                  <a:schemeClr val="accent3"/>
                </a:solidFill>
              </a:rPr>
              <a:t>External, Partner	</a:t>
            </a:r>
            <a:r>
              <a:rPr lang="en-US" dirty="0" smtClean="0">
                <a:solidFill>
                  <a:schemeClr val="accent5"/>
                </a:solidFill>
              </a:rPr>
              <a:t>Type: </a:t>
            </a:r>
            <a:r>
              <a:rPr lang="en-US" dirty="0" smtClean="0">
                <a:solidFill>
                  <a:schemeClr val="accent3"/>
                </a:solidFill>
              </a:rPr>
              <a:t>Social, Responsibilities	</a:t>
            </a:r>
            <a:r>
              <a:rPr lang="en-US" dirty="0" smtClean="0">
                <a:solidFill>
                  <a:schemeClr val="accent5"/>
                </a:solidFill>
              </a:rPr>
              <a:t>Severity: </a:t>
            </a:r>
            <a:r>
              <a:rPr lang="en-US" dirty="0" smtClean="0">
                <a:solidFill>
                  <a:schemeClr val="accent3"/>
                </a:solidFill>
              </a:rPr>
              <a:t>Medium</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Impacted Asset, goal, or process:  </a:t>
            </a:r>
            <a:r>
              <a:rPr lang="en-US" dirty="0" smtClean="0">
                <a:solidFill>
                  <a:schemeClr val="accent3"/>
                </a:solidFill>
              </a:rPr>
              <a:t>Influence, Team</a:t>
            </a: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Repeated reports from $PENTEST-Company have identified several shortcomings in our security posture. These are valid and known, but are lower priority on our list than the key deficiencies that we have been trying to address. Several of the basic items we’re trying to address would also cover some aspects of the identified flaws.</a:t>
            </a:r>
            <a:endParaRPr lang="en-US" dirty="0"/>
          </a:p>
        </p:txBody>
      </p:sp>
    </p:spTree>
    <p:extLst>
      <p:ext uri="{BB962C8B-B14F-4D97-AF65-F5344CB8AC3E}">
        <p14:creationId xmlns:p14="http://schemas.microsoft.com/office/powerpoint/2010/main" val="7023265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Challenge Mitigations</a:t>
            </a:r>
            <a:endParaRPr lang="en-US" dirty="0">
              <a:solidFill>
                <a:schemeClr val="accent5"/>
              </a:solidFill>
            </a:endParaRPr>
          </a:p>
        </p:txBody>
      </p:sp>
      <p:sp>
        <p:nvSpPr>
          <p:cNvPr id="3" name="Text Placeholder 2"/>
          <p:cNvSpPr>
            <a:spLocks noGrp="1"/>
          </p:cNvSpPr>
          <p:nvPr>
            <p:ph type="body" idx="1"/>
          </p:nvPr>
        </p:nvSpPr>
        <p:spPr/>
        <p:txBody>
          <a:bodyPr/>
          <a:lstStyle/>
          <a:p>
            <a:r>
              <a:rPr lang="en-US" dirty="0" smtClean="0"/>
              <a:t>Wherein we defend the defenders</a:t>
            </a:r>
            <a:endParaRPr lang="en-US" dirty="0"/>
          </a:p>
        </p:txBody>
      </p:sp>
    </p:spTree>
    <p:extLst>
      <p:ext uri="{BB962C8B-B14F-4D97-AF65-F5344CB8AC3E}">
        <p14:creationId xmlns:p14="http://schemas.microsoft.com/office/powerpoint/2010/main" val="12545723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challenge types:</a:t>
            </a:r>
            <a:br>
              <a:rPr lang="en-US" dirty="0" smtClean="0">
                <a:solidFill>
                  <a:schemeClr val="accent5"/>
                </a:solidFill>
              </a:rPr>
            </a:br>
            <a:r>
              <a:rPr lang="en-US" dirty="0" smtClean="0">
                <a:solidFill>
                  <a:schemeClr val="accent5"/>
                </a:solidFill>
              </a:rPr>
              <a:t>Social</a:t>
            </a:r>
            <a:endParaRPr lang="en-US" dirty="0">
              <a:solidFill>
                <a:schemeClr val="accent5"/>
              </a:solidFill>
            </a:endParaRPr>
          </a:p>
        </p:txBody>
      </p:sp>
      <p:sp>
        <p:nvSpPr>
          <p:cNvPr id="3" name="Content Placeholder 2"/>
          <p:cNvSpPr>
            <a:spLocks noGrp="1"/>
          </p:cNvSpPr>
          <p:nvPr>
            <p:ph idx="1"/>
          </p:nvPr>
        </p:nvSpPr>
        <p:spPr/>
        <p:txBody>
          <a:bodyPr>
            <a:normAutofit fontScale="85000" lnSpcReduction="20000"/>
          </a:bodyPr>
          <a:lstStyle/>
          <a:p>
            <a:r>
              <a:rPr lang="en-US" dirty="0" smtClean="0"/>
              <a:t>Google – After years of analysis, key to teamwork is being nice</a:t>
            </a:r>
          </a:p>
          <a:p>
            <a:pPr lvl="1"/>
            <a:r>
              <a:rPr lang="en-US" dirty="0" smtClean="0"/>
              <a:t>Respect others’ emotions</a:t>
            </a:r>
          </a:p>
          <a:p>
            <a:pPr lvl="1"/>
            <a:r>
              <a:rPr lang="en-US" dirty="0" smtClean="0"/>
              <a:t>Allow others to contribute to conversation equally</a:t>
            </a:r>
          </a:p>
          <a:p>
            <a:pPr lvl="1"/>
            <a:r>
              <a:rPr lang="en-US" dirty="0">
                <a:hlinkClick r:id="rId3"/>
              </a:rPr>
              <a:t>https://qz.com/625870/after-years-of-intensive-analysis-google-discovers-the-key-to-good-teamwork-is-being-nice</a:t>
            </a:r>
            <a:r>
              <a:rPr lang="en-US" dirty="0" smtClean="0">
                <a:hlinkClick r:id="rId3"/>
              </a:rPr>
              <a:t>/</a:t>
            </a:r>
            <a:r>
              <a:rPr lang="en-US" dirty="0" smtClean="0"/>
              <a:t> </a:t>
            </a:r>
          </a:p>
          <a:p>
            <a:r>
              <a:rPr lang="en-US" dirty="0" smtClean="0"/>
              <a:t>Foster business &amp; social communication, particularly remotely (Chat rooms)</a:t>
            </a:r>
          </a:p>
          <a:p>
            <a:pPr lvl="1"/>
            <a:r>
              <a:rPr lang="en-US" dirty="0" smtClean="0"/>
              <a:t>House Rules – disrespect isn’t welcome here</a:t>
            </a:r>
          </a:p>
          <a:p>
            <a:r>
              <a:rPr lang="en-US" dirty="0" smtClean="0"/>
              <a:t>best $1500 I’ve spent: </a:t>
            </a:r>
            <a:r>
              <a:rPr lang="en-US" dirty="0" err="1" smtClean="0"/>
              <a:t>teppanyaki</a:t>
            </a:r>
            <a:r>
              <a:rPr lang="en-US" dirty="0" smtClean="0"/>
              <a:t> &amp; bowling; minor league ball in the queen </a:t>
            </a:r>
            <a:r>
              <a:rPr lang="en-US" dirty="0" smtClean="0"/>
              <a:t>city</a:t>
            </a:r>
          </a:p>
          <a:p>
            <a:pPr lvl="1"/>
            <a:r>
              <a:rPr lang="en-US" dirty="0" smtClean="0"/>
              <a:t>Focus on the team: interactive &amp; fun events that feel rewarding, not mandatory</a:t>
            </a:r>
            <a:endParaRPr lang="en-US" dirty="0" smtClean="0"/>
          </a:p>
          <a:p>
            <a:r>
              <a:rPr lang="en-US" dirty="0" smtClean="0"/>
              <a:t>Investment during plenty will reap rewards during difficulty</a:t>
            </a:r>
          </a:p>
        </p:txBody>
      </p:sp>
    </p:spTree>
    <p:extLst>
      <p:ext uri="{BB962C8B-B14F-4D97-AF65-F5344CB8AC3E}">
        <p14:creationId xmlns:p14="http://schemas.microsoft.com/office/powerpoint/2010/main" val="18839981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challenge types:</a:t>
            </a:r>
            <a:br>
              <a:rPr lang="en-US" dirty="0" smtClean="0">
                <a:solidFill>
                  <a:schemeClr val="accent5"/>
                </a:solidFill>
              </a:rPr>
            </a:br>
            <a:r>
              <a:rPr lang="en-US" dirty="0" smtClean="0">
                <a:solidFill>
                  <a:schemeClr val="accent5"/>
                </a:solidFill>
              </a:rPr>
              <a:t>Error / misuse</a:t>
            </a:r>
            <a:endParaRPr lang="en-US" dirty="0">
              <a:solidFill>
                <a:schemeClr val="accent5"/>
              </a:solidFill>
            </a:endParaRPr>
          </a:p>
        </p:txBody>
      </p:sp>
      <p:sp>
        <p:nvSpPr>
          <p:cNvPr id="3" name="Content Placeholder 2"/>
          <p:cNvSpPr>
            <a:spLocks noGrp="1"/>
          </p:cNvSpPr>
          <p:nvPr>
            <p:ph idx="1"/>
          </p:nvPr>
        </p:nvSpPr>
        <p:spPr/>
        <p:txBody>
          <a:bodyPr>
            <a:normAutofit/>
          </a:bodyPr>
          <a:lstStyle/>
          <a:p>
            <a:r>
              <a:rPr lang="en-US" dirty="0" smtClean="0"/>
              <a:t>Hire for potential, but foster &amp; expect growth</a:t>
            </a:r>
          </a:p>
          <a:p>
            <a:r>
              <a:rPr lang="en-US" dirty="0" smtClean="0"/>
              <a:t>“Experts can’t document their art” and other fallacies</a:t>
            </a:r>
          </a:p>
          <a:p>
            <a:pPr lvl="1"/>
            <a:r>
              <a:rPr lang="en-US" dirty="0" smtClean="0"/>
              <a:t>Procedures &amp; Checklists save lives</a:t>
            </a:r>
          </a:p>
          <a:p>
            <a:pPr lvl="1"/>
            <a:r>
              <a:rPr lang="en-US" dirty="0" smtClean="0"/>
              <a:t>Consistency &amp; Repeatability</a:t>
            </a:r>
          </a:p>
          <a:p>
            <a:pPr lvl="1"/>
            <a:r>
              <a:rPr lang="en-US" dirty="0" smtClean="0"/>
              <a:t>Capability Maturity Model-&gt; automate the boring stuff</a:t>
            </a:r>
          </a:p>
          <a:p>
            <a:r>
              <a:rPr lang="en-US" dirty="0" smtClean="0"/>
              <a:t>Learn, Train, document. if absolutely necessary use budget</a:t>
            </a:r>
          </a:p>
        </p:txBody>
      </p:sp>
    </p:spTree>
    <p:extLst>
      <p:ext uri="{BB962C8B-B14F-4D97-AF65-F5344CB8AC3E}">
        <p14:creationId xmlns:p14="http://schemas.microsoft.com/office/powerpoint/2010/main" val="18601625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challenge types:</a:t>
            </a:r>
            <a:br>
              <a:rPr lang="en-US" dirty="0" smtClean="0">
                <a:solidFill>
                  <a:schemeClr val="accent5"/>
                </a:solidFill>
              </a:rPr>
            </a:br>
            <a:r>
              <a:rPr lang="en-US" dirty="0" smtClean="0">
                <a:solidFill>
                  <a:schemeClr val="accent5"/>
                </a:solidFill>
              </a:rPr>
              <a:t>Financial</a:t>
            </a:r>
            <a:endParaRPr lang="en-US" dirty="0">
              <a:solidFill>
                <a:schemeClr val="accent5"/>
              </a:solidFill>
            </a:endParaRPr>
          </a:p>
        </p:txBody>
      </p:sp>
      <p:sp>
        <p:nvSpPr>
          <p:cNvPr id="3" name="Content Placeholder 2"/>
          <p:cNvSpPr>
            <a:spLocks noGrp="1"/>
          </p:cNvSpPr>
          <p:nvPr>
            <p:ph idx="1"/>
          </p:nvPr>
        </p:nvSpPr>
        <p:spPr/>
        <p:txBody>
          <a:bodyPr>
            <a:normAutofit/>
          </a:bodyPr>
          <a:lstStyle/>
          <a:p>
            <a:r>
              <a:rPr lang="en-US" dirty="0" smtClean="0"/>
              <a:t>Understand your business and its budget process</a:t>
            </a:r>
          </a:p>
          <a:p>
            <a:pPr lvl="1"/>
            <a:r>
              <a:rPr lang="en-US" dirty="0" smtClean="0"/>
              <a:t>When </a:t>
            </a:r>
            <a:r>
              <a:rPr lang="en-US" dirty="0" err="1" smtClean="0"/>
              <a:t>opex</a:t>
            </a:r>
            <a:r>
              <a:rPr lang="en-US" dirty="0" smtClean="0"/>
              <a:t> isn’t around, learn how to use capex</a:t>
            </a:r>
          </a:p>
          <a:p>
            <a:r>
              <a:rPr lang="en-US" dirty="0" smtClean="0"/>
              <a:t>Buy the right things, build the right things</a:t>
            </a:r>
          </a:p>
          <a:p>
            <a:r>
              <a:rPr lang="en-US" dirty="0" smtClean="0"/>
              <a:t>Keep a running list of needs, wants, justifications and quotes</a:t>
            </a:r>
          </a:p>
          <a:p>
            <a:pPr lvl="1"/>
            <a:r>
              <a:rPr lang="en-US" dirty="0" smtClean="0"/>
              <a:t>Align to your mission / charter</a:t>
            </a:r>
          </a:p>
          <a:p>
            <a:r>
              <a:rPr lang="en-US" dirty="0" smtClean="0"/>
              <a:t>Fight for bonuses, reviews, pay. Be honest &amp; fair, but advocate for your people</a:t>
            </a:r>
          </a:p>
          <a:p>
            <a:pPr lvl="1"/>
            <a:r>
              <a:rPr lang="en-US" dirty="0" smtClean="0"/>
              <a:t>Metrics, results, </a:t>
            </a:r>
            <a:r>
              <a:rPr lang="en-US" dirty="0" smtClean="0">
                <a:solidFill>
                  <a:schemeClr val="accent3"/>
                </a:solidFill>
              </a:rPr>
              <a:t>challenges</a:t>
            </a:r>
          </a:p>
        </p:txBody>
      </p:sp>
    </p:spTree>
    <p:extLst>
      <p:ext uri="{BB962C8B-B14F-4D97-AF65-F5344CB8AC3E}">
        <p14:creationId xmlns:p14="http://schemas.microsoft.com/office/powerpoint/2010/main" val="6109689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challenge types:</a:t>
            </a:r>
            <a:br>
              <a:rPr lang="en-US" dirty="0" smtClean="0">
                <a:solidFill>
                  <a:schemeClr val="accent5"/>
                </a:solidFill>
              </a:rPr>
            </a:br>
            <a:r>
              <a:rPr lang="en-US" dirty="0" smtClean="0">
                <a:solidFill>
                  <a:schemeClr val="accent5"/>
                </a:solidFill>
              </a:rPr>
              <a:t>Crisis</a:t>
            </a:r>
            <a:endParaRPr lang="en-US" dirty="0">
              <a:solidFill>
                <a:schemeClr val="accent5"/>
              </a:solidFill>
            </a:endParaRPr>
          </a:p>
        </p:txBody>
      </p:sp>
      <p:sp>
        <p:nvSpPr>
          <p:cNvPr id="3" name="Content Placeholder 2"/>
          <p:cNvSpPr>
            <a:spLocks noGrp="1"/>
          </p:cNvSpPr>
          <p:nvPr>
            <p:ph idx="1"/>
          </p:nvPr>
        </p:nvSpPr>
        <p:spPr/>
        <p:txBody>
          <a:bodyPr>
            <a:normAutofit/>
          </a:bodyPr>
          <a:lstStyle/>
          <a:p>
            <a:r>
              <a:rPr lang="en-US" dirty="0" smtClean="0"/>
              <a:t>L.E.A.D. : Limit, Evaluate, Act, Depart</a:t>
            </a:r>
          </a:p>
          <a:p>
            <a:r>
              <a:rPr lang="en-US" dirty="0" smtClean="0"/>
              <a:t>Emergency vs Adaptive crisis phases (HBR – Leadership in A Permanent Crisis)</a:t>
            </a:r>
          </a:p>
          <a:p>
            <a:pPr lvl="1"/>
            <a:r>
              <a:rPr lang="en-US" sz="2000" dirty="0" smtClean="0"/>
              <a:t>Procedure wins emergencies, but rigidity stifles adaptation</a:t>
            </a:r>
          </a:p>
          <a:p>
            <a:pPr lvl="1"/>
            <a:r>
              <a:rPr lang="en-US" sz="2000" dirty="0">
                <a:hlinkClick r:id="rId3"/>
              </a:rPr>
              <a:t>http://</a:t>
            </a:r>
            <a:r>
              <a:rPr lang="en-US" sz="2000" dirty="0" smtClean="0">
                <a:hlinkClick r:id="rId3"/>
              </a:rPr>
              <a:t>communication-leadership-change.com/files/119516674.pdf</a:t>
            </a:r>
            <a:r>
              <a:rPr lang="en-US" sz="2000" dirty="0" smtClean="0"/>
              <a:t> </a:t>
            </a:r>
          </a:p>
          <a:p>
            <a:r>
              <a:rPr lang="en-US" dirty="0"/>
              <a:t>Lead by service, reserve authority for crisis</a:t>
            </a:r>
          </a:p>
          <a:p>
            <a:pPr lvl="1"/>
            <a:r>
              <a:rPr lang="en-US" dirty="0">
                <a:hlinkClick r:id="rId4"/>
              </a:rPr>
              <a:t>https://</a:t>
            </a:r>
            <a:r>
              <a:rPr lang="en-US" dirty="0" smtClean="0">
                <a:hlinkClick r:id="rId4"/>
              </a:rPr>
              <a:t>twitter.com/sarahmei/status/832662375073329152</a:t>
            </a:r>
            <a:endParaRPr lang="en-US" dirty="0" smtClean="0"/>
          </a:p>
          <a:p>
            <a:r>
              <a:rPr lang="en-US" dirty="0" smtClean="0"/>
              <a:t>After-action review</a:t>
            </a:r>
          </a:p>
        </p:txBody>
      </p:sp>
    </p:spTree>
    <p:extLst>
      <p:ext uri="{BB962C8B-B14F-4D97-AF65-F5344CB8AC3E}">
        <p14:creationId xmlns:p14="http://schemas.microsoft.com/office/powerpoint/2010/main" val="15108161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challenge types:</a:t>
            </a:r>
            <a:br>
              <a:rPr lang="en-US" dirty="0" smtClean="0">
                <a:solidFill>
                  <a:schemeClr val="accent5"/>
                </a:solidFill>
              </a:rPr>
            </a:br>
            <a:r>
              <a:rPr lang="en-US" dirty="0" smtClean="0">
                <a:solidFill>
                  <a:schemeClr val="accent5"/>
                </a:solidFill>
              </a:rPr>
              <a:t>responsibilities</a:t>
            </a:r>
            <a:endParaRPr lang="en-US" dirty="0">
              <a:solidFill>
                <a:schemeClr val="accent5"/>
              </a:solidFill>
            </a:endParaRPr>
          </a:p>
        </p:txBody>
      </p:sp>
      <p:sp>
        <p:nvSpPr>
          <p:cNvPr id="3" name="Content Placeholder 2"/>
          <p:cNvSpPr>
            <a:spLocks noGrp="1"/>
          </p:cNvSpPr>
          <p:nvPr>
            <p:ph idx="1"/>
          </p:nvPr>
        </p:nvSpPr>
        <p:spPr/>
        <p:txBody>
          <a:bodyPr>
            <a:normAutofit/>
          </a:bodyPr>
          <a:lstStyle/>
          <a:p>
            <a:r>
              <a:rPr lang="en-US" dirty="0" smtClean="0"/>
              <a:t>Mission &amp; Charter – Core vs Context</a:t>
            </a:r>
          </a:p>
          <a:p>
            <a:r>
              <a:rPr lang="en-US" dirty="0" smtClean="0"/>
              <a:t>Push back on things that you can, automate the things you can’t</a:t>
            </a:r>
          </a:p>
          <a:p>
            <a:r>
              <a:rPr lang="en-US" dirty="0" smtClean="0"/>
              <a:t>Work with the business / HR on harmful environments</a:t>
            </a:r>
          </a:p>
          <a:p>
            <a:pPr lvl="1"/>
            <a:r>
              <a:rPr lang="en-US" dirty="0" smtClean="0"/>
              <a:t>(Porn, insider investigations, employee misconduct)</a:t>
            </a:r>
          </a:p>
          <a:p>
            <a:r>
              <a:rPr lang="en-US" dirty="0" smtClean="0"/>
              <a:t>Share the load, cross-train, take input on process improvement</a:t>
            </a:r>
          </a:p>
        </p:txBody>
      </p:sp>
    </p:spTree>
    <p:extLst>
      <p:ext uri="{BB962C8B-B14F-4D97-AF65-F5344CB8AC3E}">
        <p14:creationId xmlns:p14="http://schemas.microsoft.com/office/powerpoint/2010/main" val="11895631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challenge types:</a:t>
            </a:r>
            <a:br>
              <a:rPr lang="en-US" dirty="0" smtClean="0">
                <a:solidFill>
                  <a:schemeClr val="accent5"/>
                </a:solidFill>
              </a:rPr>
            </a:br>
            <a:r>
              <a:rPr lang="en-US" dirty="0" smtClean="0">
                <a:solidFill>
                  <a:schemeClr val="accent5"/>
                </a:solidFill>
              </a:rPr>
              <a:t>Physical / environmental</a:t>
            </a:r>
            <a:endParaRPr lang="en-US" dirty="0">
              <a:solidFill>
                <a:schemeClr val="accent5"/>
              </a:solidFill>
            </a:endParaRPr>
          </a:p>
        </p:txBody>
      </p:sp>
      <p:sp>
        <p:nvSpPr>
          <p:cNvPr id="3" name="Content Placeholder 2"/>
          <p:cNvSpPr>
            <a:spLocks noGrp="1"/>
          </p:cNvSpPr>
          <p:nvPr>
            <p:ph idx="1"/>
          </p:nvPr>
        </p:nvSpPr>
        <p:spPr/>
        <p:txBody>
          <a:bodyPr>
            <a:normAutofit/>
          </a:bodyPr>
          <a:lstStyle/>
          <a:p>
            <a:r>
              <a:rPr lang="en-US" dirty="0" smtClean="0"/>
              <a:t>Co-workers give you a large part of their lifetime; steward it well</a:t>
            </a:r>
          </a:p>
          <a:p>
            <a:pPr lvl="1"/>
            <a:r>
              <a:rPr lang="en-US" dirty="0" smtClean="0"/>
              <a:t>Family, Illness, other concerns are vitally important</a:t>
            </a:r>
          </a:p>
          <a:p>
            <a:r>
              <a:rPr lang="en-US" dirty="0" smtClean="0"/>
              <a:t>Vacations, Time-off, flexible working environments</a:t>
            </a:r>
          </a:p>
          <a:p>
            <a:r>
              <a:rPr lang="en-US" dirty="0" smtClean="0"/>
              <a:t>Don</a:t>
            </a:r>
            <a:r>
              <a:rPr lang="uk-UA" dirty="0" smtClean="0"/>
              <a:t>’</a:t>
            </a:r>
            <a:r>
              <a:rPr lang="en-US" dirty="0" smtClean="0"/>
              <a:t>t overlook physical comfort in the working environment. Harsh conditions create real stress</a:t>
            </a:r>
          </a:p>
          <a:p>
            <a:pPr lvl="1"/>
            <a:r>
              <a:rPr lang="en-US" dirty="0" smtClean="0"/>
              <a:t>Obviously those in dangerous / combat environments know this well</a:t>
            </a:r>
          </a:p>
        </p:txBody>
      </p:sp>
    </p:spTree>
    <p:extLst>
      <p:ext uri="{BB962C8B-B14F-4D97-AF65-F5344CB8AC3E}">
        <p14:creationId xmlns:p14="http://schemas.microsoft.com/office/powerpoint/2010/main" val="2770551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Problem solving with limited resources:</a:t>
            </a:r>
            <a:br>
              <a:rPr lang="en-US" dirty="0" smtClean="0">
                <a:solidFill>
                  <a:schemeClr val="accent5"/>
                </a:solidFill>
              </a:rPr>
            </a:br>
            <a:r>
              <a:rPr lang="en-US" dirty="0" smtClean="0">
                <a:solidFill>
                  <a:schemeClr val="accent5"/>
                </a:solidFill>
              </a:rPr>
              <a:t>people, Process, Tech</a:t>
            </a:r>
            <a:endParaRPr lang="en-US" dirty="0">
              <a:solidFill>
                <a:schemeClr val="accent5"/>
              </a:solidFill>
            </a:endParaRPr>
          </a:p>
        </p:txBody>
      </p:sp>
      <p:sp>
        <p:nvSpPr>
          <p:cNvPr id="3" name="Content Placeholder 2"/>
          <p:cNvSpPr>
            <a:spLocks noGrp="1"/>
          </p:cNvSpPr>
          <p:nvPr>
            <p:ph idx="1"/>
          </p:nvPr>
        </p:nvSpPr>
        <p:spPr/>
        <p:txBody>
          <a:bodyPr/>
          <a:lstStyle/>
          <a:p>
            <a:r>
              <a:rPr lang="en-US" dirty="0" smtClean="0"/>
              <a:t>People &gt; Process &gt; Technology</a:t>
            </a:r>
          </a:p>
          <a:p>
            <a:r>
              <a:rPr lang="en-US" dirty="0" smtClean="0"/>
              <a:t>Getting to Yes: Negotiating agreement without giving in – Fisher &amp; </a:t>
            </a:r>
            <a:r>
              <a:rPr lang="en-US" dirty="0" err="1" smtClean="0"/>
              <a:t>Ury</a:t>
            </a:r>
            <a:endParaRPr lang="en-US" dirty="0" smtClean="0"/>
          </a:p>
          <a:p>
            <a:r>
              <a:rPr lang="en-US" dirty="0" smtClean="0"/>
              <a:t>Listen to your team, take time to prioritize not only the pain points but the things that are low effort / high gain</a:t>
            </a:r>
          </a:p>
          <a:p>
            <a:endParaRPr lang="en-US" dirty="0"/>
          </a:p>
          <a:p>
            <a:endParaRPr lang="en-US" dirty="0" smtClean="0"/>
          </a:p>
          <a:p>
            <a:endParaRPr lang="en-US" dirty="0"/>
          </a:p>
        </p:txBody>
      </p:sp>
    </p:spTree>
    <p:extLst>
      <p:ext uri="{BB962C8B-B14F-4D97-AF65-F5344CB8AC3E}">
        <p14:creationId xmlns:p14="http://schemas.microsoft.com/office/powerpoint/2010/main" val="17610308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Attract &amp; Retain the People you need</a:t>
            </a:r>
            <a:endParaRPr lang="en-US" dirty="0">
              <a:solidFill>
                <a:schemeClr val="accent5"/>
              </a:solidFill>
            </a:endParaRPr>
          </a:p>
        </p:txBody>
      </p:sp>
      <p:sp>
        <p:nvSpPr>
          <p:cNvPr id="3" name="Content Placeholder 2"/>
          <p:cNvSpPr>
            <a:spLocks noGrp="1"/>
          </p:cNvSpPr>
          <p:nvPr>
            <p:ph idx="1"/>
          </p:nvPr>
        </p:nvSpPr>
        <p:spPr/>
        <p:txBody>
          <a:bodyPr/>
          <a:lstStyle/>
          <a:p>
            <a:r>
              <a:rPr lang="en-US" dirty="0" smtClean="0"/>
              <a:t>Can you compete in your metro area(s)? Hire remote workers, leverage LCOL</a:t>
            </a:r>
          </a:p>
          <a:p>
            <a:r>
              <a:rPr lang="en-US" dirty="0" smtClean="0"/>
              <a:t>Be someone your team can trust; people will go through a lot if they’re supported</a:t>
            </a:r>
          </a:p>
          <a:p>
            <a:r>
              <a:rPr lang="en-US" dirty="0" smtClean="0"/>
              <a:t>Diversity – Gender, social, racial, skillset, etc. – teams are better when everyone has a voice, teams with more perspectives can handle more things</a:t>
            </a:r>
          </a:p>
          <a:p>
            <a:r>
              <a:rPr lang="en-US" dirty="0" smtClean="0"/>
              <a:t>Be a firewall, be an advocate</a:t>
            </a:r>
          </a:p>
          <a:p>
            <a:pPr lvl="1"/>
            <a:r>
              <a:rPr lang="en-US" dirty="0" smtClean="0"/>
              <a:t>Apollo 13, Ken Mattingly</a:t>
            </a:r>
            <a:endParaRPr lang="en-US" dirty="0"/>
          </a:p>
        </p:txBody>
      </p:sp>
    </p:spTree>
    <p:extLst>
      <p:ext uri="{BB962C8B-B14F-4D97-AF65-F5344CB8AC3E}">
        <p14:creationId xmlns:p14="http://schemas.microsoft.com/office/powerpoint/2010/main" val="19774492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Combatting human adversaries</a:t>
            </a:r>
            <a:endParaRPr lang="en-US" dirty="0">
              <a:solidFill>
                <a:schemeClr val="accent5"/>
              </a:solidFill>
            </a:endParaRPr>
          </a:p>
        </p:txBody>
      </p:sp>
      <p:sp>
        <p:nvSpPr>
          <p:cNvPr id="3" name="Content Placeholder 2"/>
          <p:cNvSpPr>
            <a:spLocks noGrp="1"/>
          </p:cNvSpPr>
          <p:nvPr>
            <p:ph idx="1"/>
          </p:nvPr>
        </p:nvSpPr>
        <p:spPr/>
        <p:txBody>
          <a:bodyPr/>
          <a:lstStyle/>
          <a:p>
            <a:r>
              <a:rPr lang="en-US" dirty="0" smtClean="0"/>
              <a:t>Understand that some of your pressures are not bad luck, they’re orchestrated to set you off balance</a:t>
            </a:r>
          </a:p>
          <a:p>
            <a:r>
              <a:rPr lang="en-US" dirty="0" smtClean="0"/>
              <a:t>Balance operational security against real risks; don’t let over-paranoia become its own risk</a:t>
            </a:r>
          </a:p>
          <a:p>
            <a:r>
              <a:rPr lang="en-US" dirty="0" smtClean="0"/>
              <a:t>Work with your partners (exec. Admins, sysadmins, finance folks) and help them have reasonable safeguards</a:t>
            </a:r>
            <a:endParaRPr lang="en-US" dirty="0"/>
          </a:p>
        </p:txBody>
      </p:sp>
    </p:spTree>
    <p:extLst>
      <p:ext uri="{BB962C8B-B14F-4D97-AF65-F5344CB8AC3E}">
        <p14:creationId xmlns:p14="http://schemas.microsoft.com/office/powerpoint/2010/main" val="6606630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5"/>
                </a:solidFill>
              </a:rPr>
              <a:t>Thank you!</a:t>
            </a:r>
            <a:endParaRPr lang="en-US" dirty="0">
              <a:solidFill>
                <a:schemeClr val="accent5"/>
              </a:solidFill>
            </a:endParaRPr>
          </a:p>
        </p:txBody>
      </p:sp>
      <p:sp>
        <p:nvSpPr>
          <p:cNvPr id="3" name="Text Placeholder 2"/>
          <p:cNvSpPr>
            <a:spLocks noGrp="1"/>
          </p:cNvSpPr>
          <p:nvPr>
            <p:ph type="body" idx="1"/>
          </p:nvPr>
        </p:nvSpPr>
        <p:spPr/>
        <p:txBody>
          <a:bodyPr/>
          <a:lstStyle/>
          <a:p>
            <a:pPr marL="0" indent="0" algn="ctr">
              <a:buNone/>
            </a:pPr>
            <a:r>
              <a:rPr lang="en-US" dirty="0" smtClean="0">
                <a:solidFill>
                  <a:schemeClr val="accent3"/>
                </a:solidFill>
              </a:rPr>
              <a:t>@</a:t>
            </a:r>
            <a:r>
              <a:rPr lang="en-US" dirty="0" err="1" smtClean="0">
                <a:solidFill>
                  <a:schemeClr val="accent3"/>
                </a:solidFill>
              </a:rPr>
              <a:t>SethHanford</a:t>
            </a:r>
            <a:endParaRPr lang="en-US" dirty="0">
              <a:solidFill>
                <a:schemeClr val="accent3"/>
              </a:solidFill>
            </a:endParaRPr>
          </a:p>
        </p:txBody>
      </p:sp>
    </p:spTree>
    <p:extLst>
      <p:ext uri="{BB962C8B-B14F-4D97-AF65-F5344CB8AC3E}">
        <p14:creationId xmlns:p14="http://schemas.microsoft.com/office/powerpoint/2010/main" val="9340342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Identify and document challenges:</a:t>
            </a:r>
            <a:br>
              <a:rPr lang="en-US" dirty="0" smtClean="0">
                <a:solidFill>
                  <a:schemeClr val="accent5"/>
                </a:solidFill>
              </a:rPr>
            </a:br>
            <a:r>
              <a:rPr lang="en-US" dirty="0" smtClean="0">
                <a:solidFill>
                  <a:schemeClr val="accent5"/>
                </a:solidFill>
              </a:rPr>
              <a:t>Examples</a:t>
            </a:r>
            <a:endParaRPr lang="en-US" dirty="0">
              <a:solidFill>
                <a:schemeClr val="accent5"/>
              </a:solidFill>
            </a:endParaRPr>
          </a:p>
        </p:txBody>
      </p:sp>
      <p:sp>
        <p:nvSpPr>
          <p:cNvPr id="3" name="Content Placeholder 2"/>
          <p:cNvSpPr>
            <a:spLocks noGrp="1"/>
          </p:cNvSpPr>
          <p:nvPr>
            <p:ph idx="1"/>
          </p:nvPr>
        </p:nvSpPr>
        <p:spPr>
          <a:xfrm>
            <a:off x="1141413" y="2667000"/>
            <a:ext cx="9905998" cy="3521149"/>
          </a:xfrm>
        </p:spPr>
        <p:txBody>
          <a:bodyPr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Title: </a:t>
            </a:r>
            <a:r>
              <a:rPr lang="en-US" dirty="0" smtClean="0">
                <a:solidFill>
                  <a:schemeClr val="accent3"/>
                </a:solidFill>
              </a:rPr>
              <a:t>Friction with difficult team member</a:t>
            </a: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Source: </a:t>
            </a:r>
            <a:r>
              <a:rPr lang="en-US" dirty="0" smtClean="0">
                <a:solidFill>
                  <a:schemeClr val="accent3"/>
                </a:solidFill>
              </a:rPr>
              <a:t>Internal		</a:t>
            </a:r>
            <a:r>
              <a:rPr lang="en-US" dirty="0" smtClean="0">
                <a:solidFill>
                  <a:schemeClr val="accent5"/>
                </a:solidFill>
              </a:rPr>
              <a:t>Type: </a:t>
            </a:r>
            <a:r>
              <a:rPr lang="en-US" dirty="0" smtClean="0">
                <a:solidFill>
                  <a:schemeClr val="accent3"/>
                </a:solidFill>
              </a:rPr>
              <a:t>Social			</a:t>
            </a:r>
            <a:r>
              <a:rPr lang="en-US" dirty="0" smtClean="0">
                <a:solidFill>
                  <a:schemeClr val="accent5"/>
                </a:solidFill>
              </a:rPr>
              <a:t>Severity: </a:t>
            </a:r>
            <a:r>
              <a:rPr lang="en-US" dirty="0" smtClean="0">
                <a:solidFill>
                  <a:schemeClr val="accent3"/>
                </a:solidFill>
              </a:rPr>
              <a:t>Medium</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Impacted Asset, goal, or process:  </a:t>
            </a:r>
            <a:r>
              <a:rPr lang="en-US" dirty="0" smtClean="0">
                <a:solidFill>
                  <a:schemeClr val="accent3"/>
                </a:solidFill>
              </a:rPr>
              <a:t>Team; Incident Response Processes</a:t>
            </a: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Several team members have noted that $employee is very difficult to deal with in stressful situations. $employee often becomes reclusive / secluded and combative about sharing knowledge and techniques related to their unique skill set</a:t>
            </a:r>
            <a:endParaRPr lang="en-US" dirty="0"/>
          </a:p>
        </p:txBody>
      </p:sp>
    </p:spTree>
    <p:extLst>
      <p:ext uri="{BB962C8B-B14F-4D97-AF65-F5344CB8AC3E}">
        <p14:creationId xmlns:p14="http://schemas.microsoft.com/office/powerpoint/2010/main" val="475743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solidFill>
              </a:rPr>
              <a:t>Identify and document challenges:</a:t>
            </a:r>
            <a:br>
              <a:rPr lang="en-US" dirty="0" smtClean="0">
                <a:solidFill>
                  <a:schemeClr val="accent5"/>
                </a:solidFill>
              </a:rPr>
            </a:br>
            <a:r>
              <a:rPr lang="en-US" dirty="0" smtClean="0">
                <a:solidFill>
                  <a:schemeClr val="accent5"/>
                </a:solidFill>
              </a:rPr>
              <a:t>Examples</a:t>
            </a:r>
            <a:endParaRPr lang="en-US" dirty="0">
              <a:solidFill>
                <a:schemeClr val="accent5"/>
              </a:solidFill>
            </a:endParaRPr>
          </a:p>
        </p:txBody>
      </p:sp>
      <p:sp>
        <p:nvSpPr>
          <p:cNvPr id="3" name="Content Placeholder 2"/>
          <p:cNvSpPr>
            <a:spLocks noGrp="1"/>
          </p:cNvSpPr>
          <p:nvPr>
            <p:ph idx="1"/>
          </p:nvPr>
        </p:nvSpPr>
        <p:spPr>
          <a:xfrm>
            <a:off x="1141413" y="2667000"/>
            <a:ext cx="9905998" cy="3521149"/>
          </a:xfrm>
        </p:spPr>
        <p:txBody>
          <a:bodyPr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Title: </a:t>
            </a:r>
            <a:r>
              <a:rPr lang="en-US" dirty="0" smtClean="0">
                <a:solidFill>
                  <a:schemeClr val="accent3"/>
                </a:solidFill>
              </a:rPr>
              <a:t>Better datasets needed</a:t>
            </a: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Source: </a:t>
            </a:r>
            <a:r>
              <a:rPr lang="en-US" dirty="0" err="1" smtClean="0">
                <a:solidFill>
                  <a:schemeClr val="accent3"/>
                </a:solidFill>
              </a:rPr>
              <a:t>Partner,internal</a:t>
            </a:r>
            <a:r>
              <a:rPr lang="en-US" dirty="0" smtClean="0">
                <a:solidFill>
                  <a:schemeClr val="accent3"/>
                </a:solidFill>
              </a:rPr>
              <a:t>	</a:t>
            </a:r>
            <a:r>
              <a:rPr lang="en-US" dirty="0" smtClean="0">
                <a:solidFill>
                  <a:schemeClr val="accent5"/>
                </a:solidFill>
              </a:rPr>
              <a:t>Type: </a:t>
            </a:r>
            <a:r>
              <a:rPr lang="en-US" dirty="0" smtClean="0">
                <a:solidFill>
                  <a:schemeClr val="accent3"/>
                </a:solidFill>
              </a:rPr>
              <a:t>Financial			</a:t>
            </a:r>
            <a:r>
              <a:rPr lang="en-US" dirty="0" smtClean="0">
                <a:solidFill>
                  <a:schemeClr val="accent5"/>
                </a:solidFill>
              </a:rPr>
              <a:t>Severity: </a:t>
            </a:r>
            <a:r>
              <a:rPr lang="en-US" dirty="0" smtClean="0">
                <a:solidFill>
                  <a:schemeClr val="accent3"/>
                </a:solidFill>
              </a:rPr>
              <a:t>High</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5"/>
                </a:solidFill>
              </a:rPr>
              <a:t>Impacted Asset, goal, or process:  </a:t>
            </a:r>
            <a:r>
              <a:rPr lang="en-US" dirty="0" smtClean="0">
                <a:solidFill>
                  <a:schemeClr val="accent3"/>
                </a:solidFill>
              </a:rPr>
              <a:t>Team; inventory</a:t>
            </a: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smtClean="0">
              <a:solidFill>
                <a:schemeClr val="accent5"/>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Existing tools and datasets are not suited to the detection &amp; response needs of the team. Team has identified </a:t>
            </a:r>
            <a:r>
              <a:rPr lang="en-US" dirty="0" err="1" smtClean="0"/>
              <a:t>Netflow</a:t>
            </a:r>
            <a:r>
              <a:rPr lang="en-US" dirty="0" smtClean="0"/>
              <a:t>, Passive DNS, and host-based endpoint logging as the three primary goals, but central collection of these large datasets is not within budget. It will cost $XXX to put in place the primary identified need: centralized endpoint logging. ($YYY for </a:t>
            </a:r>
            <a:r>
              <a:rPr lang="en-US" dirty="0" err="1" smtClean="0"/>
              <a:t>Netflow</a:t>
            </a:r>
            <a:r>
              <a:rPr lang="en-US" dirty="0" smtClean="0"/>
              <a:t> (#2) and $ZZZ for PDNS (#3))</a:t>
            </a:r>
            <a:endParaRPr lang="en-US" dirty="0"/>
          </a:p>
        </p:txBody>
      </p:sp>
    </p:spTree>
    <p:extLst>
      <p:ext uri="{BB962C8B-B14F-4D97-AF65-F5344CB8AC3E}">
        <p14:creationId xmlns:p14="http://schemas.microsoft.com/office/powerpoint/2010/main" val="7358819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Mesh</Template>
  <TotalTime>18721</TotalTime>
  <Words>1392</Words>
  <Application>Microsoft Macintosh PowerPoint</Application>
  <PresentationFormat>Widescreen</PresentationFormat>
  <Paragraphs>213</Paragraphs>
  <Slides>27</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Calibri</vt:lpstr>
      <vt:lpstr>Century Gothic</vt:lpstr>
      <vt:lpstr>Arial</vt:lpstr>
      <vt:lpstr>Mesh</vt:lpstr>
      <vt:lpstr>Defend the Defenders</vt:lpstr>
      <vt:lpstr>PowerPoint Presentation</vt:lpstr>
      <vt:lpstr>$ whoami @SethHanford</vt:lpstr>
      <vt:lpstr>$ whoami guest</vt:lpstr>
      <vt:lpstr>What this IS, and What it isn’t</vt:lpstr>
      <vt:lpstr>Threat challenge Modeling</vt:lpstr>
      <vt:lpstr>With apologies to security architects</vt:lpstr>
      <vt:lpstr>Assets</vt:lpstr>
      <vt:lpstr>Architecture Overview – Example Team/Org</vt:lpstr>
      <vt:lpstr>Decompose the team - Goals &amp; Processes</vt:lpstr>
      <vt:lpstr>Mission &amp; Charters - example</vt:lpstr>
      <vt:lpstr>Identify and document challenges: sources</vt:lpstr>
      <vt:lpstr>Identify and document challenges: Types</vt:lpstr>
      <vt:lpstr>Identify and document challenges: Examples</vt:lpstr>
      <vt:lpstr>Challenge Mitigations</vt:lpstr>
      <vt:lpstr>Combatting challenge types: Social</vt:lpstr>
      <vt:lpstr>Combatting challenge types: Error / misuse</vt:lpstr>
      <vt:lpstr>Combatting challenge types: Financial</vt:lpstr>
      <vt:lpstr>Combatting challenge types: Crisis</vt:lpstr>
      <vt:lpstr>Combatting challenge types: responsibilities</vt:lpstr>
      <vt:lpstr>Combatting challenge types: Physical / environmental</vt:lpstr>
      <vt:lpstr>Problem solving with limited resources: people, Process, Tech</vt:lpstr>
      <vt:lpstr>Attract &amp; Retain the People you need</vt:lpstr>
      <vt:lpstr>Combatting human adversaries</vt:lpstr>
      <vt:lpstr>Thank you!</vt:lpstr>
      <vt:lpstr>Identify and document challenges: Examples</vt:lpstr>
      <vt:lpstr>Identify and document challenges: Examples</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Defend the Defenders</dc:title>
  <dc:creator>Microsoft Office User</dc:creator>
  <cp:lastModifiedBy>Microsoft Office User</cp:lastModifiedBy>
  <cp:revision>80</cp:revision>
  <dcterms:created xsi:type="dcterms:W3CDTF">2017-05-04T23:33:46Z</dcterms:created>
  <dcterms:modified xsi:type="dcterms:W3CDTF">2017-05-30T15:24:36Z</dcterms:modified>
</cp:coreProperties>
</file>