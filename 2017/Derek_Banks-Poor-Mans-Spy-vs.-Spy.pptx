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5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87" r:id="rId9"/>
    <p:sldId id="288" r:id="rId10"/>
    <p:sldId id="262" r:id="rId11"/>
    <p:sldId id="263" r:id="rId12"/>
    <p:sldId id="266" r:id="rId13"/>
    <p:sldId id="289" r:id="rId14"/>
    <p:sldId id="290" r:id="rId15"/>
    <p:sldId id="291" r:id="rId16"/>
    <p:sldId id="280" r:id="rId17"/>
    <p:sldId id="265" r:id="rId18"/>
    <p:sldId id="270" r:id="rId19"/>
    <p:sldId id="267" r:id="rId20"/>
    <p:sldId id="277" r:id="rId21"/>
    <p:sldId id="278" r:id="rId22"/>
    <p:sldId id="282" r:id="rId23"/>
    <p:sldId id="283" r:id="rId24"/>
    <p:sldId id="281" r:id="rId25"/>
    <p:sldId id="284" r:id="rId26"/>
    <p:sldId id="279" r:id="rId27"/>
    <p:sldId id="294" r:id="rId28"/>
    <p:sldId id="285" r:id="rId29"/>
    <p:sldId id="286" r:id="rId30"/>
    <p:sldId id="292" r:id="rId31"/>
    <p:sldId id="293" r:id="rId32"/>
    <p:sldId id="272" r:id="rId33"/>
    <p:sldId id="269" r:id="rId34"/>
    <p:sldId id="271" r:id="rId35"/>
    <p:sldId id="268" r:id="rId36"/>
    <p:sldId id="273" r:id="rId37"/>
    <p:sldId id="274" r:id="rId3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/>
    <p:restoredTop sz="91429"/>
  </p:normalViewPr>
  <p:slideViewPr>
    <p:cSldViewPr snapToGrid="0" snapToObjects="1">
      <p:cViewPr varScale="1">
        <p:scale>
          <a:sx n="45" d="100"/>
          <a:sy n="45" d="100"/>
        </p:scale>
        <p:origin x="8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-371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A88C6-BF99-C04E-A787-F2226C50BC98}" type="datetimeFigureOut">
              <a:rPr lang="en-US" smtClean="0"/>
              <a:t>6/9/17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A4799-85CF-C04A-A9FD-DB2705D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4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A4799-85CF-C04A-A9FD-DB2705D354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16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A4799-85CF-C04A-A9FD-DB2705D354B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46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A4799-85CF-C04A-A9FD-DB2705D354B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09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A4799-85CF-C04A-A9FD-DB2705D354B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9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A4799-85CF-C04A-A9FD-DB2705D354B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2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A4799-85CF-C04A-A9FD-DB2705D354B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39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A4799-85CF-C04A-A9FD-DB2705D354B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77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A4799-85CF-C04A-A9FD-DB2705D354B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09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A4799-85CF-C04A-A9FD-DB2705D354B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73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1A4799-85CF-C04A-A9FD-DB2705D354B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9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7016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A78FB9A-1083-D645-83E0-A5B25F6587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05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 marL="742950" indent="-285750">
              <a:buSzPct val="75000"/>
              <a:buFont typeface="Courier New" charset="0"/>
              <a:buChar char="o"/>
              <a:defRPr sz="2400"/>
            </a:lvl2pPr>
            <a:lvl3pPr>
              <a:defRPr sz="2000"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7016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3B54378-F4F4-ED47-B0EF-8938CC72F9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635" y="5808566"/>
            <a:ext cx="1540365" cy="10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815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7016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136E135-3059-1141-8729-708F4AD69C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635" y="5808566"/>
            <a:ext cx="1540365" cy="10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6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7EB55-7C53-AA49-ABAB-7E5AE2C1FA36}" type="datetimeFigureOut">
              <a:rPr lang="en-US"/>
              <a:pPr>
                <a:defRPr/>
              </a:pPr>
              <a:t>6/9/17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7016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8DB530E-3B0E-6041-94A3-9DFFEEB922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635" y="5808566"/>
            <a:ext cx="1540365" cy="10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3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7016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A7865F4-11DD-0146-A234-094FD394DE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635" y="5808566"/>
            <a:ext cx="1540365" cy="10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23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7016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FAD182E-8005-FA48-AA10-BC168CF491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5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7016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F95425A-DCBB-544B-A63F-0D90F1F250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45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AAD60-18DC-2040-AA36-4A185FFBD497}" type="datetimeFigureOut">
              <a:rPr lang="en-US"/>
              <a:pPr>
                <a:defRPr/>
              </a:pPr>
              <a:t>6/9/17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7016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B57F8D0-1B87-5743-873F-35A9AE5ECD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A2568-9D0E-0541-812D-7092A49E3D06}" type="datetimeFigureOut">
              <a:rPr lang="en-US"/>
              <a:pPr>
                <a:defRPr/>
              </a:pPr>
              <a:t>6/9/17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7016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7F7CD95-8349-8442-A614-EEC2BCBFB1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8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BF5E41-0066-4D47-93D2-0B0D727C00B5}" type="datetimeFigureOut">
              <a:rPr lang="en-US"/>
              <a:pPr>
                <a:defRPr/>
              </a:pPr>
              <a:t>6/9/17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7016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180C768-1041-C640-9C2E-42099879D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21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D4B63F-26BF-8748-9CF0-BBA4AC4C1194}" type="datetimeFigureOut">
              <a:rPr lang="en-US"/>
              <a:pPr>
                <a:defRPr/>
              </a:pPr>
              <a:t>6/9/17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701675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6031098-70F2-6C45-9DC8-18DD92DD6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7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37625" y="6356350"/>
            <a:ext cx="1983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RedvsBlue</a:t>
            </a:r>
            <a:r>
              <a:rPr lang="en-US" baseline="0" dirty="0" smtClean="0"/>
              <a:t> - 2017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pn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gi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gi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gi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iftOnSecurity/sysmon-config" TargetMode="External"/><Relationship Id="rId4" Type="http://schemas.openxmlformats.org/officeDocument/2006/relationships/hyperlink" Target="https://www.elastic.co/" TargetMode="External"/><Relationship Id="rId5" Type="http://schemas.openxmlformats.org/officeDocument/2006/relationships/hyperlink" Target="https://www.graylog.org/" TargetMode="External"/><Relationship Id="rId6" Type="http://schemas.openxmlformats.org/officeDocument/2006/relationships/hyperlink" Target="https://www.microsoft.com/en-us/download/details.aspx?id=46899" TargetMode="External"/><Relationship Id="rId7" Type="http://schemas.openxmlformats.org/officeDocument/2006/relationships/hyperlink" Target="https://docs.microsoft.com/en-us/windows-server/identity/securing-privileged-access/securing-privileged-access-reference-materia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bro.org/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blackhillsinfosec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/>
          <p:cNvSpPr>
            <a:spLocks noGrp="1"/>
          </p:cNvSpPr>
          <p:nvPr>
            <p:ph type="ctrTitle"/>
          </p:nvPr>
        </p:nvSpPr>
        <p:spPr>
          <a:xfrm>
            <a:off x="685800" y="976182"/>
            <a:ext cx="7772400" cy="1470025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Poor Man’s Spy vs. Spy</a:t>
            </a:r>
            <a:endParaRPr lang="en-US" dirty="0">
              <a:latin typeface="Calibri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27223"/>
            <a:ext cx="6400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>
                <a:ea typeface="+mn-ea"/>
                <a:cs typeface="+mn-cs"/>
              </a:rPr>
              <a:t>Free and Open Source Tools and Methods to Detect Modern Attackers</a:t>
            </a:r>
            <a:endParaRPr lang="en-US" dirty="0"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904" y="4870704"/>
            <a:ext cx="3060192" cy="19872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1177795"/>
            <a:ext cx="7325360" cy="4525963"/>
          </a:xfrm>
        </p:spPr>
        <p:txBody>
          <a:bodyPr/>
          <a:lstStyle/>
          <a:p>
            <a:r>
              <a:rPr lang="en-US" smtClean="0"/>
              <a:t>Can </a:t>
            </a:r>
            <a:r>
              <a:rPr lang="en-US" smtClean="0"/>
              <a:t>free </a:t>
            </a:r>
            <a:r>
              <a:rPr lang="en-US" dirty="0" smtClean="0"/>
              <a:t>and open source tools to monitor and defend against a cyber attack?</a:t>
            </a:r>
          </a:p>
          <a:p>
            <a:r>
              <a:rPr lang="en-US" dirty="0" smtClean="0"/>
              <a:t>Incident Response on a shoestring budget</a:t>
            </a:r>
          </a:p>
          <a:p>
            <a:r>
              <a:rPr lang="en-US" dirty="0" smtClean="0"/>
              <a:t>Standard disclaimer of one size does not fit all and your mileage may vary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600" y="3510010"/>
            <a:ext cx="3392161" cy="309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04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Bio Troy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Incident Responder/Lead Analyst at NNS-HII</a:t>
            </a:r>
          </a:p>
          <a:p>
            <a:r>
              <a:rPr lang="en-US" dirty="0" smtClean="0"/>
              <a:t>Host/Network Forensics</a:t>
            </a:r>
          </a:p>
          <a:p>
            <a:r>
              <a:rPr lang="en-US" dirty="0" smtClean="0"/>
              <a:t>(H|N)IDS</a:t>
            </a:r>
          </a:p>
          <a:p>
            <a:r>
              <a:rPr lang="en-US" dirty="0" smtClean="0"/>
              <a:t>Malware Taste Tester</a:t>
            </a:r>
          </a:p>
          <a:p>
            <a:r>
              <a:rPr lang="en-US" dirty="0" smtClean="0"/>
              <a:t>IOC Hunter/Gatherer </a:t>
            </a:r>
          </a:p>
          <a:p>
            <a:r>
              <a:rPr lang="en-US" dirty="0" smtClean="0"/>
              <a:t>Purveyor of non-traditional thoughts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675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Bio Derek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Analyst at Black Hills Information Security</a:t>
            </a:r>
          </a:p>
          <a:p>
            <a:r>
              <a:rPr lang="en-US" dirty="0" smtClean="0"/>
              <a:t>Previous Blue Team, now mostly Red Team</a:t>
            </a:r>
            <a:endParaRPr lang="en-US" dirty="0"/>
          </a:p>
          <a:p>
            <a:r>
              <a:rPr lang="en-US" dirty="0" err="1"/>
              <a:t>CitySec</a:t>
            </a:r>
            <a:r>
              <a:rPr lang="en-US" dirty="0"/>
              <a:t> </a:t>
            </a:r>
            <a:r>
              <a:rPr lang="en-US" dirty="0" err="1"/>
              <a:t>Meetup</a:t>
            </a:r>
            <a:r>
              <a:rPr lang="en-US" dirty="0"/>
              <a:t> Organizer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TidewaterSec</a:t>
            </a:r>
            <a:r>
              <a:rPr lang="en-US" dirty="0"/>
              <a:t>  </a:t>
            </a:r>
            <a:r>
              <a:rPr lang="en-US" dirty="0" smtClean="0"/>
              <a:t>(Hampton, </a:t>
            </a:r>
            <a:r>
              <a:rPr lang="en-US" dirty="0"/>
              <a:t>VA)</a:t>
            </a:r>
          </a:p>
          <a:p>
            <a:r>
              <a:rPr lang="en-US" dirty="0"/>
              <a:t>Avid OWA enthusiast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51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Detection vs Prevention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Prevention is ideal but detection is a must</a:t>
            </a:r>
          </a:p>
          <a:p>
            <a:r>
              <a:rPr lang="en-US" dirty="0" smtClean="0"/>
              <a:t>Preventive measures can be bypassed</a:t>
            </a:r>
          </a:p>
          <a:p>
            <a:r>
              <a:rPr lang="en-US" dirty="0" smtClean="0"/>
              <a:t>Preventive solutions potentially cost more money</a:t>
            </a:r>
          </a:p>
          <a:p>
            <a:r>
              <a:rPr lang="en-US" dirty="0" smtClean="0"/>
              <a:t>Many detective solutions can be done for “free”</a:t>
            </a:r>
          </a:p>
          <a:p>
            <a:r>
              <a:rPr lang="en-US" dirty="0" smtClean="0"/>
              <a:t>Detective solutions are essential in</a:t>
            </a:r>
            <a:r>
              <a:rPr lang="en-US" dirty="0" smtClean="0">
                <a:solidFill>
                  <a:srgbClr val="FF0000"/>
                </a:solidFill>
              </a:rPr>
              <a:t> identifying </a:t>
            </a:r>
            <a:r>
              <a:rPr lang="en-US" dirty="0" smtClean="0"/>
              <a:t>the “full picture” on an incident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9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of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source and free software is not cost free if you value your time</a:t>
            </a:r>
          </a:p>
          <a:p>
            <a:r>
              <a:rPr lang="en-US" dirty="0" smtClean="0"/>
              <a:t>Trade offs for figuring out vs. ability to call the vendor</a:t>
            </a:r>
          </a:p>
          <a:p>
            <a:r>
              <a:rPr lang="en-US" dirty="0" smtClean="0"/>
              <a:t>If you go with completely </a:t>
            </a:r>
            <a:r>
              <a:rPr lang="en-US" dirty="0" smtClean="0"/>
              <a:t>free and open source solutions, </a:t>
            </a:r>
            <a:r>
              <a:rPr lang="en-US" dirty="0" smtClean="0"/>
              <a:t>you may be on your own to figure it out and make it work</a:t>
            </a:r>
          </a:p>
          <a:p>
            <a:r>
              <a:rPr lang="en-US" dirty="0" smtClean="0"/>
              <a:t>But your security Kung Fu will get better because of this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54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Core Monitoring and IR Components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417638"/>
            <a:ext cx="8423015" cy="2125662"/>
          </a:xfrm>
        </p:spPr>
        <p:txBody>
          <a:bodyPr/>
          <a:lstStyle/>
          <a:p>
            <a:r>
              <a:rPr lang="en-US" dirty="0" smtClean="0"/>
              <a:t>Network Monitoring</a:t>
            </a:r>
          </a:p>
          <a:p>
            <a:r>
              <a:rPr lang="en-US" dirty="0" smtClean="0"/>
              <a:t>Host Based Monitoring (monitoring edge devices)</a:t>
            </a:r>
          </a:p>
          <a:p>
            <a:r>
              <a:rPr lang="en-US" dirty="0" smtClean="0"/>
              <a:t>Forensics at Scale (one analyst to many systems)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213" y="3122755"/>
            <a:ext cx="4305848" cy="261302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65586" y="2997270"/>
            <a:ext cx="4083627" cy="258264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Font typeface="Courier New" charset="0"/>
              <a:buChar char="o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dirty="0" smtClean="0"/>
              <a:t>Centralized Logging</a:t>
            </a:r>
          </a:p>
          <a:p>
            <a:pPr defTabSz="914400"/>
            <a:r>
              <a:rPr lang="en-US" dirty="0" smtClean="0"/>
              <a:t>Log Correlation and alerting (SIEM)</a:t>
            </a:r>
          </a:p>
          <a:p>
            <a:pPr marL="0" indent="0" defTabSz="91440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0467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Intelz</a:t>
            </a:r>
            <a:endParaRPr lang="en-US" sz="4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39" y="2136533"/>
            <a:ext cx="2681653" cy="3003452"/>
          </a:xfrm>
          <a:prstGeom prst="rect">
            <a:avLst/>
          </a:prstGeom>
        </p:spPr>
      </p:pic>
      <p:sp>
        <p:nvSpPr>
          <p:cNvPr id="9" name="&quot;No&quot; Symbol 8"/>
          <p:cNvSpPr/>
          <p:nvPr/>
        </p:nvSpPr>
        <p:spPr>
          <a:xfrm>
            <a:off x="193430" y="1740880"/>
            <a:ext cx="4035669" cy="4000500"/>
          </a:xfrm>
          <a:prstGeom prst="noSmoking">
            <a:avLst>
              <a:gd name="adj" fmla="val 14571"/>
            </a:avLst>
          </a:prstGeom>
          <a:solidFill>
            <a:srgbClr val="FF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574" y="1540563"/>
            <a:ext cx="1454892" cy="45016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52134" y="503071"/>
            <a:ext cx="3888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en-US" dirty="0" smtClean="0"/>
              <a:t>ockheedmartin.com/</a:t>
            </a:r>
            <a:r>
              <a:rPr lang="en-US" sz="5400" dirty="0" smtClean="0"/>
              <a:t>cyber</a:t>
            </a:r>
            <a:endParaRPr lang="en-US" sz="5400" dirty="0"/>
          </a:p>
        </p:txBody>
      </p:sp>
      <p:sp>
        <p:nvSpPr>
          <p:cNvPr id="16" name="Rectangle 15"/>
          <p:cNvSpPr/>
          <p:nvPr/>
        </p:nvSpPr>
        <p:spPr>
          <a:xfrm>
            <a:off x="4664009" y="467960"/>
            <a:ext cx="1762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Cyber </a:t>
            </a:r>
            <a:r>
              <a:rPr lang="en-US" dirty="0"/>
              <a:t>Kill Chain®</a:t>
            </a:r>
          </a:p>
        </p:txBody>
      </p:sp>
    </p:spTree>
    <p:extLst>
      <p:ext uri="{BB962C8B-B14F-4D97-AF65-F5344CB8AC3E}">
        <p14:creationId xmlns:p14="http://schemas.microsoft.com/office/powerpoint/2010/main" val="75525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56" y="2173746"/>
            <a:ext cx="7439847" cy="24119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20" y="231778"/>
            <a:ext cx="8229600" cy="1143000"/>
          </a:xfrm>
        </p:spPr>
        <p:txBody>
          <a:bodyPr/>
          <a:lstStyle/>
          <a:p>
            <a:r>
              <a:rPr lang="en-US" sz="4000" dirty="0" smtClean="0"/>
              <a:t>Where are you in the Kill Chain?</a:t>
            </a:r>
            <a:endParaRPr lang="en-US" sz="4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64" y="1266189"/>
            <a:ext cx="1454892" cy="45016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39" y="3901955"/>
            <a:ext cx="289046" cy="2890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72" y="5308546"/>
            <a:ext cx="386936" cy="30985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934" y="4424001"/>
            <a:ext cx="314927" cy="31492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84" y="2711264"/>
            <a:ext cx="391222" cy="31328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142" y="3276300"/>
            <a:ext cx="342565" cy="3229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25816" y="3699586"/>
            <a:ext cx="371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IR Life Cycle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30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Monitoring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Bro vs. Snort - Apples and oranges</a:t>
            </a:r>
          </a:p>
          <a:p>
            <a:r>
              <a:rPr lang="en-US" dirty="0" smtClean="0"/>
              <a:t>Bro is network protocol decoding at scale</a:t>
            </a:r>
          </a:p>
          <a:p>
            <a:pPr lvl="1"/>
            <a:r>
              <a:rPr lang="en-US" dirty="0" smtClean="0"/>
              <a:t>Forensic ground truth of what happens on the network</a:t>
            </a:r>
          </a:p>
          <a:p>
            <a:r>
              <a:rPr lang="en-US" dirty="0" smtClean="0"/>
              <a:t>Snort matches packets to signatures to detect potentially bad traffic</a:t>
            </a:r>
          </a:p>
          <a:p>
            <a:r>
              <a:rPr lang="en-US" dirty="0" smtClean="0"/>
              <a:t>They have different use cases </a:t>
            </a:r>
            <a:r>
              <a:rPr lang="mr-IN" dirty="0" smtClean="0"/>
              <a:t>–</a:t>
            </a:r>
            <a:r>
              <a:rPr lang="en-US" dirty="0" smtClean="0"/>
              <a:t> use the right tool for the job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57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Monitoring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about Full Packet Capture?</a:t>
            </a:r>
          </a:p>
          <a:p>
            <a:r>
              <a:rPr lang="en-US" dirty="0" smtClean="0"/>
              <a:t>Can be done for with open source software</a:t>
            </a:r>
          </a:p>
          <a:p>
            <a:pPr lvl="1"/>
            <a:r>
              <a:rPr lang="en-US" dirty="0" smtClean="0"/>
              <a:t>Moloch</a:t>
            </a:r>
          </a:p>
          <a:p>
            <a:pPr lvl="1"/>
            <a:r>
              <a:rPr lang="en-US" dirty="0" err="1" smtClean="0"/>
              <a:t>Tcpdump</a:t>
            </a:r>
            <a:r>
              <a:rPr lang="en-US" dirty="0" smtClean="0"/>
              <a:t> and scripting</a:t>
            </a:r>
          </a:p>
          <a:p>
            <a:r>
              <a:rPr lang="en-US" dirty="0" smtClean="0"/>
              <a:t>Hardware and storage a concern</a:t>
            </a:r>
          </a:p>
          <a:p>
            <a:pPr lvl="1"/>
            <a:r>
              <a:rPr lang="en-US" dirty="0" smtClean="0"/>
              <a:t>Dedicated capture card</a:t>
            </a:r>
          </a:p>
          <a:p>
            <a:pPr lvl="1"/>
            <a:r>
              <a:rPr lang="en-US" dirty="0" smtClean="0"/>
              <a:t>1Gbps saturated link will need ~6TB storage per day</a:t>
            </a:r>
          </a:p>
        </p:txBody>
      </p:sp>
    </p:spTree>
    <p:extLst>
      <p:ext uri="{BB962C8B-B14F-4D97-AF65-F5344CB8AC3E}">
        <p14:creationId xmlns:p14="http://schemas.microsoft.com/office/powerpoint/2010/main" val="43814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Host Based Monitoring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With cloud and mobile, increasingly more important to gain edge device visibility</a:t>
            </a:r>
          </a:p>
          <a:p>
            <a:r>
              <a:rPr lang="en-US" dirty="0" err="1" smtClean="0"/>
              <a:t>Sysmon</a:t>
            </a:r>
            <a:r>
              <a:rPr lang="en-US" dirty="0" smtClean="0"/>
              <a:t> is an easy win to deploy to Windows Endpoints</a:t>
            </a:r>
          </a:p>
          <a:p>
            <a:pPr lvl="1"/>
            <a:r>
              <a:rPr lang="en-US" dirty="0" smtClean="0"/>
              <a:t>Process creation with full command line</a:t>
            </a:r>
          </a:p>
          <a:p>
            <a:pPr lvl="1"/>
            <a:r>
              <a:rPr lang="en-US" dirty="0" smtClean="0"/>
              <a:t>Hash of process</a:t>
            </a:r>
          </a:p>
          <a:p>
            <a:pPr lvl="1"/>
            <a:r>
              <a:rPr lang="en-US" dirty="0" smtClean="0"/>
              <a:t>Network Connections </a:t>
            </a:r>
          </a:p>
          <a:p>
            <a:pPr lvl="1"/>
            <a:r>
              <a:rPr lang="en-US" dirty="0" smtClean="0"/>
              <a:t>File creation time changes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23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Sysmon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25315" y="1670537"/>
            <a:ext cx="37982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By Default: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 create (with SHA1)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 terminate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Driver loaded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creation time 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RawAccessRead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CreateRemoteThread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Sysmon</a:t>
            </a:r>
            <a:r>
              <a:rPr lang="en-US" dirty="0"/>
              <a:t> service state changed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4867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Sysmon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81454" y="1417638"/>
            <a:ext cx="69810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Create:</a:t>
            </a:r>
          </a:p>
          <a:p>
            <a:r>
              <a:rPr lang="en-US" dirty="0" err="1"/>
              <a:t>UtcTime</a:t>
            </a:r>
            <a:r>
              <a:rPr lang="en-US" dirty="0"/>
              <a:t>: 2017-06-09 00:57:42.516</a:t>
            </a:r>
          </a:p>
          <a:p>
            <a:r>
              <a:rPr lang="en-US" dirty="0" err="1"/>
              <a:t>ProcessGuid</a:t>
            </a:r>
            <a:r>
              <a:rPr lang="en-US" dirty="0"/>
              <a:t>: {3f6cf078-f286-5939-0000-001096ec2a00}</a:t>
            </a:r>
          </a:p>
          <a:p>
            <a:r>
              <a:rPr lang="en-US" dirty="0" err="1"/>
              <a:t>ProcessId</a:t>
            </a:r>
            <a:r>
              <a:rPr lang="en-US" dirty="0"/>
              <a:t>: 3232</a:t>
            </a:r>
          </a:p>
          <a:p>
            <a:r>
              <a:rPr lang="en-US" dirty="0"/>
              <a:t>Image: C:\Windows\System32\WindowsPowerShell\v1.0\powershell.exe</a:t>
            </a:r>
          </a:p>
          <a:p>
            <a:r>
              <a:rPr lang="en-US" dirty="0" err="1"/>
              <a:t>CommandLine</a:t>
            </a:r>
            <a:r>
              <a:rPr lang="en-US" dirty="0"/>
              <a:t>: </a:t>
            </a:r>
            <a:r>
              <a:rPr lang="en-US" dirty="0" err="1"/>
              <a:t>powershell</a:t>
            </a:r>
            <a:r>
              <a:rPr lang="en-US" dirty="0"/>
              <a:t>  /</a:t>
            </a:r>
            <a:r>
              <a:rPr lang="en-US" dirty="0" err="1"/>
              <a:t>HeLlo</a:t>
            </a:r>
            <a:endParaRPr lang="en-US" dirty="0"/>
          </a:p>
          <a:p>
            <a:r>
              <a:rPr lang="en-US" dirty="0" err="1"/>
              <a:t>CurrentDirectory</a:t>
            </a:r>
            <a:r>
              <a:rPr lang="en-US" dirty="0"/>
              <a:t>: C:\Users\Bruce L. Roy\</a:t>
            </a:r>
          </a:p>
          <a:p>
            <a:r>
              <a:rPr lang="en-US" dirty="0"/>
              <a:t>User: WIN-OK4HSK4QBPH\Bruce L. Roy</a:t>
            </a:r>
          </a:p>
          <a:p>
            <a:r>
              <a:rPr lang="en-US" dirty="0" err="1"/>
              <a:t>LogonGuid</a:t>
            </a:r>
            <a:r>
              <a:rPr lang="en-US" dirty="0"/>
              <a:t>: {3f6cf078-30ec-5938-0000-002031df1000}</a:t>
            </a:r>
          </a:p>
          <a:p>
            <a:r>
              <a:rPr lang="en-US" dirty="0" err="1"/>
              <a:t>LogonId</a:t>
            </a:r>
            <a:r>
              <a:rPr lang="en-US" dirty="0"/>
              <a:t>: 0x10df31</a:t>
            </a:r>
          </a:p>
          <a:p>
            <a:r>
              <a:rPr lang="en-US" dirty="0" err="1"/>
              <a:t>TerminalSessionId</a:t>
            </a:r>
            <a:r>
              <a:rPr lang="en-US" dirty="0"/>
              <a:t>: 1</a:t>
            </a:r>
          </a:p>
          <a:p>
            <a:r>
              <a:rPr lang="en-US" dirty="0" err="1"/>
              <a:t>IntegrityLevel</a:t>
            </a:r>
            <a:r>
              <a:rPr lang="en-US" dirty="0"/>
              <a:t>: Medium</a:t>
            </a:r>
          </a:p>
          <a:p>
            <a:r>
              <a:rPr lang="en-US" dirty="0"/>
              <a:t>Hashes: </a:t>
            </a:r>
            <a:r>
              <a:rPr lang="en-US" dirty="0" smtClean="0"/>
              <a:t>SHA1=04C5D2B4DA9A0F3FA8A45702D4256CEE42D8C48D</a:t>
            </a:r>
            <a:endParaRPr lang="en-US" dirty="0"/>
          </a:p>
          <a:p>
            <a:r>
              <a:rPr lang="en-US" dirty="0" err="1"/>
              <a:t>ParentProcessGuid</a:t>
            </a:r>
            <a:r>
              <a:rPr lang="en-US" dirty="0"/>
              <a:t>: {3f6cf078-f27b-5939-0000-001026e22a00}</a:t>
            </a:r>
          </a:p>
          <a:p>
            <a:r>
              <a:rPr lang="en-US" dirty="0" err="1"/>
              <a:t>ParentProcessId</a:t>
            </a:r>
            <a:r>
              <a:rPr lang="en-US" dirty="0"/>
              <a:t>: 3364</a:t>
            </a:r>
          </a:p>
          <a:p>
            <a:r>
              <a:rPr lang="en-US" dirty="0" err="1"/>
              <a:t>ParentImage</a:t>
            </a:r>
            <a:r>
              <a:rPr lang="en-US" dirty="0"/>
              <a:t>: C:\Windows\System32\cmd.exe</a:t>
            </a:r>
          </a:p>
          <a:p>
            <a:r>
              <a:rPr lang="en-US" dirty="0" err="1"/>
              <a:t>ParentCommandLine</a:t>
            </a:r>
            <a:r>
              <a:rPr lang="en-US" dirty="0"/>
              <a:t>: "C:\Windows\system32\cmd.exe"</a:t>
            </a:r>
          </a:p>
        </p:txBody>
      </p:sp>
      <p:sp>
        <p:nvSpPr>
          <p:cNvPr id="5" name="Oval 4"/>
          <p:cNvSpPr/>
          <p:nvPr/>
        </p:nvSpPr>
        <p:spPr>
          <a:xfrm>
            <a:off x="744412" y="2233246"/>
            <a:ext cx="7318134" cy="10814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53559" y="4654062"/>
            <a:ext cx="7180387" cy="4630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33048" y="5424642"/>
            <a:ext cx="7250721" cy="8909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8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Don’t Ignore </a:t>
            </a:r>
            <a:r>
              <a:rPr lang="en-US"/>
              <a:t>K</a:t>
            </a:r>
            <a:r>
              <a:rPr lang="en-US" smtClean="0"/>
              <a:t>nown </a:t>
            </a:r>
            <a:r>
              <a:rPr lang="en-US" dirty="0"/>
              <a:t>G</a:t>
            </a:r>
            <a:r>
              <a:rPr lang="en-US" smtClean="0"/>
              <a:t>ood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81454" y="1417638"/>
            <a:ext cx="69810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 Create:</a:t>
            </a:r>
          </a:p>
          <a:p>
            <a:r>
              <a:rPr lang="en-US" dirty="0" err="1"/>
              <a:t>UtcTime</a:t>
            </a:r>
            <a:r>
              <a:rPr lang="en-US" dirty="0"/>
              <a:t>: 2017-06-09 01:03:28.404</a:t>
            </a:r>
          </a:p>
          <a:p>
            <a:r>
              <a:rPr lang="en-US" dirty="0" err="1"/>
              <a:t>ProcessGuid</a:t>
            </a:r>
            <a:r>
              <a:rPr lang="en-US" dirty="0"/>
              <a:t>: {3f6cf078-f3e0-5939-0000-0010eb2e2c00}</a:t>
            </a:r>
          </a:p>
          <a:p>
            <a:r>
              <a:rPr lang="en-US" dirty="0" err="1"/>
              <a:t>ProcessId</a:t>
            </a:r>
            <a:r>
              <a:rPr lang="en-US" dirty="0"/>
              <a:t>: 3700</a:t>
            </a:r>
          </a:p>
          <a:p>
            <a:r>
              <a:rPr lang="en-US" dirty="0"/>
              <a:t>Image: C:\Users\Bruce </a:t>
            </a:r>
            <a:r>
              <a:rPr lang="en-US" dirty="0" smtClean="0"/>
              <a:t>L. Roy\</a:t>
            </a:r>
            <a:r>
              <a:rPr lang="en-US" dirty="0" err="1" smtClean="0"/>
              <a:t>AppData</a:t>
            </a:r>
            <a:r>
              <a:rPr lang="en-US" dirty="0" smtClean="0"/>
              <a:t>\Local\Temp\not_malware.exe</a:t>
            </a:r>
            <a:endParaRPr lang="en-US" dirty="0"/>
          </a:p>
          <a:p>
            <a:r>
              <a:rPr lang="en-US" dirty="0" err="1"/>
              <a:t>CommandLine</a:t>
            </a:r>
            <a:r>
              <a:rPr lang="en-US" dirty="0"/>
              <a:t>: .\not_malware.exe</a:t>
            </a:r>
          </a:p>
          <a:p>
            <a:r>
              <a:rPr lang="en-US" dirty="0" err="1"/>
              <a:t>CurrentDirectory</a:t>
            </a:r>
            <a:r>
              <a:rPr lang="en-US" dirty="0"/>
              <a:t>: c:\Users\Bruce L. Roy\</a:t>
            </a:r>
            <a:r>
              <a:rPr lang="en-US" dirty="0" err="1"/>
              <a:t>AppData</a:t>
            </a:r>
            <a:r>
              <a:rPr lang="en-US" dirty="0"/>
              <a:t>\Local\Temp\</a:t>
            </a:r>
          </a:p>
          <a:p>
            <a:r>
              <a:rPr lang="en-US" dirty="0"/>
              <a:t>User: WIN-OK4HSK4QBPH\Bruce L. Roy</a:t>
            </a:r>
          </a:p>
          <a:p>
            <a:r>
              <a:rPr lang="en-US" dirty="0" err="1"/>
              <a:t>LogonGuid</a:t>
            </a:r>
            <a:r>
              <a:rPr lang="en-US" dirty="0"/>
              <a:t>: {3f6cf078-30ec-5938-0000-002031df1000}</a:t>
            </a:r>
          </a:p>
          <a:p>
            <a:r>
              <a:rPr lang="en-US" dirty="0" err="1"/>
              <a:t>LogonId</a:t>
            </a:r>
            <a:r>
              <a:rPr lang="en-US" dirty="0"/>
              <a:t>: 0x10df31</a:t>
            </a:r>
          </a:p>
          <a:p>
            <a:r>
              <a:rPr lang="en-US" dirty="0" err="1"/>
              <a:t>TerminalSessionId</a:t>
            </a:r>
            <a:r>
              <a:rPr lang="en-US" dirty="0"/>
              <a:t>: 1</a:t>
            </a:r>
          </a:p>
          <a:p>
            <a:r>
              <a:rPr lang="en-US" dirty="0" err="1"/>
              <a:t>IntegrityLevel</a:t>
            </a:r>
            <a:r>
              <a:rPr lang="en-US" dirty="0"/>
              <a:t>: Medium</a:t>
            </a:r>
          </a:p>
          <a:p>
            <a:r>
              <a:rPr lang="en-US" dirty="0"/>
              <a:t>Hashes: </a:t>
            </a:r>
            <a:r>
              <a:rPr lang="en-US" dirty="0" smtClean="0"/>
              <a:t>SHA1=04C5D2B4DA9A0F3FA8A45702D4256CEE42D8C48D </a:t>
            </a:r>
            <a:r>
              <a:rPr lang="en-US" dirty="0" err="1" smtClean="0"/>
              <a:t>ParentProcessGuid</a:t>
            </a:r>
            <a:r>
              <a:rPr lang="en-US" dirty="0"/>
              <a:t>: {3f6cf078-f27b-5939-0000-001026e22a00}</a:t>
            </a:r>
          </a:p>
          <a:p>
            <a:r>
              <a:rPr lang="en-US" dirty="0" err="1"/>
              <a:t>ParentProcessId</a:t>
            </a:r>
            <a:r>
              <a:rPr lang="en-US" dirty="0"/>
              <a:t>: 3364</a:t>
            </a:r>
          </a:p>
          <a:p>
            <a:r>
              <a:rPr lang="en-US" dirty="0" err="1"/>
              <a:t>ParentImage</a:t>
            </a:r>
            <a:r>
              <a:rPr lang="en-US" dirty="0"/>
              <a:t>: C:\Windows\System32\cmd.exe</a:t>
            </a:r>
          </a:p>
          <a:p>
            <a:r>
              <a:rPr lang="en-US" dirty="0" err="1"/>
              <a:t>ParentCommandLine</a:t>
            </a:r>
            <a:r>
              <a:rPr lang="en-US" dirty="0"/>
              <a:t>: "C:\Windows\system32\cmd.exe"</a:t>
            </a:r>
          </a:p>
        </p:txBody>
      </p:sp>
      <p:sp>
        <p:nvSpPr>
          <p:cNvPr id="6" name="Oval 5"/>
          <p:cNvSpPr/>
          <p:nvPr/>
        </p:nvSpPr>
        <p:spPr>
          <a:xfrm>
            <a:off x="653559" y="4654062"/>
            <a:ext cx="7180387" cy="4630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706" y="846138"/>
            <a:ext cx="6937664" cy="362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 Consolidation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9787"/>
            <a:ext cx="8229600" cy="1731580"/>
          </a:xfrm>
        </p:spPr>
        <p:txBody>
          <a:bodyPr/>
          <a:lstStyle/>
          <a:p>
            <a:r>
              <a:rPr lang="en-US" dirty="0" smtClean="0"/>
              <a:t>Centralize log collection from all edge devices and boundary devices</a:t>
            </a:r>
          </a:p>
          <a:p>
            <a:r>
              <a:rPr lang="en-US" dirty="0" smtClean="0"/>
              <a:t>Syslog client on Linux systems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097" y="2207173"/>
            <a:ext cx="3346313" cy="4177862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57200" y="2680138"/>
            <a:ext cx="5228897" cy="35984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Font typeface="Courier New" charset="0"/>
              <a:buChar char="o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dirty="0" err="1" smtClean="0"/>
              <a:t>NXLog</a:t>
            </a:r>
            <a:r>
              <a:rPr lang="en-US" dirty="0" smtClean="0"/>
              <a:t> supports syslog shipping of Windows Event Logs</a:t>
            </a:r>
          </a:p>
          <a:p>
            <a:pPr defTabSz="914400"/>
            <a:r>
              <a:rPr lang="en-US" dirty="0" smtClean="0"/>
              <a:t>Microsoft Windows Event Collector</a:t>
            </a:r>
          </a:p>
          <a:p>
            <a:pPr defTabSz="914400"/>
            <a:r>
              <a:rPr lang="en-US" dirty="0" smtClean="0"/>
              <a:t>Boundary device syslog (Firewall, proxies, etc.)</a:t>
            </a:r>
          </a:p>
          <a:p>
            <a:pPr defTabSz="9144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48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SIEM for Free?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US" dirty="0" smtClean="0"/>
              <a:t>Any DIY SIEM solution is going to be time and labor intensive</a:t>
            </a:r>
          </a:p>
          <a:p>
            <a:r>
              <a:rPr lang="en-US" dirty="0" smtClean="0"/>
              <a:t>Elastic </a:t>
            </a:r>
            <a:r>
              <a:rPr lang="en-US" dirty="0" err="1" smtClean="0"/>
              <a:t>Logstash</a:t>
            </a:r>
            <a:r>
              <a:rPr lang="en-US" dirty="0" smtClean="0"/>
              <a:t> </a:t>
            </a:r>
            <a:r>
              <a:rPr lang="en-US" dirty="0" err="1" smtClean="0"/>
              <a:t>Kibana</a:t>
            </a:r>
            <a:r>
              <a:rPr lang="en-US" dirty="0" smtClean="0"/>
              <a:t> (ELK) / Elastic Stack</a:t>
            </a:r>
          </a:p>
          <a:p>
            <a:r>
              <a:rPr lang="en-US" dirty="0" err="1" smtClean="0"/>
              <a:t>Graylog</a:t>
            </a:r>
            <a:endParaRPr lang="en-US" dirty="0" smtClean="0"/>
          </a:p>
          <a:p>
            <a:r>
              <a:rPr lang="en-US" dirty="0" smtClean="0"/>
              <a:t>If you have budget and have to choose where to spend, this may be the best place</a:t>
            </a:r>
          </a:p>
          <a:p>
            <a:r>
              <a:rPr lang="en-US" dirty="0" smtClean="0"/>
              <a:t>If you are not centralizing logs now start simple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onsolidate device and endpoint logs into syslog with </a:t>
            </a:r>
            <a:r>
              <a:rPr lang="en-US" dirty="0" err="1" smtClean="0"/>
              <a:t>nxlog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39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Forensics at Scale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Ability for IR and forensics staff to quickly and remotely acquire necessary evidence to analyze an attack</a:t>
            </a:r>
          </a:p>
          <a:p>
            <a:r>
              <a:rPr lang="en-US" dirty="0" smtClean="0"/>
              <a:t>Can be difficult and time consuming to image RAM and disk evidence for every investigation </a:t>
            </a:r>
          </a:p>
          <a:p>
            <a:r>
              <a:rPr lang="en-US" dirty="0" smtClean="0"/>
              <a:t>F-Response (not free)</a:t>
            </a:r>
          </a:p>
          <a:p>
            <a:r>
              <a:rPr lang="en-US" dirty="0" smtClean="0"/>
              <a:t>Possible with PowerShell</a:t>
            </a:r>
          </a:p>
          <a:p>
            <a:r>
              <a:rPr lang="en-US" dirty="0" smtClean="0"/>
              <a:t>Google GRR</a:t>
            </a:r>
          </a:p>
          <a:p>
            <a:pPr lvl="1"/>
            <a:r>
              <a:rPr lang="en-US" dirty="0" smtClean="0"/>
              <a:t>Incident Response Framework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209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 </a:t>
            </a:r>
            <a:r>
              <a:rPr lang="en-US" dirty="0" err="1" smtClean="0"/>
              <a:t>WannaBe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Model a “real world” attack</a:t>
            </a:r>
          </a:p>
          <a:p>
            <a:r>
              <a:rPr lang="en-US" dirty="0" smtClean="0"/>
              <a:t>Phish &gt; </a:t>
            </a:r>
            <a:r>
              <a:rPr lang="en-US" dirty="0"/>
              <a:t>g</a:t>
            </a:r>
            <a:r>
              <a:rPr lang="en-US" dirty="0" smtClean="0"/>
              <a:t>ain foothold &gt; move lateral…</a:t>
            </a:r>
          </a:p>
          <a:p>
            <a:r>
              <a:rPr lang="en-US" dirty="0" smtClean="0"/>
              <a:t>Encrypted C2</a:t>
            </a:r>
          </a:p>
          <a:p>
            <a:r>
              <a:rPr lang="en-US" dirty="0" err="1"/>
              <a:t>E</a:t>
            </a:r>
            <a:r>
              <a:rPr lang="en-US" dirty="0" err="1" smtClean="0"/>
              <a:t>xfil</a:t>
            </a:r>
            <a:r>
              <a:rPr lang="en-US" dirty="0" smtClean="0"/>
              <a:t> sensitive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Lab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226" y="1205297"/>
            <a:ext cx="3255353" cy="50732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6523" y="3515486"/>
            <a:ext cx="2875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Win7-5x(4-64,1-32)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Win10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16523" y="1373586"/>
            <a:ext cx="36048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Server2012 </a:t>
            </a:r>
            <a:r>
              <a:rPr lang="en-US" dirty="0"/>
              <a:t>(DC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Server2012 </a:t>
            </a:r>
            <a:r>
              <a:rPr lang="en-US" dirty="0"/>
              <a:t>(Sql-2012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Server </a:t>
            </a:r>
            <a:r>
              <a:rPr lang="en-US" dirty="0"/>
              <a:t>2008-R2 (</a:t>
            </a:r>
            <a:r>
              <a:rPr lang="en-US" dirty="0" err="1"/>
              <a:t>fileshare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Ubuntu16 </a:t>
            </a:r>
            <a:r>
              <a:rPr lang="en-US" dirty="0"/>
              <a:t>(</a:t>
            </a:r>
            <a:r>
              <a:rPr lang="en-US" dirty="0" err="1"/>
              <a:t>Grr</a:t>
            </a:r>
            <a:r>
              <a:rPr lang="en-US" dirty="0"/>
              <a:t> Server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Ubuntu16 </a:t>
            </a:r>
            <a:r>
              <a:rPr lang="en-US" dirty="0"/>
              <a:t>(</a:t>
            </a:r>
            <a:r>
              <a:rPr lang="en-US" dirty="0" err="1"/>
              <a:t>rsyslog</a:t>
            </a:r>
            <a:r>
              <a:rPr lang="en-US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PFSense</a:t>
            </a:r>
            <a:r>
              <a:rPr lang="en-US" dirty="0" smtClean="0"/>
              <a:t> </a:t>
            </a:r>
            <a:r>
              <a:rPr lang="en-US" dirty="0"/>
              <a:t>FW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7323" y="1953878"/>
            <a:ext cx="18463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Sysmon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Nxlog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GRR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Deployment through GPO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49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Attack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176" y="1573823"/>
            <a:ext cx="5970101" cy="40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6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Happened?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Bro notice log SSL invalid certificate with apparently random Common </a:t>
            </a:r>
            <a:r>
              <a:rPr lang="en-US" dirty="0" smtClean="0"/>
              <a:t>Name of </a:t>
            </a:r>
            <a:r>
              <a:rPr lang="en-US" dirty="0" err="1" smtClean="0"/>
              <a:t>erpyja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3181"/>
            <a:ext cx="9144000" cy="196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Happened?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416203"/>
            <a:ext cx="8229600" cy="2152934"/>
          </a:xfrm>
        </p:spPr>
        <p:txBody>
          <a:bodyPr/>
          <a:lstStyle/>
          <a:p>
            <a:r>
              <a:rPr lang="en-US" dirty="0" smtClean="0"/>
              <a:t>Internal IP address 192.168.2.171 made the connection to 162.243.44.94</a:t>
            </a:r>
          </a:p>
          <a:p>
            <a:r>
              <a:rPr lang="en-US" dirty="0" smtClean="0"/>
              <a:t>Bro connection log showed many connections to 162.243.44.94 on both TCP 443 and TCP 4444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3135"/>
            <a:ext cx="9144000" cy="5233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379" y="4304119"/>
            <a:ext cx="5773572" cy="212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4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Happened?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238836" y="1417638"/>
            <a:ext cx="8229600" cy="4525963"/>
          </a:xfrm>
        </p:spPr>
        <p:txBody>
          <a:bodyPr/>
          <a:lstStyle/>
          <a:p>
            <a:r>
              <a:rPr lang="en-US" dirty="0" err="1" smtClean="0"/>
              <a:t>Sysmon</a:t>
            </a:r>
            <a:r>
              <a:rPr lang="en-US" dirty="0" smtClean="0"/>
              <a:t> on suspect endpoint logged macro execution</a:t>
            </a:r>
          </a:p>
          <a:p>
            <a:r>
              <a:rPr lang="en-US" dirty="0" smtClean="0"/>
              <a:t>Base64 encoded PowerShell command suspicious</a:t>
            </a:r>
          </a:p>
          <a:p>
            <a:r>
              <a:rPr lang="en-US" dirty="0" err="1" smtClean="0"/>
              <a:t>Invoice.xlsm</a:t>
            </a:r>
            <a:r>
              <a:rPr lang="en-US" dirty="0" smtClean="0"/>
              <a:t> opened just prior to connection</a:t>
            </a:r>
          </a:p>
          <a:p>
            <a:r>
              <a:rPr lang="en-US" dirty="0" smtClean="0"/>
              <a:t>TCP 443 connections to </a:t>
            </a:r>
            <a:r>
              <a:rPr lang="hr-HR" dirty="0" smtClean="0"/>
              <a:t>162.243.44.94 at interval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7058"/>
            <a:ext cx="9144000" cy="104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8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Happened?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238836" y="1417638"/>
            <a:ext cx="8229600" cy="2734637"/>
          </a:xfrm>
        </p:spPr>
        <p:txBody>
          <a:bodyPr/>
          <a:lstStyle/>
          <a:p>
            <a:r>
              <a:rPr lang="en-US" dirty="0" smtClean="0"/>
              <a:t>Subsequent net commands run on 192.168.2.171</a:t>
            </a:r>
          </a:p>
          <a:p>
            <a:pPr lvl="1"/>
            <a:r>
              <a:rPr lang="en-US" dirty="0"/>
              <a:t>n</a:t>
            </a:r>
            <a:r>
              <a:rPr lang="en-US" dirty="0" smtClean="0"/>
              <a:t>et users /DOMAIN</a:t>
            </a:r>
          </a:p>
          <a:p>
            <a:pPr lvl="1"/>
            <a:r>
              <a:rPr lang="en-US" dirty="0"/>
              <a:t>n</a:t>
            </a:r>
            <a:r>
              <a:rPr lang="en-US" dirty="0" smtClean="0"/>
              <a:t>et accounts /DOMAIN</a:t>
            </a:r>
          </a:p>
          <a:p>
            <a:r>
              <a:rPr lang="en-US" dirty="0" smtClean="0"/>
              <a:t>Abnormal number of consecutive LDAP requests to Domain Controller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2275"/>
            <a:ext cx="9144000" cy="23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3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Happened?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38836" y="1417638"/>
            <a:ext cx="8229600" cy="4525963"/>
          </a:xfrm>
        </p:spPr>
        <p:txBody>
          <a:bodyPr/>
          <a:lstStyle/>
          <a:p>
            <a:r>
              <a:rPr lang="en-US" dirty="0" smtClean="0"/>
              <a:t>Google GRR used to remotely retrieve the potential malicious document  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765" y="2791458"/>
            <a:ext cx="6464257" cy="23468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82" y="1859303"/>
            <a:ext cx="5243424" cy="482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5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Happened?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238836" y="1417638"/>
            <a:ext cx="8229600" cy="4525963"/>
          </a:xfrm>
        </p:spPr>
        <p:txBody>
          <a:bodyPr/>
          <a:lstStyle/>
          <a:p>
            <a:r>
              <a:rPr lang="en-US" dirty="0" smtClean="0"/>
              <a:t>Were there other systems that talked to 162.243.44.94?</a:t>
            </a:r>
          </a:p>
          <a:p>
            <a:r>
              <a:rPr lang="en-US" dirty="0" err="1" smtClean="0"/>
              <a:t>Sysmon</a:t>
            </a:r>
            <a:r>
              <a:rPr lang="en-US" dirty="0" smtClean="0"/>
              <a:t> log showed the SQL01 Server where all the company secrets are kept!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6732"/>
            <a:ext cx="9144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Happened?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238836" y="1417638"/>
            <a:ext cx="8229600" cy="2227435"/>
          </a:xfrm>
        </p:spPr>
        <p:txBody>
          <a:bodyPr/>
          <a:lstStyle/>
          <a:p>
            <a:r>
              <a:rPr lang="en-US" dirty="0" smtClean="0"/>
              <a:t>Security Event log from SQL01 showed </a:t>
            </a:r>
            <a:r>
              <a:rPr lang="en-US" dirty="0" smtClean="0"/>
              <a:t>successful remote </a:t>
            </a:r>
            <a:r>
              <a:rPr lang="en-US" dirty="0"/>
              <a:t>l</a:t>
            </a:r>
            <a:r>
              <a:rPr lang="en-US" dirty="0" smtClean="0"/>
              <a:t>ogin </a:t>
            </a:r>
            <a:r>
              <a:rPr lang="en-US" dirty="0" smtClean="0"/>
              <a:t>Event from infected system</a:t>
            </a:r>
          </a:p>
          <a:p>
            <a:r>
              <a:rPr lang="en-US" dirty="0" smtClean="0"/>
              <a:t>Corresponding connection from infected system to SQL01 over TCP 445 in </a:t>
            </a:r>
            <a:r>
              <a:rPr lang="en-US" dirty="0" err="1" smtClean="0"/>
              <a:t>Sysmon</a:t>
            </a:r>
            <a:r>
              <a:rPr lang="en-US" dirty="0" smtClean="0"/>
              <a:t> log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6068"/>
            <a:ext cx="9144000" cy="76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56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Happened?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238836" y="1417638"/>
            <a:ext cx="8229600" cy="2227435"/>
          </a:xfrm>
        </p:spPr>
        <p:txBody>
          <a:bodyPr/>
          <a:lstStyle/>
          <a:p>
            <a:r>
              <a:rPr lang="en-US" dirty="0" smtClean="0"/>
              <a:t>Bro connection log showed SSL connection from SQL01 Server to 162.243.44.94 with a large amount of bytes transferred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2434"/>
            <a:ext cx="9144000" cy="1331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5306"/>
            <a:ext cx="91440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5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Oops</a:t>
            </a:r>
            <a:r>
              <a:rPr lang="en-US" dirty="0" smtClean="0"/>
              <a:t>!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68215" y="1268168"/>
            <a:ext cx="759655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Process Create:</a:t>
            </a:r>
          </a:p>
          <a:p>
            <a:r>
              <a:rPr lang="en-US" sz="1600" dirty="0" err="1"/>
              <a:t>UtcTime</a:t>
            </a:r>
            <a:r>
              <a:rPr lang="en-US" sz="1600" dirty="0"/>
              <a:t>: 2017-06-09 00:54:24.907</a:t>
            </a:r>
          </a:p>
          <a:p>
            <a:r>
              <a:rPr lang="en-US" sz="1600" dirty="0" err="1"/>
              <a:t>ProcessGuid</a:t>
            </a:r>
            <a:r>
              <a:rPr lang="en-US" sz="1600" dirty="0"/>
              <a:t>: {3f6cf078-f1c0-5939-0000-0010b6742900}</a:t>
            </a:r>
          </a:p>
          <a:p>
            <a:r>
              <a:rPr lang="en-US" sz="1600" dirty="0" err="1"/>
              <a:t>ProcessId</a:t>
            </a:r>
            <a:r>
              <a:rPr lang="en-US" sz="1600" dirty="0"/>
              <a:t>: 3124</a:t>
            </a:r>
          </a:p>
          <a:p>
            <a:r>
              <a:rPr lang="en-US" sz="1600" dirty="0"/>
              <a:t>Image: C:\Windows\System32\WindowsPowerShell\v1.0\powershell.exe</a:t>
            </a:r>
          </a:p>
          <a:p>
            <a:r>
              <a:rPr lang="en-US" sz="1600" dirty="0" err="1"/>
              <a:t>CommandLine</a:t>
            </a:r>
            <a:r>
              <a:rPr lang="en-US" sz="1600" dirty="0"/>
              <a:t>: "C:\Windows\System32\WindowsPowerShell\v1.0\powershell.exe" -w 1 -C "</a:t>
            </a:r>
            <a:r>
              <a:rPr lang="en-US" sz="1600" dirty="0" err="1"/>
              <a:t>sv</a:t>
            </a:r>
            <a:r>
              <a:rPr lang="en-US" sz="1600" dirty="0"/>
              <a:t> </a:t>
            </a:r>
            <a:r>
              <a:rPr lang="en-US" sz="1600" dirty="0" err="1"/>
              <a:t>WaR</a:t>
            </a:r>
            <a:r>
              <a:rPr lang="en-US" sz="1600" dirty="0"/>
              <a:t> -;</a:t>
            </a:r>
            <a:r>
              <a:rPr lang="en-US" sz="1600" dirty="0" err="1"/>
              <a:t>sv</a:t>
            </a:r>
            <a:r>
              <a:rPr lang="en-US" sz="1600" dirty="0"/>
              <a:t> </a:t>
            </a:r>
            <a:r>
              <a:rPr lang="en-US" sz="1600" dirty="0" err="1"/>
              <a:t>Fss</a:t>
            </a:r>
            <a:r>
              <a:rPr lang="en-US" sz="1600" dirty="0"/>
              <a:t> </a:t>
            </a:r>
            <a:r>
              <a:rPr lang="en-US" sz="1600" dirty="0" err="1"/>
              <a:t>ec;sv</a:t>
            </a:r>
            <a:r>
              <a:rPr lang="en-US" sz="1600" dirty="0"/>
              <a:t> </a:t>
            </a:r>
            <a:r>
              <a:rPr lang="en-US" sz="1600" dirty="0" err="1"/>
              <a:t>nMNx</a:t>
            </a:r>
            <a:r>
              <a:rPr lang="en-US" sz="1600" dirty="0"/>
              <a:t> ((</a:t>
            </a:r>
            <a:r>
              <a:rPr lang="en-US" sz="1600" dirty="0" err="1"/>
              <a:t>gv</a:t>
            </a:r>
            <a:r>
              <a:rPr lang="en-US" sz="1600" dirty="0"/>
              <a:t> </a:t>
            </a:r>
            <a:r>
              <a:rPr lang="en-US" sz="1600" dirty="0" err="1"/>
              <a:t>WaR</a:t>
            </a:r>
            <a:r>
              <a:rPr lang="en-US" sz="1600" dirty="0"/>
              <a:t>).</a:t>
            </a:r>
            <a:r>
              <a:rPr lang="en-US" sz="1600" dirty="0" err="1"/>
              <a:t>value.toString</a:t>
            </a:r>
            <a:r>
              <a:rPr lang="en-US" sz="1600" dirty="0"/>
              <a:t>()+(</a:t>
            </a:r>
            <a:r>
              <a:rPr lang="en-US" sz="1600" dirty="0" err="1"/>
              <a:t>gv</a:t>
            </a:r>
            <a:r>
              <a:rPr lang="en-US" sz="1600" dirty="0"/>
              <a:t> </a:t>
            </a:r>
            <a:r>
              <a:rPr lang="en-US" sz="1600" dirty="0" err="1"/>
              <a:t>Fss</a:t>
            </a:r>
            <a:r>
              <a:rPr lang="en-US" sz="1600" dirty="0"/>
              <a:t>).</a:t>
            </a:r>
            <a:r>
              <a:rPr lang="en-US" sz="1600" dirty="0" err="1"/>
              <a:t>value.toString</a:t>
            </a:r>
            <a:r>
              <a:rPr lang="en-US" sz="1600" dirty="0"/>
              <a:t>());</a:t>
            </a:r>
            <a:r>
              <a:rPr lang="en-US" sz="1600" dirty="0" err="1"/>
              <a:t>powershell</a:t>
            </a:r>
            <a:r>
              <a:rPr lang="en-US" sz="1600" dirty="0"/>
              <a:t> (</a:t>
            </a:r>
            <a:r>
              <a:rPr lang="en-US" sz="1600" dirty="0" err="1"/>
              <a:t>gv</a:t>
            </a:r>
            <a:r>
              <a:rPr lang="en-US" sz="1600" dirty="0"/>
              <a:t> </a:t>
            </a:r>
            <a:r>
              <a:rPr lang="en-US" sz="1600" dirty="0" err="1"/>
              <a:t>nMNx</a:t>
            </a:r>
            <a:r>
              <a:rPr lang="en-US" sz="1600" dirty="0"/>
              <a:t>).</a:t>
            </a:r>
            <a:r>
              <a:rPr lang="en-US" sz="1600" dirty="0" err="1"/>
              <a:t>value.toString</a:t>
            </a:r>
            <a:r>
              <a:rPr lang="en-US" sz="1600" dirty="0"/>
              <a:t>() (</a:t>
            </a:r>
            <a:r>
              <a:rPr lang="en-US" sz="1600" dirty="0" smtClean="0"/>
              <a:t>'JAB0AGgARQAgAD0AIAAnACQAQgBYAG8ARgAgAD0AIAAnACcAWwBEAGwAbABJA…</a:t>
            </a:r>
            <a:endParaRPr lang="en-US" sz="1600" dirty="0"/>
          </a:p>
          <a:p>
            <a:r>
              <a:rPr lang="en-US" sz="1600" dirty="0" err="1"/>
              <a:t>CurrentDirectory</a:t>
            </a:r>
            <a:r>
              <a:rPr lang="en-US" sz="1600" dirty="0"/>
              <a:t>: IA'+'AkAGUAIgA7AH0A')"</a:t>
            </a:r>
          </a:p>
          <a:p>
            <a:r>
              <a:rPr lang="en-US" sz="1600" dirty="0"/>
              <a:t>User: C:\Users\Bruce L. Roy\Documents\</a:t>
            </a:r>
          </a:p>
          <a:p>
            <a:r>
              <a:rPr lang="en-US" sz="1600" dirty="0" err="1"/>
              <a:t>LogonGuid</a:t>
            </a:r>
            <a:r>
              <a:rPr lang="en-US" sz="1600" dirty="0"/>
              <a:t>: {00490057-004e-002d-4f00-4b0034004800}</a:t>
            </a:r>
          </a:p>
          <a:p>
            <a:r>
              <a:rPr lang="en-US" sz="1600" dirty="0" err="1"/>
              <a:t>LogonId</a:t>
            </a:r>
            <a:r>
              <a:rPr lang="en-US" sz="1600" dirty="0"/>
              <a:t>: 0x510034004b0053</a:t>
            </a:r>
          </a:p>
          <a:p>
            <a:r>
              <a:rPr lang="en-US" sz="1600" dirty="0" err="1"/>
              <a:t>TerminalSessionId</a:t>
            </a:r>
            <a:r>
              <a:rPr lang="en-US" sz="1600" dirty="0"/>
              <a:t>: 5242946</a:t>
            </a:r>
          </a:p>
          <a:p>
            <a:r>
              <a:rPr lang="en-US" sz="1600" dirty="0" err="1"/>
              <a:t>IntegrityLevel</a:t>
            </a:r>
            <a:r>
              <a:rPr lang="en-US" sz="1600" dirty="0"/>
              <a:t>: H\Bruce L. Roy</a:t>
            </a:r>
          </a:p>
          <a:p>
            <a:r>
              <a:rPr lang="en-US" sz="1600" dirty="0"/>
              <a:t>Hashes: x</a:t>
            </a:r>
            <a:r>
              <a:rPr lang="ja-JP" altLang="en-US" sz="1600" dirty="0"/>
              <a:t>㽬レ夸</a:t>
            </a:r>
          </a:p>
          <a:p>
            <a:r>
              <a:rPr lang="en-US" sz="1600" dirty="0" err="1"/>
              <a:t>ParentProcessGuid</a:t>
            </a:r>
            <a:r>
              <a:rPr lang="en-US" sz="1600" dirty="0"/>
              <a:t>: {df312000-0010-df31-1000-000000000100}</a:t>
            </a:r>
          </a:p>
          <a:p>
            <a:r>
              <a:rPr lang="en-US" sz="1600" dirty="0" err="1"/>
              <a:t>ParentProcessId</a:t>
            </a:r>
            <a:r>
              <a:rPr lang="en-US" sz="1600" dirty="0"/>
              <a:t>: 5046272</a:t>
            </a:r>
          </a:p>
          <a:p>
            <a:r>
              <a:rPr lang="en-US" sz="1600" dirty="0" err="1"/>
              <a:t>ParentImage</a:t>
            </a:r>
            <a:r>
              <a:rPr lang="en-US" sz="1600" dirty="0"/>
              <a:t>: </a:t>
            </a:r>
            <a:r>
              <a:rPr lang="en-US" sz="1600" dirty="0" err="1"/>
              <a:t>edium</a:t>
            </a:r>
            <a:endParaRPr lang="en-US" sz="1600" dirty="0"/>
          </a:p>
          <a:p>
            <a:r>
              <a:rPr lang="en-US" sz="1600" dirty="0" err="1"/>
              <a:t>ParentCommandLine</a:t>
            </a:r>
            <a:r>
              <a:rPr lang="en-US" sz="1600" dirty="0"/>
              <a:t>: SHA1=04C5D2B4DA9A0F3FA8A45702D4256CEE42D8C48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2198078" y="4809392"/>
            <a:ext cx="1459522" cy="29014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2980592" y="4961792"/>
            <a:ext cx="829408" cy="93784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015" y="3302244"/>
            <a:ext cx="3410137" cy="192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7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Volatility </a:t>
            </a:r>
            <a:r>
              <a:rPr lang="en-US" dirty="0" err="1" smtClean="0"/>
              <a:t>ftw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4638" y="988140"/>
            <a:ext cx="910883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r>
              <a:rPr lang="en-US" sz="1200" dirty="0"/>
              <a:t>Offset(V)  Name                    PID   PPID   </a:t>
            </a:r>
            <a:r>
              <a:rPr lang="en-US" sz="1200" dirty="0" err="1"/>
              <a:t>Thds</a:t>
            </a:r>
            <a:r>
              <a:rPr lang="en-US" sz="1200" dirty="0"/>
              <a:t>     </a:t>
            </a:r>
            <a:r>
              <a:rPr lang="en-US" sz="1200" dirty="0" err="1"/>
              <a:t>Hnds</a:t>
            </a:r>
            <a:r>
              <a:rPr lang="en-US" sz="1200" dirty="0"/>
              <a:t>   </a:t>
            </a:r>
            <a:r>
              <a:rPr lang="en-US" sz="1200" dirty="0" err="1"/>
              <a:t>Sess</a:t>
            </a:r>
            <a:r>
              <a:rPr lang="en-US" sz="1200" dirty="0"/>
              <a:t>  Wow64 Start                Exit                </a:t>
            </a:r>
          </a:p>
          <a:p>
            <a:r>
              <a:rPr lang="en-US" sz="1200" dirty="0"/>
              <a:t>---------- -------------------- ------ ------ ------ -------- ------ ------ -------------------- --------------------</a:t>
            </a:r>
          </a:p>
          <a:p>
            <a:r>
              <a:rPr lang="en-US" sz="1200" dirty="0"/>
              <a:t>Volatile Systems Volatility Framework 2.2</a:t>
            </a:r>
          </a:p>
          <a:p>
            <a:r>
              <a:rPr lang="en-US" sz="1200" dirty="0"/>
              <a:t>0x85ebc770 powershell.exe         3912   1680      9      229      1      0 2017-06-07 10:56:57                      </a:t>
            </a:r>
          </a:p>
          <a:p>
            <a:r>
              <a:rPr lang="en-US" sz="1200" dirty="0"/>
              <a:t>0x844e5030 powershell.exe         1560   3912      9      235      1      0 2017-06-07 10:56:59                      </a:t>
            </a:r>
          </a:p>
          <a:p>
            <a:r>
              <a:rPr lang="en-US" sz="1200" dirty="0"/>
              <a:t>0x84483850 powershell.exe         1240   1560     16      465      1      0 2017-06-07 10:56:59  </a:t>
            </a:r>
          </a:p>
          <a:p>
            <a:endParaRPr lang="en-US" sz="1200" dirty="0"/>
          </a:p>
          <a:p>
            <a:r>
              <a:rPr lang="en-US" sz="1200" dirty="0" err="1"/>
              <a:t>root@SIFT-Workstation</a:t>
            </a:r>
            <a:r>
              <a:rPr lang="en-US" sz="1200" dirty="0"/>
              <a:t>:/</a:t>
            </a:r>
            <a:r>
              <a:rPr lang="en-US" sz="1200" dirty="0" err="1"/>
              <a:t>mnt</a:t>
            </a:r>
            <a:r>
              <a:rPr lang="en-US" sz="1200" dirty="0"/>
              <a:t>/</a:t>
            </a:r>
            <a:r>
              <a:rPr lang="en-US" sz="1200" dirty="0" err="1"/>
              <a:t>hgfs</a:t>
            </a:r>
            <a:r>
              <a:rPr lang="en-US" sz="1200" dirty="0"/>
              <a:t>/mal/2017-06-07_wannaBe# vol.py </a:t>
            </a:r>
            <a:r>
              <a:rPr lang="en-US" sz="1200" dirty="0" err="1"/>
              <a:t>pslist</a:t>
            </a:r>
            <a:r>
              <a:rPr lang="en-US" sz="1200" dirty="0"/>
              <a:t> -f Windows\ 7-860dc55b.vmem --profile=Win7SP1x86 |</a:t>
            </a:r>
            <a:r>
              <a:rPr lang="en-US" sz="1200" dirty="0" err="1"/>
              <a:t>grep</a:t>
            </a:r>
            <a:r>
              <a:rPr lang="en-US" sz="1200" dirty="0"/>
              <a:t> 1680</a:t>
            </a:r>
          </a:p>
          <a:p>
            <a:r>
              <a:rPr lang="en-US" sz="1200" dirty="0"/>
              <a:t>Volatile Systems Volatility Framework 2.2</a:t>
            </a:r>
          </a:p>
          <a:p>
            <a:r>
              <a:rPr lang="en-US" sz="1200" dirty="0"/>
              <a:t>0x84c08638 EXCEL.EXE              1680   2600     22      663      1      0 2017-06-07 10:56:42                      </a:t>
            </a:r>
          </a:p>
          <a:p>
            <a:r>
              <a:rPr lang="en-US" sz="1200" dirty="0"/>
              <a:t>0x85ebc770 powershell.exe         3912   1680      9      229      1      0 2017-06-07 </a:t>
            </a:r>
            <a:r>
              <a:rPr lang="en-US" sz="1200" dirty="0" smtClean="0"/>
              <a:t>10:56:57</a:t>
            </a:r>
            <a:endParaRPr lang="en-US" sz="1200" dirty="0"/>
          </a:p>
          <a:p>
            <a:r>
              <a:rPr lang="en-US" sz="1200" dirty="0"/>
              <a:t>==</a:t>
            </a:r>
          </a:p>
          <a:p>
            <a:r>
              <a:rPr lang="en-US" sz="1200" dirty="0" err="1"/>
              <a:t>root@SIFT-Workstation</a:t>
            </a:r>
            <a:r>
              <a:rPr lang="en-US" sz="1200" dirty="0"/>
              <a:t>:/</a:t>
            </a:r>
            <a:r>
              <a:rPr lang="en-US" sz="1200" dirty="0" err="1"/>
              <a:t>mnt</a:t>
            </a:r>
            <a:r>
              <a:rPr lang="en-US" sz="1200" dirty="0"/>
              <a:t>/</a:t>
            </a:r>
            <a:r>
              <a:rPr lang="en-US" sz="1200" dirty="0" err="1"/>
              <a:t>hgfs</a:t>
            </a:r>
            <a:r>
              <a:rPr lang="en-US" sz="1200" dirty="0"/>
              <a:t>/mal/2017-06-07_wannaBe# vol.py </a:t>
            </a:r>
            <a:r>
              <a:rPr lang="en-US" sz="1200" dirty="0" err="1"/>
              <a:t>pslist</a:t>
            </a:r>
            <a:r>
              <a:rPr lang="en-US" sz="1200" dirty="0"/>
              <a:t> -f Windows\ 7-860dc55b.vmem --profile=Win7SP1x86 |</a:t>
            </a:r>
            <a:r>
              <a:rPr lang="en-US" sz="1200" dirty="0" err="1"/>
              <a:t>grep</a:t>
            </a:r>
            <a:r>
              <a:rPr lang="en-US" sz="1200" dirty="0"/>
              <a:t> 2600</a:t>
            </a:r>
          </a:p>
          <a:p>
            <a:r>
              <a:rPr lang="en-US" sz="1200" dirty="0"/>
              <a:t>Volatile Systems Volatility Framework 2.2</a:t>
            </a:r>
          </a:p>
          <a:p>
            <a:r>
              <a:rPr lang="en-US" sz="1200" dirty="0"/>
              <a:t>0x8563b518 explorer.exe           2600   2568     31      869      1      0 2017-02-27 15:58:36                      </a:t>
            </a:r>
          </a:p>
          <a:p>
            <a:r>
              <a:rPr lang="en-US" sz="1200" dirty="0" smtClean="0"/>
              <a:t>0x84c08638 </a:t>
            </a:r>
            <a:r>
              <a:rPr lang="en-US" sz="1200" dirty="0"/>
              <a:t>EXCEL.EXE              1680   2600     22      663      1      0 2017-06-07 10:56:42                               </a:t>
            </a:r>
          </a:p>
          <a:p>
            <a:r>
              <a:rPr lang="en-US" sz="1200" dirty="0" smtClean="0"/>
              <a:t>==</a:t>
            </a:r>
            <a:endParaRPr lang="en-US" sz="1200" dirty="0"/>
          </a:p>
          <a:p>
            <a:r>
              <a:rPr lang="en-US" sz="1200" dirty="0" err="1"/>
              <a:t>root@SIFT-Workstation</a:t>
            </a:r>
            <a:r>
              <a:rPr lang="en-US" sz="1200" dirty="0"/>
              <a:t>:/</a:t>
            </a:r>
            <a:r>
              <a:rPr lang="en-US" sz="1200" dirty="0" err="1"/>
              <a:t>mnt</a:t>
            </a:r>
            <a:r>
              <a:rPr lang="en-US" sz="1200" dirty="0"/>
              <a:t>/</a:t>
            </a:r>
            <a:r>
              <a:rPr lang="en-US" sz="1200" dirty="0" err="1"/>
              <a:t>hgfs</a:t>
            </a:r>
            <a:r>
              <a:rPr lang="en-US" sz="1200" dirty="0"/>
              <a:t>/mal/2017-06-07_wannaBe# vol.py </a:t>
            </a:r>
            <a:r>
              <a:rPr lang="en-US" sz="1200" dirty="0" err="1"/>
              <a:t>pslist</a:t>
            </a:r>
            <a:r>
              <a:rPr lang="en-US" sz="1200" dirty="0"/>
              <a:t> -f Windows\ 7-860dc55b.vmem --profile=Win7SP1x86 |</a:t>
            </a:r>
            <a:r>
              <a:rPr lang="en-US" sz="1200" dirty="0" err="1"/>
              <a:t>grep</a:t>
            </a:r>
            <a:r>
              <a:rPr lang="en-US" sz="1200" dirty="0"/>
              <a:t> 3912</a:t>
            </a:r>
          </a:p>
          <a:p>
            <a:r>
              <a:rPr lang="en-US" sz="1200" dirty="0"/>
              <a:t>Volatile Systems Volatility Framework 2.2</a:t>
            </a:r>
          </a:p>
          <a:p>
            <a:r>
              <a:rPr lang="en-US" sz="1200" dirty="0"/>
              <a:t>0x85ebc770 powershell.exe         3912   1680      9      229      1      0 2017-06-07 10:56:57                      </a:t>
            </a:r>
          </a:p>
          <a:p>
            <a:r>
              <a:rPr lang="en-US" sz="1200" dirty="0"/>
              <a:t>0x844e5030 powershell.exe         1560   3912      9      235      1      0 2017-06-07 10:56:59 </a:t>
            </a:r>
          </a:p>
          <a:p>
            <a:endParaRPr lang="en-US" sz="1200" dirty="0"/>
          </a:p>
          <a:p>
            <a:r>
              <a:rPr lang="en-US" sz="1200" dirty="0" err="1"/>
              <a:t>root@SIFT-Workstation</a:t>
            </a:r>
            <a:r>
              <a:rPr lang="en-US" sz="1200" dirty="0"/>
              <a:t>:/</a:t>
            </a:r>
            <a:r>
              <a:rPr lang="en-US" sz="1200" dirty="0" err="1"/>
              <a:t>mnt</a:t>
            </a:r>
            <a:r>
              <a:rPr lang="en-US" sz="1200" dirty="0"/>
              <a:t>/</a:t>
            </a:r>
            <a:r>
              <a:rPr lang="en-US" sz="1200" dirty="0" err="1"/>
              <a:t>hgfs</a:t>
            </a:r>
            <a:r>
              <a:rPr lang="en-US" sz="1200" dirty="0"/>
              <a:t>/mal/2017-06-07_wannaBe# vol.py </a:t>
            </a:r>
            <a:r>
              <a:rPr lang="en-US" sz="1200" dirty="0" err="1"/>
              <a:t>pslist</a:t>
            </a:r>
            <a:r>
              <a:rPr lang="en-US" sz="1200" dirty="0"/>
              <a:t> -f Windows\ 7-860dc55b.vmem --profile=Win7SP1x86 |</a:t>
            </a:r>
            <a:r>
              <a:rPr lang="en-US" sz="1200" dirty="0" err="1"/>
              <a:t>grep</a:t>
            </a:r>
            <a:r>
              <a:rPr lang="en-US" sz="1200" dirty="0"/>
              <a:t> 1560</a:t>
            </a:r>
          </a:p>
          <a:p>
            <a:r>
              <a:rPr lang="en-US" sz="1200" dirty="0"/>
              <a:t>Volatile Systems Volatility Framework 2.2</a:t>
            </a:r>
          </a:p>
          <a:p>
            <a:r>
              <a:rPr lang="en-US" sz="1200" dirty="0"/>
              <a:t>0x844e5030 powershell.exe         1560   3912      9      235      1      0 2017-06-07 10:56:59                      </a:t>
            </a:r>
          </a:p>
          <a:p>
            <a:r>
              <a:rPr lang="en-US" sz="1200" dirty="0"/>
              <a:t>0x84483850 powershell.exe         1240   1560     16      465      1      0 2017-06-07 10:56:59                      </a:t>
            </a:r>
          </a:p>
          <a:p>
            <a:endParaRPr lang="en-US" sz="1200" dirty="0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2637694" y="1169377"/>
            <a:ext cx="826475" cy="63304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8326316" y="2137856"/>
            <a:ext cx="465995" cy="33543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28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about prevention?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does not work? The same old advice, have these and you’re good:</a:t>
            </a:r>
          </a:p>
          <a:p>
            <a:pPr lvl="1"/>
            <a:r>
              <a:rPr lang="en-US" dirty="0" smtClean="0"/>
              <a:t>Antivirus</a:t>
            </a:r>
          </a:p>
          <a:p>
            <a:pPr lvl="1"/>
            <a:r>
              <a:rPr lang="en-US" dirty="0" smtClean="0"/>
              <a:t>Firewall</a:t>
            </a:r>
          </a:p>
          <a:p>
            <a:pPr lvl="1"/>
            <a:r>
              <a:rPr lang="en-US" dirty="0" smtClean="0"/>
              <a:t>IDS</a:t>
            </a:r>
          </a:p>
          <a:p>
            <a:r>
              <a:rPr lang="en-US" dirty="0" smtClean="0"/>
              <a:t>Yes these are necessary, but they are not enough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262" y="4464290"/>
            <a:ext cx="3745523" cy="210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84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about prevention?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Configuration changes can be effective prevention</a:t>
            </a:r>
          </a:p>
          <a:p>
            <a:pPr lvl="1"/>
            <a:r>
              <a:rPr lang="en-US" dirty="0" smtClean="0"/>
              <a:t>Strong password policy</a:t>
            </a:r>
          </a:p>
          <a:p>
            <a:pPr lvl="2"/>
            <a:r>
              <a:rPr lang="en-US" dirty="0" smtClean="0"/>
              <a:t>15 characters min for users</a:t>
            </a:r>
          </a:p>
          <a:p>
            <a:pPr lvl="2"/>
            <a:r>
              <a:rPr lang="en-US" dirty="0" smtClean="0"/>
              <a:t>27 for service and administrator accounts</a:t>
            </a:r>
          </a:p>
          <a:p>
            <a:pPr lvl="1"/>
            <a:r>
              <a:rPr lang="en-US" dirty="0" smtClean="0"/>
              <a:t>2FA on all external facing portals</a:t>
            </a:r>
          </a:p>
          <a:p>
            <a:pPr lvl="1"/>
            <a:r>
              <a:rPr lang="en-US" dirty="0" smtClean="0"/>
              <a:t>Restrict administrative access</a:t>
            </a:r>
          </a:p>
          <a:p>
            <a:pPr lvl="2"/>
            <a:r>
              <a:rPr lang="en-US" dirty="0" smtClean="0"/>
              <a:t>LAPS</a:t>
            </a:r>
          </a:p>
          <a:p>
            <a:pPr lvl="2"/>
            <a:r>
              <a:rPr lang="en-US" dirty="0" smtClean="0"/>
              <a:t>Microsoft Tiered Architecture Approach</a:t>
            </a:r>
          </a:p>
          <a:p>
            <a:pPr lvl="1"/>
            <a:r>
              <a:rPr lang="en-US" dirty="0" smtClean="0"/>
              <a:t>Restrict client-to-client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52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about prevention?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Windows 10 Enterprise features</a:t>
            </a:r>
          </a:p>
          <a:p>
            <a:pPr lvl="1"/>
            <a:r>
              <a:rPr lang="en-US" dirty="0" smtClean="0"/>
              <a:t>Device Guard </a:t>
            </a:r>
            <a:r>
              <a:rPr lang="mr-IN" dirty="0" smtClean="0"/>
              <a:t>–</a:t>
            </a:r>
            <a:r>
              <a:rPr lang="en-US" dirty="0" smtClean="0"/>
              <a:t> attempts to prevent malicious code from ever running, only known good code can run</a:t>
            </a:r>
          </a:p>
          <a:p>
            <a:pPr lvl="1"/>
            <a:r>
              <a:rPr lang="en-US" dirty="0" smtClean="0"/>
              <a:t>Credential Guard </a:t>
            </a:r>
            <a:r>
              <a:rPr lang="mr-IN" dirty="0" smtClean="0"/>
              <a:t>–</a:t>
            </a:r>
            <a:r>
              <a:rPr lang="en-US" dirty="0" smtClean="0"/>
              <a:t> hardening of key user and system secrets, attempted mitigation of credential based attacks</a:t>
            </a:r>
          </a:p>
          <a:p>
            <a:r>
              <a:rPr lang="en-US" dirty="0" smtClean="0"/>
              <a:t>Both use Virtual Secure Mode (VMS)</a:t>
            </a:r>
          </a:p>
          <a:p>
            <a:r>
              <a:rPr lang="en-US" dirty="0" smtClean="0"/>
              <a:t>Both require planning and deployment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042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3667992" cy="4525963"/>
          </a:xfrm>
        </p:spPr>
        <p:txBody>
          <a:bodyPr/>
          <a:lstStyle/>
          <a:p>
            <a:r>
              <a:rPr lang="en-US" sz="2000" dirty="0" smtClean="0"/>
              <a:t>Network Monitoring</a:t>
            </a:r>
            <a:endParaRPr lang="en-US" sz="1600" dirty="0" smtClean="0"/>
          </a:p>
          <a:p>
            <a:pPr lvl="1"/>
            <a:r>
              <a:rPr lang="en-US" sz="1600" dirty="0" smtClean="0">
                <a:hlinkClick r:id="rId2"/>
              </a:rPr>
              <a:t>www.bro.org</a:t>
            </a:r>
            <a:endParaRPr lang="en-US" sz="1600" dirty="0" smtClean="0"/>
          </a:p>
          <a:p>
            <a:pPr lvl="1"/>
            <a:r>
              <a:rPr lang="en-US" sz="1600" dirty="0" err="1" smtClean="0"/>
              <a:t>snort.org</a:t>
            </a:r>
            <a:endParaRPr lang="en-US" sz="1600" dirty="0" smtClean="0"/>
          </a:p>
          <a:p>
            <a:pPr lvl="1"/>
            <a:r>
              <a:rPr lang="en-US" sz="1600" dirty="0" err="1"/>
              <a:t>molo.ch</a:t>
            </a:r>
            <a:endParaRPr lang="en-US" sz="1600" dirty="0" smtClean="0"/>
          </a:p>
          <a:p>
            <a:r>
              <a:rPr lang="en-US" sz="2000" dirty="0" smtClean="0"/>
              <a:t>Host Based Monitoring</a:t>
            </a:r>
          </a:p>
          <a:p>
            <a:pPr lvl="1"/>
            <a:r>
              <a:rPr lang="en-US" sz="1600" dirty="0" err="1" smtClean="0"/>
              <a:t>Sysmon</a:t>
            </a:r>
            <a:r>
              <a:rPr lang="en-US" sz="1600" dirty="0"/>
              <a:t> - </a:t>
            </a:r>
            <a:r>
              <a:rPr lang="en-US" sz="1600" dirty="0" err="1" smtClean="0"/>
              <a:t>technet.microsoft.com</a:t>
            </a:r>
            <a:r>
              <a:rPr lang="en-US" sz="1600" dirty="0" smtClean="0"/>
              <a:t>/en-us/</a:t>
            </a:r>
            <a:r>
              <a:rPr lang="en-US" sz="1600" dirty="0" err="1" smtClean="0"/>
              <a:t>sysinternals</a:t>
            </a:r>
            <a:r>
              <a:rPr lang="en-US" sz="1600" dirty="0" smtClean="0"/>
              <a:t>/bb545021.aspx</a:t>
            </a:r>
          </a:p>
          <a:p>
            <a:pPr lvl="1"/>
            <a:r>
              <a:rPr lang="en-US" sz="1600" dirty="0" err="1" smtClean="0"/>
              <a:t>Sysmon</a:t>
            </a:r>
            <a:r>
              <a:rPr lang="en-US" sz="1600" dirty="0" smtClean="0"/>
              <a:t> </a:t>
            </a:r>
            <a:r>
              <a:rPr lang="en-US" sz="1600" dirty="0" err="1" smtClean="0"/>
              <a:t>Config</a:t>
            </a:r>
            <a:r>
              <a:rPr lang="en-US" sz="1600" dirty="0"/>
              <a:t>: </a:t>
            </a:r>
            <a:r>
              <a:rPr lang="en-US" sz="1600" dirty="0">
                <a:hlinkClick r:id="rId3"/>
              </a:rPr>
              <a:t>https://</a:t>
            </a:r>
            <a:r>
              <a:rPr lang="en-US" sz="1600" dirty="0" smtClean="0">
                <a:hlinkClick r:id="rId3"/>
              </a:rPr>
              <a:t>github.com/SwiftOnSecurity/sysmon-config</a:t>
            </a:r>
            <a:endParaRPr lang="en-US" sz="1600" dirty="0" smtClean="0"/>
          </a:p>
          <a:p>
            <a:pPr lvl="1"/>
            <a:r>
              <a:rPr lang="en-US" sz="1600" dirty="0" err="1" smtClean="0"/>
              <a:t>Nxlog</a:t>
            </a:r>
            <a:r>
              <a:rPr lang="en-US" sz="1600" dirty="0" smtClean="0"/>
              <a:t>: nxlog.co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135581" y="1600200"/>
            <a:ext cx="4436919" cy="452596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Font typeface="Courier New" charset="0"/>
              <a:buChar char="o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2000" dirty="0" smtClean="0"/>
              <a:t>Live response at scale </a:t>
            </a:r>
          </a:p>
          <a:p>
            <a:pPr lvl="1" defTabSz="914400"/>
            <a:r>
              <a:rPr lang="en-US" sz="1600" dirty="0"/>
              <a:t>Google GRR: https://</a:t>
            </a:r>
            <a:r>
              <a:rPr lang="en-US" sz="1600" dirty="0" err="1"/>
              <a:t>github.com</a:t>
            </a:r>
            <a:r>
              <a:rPr lang="en-US" sz="1600" dirty="0"/>
              <a:t>/google/</a:t>
            </a:r>
            <a:r>
              <a:rPr lang="en-US" sz="1600" dirty="0" err="1"/>
              <a:t>grr</a:t>
            </a:r>
            <a:endParaRPr lang="en-US" sz="1600" dirty="0" smtClean="0"/>
          </a:p>
          <a:p>
            <a:pPr defTabSz="914400"/>
            <a:r>
              <a:rPr lang="en-US" sz="2000" dirty="0" smtClean="0"/>
              <a:t> Log Correlation</a:t>
            </a:r>
          </a:p>
          <a:p>
            <a:pPr lvl="1" defTabSz="914400"/>
            <a:r>
              <a:rPr lang="en-US" sz="1600" dirty="0" smtClean="0"/>
              <a:t>Elastic: </a:t>
            </a:r>
            <a:r>
              <a:rPr lang="en-US" sz="1600" dirty="0" smtClean="0">
                <a:hlinkClick r:id="rId4"/>
              </a:rPr>
              <a:t>https</a:t>
            </a:r>
            <a:r>
              <a:rPr lang="en-US" sz="1600" dirty="0">
                <a:hlinkClick r:id="rId4"/>
              </a:rPr>
              <a:t>://www.elastic.co</a:t>
            </a:r>
            <a:r>
              <a:rPr lang="en-US" sz="1600" dirty="0" smtClean="0">
                <a:hlinkClick r:id="rId4"/>
              </a:rPr>
              <a:t>/</a:t>
            </a:r>
            <a:endParaRPr lang="en-US" sz="1600" dirty="0" smtClean="0"/>
          </a:p>
          <a:p>
            <a:pPr lvl="1" defTabSz="914400"/>
            <a:r>
              <a:rPr lang="en-US" sz="1600" dirty="0" err="1" smtClean="0"/>
              <a:t>Graylog</a:t>
            </a:r>
            <a:r>
              <a:rPr lang="en-US" sz="1600" dirty="0" smtClean="0"/>
              <a:t>: </a:t>
            </a:r>
            <a:r>
              <a:rPr lang="en-US" sz="1600" dirty="0">
                <a:hlinkClick r:id="rId5"/>
              </a:rPr>
              <a:t>https://www.graylog.org</a:t>
            </a:r>
            <a:r>
              <a:rPr lang="en-US" sz="1600" dirty="0" smtClean="0">
                <a:hlinkClick r:id="rId5"/>
              </a:rPr>
              <a:t>/</a:t>
            </a:r>
            <a:endParaRPr lang="en-US" sz="1600" dirty="0" smtClean="0"/>
          </a:p>
          <a:p>
            <a:pPr defTabSz="914400"/>
            <a:r>
              <a:rPr lang="en-US" sz="2000" dirty="0" smtClean="0"/>
              <a:t>Microsoft Environment Configuration </a:t>
            </a:r>
          </a:p>
          <a:p>
            <a:pPr lvl="1" defTabSz="914400"/>
            <a:r>
              <a:rPr lang="en-US" sz="1600" dirty="0"/>
              <a:t>LAPS: </a:t>
            </a:r>
            <a:r>
              <a:rPr lang="en-US" sz="1600" dirty="0">
                <a:hlinkClick r:id="rId6"/>
              </a:rPr>
              <a:t>https://</a:t>
            </a:r>
            <a:r>
              <a:rPr lang="en-US" sz="1600" dirty="0" smtClean="0">
                <a:hlinkClick r:id="rId6"/>
              </a:rPr>
              <a:t>www.microsoft.com/en-us/download/details.aspx?id=46899</a:t>
            </a:r>
            <a:r>
              <a:rPr lang="en-US" sz="1600" dirty="0" smtClean="0"/>
              <a:t> </a:t>
            </a:r>
          </a:p>
          <a:p>
            <a:pPr lvl="1" defTabSz="914400"/>
            <a:r>
              <a:rPr lang="en-US" sz="1600" dirty="0"/>
              <a:t>AD Tiered Model: </a:t>
            </a:r>
            <a:r>
              <a:rPr lang="en-US" sz="1600" dirty="0">
                <a:hlinkClick r:id="rId7"/>
              </a:rPr>
              <a:t>https://</a:t>
            </a:r>
            <a:r>
              <a:rPr lang="en-US" sz="1600" dirty="0" smtClean="0">
                <a:hlinkClick r:id="rId7"/>
              </a:rPr>
              <a:t>docs.microsoft.com/en-us/windows-server/identity/securing-privileged-access/securing-privileged-access-reference-material</a:t>
            </a:r>
            <a:r>
              <a:rPr lang="en-US" sz="1600" dirty="0" smtClean="0"/>
              <a:t> </a:t>
            </a:r>
          </a:p>
          <a:p>
            <a:pPr lvl="1" defTabSz="914400"/>
            <a:endParaRPr 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164586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Free and Open Source solutions can effectively be used for monitoring, detection, and live response</a:t>
            </a:r>
          </a:p>
          <a:p>
            <a:r>
              <a:rPr lang="en-US" dirty="0" smtClean="0"/>
              <a:t>Edge based host monitoring with centralized logging is a powerful combination</a:t>
            </a:r>
          </a:p>
          <a:p>
            <a:r>
              <a:rPr lang="en-US" dirty="0" smtClean="0"/>
              <a:t>Configuration changes are an important aspect of preventing compromise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0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and 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Derek Banks - @0xderuke</a:t>
            </a:r>
          </a:p>
          <a:p>
            <a:pPr lvl="1"/>
            <a:r>
              <a:rPr lang="en-US" dirty="0" smtClean="0"/>
              <a:t>Black Hills Information Security</a:t>
            </a:r>
          </a:p>
          <a:p>
            <a:pPr lvl="2"/>
            <a:r>
              <a:rPr lang="en-US" dirty="0" smtClean="0"/>
              <a:t>@</a:t>
            </a:r>
            <a:r>
              <a:rPr lang="en-US" dirty="0" err="1" smtClean="0"/>
              <a:t>BHInfoSecurity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http://www.blackhillsinfosec.com</a:t>
            </a:r>
            <a:endParaRPr lang="en-US" dirty="0" smtClean="0"/>
          </a:p>
          <a:p>
            <a:r>
              <a:rPr lang="en-US" dirty="0" smtClean="0"/>
              <a:t>Troy </a:t>
            </a:r>
            <a:r>
              <a:rPr lang="en-US" dirty="0" err="1" smtClean="0"/>
              <a:t>Wojewoda</a:t>
            </a:r>
            <a:r>
              <a:rPr lang="en-US" dirty="0" smtClean="0"/>
              <a:t> - @</a:t>
            </a:r>
            <a:r>
              <a:rPr lang="en-US" dirty="0" err="1" smtClean="0"/>
              <a:t>wojeblaze</a:t>
            </a:r>
            <a:endParaRPr lang="en-US" dirty="0" smtClean="0"/>
          </a:p>
          <a:p>
            <a:pPr lvl="1"/>
            <a:r>
              <a:rPr lang="en-US" dirty="0" smtClean="0"/>
              <a:t>Newport News Shipbuilding - HII</a:t>
            </a:r>
            <a:endParaRPr lang="en-US" dirty="0"/>
          </a:p>
          <a:p>
            <a:r>
              <a:rPr lang="en-US" dirty="0"/>
              <a:t>Questions?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372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HIS-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BHIS-Template</Template>
  <TotalTime>3608</TotalTime>
  <Words>1581</Words>
  <Application>Microsoft Macintosh PowerPoint</Application>
  <PresentationFormat>On-screen Show (4:3)</PresentationFormat>
  <Paragraphs>284</Paragraphs>
  <Slides>37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Calibri</vt:lpstr>
      <vt:lpstr>Courier New</vt:lpstr>
      <vt:lpstr>Mangal</vt:lpstr>
      <vt:lpstr>ＭＳ Ｐゴシック</vt:lpstr>
      <vt:lpstr>Arial</vt:lpstr>
      <vt:lpstr>BHIS-Template</vt:lpstr>
      <vt:lpstr>Poor Man’s Spy vs. Spy</vt:lpstr>
      <vt:lpstr>About</vt:lpstr>
      <vt:lpstr>Bio Troy</vt:lpstr>
      <vt:lpstr>Bio Derek</vt:lpstr>
      <vt:lpstr>Detection vs Prevention</vt:lpstr>
      <vt:lpstr>Value of Time</vt:lpstr>
      <vt:lpstr>Core Monitoring and IR Components</vt:lpstr>
      <vt:lpstr>Intelz</vt:lpstr>
      <vt:lpstr>Where are you in the Kill Chain?</vt:lpstr>
      <vt:lpstr>Network Monitoring</vt:lpstr>
      <vt:lpstr>Network Monitoring</vt:lpstr>
      <vt:lpstr>Host Based Monitoring</vt:lpstr>
      <vt:lpstr>Sysmon</vt:lpstr>
      <vt:lpstr>Sysmon</vt:lpstr>
      <vt:lpstr>Don’t Ignore Known Good</vt:lpstr>
      <vt:lpstr>Log Consolidation</vt:lpstr>
      <vt:lpstr>SIEM for Free? </vt:lpstr>
      <vt:lpstr>Forensics at Scale</vt:lpstr>
      <vt:lpstr>Operation WannaBe</vt:lpstr>
      <vt:lpstr>The Lab</vt:lpstr>
      <vt:lpstr>The Attack</vt:lpstr>
      <vt:lpstr>What Happened?</vt:lpstr>
      <vt:lpstr>What Happened?</vt:lpstr>
      <vt:lpstr>What Happened?</vt:lpstr>
      <vt:lpstr>What Happened?</vt:lpstr>
      <vt:lpstr>What Happened?</vt:lpstr>
      <vt:lpstr>What Happened?</vt:lpstr>
      <vt:lpstr>What Happened?</vt:lpstr>
      <vt:lpstr>What Happened?</vt:lpstr>
      <vt:lpstr>Oops!</vt:lpstr>
      <vt:lpstr>Volatility ftw</vt:lpstr>
      <vt:lpstr>What about prevention?</vt:lpstr>
      <vt:lpstr>What about prevention?</vt:lpstr>
      <vt:lpstr>What about prevention?</vt:lpstr>
      <vt:lpstr>Resources</vt:lpstr>
      <vt:lpstr>Conclusions </vt:lpstr>
      <vt:lpstr>Summary and Conclusions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Derek Banks</dc:creator>
  <cp:lastModifiedBy>Derek Banks</cp:lastModifiedBy>
  <cp:revision>108</cp:revision>
  <dcterms:created xsi:type="dcterms:W3CDTF">2017-05-24T02:20:07Z</dcterms:created>
  <dcterms:modified xsi:type="dcterms:W3CDTF">2017-06-09T19:47:00Z</dcterms:modified>
</cp:coreProperties>
</file>