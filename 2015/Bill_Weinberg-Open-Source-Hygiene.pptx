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xlsx" ContentType="application/vnd.openxmlformats-officedocument.spreadsheetml.sheet"/>
  <Default Extension="rels" ContentType="application/vnd.openxmlformats-package.relationships+xml"/>
  <Default Extension="wdp" ContentType="image/vnd.ms-photo"/>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 id="2147483979" r:id="rId2"/>
  </p:sldMasterIdLst>
  <p:notesMasterIdLst>
    <p:notesMasterId r:id="rId48"/>
  </p:notesMasterIdLst>
  <p:handoutMasterIdLst>
    <p:handoutMasterId r:id="rId49"/>
  </p:handoutMasterIdLst>
  <p:sldIdLst>
    <p:sldId id="500" r:id="rId3"/>
    <p:sldId id="514" r:id="rId4"/>
    <p:sldId id="515" r:id="rId5"/>
    <p:sldId id="394" r:id="rId6"/>
    <p:sldId id="509" r:id="rId7"/>
    <p:sldId id="468" r:id="rId8"/>
    <p:sldId id="469" r:id="rId9"/>
    <p:sldId id="475" r:id="rId10"/>
    <p:sldId id="479" r:id="rId11"/>
    <p:sldId id="480" r:id="rId12"/>
    <p:sldId id="510" r:id="rId13"/>
    <p:sldId id="464" r:id="rId14"/>
    <p:sldId id="494" r:id="rId15"/>
    <p:sldId id="501" r:id="rId16"/>
    <p:sldId id="466" r:id="rId17"/>
    <p:sldId id="496" r:id="rId18"/>
    <p:sldId id="511" r:id="rId19"/>
    <p:sldId id="519" r:id="rId20"/>
    <p:sldId id="503" r:id="rId21"/>
    <p:sldId id="504" r:id="rId22"/>
    <p:sldId id="505" r:id="rId23"/>
    <p:sldId id="506" r:id="rId24"/>
    <p:sldId id="507" r:id="rId25"/>
    <p:sldId id="508" r:id="rId26"/>
    <p:sldId id="512" r:id="rId27"/>
    <p:sldId id="533" r:id="rId28"/>
    <p:sldId id="516" r:id="rId29"/>
    <p:sldId id="526" r:id="rId30"/>
    <p:sldId id="520" r:id="rId31"/>
    <p:sldId id="521" r:id="rId32"/>
    <p:sldId id="534" r:id="rId33"/>
    <p:sldId id="502" r:id="rId34"/>
    <p:sldId id="518" r:id="rId35"/>
    <p:sldId id="524" r:id="rId36"/>
    <p:sldId id="523" r:id="rId37"/>
    <p:sldId id="528" r:id="rId38"/>
    <p:sldId id="529" r:id="rId39"/>
    <p:sldId id="499" r:id="rId40"/>
    <p:sldId id="530" r:id="rId41"/>
    <p:sldId id="536" r:id="rId42"/>
    <p:sldId id="531" r:id="rId43"/>
    <p:sldId id="532" r:id="rId44"/>
    <p:sldId id="535" r:id="rId45"/>
    <p:sldId id="527" r:id="rId46"/>
    <p:sldId id="486" r:id="rId47"/>
  </p:sldIdLst>
  <p:sldSz cx="9144000" cy="6858000" type="screen4x3"/>
  <p:notesSz cx="6934200" cy="9220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basics" id="{AB5D2A53-0397-4015-801D-711297C3DB6B}">
          <p14:sldIdLst>
            <p14:sldId id="500"/>
            <p14:sldId id="514"/>
            <p14:sldId id="515"/>
            <p14:sldId id="394"/>
            <p14:sldId id="509"/>
            <p14:sldId id="468"/>
            <p14:sldId id="469"/>
            <p14:sldId id="475"/>
            <p14:sldId id="479"/>
            <p14:sldId id="480"/>
            <p14:sldId id="510"/>
            <p14:sldId id="464"/>
            <p14:sldId id="494"/>
            <p14:sldId id="501"/>
            <p14:sldId id="466"/>
            <p14:sldId id="496"/>
            <p14:sldId id="511"/>
            <p14:sldId id="519"/>
            <p14:sldId id="503"/>
            <p14:sldId id="504"/>
            <p14:sldId id="505"/>
            <p14:sldId id="506"/>
            <p14:sldId id="507"/>
            <p14:sldId id="508"/>
            <p14:sldId id="512"/>
            <p14:sldId id="533"/>
            <p14:sldId id="516"/>
            <p14:sldId id="526"/>
            <p14:sldId id="520"/>
            <p14:sldId id="521"/>
            <p14:sldId id="534"/>
            <p14:sldId id="502"/>
            <p14:sldId id="518"/>
            <p14:sldId id="524"/>
            <p14:sldId id="523"/>
            <p14:sldId id="528"/>
            <p14:sldId id="529"/>
            <p14:sldId id="499"/>
            <p14:sldId id="530"/>
            <p14:sldId id="536"/>
            <p14:sldId id="531"/>
            <p14:sldId id="532"/>
            <p14:sldId id="535"/>
            <p14:sldId id="527"/>
            <p14:sldId id="486"/>
          </p14:sldIdLst>
        </p14:section>
        <p14:section name="Old Slide" id="{301CFED0-7C36-4D91-B661-DD23D36FE1FE}">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CAEF0"/>
    <a:srgbClr val="0E67C7"/>
    <a:srgbClr val="0D62BD"/>
    <a:srgbClr val="129DEB"/>
    <a:srgbClr val="0D6EB5"/>
    <a:srgbClr val="2A2828"/>
    <a:srgbClr val="0082C6"/>
    <a:srgbClr val="000000"/>
    <a:srgbClr val="2816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19" autoAdjust="0"/>
    <p:restoredTop sz="95078" autoAdjust="0"/>
  </p:normalViewPr>
  <p:slideViewPr>
    <p:cSldViewPr showGuides="1">
      <p:cViewPr varScale="1">
        <p:scale>
          <a:sx n="59" d="100"/>
          <a:sy n="59" d="100"/>
        </p:scale>
        <p:origin x="-888" y="-104"/>
      </p:cViewPr>
      <p:guideLst>
        <p:guide orient="horz" pos="527"/>
        <p:guide orient="horz" pos="3884"/>
        <p:guide orient="horz" pos="2114"/>
        <p:guide orient="horz" pos="2893"/>
        <p:guide orient="horz" pos="2205"/>
        <p:guide pos="113"/>
        <p:guide pos="5647"/>
        <p:guide pos="2880"/>
        <p:guide pos="993"/>
        <p:guide pos="1746"/>
        <p:guide pos="4014"/>
        <p:guide pos="4649"/>
        <p:guide pos="3379"/>
        <p:guide pos="2200"/>
      </p:guideLst>
    </p:cSldViewPr>
  </p:slideViewPr>
  <p:outlineViewPr>
    <p:cViewPr>
      <p:scale>
        <a:sx n="33" d="100"/>
        <a:sy n="33" d="100"/>
      </p:scale>
      <p:origin x="0" y="660"/>
    </p:cViewPr>
  </p:outlineViewPr>
  <p:notesTextViewPr>
    <p:cViewPr>
      <p:scale>
        <a:sx n="1" d="1"/>
        <a:sy n="1" d="1"/>
      </p:scale>
      <p:origin x="0" y="0"/>
    </p:cViewPr>
  </p:notesTextViewPr>
  <p:sorterViewPr>
    <p:cViewPr>
      <p:scale>
        <a:sx n="115" d="100"/>
        <a:sy n="115" d="100"/>
      </p:scale>
      <p:origin x="0" y="2552"/>
    </p:cViewPr>
  </p:sorterViewPr>
  <p:notesViewPr>
    <p:cSldViewPr showGuides="1">
      <p:cViewPr varScale="1">
        <p:scale>
          <a:sx n="72" d="100"/>
          <a:sy n="72" d="100"/>
        </p:scale>
        <p:origin x="-2971" y="-82"/>
      </p:cViewPr>
      <p:guideLst>
        <p:guide orient="horz" pos="2904"/>
        <p:guide pos="218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50" Type="http://schemas.openxmlformats.org/officeDocument/2006/relationships/printerSettings" Target="printerSettings/printerSettings1.bin"/><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notesMaster" Target="notesMasters/notesMaster1.xml"/><Relationship Id="rId49" Type="http://schemas.openxmlformats.org/officeDocument/2006/relationships/handoutMaster" Target="handoutMasters/handoutMaster1.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oleObject" Target="Workbook2" TargetMode="Externa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roundedCorners val="0"/>
  <mc:AlternateContent xmlns:mc="http://schemas.openxmlformats.org/markup-compatibility/2006">
    <mc:Choice xmlns:c14="http://schemas.microsoft.com/office/drawing/2007/8/2/chart" Requires="c14">
      <c14:style val="118"/>
    </mc:Choice>
    <mc:Fallback>
      <c:style val="18"/>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Sheet1!$B$1</c:f>
              <c:strCache>
                <c:ptCount val="1"/>
                <c:pt idx="0">
                  <c:v>Series 1</c:v>
                </c:pt>
              </c:strCache>
            </c:strRef>
          </c:tx>
          <c:spPr>
            <a:solidFill>
              <a:schemeClr val="tx2"/>
            </a:solidFill>
          </c:spPr>
          <c:invertIfNegative val="0"/>
          <c:dPt>
            <c:idx val="4"/>
            <c:invertIfNegative val="0"/>
            <c:bubble3D val="0"/>
            <c:spPr>
              <a:solidFill>
                <a:schemeClr val="accent4"/>
              </a:solidFill>
            </c:spPr>
          </c:dPt>
          <c:cat>
            <c:numRef>
              <c:f>Sheet1!$A$2:$A$6</c:f>
              <c:numCache>
                <c:formatCode>General</c:formatCode>
                <c:ptCount val="5"/>
                <c:pt idx="0">
                  <c:v>2007.0</c:v>
                </c:pt>
                <c:pt idx="1">
                  <c:v>2009.0</c:v>
                </c:pt>
                <c:pt idx="2">
                  <c:v>2011.0</c:v>
                </c:pt>
                <c:pt idx="3">
                  <c:v>2013.0</c:v>
                </c:pt>
                <c:pt idx="4">
                  <c:v>2015.0</c:v>
                </c:pt>
              </c:numCache>
            </c:numRef>
          </c:cat>
          <c:val>
            <c:numRef>
              <c:f>Sheet1!$B$2:$B$6</c:f>
              <c:numCache>
                <c:formatCode>General</c:formatCode>
                <c:ptCount val="5"/>
                <c:pt idx="0">
                  <c:v>126650.0</c:v>
                </c:pt>
                <c:pt idx="1">
                  <c:v>200000.0</c:v>
                </c:pt>
                <c:pt idx="2">
                  <c:v>500000.0</c:v>
                </c:pt>
                <c:pt idx="3">
                  <c:v>1.0E6</c:v>
                </c:pt>
                <c:pt idx="4">
                  <c:v>1.5E6</c:v>
                </c:pt>
              </c:numCache>
            </c:numRef>
          </c:val>
        </c:ser>
        <c:dLbls>
          <c:showLegendKey val="0"/>
          <c:showVal val="0"/>
          <c:showCatName val="0"/>
          <c:showSerName val="0"/>
          <c:showPercent val="0"/>
          <c:showBubbleSize val="0"/>
        </c:dLbls>
        <c:gapWidth val="150"/>
        <c:axId val="2135374984"/>
        <c:axId val="2135378344"/>
      </c:barChart>
      <c:catAx>
        <c:axId val="2135374984"/>
        <c:scaling>
          <c:orientation val="minMax"/>
        </c:scaling>
        <c:delete val="0"/>
        <c:axPos val="b"/>
        <c:numFmt formatCode="General" sourceLinked="1"/>
        <c:majorTickMark val="none"/>
        <c:minorTickMark val="none"/>
        <c:tickLblPos val="nextTo"/>
        <c:spPr>
          <a:ln>
            <a:solidFill>
              <a:srgbClr val="FFFFFF"/>
            </a:solidFill>
          </a:ln>
        </c:spPr>
        <c:txPr>
          <a:bodyPr/>
          <a:lstStyle/>
          <a:p>
            <a:pPr>
              <a:defRPr sz="1200">
                <a:solidFill>
                  <a:srgbClr val="FFFFFF"/>
                </a:solidFill>
              </a:defRPr>
            </a:pPr>
            <a:endParaRPr lang="en-US"/>
          </a:p>
        </c:txPr>
        <c:crossAx val="2135378344"/>
        <c:crosses val="autoZero"/>
        <c:auto val="1"/>
        <c:lblAlgn val="ctr"/>
        <c:lblOffset val="100"/>
        <c:noMultiLvlLbl val="0"/>
      </c:catAx>
      <c:valAx>
        <c:axId val="2135378344"/>
        <c:scaling>
          <c:orientation val="minMax"/>
          <c:max val="1.5E6"/>
          <c:min val="0.0"/>
        </c:scaling>
        <c:delete val="0"/>
        <c:axPos val="l"/>
        <c:numFmt formatCode="General" sourceLinked="1"/>
        <c:majorTickMark val="none"/>
        <c:minorTickMark val="none"/>
        <c:tickLblPos val="nextTo"/>
        <c:spPr>
          <a:ln>
            <a:solidFill>
              <a:srgbClr val="FFFFFF"/>
            </a:solidFill>
          </a:ln>
        </c:spPr>
        <c:txPr>
          <a:bodyPr/>
          <a:lstStyle/>
          <a:p>
            <a:pPr algn="r">
              <a:defRPr sz="1400">
                <a:solidFill>
                  <a:schemeClr val="bg1"/>
                </a:solidFill>
              </a:defRPr>
            </a:pPr>
            <a:endParaRPr lang="en-US"/>
          </a:p>
        </c:txPr>
        <c:crossAx val="2135374984"/>
        <c:crosses val="autoZero"/>
        <c:crossBetween val="between"/>
      </c:valAx>
    </c:plotArea>
    <c:plotVisOnly val="1"/>
    <c:dispBlanksAs val="gap"/>
    <c:showDLblsOverMax val="0"/>
  </c:chart>
  <c:txPr>
    <a:bodyPr/>
    <a:lstStyle/>
    <a:p>
      <a:pPr>
        <a:defRPr sz="1800"/>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US"/>
              <a:t>CVEs</a:t>
            </a:r>
            <a:r>
              <a:rPr lang="en-US" baseline="0"/>
              <a:t> (Vulnernabilities) by Year</a:t>
            </a:r>
          </a:p>
          <a:p>
            <a:pPr>
              <a:defRPr/>
            </a:pPr>
            <a:r>
              <a:rPr lang="en-US" sz="1400" baseline="0"/>
              <a:t>Jan 1, 2000 - May 11, 2015</a:t>
            </a:r>
            <a:endParaRPr lang="en-US" sz="1400"/>
          </a:p>
        </c:rich>
      </c:tx>
      <c:layout/>
      <c:overlay val="0"/>
    </c:title>
    <c:autoTitleDeleted val="0"/>
    <c:plotArea>
      <c:layout/>
      <c:barChart>
        <c:barDir val="col"/>
        <c:grouping val="stacked"/>
        <c:varyColors val="0"/>
        <c:ser>
          <c:idx val="0"/>
          <c:order val="0"/>
          <c:invertIfNegative val="0"/>
          <c:dPt>
            <c:idx val="15"/>
            <c:invertIfNegative val="0"/>
            <c:bubble3D val="0"/>
            <c:spPr>
              <a:solidFill>
                <a:schemeClr val="accent1">
                  <a:lumMod val="40000"/>
                  <a:lumOff val="60000"/>
                </a:schemeClr>
              </a:solidFill>
            </c:spPr>
          </c:dPt>
          <c:cat>
            <c:numRef>
              <c:f>Sheet1!$A$4:$A$19</c:f>
              <c:numCache>
                <c:formatCode>General</c:formatCode>
                <c:ptCount val="16"/>
                <c:pt idx="0">
                  <c:v>2000.0</c:v>
                </c:pt>
                <c:pt idx="1">
                  <c:v>2001.0</c:v>
                </c:pt>
                <c:pt idx="2">
                  <c:v>2002.0</c:v>
                </c:pt>
                <c:pt idx="3">
                  <c:v>2003.0</c:v>
                </c:pt>
                <c:pt idx="4">
                  <c:v>2004.0</c:v>
                </c:pt>
                <c:pt idx="5">
                  <c:v>2005.0</c:v>
                </c:pt>
                <c:pt idx="6">
                  <c:v>2006.0</c:v>
                </c:pt>
                <c:pt idx="7">
                  <c:v>2007.0</c:v>
                </c:pt>
                <c:pt idx="8">
                  <c:v>2008.0</c:v>
                </c:pt>
                <c:pt idx="9">
                  <c:v>2009.0</c:v>
                </c:pt>
                <c:pt idx="10">
                  <c:v>2010.0</c:v>
                </c:pt>
                <c:pt idx="11">
                  <c:v>2011.0</c:v>
                </c:pt>
                <c:pt idx="12">
                  <c:v>2012.0</c:v>
                </c:pt>
                <c:pt idx="13">
                  <c:v>2013.0</c:v>
                </c:pt>
                <c:pt idx="14">
                  <c:v>2014.0</c:v>
                </c:pt>
                <c:pt idx="15">
                  <c:v>2015.0</c:v>
                </c:pt>
              </c:numCache>
            </c:numRef>
          </c:cat>
          <c:val>
            <c:numRef>
              <c:f>Sheet1!$B$4:$B$19</c:f>
              <c:numCache>
                <c:formatCode>#,##0</c:formatCode>
                <c:ptCount val="16"/>
                <c:pt idx="0">
                  <c:v>1020.0</c:v>
                </c:pt>
                <c:pt idx="1">
                  <c:v>1677.0</c:v>
                </c:pt>
                <c:pt idx="2">
                  <c:v>2156.0</c:v>
                </c:pt>
                <c:pt idx="3">
                  <c:v>1527.0</c:v>
                </c:pt>
                <c:pt idx="4">
                  <c:v>2451.0</c:v>
                </c:pt>
                <c:pt idx="5">
                  <c:v>4931.0</c:v>
                </c:pt>
                <c:pt idx="6">
                  <c:v>6608.0</c:v>
                </c:pt>
                <c:pt idx="7">
                  <c:v>6514.0</c:v>
                </c:pt>
                <c:pt idx="8">
                  <c:v>5632.0</c:v>
                </c:pt>
                <c:pt idx="9">
                  <c:v>5732.0</c:v>
                </c:pt>
                <c:pt idx="10">
                  <c:v>4639.0</c:v>
                </c:pt>
                <c:pt idx="11">
                  <c:v>4150.0</c:v>
                </c:pt>
                <c:pt idx="12">
                  <c:v>5288.0</c:v>
                </c:pt>
                <c:pt idx="13">
                  <c:v>5186.0</c:v>
                </c:pt>
                <c:pt idx="14">
                  <c:v>7937.0</c:v>
                </c:pt>
                <c:pt idx="15">
                  <c:v>2362.0</c:v>
                </c:pt>
              </c:numCache>
            </c:numRef>
          </c:val>
        </c:ser>
        <c:dLbls>
          <c:showLegendKey val="0"/>
          <c:showVal val="0"/>
          <c:showCatName val="0"/>
          <c:showSerName val="0"/>
          <c:showPercent val="0"/>
          <c:showBubbleSize val="0"/>
        </c:dLbls>
        <c:gapWidth val="55"/>
        <c:overlap val="100"/>
        <c:axId val="2079282568"/>
        <c:axId val="2079285656"/>
      </c:barChart>
      <c:catAx>
        <c:axId val="2079282568"/>
        <c:scaling>
          <c:orientation val="minMax"/>
        </c:scaling>
        <c:delete val="0"/>
        <c:axPos val="b"/>
        <c:numFmt formatCode="General" sourceLinked="1"/>
        <c:majorTickMark val="none"/>
        <c:minorTickMark val="none"/>
        <c:tickLblPos val="nextTo"/>
        <c:crossAx val="2079285656"/>
        <c:crosses val="autoZero"/>
        <c:auto val="1"/>
        <c:lblAlgn val="ctr"/>
        <c:lblOffset val="100"/>
        <c:noMultiLvlLbl val="0"/>
      </c:catAx>
      <c:valAx>
        <c:axId val="2079285656"/>
        <c:scaling>
          <c:orientation val="minMax"/>
        </c:scaling>
        <c:delete val="0"/>
        <c:axPos val="l"/>
        <c:majorGridlines/>
        <c:numFmt formatCode="#,##0" sourceLinked="1"/>
        <c:majorTickMark val="none"/>
        <c:minorTickMark val="none"/>
        <c:tickLblPos val="nextTo"/>
        <c:crossAx val="2079282568"/>
        <c:crosses val="autoZero"/>
        <c:crossBetween val="between"/>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view3D>
      <c:rotX val="15"/>
      <c:rotY val="20"/>
      <c:rAngAx val="1"/>
    </c:view3D>
    <c:floor>
      <c:thickness val="0"/>
    </c:floor>
    <c:sideWall>
      <c:thickness val="0"/>
    </c:sideWall>
    <c:backWall>
      <c:thickness val="0"/>
    </c:backWall>
    <c:plotArea>
      <c:layout/>
      <c:bar3DChart>
        <c:barDir val="col"/>
        <c:grouping val="clustered"/>
        <c:varyColors val="1"/>
        <c:ser>
          <c:idx val="0"/>
          <c:order val="0"/>
          <c:tx>
            <c:strRef>
              <c:f>Sheet1!$B$1</c:f>
              <c:strCache>
                <c:ptCount val="1"/>
                <c:pt idx="0">
                  <c:v>Series 1</c:v>
                </c:pt>
              </c:strCache>
            </c:strRef>
          </c:tx>
          <c:invertIfNegative val="0"/>
          <c:dPt>
            <c:idx val="2"/>
            <c:invertIfNegative val="0"/>
            <c:bubble3D val="0"/>
            <c:spPr>
              <a:solidFill>
                <a:schemeClr val="accent1">
                  <a:lumMod val="20000"/>
                  <a:lumOff val="80000"/>
                </a:schemeClr>
              </a:solidFill>
            </c:spPr>
          </c:dPt>
          <c:cat>
            <c:strRef>
              <c:f>Sheet1!$A$2:$A$5</c:f>
              <c:strCache>
                <c:ptCount val="4"/>
                <c:pt idx="0">
                  <c:v>Cloud Infrastructure</c:v>
                </c:pt>
                <c:pt idx="1">
                  <c:v>Education</c:v>
                </c:pt>
                <c:pt idx="2">
                  <c:v>Financial Services</c:v>
                </c:pt>
                <c:pt idx="3">
                  <c:v>Healthcare</c:v>
                </c:pt>
              </c:strCache>
            </c:strRef>
          </c:cat>
          <c:val>
            <c:numRef>
              <c:f>Sheet1!$B$2:$B$5</c:f>
              <c:numCache>
                <c:formatCode>General</c:formatCode>
                <c:ptCount val="4"/>
                <c:pt idx="0">
                  <c:v>60.0</c:v>
                </c:pt>
                <c:pt idx="1">
                  <c:v>176.0</c:v>
                </c:pt>
                <c:pt idx="2">
                  <c:v>176.0</c:v>
                </c:pt>
                <c:pt idx="3">
                  <c:v>97.0</c:v>
                </c:pt>
              </c:numCache>
            </c:numRef>
          </c:val>
        </c:ser>
        <c:dLbls>
          <c:showLegendKey val="0"/>
          <c:showVal val="0"/>
          <c:showCatName val="0"/>
          <c:showSerName val="0"/>
          <c:showPercent val="0"/>
          <c:showBubbleSize val="0"/>
        </c:dLbls>
        <c:gapWidth val="150"/>
        <c:shape val="box"/>
        <c:axId val="2073177240"/>
        <c:axId val="2074025544"/>
        <c:axId val="0"/>
      </c:bar3DChart>
      <c:catAx>
        <c:axId val="2073177240"/>
        <c:scaling>
          <c:orientation val="minMax"/>
        </c:scaling>
        <c:delete val="0"/>
        <c:axPos val="b"/>
        <c:majorTickMark val="out"/>
        <c:minorTickMark val="none"/>
        <c:tickLblPos val="nextTo"/>
        <c:crossAx val="2074025544"/>
        <c:crosses val="autoZero"/>
        <c:auto val="1"/>
        <c:lblAlgn val="ctr"/>
        <c:lblOffset val="100"/>
        <c:noMultiLvlLbl val="0"/>
      </c:catAx>
      <c:valAx>
        <c:axId val="2074025544"/>
        <c:scaling>
          <c:orientation val="minMax"/>
        </c:scaling>
        <c:delete val="0"/>
        <c:axPos val="l"/>
        <c:majorGridlines/>
        <c:numFmt formatCode="General" sourceLinked="1"/>
        <c:majorTickMark val="out"/>
        <c:minorTickMark val="none"/>
        <c:tickLblPos val="nextTo"/>
        <c:crossAx val="2073177240"/>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9" tIns="46154" rIns="92309" bIns="46154" rtlCol="0"/>
          <a:lstStyle>
            <a:lvl1pPr algn="l">
              <a:defRPr sz="1200"/>
            </a:lvl1pPr>
          </a:lstStyle>
          <a:p>
            <a:endParaRPr lang="en-GB" dirty="0">
              <a:latin typeface="Arial" pitchFamily="34" charset="0"/>
            </a:endParaRPr>
          </a:p>
        </p:txBody>
      </p:sp>
      <p:sp>
        <p:nvSpPr>
          <p:cNvPr id="3" name="Date Placeholder 2"/>
          <p:cNvSpPr>
            <a:spLocks noGrp="1"/>
          </p:cNvSpPr>
          <p:nvPr>
            <p:ph type="dt" sz="quarter" idx="1"/>
          </p:nvPr>
        </p:nvSpPr>
        <p:spPr>
          <a:xfrm>
            <a:off x="3927775" y="0"/>
            <a:ext cx="3004820" cy="461010"/>
          </a:xfrm>
          <a:prstGeom prst="rect">
            <a:avLst/>
          </a:prstGeom>
        </p:spPr>
        <p:txBody>
          <a:bodyPr vert="horz" lIns="92309" tIns="46154" rIns="92309" bIns="46154" rtlCol="0"/>
          <a:lstStyle>
            <a:lvl1pPr algn="r">
              <a:defRPr sz="1200"/>
            </a:lvl1pPr>
          </a:lstStyle>
          <a:p>
            <a:fld id="{29805B2A-1325-41BB-A302-747C5E1CBFAF}" type="datetimeFigureOut">
              <a:rPr lang="en-GB" smtClean="0">
                <a:latin typeface="Arial" pitchFamily="34" charset="0"/>
              </a:rPr>
              <a:pPr/>
              <a:t>6/5/15</a:t>
            </a:fld>
            <a:endParaRPr lang="en-GB" dirty="0">
              <a:latin typeface="Arial" pitchFamily="34" charset="0"/>
            </a:endParaRPr>
          </a:p>
        </p:txBody>
      </p:sp>
      <p:sp>
        <p:nvSpPr>
          <p:cNvPr id="4" name="Footer Placeholder 3"/>
          <p:cNvSpPr>
            <a:spLocks noGrp="1"/>
          </p:cNvSpPr>
          <p:nvPr>
            <p:ph type="ftr" sz="quarter" idx="2"/>
          </p:nvPr>
        </p:nvSpPr>
        <p:spPr>
          <a:xfrm>
            <a:off x="0" y="8757590"/>
            <a:ext cx="3004820" cy="461010"/>
          </a:xfrm>
          <a:prstGeom prst="rect">
            <a:avLst/>
          </a:prstGeom>
        </p:spPr>
        <p:txBody>
          <a:bodyPr vert="horz" lIns="92309" tIns="46154" rIns="92309" bIns="46154" rtlCol="0" anchor="b"/>
          <a:lstStyle>
            <a:lvl1pPr algn="l">
              <a:defRPr sz="1200"/>
            </a:lvl1pPr>
          </a:lstStyle>
          <a:p>
            <a:endParaRPr lang="en-GB" dirty="0">
              <a:latin typeface="Arial" pitchFamily="34" charset="0"/>
            </a:endParaRPr>
          </a:p>
        </p:txBody>
      </p:sp>
      <p:sp>
        <p:nvSpPr>
          <p:cNvPr id="5" name="Slide Number Placeholder 4"/>
          <p:cNvSpPr>
            <a:spLocks noGrp="1"/>
          </p:cNvSpPr>
          <p:nvPr>
            <p:ph type="sldNum" sz="quarter" idx="3"/>
          </p:nvPr>
        </p:nvSpPr>
        <p:spPr>
          <a:xfrm>
            <a:off x="3927775" y="8757590"/>
            <a:ext cx="3004820" cy="461010"/>
          </a:xfrm>
          <a:prstGeom prst="rect">
            <a:avLst/>
          </a:prstGeom>
        </p:spPr>
        <p:txBody>
          <a:bodyPr vert="horz" lIns="92309" tIns="46154" rIns="92309" bIns="46154" rtlCol="0" anchor="b"/>
          <a:lstStyle>
            <a:lvl1pPr algn="r">
              <a:defRPr sz="1200"/>
            </a:lvl1pPr>
          </a:lstStyle>
          <a:p>
            <a:fld id="{9E1F5244-7465-45AC-BF96-44B2F2C48008}" type="slidenum">
              <a:rPr lang="en-GB" smtClean="0">
                <a:latin typeface="Arial" pitchFamily="34" charset="0"/>
              </a:rPr>
              <a:pPr/>
              <a:t>‹#›</a:t>
            </a:fld>
            <a:endParaRPr lang="en-GB" dirty="0">
              <a:latin typeface="Arial" pitchFamily="34" charset="0"/>
            </a:endParaRPr>
          </a:p>
        </p:txBody>
      </p:sp>
    </p:spTree>
    <p:extLst>
      <p:ext uri="{BB962C8B-B14F-4D97-AF65-F5344CB8AC3E}">
        <p14:creationId xmlns:p14="http://schemas.microsoft.com/office/powerpoint/2010/main" val="39622943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9" tIns="46154" rIns="92309" bIns="46154" rtlCol="0"/>
          <a:lstStyle>
            <a:lvl1pPr algn="l">
              <a:defRPr sz="1200">
                <a:latin typeface="Arial" pitchFamily="34" charset="0"/>
              </a:defRPr>
            </a:lvl1pPr>
          </a:lstStyle>
          <a:p>
            <a:endParaRPr lang="en-GB" dirty="0"/>
          </a:p>
        </p:txBody>
      </p:sp>
      <p:sp>
        <p:nvSpPr>
          <p:cNvPr id="3" name="Date Placeholder 2"/>
          <p:cNvSpPr>
            <a:spLocks noGrp="1"/>
          </p:cNvSpPr>
          <p:nvPr>
            <p:ph type="dt" idx="1"/>
          </p:nvPr>
        </p:nvSpPr>
        <p:spPr>
          <a:xfrm>
            <a:off x="3927775" y="0"/>
            <a:ext cx="3004820" cy="461010"/>
          </a:xfrm>
          <a:prstGeom prst="rect">
            <a:avLst/>
          </a:prstGeom>
        </p:spPr>
        <p:txBody>
          <a:bodyPr vert="horz" lIns="92309" tIns="46154" rIns="92309" bIns="46154" rtlCol="0"/>
          <a:lstStyle>
            <a:lvl1pPr algn="r">
              <a:defRPr sz="1200">
                <a:latin typeface="Arial" pitchFamily="34" charset="0"/>
              </a:defRPr>
            </a:lvl1pPr>
          </a:lstStyle>
          <a:p>
            <a:fld id="{6CD4B1C2-1247-4D51-B1B1-12C2C24BAD91}" type="datetimeFigureOut">
              <a:rPr lang="en-GB" smtClean="0"/>
              <a:pPr/>
              <a:t>6/5/15</a:t>
            </a:fld>
            <a:endParaRPr lang="en-GB" dirty="0"/>
          </a:p>
        </p:txBody>
      </p:sp>
      <p:sp>
        <p:nvSpPr>
          <p:cNvPr id="4" name="Slide Image Placeholder 3"/>
          <p:cNvSpPr>
            <a:spLocks noGrp="1" noRot="1" noChangeAspect="1"/>
          </p:cNvSpPr>
          <p:nvPr>
            <p:ph type="sldImg" idx="2"/>
          </p:nvPr>
        </p:nvSpPr>
        <p:spPr>
          <a:xfrm>
            <a:off x="1162050" y="692150"/>
            <a:ext cx="4610100" cy="3457575"/>
          </a:xfrm>
          <a:prstGeom prst="rect">
            <a:avLst/>
          </a:prstGeom>
          <a:noFill/>
          <a:ln w="12700">
            <a:solidFill>
              <a:prstClr val="black"/>
            </a:solidFill>
          </a:ln>
        </p:spPr>
        <p:txBody>
          <a:bodyPr vert="horz" lIns="92309" tIns="46154" rIns="92309" bIns="46154" rtlCol="0" anchor="ctr"/>
          <a:lstStyle/>
          <a:p>
            <a:endParaRPr lang="en-GB"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309" tIns="46154" rIns="92309" bIns="46154"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6" name="Footer Placeholder 5"/>
          <p:cNvSpPr>
            <a:spLocks noGrp="1"/>
          </p:cNvSpPr>
          <p:nvPr>
            <p:ph type="ftr" sz="quarter" idx="4"/>
          </p:nvPr>
        </p:nvSpPr>
        <p:spPr>
          <a:xfrm>
            <a:off x="0" y="8757590"/>
            <a:ext cx="3004820" cy="461010"/>
          </a:xfrm>
          <a:prstGeom prst="rect">
            <a:avLst/>
          </a:prstGeom>
        </p:spPr>
        <p:txBody>
          <a:bodyPr vert="horz" lIns="92309" tIns="46154" rIns="92309" bIns="46154" rtlCol="0" anchor="b"/>
          <a:lstStyle>
            <a:lvl1pPr algn="l">
              <a:defRPr sz="1200">
                <a:latin typeface="Arial" pitchFamily="34" charset="0"/>
              </a:defRPr>
            </a:lvl1pPr>
          </a:lstStyle>
          <a:p>
            <a:endParaRPr lang="en-GB" dirty="0"/>
          </a:p>
        </p:txBody>
      </p:sp>
      <p:sp>
        <p:nvSpPr>
          <p:cNvPr id="7" name="Slide Number Placeholder 6"/>
          <p:cNvSpPr>
            <a:spLocks noGrp="1"/>
          </p:cNvSpPr>
          <p:nvPr>
            <p:ph type="sldNum" sz="quarter" idx="5"/>
          </p:nvPr>
        </p:nvSpPr>
        <p:spPr>
          <a:xfrm>
            <a:off x="3927775" y="8757590"/>
            <a:ext cx="3004820" cy="461010"/>
          </a:xfrm>
          <a:prstGeom prst="rect">
            <a:avLst/>
          </a:prstGeom>
        </p:spPr>
        <p:txBody>
          <a:bodyPr vert="horz" lIns="92309" tIns="46154" rIns="92309" bIns="46154" rtlCol="0" anchor="b"/>
          <a:lstStyle>
            <a:lvl1pPr algn="r">
              <a:defRPr sz="1200">
                <a:latin typeface="Arial" pitchFamily="34" charset="0"/>
              </a:defRPr>
            </a:lvl1pPr>
          </a:lstStyle>
          <a:p>
            <a:fld id="{60571797-1EF7-4BAA-AEE7-6E6EF76D7E1D}" type="slidenum">
              <a:rPr lang="en-GB" smtClean="0"/>
              <a:pPr/>
              <a:t>‹#›</a:t>
            </a:fld>
            <a:endParaRPr lang="en-GB" dirty="0"/>
          </a:p>
        </p:txBody>
      </p:sp>
    </p:spTree>
    <p:extLst>
      <p:ext uri="{BB962C8B-B14F-4D97-AF65-F5344CB8AC3E}">
        <p14:creationId xmlns:p14="http://schemas.microsoft.com/office/powerpoint/2010/main" val="2909445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bit.ly/FOOS2015" TargetMode="External"/><Relationship Id="rId4" Type="http://schemas.openxmlformats.org/officeDocument/2006/relationships/hyperlink" Target="https://hootsuite.com/dashboard" TargetMode="External"/><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Good</a:t>
            </a:r>
            <a:r>
              <a:rPr lang="en-US" baseline="0" dirty="0" smtClean="0"/>
              <a:t> morning. Today we will be discussing some of the key trends, challenges and considerations in managing Open Source Software. I will present for you an introduction to OSS Logistics – Black Duck’s framework for managing OSS within an organization. We will leave time for questions at the end of the presentation, but please feel free to interrupt me if you have questions as we go along.</a:t>
            </a:r>
            <a:endParaRPr lang="en-US" dirty="0"/>
          </a:p>
        </p:txBody>
      </p:sp>
      <p:sp>
        <p:nvSpPr>
          <p:cNvPr id="4" name="Slide Number Placeholder 3"/>
          <p:cNvSpPr>
            <a:spLocks noGrp="1"/>
          </p:cNvSpPr>
          <p:nvPr>
            <p:ph type="sldNum" sz="quarter" idx="10"/>
          </p:nvPr>
        </p:nvSpPr>
        <p:spPr/>
        <p:txBody>
          <a:bodyPr/>
          <a:lstStyle/>
          <a:p>
            <a:fld id="{60571797-1EF7-4BAA-AEE7-6E6EF76D7E1D}" type="slidenum">
              <a:rPr lang="en-GB" smtClean="0"/>
              <a:pPr/>
              <a:t>4</a:t>
            </a:fld>
            <a:endParaRPr lang="en-GB" dirty="0"/>
          </a:p>
        </p:txBody>
      </p:sp>
    </p:spTree>
    <p:extLst>
      <p:ext uri="{BB962C8B-B14F-4D97-AF65-F5344CB8AC3E}">
        <p14:creationId xmlns:p14="http://schemas.microsoft.com/office/powerpoint/2010/main" val="2759125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05805">
              <a:defRPr/>
            </a:pPr>
            <a:r>
              <a:rPr lang="en-US" dirty="0">
                <a:latin typeface="+mn-lt"/>
              </a:rPr>
              <a:t>Hot off the press: 2015 Future Of Open Source Study results! #</a:t>
            </a:r>
            <a:r>
              <a:rPr lang="en-US" dirty="0" err="1">
                <a:latin typeface="+mn-lt"/>
              </a:rPr>
              <a:t>futureOSS</a:t>
            </a:r>
            <a:r>
              <a:rPr lang="en-US" dirty="0">
                <a:latin typeface="+mn-lt"/>
              </a:rPr>
              <a:t> </a:t>
            </a:r>
            <a:r>
              <a:rPr lang="en-US" u="sng" dirty="0">
                <a:latin typeface="+mn-lt"/>
                <a:hlinkClick r:id="rId3"/>
              </a:rPr>
              <a:t>http://bit.ly/FOOS2015</a:t>
            </a:r>
            <a:r>
              <a:rPr lang="en-US" dirty="0">
                <a:latin typeface="+mn-lt"/>
              </a:rPr>
              <a:t>@</a:t>
            </a:r>
            <a:r>
              <a:rPr lang="en-US" u="sng" dirty="0">
                <a:latin typeface="+mn-lt"/>
                <a:hlinkClick r:id="rId4" tooltip="north_bridge"/>
              </a:rPr>
              <a:t>north_bridge</a:t>
            </a:r>
            <a:r>
              <a:rPr lang="en-US" dirty="0">
                <a:latin typeface="+mn-lt"/>
              </a:rPr>
              <a:t> @</a:t>
            </a:r>
            <a:r>
              <a:rPr lang="en-US" u="sng" dirty="0">
                <a:latin typeface="+mn-lt"/>
                <a:hlinkClick r:id="rId4" tooltip="black_duck_sw"/>
              </a:rPr>
              <a:t>black_duck_sw</a:t>
            </a:r>
            <a:r>
              <a:rPr lang="en-US" dirty="0" smtClean="0">
                <a:effectLst/>
              </a:rPr>
              <a:t> </a:t>
            </a:r>
            <a:endParaRPr lang="en-US" dirty="0" smtClean="0">
              <a:solidFill>
                <a:schemeClr val="tx1"/>
              </a:solidFill>
            </a:endParaRPr>
          </a:p>
        </p:txBody>
      </p:sp>
      <p:sp>
        <p:nvSpPr>
          <p:cNvPr id="4" name="Slide Number Placeholder 3"/>
          <p:cNvSpPr>
            <a:spLocks noGrp="1"/>
          </p:cNvSpPr>
          <p:nvPr>
            <p:ph type="sldNum" sz="quarter" idx="10"/>
          </p:nvPr>
        </p:nvSpPr>
        <p:spPr/>
        <p:txBody>
          <a:bodyPr/>
          <a:lstStyle/>
          <a:p>
            <a:fld id="{9E733EB0-FA74-4ED7-9609-1EE19B12E173}" type="slidenum">
              <a:rPr lang="en-US" smtClean="0">
                <a:solidFill>
                  <a:prstClr val="black"/>
                </a:solidFill>
                <a:latin typeface="Calibri"/>
              </a:rPr>
              <a:pPr/>
              <a:t>6</a:t>
            </a:fld>
            <a:endParaRPr lang="en-US">
              <a:solidFill>
                <a:prstClr val="black"/>
              </a:solidFill>
              <a:latin typeface="Calibri"/>
            </a:endParaRPr>
          </a:p>
        </p:txBody>
      </p:sp>
    </p:spTree>
    <p:extLst>
      <p:ext uri="{BB962C8B-B14F-4D97-AF65-F5344CB8AC3E}">
        <p14:creationId xmlns:p14="http://schemas.microsoft.com/office/powerpoint/2010/main" val="1076382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05805">
              <a:defRPr/>
            </a:pPr>
            <a:endParaRPr lang="en-US" dirty="0" smtClean="0">
              <a:solidFill>
                <a:schemeClr val="tx1"/>
              </a:solidFill>
            </a:endParaRPr>
          </a:p>
        </p:txBody>
      </p:sp>
      <p:sp>
        <p:nvSpPr>
          <p:cNvPr id="4" name="Slide Number Placeholder 3"/>
          <p:cNvSpPr>
            <a:spLocks noGrp="1"/>
          </p:cNvSpPr>
          <p:nvPr>
            <p:ph type="sldNum" sz="quarter" idx="10"/>
          </p:nvPr>
        </p:nvSpPr>
        <p:spPr/>
        <p:txBody>
          <a:bodyPr/>
          <a:lstStyle/>
          <a:p>
            <a:fld id="{9E733EB0-FA74-4ED7-9609-1EE19B12E173}" type="slidenum">
              <a:rPr lang="en-US" smtClean="0">
                <a:solidFill>
                  <a:prstClr val="black"/>
                </a:solidFill>
                <a:latin typeface="Calibri"/>
              </a:rPr>
              <a:pPr/>
              <a:t>7</a:t>
            </a:fld>
            <a:endParaRPr lang="en-US">
              <a:solidFill>
                <a:prstClr val="black"/>
              </a:solidFill>
              <a:latin typeface="Calibri"/>
            </a:endParaRPr>
          </a:p>
        </p:txBody>
      </p:sp>
    </p:spTree>
    <p:extLst>
      <p:ext uri="{BB962C8B-B14F-4D97-AF65-F5344CB8AC3E}">
        <p14:creationId xmlns:p14="http://schemas.microsoft.com/office/powerpoint/2010/main" val="1076382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E733EB0-FA74-4ED7-9609-1EE19B12E173}" type="slidenum">
              <a:rPr lang="en-US" smtClean="0">
                <a:solidFill>
                  <a:prstClr val="black"/>
                </a:solidFill>
                <a:latin typeface="Calibri"/>
              </a:rPr>
              <a:pPr/>
              <a:t>8</a:t>
            </a:fld>
            <a:endParaRPr lang="en-US">
              <a:solidFill>
                <a:prstClr val="black"/>
              </a:solidFill>
              <a:latin typeface="Calibri"/>
            </a:endParaRPr>
          </a:p>
        </p:txBody>
      </p:sp>
    </p:spTree>
    <p:extLst>
      <p:ext uri="{BB962C8B-B14F-4D97-AF65-F5344CB8AC3E}">
        <p14:creationId xmlns:p14="http://schemas.microsoft.com/office/powerpoint/2010/main" val="2382571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solidFill>
                <a:srgbClr val="FF0000"/>
              </a:solidFill>
            </a:endParaRPr>
          </a:p>
        </p:txBody>
      </p:sp>
      <p:sp>
        <p:nvSpPr>
          <p:cNvPr id="4" name="Slide Number Placeholder 3"/>
          <p:cNvSpPr>
            <a:spLocks noGrp="1"/>
          </p:cNvSpPr>
          <p:nvPr>
            <p:ph type="sldNum" sz="quarter" idx="10"/>
          </p:nvPr>
        </p:nvSpPr>
        <p:spPr/>
        <p:txBody>
          <a:bodyPr/>
          <a:lstStyle/>
          <a:p>
            <a:fld id="{9E733EB0-FA74-4ED7-9609-1EE19B12E173}" type="slidenum">
              <a:rPr lang="en-US" smtClean="0">
                <a:solidFill>
                  <a:prstClr val="black"/>
                </a:solidFill>
                <a:latin typeface="Calibri"/>
              </a:rPr>
              <a:pPr/>
              <a:t>9</a:t>
            </a:fld>
            <a:endParaRPr lang="en-US">
              <a:solidFill>
                <a:prstClr val="black"/>
              </a:solidFill>
              <a:latin typeface="Calibri"/>
            </a:endParaRPr>
          </a:p>
        </p:txBody>
      </p:sp>
    </p:spTree>
    <p:extLst>
      <p:ext uri="{BB962C8B-B14F-4D97-AF65-F5344CB8AC3E}">
        <p14:creationId xmlns:p14="http://schemas.microsoft.com/office/powerpoint/2010/main" val="3529773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E733EB0-FA74-4ED7-9609-1EE19B12E173}" type="slidenum">
              <a:rPr lang="en-US" smtClean="0">
                <a:solidFill>
                  <a:prstClr val="black"/>
                </a:solidFill>
                <a:latin typeface="Calibri"/>
              </a:rPr>
              <a:pPr/>
              <a:t>10</a:t>
            </a:fld>
            <a:endParaRPr lang="en-US">
              <a:solidFill>
                <a:prstClr val="black"/>
              </a:solidFill>
              <a:latin typeface="Calibri"/>
            </a:endParaRPr>
          </a:p>
        </p:txBody>
      </p:sp>
    </p:spTree>
    <p:extLst>
      <p:ext uri="{BB962C8B-B14F-4D97-AF65-F5344CB8AC3E}">
        <p14:creationId xmlns:p14="http://schemas.microsoft.com/office/powerpoint/2010/main" val="3487162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“Every motivation that makes a person do something can be classified under "survival", "social life" or "entertainment”. As a result, progress is defined as reaching a higher category; that is, not doing a thing merely for survival, but for social reasons, and then, even better, just for fun – Linus </a:t>
            </a:r>
            <a:r>
              <a:rPr lang="en-US" dirty="0" err="1" smtClean="0"/>
              <a:t>Torlvald</a:t>
            </a:r>
            <a:r>
              <a:rPr lang="en-US" dirty="0" smtClean="0"/>
              <a:t>, The Hacker Ethic and the Spirit</a:t>
            </a:r>
            <a:r>
              <a:rPr lang="en-US" baseline="0" dirty="0" smtClean="0"/>
              <a:t> of the Information Ag</a:t>
            </a:r>
            <a:endParaRPr lang="en-US" dirty="0"/>
          </a:p>
        </p:txBody>
      </p:sp>
      <p:sp>
        <p:nvSpPr>
          <p:cNvPr id="4" name="Slide Number Placeholder 3"/>
          <p:cNvSpPr>
            <a:spLocks noGrp="1"/>
          </p:cNvSpPr>
          <p:nvPr>
            <p:ph type="sldNum" sz="quarter" idx="10"/>
          </p:nvPr>
        </p:nvSpPr>
        <p:spPr/>
        <p:txBody>
          <a:bodyPr/>
          <a:lstStyle/>
          <a:p>
            <a:fld id="{60571797-1EF7-4BAA-AEE7-6E6EF76D7E1D}" type="slidenum">
              <a:rPr lang="en-GB" smtClean="0"/>
              <a:pPr/>
              <a:t>18</a:t>
            </a:fld>
            <a:endParaRPr lang="en-GB" dirty="0"/>
          </a:p>
        </p:txBody>
      </p:sp>
    </p:spTree>
    <p:extLst>
      <p:ext uri="{BB962C8B-B14F-4D97-AF65-F5344CB8AC3E}">
        <p14:creationId xmlns:p14="http://schemas.microsoft.com/office/powerpoint/2010/main" val="1581569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Code Quality Tools</a:t>
            </a:r>
          </a:p>
          <a:p>
            <a:pPr marL="171450" indent="-171450">
              <a:buFontTx/>
              <a:buChar char="-"/>
            </a:pPr>
            <a:r>
              <a:rPr lang="en-US" dirty="0" smtClean="0"/>
              <a:t>Over half of all vulnerabilities come from basic programming errors and s/w faults</a:t>
            </a:r>
          </a:p>
          <a:p>
            <a:pPr marL="171450" indent="-171450">
              <a:buFontTx/>
              <a:buChar char="-"/>
            </a:pPr>
            <a:r>
              <a:rPr lang="en-US" dirty="0" smtClean="0"/>
              <a:t>Black Duck OSS security participates</a:t>
            </a:r>
            <a:r>
              <a:rPr lang="en-US" baseline="0" dirty="0" smtClean="0"/>
              <a:t> in code quality by highlighting need to update to newer, higher-quality versions of OSS projects</a:t>
            </a:r>
          </a:p>
          <a:p>
            <a:pPr marL="0" indent="0">
              <a:buFontTx/>
              <a:buNone/>
            </a:pPr>
            <a:r>
              <a:rPr lang="en-US" baseline="0" dirty="0" smtClean="0"/>
              <a:t>Patch / Update Management</a:t>
            </a:r>
          </a:p>
          <a:p>
            <a:pPr marL="171450" indent="-171450">
              <a:buFontTx/>
              <a:buChar char="-"/>
            </a:pPr>
            <a:r>
              <a:rPr lang="en-US" baseline="0" dirty="0" smtClean="0"/>
              <a:t>Modern enterprise and embedded systems and applications include field update capabilities</a:t>
            </a:r>
          </a:p>
          <a:p>
            <a:pPr marL="171450" indent="-171450">
              <a:buFontTx/>
              <a:buChar char="-"/>
            </a:pPr>
            <a:r>
              <a:rPr lang="en-US" baseline="0" dirty="0" smtClean="0"/>
              <a:t>Black Duck OSS security helps OEMs, SPs and end-users integrate the latest and most secure versions of OSS technologies in patch sets and updates</a:t>
            </a:r>
          </a:p>
          <a:p>
            <a:pPr marL="0" indent="0">
              <a:buFontTx/>
              <a:buNone/>
            </a:pPr>
            <a:r>
              <a:rPr lang="en-US" baseline="0" dirty="0" smtClean="0"/>
              <a:t>Configuration Management</a:t>
            </a:r>
          </a:p>
          <a:p>
            <a:pPr marL="0" indent="0">
              <a:buFontTx/>
              <a:buNone/>
            </a:pPr>
            <a:r>
              <a:rPr lang="en-US" baseline="0" dirty="0" smtClean="0"/>
              <a:t>-   Many vulnerabilities and exploits leverage poorly configured systems and applications</a:t>
            </a:r>
          </a:p>
          <a:p>
            <a:pPr marL="171450" indent="-171450">
              <a:buFontTx/>
              <a:buChar char="-"/>
            </a:pPr>
            <a:r>
              <a:rPr lang="en-US" baseline="0" dirty="0" smtClean="0"/>
              <a:t>Black Duck OSS security helps integrators and others ensure that current configurations include the most up-to-date OSS s/w components</a:t>
            </a:r>
          </a:p>
          <a:p>
            <a:pPr marL="0" indent="0">
              <a:buFontTx/>
              <a:buNone/>
            </a:pPr>
            <a:r>
              <a:rPr lang="en-US" dirty="0" smtClean="0"/>
              <a:t>Policy Enforcement</a:t>
            </a:r>
          </a:p>
          <a:p>
            <a:pPr marL="171450" indent="-171450">
              <a:buFontTx/>
              <a:buChar char="-"/>
            </a:pPr>
            <a:r>
              <a:rPr lang="en-US" baseline="0" dirty="0" smtClean="0"/>
              <a:t>Security policy extends from production systems back to development and build</a:t>
            </a:r>
          </a:p>
          <a:p>
            <a:pPr marL="171450" indent="-171450">
              <a:buFontTx/>
              <a:buChar char="-"/>
            </a:pPr>
            <a:r>
              <a:rPr lang="en-US" baseline="0" dirty="0" smtClean="0"/>
              <a:t>Black Duck OSS security ensures that only policy-compliant versions of OSS components are integrated into </a:t>
            </a:r>
            <a:r>
              <a:rPr lang="en-US" baseline="0" smtClean="0"/>
              <a:t>production software</a:t>
            </a:r>
            <a:endParaRPr lang="en-US" dirty="0"/>
          </a:p>
        </p:txBody>
      </p:sp>
      <p:sp>
        <p:nvSpPr>
          <p:cNvPr id="4" name="Slide Number Placeholder 3"/>
          <p:cNvSpPr>
            <a:spLocks noGrp="1"/>
          </p:cNvSpPr>
          <p:nvPr>
            <p:ph type="sldNum" sz="quarter" idx="10"/>
          </p:nvPr>
        </p:nvSpPr>
        <p:spPr/>
        <p:txBody>
          <a:bodyPr/>
          <a:lstStyle/>
          <a:p>
            <a:fld id="{60571797-1EF7-4BAA-AEE7-6E6EF76D7E1D}" type="slidenum">
              <a:rPr lang="en-GB" smtClean="0"/>
              <a:pPr/>
              <a:t>30</a:t>
            </a:fld>
            <a:endParaRPr lang="en-GB" dirty="0"/>
          </a:p>
        </p:txBody>
      </p:sp>
    </p:spTree>
    <p:extLst>
      <p:ext uri="{BB962C8B-B14F-4D97-AF65-F5344CB8AC3E}">
        <p14:creationId xmlns:p14="http://schemas.microsoft.com/office/powerpoint/2010/main" val="695121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walkthrough of Build Flow diagram</a:t>
            </a:r>
          </a:p>
          <a:p>
            <a:endParaRPr lang="en-US" dirty="0" smtClean="0"/>
          </a:p>
          <a:p>
            <a:r>
              <a:rPr lang="en-US" dirty="0" smtClean="0"/>
              <a:t>which factors are most important to </a:t>
            </a:r>
            <a:r>
              <a:rPr lang="en-US" dirty="0" err="1" smtClean="0"/>
              <a:t>T.Rowe</a:t>
            </a:r>
            <a:r>
              <a:rPr lang="en-US" dirty="0" smtClean="0"/>
              <a:t> Price in choosing a build automation platform?</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CFD97CFA-A6A2-4C7C-AC0D-B26E3F3ECAA2}" type="slidenum">
              <a:rPr lang="en-US" smtClean="0"/>
              <a:t>33</a:t>
            </a:fld>
            <a:endParaRPr lang="en-US"/>
          </a:p>
        </p:txBody>
      </p:sp>
    </p:spTree>
    <p:extLst>
      <p:ext uri="{BB962C8B-B14F-4D97-AF65-F5344CB8AC3E}">
        <p14:creationId xmlns:p14="http://schemas.microsoft.com/office/powerpoint/2010/main" val="4172615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walkthrough of Build Flow diagram</a:t>
            </a:r>
          </a:p>
          <a:p>
            <a:endParaRPr lang="en-US" dirty="0" smtClean="0"/>
          </a:p>
          <a:p>
            <a:r>
              <a:rPr lang="en-US" dirty="0" smtClean="0"/>
              <a:t>which factors are most important to </a:t>
            </a:r>
            <a:r>
              <a:rPr lang="en-US" dirty="0" err="1" smtClean="0"/>
              <a:t>T.Rowe</a:t>
            </a:r>
            <a:r>
              <a:rPr lang="en-US" dirty="0" smtClean="0"/>
              <a:t> Price in choosing a build automation platform?</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CFD97CFA-A6A2-4C7C-AC0D-B26E3F3ECAA2}" type="slidenum">
              <a:rPr lang="en-US" smtClean="0"/>
              <a:t>34</a:t>
            </a:fld>
            <a:endParaRPr lang="en-US"/>
          </a:p>
        </p:txBody>
      </p:sp>
    </p:spTree>
    <p:extLst>
      <p:ext uri="{BB962C8B-B14F-4D97-AF65-F5344CB8AC3E}">
        <p14:creationId xmlns:p14="http://schemas.microsoft.com/office/powerpoint/2010/main" val="4172615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slide demonstrates that BDS can be used across all stages of the SDL, including after release w/o additional testing, while other testing tools are limited to specific phases of the SDL  The next slide shows details</a:t>
            </a:r>
            <a:endParaRPr lang="en-US" dirty="0"/>
          </a:p>
        </p:txBody>
      </p:sp>
      <p:sp>
        <p:nvSpPr>
          <p:cNvPr id="4" name="Slide Number Placeholder 3"/>
          <p:cNvSpPr>
            <a:spLocks noGrp="1"/>
          </p:cNvSpPr>
          <p:nvPr>
            <p:ph type="sldNum" sz="quarter" idx="10"/>
          </p:nvPr>
        </p:nvSpPr>
        <p:spPr/>
        <p:txBody>
          <a:bodyPr/>
          <a:lstStyle/>
          <a:p>
            <a:fld id="{4793BB3B-1721-734A-A3EA-BAAE32B04BF0}" type="slidenum">
              <a:rPr lang="en-US" smtClean="0"/>
              <a:t>35</a:t>
            </a:fld>
            <a:endParaRPr lang="en-US"/>
          </a:p>
        </p:txBody>
      </p:sp>
    </p:spTree>
    <p:extLst>
      <p:ext uri="{BB962C8B-B14F-4D97-AF65-F5344CB8AC3E}">
        <p14:creationId xmlns:p14="http://schemas.microsoft.com/office/powerpoint/2010/main" val="847336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Identify the open source code your company has in use. Before you can begin remediating vulnerabilities, you have to gather and maintain a knowledge of what components you have in use and where. Automated code scanning tools that produce a software BoM or “Bill of Materials” – i.e. a listing of open source components and versions contained in an application – are the best approach for organizations seeking a thorough evaluation of their code bases.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Discover known vulnerabilities present in your open source code. There are resources, like the U.S. Government’s National Vulnerability Database (NVD), that track and publically report on security vulnerabilities for all types of software. Yet, more comprehensive and timely notifications can be provided through automated tools that can map vulnerabilities from sources like the NVD and </a:t>
            </a:r>
            <a:r>
              <a:rPr lang="en-US" dirty="0" err="1" smtClean="0"/>
              <a:t>VulnDB</a:t>
            </a:r>
            <a:r>
              <a:rPr lang="en-US" dirty="0" smtClean="0"/>
              <a:t>, directly to the code your company is using in its applications via the BoM.</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Assess and remediate components with vulnerabilities. Every organization is going to have a different approach to assessing potential threats and determining those that require immediate remediation. Developing a triage model can help security teams quickly prioritize vulnerabilities based on criteria such as the severity or exploitability of the vulnerability in conjunction with the sensitivity of the applications impacted.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Monitor for new vulnerabilities. A security professional’s work is never done. Once a vulnerability is quickly and properly patched and remediated, another is likely on the horizon posing a potentially more damaging threat. Continuous, automated scans of applications under development can identify open source entering the code base and ensure that vulnerabilities aren’t being unknowingly introduced along with it. In addition, by monitoring for newly disclosed vulnerabilities and having the ability to immediately assess their impact across your code base will help your company’s security, compliance, and development teams gain peace of mind knowing they are actively managing security threats.</a:t>
            </a:r>
          </a:p>
          <a:p>
            <a:endParaRPr lang="en-US" dirty="0"/>
          </a:p>
        </p:txBody>
      </p:sp>
      <p:sp>
        <p:nvSpPr>
          <p:cNvPr id="4" name="Slide Number Placeholder 3"/>
          <p:cNvSpPr>
            <a:spLocks noGrp="1"/>
          </p:cNvSpPr>
          <p:nvPr>
            <p:ph type="sldNum" sz="quarter" idx="10"/>
          </p:nvPr>
        </p:nvSpPr>
        <p:spPr/>
        <p:txBody>
          <a:bodyPr/>
          <a:lstStyle/>
          <a:p>
            <a:fld id="{60571797-1EF7-4BAA-AEE7-6E6EF76D7E1D}" type="slidenum">
              <a:rPr lang="en-GB" smtClean="0"/>
              <a:pPr/>
              <a:t>38</a:t>
            </a:fld>
            <a:endParaRPr lang="en-GB" dirty="0"/>
          </a:p>
        </p:txBody>
      </p:sp>
    </p:spTree>
    <p:extLst>
      <p:ext uri="{BB962C8B-B14F-4D97-AF65-F5344CB8AC3E}">
        <p14:creationId xmlns:p14="http://schemas.microsoft.com/office/powerpoint/2010/main" val="963336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571797-1EF7-4BAA-AEE7-6E6EF76D7E1D}" type="slidenum">
              <a:rPr lang="en-GB" smtClean="0"/>
              <a:pPr/>
              <a:t>41</a:t>
            </a:fld>
            <a:endParaRPr lang="en-GB" dirty="0"/>
          </a:p>
        </p:txBody>
      </p:sp>
    </p:spTree>
    <p:extLst>
      <p:ext uri="{BB962C8B-B14F-4D97-AF65-F5344CB8AC3E}">
        <p14:creationId xmlns:p14="http://schemas.microsoft.com/office/powerpoint/2010/main" val="664567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571797-1EF7-4BAA-AEE7-6E6EF76D7E1D}" type="slidenum">
              <a:rPr lang="en-GB" smtClean="0"/>
              <a:pPr/>
              <a:t>42</a:t>
            </a:fld>
            <a:endParaRPr lang="en-GB" dirty="0"/>
          </a:p>
        </p:txBody>
      </p:sp>
    </p:spTree>
    <p:extLst>
      <p:ext uri="{BB962C8B-B14F-4D97-AF65-F5344CB8AC3E}">
        <p14:creationId xmlns:p14="http://schemas.microsoft.com/office/powerpoint/2010/main" val="3929416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E733EB0-FA74-4ED7-9609-1EE19B12E173}" type="slidenum">
              <a:rPr lang="en-US" smtClean="0">
                <a:solidFill>
                  <a:prstClr val="black"/>
                </a:solidFill>
                <a:latin typeface="Calibri"/>
              </a:rPr>
              <a:pPr/>
              <a:t>45</a:t>
            </a:fld>
            <a:endParaRPr lang="en-US">
              <a:solidFill>
                <a:prstClr val="black"/>
              </a:solidFill>
              <a:latin typeface="Calibri"/>
            </a:endParaRPr>
          </a:p>
        </p:txBody>
      </p:sp>
    </p:spTree>
    <p:extLst>
      <p:ext uri="{BB962C8B-B14F-4D97-AF65-F5344CB8AC3E}">
        <p14:creationId xmlns:p14="http://schemas.microsoft.com/office/powerpoint/2010/main" val="26643420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jpeg"/><Relationship Id="rId5" Type="http://schemas.microsoft.com/office/2007/relationships/hdphoto" Target="../media/hdphoto1.wdp"/><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03063" y="4581128"/>
            <a:ext cx="7369922" cy="936104"/>
          </a:xfrm>
        </p:spPr>
        <p:txBody>
          <a:bodyPr anchor="b">
            <a:normAutofit/>
          </a:bodyPr>
          <a:lstStyle>
            <a:lvl1pPr algn="ctr">
              <a:defRPr sz="2400" b="1" i="0" baseline="0">
                <a:solidFill>
                  <a:srgbClr val="3F3F3F"/>
                </a:solidFill>
                <a:effectLst/>
                <a:latin typeface="Open Sans Light"/>
                <a:cs typeface="Open Sans Light"/>
              </a:defRPr>
            </a:lvl1pPr>
          </a:lstStyle>
          <a:p>
            <a:r>
              <a:rPr lang="en-US" dirty="0" smtClean="0"/>
              <a:t>CLICK TO EDIT MASTER TITLE STYLE</a:t>
            </a:r>
            <a:endParaRPr lang="en-GB" dirty="0"/>
          </a:p>
        </p:txBody>
      </p:sp>
      <p:sp>
        <p:nvSpPr>
          <p:cNvPr id="3" name="Subtitle 2"/>
          <p:cNvSpPr>
            <a:spLocks noGrp="1"/>
          </p:cNvSpPr>
          <p:nvPr>
            <p:ph type="subTitle" idx="1"/>
          </p:nvPr>
        </p:nvSpPr>
        <p:spPr>
          <a:xfrm>
            <a:off x="1098609" y="5589240"/>
            <a:ext cx="7374816" cy="892274"/>
          </a:xfrm>
        </p:spPr>
        <p:txBody>
          <a:bodyPr>
            <a:normAutofit/>
          </a:bodyPr>
          <a:lstStyle>
            <a:lvl1pPr marL="0" indent="0" algn="ctr">
              <a:buNone/>
              <a:defRPr sz="2000" b="0" i="0">
                <a:solidFill>
                  <a:schemeClr val="bg1">
                    <a:lumMod val="50000"/>
                  </a:schemeClr>
                </a:solidFill>
                <a:latin typeface="Open Sans Light"/>
                <a:cs typeface="Open Sans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pic>
        <p:nvPicPr>
          <p:cNvPr id="21" name="Picture 20" descr="Black_Duck_Logo.png"/>
          <p:cNvPicPr>
            <a:picLocks noChangeAspect="1"/>
          </p:cNvPicPr>
          <p:nvPr userDrawn="1"/>
        </p:nvPicPr>
        <p:blipFill>
          <a:blip r:embed="rId2" cstate="print"/>
          <a:stretch>
            <a:fillRect/>
          </a:stretch>
        </p:blipFill>
        <p:spPr>
          <a:xfrm>
            <a:off x="395536" y="260648"/>
            <a:ext cx="1989740" cy="441798"/>
          </a:xfrm>
          <a:prstGeom prst="rect">
            <a:avLst/>
          </a:prstGeom>
        </p:spPr>
      </p:pic>
      <p:sp>
        <p:nvSpPr>
          <p:cNvPr id="8" name="TextBox 7"/>
          <p:cNvSpPr txBox="1"/>
          <p:nvPr userDrawn="1"/>
        </p:nvSpPr>
        <p:spPr>
          <a:xfrm>
            <a:off x="5364088" y="6597352"/>
            <a:ext cx="3657600" cy="192666"/>
          </a:xfrm>
          <a:prstGeom prst="rect">
            <a:avLst/>
          </a:prstGeom>
          <a:noFill/>
        </p:spPr>
        <p:txBody>
          <a:bodyPr wrap="square" lIns="36000" tIns="36000" rIns="36000" bIns="36000" rtlCol="0">
            <a:norm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700" kern="1200" dirty="0" smtClean="0">
                <a:solidFill>
                  <a:schemeClr val="tx1"/>
                </a:solidFill>
                <a:latin typeface="Open Sans Light"/>
                <a:ea typeface="+mn-ea"/>
                <a:cs typeface="Open Sans Light"/>
              </a:rPr>
              <a:t>© 2014 Black Duck Software, Inc.  Proprietary &amp; Confidential All Rights Reserved.</a:t>
            </a:r>
            <a:endParaRPr lang="en-GB" sz="700" kern="1200" dirty="0" smtClean="0">
              <a:solidFill>
                <a:schemeClr val="tx1"/>
              </a:solidFill>
              <a:latin typeface="Open Sans Light"/>
              <a:ea typeface="+mn-ea"/>
              <a:cs typeface="Open Sans Light"/>
            </a:endParaRPr>
          </a:p>
          <a:p>
            <a:pPr algn="r"/>
            <a:endParaRPr lang="en-US" sz="1050" dirty="0" err="1" smtClean="0">
              <a:latin typeface="Franklin Gothic Book" pitchFamily="34" charset="0"/>
            </a:endParaRPr>
          </a:p>
        </p:txBody>
      </p:sp>
      <p:pic>
        <p:nvPicPr>
          <p:cNvPr id="11" name="Picture 10" descr="Mascot_K85_BDdarkGray.png"/>
          <p:cNvPicPr>
            <a:picLocks noChangeAspect="1"/>
          </p:cNvPicPr>
          <p:nvPr userDrawn="1"/>
        </p:nvPicPr>
        <p:blipFill>
          <a:blip r:embed="rId3" cstate="print">
            <a:duotone>
              <a:prstClr val="black"/>
              <a:schemeClr val="accent1">
                <a:tint val="45000"/>
                <a:satMod val="400000"/>
              </a:schemeClr>
            </a:duotone>
          </a:blip>
          <a:stretch>
            <a:fillRect/>
          </a:stretch>
        </p:blipFill>
        <p:spPr>
          <a:xfrm>
            <a:off x="1475656" y="1556792"/>
            <a:ext cx="259380" cy="188640"/>
          </a:xfrm>
          <a:prstGeom prst="rect">
            <a:avLst/>
          </a:prstGeom>
        </p:spPr>
      </p:pic>
      <p:pic>
        <p:nvPicPr>
          <p:cNvPr id="7" name="Picture 6" descr="35862198_thumbnail.jpg"/>
          <p:cNvPicPr>
            <a:picLocks noChangeAspect="1"/>
          </p:cNvPicPr>
          <p:nvPr userDrawn="1"/>
        </p:nvPicPr>
        <p:blipFill rotWithShape="1">
          <a:blip r:embed="rId4" cstate="print">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30753" b="29150"/>
          <a:stretch/>
        </p:blipFill>
        <p:spPr>
          <a:xfrm>
            <a:off x="0" y="967497"/>
            <a:ext cx="9144000" cy="3666423"/>
          </a:xfrm>
          <a:prstGeom prst="rect">
            <a:avLst/>
          </a:prstGeom>
        </p:spPr>
      </p:pic>
    </p:spTree>
    <p:extLst>
      <p:ext uri="{BB962C8B-B14F-4D97-AF65-F5344CB8AC3E}">
        <p14:creationId xmlns:p14="http://schemas.microsoft.com/office/powerpoint/2010/main" val="3515043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1520" y="192024"/>
            <a:ext cx="6912768" cy="576362"/>
          </a:xfrm>
        </p:spPr>
        <p:txBody>
          <a:bodyPr>
            <a:normAutofit/>
          </a:bodyPr>
          <a:lstStyle>
            <a:lvl1pPr>
              <a:defRPr sz="2400">
                <a:latin typeface="Open Sans Light"/>
                <a:cs typeface="Open Sans Light"/>
              </a:defRPr>
            </a:lvl1pPr>
          </a:lstStyle>
          <a:p>
            <a:r>
              <a:rPr lang="en-US" smtClean="0"/>
              <a:t>Click to edit Master title style</a:t>
            </a:r>
            <a:endParaRPr lang="en-GB" dirty="0"/>
          </a:p>
        </p:txBody>
      </p:sp>
      <p:sp>
        <p:nvSpPr>
          <p:cNvPr id="13" name="Text Placeholder 2"/>
          <p:cNvSpPr>
            <a:spLocks noGrp="1"/>
          </p:cNvSpPr>
          <p:nvPr>
            <p:ph idx="1"/>
          </p:nvPr>
        </p:nvSpPr>
        <p:spPr>
          <a:xfrm>
            <a:off x="250825" y="1051560"/>
            <a:ext cx="8642349" cy="5328591"/>
          </a:xfrm>
          <a:prstGeom prst="rect">
            <a:avLst/>
          </a:prstGeom>
        </p:spPr>
        <p:txBody>
          <a:bodyPr vert="horz" lIns="91440" tIns="45720" rIns="91440" bIns="45720" rtlCol="0">
            <a:normAutofit/>
          </a:bodyPr>
          <a:lstStyle>
            <a:lvl1pPr>
              <a:defRPr sz="2200">
                <a:latin typeface="Open Sans Light"/>
                <a:cs typeface="Open Sans Light"/>
              </a:defRPr>
            </a:lvl1pPr>
            <a:lvl2pPr>
              <a:defRPr sz="1800">
                <a:latin typeface="Open Sans Light"/>
                <a:cs typeface="Open Sans Light"/>
              </a:defRPr>
            </a:lvl2pPr>
            <a:lvl3pPr>
              <a:defRPr sz="1600">
                <a:latin typeface="Open Sans Light"/>
                <a:cs typeface="Open Sans Light"/>
              </a:defRPr>
            </a:lvl3pPr>
            <a:lvl4pPr>
              <a:defRPr sz="1400">
                <a:latin typeface="Open Sans Light"/>
                <a:cs typeface="Open Sans Light"/>
              </a:defRPr>
            </a:lvl4pPr>
            <a:lvl5pPr>
              <a:defRPr sz="1400">
                <a:latin typeface="Open Sans Light"/>
                <a:cs typeface="Open Sans Ligh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3588404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Segue wid slide">
    <p:spTree>
      <p:nvGrpSpPr>
        <p:cNvPr id="1" name=""/>
        <p:cNvGrpSpPr/>
        <p:nvPr/>
      </p:nvGrpSpPr>
      <p:grpSpPr>
        <a:xfrm>
          <a:off x="0" y="0"/>
          <a:ext cx="0" cy="0"/>
          <a:chOff x="0" y="0"/>
          <a:chExt cx="0" cy="0"/>
        </a:xfrm>
      </p:grpSpPr>
      <p:sp>
        <p:nvSpPr>
          <p:cNvPr id="4" name="Rectangle 3"/>
          <p:cNvSpPr/>
          <p:nvPr userDrawn="1"/>
        </p:nvSpPr>
        <p:spPr>
          <a:xfrm>
            <a:off x="-36512" y="0"/>
            <a:ext cx="9180512" cy="6875712"/>
          </a:xfrm>
          <a:prstGeom prst="rect">
            <a:avLst/>
          </a:prstGeom>
          <a:solidFill>
            <a:srgbClr val="008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    </a:t>
            </a:r>
            <a:endParaRPr lang="en-US" dirty="0"/>
          </a:p>
        </p:txBody>
      </p:sp>
      <p:pic>
        <p:nvPicPr>
          <p:cNvPr id="18" name="Picture 17" descr="Black_Duck_Logo_White.png"/>
          <p:cNvPicPr>
            <a:picLocks noChangeAspect="1"/>
          </p:cNvPicPr>
          <p:nvPr userDrawn="1"/>
        </p:nvPicPr>
        <p:blipFill>
          <a:blip r:embed="rId2" cstate="print"/>
          <a:stretch>
            <a:fillRect/>
          </a:stretch>
        </p:blipFill>
        <p:spPr>
          <a:xfrm>
            <a:off x="7193772" y="6008132"/>
            <a:ext cx="1881842" cy="1129105"/>
          </a:xfrm>
          <a:prstGeom prst="rect">
            <a:avLst/>
          </a:prstGeom>
        </p:spPr>
      </p:pic>
      <p:sp>
        <p:nvSpPr>
          <p:cNvPr id="2" name="Title 1"/>
          <p:cNvSpPr>
            <a:spLocks noGrp="1"/>
          </p:cNvSpPr>
          <p:nvPr>
            <p:ph type="ctrTitle"/>
          </p:nvPr>
        </p:nvSpPr>
        <p:spPr>
          <a:xfrm>
            <a:off x="171670" y="2338020"/>
            <a:ext cx="6048672" cy="1180306"/>
          </a:xfrm>
        </p:spPr>
        <p:txBody>
          <a:bodyPr anchor="b">
            <a:normAutofit/>
          </a:bodyPr>
          <a:lstStyle>
            <a:lvl1pPr algn="l">
              <a:defRPr sz="3200" b="0" baseline="0">
                <a:solidFill>
                  <a:schemeClr val="bg1"/>
                </a:solidFill>
                <a:effectLst/>
                <a:latin typeface="Open Sans Light"/>
                <a:cs typeface="Open Sans Light"/>
              </a:defRPr>
            </a:lvl1pPr>
          </a:lstStyle>
          <a:p>
            <a:r>
              <a:rPr lang="en-US" smtClean="0"/>
              <a:t>Click to edit Master title style</a:t>
            </a:r>
            <a:endParaRPr lang="en-GB" dirty="0"/>
          </a:p>
        </p:txBody>
      </p:sp>
      <p:sp>
        <p:nvSpPr>
          <p:cNvPr id="3" name="Subtitle 2"/>
          <p:cNvSpPr>
            <a:spLocks noGrp="1"/>
          </p:cNvSpPr>
          <p:nvPr>
            <p:ph type="subTitle" idx="1"/>
          </p:nvPr>
        </p:nvSpPr>
        <p:spPr>
          <a:xfrm>
            <a:off x="175497" y="3605986"/>
            <a:ext cx="6052687" cy="1119158"/>
          </a:xfrm>
        </p:spPr>
        <p:txBody>
          <a:bodyPr/>
          <a:lstStyle>
            <a:lvl1pPr marL="0" indent="0" algn="l">
              <a:buNone/>
              <a:defRPr>
                <a:solidFill>
                  <a:schemeClr val="bg1"/>
                </a:solidFill>
                <a:latin typeface="Open Sans Light"/>
                <a:cs typeface="Open Sans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pic>
        <p:nvPicPr>
          <p:cNvPr id="17" name="Picture 16" descr="Mascot_K85_BDdarkGray.png"/>
          <p:cNvPicPr>
            <a:picLocks noChangeAspect="1"/>
          </p:cNvPicPr>
          <p:nvPr userDrawn="1"/>
        </p:nvPicPr>
        <p:blipFill>
          <a:blip r:embed="rId3" cstate="print">
            <a:duotone>
              <a:prstClr val="black"/>
              <a:schemeClr val="accent1">
                <a:tint val="45000"/>
                <a:satMod val="400000"/>
              </a:schemeClr>
            </a:duotone>
          </a:blip>
          <a:stretch>
            <a:fillRect/>
          </a:stretch>
        </p:blipFill>
        <p:spPr>
          <a:xfrm>
            <a:off x="8388424" y="332656"/>
            <a:ext cx="396044" cy="288032"/>
          </a:xfrm>
          <a:prstGeom prst="rect">
            <a:avLst/>
          </a:prstGeom>
        </p:spPr>
      </p:pic>
      <p:sp>
        <p:nvSpPr>
          <p:cNvPr id="11" name="TextBox 10"/>
          <p:cNvSpPr txBox="1"/>
          <p:nvPr userDrawn="1"/>
        </p:nvSpPr>
        <p:spPr>
          <a:xfrm>
            <a:off x="280996" y="6432070"/>
            <a:ext cx="1512168" cy="288032"/>
          </a:xfrm>
          <a:prstGeom prst="rect">
            <a:avLst/>
          </a:prstGeom>
          <a:noFill/>
        </p:spPr>
        <p:txBody>
          <a:bodyPr wrap="square" lIns="36000" tIns="36000" rIns="36000" bIns="36000" rtlCol="0">
            <a:normAutofit/>
          </a:bodyPr>
          <a:lstStyle/>
          <a:p>
            <a:fld id="{B142F15E-AF7F-47C1-B888-78C704C96BCF}" type="slidenum">
              <a:rPr lang="en-GB" sz="1200" smtClean="0">
                <a:latin typeface="Franklin Gothic Book" pitchFamily="34" charset="0"/>
              </a:rPr>
              <a:pPr/>
              <a:t>‹#›</a:t>
            </a:fld>
            <a:endParaRPr lang="en-US" sz="1200" dirty="0" err="1" smtClean="0">
              <a:latin typeface="Franklin Gothic Book" pitchFamily="34" charset="0"/>
            </a:endParaRPr>
          </a:p>
        </p:txBody>
      </p:sp>
      <p:sp>
        <p:nvSpPr>
          <p:cNvPr id="9" name="TextBox 8"/>
          <p:cNvSpPr txBox="1"/>
          <p:nvPr userDrawn="1"/>
        </p:nvSpPr>
        <p:spPr>
          <a:xfrm>
            <a:off x="2743200" y="6453336"/>
            <a:ext cx="3657600" cy="192666"/>
          </a:xfrm>
          <a:prstGeom prst="rect">
            <a:avLst/>
          </a:prstGeom>
          <a:noFill/>
        </p:spPr>
        <p:txBody>
          <a:bodyPr wrap="square" lIns="36000" tIns="36000" rIns="36000" bIns="36000" rtlCol="0">
            <a:norm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kern="1200" dirty="0" smtClean="0">
                <a:solidFill>
                  <a:schemeClr val="tx1"/>
                </a:solidFill>
                <a:latin typeface="Open Sans Light"/>
                <a:ea typeface="+mn-ea"/>
                <a:cs typeface="Open Sans Light"/>
              </a:rPr>
              <a:t>© 2014 Black Duck Software, Inc.  Proprietary &amp; Confidential All Rights Reserved.</a:t>
            </a:r>
            <a:endParaRPr lang="en-GB" sz="700" kern="1200" dirty="0" smtClean="0">
              <a:solidFill>
                <a:schemeClr val="tx1"/>
              </a:solidFill>
              <a:latin typeface="Open Sans Light"/>
              <a:ea typeface="+mn-ea"/>
              <a:cs typeface="Open Sans Light"/>
            </a:endParaRPr>
          </a:p>
          <a:p>
            <a:pPr algn="ctr"/>
            <a:endParaRPr lang="en-US" sz="1050" dirty="0" err="1" smtClean="0">
              <a:latin typeface="Franklin Gothic Book" pitchFamily="34" charset="0"/>
            </a:endParaRPr>
          </a:p>
        </p:txBody>
      </p:sp>
    </p:spTree>
    <p:extLst>
      <p:ext uri="{BB962C8B-B14F-4D97-AF65-F5344CB8AC3E}">
        <p14:creationId xmlns:p14="http://schemas.microsoft.com/office/powerpoint/2010/main" val="1041864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nodePh="1">
                                  <p:stCondLst>
                                    <p:cond delay="200"/>
                                  </p:stCondLst>
                                  <p:endCondLst>
                                    <p:cond evt="begin" delay="0">
                                      <p:tn val="8"/>
                                    </p:cond>
                                  </p:end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xmlns:p14="http://schemas.microsoft.com/office/powerpoint/2010/main" presetID="10" presetClass="entr" presetSubtype="0" fill="hold" nodeType="withEffect" nodePh="1">
                  <p:stCondLst>
                    <p:cond delay="200"/>
                  </p:stCondLst>
                  <p:endCondLst>
                    <p:cond delay="0"/>
                  </p:end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1520" y="192024"/>
            <a:ext cx="6912768" cy="576362"/>
          </a:xfrm>
        </p:spPr>
        <p:txBody>
          <a:bodyPr>
            <a:normAutofit/>
          </a:bodyPr>
          <a:lstStyle>
            <a:lvl1pPr>
              <a:defRPr sz="2400">
                <a:latin typeface="Open Sans Light"/>
                <a:cs typeface="Open Sans Light"/>
              </a:defRPr>
            </a:lvl1pPr>
          </a:lstStyle>
          <a:p>
            <a:r>
              <a:rPr lang="en-US" smtClean="0"/>
              <a:t>Click to edit Master title style</a:t>
            </a:r>
            <a:endParaRPr lang="en-GB" dirty="0"/>
          </a:p>
        </p:txBody>
      </p:sp>
    </p:spTree>
    <p:extLst>
      <p:ext uri="{BB962C8B-B14F-4D97-AF65-F5344CB8AC3E}">
        <p14:creationId xmlns:p14="http://schemas.microsoft.com/office/powerpoint/2010/main" val="3588404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Use for Spreadsheets!">
    <p:spTree>
      <p:nvGrpSpPr>
        <p:cNvPr id="1" name=""/>
        <p:cNvGrpSpPr/>
        <p:nvPr/>
      </p:nvGrpSpPr>
      <p:grpSpPr>
        <a:xfrm>
          <a:off x="0" y="0"/>
          <a:ext cx="0" cy="0"/>
          <a:chOff x="0" y="0"/>
          <a:chExt cx="0" cy="0"/>
        </a:xfrm>
      </p:grpSpPr>
      <p:pic>
        <p:nvPicPr>
          <p:cNvPr id="9" name="Picture 8" descr="Black_Duck_Logo.png"/>
          <p:cNvPicPr>
            <a:picLocks noChangeAspect="1"/>
          </p:cNvPicPr>
          <p:nvPr userDrawn="1"/>
        </p:nvPicPr>
        <p:blipFill>
          <a:blip r:embed="rId2" cstate="print"/>
          <a:stretch>
            <a:fillRect/>
          </a:stretch>
        </p:blipFill>
        <p:spPr>
          <a:xfrm>
            <a:off x="7377313" y="6404943"/>
            <a:ext cx="1515167" cy="336425"/>
          </a:xfrm>
          <a:prstGeom prst="rect">
            <a:avLst/>
          </a:prstGeom>
        </p:spPr>
      </p:pic>
      <p:sp>
        <p:nvSpPr>
          <p:cNvPr id="7" name="TextBox 6"/>
          <p:cNvSpPr txBox="1"/>
          <p:nvPr userDrawn="1"/>
        </p:nvSpPr>
        <p:spPr>
          <a:xfrm>
            <a:off x="280996" y="6432070"/>
            <a:ext cx="1512168" cy="288032"/>
          </a:xfrm>
          <a:prstGeom prst="rect">
            <a:avLst/>
          </a:prstGeom>
          <a:noFill/>
        </p:spPr>
        <p:txBody>
          <a:bodyPr wrap="square" lIns="36000" tIns="36000" rIns="36000" bIns="36000" rtlCol="0">
            <a:normAutofit/>
          </a:bodyPr>
          <a:lstStyle/>
          <a:p>
            <a:fld id="{B142F15E-AF7F-47C1-B888-78C704C96BCF}" type="slidenum">
              <a:rPr lang="en-GB" sz="1100" smtClean="0">
                <a:latin typeface="Franklin Gothic Book" pitchFamily="34" charset="0"/>
              </a:rPr>
              <a:pPr/>
              <a:t>‹#›</a:t>
            </a:fld>
            <a:endParaRPr lang="en-US" sz="1200" dirty="0" err="1" smtClean="0">
              <a:latin typeface="Franklin Gothic Book" pitchFamily="34" charset="0"/>
            </a:endParaRPr>
          </a:p>
        </p:txBody>
      </p:sp>
      <p:sp>
        <p:nvSpPr>
          <p:cNvPr id="10" name="TextBox 9"/>
          <p:cNvSpPr txBox="1"/>
          <p:nvPr userDrawn="1"/>
        </p:nvSpPr>
        <p:spPr>
          <a:xfrm>
            <a:off x="2743200" y="6453336"/>
            <a:ext cx="3657600" cy="192666"/>
          </a:xfrm>
          <a:prstGeom prst="rect">
            <a:avLst/>
          </a:prstGeom>
          <a:noFill/>
        </p:spPr>
        <p:txBody>
          <a:bodyPr wrap="square" lIns="36000" tIns="36000" rIns="36000" bIns="36000" rtlCol="0">
            <a:norm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kern="1200" dirty="0" smtClean="0">
                <a:solidFill>
                  <a:schemeClr val="tx1"/>
                </a:solidFill>
                <a:latin typeface="Open Sans Light"/>
                <a:ea typeface="+mn-ea"/>
                <a:cs typeface="Open Sans Light"/>
              </a:rPr>
              <a:t>© 2014 Black Duck Software, Inc.  Proprietary &amp; Confidential All Rights Reserved.</a:t>
            </a:r>
            <a:endParaRPr lang="en-GB" sz="700" kern="1200" dirty="0" smtClean="0">
              <a:solidFill>
                <a:schemeClr val="tx1"/>
              </a:solidFill>
              <a:latin typeface="Open Sans Light"/>
              <a:ea typeface="+mn-ea"/>
              <a:cs typeface="Open Sans Light"/>
            </a:endParaRPr>
          </a:p>
          <a:p>
            <a:pPr algn="ctr"/>
            <a:endParaRPr lang="en-US" sz="1050" dirty="0" err="1" smtClean="0">
              <a:latin typeface="Franklin Gothic Book" pitchFamily="34" charset="0"/>
            </a:endParaRPr>
          </a:p>
        </p:txBody>
      </p:sp>
    </p:spTree>
    <p:extLst>
      <p:ext uri="{BB962C8B-B14F-4D97-AF65-F5344CB8AC3E}">
        <p14:creationId xmlns:p14="http://schemas.microsoft.com/office/powerpoint/2010/main" val="1628128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sp>
        <p:nvSpPr>
          <p:cNvPr id="6" name="Rectangle 5"/>
          <p:cNvSpPr/>
          <p:nvPr userDrawn="1"/>
        </p:nvSpPr>
        <p:spPr>
          <a:xfrm>
            <a:off x="-36512" y="0"/>
            <a:ext cx="9180512" cy="687571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    </a:t>
            </a:r>
            <a:endParaRPr lang="en-US" dirty="0"/>
          </a:p>
        </p:txBody>
      </p:sp>
      <p:pic>
        <p:nvPicPr>
          <p:cNvPr id="18" name="Picture 17" descr="Black_Duck_Logo_White.png"/>
          <p:cNvPicPr>
            <a:picLocks noChangeAspect="1"/>
          </p:cNvPicPr>
          <p:nvPr userDrawn="1"/>
        </p:nvPicPr>
        <p:blipFill>
          <a:blip r:embed="rId2" cstate="print"/>
          <a:stretch>
            <a:fillRect/>
          </a:stretch>
        </p:blipFill>
        <p:spPr>
          <a:xfrm>
            <a:off x="7178888" y="5982661"/>
            <a:ext cx="1944226" cy="1166538"/>
          </a:xfrm>
          <a:prstGeom prst="rect">
            <a:avLst/>
          </a:prstGeom>
        </p:spPr>
      </p:pic>
    </p:spTree>
    <p:extLst>
      <p:ext uri="{BB962C8B-B14F-4D97-AF65-F5344CB8AC3E}">
        <p14:creationId xmlns:p14="http://schemas.microsoft.com/office/powerpoint/2010/main" val="1041864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051560"/>
            <a:ext cx="4038600" cy="5185752"/>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4648200" y="1051560"/>
            <a:ext cx="4038600" cy="5185752"/>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3" name="Title 1"/>
          <p:cNvSpPr>
            <a:spLocks noGrp="1"/>
          </p:cNvSpPr>
          <p:nvPr>
            <p:ph type="title"/>
          </p:nvPr>
        </p:nvSpPr>
        <p:spPr>
          <a:xfrm>
            <a:off x="251520" y="192024"/>
            <a:ext cx="6912768" cy="576362"/>
          </a:xfrm>
        </p:spPr>
        <p:txBody>
          <a:bodyPr>
            <a:normAutofit/>
          </a:bodyPr>
          <a:lstStyle>
            <a:lvl1pPr>
              <a:defRPr sz="2400">
                <a:latin typeface="Open Sans Light"/>
                <a:cs typeface="Open Sans Light"/>
              </a:defRPr>
            </a:lvl1pPr>
          </a:lstStyle>
          <a:p>
            <a:r>
              <a:rPr lang="en-US" smtClean="0"/>
              <a:t>Click to edit Master title style</a:t>
            </a:r>
            <a:endParaRPr lang="en-GB" dirty="0"/>
          </a:p>
        </p:txBody>
      </p:sp>
    </p:spTree>
    <p:extLst>
      <p:ext uri="{BB962C8B-B14F-4D97-AF65-F5344CB8AC3E}">
        <p14:creationId xmlns:p14="http://schemas.microsoft.com/office/powerpoint/2010/main" val="3312358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2" name="TextBox 91"/>
          <p:cNvSpPr txBox="1"/>
          <p:nvPr userDrawn="1"/>
        </p:nvSpPr>
        <p:spPr>
          <a:xfrm>
            <a:off x="6629400" y="-304800"/>
            <a:ext cx="2514600" cy="304800"/>
          </a:xfrm>
          <a:prstGeom prst="rect">
            <a:avLst/>
          </a:prstGeom>
          <a:noFill/>
        </p:spPr>
        <p:txBody>
          <a:bodyPr wrap="square" rtlCol="0">
            <a:noAutofit/>
          </a:bodyPr>
          <a:lstStyle/>
          <a:p>
            <a:pPr algn="r"/>
            <a:r>
              <a:rPr lang="en-US" sz="1200" b="1" dirty="0" smtClean="0">
                <a:solidFill>
                  <a:srgbClr val="323C4B"/>
                </a:solidFill>
                <a:latin typeface="Calibri"/>
              </a:rPr>
              <a:t>BLANK</a:t>
            </a:r>
          </a:p>
        </p:txBody>
      </p:sp>
    </p:spTree>
    <p:extLst>
      <p:ext uri="{BB962C8B-B14F-4D97-AF65-F5344CB8AC3E}">
        <p14:creationId xmlns:p14="http://schemas.microsoft.com/office/powerpoint/2010/main" val="3227523811"/>
      </p:ext>
    </p:extLst>
  </p:cSld>
  <p:clrMapOvr>
    <a:masterClrMapping/>
  </p:clrMapOvr>
  <p:timing>
    <p:tnLst>
      <p:par>
        <p:cTn xmlns:p14="http://schemas.microsoft.com/office/powerpoint/2010/mai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extBox 3"/>
          <p:cNvSpPr txBox="1"/>
          <p:nvPr userDrawn="1"/>
        </p:nvSpPr>
        <p:spPr>
          <a:xfrm>
            <a:off x="6629400" y="-304800"/>
            <a:ext cx="2514600" cy="304800"/>
          </a:xfrm>
          <a:prstGeom prst="rect">
            <a:avLst/>
          </a:prstGeom>
          <a:noFill/>
        </p:spPr>
        <p:txBody>
          <a:bodyPr wrap="square" rtlCol="0">
            <a:noAutofit/>
          </a:bodyPr>
          <a:lstStyle/>
          <a:p>
            <a:pPr algn="r"/>
            <a:r>
              <a:rPr lang="en-US" sz="1200" b="1" dirty="0" smtClean="0">
                <a:solidFill>
                  <a:srgbClr val="323C4B"/>
                </a:solidFill>
                <a:latin typeface="Calibri"/>
              </a:rPr>
              <a:t>TITLE ONLY</a:t>
            </a:r>
          </a:p>
        </p:txBody>
      </p:sp>
      <p:sp>
        <p:nvSpPr>
          <p:cNvPr id="3" name="Title 2"/>
          <p:cNvSpPr>
            <a:spLocks noGrp="1"/>
          </p:cNvSpPr>
          <p:nvPr>
            <p:ph type="title"/>
          </p:nvPr>
        </p:nvSpPr>
        <p:spPr/>
        <p:txBody>
          <a:bodyPr/>
          <a:lstStyle>
            <a:lvl1pPr>
              <a:lnSpc>
                <a:spcPct val="80000"/>
              </a:lnSpc>
              <a:defRPr/>
            </a:lvl1pPr>
          </a:lstStyle>
          <a:p>
            <a:r>
              <a:rPr lang="en-US" dirty="0" smtClean="0"/>
              <a:t>Click to edit Master title style</a:t>
            </a:r>
            <a:endParaRPr lang="en-US" dirty="0"/>
          </a:p>
        </p:txBody>
      </p:sp>
    </p:spTree>
    <p:extLst>
      <p:ext uri="{BB962C8B-B14F-4D97-AF65-F5344CB8AC3E}">
        <p14:creationId xmlns:p14="http://schemas.microsoft.com/office/powerpoint/2010/main" val="1205590389"/>
      </p:ext>
    </p:extLst>
  </p:cSld>
  <p:clrMapOvr>
    <a:masterClrMapping/>
  </p:clrMapOvr>
  <p:timing>
    <p:tnLst>
      <p:par>
        <p:cTn xmlns:p14="http://schemas.microsoft.com/office/powerpoint/2010/mai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Results">
    <p:spTree>
      <p:nvGrpSpPr>
        <p:cNvPr id="1" name=""/>
        <p:cNvGrpSpPr/>
        <p:nvPr/>
      </p:nvGrpSpPr>
      <p:grpSpPr>
        <a:xfrm>
          <a:off x="0" y="0"/>
          <a:ext cx="0" cy="0"/>
          <a:chOff x="0" y="0"/>
          <a:chExt cx="0" cy="0"/>
        </a:xfrm>
      </p:grpSpPr>
      <p:sp>
        <p:nvSpPr>
          <p:cNvPr id="7" name="TextBox 6"/>
          <p:cNvSpPr txBox="1"/>
          <p:nvPr userDrawn="1"/>
        </p:nvSpPr>
        <p:spPr>
          <a:xfrm>
            <a:off x="6629400" y="-304800"/>
            <a:ext cx="2514600" cy="304800"/>
          </a:xfrm>
          <a:prstGeom prst="rect">
            <a:avLst/>
          </a:prstGeom>
          <a:noFill/>
        </p:spPr>
        <p:txBody>
          <a:bodyPr wrap="square" rtlCol="0">
            <a:noAutofit/>
          </a:bodyPr>
          <a:lstStyle/>
          <a:p>
            <a:pPr algn="r"/>
            <a:r>
              <a:rPr lang="en-US" sz="1200" b="1" dirty="0" smtClean="0">
                <a:solidFill>
                  <a:srgbClr val="323C4B"/>
                </a:solidFill>
                <a:latin typeface="Calibri"/>
              </a:rPr>
              <a:t>RESULTS</a:t>
            </a:r>
          </a:p>
        </p:txBody>
      </p:sp>
      <p:sp>
        <p:nvSpPr>
          <p:cNvPr id="9" name="Title 2"/>
          <p:cNvSpPr>
            <a:spLocks noGrp="1"/>
          </p:cNvSpPr>
          <p:nvPr>
            <p:ph type="title"/>
          </p:nvPr>
        </p:nvSpPr>
        <p:spPr>
          <a:xfrm>
            <a:off x="3087686" y="157053"/>
            <a:ext cx="4457701" cy="1227248"/>
          </a:xfrm>
        </p:spPr>
        <p:txBody>
          <a:bodyPr anchor="b">
            <a:normAutofit/>
          </a:bodyPr>
          <a:lstStyle>
            <a:lvl1pPr>
              <a:defRPr sz="3600"/>
            </a:lvl1pPr>
          </a:lstStyle>
          <a:p>
            <a:r>
              <a:rPr lang="en-US" dirty="0" smtClean="0"/>
              <a:t>Click to edit Master title style</a:t>
            </a:r>
            <a:endParaRPr lang="en-US" dirty="0"/>
          </a:p>
        </p:txBody>
      </p:sp>
      <p:sp>
        <p:nvSpPr>
          <p:cNvPr id="10" name="Oval 9"/>
          <p:cNvSpPr/>
          <p:nvPr userDrawn="1"/>
        </p:nvSpPr>
        <p:spPr>
          <a:xfrm>
            <a:off x="1285701" y="199127"/>
            <a:ext cx="1774996" cy="1774996"/>
          </a:xfrm>
          <a:prstGeom prst="ellipse">
            <a:avLst/>
          </a:prstGeom>
          <a:noFill/>
          <a:ln w="635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p:spTree>
    <p:extLst>
      <p:ext uri="{BB962C8B-B14F-4D97-AF65-F5344CB8AC3E}">
        <p14:creationId xmlns:p14="http://schemas.microsoft.com/office/powerpoint/2010/main" val="949447712"/>
      </p:ext>
    </p:extLst>
  </p:cSld>
  <p:clrMapOvr>
    <a:masterClrMapping/>
  </p:clrMapOvr>
  <p:timing>
    <p:tnLst>
      <p:par>
        <p:cTn xmlns:p14="http://schemas.microsoft.com/office/powerpoint/2010/mai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sults, Bottom Bar">
    <p:spTree>
      <p:nvGrpSpPr>
        <p:cNvPr id="1" name=""/>
        <p:cNvGrpSpPr/>
        <p:nvPr/>
      </p:nvGrpSpPr>
      <p:grpSpPr>
        <a:xfrm>
          <a:off x="0" y="0"/>
          <a:ext cx="0" cy="0"/>
          <a:chOff x="0" y="0"/>
          <a:chExt cx="0" cy="0"/>
        </a:xfrm>
      </p:grpSpPr>
      <p:sp>
        <p:nvSpPr>
          <p:cNvPr id="3" name="Title 2"/>
          <p:cNvSpPr>
            <a:spLocks noGrp="1"/>
          </p:cNvSpPr>
          <p:nvPr>
            <p:ph type="title"/>
          </p:nvPr>
        </p:nvSpPr>
        <p:spPr>
          <a:xfrm>
            <a:off x="3087686" y="157053"/>
            <a:ext cx="4457701" cy="1227248"/>
          </a:xfrm>
        </p:spPr>
        <p:txBody>
          <a:bodyPr anchor="b">
            <a:normAutofit/>
          </a:bodyPr>
          <a:lstStyle>
            <a:lvl1pPr>
              <a:defRPr sz="3600"/>
            </a:lvl1pPr>
          </a:lstStyle>
          <a:p>
            <a:r>
              <a:rPr lang="en-US" dirty="0" smtClean="0"/>
              <a:t>Click to edit Master title style</a:t>
            </a:r>
            <a:endParaRPr lang="en-US" dirty="0"/>
          </a:p>
        </p:txBody>
      </p:sp>
      <p:sp>
        <p:nvSpPr>
          <p:cNvPr id="9" name="TextBox 8"/>
          <p:cNvSpPr txBox="1"/>
          <p:nvPr userDrawn="1"/>
        </p:nvSpPr>
        <p:spPr>
          <a:xfrm>
            <a:off x="6629400" y="-304800"/>
            <a:ext cx="2514600" cy="304800"/>
          </a:xfrm>
          <a:prstGeom prst="rect">
            <a:avLst/>
          </a:prstGeom>
          <a:noFill/>
        </p:spPr>
        <p:txBody>
          <a:bodyPr wrap="square" rtlCol="0">
            <a:noAutofit/>
          </a:bodyPr>
          <a:lstStyle/>
          <a:p>
            <a:pPr algn="r"/>
            <a:r>
              <a:rPr lang="en-US" sz="1200" b="1" dirty="0" smtClean="0">
                <a:solidFill>
                  <a:srgbClr val="323C4B"/>
                </a:solidFill>
                <a:latin typeface="Calibri"/>
              </a:rPr>
              <a:t>RESULTS, BOTTOM BAR</a:t>
            </a:r>
          </a:p>
        </p:txBody>
      </p:sp>
      <p:sp>
        <p:nvSpPr>
          <p:cNvPr id="8" name="Oval 7"/>
          <p:cNvSpPr/>
          <p:nvPr userDrawn="1"/>
        </p:nvSpPr>
        <p:spPr>
          <a:xfrm>
            <a:off x="1285701" y="199127"/>
            <a:ext cx="1774996" cy="1774996"/>
          </a:xfrm>
          <a:prstGeom prst="ellipse">
            <a:avLst/>
          </a:prstGeom>
          <a:noFill/>
          <a:ln w="635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7" name="Rectangle 6"/>
          <p:cNvSpPr/>
          <p:nvPr userDrawn="1"/>
        </p:nvSpPr>
        <p:spPr>
          <a:xfrm>
            <a:off x="0" y="6133630"/>
            <a:ext cx="9144000" cy="724370"/>
          </a:xfrm>
          <a:prstGeom prst="rect">
            <a:avLst/>
          </a:prstGeom>
          <a:solidFill>
            <a:schemeClr val="accent4">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spTree>
    <p:extLst>
      <p:ext uri="{BB962C8B-B14F-4D97-AF65-F5344CB8AC3E}">
        <p14:creationId xmlns:p14="http://schemas.microsoft.com/office/powerpoint/2010/main" val="3817912936"/>
      </p:ext>
    </p:extLst>
  </p:cSld>
  <p:clrMapOvr>
    <a:masterClrMapping/>
  </p:clrMapOvr>
  <p:timing>
    <p:tnLst>
      <p:par>
        <p:cTn xmlns:p14="http://schemas.microsoft.com/office/powerpoint/2010/mai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Top Bar">
    <p:spTree>
      <p:nvGrpSpPr>
        <p:cNvPr id="1" name=""/>
        <p:cNvGrpSpPr/>
        <p:nvPr/>
      </p:nvGrpSpPr>
      <p:grpSpPr>
        <a:xfrm>
          <a:off x="0" y="0"/>
          <a:ext cx="0" cy="0"/>
          <a:chOff x="0" y="0"/>
          <a:chExt cx="0" cy="0"/>
        </a:xfrm>
      </p:grpSpPr>
      <p:sp>
        <p:nvSpPr>
          <p:cNvPr id="9" name="TextBox 8"/>
          <p:cNvSpPr txBox="1"/>
          <p:nvPr userDrawn="1"/>
        </p:nvSpPr>
        <p:spPr>
          <a:xfrm>
            <a:off x="6629400" y="-304800"/>
            <a:ext cx="2514600" cy="304800"/>
          </a:xfrm>
          <a:prstGeom prst="rect">
            <a:avLst/>
          </a:prstGeom>
          <a:noFill/>
        </p:spPr>
        <p:txBody>
          <a:bodyPr wrap="square" rtlCol="0">
            <a:noAutofit/>
          </a:bodyPr>
          <a:lstStyle/>
          <a:p>
            <a:pPr algn="r"/>
            <a:r>
              <a:rPr lang="en-US" sz="1200" b="1" dirty="0" smtClean="0">
                <a:solidFill>
                  <a:srgbClr val="323C4B"/>
                </a:solidFill>
                <a:latin typeface="Calibri"/>
              </a:rPr>
              <a:t>TITLE ONLY, TOP BAR</a:t>
            </a:r>
          </a:p>
        </p:txBody>
      </p:sp>
      <p:sp>
        <p:nvSpPr>
          <p:cNvPr id="10" name="Rectangle 9"/>
          <p:cNvSpPr/>
          <p:nvPr userDrawn="1"/>
        </p:nvSpPr>
        <p:spPr>
          <a:xfrm>
            <a:off x="0" y="1064698"/>
            <a:ext cx="9144000" cy="579330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sp>
        <p:nvSpPr>
          <p:cNvPr id="2" name="Title 1"/>
          <p:cNvSpPr>
            <a:spLocks noGrp="1"/>
          </p:cNvSpPr>
          <p:nvPr>
            <p:ph type="title"/>
          </p:nvPr>
        </p:nvSpPr>
        <p:spPr>
          <a:xfrm>
            <a:off x="457199" y="157053"/>
            <a:ext cx="8686801" cy="715962"/>
          </a:xfrm>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267446053"/>
      </p:ext>
    </p:extLst>
  </p:cSld>
  <p:clrMapOvr>
    <a:masterClrMapping/>
  </p:clrMapOvr>
  <p:timing>
    <p:tnLst>
      <p:par>
        <p:cTn xmlns:p14="http://schemas.microsoft.com/office/powerpoint/2010/mai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TextBox 3"/>
          <p:cNvSpPr txBox="1"/>
          <p:nvPr userDrawn="1"/>
        </p:nvSpPr>
        <p:spPr>
          <a:xfrm>
            <a:off x="6629400" y="-304800"/>
            <a:ext cx="2514600" cy="304800"/>
          </a:xfrm>
          <a:prstGeom prst="rect">
            <a:avLst/>
          </a:prstGeom>
          <a:noFill/>
        </p:spPr>
        <p:txBody>
          <a:bodyPr wrap="square" rtlCol="0">
            <a:noAutofit/>
          </a:bodyPr>
          <a:lstStyle/>
          <a:p>
            <a:pPr algn="r"/>
            <a:r>
              <a:rPr lang="en-US" sz="1200" b="1" dirty="0" smtClean="0">
                <a:solidFill>
                  <a:srgbClr val="323C4B"/>
                </a:solidFill>
                <a:latin typeface="Calibri"/>
              </a:rPr>
              <a:t>TITLE ONLY</a:t>
            </a:r>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482853468"/>
      </p:ext>
    </p:extLst>
  </p:cSld>
  <p:clrMapOvr>
    <a:masterClrMapping/>
  </p:clrMapOvr>
  <p:timing>
    <p:tnLst>
      <p:par>
        <p:cTn xmlns:p14="http://schemas.microsoft.com/office/powerpoint/2010/mai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4" name="TextBox 3"/>
          <p:cNvSpPr txBox="1"/>
          <p:nvPr userDrawn="1"/>
        </p:nvSpPr>
        <p:spPr>
          <a:xfrm>
            <a:off x="6629400" y="-304800"/>
            <a:ext cx="2514600" cy="304800"/>
          </a:xfrm>
          <a:prstGeom prst="rect">
            <a:avLst/>
          </a:prstGeom>
          <a:noFill/>
        </p:spPr>
        <p:txBody>
          <a:bodyPr wrap="square" rtlCol="0">
            <a:noAutofit/>
          </a:bodyPr>
          <a:lstStyle/>
          <a:p>
            <a:pPr algn="r"/>
            <a:r>
              <a:rPr lang="en-US" sz="1200" b="1" dirty="0" smtClean="0">
                <a:solidFill>
                  <a:srgbClr val="323C4B"/>
                </a:solidFill>
                <a:latin typeface="Calibri"/>
              </a:rPr>
              <a:t>DIVIDER</a:t>
            </a:r>
          </a:p>
        </p:txBody>
      </p:sp>
      <p:sp>
        <p:nvSpPr>
          <p:cNvPr id="12" name="Title 1"/>
          <p:cNvSpPr>
            <a:spLocks noGrp="1"/>
          </p:cNvSpPr>
          <p:nvPr>
            <p:ph type="title" hasCustomPrompt="1"/>
          </p:nvPr>
        </p:nvSpPr>
        <p:spPr>
          <a:xfrm>
            <a:off x="0" y="2990420"/>
            <a:ext cx="9144000" cy="877163"/>
          </a:xfrm>
          <a:solidFill>
            <a:schemeClr val="tx2">
              <a:alpha val="64000"/>
            </a:schemeClr>
          </a:solidFill>
        </p:spPr>
        <p:txBody>
          <a:bodyPr lIns="182880" tIns="182880" rIns="182880" bIns="182880">
            <a:spAutoFit/>
          </a:bodyPr>
          <a:lstStyle>
            <a:lvl1pPr algn="ctr">
              <a:defRPr cap="all" baseline="0">
                <a:solidFill>
                  <a:srgbClr val="FFFFFF"/>
                </a:solidFill>
              </a:defRPr>
            </a:lvl1pPr>
          </a:lstStyle>
          <a:p>
            <a:r>
              <a:rPr lang="en-US" dirty="0" smtClean="0"/>
              <a:t>TITLE HERE</a:t>
            </a:r>
            <a:endParaRPr lang="en-US" dirty="0"/>
          </a:p>
        </p:txBody>
      </p:sp>
    </p:spTree>
    <p:extLst>
      <p:ext uri="{BB962C8B-B14F-4D97-AF65-F5344CB8AC3E}">
        <p14:creationId xmlns:p14="http://schemas.microsoft.com/office/powerpoint/2010/main" val="3129842101"/>
      </p:ext>
    </p:extLst>
  </p:cSld>
  <p:clrMapOvr>
    <a:masterClrMapping/>
  </p:clrMapOvr>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theme" Target="../theme/theme2.xml"/><Relationship Id="rId9" Type="http://schemas.openxmlformats.org/officeDocument/2006/relationships/image" Target="../media/image6.jpeg"/><Relationship Id="rId1" Type="http://schemas.openxmlformats.org/officeDocument/2006/relationships/slideLayout" Target="../slideLayouts/slideLayout8.xml"/><Relationship Id="rId2"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0" y="0"/>
            <a:ext cx="9144000" cy="965200"/>
          </a:xfrm>
          <a:prstGeom prst="rect">
            <a:avLst/>
          </a:prstGeom>
          <a:solidFill>
            <a:srgbClr val="008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250825" y="1052736"/>
            <a:ext cx="8642349" cy="5184575"/>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2" name="Title Placeholder 1"/>
          <p:cNvSpPr>
            <a:spLocks noGrp="1"/>
          </p:cNvSpPr>
          <p:nvPr>
            <p:ph type="title"/>
          </p:nvPr>
        </p:nvSpPr>
        <p:spPr>
          <a:xfrm>
            <a:off x="251520" y="188640"/>
            <a:ext cx="6696743" cy="576362"/>
          </a:xfrm>
          <a:prstGeom prst="rect">
            <a:avLst/>
          </a:prstGeom>
        </p:spPr>
        <p:txBody>
          <a:bodyPr vert="horz" lIns="91440" tIns="45720" rIns="91440" bIns="45720" rtlCol="0" anchor="ctr">
            <a:normAutofit/>
          </a:bodyPr>
          <a:lstStyle/>
          <a:p>
            <a:r>
              <a:rPr lang="en-US" smtClean="0"/>
              <a:t>Click to edit Master title style</a:t>
            </a:r>
            <a:endParaRPr lang="en-GB" dirty="0"/>
          </a:p>
        </p:txBody>
      </p:sp>
      <p:pic>
        <p:nvPicPr>
          <p:cNvPr id="18" name="Picture 17" descr="Black_Duck_Logo.png"/>
          <p:cNvPicPr>
            <a:picLocks noChangeAspect="1"/>
          </p:cNvPicPr>
          <p:nvPr/>
        </p:nvPicPr>
        <p:blipFill>
          <a:blip r:embed="rId9" cstate="print"/>
          <a:stretch>
            <a:fillRect/>
          </a:stretch>
        </p:blipFill>
        <p:spPr>
          <a:xfrm>
            <a:off x="7483591" y="6428541"/>
            <a:ext cx="1302612" cy="289230"/>
          </a:xfrm>
          <a:prstGeom prst="rect">
            <a:avLst/>
          </a:prstGeom>
        </p:spPr>
      </p:pic>
      <p:sp>
        <p:nvSpPr>
          <p:cNvPr id="9" name="TextBox 8"/>
          <p:cNvSpPr txBox="1"/>
          <p:nvPr/>
        </p:nvSpPr>
        <p:spPr>
          <a:xfrm>
            <a:off x="280996" y="6432070"/>
            <a:ext cx="1512168" cy="288032"/>
          </a:xfrm>
          <a:prstGeom prst="rect">
            <a:avLst/>
          </a:prstGeom>
          <a:noFill/>
        </p:spPr>
        <p:txBody>
          <a:bodyPr wrap="square" lIns="36000" tIns="36000" rIns="36000" bIns="36000" rtlCol="0">
            <a:normAutofit/>
          </a:bodyPr>
          <a:lstStyle/>
          <a:p>
            <a:fld id="{B142F15E-AF7F-47C1-B888-78C704C96BCF}" type="slidenum">
              <a:rPr lang="en-GB" sz="1050" smtClean="0">
                <a:latin typeface="Open Sans Light"/>
                <a:cs typeface="Open Sans Light"/>
              </a:rPr>
              <a:pPr/>
              <a:t>‹#›</a:t>
            </a:fld>
            <a:endParaRPr lang="en-US" sz="1200" dirty="0" err="1" smtClean="0">
              <a:latin typeface="Open Sans Light"/>
              <a:cs typeface="Open Sans Light"/>
            </a:endParaRPr>
          </a:p>
        </p:txBody>
      </p:sp>
      <p:sp>
        <p:nvSpPr>
          <p:cNvPr id="11" name="TextBox 10"/>
          <p:cNvSpPr txBox="1"/>
          <p:nvPr/>
        </p:nvSpPr>
        <p:spPr>
          <a:xfrm>
            <a:off x="2699792" y="6453336"/>
            <a:ext cx="3744416" cy="216024"/>
          </a:xfrm>
          <a:prstGeom prst="rect">
            <a:avLst/>
          </a:prstGeom>
          <a:noFill/>
        </p:spPr>
        <p:txBody>
          <a:bodyPr wrap="square" lIns="36000" tIns="36000" rIns="36000" bIns="36000" rtlCol="0">
            <a:norm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700" kern="1200" dirty="0" smtClean="0">
                <a:solidFill>
                  <a:schemeClr val="tx1"/>
                </a:solidFill>
                <a:latin typeface="Open Sans Light"/>
                <a:ea typeface="+mn-ea"/>
                <a:cs typeface="Open Sans Light"/>
              </a:rPr>
              <a:t>© 2015</a:t>
            </a:r>
            <a:r>
              <a:rPr lang="en-US" sz="700" kern="1200" baseline="0" dirty="0" smtClean="0">
                <a:solidFill>
                  <a:schemeClr val="tx1"/>
                </a:solidFill>
                <a:latin typeface="Open Sans Light"/>
                <a:ea typeface="+mn-ea"/>
                <a:cs typeface="Open Sans Light"/>
              </a:rPr>
              <a:t> </a:t>
            </a:r>
            <a:r>
              <a:rPr lang="en-US" sz="700" kern="1200" dirty="0" smtClean="0">
                <a:solidFill>
                  <a:schemeClr val="tx1"/>
                </a:solidFill>
                <a:latin typeface="Open Sans Light"/>
                <a:ea typeface="+mn-ea"/>
                <a:cs typeface="Open Sans Light"/>
              </a:rPr>
              <a:t>Black Duck Software, Inc.  All Rights Reserved.</a:t>
            </a:r>
            <a:endParaRPr lang="en-GB" sz="700" kern="1200" dirty="0" smtClean="0">
              <a:solidFill>
                <a:schemeClr val="tx1"/>
              </a:solidFill>
              <a:latin typeface="Open Sans Light"/>
              <a:ea typeface="+mn-ea"/>
              <a:cs typeface="Open Sans Light"/>
            </a:endParaRPr>
          </a:p>
          <a:p>
            <a:pPr algn="ctr"/>
            <a:endParaRPr lang="en-US" sz="1050" dirty="0" err="1" smtClean="0">
              <a:latin typeface="Franklin Gothic Book" pitchFamily="34" charset="0"/>
            </a:endParaRPr>
          </a:p>
        </p:txBody>
      </p:sp>
    </p:spTree>
    <p:extLst>
      <p:ext uri="{BB962C8B-B14F-4D97-AF65-F5344CB8AC3E}">
        <p14:creationId xmlns:p14="http://schemas.microsoft.com/office/powerpoint/2010/main" val="3357584432"/>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74" r:id="rId3"/>
    <p:sldLayoutId id="2147483973" r:id="rId4"/>
    <p:sldLayoutId id="2147483931" r:id="rId5"/>
    <p:sldLayoutId id="2147483972" r:id="rId6"/>
    <p:sldLayoutId id="2147483938"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hf hdr="0"/>
  <p:txStyles>
    <p:titleStyle>
      <a:lvl1pPr algn="l" defTabSz="914400" rtl="0" eaLnBrk="1" latinLnBrk="0" hangingPunct="1">
        <a:spcBef>
          <a:spcPct val="0"/>
        </a:spcBef>
        <a:buNone/>
        <a:defRPr sz="2400" kern="1200" cap="all">
          <a:solidFill>
            <a:schemeClr val="bg1"/>
          </a:solidFill>
          <a:effectLst/>
          <a:latin typeface="Open Sans Light"/>
          <a:ea typeface="+mj-ea"/>
          <a:cs typeface="Open Sans Light"/>
        </a:defRPr>
      </a:lvl1pPr>
    </p:titleStyle>
    <p:bodyStyle>
      <a:lvl1pPr marL="0" indent="0" algn="l" defTabSz="914400" rtl="0" eaLnBrk="1" latinLnBrk="0" hangingPunct="1">
        <a:spcBef>
          <a:spcPct val="20000"/>
        </a:spcBef>
        <a:buClr>
          <a:schemeClr val="accent4"/>
        </a:buClr>
        <a:buSzPct val="100000"/>
        <a:buFont typeface="Arial"/>
        <a:buNone/>
        <a:defRPr sz="2400" kern="1200">
          <a:solidFill>
            <a:schemeClr val="tx1"/>
          </a:solidFill>
          <a:latin typeface="Open Sans Light"/>
          <a:ea typeface="+mn-ea"/>
          <a:cs typeface="Open Sans Light"/>
        </a:defRPr>
      </a:lvl1pPr>
      <a:lvl2pPr marL="625475" indent="-168275" algn="l" defTabSz="914400" rtl="0" eaLnBrk="1" latinLnBrk="0" hangingPunct="1">
        <a:spcBef>
          <a:spcPct val="20000"/>
        </a:spcBef>
        <a:buClr>
          <a:schemeClr val="accent5"/>
        </a:buClr>
        <a:buSzPct val="100000"/>
        <a:buFont typeface="Arial" pitchFamily="34" charset="0"/>
        <a:buChar char="•"/>
        <a:defRPr sz="2000" kern="1200">
          <a:solidFill>
            <a:srgbClr val="6F6F6F"/>
          </a:solidFill>
          <a:latin typeface="Open Sans Light"/>
          <a:ea typeface="+mn-ea"/>
          <a:cs typeface="Open Sans Light"/>
        </a:defRPr>
      </a:lvl2pPr>
      <a:lvl3pPr marL="1084263" indent="-169863" algn="l" defTabSz="914400" rtl="0" eaLnBrk="1" latinLnBrk="0" hangingPunct="1">
        <a:spcBef>
          <a:spcPct val="20000"/>
        </a:spcBef>
        <a:buClr>
          <a:schemeClr val="accent6"/>
        </a:buClr>
        <a:buSzPct val="100000"/>
        <a:buFont typeface="Arial" pitchFamily="34" charset="0"/>
        <a:buChar char="•"/>
        <a:defRPr sz="1800" kern="1200">
          <a:solidFill>
            <a:srgbClr val="6F6F6F"/>
          </a:solidFill>
          <a:latin typeface="Open Sans Light"/>
          <a:ea typeface="+mn-ea"/>
          <a:cs typeface="Open Sans Light"/>
        </a:defRPr>
      </a:lvl3pPr>
      <a:lvl4pPr marL="1536700" indent="-165100" algn="l" defTabSz="914400" rtl="0" eaLnBrk="1" latinLnBrk="0" hangingPunct="1">
        <a:spcBef>
          <a:spcPct val="20000"/>
        </a:spcBef>
        <a:buClr>
          <a:schemeClr val="tx1"/>
        </a:buClr>
        <a:buSzPct val="100000"/>
        <a:buFont typeface="Arial" pitchFamily="34" charset="0"/>
        <a:buChar char="•"/>
        <a:defRPr sz="1600" kern="1200">
          <a:solidFill>
            <a:srgbClr val="6F6F6F"/>
          </a:solidFill>
          <a:latin typeface="Open Sans Light"/>
          <a:ea typeface="+mn-ea"/>
          <a:cs typeface="Open Sans Light"/>
        </a:defRPr>
      </a:lvl4pPr>
      <a:lvl5pPr marL="1998663" indent="-169863" algn="l" defTabSz="914400" rtl="0" eaLnBrk="1" latinLnBrk="0" hangingPunct="1">
        <a:spcBef>
          <a:spcPct val="20000"/>
        </a:spcBef>
        <a:buClr>
          <a:schemeClr val="accent3"/>
        </a:buClr>
        <a:buSzPct val="100000"/>
        <a:buFont typeface="Arial" pitchFamily="34" charset="0"/>
        <a:buChar char="•"/>
        <a:defRPr sz="1600" kern="1200">
          <a:solidFill>
            <a:srgbClr val="6F6F6F"/>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descr="Page-1a.jpg"/>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1295400" y="76200"/>
            <a:ext cx="7391400" cy="1483573"/>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295400" y="1600200"/>
            <a:ext cx="73914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Slide Number Placeholder 5"/>
          <p:cNvSpPr>
            <a:spLocks noGrp="1"/>
          </p:cNvSpPr>
          <p:nvPr>
            <p:ph type="sldNum" sz="quarter" idx="4"/>
          </p:nvPr>
        </p:nvSpPr>
        <p:spPr>
          <a:xfrm>
            <a:off x="6096000" y="6356350"/>
            <a:ext cx="2743200" cy="365125"/>
          </a:xfrm>
          <a:prstGeom prst="rect">
            <a:avLst/>
          </a:prstGeom>
        </p:spPr>
        <p:txBody>
          <a:bodyPr vert="horz" lIns="91440" tIns="45720" rIns="91440" bIns="45720" rtlCol="0" anchor="ctr"/>
          <a:lstStyle>
            <a:lvl1pPr algn="r">
              <a:defRPr sz="800">
                <a:solidFill>
                  <a:schemeClr val="accent1"/>
                </a:solidFill>
              </a:defRPr>
            </a:lvl1pPr>
          </a:lstStyle>
          <a:p>
            <a:fld id="{7C7E3F7F-1D34-472C-907C-9960BA6B5115}" type="slidenum">
              <a:rPr lang="en-US" smtClean="0">
                <a:solidFill>
                  <a:srgbClr val="363636"/>
                </a:solidFill>
                <a:latin typeface="Calibri"/>
              </a:rPr>
              <a:pPr/>
              <a:t>‹#›</a:t>
            </a:fld>
            <a:endParaRPr lang="en-US" dirty="0">
              <a:solidFill>
                <a:srgbClr val="363636"/>
              </a:solidFill>
              <a:latin typeface="Calibri"/>
            </a:endParaRPr>
          </a:p>
        </p:txBody>
      </p:sp>
    </p:spTree>
    <p:extLst>
      <p:ext uri="{BB962C8B-B14F-4D97-AF65-F5344CB8AC3E}">
        <p14:creationId xmlns:p14="http://schemas.microsoft.com/office/powerpoint/2010/main" val="2216729367"/>
      </p:ext>
    </p:extLst>
  </p:cSld>
  <p:clrMap bg1="lt1" tx1="dk1" bg2="lt2" tx2="dk2" accent1="accent1" accent2="accent2" accent3="accent3" accent4="accent4" accent5="accent5" accent6="accent6" hlink="hlink" folHlink="folHlink"/>
  <p:sldLayoutIdLst>
    <p:sldLayoutId id="2147483981" r:id="rId1"/>
    <p:sldLayoutId id="2147483983" r:id="rId2"/>
    <p:sldLayoutId id="2147483984" r:id="rId3"/>
    <p:sldLayoutId id="2147483985" r:id="rId4"/>
    <p:sldLayoutId id="2147483986" r:id="rId5"/>
    <p:sldLayoutId id="2147483991" r:id="rId6"/>
    <p:sldLayoutId id="2147483993" r:id="rId7"/>
  </p:sldLayoutIdLst>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txStyles>
    <p:titleStyle>
      <a:lvl1pPr algn="l" defTabSz="914400" rtl="0" eaLnBrk="1" latinLnBrk="0" hangingPunct="1">
        <a:lnSpc>
          <a:spcPct val="80000"/>
        </a:lnSpc>
        <a:spcBef>
          <a:spcPct val="0"/>
        </a:spcBef>
        <a:buNone/>
        <a:defRPr sz="3600" kern="1200" cap="all">
          <a:solidFill>
            <a:srgbClr val="FFFFFF"/>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FFFFFF"/>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rgbClr val="FFFFFF"/>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rgbClr val="FFFFFF"/>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rgbClr val="FFFFFF"/>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rgbClr val="FFFFFF"/>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hyperlink" Target="http://ctt.ec/n01pt" TargetMode="External"/><Relationship Id="rId7" Type="http://schemas.openxmlformats.org/officeDocument/2006/relationships/image" Target="../media/image11.png"/><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hyperlink" Target="http://ctt.ec/b16u3" TargetMode="External"/><Relationship Id="rId7" Type="http://schemas.openxmlformats.org/officeDocument/2006/relationships/image" Target="../media/image11.png"/><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chart" Target="../charts/chart1.xml"/><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hyperlink" Target="http://ctt.ec/8A0ZE" TargetMode="External"/><Relationship Id="rId9" Type="http://schemas.openxmlformats.org/officeDocument/2006/relationships/image" Target="../media/image11.png"/><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1" Type="http://schemas.openxmlformats.org/officeDocument/2006/relationships/hyperlink" Target="http://ctt.ec/4hBEp" TargetMode="External"/><Relationship Id="rId12" Type="http://schemas.openxmlformats.org/officeDocument/2006/relationships/image" Target="../media/image11.png"/><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microsoft.com/office/2007/relationships/hdphoto" Target="../media/hdphoto2.wdp"/><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9.png"/><Relationship Id="rId10"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9.png"/><Relationship Id="rId5" Type="http://schemas.openxmlformats.org/officeDocument/2006/relationships/image" Target="../media/image20.png"/><Relationship Id="rId6" Type="http://schemas.openxmlformats.org/officeDocument/2006/relationships/hyperlink" Target="http://ctt.ec/ld5fA" TargetMode="External"/><Relationship Id="rId7" Type="http://schemas.openxmlformats.org/officeDocument/2006/relationships/image" Target="../media/image11.png"/><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1" Type="http://schemas.openxmlformats.org/officeDocument/2006/relationships/slideLayout" Target="../slideLayouts/slideLayout2.xml"/><Relationship Id="rId2" Type="http://schemas.openxmlformats.org/officeDocument/2006/relationships/image" Target="../media/image23.emf"/></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27.png"/><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 Id="rId3" Type="http://schemas.openxmlformats.org/officeDocument/2006/relationships/image" Target="../media/image3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9.png"/><Relationship Id="rId3"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microsoft.com/office/2007/relationships/hdphoto" Target="../media/hdphoto3.wdp"/><Relationship Id="rId8" Type="http://schemas.openxmlformats.org/officeDocument/2006/relationships/image" Target="../media/image52.png"/><Relationship Id="rId9" Type="http://schemas.microsoft.com/office/2007/relationships/hdphoto" Target="../media/hdphoto4.wdp"/><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microsoft.com/office/2007/relationships/hdphoto" Target="../media/hdphoto3.wdp"/><Relationship Id="rId8" Type="http://schemas.openxmlformats.org/officeDocument/2006/relationships/image" Target="../media/image52.png"/><Relationship Id="rId9" Type="http://schemas.microsoft.com/office/2007/relationships/hdphoto" Target="../media/hdphoto4.wdp"/><Relationship Id="rId10" Type="http://schemas.openxmlformats.org/officeDocument/2006/relationships/image" Target="../media/image41.png"/><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5.wdp"/><Relationship Id="rId4" Type="http://schemas.openxmlformats.org/officeDocument/2006/relationships/image" Target="../media/image55.png"/><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536" y="4581128"/>
            <a:ext cx="8496944" cy="936104"/>
          </a:xfrm>
        </p:spPr>
        <p:txBody>
          <a:bodyPr>
            <a:noAutofit/>
          </a:bodyPr>
          <a:lstStyle/>
          <a:p>
            <a:r>
              <a:rPr lang="en-US" sz="1800" dirty="0" smtClean="0">
                <a:latin typeface="Open Sans"/>
                <a:cs typeface="Open Sans"/>
              </a:rPr>
              <a:t>Open source hygiene </a:t>
            </a:r>
            <a:r>
              <a:rPr lang="en-US" sz="1800" dirty="0"/>
              <a:t>– Mitigating Security Risks from Development, Integration, Distribution and Deployment of Open Source </a:t>
            </a:r>
            <a:r>
              <a:rPr lang="en-US" sz="1800" dirty="0" smtClean="0"/>
              <a:t>Software</a:t>
            </a:r>
            <a:endParaRPr lang="en-US" sz="1800" dirty="0"/>
          </a:p>
        </p:txBody>
      </p:sp>
      <p:sp>
        <p:nvSpPr>
          <p:cNvPr id="3" name="Subtitle 2"/>
          <p:cNvSpPr>
            <a:spLocks noGrp="1"/>
          </p:cNvSpPr>
          <p:nvPr>
            <p:ph type="subTitle" idx="1"/>
          </p:nvPr>
        </p:nvSpPr>
        <p:spPr>
          <a:xfrm>
            <a:off x="971600" y="5589240"/>
            <a:ext cx="7374816" cy="892274"/>
          </a:xfrm>
        </p:spPr>
        <p:txBody>
          <a:bodyPr>
            <a:normAutofit/>
          </a:bodyPr>
          <a:lstStyle/>
          <a:p>
            <a:r>
              <a:rPr lang="en-US" sz="1700" dirty="0" smtClean="0"/>
              <a:t>Bill Weinberg, Senior Director, Open Source Strategy, Black Duck Software</a:t>
            </a:r>
          </a:p>
          <a:p>
            <a:r>
              <a:rPr lang="en-US" dirty="0" err="1" smtClean="0"/>
              <a:t>RVAsec</a:t>
            </a:r>
            <a:r>
              <a:rPr lang="en-US" dirty="0" smtClean="0"/>
              <a:t> – June 5, 2015</a:t>
            </a:r>
            <a:endParaRPr lang="en-US" dirty="0"/>
          </a:p>
        </p:txBody>
      </p:sp>
    </p:spTree>
    <p:extLst>
      <p:ext uri="{BB962C8B-B14F-4D97-AF65-F5344CB8AC3E}">
        <p14:creationId xmlns:p14="http://schemas.microsoft.com/office/powerpoint/2010/main" val="131390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Presentation abstract</a:t>
            </a:r>
            <a:endParaRPr lang="en-US" dirty="0"/>
          </a:p>
        </p:txBody>
      </p:sp>
      <p:sp>
        <p:nvSpPr>
          <p:cNvPr id="3" name="Content Placeholder 2"/>
          <p:cNvSpPr>
            <a:spLocks noGrp="1"/>
          </p:cNvSpPr>
          <p:nvPr>
            <p:ph idx="1"/>
          </p:nvPr>
        </p:nvSpPr>
        <p:spPr/>
        <p:txBody>
          <a:bodyPr>
            <a:normAutofit/>
          </a:bodyPr>
          <a:lstStyle/>
          <a:p>
            <a:r>
              <a:rPr lang="en-US" sz="1900" b="1" dirty="0">
                <a:latin typeface="Open Sans"/>
                <a:cs typeface="Open Sans"/>
              </a:rPr>
              <a:t>OSS Hygiene – Mitigating Security Risks from Development, Integration, Distribution and Deployment of Open Source Software</a:t>
            </a:r>
            <a:endParaRPr lang="en-US" sz="1900" dirty="0">
              <a:latin typeface="Open Sans"/>
              <a:cs typeface="Open Sans"/>
            </a:endParaRPr>
          </a:p>
          <a:p>
            <a:r>
              <a:rPr lang="en-US" sz="1900" dirty="0"/>
              <a:t>Across the landscape of IT, Open Source Software (OSS) is pervasive and ubiquitous. From the cloud and web to data centers; from the desktop to mobile devices; and across a range of embedded and </a:t>
            </a:r>
            <a:r>
              <a:rPr lang="en-US" sz="1900" dirty="0" err="1"/>
              <a:t>IoT</a:t>
            </a:r>
            <a:r>
              <a:rPr lang="en-US" sz="1900" dirty="0"/>
              <a:t> applications, OSS commands an ever-increasing, dominant share of the system software stack and provides equally substantial swathes of enabling application middleware, applications themselves, and tooling. </a:t>
            </a:r>
            <a:endParaRPr lang="en-US" sz="1900" dirty="0" smtClean="0"/>
          </a:p>
          <a:p>
            <a:r>
              <a:rPr lang="en-US" sz="1900" dirty="0" smtClean="0"/>
              <a:t>While </a:t>
            </a:r>
            <a:r>
              <a:rPr lang="en-US" sz="1900" dirty="0"/>
              <a:t>rapid adoption of OSS demonstrably offers a range of advantages, the community development model presents developers, integrators and deployers with a set of accompanying challenges related to security, operational, and legal risk. Historically, foremost among these concerns stood license compliance and IP protection; however, with </a:t>
            </a:r>
            <a:r>
              <a:rPr lang="en-US" sz="1900" dirty="0" smtClean="0"/>
              <a:t>recent </a:t>
            </a:r>
            <a:r>
              <a:rPr lang="en-US" sz="1900" dirty="0"/>
              <a:t>highly publicized threats to OSS, security has joined these concerns and today dominates the OSS adoption conversation. </a:t>
            </a:r>
            <a:endParaRPr lang="en-US" sz="1900" dirty="0" smtClean="0"/>
          </a:p>
          <a:p>
            <a:r>
              <a:rPr lang="en-US" sz="1900" dirty="0" smtClean="0"/>
              <a:t>This </a:t>
            </a:r>
            <a:r>
              <a:rPr lang="en-US" sz="1900" dirty="0"/>
              <a:t>presentation will explore the role of and requirements for secure development of and deployment with OSS.</a:t>
            </a:r>
          </a:p>
          <a:p>
            <a:endParaRPr lang="en-US" dirty="0"/>
          </a:p>
        </p:txBody>
      </p:sp>
    </p:spTree>
    <p:extLst>
      <p:ext uri="{BB962C8B-B14F-4D97-AF65-F5344CB8AC3E}">
        <p14:creationId xmlns:p14="http://schemas.microsoft.com/office/powerpoint/2010/main" val="4138245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Your speaker</a:t>
            </a:r>
            <a:endParaRPr lang="en-US" dirty="0"/>
          </a:p>
        </p:txBody>
      </p:sp>
      <p:sp>
        <p:nvSpPr>
          <p:cNvPr id="3" name="Content Placeholder 2"/>
          <p:cNvSpPr>
            <a:spLocks noGrp="1"/>
          </p:cNvSpPr>
          <p:nvPr>
            <p:ph idx="1"/>
          </p:nvPr>
        </p:nvSpPr>
        <p:spPr/>
        <p:txBody>
          <a:bodyPr>
            <a:normAutofit fontScale="92500" lnSpcReduction="10000"/>
          </a:bodyPr>
          <a:lstStyle/>
          <a:p>
            <a:r>
              <a:rPr lang="en-US" i="1" dirty="0" smtClean="0">
                <a:latin typeface="Open Sans"/>
                <a:cs typeface="Open Sans"/>
              </a:rPr>
              <a:t>Bill Weinberg, Senior Director, Open Source Strategy – Black Duck Software</a:t>
            </a:r>
          </a:p>
          <a:p>
            <a:r>
              <a:rPr lang="en-US" i="1" dirty="0" smtClean="0"/>
              <a:t>Bill helps </a:t>
            </a:r>
            <a:r>
              <a:rPr lang="en-US" i="1" dirty="0"/>
              <a:t>Fortune 1000 clients create sound approaches to enable, </a:t>
            </a:r>
            <a:r>
              <a:rPr lang="en-US" i="1" dirty="0" smtClean="0"/>
              <a:t>build</a:t>
            </a:r>
            <a:r>
              <a:rPr lang="en-US" i="1" dirty="0"/>
              <a:t>, and deploy software for intelligent devices, enterprise data </a:t>
            </a:r>
            <a:r>
              <a:rPr lang="en-US" i="1" dirty="0" smtClean="0"/>
              <a:t>centers</a:t>
            </a:r>
            <a:r>
              <a:rPr lang="en-US" i="1" dirty="0"/>
              <a:t>, and cloud infrastructure. </a:t>
            </a:r>
            <a:endParaRPr lang="en-US" i="1" dirty="0" smtClean="0"/>
          </a:p>
          <a:p>
            <a:r>
              <a:rPr lang="en-US" i="1" dirty="0" smtClean="0"/>
              <a:t>Working </a:t>
            </a:r>
            <a:r>
              <a:rPr lang="en-US" i="1" dirty="0"/>
              <a:t>with FOSS since 1997, Bill also boasts more than thirty </a:t>
            </a:r>
            <a:r>
              <a:rPr lang="en-US" i="1" dirty="0" smtClean="0"/>
              <a:t>years</a:t>
            </a:r>
            <a:br>
              <a:rPr lang="en-US" i="1" dirty="0" smtClean="0"/>
            </a:br>
            <a:r>
              <a:rPr lang="en-US" i="1" dirty="0" smtClean="0"/>
              <a:t>of </a:t>
            </a:r>
            <a:r>
              <a:rPr lang="en-US" i="1" dirty="0"/>
              <a:t>experience in embedded and open systems, telecommunications, </a:t>
            </a:r>
            <a:r>
              <a:rPr lang="en-US" i="1" dirty="0" smtClean="0"/>
              <a:t/>
            </a:r>
            <a:br>
              <a:rPr lang="en-US" i="1" dirty="0" smtClean="0"/>
            </a:br>
            <a:r>
              <a:rPr lang="en-US" i="1" dirty="0" smtClean="0"/>
              <a:t>and </a:t>
            </a:r>
            <a:r>
              <a:rPr lang="en-US" i="1" dirty="0"/>
              <a:t>enterprise software. As a founding team-member at MontaVista Software, Bill pioneered Linux as leading platform for intelligent and mobile devices. During his tenure as Senior Analyst at OSDL (today, the Linux Foundation), Bill ran Carrier Grade and Mobile Linux initiatives and worked closely with foundation members, analyst firms, and the press. As General Manager of the Linux Phone Standards Forum, he worked tireless to establish standards for mobile telephony middleware. </a:t>
            </a:r>
            <a:endParaRPr lang="en-US" i="1" dirty="0" smtClean="0"/>
          </a:p>
          <a:p>
            <a:r>
              <a:rPr lang="en-US" i="1" dirty="0" smtClean="0"/>
              <a:t>Bill </a:t>
            </a:r>
            <a:r>
              <a:rPr lang="en-US" i="1" dirty="0"/>
              <a:t>is also a prolific author and busy speaker on topics spanning </a:t>
            </a:r>
            <a:r>
              <a:rPr lang="en-US" i="1" dirty="0" smtClean="0"/>
              <a:t/>
            </a:r>
            <a:br>
              <a:rPr lang="en-US" i="1" dirty="0" smtClean="0"/>
            </a:br>
            <a:r>
              <a:rPr lang="en-US" i="1" dirty="0" smtClean="0"/>
              <a:t>global </a:t>
            </a:r>
            <a:r>
              <a:rPr lang="en-US" i="1" dirty="0"/>
              <a:t>FOSS adoption to real-time computing, </a:t>
            </a:r>
            <a:r>
              <a:rPr lang="en-US" i="1" dirty="0" err="1"/>
              <a:t>IoT</a:t>
            </a:r>
            <a:r>
              <a:rPr lang="en-US" i="1" dirty="0"/>
              <a:t>, legacy migration, </a:t>
            </a:r>
            <a:r>
              <a:rPr lang="en-US" i="1" dirty="0" smtClean="0"/>
              <a:t/>
            </a:r>
            <a:br>
              <a:rPr lang="en-US" i="1" dirty="0" smtClean="0"/>
            </a:br>
            <a:r>
              <a:rPr lang="en-US" i="1" dirty="0" smtClean="0"/>
              <a:t>licensing</a:t>
            </a:r>
            <a:r>
              <a:rPr lang="en-US" i="1" dirty="0"/>
              <a:t>, standardization, telecoms infrastructure, and mobile </a:t>
            </a:r>
            <a:r>
              <a:rPr lang="en-US" i="1" dirty="0" smtClean="0"/>
              <a:t/>
            </a:r>
            <a:br>
              <a:rPr lang="en-US" i="1" dirty="0" smtClean="0"/>
            </a:br>
            <a:r>
              <a:rPr lang="en-US" i="1" dirty="0" smtClean="0"/>
              <a:t>applications</a:t>
            </a:r>
            <a:r>
              <a:rPr lang="en-US" i="1" dirty="0"/>
              <a:t>. Learn more at http://</a:t>
            </a:r>
            <a:r>
              <a:rPr lang="en-US" i="1" dirty="0" err="1"/>
              <a:t>www.linuxpundit.com</a:t>
            </a:r>
            <a:r>
              <a:rPr lang="en-US" i="1" dirty="0"/>
              <a:t>/.</a:t>
            </a:r>
            <a:endParaRPr lang="en-US" dirty="0"/>
          </a:p>
        </p:txBody>
      </p:sp>
      <p:pic>
        <p:nvPicPr>
          <p:cNvPr id="4" name="Picture 3" descr="cartoon1_trans copy.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8121" y="4653136"/>
            <a:ext cx="1204359" cy="1389644"/>
          </a:xfrm>
          <a:prstGeom prst="rect">
            <a:avLst/>
          </a:prstGeom>
        </p:spPr>
      </p:pic>
    </p:spTree>
    <p:extLst>
      <p:ext uri="{BB962C8B-B14F-4D97-AF65-F5344CB8AC3E}">
        <p14:creationId xmlns:p14="http://schemas.microsoft.com/office/powerpoint/2010/main" val="359742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pPr marL="457200" indent="-457200">
              <a:buFont typeface="Arial"/>
              <a:buChar char="•"/>
            </a:pPr>
            <a:r>
              <a:rPr lang="en-US" sz="2800" dirty="0" smtClean="0"/>
              <a:t>Open Source – Present and Future</a:t>
            </a:r>
          </a:p>
          <a:p>
            <a:pPr marL="457200" indent="-457200">
              <a:buFont typeface="Arial"/>
              <a:buChar char="•"/>
            </a:pPr>
            <a:r>
              <a:rPr lang="en-US" sz="2800" dirty="0" smtClean="0"/>
              <a:t>The Open Source Vulnerability Landscape</a:t>
            </a:r>
          </a:p>
          <a:p>
            <a:pPr marL="457200" indent="-457200">
              <a:buFont typeface="Arial"/>
              <a:buChar char="•"/>
            </a:pPr>
            <a:r>
              <a:rPr lang="en-US" sz="2800" dirty="0" smtClean="0"/>
              <a:t>The Open Source Development Model</a:t>
            </a:r>
          </a:p>
          <a:p>
            <a:pPr marL="457200" indent="-457200">
              <a:buFont typeface="Arial"/>
              <a:buChar char="•"/>
            </a:pPr>
            <a:r>
              <a:rPr lang="en-US" sz="2800" dirty="0" smtClean="0"/>
              <a:t>Open Source Hygiene</a:t>
            </a:r>
            <a:endParaRPr lang="en-US" sz="2800" dirty="0"/>
          </a:p>
          <a:p>
            <a:pPr marL="457200" indent="-457200">
              <a:buFont typeface="Arial"/>
              <a:buChar char="•"/>
            </a:pPr>
            <a:r>
              <a:rPr lang="en-US" sz="2800" dirty="0" smtClean="0"/>
              <a:t>Q&amp;A</a:t>
            </a:r>
            <a:endParaRPr lang="en-US" sz="2800" dirty="0"/>
          </a:p>
          <a:p>
            <a:endParaRPr lang="en-US" dirty="0"/>
          </a:p>
        </p:txBody>
      </p:sp>
    </p:spTree>
    <p:extLst>
      <p:ext uri="{BB962C8B-B14F-4D97-AF65-F5344CB8AC3E}">
        <p14:creationId xmlns:p14="http://schemas.microsoft.com/office/powerpoint/2010/main" val="4109241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71670" y="2338020"/>
            <a:ext cx="6416554" cy="1180306"/>
          </a:xfrm>
        </p:spPr>
        <p:txBody>
          <a:bodyPr/>
          <a:lstStyle/>
          <a:p>
            <a:r>
              <a:rPr lang="en-US" dirty="0" smtClean="0"/>
              <a:t>Open source is unstoppable</a:t>
            </a:r>
            <a:endParaRPr lang="en-US" dirty="0"/>
          </a:p>
        </p:txBody>
      </p:sp>
      <p:sp>
        <p:nvSpPr>
          <p:cNvPr id="5" name="Subtitle 4"/>
          <p:cNvSpPr>
            <a:spLocks noGrp="1"/>
          </p:cNvSpPr>
          <p:nvPr>
            <p:ph type="subTitle" idx="1"/>
          </p:nvPr>
        </p:nvSpPr>
        <p:spPr/>
        <p:txBody>
          <a:bodyPr/>
          <a:lstStyle/>
          <a:p>
            <a:r>
              <a:rPr lang="en-US" dirty="0" smtClean="0"/>
              <a:t>The 2015 Future of Open Source Survey</a:t>
            </a:r>
            <a:endParaRPr lang="en-US" dirty="0"/>
          </a:p>
        </p:txBody>
      </p:sp>
    </p:spTree>
    <p:extLst>
      <p:ext uri="{BB962C8B-B14F-4D97-AF65-F5344CB8AC3E}">
        <p14:creationId xmlns:p14="http://schemas.microsoft.com/office/powerpoint/2010/main" val="3289087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0" y="-27384"/>
            <a:ext cx="9144000" cy="5334000"/>
          </a:xfrm>
          <a:prstGeom prst="rect">
            <a:avLst/>
          </a:prstGeom>
        </p:spPr>
      </p:pic>
      <p:sp>
        <p:nvSpPr>
          <p:cNvPr id="2" name="Title 1"/>
          <p:cNvSpPr>
            <a:spLocks noGrp="1"/>
          </p:cNvSpPr>
          <p:nvPr>
            <p:ph type="title"/>
          </p:nvPr>
        </p:nvSpPr>
        <p:spPr>
          <a:xfrm>
            <a:off x="381000" y="3484178"/>
            <a:ext cx="6019800" cy="1818291"/>
          </a:xfrm>
        </p:spPr>
        <p:txBody>
          <a:bodyPr>
            <a:normAutofit/>
          </a:bodyPr>
          <a:lstStyle/>
          <a:p>
            <a:pPr>
              <a:lnSpc>
                <a:spcPct val="70000"/>
              </a:lnSpc>
            </a:pPr>
            <a:r>
              <a:rPr lang="en-US" sz="8800" b="1" dirty="0" smtClean="0">
                <a:solidFill>
                  <a:schemeClr val="bg1"/>
                </a:solidFill>
              </a:rPr>
              <a:t>78</a:t>
            </a:r>
            <a:r>
              <a:rPr lang="en-US" sz="8800" b="1" dirty="0" smtClean="0"/>
              <a:t>% </a:t>
            </a:r>
            <a:r>
              <a:rPr lang="en-US" b="1" dirty="0" smtClean="0"/>
              <a:t>of Companies </a:t>
            </a:r>
            <a:br>
              <a:rPr lang="en-US" b="1" dirty="0" smtClean="0"/>
            </a:br>
            <a:r>
              <a:rPr lang="en-US" b="1" dirty="0" smtClean="0"/>
              <a:t>run </a:t>
            </a:r>
            <a:r>
              <a:rPr lang="en-US" b="1" dirty="0" smtClean="0">
                <a:latin typeface="Calibri"/>
                <a:cs typeface="Calibri"/>
              </a:rPr>
              <a:t>on open source</a:t>
            </a:r>
            <a:endParaRPr lang="en-US" b="1" dirty="0">
              <a:latin typeface="Calibri"/>
              <a:cs typeface="Calibri"/>
            </a:endParaRPr>
          </a:p>
        </p:txBody>
      </p:sp>
      <p:sp>
        <p:nvSpPr>
          <p:cNvPr id="3" name="Content Placeholder 2"/>
          <p:cNvSpPr txBox="1">
            <a:spLocks/>
          </p:cNvSpPr>
          <p:nvPr/>
        </p:nvSpPr>
        <p:spPr>
          <a:xfrm>
            <a:off x="457200" y="2590800"/>
            <a:ext cx="8229600" cy="353536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rgbClr val="FFFFFF"/>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rgbClr val="FFFFFF"/>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rgbClr val="FFFFFF"/>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rgbClr val="FFFFFF"/>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rgbClr val="FFFFFF"/>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mtClean="0">
                <a:latin typeface="Calibri"/>
              </a:rPr>
              <a:t> </a:t>
            </a:r>
            <a:endParaRPr lang="en-US" dirty="0">
              <a:latin typeface="Calibri"/>
            </a:endParaRPr>
          </a:p>
        </p:txBody>
      </p:sp>
      <p:sp>
        <p:nvSpPr>
          <p:cNvPr id="11" name="TextBox 10"/>
          <p:cNvSpPr txBox="1"/>
          <p:nvPr/>
        </p:nvSpPr>
        <p:spPr>
          <a:xfrm>
            <a:off x="0" y="5607895"/>
            <a:ext cx="9144000" cy="892552"/>
          </a:xfrm>
          <a:prstGeom prst="rect">
            <a:avLst/>
          </a:prstGeom>
          <a:noFill/>
        </p:spPr>
        <p:txBody>
          <a:bodyPr wrap="square" rtlCol="0">
            <a:spAutoFit/>
          </a:bodyPr>
          <a:lstStyle/>
          <a:p>
            <a:pPr algn="ctr"/>
            <a:r>
              <a:rPr lang="en-US" sz="3200" b="1" dirty="0" smtClean="0">
                <a:solidFill>
                  <a:prstClr val="white"/>
                </a:solidFill>
                <a:latin typeface="Calibri"/>
              </a:rPr>
              <a:t>LESS THAN 3%</a:t>
            </a:r>
          </a:p>
          <a:p>
            <a:pPr algn="ctr"/>
            <a:r>
              <a:rPr lang="en-US" sz="2000" dirty="0" smtClean="0">
                <a:solidFill>
                  <a:prstClr val="white"/>
                </a:solidFill>
                <a:latin typeface="Calibri"/>
                <a:cs typeface="Calibri"/>
              </a:rPr>
              <a:t>DON’T USE OSS IN ANY WAY</a:t>
            </a:r>
            <a:endParaRPr lang="en-US" sz="2000" dirty="0">
              <a:solidFill>
                <a:prstClr val="white"/>
              </a:solidFill>
              <a:latin typeface="Calibri"/>
              <a:cs typeface="Calibri"/>
            </a:endParaRPr>
          </a:p>
        </p:txBody>
      </p:sp>
      <p:grpSp>
        <p:nvGrpSpPr>
          <p:cNvPr id="15" name="Group 14"/>
          <p:cNvGrpSpPr/>
          <p:nvPr/>
        </p:nvGrpSpPr>
        <p:grpSpPr>
          <a:xfrm>
            <a:off x="0" y="152400"/>
            <a:ext cx="1109882" cy="1375834"/>
            <a:chOff x="0" y="152400"/>
            <a:chExt cx="1109882" cy="1375834"/>
          </a:xfrm>
        </p:grpSpPr>
        <p:pic>
          <p:nvPicPr>
            <p:cNvPr id="17" name="Picture 16" descr="hexagon flags.png"/>
            <p:cNvPicPr>
              <a:picLocks noChangeAspect="1"/>
            </p:cNvPicPr>
            <p:nvPr/>
          </p:nvPicPr>
          <p:blipFill>
            <a:blip r:embed="rId4" cstate="print">
              <a:extLst>
                <a:ext uri="{28A0092B-C50C-407E-A947-70E740481C1C}">
                  <a14:useLocalDpi xmlns:a14="http://schemas.microsoft.com/office/drawing/2010/main"/>
                </a:ext>
              </a:extLst>
            </a:blip>
            <a:srcRect t="76909" r="72143"/>
            <a:stretch>
              <a:fillRect/>
            </a:stretch>
          </p:blipFill>
          <p:spPr>
            <a:xfrm>
              <a:off x="0" y="152400"/>
              <a:ext cx="1109882" cy="1375834"/>
            </a:xfrm>
            <a:prstGeom prst="rect">
              <a:avLst/>
            </a:prstGeom>
          </p:spPr>
        </p:pic>
        <p:sp>
          <p:nvSpPr>
            <p:cNvPr id="26" name="TextBox 25"/>
            <p:cNvSpPr txBox="1"/>
            <p:nvPr/>
          </p:nvSpPr>
          <p:spPr>
            <a:xfrm rot="16200000">
              <a:off x="-427398" y="662099"/>
              <a:ext cx="1300480" cy="384721"/>
            </a:xfrm>
            <a:prstGeom prst="rect">
              <a:avLst/>
            </a:prstGeom>
            <a:noFill/>
          </p:spPr>
          <p:txBody>
            <a:bodyPr wrap="square" rtlCol="0">
              <a:spAutoFit/>
            </a:bodyPr>
            <a:lstStyle/>
            <a:p>
              <a:pPr algn="ctr"/>
              <a:r>
                <a:rPr lang="en-US" sz="950" cap="all" dirty="0" smtClean="0">
                  <a:solidFill>
                    <a:prstClr val="white"/>
                  </a:solidFill>
                  <a:latin typeface="Calibri"/>
                  <a:cs typeface="Calibri"/>
                </a:rPr>
                <a:t> </a:t>
              </a:r>
            </a:p>
            <a:p>
              <a:pPr algn="ctr"/>
              <a:r>
                <a:rPr lang="en-US" sz="950" b="1" cap="all" dirty="0" smtClean="0">
                  <a:solidFill>
                    <a:prstClr val="white"/>
                  </a:solidFill>
                  <a:latin typeface="Calibri"/>
                  <a:cs typeface="Calibri"/>
                </a:rPr>
                <a:t>Corporate use</a:t>
              </a:r>
            </a:p>
          </p:txBody>
        </p:sp>
        <p:pic>
          <p:nvPicPr>
            <p:cNvPr id="27" name="Picture 26" descr="Corporate.pn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16200000">
              <a:off x="453553" y="682154"/>
              <a:ext cx="388292" cy="381000"/>
            </a:xfrm>
            <a:prstGeom prst="rect">
              <a:avLst/>
            </a:prstGeom>
          </p:spPr>
        </p:pic>
      </p:grpSp>
      <p:grpSp>
        <p:nvGrpSpPr>
          <p:cNvPr id="18" name="Group 17"/>
          <p:cNvGrpSpPr/>
          <p:nvPr/>
        </p:nvGrpSpPr>
        <p:grpSpPr>
          <a:xfrm>
            <a:off x="6106583" y="0"/>
            <a:ext cx="1477299" cy="814917"/>
            <a:chOff x="6106583" y="0"/>
            <a:chExt cx="1477299" cy="814917"/>
          </a:xfrm>
        </p:grpSpPr>
        <p:pic>
          <p:nvPicPr>
            <p:cNvPr id="19" name="Picture 18" descr="hexagon flags.png"/>
            <p:cNvPicPr>
              <a:picLocks noChangeAspect="1"/>
            </p:cNvPicPr>
            <p:nvPr/>
          </p:nvPicPr>
          <p:blipFill>
            <a:blip r:embed="rId4" cstate="print">
              <a:extLst>
                <a:ext uri="{28A0092B-C50C-407E-A947-70E740481C1C}">
                  <a14:useLocalDpi xmlns:a14="http://schemas.microsoft.com/office/drawing/2010/main"/>
                </a:ext>
              </a:extLst>
            </a:blip>
            <a:srcRect l="62921" b="86323"/>
            <a:stretch>
              <a:fillRect/>
            </a:stretch>
          </p:blipFill>
          <p:spPr>
            <a:xfrm>
              <a:off x="6106583" y="0"/>
              <a:ext cx="1477299" cy="814917"/>
            </a:xfrm>
            <a:prstGeom prst="rect">
              <a:avLst/>
            </a:prstGeom>
          </p:spPr>
        </p:pic>
        <p:sp>
          <p:nvSpPr>
            <p:cNvPr id="20" name="TextBox 19">
              <a:hlinkClick r:id="rId6"/>
            </p:cNvPr>
            <p:cNvSpPr txBox="1"/>
            <p:nvPr/>
          </p:nvSpPr>
          <p:spPr>
            <a:xfrm>
              <a:off x="6268720" y="0"/>
              <a:ext cx="1300480" cy="384721"/>
            </a:xfrm>
            <a:prstGeom prst="rect">
              <a:avLst/>
            </a:prstGeom>
            <a:noFill/>
          </p:spPr>
          <p:txBody>
            <a:bodyPr wrap="square" rtlCol="0">
              <a:spAutoFit/>
            </a:bodyPr>
            <a:lstStyle/>
            <a:p>
              <a:pPr algn="ctr"/>
              <a:r>
                <a:rPr lang="en-US" sz="950" cap="all" dirty="0" smtClean="0">
                  <a:solidFill>
                    <a:prstClr val="white"/>
                  </a:solidFill>
                  <a:latin typeface="Calibri"/>
                  <a:cs typeface="Calibri"/>
                </a:rPr>
                <a:t>@futureofoss #FutureOSS</a:t>
              </a:r>
            </a:p>
          </p:txBody>
        </p:sp>
        <p:pic>
          <p:nvPicPr>
            <p:cNvPr id="28" name="Picture 27" descr="twitter white.png"/>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790814" y="416560"/>
              <a:ext cx="256293" cy="208295"/>
            </a:xfrm>
            <a:prstGeom prst="rect">
              <a:avLst/>
            </a:prstGeom>
          </p:spPr>
        </p:pic>
      </p:grpSp>
    </p:spTree>
    <p:extLst>
      <p:ext uri="{BB962C8B-B14F-4D97-AF65-F5344CB8AC3E}">
        <p14:creationId xmlns:p14="http://schemas.microsoft.com/office/powerpoint/2010/main" val="2229378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4398" t="23909" r="10486"/>
          <a:stretch/>
        </p:blipFill>
        <p:spPr>
          <a:xfrm>
            <a:off x="0" y="-27384"/>
            <a:ext cx="9144000" cy="6946900"/>
          </a:xfrm>
          <a:prstGeom prst="rect">
            <a:avLst/>
          </a:prstGeom>
        </p:spPr>
      </p:pic>
      <p:sp>
        <p:nvSpPr>
          <p:cNvPr id="3" name="Content Placeholder 2"/>
          <p:cNvSpPr txBox="1">
            <a:spLocks/>
          </p:cNvSpPr>
          <p:nvPr/>
        </p:nvSpPr>
        <p:spPr>
          <a:xfrm>
            <a:off x="457200" y="2590800"/>
            <a:ext cx="8229600" cy="353536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rgbClr val="FFFFFF"/>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rgbClr val="FFFFFF"/>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rgbClr val="FFFFFF"/>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rgbClr val="FFFFFF"/>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rgbClr val="FFFFFF"/>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mtClean="0">
                <a:latin typeface="Calibri"/>
              </a:rPr>
              <a:t> </a:t>
            </a:r>
            <a:endParaRPr lang="en-US" dirty="0">
              <a:latin typeface="Calibri"/>
            </a:endParaRPr>
          </a:p>
        </p:txBody>
      </p:sp>
      <p:grpSp>
        <p:nvGrpSpPr>
          <p:cNvPr id="15" name="Group 14"/>
          <p:cNvGrpSpPr/>
          <p:nvPr/>
        </p:nvGrpSpPr>
        <p:grpSpPr>
          <a:xfrm>
            <a:off x="0" y="152400"/>
            <a:ext cx="1109882" cy="1375834"/>
            <a:chOff x="0" y="152400"/>
            <a:chExt cx="1109882" cy="1375834"/>
          </a:xfrm>
        </p:grpSpPr>
        <p:pic>
          <p:nvPicPr>
            <p:cNvPr id="17" name="Picture 16" descr="hexagon flags.png"/>
            <p:cNvPicPr>
              <a:picLocks noChangeAspect="1"/>
            </p:cNvPicPr>
            <p:nvPr/>
          </p:nvPicPr>
          <p:blipFill>
            <a:blip r:embed="rId4" cstate="print">
              <a:extLst>
                <a:ext uri="{28A0092B-C50C-407E-A947-70E740481C1C}">
                  <a14:useLocalDpi xmlns:a14="http://schemas.microsoft.com/office/drawing/2010/main"/>
                </a:ext>
              </a:extLst>
            </a:blip>
            <a:srcRect t="76909" r="72143"/>
            <a:stretch>
              <a:fillRect/>
            </a:stretch>
          </p:blipFill>
          <p:spPr>
            <a:xfrm>
              <a:off x="0" y="152400"/>
              <a:ext cx="1109882" cy="1375834"/>
            </a:xfrm>
            <a:prstGeom prst="rect">
              <a:avLst/>
            </a:prstGeom>
          </p:spPr>
        </p:pic>
        <p:sp>
          <p:nvSpPr>
            <p:cNvPr id="26" name="TextBox 25"/>
            <p:cNvSpPr txBox="1"/>
            <p:nvPr/>
          </p:nvSpPr>
          <p:spPr>
            <a:xfrm rot="16200000">
              <a:off x="-427398" y="662099"/>
              <a:ext cx="1300480" cy="384721"/>
            </a:xfrm>
            <a:prstGeom prst="rect">
              <a:avLst/>
            </a:prstGeom>
            <a:noFill/>
          </p:spPr>
          <p:txBody>
            <a:bodyPr wrap="square" rtlCol="0">
              <a:spAutoFit/>
            </a:bodyPr>
            <a:lstStyle/>
            <a:p>
              <a:pPr algn="ctr"/>
              <a:r>
                <a:rPr lang="en-US" sz="950" cap="all" dirty="0" smtClean="0">
                  <a:solidFill>
                    <a:prstClr val="white"/>
                  </a:solidFill>
                  <a:latin typeface="Calibri"/>
                  <a:cs typeface="Calibri"/>
                </a:rPr>
                <a:t> </a:t>
              </a:r>
            </a:p>
            <a:p>
              <a:pPr algn="ctr"/>
              <a:r>
                <a:rPr lang="en-US" sz="950" b="1" cap="all" dirty="0" smtClean="0">
                  <a:solidFill>
                    <a:prstClr val="white"/>
                  </a:solidFill>
                  <a:latin typeface="Calibri"/>
                  <a:cs typeface="Calibri"/>
                </a:rPr>
                <a:t>Corporate use</a:t>
              </a:r>
            </a:p>
          </p:txBody>
        </p:sp>
        <p:pic>
          <p:nvPicPr>
            <p:cNvPr id="27" name="Picture 26" descr="Corporate.pn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16200000">
              <a:off x="453553" y="682154"/>
              <a:ext cx="388292" cy="381000"/>
            </a:xfrm>
            <a:prstGeom prst="rect">
              <a:avLst/>
            </a:prstGeom>
          </p:spPr>
        </p:pic>
      </p:grpSp>
      <p:sp>
        <p:nvSpPr>
          <p:cNvPr id="2" name="Title 1"/>
          <p:cNvSpPr>
            <a:spLocks noGrp="1"/>
          </p:cNvSpPr>
          <p:nvPr>
            <p:ph type="title"/>
          </p:nvPr>
        </p:nvSpPr>
        <p:spPr>
          <a:xfrm>
            <a:off x="2590800" y="1981200"/>
            <a:ext cx="3733800" cy="1818291"/>
          </a:xfrm>
        </p:spPr>
        <p:txBody>
          <a:bodyPr>
            <a:normAutofit/>
          </a:bodyPr>
          <a:lstStyle/>
          <a:p>
            <a:pPr algn="ctr">
              <a:lnSpc>
                <a:spcPct val="70000"/>
              </a:lnSpc>
            </a:pPr>
            <a:r>
              <a:rPr lang="en-US" sz="16000" b="1" dirty="0" smtClean="0">
                <a:solidFill>
                  <a:schemeClr val="bg1"/>
                </a:solidFill>
              </a:rPr>
              <a:t>2</a:t>
            </a:r>
            <a:r>
              <a:rPr lang="en-US" sz="9500" b="1" dirty="0" smtClean="0">
                <a:solidFill>
                  <a:schemeClr val="bg1"/>
                </a:solidFill>
              </a:rPr>
              <a:t>x</a:t>
            </a:r>
            <a:endParaRPr lang="en-US" sz="9500" b="1" dirty="0">
              <a:latin typeface="Calibri"/>
              <a:cs typeface="Calibri"/>
            </a:endParaRPr>
          </a:p>
        </p:txBody>
      </p:sp>
      <p:sp>
        <p:nvSpPr>
          <p:cNvPr id="28" name="TextBox 27"/>
          <p:cNvSpPr txBox="1"/>
          <p:nvPr/>
        </p:nvSpPr>
        <p:spPr>
          <a:xfrm>
            <a:off x="-76200" y="3429000"/>
            <a:ext cx="9144000" cy="584776"/>
          </a:xfrm>
          <a:prstGeom prst="rect">
            <a:avLst/>
          </a:prstGeom>
          <a:noFill/>
        </p:spPr>
        <p:txBody>
          <a:bodyPr wrap="square" rtlCol="0">
            <a:spAutoFit/>
          </a:bodyPr>
          <a:lstStyle/>
          <a:p>
            <a:pPr algn="ctr"/>
            <a:r>
              <a:rPr lang="en-US" sz="3200" dirty="0" smtClean="0">
                <a:solidFill>
                  <a:srgbClr val="FFFFFF"/>
                </a:solidFill>
                <a:latin typeface="Calibri"/>
              </a:rPr>
              <a:t>SINCE 2010</a:t>
            </a:r>
            <a:endParaRPr lang="en-US" sz="3200" dirty="0">
              <a:solidFill>
                <a:srgbClr val="FFFFFF"/>
              </a:solidFill>
              <a:latin typeface="Calibri"/>
              <a:cs typeface="Calibri"/>
            </a:endParaRPr>
          </a:p>
        </p:txBody>
      </p:sp>
      <p:sp>
        <p:nvSpPr>
          <p:cNvPr id="29" name="TextBox 28"/>
          <p:cNvSpPr txBox="1"/>
          <p:nvPr/>
        </p:nvSpPr>
        <p:spPr>
          <a:xfrm>
            <a:off x="-76200" y="1135609"/>
            <a:ext cx="9144000" cy="921791"/>
          </a:xfrm>
          <a:prstGeom prst="rect">
            <a:avLst/>
          </a:prstGeom>
          <a:noFill/>
        </p:spPr>
        <p:txBody>
          <a:bodyPr wrap="square" rtlCol="0">
            <a:spAutoFit/>
          </a:bodyPr>
          <a:lstStyle/>
          <a:p>
            <a:pPr algn="ctr">
              <a:lnSpc>
                <a:spcPct val="80000"/>
              </a:lnSpc>
            </a:pPr>
            <a:r>
              <a:rPr lang="en-US" sz="3200" dirty="0" smtClean="0">
                <a:solidFill>
                  <a:srgbClr val="FFFFFF"/>
                </a:solidFill>
                <a:latin typeface="Calibri"/>
              </a:rPr>
              <a:t>USE OF OPEN SOURCE TO RUN </a:t>
            </a:r>
          </a:p>
          <a:p>
            <a:pPr algn="ctr">
              <a:lnSpc>
                <a:spcPct val="80000"/>
              </a:lnSpc>
            </a:pPr>
            <a:r>
              <a:rPr lang="en-US" sz="3200" dirty="0" smtClean="0">
                <a:solidFill>
                  <a:srgbClr val="FFFFFF"/>
                </a:solidFill>
                <a:latin typeface="Calibri"/>
              </a:rPr>
              <a:t>BUSINESS IT ENVIRONMENTS HAS GONE UP</a:t>
            </a:r>
            <a:endParaRPr lang="en-US" sz="3200" dirty="0">
              <a:solidFill>
                <a:srgbClr val="FFFFFF"/>
              </a:solidFill>
              <a:latin typeface="Calibri"/>
              <a:cs typeface="Calibri"/>
            </a:endParaRPr>
          </a:p>
        </p:txBody>
      </p:sp>
      <p:grpSp>
        <p:nvGrpSpPr>
          <p:cNvPr id="18" name="Group 17"/>
          <p:cNvGrpSpPr/>
          <p:nvPr/>
        </p:nvGrpSpPr>
        <p:grpSpPr>
          <a:xfrm>
            <a:off x="6106583" y="0"/>
            <a:ext cx="1477299" cy="814917"/>
            <a:chOff x="6106583" y="0"/>
            <a:chExt cx="1477299" cy="814917"/>
          </a:xfrm>
        </p:grpSpPr>
        <p:pic>
          <p:nvPicPr>
            <p:cNvPr id="19" name="Picture 18" descr="hexagon flags.png"/>
            <p:cNvPicPr>
              <a:picLocks noChangeAspect="1"/>
            </p:cNvPicPr>
            <p:nvPr/>
          </p:nvPicPr>
          <p:blipFill>
            <a:blip r:embed="rId4" cstate="print">
              <a:extLst>
                <a:ext uri="{28A0092B-C50C-407E-A947-70E740481C1C}">
                  <a14:useLocalDpi xmlns:a14="http://schemas.microsoft.com/office/drawing/2010/main"/>
                </a:ext>
              </a:extLst>
            </a:blip>
            <a:srcRect l="62921" b="86323"/>
            <a:stretch>
              <a:fillRect/>
            </a:stretch>
          </p:blipFill>
          <p:spPr>
            <a:xfrm>
              <a:off x="6106583" y="0"/>
              <a:ext cx="1477299" cy="814917"/>
            </a:xfrm>
            <a:prstGeom prst="rect">
              <a:avLst/>
            </a:prstGeom>
          </p:spPr>
        </p:pic>
        <p:sp>
          <p:nvSpPr>
            <p:cNvPr id="20" name="TextBox 19">
              <a:hlinkClick r:id="rId6"/>
            </p:cNvPr>
            <p:cNvSpPr txBox="1"/>
            <p:nvPr/>
          </p:nvSpPr>
          <p:spPr>
            <a:xfrm>
              <a:off x="6268720" y="0"/>
              <a:ext cx="1300480" cy="384721"/>
            </a:xfrm>
            <a:prstGeom prst="rect">
              <a:avLst/>
            </a:prstGeom>
            <a:noFill/>
          </p:spPr>
          <p:txBody>
            <a:bodyPr wrap="square" rtlCol="0">
              <a:spAutoFit/>
            </a:bodyPr>
            <a:lstStyle/>
            <a:p>
              <a:pPr algn="ctr"/>
              <a:r>
                <a:rPr lang="en-US" sz="950" cap="all" dirty="0" smtClean="0">
                  <a:solidFill>
                    <a:prstClr val="white"/>
                  </a:solidFill>
                  <a:latin typeface="Calibri"/>
                  <a:cs typeface="Calibri"/>
                </a:rPr>
                <a:t>@futureofoss #FutureOSS</a:t>
              </a:r>
            </a:p>
          </p:txBody>
        </p:sp>
        <p:pic>
          <p:nvPicPr>
            <p:cNvPr id="21" name="Picture 20" descr="twitter white.png"/>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790814" y="416560"/>
              <a:ext cx="256293" cy="208295"/>
            </a:xfrm>
            <a:prstGeom prst="rect">
              <a:avLst/>
            </a:prstGeom>
          </p:spPr>
        </p:pic>
      </p:grpSp>
    </p:spTree>
    <p:extLst>
      <p:ext uri="{BB962C8B-B14F-4D97-AF65-F5344CB8AC3E}">
        <p14:creationId xmlns:p14="http://schemas.microsoft.com/office/powerpoint/2010/main" val="4257765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9144000" cy="6858000"/>
          </a:xfrm>
          <a:prstGeom prst="rect">
            <a:avLst/>
          </a:prstGeom>
        </p:spPr>
      </p:pic>
      <p:sp>
        <p:nvSpPr>
          <p:cNvPr id="3" name="Title 1"/>
          <p:cNvSpPr>
            <a:spLocks noGrp="1"/>
          </p:cNvSpPr>
          <p:nvPr>
            <p:ph type="title"/>
          </p:nvPr>
        </p:nvSpPr>
        <p:spPr>
          <a:xfrm>
            <a:off x="1295400" y="0"/>
            <a:ext cx="7391400" cy="1600200"/>
          </a:xfrm>
        </p:spPr>
        <p:txBody>
          <a:bodyPr/>
          <a:lstStyle/>
          <a:p>
            <a:r>
              <a:rPr lang="en-US" dirty="0" smtClean="0">
                <a:latin typeface="Calibri Light"/>
                <a:cs typeface="Calibri Light"/>
              </a:rPr>
              <a:t>Increasing</a:t>
            </a:r>
            <a:r>
              <a:rPr lang="en-US" dirty="0" smtClean="0"/>
              <a:t> </a:t>
            </a:r>
            <a:r>
              <a:rPr lang="en-US" b="1" dirty="0" smtClean="0"/>
              <a:t>abundance</a:t>
            </a:r>
            <a:endParaRPr lang="en-US" b="1" dirty="0"/>
          </a:p>
        </p:txBody>
      </p:sp>
      <p:sp>
        <p:nvSpPr>
          <p:cNvPr id="4" name="TextBox 3"/>
          <p:cNvSpPr txBox="1"/>
          <p:nvPr/>
        </p:nvSpPr>
        <p:spPr>
          <a:xfrm>
            <a:off x="3162300" y="1104900"/>
            <a:ext cx="3733800" cy="609600"/>
          </a:xfrm>
          <a:prstGeom prst="rect">
            <a:avLst/>
          </a:prstGeom>
          <a:noFill/>
        </p:spPr>
        <p:txBody>
          <a:bodyPr wrap="none" lIns="36000" tIns="36000" rIns="36000" bIns="36000" rtlCol="0">
            <a:normAutofit/>
          </a:bodyPr>
          <a:lstStyle/>
          <a:p>
            <a:pPr algn="ctr"/>
            <a:r>
              <a:rPr lang="en-US" sz="2000" dirty="0" smtClean="0">
                <a:solidFill>
                  <a:srgbClr val="FFFFFF"/>
                </a:solidFill>
                <a:latin typeface="Calibri"/>
              </a:rPr>
              <a:t>Open Source Projects</a:t>
            </a:r>
          </a:p>
        </p:txBody>
      </p:sp>
      <p:sp>
        <p:nvSpPr>
          <p:cNvPr id="5" name="Right Arrow 4"/>
          <p:cNvSpPr/>
          <p:nvPr/>
        </p:nvSpPr>
        <p:spPr>
          <a:xfrm rot="19702416">
            <a:off x="1731504" y="3036880"/>
            <a:ext cx="5348197" cy="562365"/>
          </a:xfrm>
          <a:prstGeom prst="rightArrow">
            <a:avLst/>
          </a:prstGeom>
          <a:gradFill flip="none" rotWithShape="1">
            <a:gsLst>
              <a:gs pos="0">
                <a:schemeClr val="bg1">
                  <a:alpha val="0"/>
                </a:schemeClr>
              </a:gs>
              <a:gs pos="100000">
                <a:srgbClr val="FFFFFF"/>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FFFF"/>
              </a:solidFill>
              <a:latin typeface="Calibri"/>
            </a:endParaRPr>
          </a:p>
        </p:txBody>
      </p:sp>
      <p:sp>
        <p:nvSpPr>
          <p:cNvPr id="6" name="Rectangle 5"/>
          <p:cNvSpPr/>
          <p:nvPr/>
        </p:nvSpPr>
        <p:spPr>
          <a:xfrm>
            <a:off x="1219200" y="6412468"/>
            <a:ext cx="2137434" cy="246221"/>
          </a:xfrm>
          <a:prstGeom prst="rect">
            <a:avLst/>
          </a:prstGeom>
        </p:spPr>
        <p:txBody>
          <a:bodyPr wrap="square">
            <a:spAutoFit/>
          </a:bodyPr>
          <a:lstStyle/>
          <a:p>
            <a:r>
              <a:rPr lang="en-US" sz="1000" i="1" dirty="0">
                <a:solidFill>
                  <a:srgbClr val="FFFFFF"/>
                </a:solidFill>
                <a:latin typeface="Calibri"/>
              </a:rPr>
              <a:t>Source: Black </a:t>
            </a:r>
            <a:r>
              <a:rPr lang="en-US" sz="1000" i="1" dirty="0" smtClean="0">
                <a:solidFill>
                  <a:srgbClr val="FFFFFF"/>
                </a:solidFill>
                <a:latin typeface="Calibri"/>
              </a:rPr>
              <a:t>Duck Software </a:t>
            </a:r>
            <a:endParaRPr lang="en-US" sz="1000" i="1" dirty="0">
              <a:solidFill>
                <a:srgbClr val="FFFFFF"/>
              </a:solidFill>
              <a:latin typeface="Calibri"/>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667000" y="2514600"/>
            <a:ext cx="659524" cy="659524"/>
          </a:xfrm>
          <a:prstGeom prst="rect">
            <a:avLst/>
          </a:prstGeom>
        </p:spPr>
      </p:pic>
      <p:sp>
        <p:nvSpPr>
          <p:cNvPr id="15" name="Hexagon 14"/>
          <p:cNvSpPr/>
          <p:nvPr/>
        </p:nvSpPr>
        <p:spPr>
          <a:xfrm rot="16200000" flipH="1">
            <a:off x="2181597" y="1933203"/>
            <a:ext cx="1513840" cy="1305034"/>
          </a:xfrm>
          <a:prstGeom prst="hexagon">
            <a:avLst/>
          </a:prstGeom>
          <a:no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sp>
        <p:nvSpPr>
          <p:cNvPr id="16" name="TextBox 15"/>
          <p:cNvSpPr txBox="1"/>
          <p:nvPr/>
        </p:nvSpPr>
        <p:spPr>
          <a:xfrm>
            <a:off x="2286000" y="2022157"/>
            <a:ext cx="1300480" cy="492443"/>
          </a:xfrm>
          <a:prstGeom prst="rect">
            <a:avLst/>
          </a:prstGeom>
          <a:noFill/>
        </p:spPr>
        <p:txBody>
          <a:bodyPr wrap="square" lIns="0" rIns="0" rtlCol="0">
            <a:spAutoFit/>
          </a:bodyPr>
          <a:lstStyle/>
          <a:p>
            <a:pPr algn="ctr"/>
            <a:r>
              <a:rPr lang="en-US" sz="1300" b="1" cap="all" spc="-20" dirty="0" smtClean="0">
                <a:solidFill>
                  <a:prstClr val="white"/>
                </a:solidFill>
                <a:latin typeface="Calibri"/>
                <a:cs typeface="Calibri"/>
              </a:rPr>
              <a:t>Black duck knowledgebase</a:t>
            </a:r>
          </a:p>
        </p:txBody>
      </p:sp>
      <p:graphicFrame>
        <p:nvGraphicFramePr>
          <p:cNvPr id="17" name="Chart 16"/>
          <p:cNvGraphicFramePr/>
          <p:nvPr>
            <p:extLst>
              <p:ext uri="{D42A27DB-BD31-4B8C-83A1-F6EECF244321}">
                <p14:modId xmlns:p14="http://schemas.microsoft.com/office/powerpoint/2010/main" val="4235800776"/>
              </p:ext>
            </p:extLst>
          </p:nvPr>
        </p:nvGraphicFramePr>
        <p:xfrm>
          <a:off x="445684" y="1504700"/>
          <a:ext cx="7848600" cy="4775200"/>
        </p:xfrm>
        <a:graphic>
          <a:graphicData uri="http://schemas.openxmlformats.org/drawingml/2006/chart">
            <c:chart xmlns:c="http://schemas.openxmlformats.org/drawingml/2006/chart" xmlns:r="http://schemas.openxmlformats.org/officeDocument/2006/relationships" r:id="rId5"/>
          </a:graphicData>
        </a:graphic>
      </p:graphicFrame>
      <p:grpSp>
        <p:nvGrpSpPr>
          <p:cNvPr id="23" name="Group 22"/>
          <p:cNvGrpSpPr/>
          <p:nvPr/>
        </p:nvGrpSpPr>
        <p:grpSpPr>
          <a:xfrm>
            <a:off x="0" y="152400"/>
            <a:ext cx="1109882" cy="1375834"/>
            <a:chOff x="0" y="152400"/>
            <a:chExt cx="1109882" cy="1375834"/>
          </a:xfrm>
        </p:grpSpPr>
        <p:pic>
          <p:nvPicPr>
            <p:cNvPr id="24" name="Picture 23" descr="hexagon flags.png"/>
            <p:cNvPicPr>
              <a:picLocks noChangeAspect="1"/>
            </p:cNvPicPr>
            <p:nvPr/>
          </p:nvPicPr>
          <p:blipFill>
            <a:blip r:embed="rId6" cstate="print">
              <a:extLst>
                <a:ext uri="{28A0092B-C50C-407E-A947-70E740481C1C}">
                  <a14:useLocalDpi xmlns:a14="http://schemas.microsoft.com/office/drawing/2010/main"/>
                </a:ext>
              </a:extLst>
            </a:blip>
            <a:srcRect t="76909" r="72143"/>
            <a:stretch>
              <a:fillRect/>
            </a:stretch>
          </p:blipFill>
          <p:spPr>
            <a:xfrm>
              <a:off x="0" y="152400"/>
              <a:ext cx="1109882" cy="1375834"/>
            </a:xfrm>
            <a:prstGeom prst="rect">
              <a:avLst/>
            </a:prstGeom>
          </p:spPr>
        </p:pic>
        <p:sp>
          <p:nvSpPr>
            <p:cNvPr id="25" name="TextBox 24"/>
            <p:cNvSpPr txBox="1"/>
            <p:nvPr/>
          </p:nvSpPr>
          <p:spPr>
            <a:xfrm rot="16200000">
              <a:off x="-427398" y="662099"/>
              <a:ext cx="1300480" cy="384721"/>
            </a:xfrm>
            <a:prstGeom prst="rect">
              <a:avLst/>
            </a:prstGeom>
            <a:noFill/>
          </p:spPr>
          <p:txBody>
            <a:bodyPr wrap="square" rtlCol="0">
              <a:spAutoFit/>
            </a:bodyPr>
            <a:lstStyle/>
            <a:p>
              <a:pPr algn="ctr"/>
              <a:r>
                <a:rPr lang="en-US" sz="950" cap="all" dirty="0" smtClean="0">
                  <a:solidFill>
                    <a:prstClr val="white"/>
                  </a:solidFill>
                  <a:latin typeface="Calibri"/>
                  <a:cs typeface="Calibri"/>
                </a:rPr>
                <a:t> </a:t>
              </a:r>
            </a:p>
            <a:p>
              <a:pPr algn="ctr"/>
              <a:r>
                <a:rPr lang="en-US" sz="950" b="1" cap="all" dirty="0" smtClean="0">
                  <a:solidFill>
                    <a:prstClr val="white"/>
                  </a:solidFill>
                  <a:latin typeface="Calibri"/>
                  <a:cs typeface="Calibri"/>
                </a:rPr>
                <a:t>Corporate use</a:t>
              </a:r>
            </a:p>
          </p:txBody>
        </p:sp>
        <p:pic>
          <p:nvPicPr>
            <p:cNvPr id="26" name="Picture 25" descr="Corporate.png"/>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rot="16200000">
              <a:off x="453553" y="682154"/>
              <a:ext cx="388292" cy="381000"/>
            </a:xfrm>
            <a:prstGeom prst="rect">
              <a:avLst/>
            </a:prstGeom>
          </p:spPr>
        </p:pic>
      </p:grpSp>
      <p:grpSp>
        <p:nvGrpSpPr>
          <p:cNvPr id="27" name="Group 26"/>
          <p:cNvGrpSpPr/>
          <p:nvPr/>
        </p:nvGrpSpPr>
        <p:grpSpPr>
          <a:xfrm>
            <a:off x="6106583" y="0"/>
            <a:ext cx="1477299" cy="814917"/>
            <a:chOff x="6106583" y="0"/>
            <a:chExt cx="1477299" cy="814917"/>
          </a:xfrm>
        </p:grpSpPr>
        <p:pic>
          <p:nvPicPr>
            <p:cNvPr id="28" name="Picture 27" descr="hexagon flags.png"/>
            <p:cNvPicPr>
              <a:picLocks noChangeAspect="1"/>
            </p:cNvPicPr>
            <p:nvPr/>
          </p:nvPicPr>
          <p:blipFill>
            <a:blip r:embed="rId6" cstate="print">
              <a:extLst>
                <a:ext uri="{28A0092B-C50C-407E-A947-70E740481C1C}">
                  <a14:useLocalDpi xmlns:a14="http://schemas.microsoft.com/office/drawing/2010/main"/>
                </a:ext>
              </a:extLst>
            </a:blip>
            <a:srcRect l="62921" b="86323"/>
            <a:stretch>
              <a:fillRect/>
            </a:stretch>
          </p:blipFill>
          <p:spPr>
            <a:xfrm>
              <a:off x="6106583" y="0"/>
              <a:ext cx="1477299" cy="814917"/>
            </a:xfrm>
            <a:prstGeom prst="rect">
              <a:avLst/>
            </a:prstGeom>
          </p:spPr>
        </p:pic>
        <p:sp>
          <p:nvSpPr>
            <p:cNvPr id="29" name="TextBox 28">
              <a:hlinkClick r:id="rId8"/>
            </p:cNvPr>
            <p:cNvSpPr txBox="1"/>
            <p:nvPr/>
          </p:nvSpPr>
          <p:spPr>
            <a:xfrm>
              <a:off x="6268720" y="0"/>
              <a:ext cx="1300480" cy="384721"/>
            </a:xfrm>
            <a:prstGeom prst="rect">
              <a:avLst/>
            </a:prstGeom>
            <a:noFill/>
          </p:spPr>
          <p:txBody>
            <a:bodyPr wrap="square" rtlCol="0">
              <a:spAutoFit/>
            </a:bodyPr>
            <a:lstStyle/>
            <a:p>
              <a:pPr algn="ctr"/>
              <a:r>
                <a:rPr lang="en-US" sz="950" cap="all" dirty="0" smtClean="0">
                  <a:solidFill>
                    <a:prstClr val="white"/>
                  </a:solidFill>
                  <a:latin typeface="Calibri"/>
                  <a:cs typeface="Calibri"/>
                </a:rPr>
                <a:t>@futureofoss #FutureOSS</a:t>
              </a:r>
            </a:p>
          </p:txBody>
        </p:sp>
        <p:pic>
          <p:nvPicPr>
            <p:cNvPr id="30" name="Picture 29" descr="twitter white.png"/>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6790814" y="416560"/>
              <a:ext cx="256293" cy="208295"/>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0"/>
            <a:ext cx="9144000" cy="6858000"/>
          </a:xfrm>
          <a:prstGeom prst="rect">
            <a:avLst/>
          </a:prstGeom>
        </p:spPr>
      </p:pic>
      <p:sp>
        <p:nvSpPr>
          <p:cNvPr id="7" name="Title 6"/>
          <p:cNvSpPr>
            <a:spLocks noGrp="1"/>
          </p:cNvSpPr>
          <p:nvPr>
            <p:ph type="title"/>
          </p:nvPr>
        </p:nvSpPr>
        <p:spPr/>
        <p:txBody>
          <a:bodyPr/>
          <a:lstStyle/>
          <a:p>
            <a:r>
              <a:rPr lang="en-US" dirty="0" smtClean="0">
                <a:latin typeface="Calibri Light"/>
                <a:cs typeface="Calibri Light"/>
              </a:rPr>
              <a:t>Oss impacts technology</a:t>
            </a:r>
            <a:endParaRPr lang="en-US" b="1" dirty="0"/>
          </a:p>
        </p:txBody>
      </p:sp>
      <p:pic>
        <p:nvPicPr>
          <p:cNvPr id="29" name="Picture 28" descr="Icons_big data.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31500" y="2666092"/>
            <a:ext cx="843129" cy="843129"/>
          </a:xfrm>
          <a:prstGeom prst="rect">
            <a:avLst/>
          </a:prstGeom>
        </p:spPr>
      </p:pic>
      <p:sp>
        <p:nvSpPr>
          <p:cNvPr id="37" name="Hexagon 36"/>
          <p:cNvSpPr/>
          <p:nvPr/>
        </p:nvSpPr>
        <p:spPr>
          <a:xfrm rot="16200000" flipH="1">
            <a:off x="679416" y="2557584"/>
            <a:ext cx="1247140" cy="1075120"/>
          </a:xfrm>
          <a:prstGeom prst="hexagon">
            <a:avLst/>
          </a:prstGeom>
          <a:no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sp>
        <p:nvSpPr>
          <p:cNvPr id="39" name="Hexagon 38"/>
          <p:cNvSpPr/>
          <p:nvPr/>
        </p:nvSpPr>
        <p:spPr>
          <a:xfrm rot="16200000" flipH="1">
            <a:off x="5064995" y="2559785"/>
            <a:ext cx="1247140" cy="1075120"/>
          </a:xfrm>
          <a:prstGeom prst="hexagon">
            <a:avLst/>
          </a:prstGeom>
          <a:no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sp>
        <p:nvSpPr>
          <p:cNvPr id="40" name="Hexagon 39"/>
          <p:cNvSpPr/>
          <p:nvPr/>
        </p:nvSpPr>
        <p:spPr>
          <a:xfrm rot="16200000" flipH="1">
            <a:off x="7140616" y="2559785"/>
            <a:ext cx="1247140" cy="1075120"/>
          </a:xfrm>
          <a:prstGeom prst="hexagon">
            <a:avLst/>
          </a:prstGeom>
          <a:no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pic>
        <p:nvPicPr>
          <p:cNvPr id="43" name="Picture 42" descr="cloud.png"/>
          <p:cNvPicPr>
            <a:picLocks noChangeAspect="1"/>
          </p:cNvPicPr>
          <p:nvPr/>
        </p:nvPicPr>
        <p:blipFill>
          <a:blip r:embed="rId5" cstate="print">
            <a:biLevel thresh="25000"/>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42224" y="2840147"/>
            <a:ext cx="734410" cy="427447"/>
          </a:xfrm>
          <a:prstGeom prst="rect">
            <a:avLst/>
          </a:prstGeom>
        </p:spPr>
      </p:pic>
      <p:sp>
        <p:nvSpPr>
          <p:cNvPr id="44" name="TextBox 43"/>
          <p:cNvSpPr txBox="1"/>
          <p:nvPr/>
        </p:nvSpPr>
        <p:spPr>
          <a:xfrm>
            <a:off x="456685" y="3793330"/>
            <a:ext cx="1676400" cy="533400"/>
          </a:xfrm>
          <a:prstGeom prst="rect">
            <a:avLst/>
          </a:prstGeom>
          <a:noFill/>
        </p:spPr>
        <p:txBody>
          <a:bodyPr wrap="square" rtlCol="0">
            <a:noAutofit/>
          </a:bodyPr>
          <a:lstStyle/>
          <a:p>
            <a:pPr algn="ctr"/>
            <a:r>
              <a:rPr lang="en-US" sz="2000" b="1" dirty="0" smtClean="0">
                <a:solidFill>
                  <a:srgbClr val="FFFFFF"/>
                </a:solidFill>
                <a:latin typeface="Calibri"/>
                <a:cs typeface="Calibri Light"/>
              </a:rPr>
              <a:t>CLOUD</a:t>
            </a:r>
          </a:p>
        </p:txBody>
      </p:sp>
      <p:pic>
        <p:nvPicPr>
          <p:cNvPr id="45" name="Picture 44" descr="Icons_iot.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66555" y="2621674"/>
            <a:ext cx="1013616" cy="1013616"/>
          </a:xfrm>
          <a:prstGeom prst="rect">
            <a:avLst/>
          </a:prstGeom>
        </p:spPr>
      </p:pic>
      <p:pic>
        <p:nvPicPr>
          <p:cNvPr id="46" name="Picture 45" descr="Icons_systems.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60349" y="2577155"/>
            <a:ext cx="1062835" cy="1062835"/>
          </a:xfrm>
          <a:prstGeom prst="rect">
            <a:avLst/>
          </a:prstGeom>
        </p:spPr>
      </p:pic>
      <p:sp>
        <p:nvSpPr>
          <p:cNvPr id="47" name="TextBox 46"/>
          <p:cNvSpPr txBox="1"/>
          <p:nvPr/>
        </p:nvSpPr>
        <p:spPr>
          <a:xfrm>
            <a:off x="2590692" y="3792204"/>
            <a:ext cx="1676400" cy="533400"/>
          </a:xfrm>
          <a:prstGeom prst="rect">
            <a:avLst/>
          </a:prstGeom>
          <a:noFill/>
        </p:spPr>
        <p:txBody>
          <a:bodyPr wrap="square" rtlCol="0">
            <a:noAutofit/>
          </a:bodyPr>
          <a:lstStyle/>
          <a:p>
            <a:pPr algn="ctr"/>
            <a:r>
              <a:rPr lang="en-US" sz="2000" b="1" dirty="0" smtClean="0">
                <a:solidFill>
                  <a:srgbClr val="FFFFFF"/>
                </a:solidFill>
                <a:latin typeface="Calibri"/>
                <a:cs typeface="Calibri Light"/>
              </a:rPr>
              <a:t>BIG DATA</a:t>
            </a:r>
          </a:p>
        </p:txBody>
      </p:sp>
      <p:sp>
        <p:nvSpPr>
          <p:cNvPr id="49" name="TextBox 48"/>
          <p:cNvSpPr txBox="1"/>
          <p:nvPr/>
        </p:nvSpPr>
        <p:spPr>
          <a:xfrm>
            <a:off x="4840143" y="3791611"/>
            <a:ext cx="1676400" cy="533400"/>
          </a:xfrm>
          <a:prstGeom prst="rect">
            <a:avLst/>
          </a:prstGeom>
          <a:noFill/>
        </p:spPr>
        <p:txBody>
          <a:bodyPr wrap="square" rtlCol="0">
            <a:noAutofit/>
          </a:bodyPr>
          <a:lstStyle/>
          <a:p>
            <a:pPr algn="ctr"/>
            <a:r>
              <a:rPr lang="en-US" sz="2000" b="1" dirty="0" smtClean="0">
                <a:solidFill>
                  <a:srgbClr val="FFFFFF"/>
                </a:solidFill>
                <a:latin typeface="Calibri"/>
                <a:cs typeface="Calibri Light"/>
              </a:rPr>
              <a:t>OPERATING SYSTEMS</a:t>
            </a:r>
          </a:p>
        </p:txBody>
      </p:sp>
      <p:sp>
        <p:nvSpPr>
          <p:cNvPr id="50" name="TextBox 49"/>
          <p:cNvSpPr txBox="1"/>
          <p:nvPr/>
        </p:nvSpPr>
        <p:spPr>
          <a:xfrm>
            <a:off x="6974150" y="3790485"/>
            <a:ext cx="1676400" cy="533400"/>
          </a:xfrm>
          <a:prstGeom prst="rect">
            <a:avLst/>
          </a:prstGeom>
          <a:noFill/>
        </p:spPr>
        <p:txBody>
          <a:bodyPr wrap="square" rtlCol="0">
            <a:noAutofit/>
          </a:bodyPr>
          <a:lstStyle/>
          <a:p>
            <a:pPr algn="ctr"/>
            <a:r>
              <a:rPr lang="en-US" sz="2000" b="1" dirty="0" smtClean="0">
                <a:solidFill>
                  <a:srgbClr val="FFFFFF"/>
                </a:solidFill>
                <a:latin typeface="Calibri"/>
                <a:cs typeface="Calibri Light"/>
              </a:rPr>
              <a:t>CONNECTED PRODUCT/</a:t>
            </a:r>
            <a:r>
              <a:rPr lang="en-US" sz="2000" b="1" dirty="0" err="1" smtClean="0">
                <a:solidFill>
                  <a:srgbClr val="FFFFFF"/>
                </a:solidFill>
                <a:latin typeface="Calibri"/>
                <a:cs typeface="Calibri Light"/>
              </a:rPr>
              <a:t>IoT</a:t>
            </a:r>
            <a:endParaRPr lang="en-US" sz="2000" b="1" dirty="0" smtClean="0">
              <a:solidFill>
                <a:srgbClr val="FFFFFF"/>
              </a:solidFill>
              <a:latin typeface="Calibri"/>
              <a:cs typeface="Calibri Light"/>
            </a:endParaRPr>
          </a:p>
        </p:txBody>
      </p:sp>
      <p:sp>
        <p:nvSpPr>
          <p:cNvPr id="51" name="Hexagon 50"/>
          <p:cNvSpPr/>
          <p:nvPr/>
        </p:nvSpPr>
        <p:spPr>
          <a:xfrm rot="16200000" flipH="1">
            <a:off x="2811849" y="2559785"/>
            <a:ext cx="1247140" cy="1075120"/>
          </a:xfrm>
          <a:prstGeom prst="hexagon">
            <a:avLst/>
          </a:prstGeom>
          <a:no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grpSp>
        <p:nvGrpSpPr>
          <p:cNvPr id="25" name="Group 24"/>
          <p:cNvGrpSpPr/>
          <p:nvPr/>
        </p:nvGrpSpPr>
        <p:grpSpPr>
          <a:xfrm>
            <a:off x="0" y="152400"/>
            <a:ext cx="1109882" cy="1375834"/>
            <a:chOff x="0" y="152400"/>
            <a:chExt cx="1109882" cy="1375834"/>
          </a:xfrm>
        </p:grpSpPr>
        <p:pic>
          <p:nvPicPr>
            <p:cNvPr id="26" name="Picture 25" descr="hexagon flags.png"/>
            <p:cNvPicPr>
              <a:picLocks noChangeAspect="1"/>
            </p:cNvPicPr>
            <p:nvPr/>
          </p:nvPicPr>
          <p:blipFill>
            <a:blip r:embed="rId9" cstate="print">
              <a:extLst>
                <a:ext uri="{28A0092B-C50C-407E-A947-70E740481C1C}">
                  <a14:useLocalDpi xmlns:a14="http://schemas.microsoft.com/office/drawing/2010/main"/>
                </a:ext>
              </a:extLst>
            </a:blip>
            <a:srcRect t="76909" r="72143"/>
            <a:stretch>
              <a:fillRect/>
            </a:stretch>
          </p:blipFill>
          <p:spPr>
            <a:xfrm>
              <a:off x="0" y="152400"/>
              <a:ext cx="1109882" cy="1375834"/>
            </a:xfrm>
            <a:prstGeom prst="rect">
              <a:avLst/>
            </a:prstGeom>
          </p:spPr>
        </p:pic>
        <p:sp>
          <p:nvSpPr>
            <p:cNvPr id="27" name="TextBox 26"/>
            <p:cNvSpPr txBox="1"/>
            <p:nvPr/>
          </p:nvSpPr>
          <p:spPr>
            <a:xfrm rot="16200000">
              <a:off x="-427398" y="662099"/>
              <a:ext cx="1300480" cy="384721"/>
            </a:xfrm>
            <a:prstGeom prst="rect">
              <a:avLst/>
            </a:prstGeom>
            <a:noFill/>
          </p:spPr>
          <p:txBody>
            <a:bodyPr wrap="square" rtlCol="0">
              <a:spAutoFit/>
            </a:bodyPr>
            <a:lstStyle/>
            <a:p>
              <a:pPr algn="ctr"/>
              <a:r>
                <a:rPr lang="en-US" sz="950" cap="all" dirty="0" smtClean="0">
                  <a:solidFill>
                    <a:prstClr val="white"/>
                  </a:solidFill>
                  <a:latin typeface="Calibri"/>
                  <a:cs typeface="Calibri"/>
                </a:rPr>
                <a:t> </a:t>
              </a:r>
            </a:p>
            <a:p>
              <a:pPr algn="ctr"/>
              <a:r>
                <a:rPr lang="en-US" sz="950" b="1" cap="all" dirty="0" smtClean="0">
                  <a:solidFill>
                    <a:prstClr val="white"/>
                  </a:solidFill>
                  <a:latin typeface="Calibri"/>
                  <a:cs typeface="Calibri"/>
                </a:rPr>
                <a:t>technology</a:t>
              </a:r>
            </a:p>
          </p:txBody>
        </p:sp>
      </p:grpSp>
      <p:pic>
        <p:nvPicPr>
          <p:cNvPr id="28" name="Picture 27" descr="technology icon.png"/>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457201" y="685800"/>
            <a:ext cx="381000" cy="381000"/>
          </a:xfrm>
          <a:prstGeom prst="rect">
            <a:avLst/>
          </a:prstGeom>
        </p:spPr>
      </p:pic>
      <p:grpSp>
        <p:nvGrpSpPr>
          <p:cNvPr id="30" name="Group 29"/>
          <p:cNvGrpSpPr/>
          <p:nvPr/>
        </p:nvGrpSpPr>
        <p:grpSpPr>
          <a:xfrm>
            <a:off x="6106583" y="0"/>
            <a:ext cx="1477299" cy="814917"/>
            <a:chOff x="6106583" y="0"/>
            <a:chExt cx="1477299" cy="814917"/>
          </a:xfrm>
        </p:grpSpPr>
        <p:pic>
          <p:nvPicPr>
            <p:cNvPr id="32" name="Picture 31" descr="hexagon flags.png"/>
            <p:cNvPicPr>
              <a:picLocks noChangeAspect="1"/>
            </p:cNvPicPr>
            <p:nvPr/>
          </p:nvPicPr>
          <p:blipFill>
            <a:blip r:embed="rId9" cstate="print">
              <a:extLst>
                <a:ext uri="{28A0092B-C50C-407E-A947-70E740481C1C}">
                  <a14:useLocalDpi xmlns:a14="http://schemas.microsoft.com/office/drawing/2010/main"/>
                </a:ext>
              </a:extLst>
            </a:blip>
            <a:srcRect l="62921" b="86323"/>
            <a:stretch>
              <a:fillRect/>
            </a:stretch>
          </p:blipFill>
          <p:spPr>
            <a:xfrm>
              <a:off x="6106583" y="0"/>
              <a:ext cx="1477299" cy="814917"/>
            </a:xfrm>
            <a:prstGeom prst="rect">
              <a:avLst/>
            </a:prstGeom>
          </p:spPr>
        </p:pic>
        <p:sp>
          <p:nvSpPr>
            <p:cNvPr id="33" name="TextBox 32">
              <a:hlinkClick r:id="rId11"/>
            </p:cNvPr>
            <p:cNvSpPr txBox="1"/>
            <p:nvPr/>
          </p:nvSpPr>
          <p:spPr>
            <a:xfrm>
              <a:off x="6268720" y="0"/>
              <a:ext cx="1300480" cy="384721"/>
            </a:xfrm>
            <a:prstGeom prst="rect">
              <a:avLst/>
            </a:prstGeom>
            <a:noFill/>
          </p:spPr>
          <p:txBody>
            <a:bodyPr wrap="square" rtlCol="0">
              <a:spAutoFit/>
            </a:bodyPr>
            <a:lstStyle/>
            <a:p>
              <a:pPr algn="ctr"/>
              <a:r>
                <a:rPr lang="en-US" sz="950" cap="all" dirty="0" smtClean="0">
                  <a:solidFill>
                    <a:prstClr val="white"/>
                  </a:solidFill>
                  <a:latin typeface="Calibri"/>
                  <a:cs typeface="Calibri"/>
                </a:rPr>
                <a:t>@futureofoss #FutureOSS</a:t>
              </a:r>
            </a:p>
          </p:txBody>
        </p:sp>
        <p:pic>
          <p:nvPicPr>
            <p:cNvPr id="38" name="Picture 37" descr="twitter white.png"/>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790814" y="416560"/>
              <a:ext cx="256293" cy="208295"/>
            </a:xfrm>
            <a:prstGeom prst="rect">
              <a:avLst/>
            </a:prstGeom>
          </p:spPr>
        </p:pic>
      </p:grpSp>
      <p:sp>
        <p:nvSpPr>
          <p:cNvPr id="24" name="Rectangle 23"/>
          <p:cNvSpPr/>
          <p:nvPr/>
        </p:nvSpPr>
        <p:spPr>
          <a:xfrm>
            <a:off x="971600" y="5013176"/>
            <a:ext cx="7290089" cy="769441"/>
          </a:xfrm>
          <a:prstGeom prst="rect">
            <a:avLst/>
          </a:prstGeom>
        </p:spPr>
        <p:txBody>
          <a:bodyPr wrap="square">
            <a:spAutoFit/>
          </a:bodyPr>
          <a:lstStyle/>
          <a:p>
            <a:pPr algn="ctr"/>
            <a:r>
              <a:rPr lang="en-US" sz="2200" dirty="0" smtClean="0">
                <a:solidFill>
                  <a:srgbClr val="FFFFFF"/>
                </a:solidFill>
                <a:latin typeface="Calibri"/>
              </a:rPr>
              <a:t>OPEN SOURCE IS SO PERVASIVE THAT</a:t>
            </a:r>
            <a:r>
              <a:rPr lang="en-US" sz="2200" dirty="0">
                <a:solidFill>
                  <a:srgbClr val="FFFFFF"/>
                </a:solidFill>
                <a:latin typeface="Calibri"/>
              </a:rPr>
              <a:t> </a:t>
            </a:r>
            <a:r>
              <a:rPr lang="en-US" sz="2200" dirty="0" smtClean="0">
                <a:solidFill>
                  <a:srgbClr val="FFFFFF"/>
                </a:solidFill>
                <a:latin typeface="Calibri"/>
              </a:rPr>
              <a:t>ALL SOFTWARE CATEGORIES USE IT OR HAVE DEPENDENCIES ON IT</a:t>
            </a:r>
          </a:p>
        </p:txBody>
      </p:sp>
    </p:spTree>
    <p:extLst>
      <p:ext uri="{BB962C8B-B14F-4D97-AF65-F5344CB8AC3E}">
        <p14:creationId xmlns:p14="http://schemas.microsoft.com/office/powerpoint/2010/main" val="4243358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0" y="0"/>
            <a:ext cx="9144000" cy="6858000"/>
          </a:xfrm>
          <a:prstGeom prst="rect">
            <a:avLst/>
          </a:prstGeom>
        </p:spPr>
      </p:pic>
      <p:sp>
        <p:nvSpPr>
          <p:cNvPr id="2" name="Title 1"/>
          <p:cNvSpPr>
            <a:spLocks noGrp="1"/>
          </p:cNvSpPr>
          <p:nvPr>
            <p:ph type="title"/>
          </p:nvPr>
        </p:nvSpPr>
        <p:spPr>
          <a:xfrm>
            <a:off x="1308577" y="123496"/>
            <a:ext cx="5107989" cy="1483573"/>
          </a:xfrm>
        </p:spPr>
        <p:txBody>
          <a:bodyPr/>
          <a:lstStyle/>
          <a:p>
            <a:r>
              <a:rPr lang="en-US" sz="4000" dirty="0" smtClean="0"/>
              <a:t>The SECURITY OF </a:t>
            </a:r>
            <a:br>
              <a:rPr lang="en-US" sz="4000" dirty="0" smtClean="0"/>
            </a:br>
            <a:r>
              <a:rPr lang="en-US" sz="4000" dirty="0" smtClean="0"/>
              <a:t>OPEN SOURCE</a:t>
            </a:r>
            <a:endParaRPr lang="en-US" sz="4000" dirty="0"/>
          </a:p>
        </p:txBody>
      </p:sp>
      <p:sp>
        <p:nvSpPr>
          <p:cNvPr id="3" name="TextBox 2"/>
          <p:cNvSpPr txBox="1"/>
          <p:nvPr/>
        </p:nvSpPr>
        <p:spPr>
          <a:xfrm>
            <a:off x="1296390" y="4419600"/>
            <a:ext cx="2589810" cy="1728077"/>
          </a:xfrm>
          <a:prstGeom prst="rect">
            <a:avLst/>
          </a:prstGeom>
          <a:noFill/>
        </p:spPr>
        <p:txBody>
          <a:bodyPr wrap="square" rtlCol="0">
            <a:noAutofit/>
          </a:bodyPr>
          <a:lstStyle/>
          <a:p>
            <a:pPr>
              <a:lnSpc>
                <a:spcPct val="80000"/>
              </a:lnSpc>
            </a:pPr>
            <a:r>
              <a:rPr lang="en-US" sz="5600" b="1" cap="all" dirty="0" smtClean="0">
                <a:solidFill>
                  <a:prstClr val="white"/>
                </a:solidFill>
                <a:latin typeface="Calibri"/>
                <a:cs typeface="Calibri Light"/>
              </a:rPr>
              <a:t>55% </a:t>
            </a:r>
          </a:p>
          <a:p>
            <a:pPr>
              <a:lnSpc>
                <a:spcPct val="80000"/>
              </a:lnSpc>
            </a:pPr>
            <a:r>
              <a:rPr lang="en-US" cap="all" dirty="0" smtClean="0">
                <a:solidFill>
                  <a:prstClr val="white"/>
                </a:solidFill>
                <a:latin typeface="Calibri"/>
                <a:cs typeface="Calibri Light"/>
              </a:rPr>
              <a:t>said open source delivers superior security</a:t>
            </a:r>
          </a:p>
        </p:txBody>
      </p:sp>
      <p:sp>
        <p:nvSpPr>
          <p:cNvPr id="14" name="TextBox 13"/>
          <p:cNvSpPr txBox="1"/>
          <p:nvPr/>
        </p:nvSpPr>
        <p:spPr>
          <a:xfrm>
            <a:off x="6513404" y="1747165"/>
            <a:ext cx="2325796" cy="1993439"/>
          </a:xfrm>
          <a:prstGeom prst="rect">
            <a:avLst/>
          </a:prstGeom>
          <a:noFill/>
        </p:spPr>
        <p:txBody>
          <a:bodyPr wrap="square" rtlCol="0">
            <a:noAutofit/>
          </a:bodyPr>
          <a:lstStyle/>
          <a:p>
            <a:pPr>
              <a:lnSpc>
                <a:spcPct val="80000"/>
              </a:lnSpc>
            </a:pPr>
            <a:r>
              <a:rPr lang="en-US" sz="5600" b="1" cap="all" dirty="0" smtClean="0">
                <a:solidFill>
                  <a:prstClr val="white"/>
                </a:solidFill>
                <a:latin typeface="Calibri"/>
                <a:cs typeface="Calibri Light"/>
              </a:rPr>
              <a:t>46% </a:t>
            </a:r>
          </a:p>
          <a:p>
            <a:pPr>
              <a:lnSpc>
                <a:spcPct val="80000"/>
              </a:lnSpc>
            </a:pPr>
            <a:r>
              <a:rPr lang="en-US" cap="all" dirty="0" smtClean="0">
                <a:solidFill>
                  <a:prstClr val="white"/>
                </a:solidFill>
                <a:latin typeface="Calibri"/>
                <a:cs typeface="Calibri Light"/>
              </a:rPr>
              <a:t>give OSS first consideration among security technologies</a:t>
            </a:r>
          </a:p>
        </p:txBody>
      </p:sp>
      <p:sp>
        <p:nvSpPr>
          <p:cNvPr id="15" name="TextBox 14"/>
          <p:cNvSpPr txBox="1"/>
          <p:nvPr/>
        </p:nvSpPr>
        <p:spPr>
          <a:xfrm>
            <a:off x="5638800" y="4114800"/>
            <a:ext cx="2922430" cy="1993439"/>
          </a:xfrm>
          <a:prstGeom prst="rect">
            <a:avLst/>
          </a:prstGeom>
          <a:noFill/>
        </p:spPr>
        <p:txBody>
          <a:bodyPr wrap="square" rtlCol="0">
            <a:noAutofit/>
          </a:bodyPr>
          <a:lstStyle/>
          <a:p>
            <a:pPr>
              <a:lnSpc>
                <a:spcPct val="80000"/>
              </a:lnSpc>
            </a:pPr>
            <a:r>
              <a:rPr lang="en-US" sz="2400" cap="all" dirty="0" smtClean="0">
                <a:solidFill>
                  <a:prstClr val="white"/>
                </a:solidFill>
                <a:latin typeface="Calibri"/>
                <a:cs typeface="Calibri Light"/>
              </a:rPr>
              <a:t>However, </a:t>
            </a:r>
            <a:r>
              <a:rPr lang="en-US" sz="2400" b="1" cap="all" dirty="0" smtClean="0">
                <a:solidFill>
                  <a:prstClr val="white"/>
                </a:solidFill>
                <a:latin typeface="Calibri"/>
                <a:cs typeface="Calibri Light"/>
              </a:rPr>
              <a:t> </a:t>
            </a:r>
          </a:p>
          <a:p>
            <a:pPr>
              <a:lnSpc>
                <a:spcPct val="80000"/>
              </a:lnSpc>
            </a:pPr>
            <a:r>
              <a:rPr lang="en-US" sz="5600" b="1" cap="all" dirty="0" smtClean="0">
                <a:solidFill>
                  <a:prstClr val="white"/>
                </a:solidFill>
                <a:latin typeface="Calibri"/>
                <a:cs typeface="Calibri Light"/>
              </a:rPr>
              <a:t>67% </a:t>
            </a:r>
          </a:p>
          <a:p>
            <a:pPr>
              <a:lnSpc>
                <a:spcPct val="80000"/>
              </a:lnSpc>
            </a:pPr>
            <a:r>
              <a:rPr lang="en-US" b="1" cap="all" dirty="0" smtClean="0">
                <a:solidFill>
                  <a:prstClr val="white"/>
                </a:solidFill>
                <a:latin typeface="Calibri"/>
                <a:cs typeface="Calibri Light"/>
              </a:rPr>
              <a:t>don’t monitor </a:t>
            </a:r>
            <a:r>
              <a:rPr lang="en-US" cap="all" dirty="0" smtClean="0">
                <a:solidFill>
                  <a:prstClr val="white"/>
                </a:solidFill>
                <a:latin typeface="Calibri"/>
                <a:cs typeface="Calibri Light"/>
              </a:rPr>
              <a:t>open source code for security vulnerabilities</a:t>
            </a:r>
            <a:r>
              <a:rPr lang="en-US" b="1" cap="all" dirty="0" smtClean="0">
                <a:solidFill>
                  <a:prstClr val="white"/>
                </a:solidFill>
                <a:latin typeface="Calibri"/>
                <a:cs typeface="Calibri Light"/>
              </a:rPr>
              <a:t>.</a:t>
            </a:r>
          </a:p>
        </p:txBody>
      </p:sp>
      <p:grpSp>
        <p:nvGrpSpPr>
          <p:cNvPr id="20" name="Group 19"/>
          <p:cNvGrpSpPr/>
          <p:nvPr/>
        </p:nvGrpSpPr>
        <p:grpSpPr>
          <a:xfrm>
            <a:off x="0" y="152400"/>
            <a:ext cx="1109882" cy="1375834"/>
            <a:chOff x="0" y="152400"/>
            <a:chExt cx="1109882" cy="1375834"/>
          </a:xfrm>
        </p:grpSpPr>
        <p:pic>
          <p:nvPicPr>
            <p:cNvPr id="21" name="Picture 20" descr="hexagon flags.png"/>
            <p:cNvPicPr>
              <a:picLocks noChangeAspect="1"/>
            </p:cNvPicPr>
            <p:nvPr/>
          </p:nvPicPr>
          <p:blipFill>
            <a:blip r:embed="rId4" cstate="print">
              <a:extLst>
                <a:ext uri="{28A0092B-C50C-407E-A947-70E740481C1C}">
                  <a14:useLocalDpi xmlns:a14="http://schemas.microsoft.com/office/drawing/2010/main"/>
                </a:ext>
              </a:extLst>
            </a:blip>
            <a:srcRect t="76909" r="72143"/>
            <a:stretch>
              <a:fillRect/>
            </a:stretch>
          </p:blipFill>
          <p:spPr>
            <a:xfrm>
              <a:off x="0" y="152400"/>
              <a:ext cx="1109882" cy="1375834"/>
            </a:xfrm>
            <a:prstGeom prst="rect">
              <a:avLst/>
            </a:prstGeom>
          </p:spPr>
        </p:pic>
        <p:sp>
          <p:nvSpPr>
            <p:cNvPr id="22" name="TextBox 21"/>
            <p:cNvSpPr txBox="1"/>
            <p:nvPr/>
          </p:nvSpPr>
          <p:spPr>
            <a:xfrm rot="16200000">
              <a:off x="-427398" y="662099"/>
              <a:ext cx="1300480" cy="384721"/>
            </a:xfrm>
            <a:prstGeom prst="rect">
              <a:avLst/>
            </a:prstGeom>
            <a:noFill/>
          </p:spPr>
          <p:txBody>
            <a:bodyPr wrap="square" rtlCol="0">
              <a:spAutoFit/>
            </a:bodyPr>
            <a:lstStyle/>
            <a:p>
              <a:pPr algn="ctr"/>
              <a:endParaRPr lang="en-US" sz="950" cap="all" dirty="0" smtClean="0">
                <a:solidFill>
                  <a:prstClr val="white"/>
                </a:solidFill>
                <a:latin typeface="Calibri"/>
                <a:cs typeface="Calibri"/>
              </a:endParaRPr>
            </a:p>
            <a:p>
              <a:pPr algn="ctr"/>
              <a:r>
                <a:rPr lang="en-US" sz="950" b="1" cap="all" dirty="0" smtClean="0">
                  <a:solidFill>
                    <a:prstClr val="white"/>
                  </a:solidFill>
                  <a:latin typeface="Calibri"/>
                  <a:cs typeface="Calibri"/>
                </a:rPr>
                <a:t>security</a:t>
              </a:r>
            </a:p>
          </p:txBody>
        </p:sp>
      </p:grpSp>
      <p:pic>
        <p:nvPicPr>
          <p:cNvPr id="23" name="Picture 22" descr="technology icon.pn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57201" y="685800"/>
            <a:ext cx="381000" cy="381000"/>
          </a:xfrm>
          <a:prstGeom prst="rect">
            <a:avLst/>
          </a:prstGeom>
        </p:spPr>
      </p:pic>
      <p:grpSp>
        <p:nvGrpSpPr>
          <p:cNvPr id="16" name="Group 15"/>
          <p:cNvGrpSpPr/>
          <p:nvPr/>
        </p:nvGrpSpPr>
        <p:grpSpPr>
          <a:xfrm>
            <a:off x="6106583" y="0"/>
            <a:ext cx="1477299" cy="814917"/>
            <a:chOff x="6106583" y="0"/>
            <a:chExt cx="1477299" cy="814917"/>
          </a:xfrm>
        </p:grpSpPr>
        <p:pic>
          <p:nvPicPr>
            <p:cNvPr id="17" name="Picture 16" descr="hexagon flags.png"/>
            <p:cNvPicPr>
              <a:picLocks noChangeAspect="1"/>
            </p:cNvPicPr>
            <p:nvPr/>
          </p:nvPicPr>
          <p:blipFill>
            <a:blip r:embed="rId4" cstate="print">
              <a:extLst>
                <a:ext uri="{28A0092B-C50C-407E-A947-70E740481C1C}">
                  <a14:useLocalDpi xmlns:a14="http://schemas.microsoft.com/office/drawing/2010/main"/>
                </a:ext>
              </a:extLst>
            </a:blip>
            <a:srcRect l="62921" b="86323"/>
            <a:stretch>
              <a:fillRect/>
            </a:stretch>
          </p:blipFill>
          <p:spPr>
            <a:xfrm>
              <a:off x="6106583" y="0"/>
              <a:ext cx="1477299" cy="814917"/>
            </a:xfrm>
            <a:prstGeom prst="rect">
              <a:avLst/>
            </a:prstGeom>
          </p:spPr>
        </p:pic>
        <p:sp>
          <p:nvSpPr>
            <p:cNvPr id="18" name="TextBox 17">
              <a:hlinkClick r:id="rId6"/>
            </p:cNvPr>
            <p:cNvSpPr txBox="1"/>
            <p:nvPr/>
          </p:nvSpPr>
          <p:spPr>
            <a:xfrm>
              <a:off x="6268720" y="0"/>
              <a:ext cx="1300480" cy="384721"/>
            </a:xfrm>
            <a:prstGeom prst="rect">
              <a:avLst/>
            </a:prstGeom>
            <a:noFill/>
          </p:spPr>
          <p:txBody>
            <a:bodyPr wrap="square" rtlCol="0">
              <a:spAutoFit/>
            </a:bodyPr>
            <a:lstStyle/>
            <a:p>
              <a:pPr algn="ctr"/>
              <a:r>
                <a:rPr lang="en-US" sz="950" cap="all" dirty="0" smtClean="0">
                  <a:solidFill>
                    <a:prstClr val="white"/>
                  </a:solidFill>
                  <a:latin typeface="Calibri"/>
                  <a:cs typeface="Calibri"/>
                </a:rPr>
                <a:t>@futureofoss #FutureOSS</a:t>
              </a:r>
            </a:p>
          </p:txBody>
        </p:sp>
        <p:pic>
          <p:nvPicPr>
            <p:cNvPr id="19" name="Picture 18" descr="twitter white.png"/>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790814" y="416560"/>
              <a:ext cx="256293" cy="208295"/>
            </a:xfrm>
            <a:prstGeom prst="rect">
              <a:avLst/>
            </a:prstGeom>
          </p:spPr>
        </p:pic>
      </p:grpSp>
    </p:spTree>
    <p:extLst>
      <p:ext uri="{BB962C8B-B14F-4D97-AF65-F5344CB8AC3E}">
        <p14:creationId xmlns:p14="http://schemas.microsoft.com/office/powerpoint/2010/main" val="2088375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smtClean="0"/>
              <a:t>The open source vulnerability landscape</a:t>
            </a:r>
            <a:endParaRPr lang="en-US" dirty="0"/>
          </a:p>
        </p:txBody>
      </p:sp>
      <p:sp>
        <p:nvSpPr>
          <p:cNvPr id="4" name="Subtitle 3"/>
          <p:cNvSpPr>
            <a:spLocks noGrp="1"/>
          </p:cNvSpPr>
          <p:nvPr>
            <p:ph type="subTitle" idx="1"/>
          </p:nvPr>
        </p:nvSpPr>
        <p:spPr/>
        <p:txBody>
          <a:bodyPr/>
          <a:lstStyle/>
          <a:p>
            <a:r>
              <a:rPr lang="en-US" dirty="0" smtClean="0"/>
              <a:t>No worse (actually somewhat better) than other types of software</a:t>
            </a:r>
            <a:endParaRPr lang="en-US" dirty="0"/>
          </a:p>
        </p:txBody>
      </p:sp>
    </p:spTree>
    <p:extLst>
      <p:ext uri="{BB962C8B-B14F-4D97-AF65-F5344CB8AC3E}">
        <p14:creationId xmlns:p14="http://schemas.microsoft.com/office/powerpoint/2010/main" val="335525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92024"/>
            <a:ext cx="7488832" cy="576362"/>
          </a:xfrm>
        </p:spPr>
        <p:txBody>
          <a:bodyPr>
            <a:normAutofit/>
          </a:bodyPr>
          <a:lstStyle/>
          <a:p>
            <a:r>
              <a:rPr lang="en-US" dirty="0" smtClean="0"/>
              <a:t>Worried about open source security?</a:t>
            </a:r>
            <a:endParaRPr lang="en-US" dirty="0"/>
          </a:p>
        </p:txBody>
      </p:sp>
      <p:sp>
        <p:nvSpPr>
          <p:cNvPr id="4" name="Rectangle 3"/>
          <p:cNvSpPr/>
          <p:nvPr/>
        </p:nvSpPr>
        <p:spPr>
          <a:xfrm>
            <a:off x="968996" y="1446664"/>
            <a:ext cx="7424382" cy="2554545"/>
          </a:xfrm>
          <a:prstGeom prst="rect">
            <a:avLst/>
          </a:prstGeom>
        </p:spPr>
        <p:txBody>
          <a:bodyPr wrap="square">
            <a:spAutoFit/>
          </a:bodyPr>
          <a:lstStyle/>
          <a:p>
            <a:pPr fontAlgn="auto">
              <a:spcBef>
                <a:spcPts val="0"/>
              </a:spcBef>
              <a:spcAft>
                <a:spcPts val="0"/>
              </a:spcAft>
            </a:pPr>
            <a:r>
              <a:rPr lang="en-US" sz="3200" b="1" i="1" dirty="0" smtClean="0">
                <a:solidFill>
                  <a:srgbClr val="3F3F3F"/>
                </a:solidFill>
                <a:latin typeface="Arial Narrow"/>
              </a:rPr>
              <a:t>“</a:t>
            </a:r>
            <a:r>
              <a:rPr lang="en-US" sz="3200" b="1" i="1" dirty="0">
                <a:solidFill>
                  <a:srgbClr val="3F3F3F"/>
                </a:solidFill>
                <a:latin typeface="Arial Narrow"/>
              </a:rPr>
              <a:t>Through 2020, security and quality defects</a:t>
            </a:r>
          </a:p>
          <a:p>
            <a:pPr fontAlgn="auto">
              <a:spcBef>
                <a:spcPts val="0"/>
              </a:spcBef>
              <a:spcAft>
                <a:spcPts val="0"/>
              </a:spcAft>
            </a:pPr>
            <a:r>
              <a:rPr lang="en-US" sz="3200" b="1" i="1" dirty="0">
                <a:solidFill>
                  <a:srgbClr val="3F3F3F"/>
                </a:solidFill>
                <a:latin typeface="Arial Narrow"/>
              </a:rPr>
              <a:t>publicly attributed to OSS projects will </a:t>
            </a:r>
            <a:r>
              <a:rPr lang="en-US" sz="3200" b="1" i="1" dirty="0" smtClean="0">
                <a:solidFill>
                  <a:srgbClr val="3F3F3F"/>
                </a:solidFill>
                <a:latin typeface="Arial Narrow"/>
              </a:rPr>
              <a:t>increase significantly</a:t>
            </a:r>
            <a:r>
              <a:rPr lang="en-US" sz="3200" b="1" i="1" dirty="0">
                <a:solidFill>
                  <a:srgbClr val="3F3F3F"/>
                </a:solidFill>
                <a:latin typeface="Arial Narrow"/>
              </a:rPr>
              <a:t>, driven by a growing presence </a:t>
            </a:r>
            <a:r>
              <a:rPr lang="en-US" sz="3200" b="1" i="1" dirty="0" smtClean="0">
                <a:solidFill>
                  <a:srgbClr val="3F3F3F"/>
                </a:solidFill>
                <a:latin typeface="Arial Narrow"/>
              </a:rPr>
              <a:t>within high-profile</a:t>
            </a:r>
            <a:r>
              <a:rPr lang="en-US" sz="3200" b="1" i="1" dirty="0">
                <a:solidFill>
                  <a:srgbClr val="3F3F3F"/>
                </a:solidFill>
                <a:latin typeface="Arial Narrow"/>
              </a:rPr>
              <a:t>, mission-critical and </a:t>
            </a:r>
            <a:r>
              <a:rPr lang="en-US" sz="3200" b="1" i="1" dirty="0" smtClean="0">
                <a:solidFill>
                  <a:srgbClr val="3F3F3F"/>
                </a:solidFill>
                <a:latin typeface="Arial Narrow"/>
              </a:rPr>
              <a:t>mainstream IT </a:t>
            </a:r>
            <a:r>
              <a:rPr lang="en-US" sz="3200" b="1" i="1" dirty="0">
                <a:solidFill>
                  <a:srgbClr val="3F3F3F"/>
                </a:solidFill>
                <a:latin typeface="Arial Narrow"/>
              </a:rPr>
              <a:t>workloads</a:t>
            </a:r>
            <a:r>
              <a:rPr lang="en-US" sz="3200" b="1" i="1" dirty="0" smtClean="0">
                <a:solidFill>
                  <a:srgbClr val="3F3F3F"/>
                </a:solidFill>
                <a:latin typeface="Arial Narrow"/>
              </a:rPr>
              <a:t>.”</a:t>
            </a:r>
            <a:endParaRPr lang="en-US" sz="3200" b="1" i="1" dirty="0">
              <a:solidFill>
                <a:srgbClr val="3F3F3F"/>
              </a:solidFill>
              <a:latin typeface="Arial Narrow"/>
            </a:endParaRPr>
          </a:p>
        </p:txBody>
      </p:sp>
      <p:sp>
        <p:nvSpPr>
          <p:cNvPr id="5" name="Rectangle 4"/>
          <p:cNvSpPr/>
          <p:nvPr/>
        </p:nvSpPr>
        <p:spPr>
          <a:xfrm>
            <a:off x="3347864" y="4581128"/>
            <a:ext cx="5472607" cy="646331"/>
          </a:xfrm>
          <a:prstGeom prst="rect">
            <a:avLst/>
          </a:prstGeom>
        </p:spPr>
        <p:txBody>
          <a:bodyPr wrap="square">
            <a:spAutoFit/>
          </a:bodyPr>
          <a:lstStyle/>
          <a:p>
            <a:pPr fontAlgn="auto">
              <a:spcBef>
                <a:spcPts val="0"/>
              </a:spcBef>
              <a:spcAft>
                <a:spcPts val="0"/>
              </a:spcAft>
            </a:pPr>
            <a:r>
              <a:rPr lang="en-US" dirty="0">
                <a:solidFill>
                  <a:srgbClr val="3F3F3F"/>
                </a:solidFill>
                <a:latin typeface="Arial Narrow"/>
              </a:rPr>
              <a:t>Gartner, Road Map for Open-Source Success: Understanding Quality and Security, Mark Driver, 3 March 2014.</a:t>
            </a:r>
          </a:p>
        </p:txBody>
      </p:sp>
      <p:pic>
        <p:nvPicPr>
          <p:cNvPr id="6" name="Picture 5"/>
          <p:cNvPicPr>
            <a:picLocks noChangeAspect="1"/>
          </p:cNvPicPr>
          <p:nvPr/>
        </p:nvPicPr>
        <p:blipFill>
          <a:blip r:embed="rId2"/>
          <a:stretch>
            <a:fillRect/>
          </a:stretch>
        </p:blipFill>
        <p:spPr>
          <a:xfrm>
            <a:off x="1115616" y="4661892"/>
            <a:ext cx="1905000" cy="495300"/>
          </a:xfrm>
          <a:prstGeom prst="rect">
            <a:avLst/>
          </a:prstGeom>
        </p:spPr>
      </p:pic>
    </p:spTree>
    <p:extLst>
      <p:ext uri="{BB962C8B-B14F-4D97-AF65-F5344CB8AC3E}">
        <p14:creationId xmlns:p14="http://schemas.microsoft.com/office/powerpoint/2010/main" val="1611049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0" y="6021288"/>
            <a:ext cx="9144000" cy="253916"/>
          </a:xfrm>
          <a:prstGeom prst="rect">
            <a:avLst/>
          </a:prstGeom>
          <a:noFill/>
        </p:spPr>
        <p:txBody>
          <a:bodyPr wrap="square" rtlCol="0">
            <a:spAutoFit/>
          </a:bodyPr>
          <a:lstStyle/>
          <a:p>
            <a:pPr algn="ctr"/>
            <a:r>
              <a:rPr lang="en-US" sz="1050" dirty="0" smtClean="0"/>
              <a:t>Based on the National Vulnerability Database published by the National Institute of Standards and </a:t>
            </a:r>
            <a:r>
              <a:rPr lang="en-US" sz="1050" dirty="0"/>
              <a:t>Technology </a:t>
            </a:r>
            <a:r>
              <a:rPr lang="en-US" sz="1050" dirty="0" smtClean="0"/>
              <a:t>(a </a:t>
            </a:r>
            <a:r>
              <a:rPr lang="en-US" sz="1050" dirty="0"/>
              <a:t>repository </a:t>
            </a:r>
            <a:r>
              <a:rPr lang="en-US" sz="1050" dirty="0" smtClean="0"/>
              <a:t>by the </a:t>
            </a:r>
            <a:r>
              <a:rPr lang="en-US" sz="1050" dirty="0"/>
              <a:t>U.S. </a:t>
            </a:r>
            <a:r>
              <a:rPr lang="en-US" sz="1050" dirty="0" smtClean="0"/>
              <a:t>government)</a:t>
            </a:r>
            <a:endParaRPr lang="en-US" sz="1050" dirty="0"/>
          </a:p>
        </p:txBody>
      </p:sp>
      <p:sp>
        <p:nvSpPr>
          <p:cNvPr id="10" name="Title 1"/>
          <p:cNvSpPr>
            <a:spLocks noGrp="1"/>
          </p:cNvSpPr>
          <p:nvPr>
            <p:ph type="title"/>
          </p:nvPr>
        </p:nvSpPr>
        <p:spPr>
          <a:xfrm>
            <a:off x="380999" y="1"/>
            <a:ext cx="7585923" cy="838200"/>
          </a:xfrm>
        </p:spPr>
        <p:txBody>
          <a:bodyPr>
            <a:normAutofit/>
          </a:bodyPr>
          <a:lstStyle/>
          <a:p>
            <a:r>
              <a:rPr lang="en-US" dirty="0" smtClean="0"/>
              <a:t>The growth in security vulnerabilities</a:t>
            </a:r>
            <a:endParaRPr lang="en-US" dirty="0"/>
          </a:p>
        </p:txBody>
      </p:sp>
      <p:graphicFrame>
        <p:nvGraphicFramePr>
          <p:cNvPr id="5" name="Chart 4"/>
          <p:cNvGraphicFramePr>
            <a:graphicFrameLocks/>
          </p:cNvGraphicFramePr>
          <p:nvPr>
            <p:extLst>
              <p:ext uri="{D42A27DB-BD31-4B8C-83A1-F6EECF244321}">
                <p14:modId xmlns:p14="http://schemas.microsoft.com/office/powerpoint/2010/main" val="1546357807"/>
              </p:ext>
            </p:extLst>
          </p:nvPr>
        </p:nvGraphicFramePr>
        <p:xfrm>
          <a:off x="827584" y="980728"/>
          <a:ext cx="7632848" cy="50405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61956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OSS Vulnerability landscape</a:t>
            </a:r>
            <a:endParaRPr lang="en-US" dirty="0"/>
          </a:p>
        </p:txBody>
      </p:sp>
      <p:grpSp>
        <p:nvGrpSpPr>
          <p:cNvPr id="6" name="Group 5"/>
          <p:cNvGrpSpPr/>
          <p:nvPr/>
        </p:nvGrpSpPr>
        <p:grpSpPr>
          <a:xfrm>
            <a:off x="251520" y="3212976"/>
            <a:ext cx="8581060" cy="2448272"/>
            <a:chOff x="467544" y="3645024"/>
            <a:chExt cx="8581060" cy="2088232"/>
          </a:xfrm>
        </p:grpSpPr>
        <p:pic>
          <p:nvPicPr>
            <p:cNvPr id="4" name="Picture 3"/>
            <p:cNvPicPr>
              <a:picLocks noChangeAspect="1"/>
            </p:cNvPicPr>
            <p:nvPr/>
          </p:nvPicPr>
          <p:blipFill>
            <a:blip r:embed="rId2"/>
            <a:stretch>
              <a:fillRect/>
            </a:stretch>
          </p:blipFill>
          <p:spPr>
            <a:xfrm>
              <a:off x="467544" y="3645024"/>
              <a:ext cx="4294892" cy="2088232"/>
            </a:xfrm>
            <a:prstGeom prst="rect">
              <a:avLst/>
            </a:prstGeom>
          </p:spPr>
        </p:pic>
        <p:pic>
          <p:nvPicPr>
            <p:cNvPr id="5" name="Picture 4"/>
            <p:cNvPicPr>
              <a:picLocks noChangeAspect="1"/>
            </p:cNvPicPr>
            <p:nvPr/>
          </p:nvPicPr>
          <p:blipFill>
            <a:blip r:embed="rId2"/>
            <a:stretch>
              <a:fillRect/>
            </a:stretch>
          </p:blipFill>
          <p:spPr>
            <a:xfrm flipH="1">
              <a:off x="4753712" y="3645024"/>
              <a:ext cx="4294892" cy="2088232"/>
            </a:xfrm>
            <a:prstGeom prst="rect">
              <a:avLst/>
            </a:prstGeom>
          </p:spPr>
        </p:pic>
      </p:grpSp>
      <p:sp>
        <p:nvSpPr>
          <p:cNvPr id="7" name="Rectangle 6"/>
          <p:cNvSpPr/>
          <p:nvPr/>
        </p:nvSpPr>
        <p:spPr>
          <a:xfrm>
            <a:off x="1043608" y="1556792"/>
            <a:ext cx="6768752" cy="1200328"/>
          </a:xfrm>
          <a:prstGeom prst="rect">
            <a:avLst/>
          </a:prstGeom>
        </p:spPr>
        <p:txBody>
          <a:bodyPr wrap="square">
            <a:spAutoFit/>
          </a:bodyPr>
          <a:lstStyle/>
          <a:p>
            <a:r>
              <a:rPr lang="en-US" sz="3600" baseline="30000" dirty="0" smtClean="0">
                <a:latin typeface="Open Sans Light"/>
                <a:cs typeface="Open Sans Light"/>
              </a:rPr>
              <a:t>Of 9,200 security </a:t>
            </a:r>
            <a:r>
              <a:rPr lang="en-US" sz="3600" baseline="30000" dirty="0">
                <a:latin typeface="Open Sans Light"/>
                <a:cs typeface="Open Sans Light"/>
              </a:rPr>
              <a:t>vulnerabilities </a:t>
            </a:r>
            <a:r>
              <a:rPr lang="en-US" sz="3600" baseline="30000" dirty="0" smtClean="0">
                <a:latin typeface="Open Sans Light"/>
                <a:cs typeface="Open Sans Light"/>
              </a:rPr>
              <a:t>reported </a:t>
            </a:r>
            <a:r>
              <a:rPr lang="en-US" sz="3600" baseline="30000" dirty="0">
                <a:latin typeface="Open Sans Light"/>
                <a:cs typeface="Open Sans Light"/>
              </a:rPr>
              <a:t>in 2014, </a:t>
            </a:r>
            <a:r>
              <a:rPr lang="en-US" sz="3600" baseline="30000" dirty="0" smtClean="0">
                <a:latin typeface="Open Sans Light"/>
                <a:cs typeface="Open Sans Light"/>
              </a:rPr>
              <a:t>4,000 affected open </a:t>
            </a:r>
            <a:r>
              <a:rPr lang="en-US" sz="3600" baseline="30000" dirty="0">
                <a:latin typeface="Open Sans Light"/>
                <a:cs typeface="Open Sans Light"/>
              </a:rPr>
              <a:t>source </a:t>
            </a:r>
            <a:r>
              <a:rPr lang="en-US" sz="3600" baseline="30000" dirty="0" smtClean="0">
                <a:latin typeface="Open Sans Light"/>
                <a:cs typeface="Open Sans Light"/>
              </a:rPr>
              <a:t>code.</a:t>
            </a:r>
            <a:endParaRPr lang="en-US" sz="3600" baseline="30000" dirty="0">
              <a:latin typeface="Open Sans Light"/>
              <a:cs typeface="Open Sans Light"/>
            </a:endParaRPr>
          </a:p>
          <a:p>
            <a:pPr algn="r"/>
            <a:r>
              <a:rPr lang="en-US" sz="3600" baseline="30000" dirty="0">
                <a:latin typeface="Open Sans Light"/>
                <a:cs typeface="Open Sans Light"/>
              </a:rPr>
              <a:t>– </a:t>
            </a:r>
            <a:r>
              <a:rPr lang="en-US" sz="3200" baseline="30000" dirty="0">
                <a:latin typeface="Open Sans Light"/>
                <a:cs typeface="Open Sans Light"/>
              </a:rPr>
              <a:t>National Vulnerability Database &amp; IBM X-Force</a:t>
            </a:r>
            <a:endParaRPr lang="en-US" sz="3600" dirty="0">
              <a:latin typeface="Open Sans Light"/>
              <a:cs typeface="Open Sans Light"/>
            </a:endParaRPr>
          </a:p>
        </p:txBody>
      </p:sp>
      <p:grpSp>
        <p:nvGrpSpPr>
          <p:cNvPr id="3" name="Group 2"/>
          <p:cNvGrpSpPr/>
          <p:nvPr/>
        </p:nvGrpSpPr>
        <p:grpSpPr>
          <a:xfrm>
            <a:off x="2055335" y="4632943"/>
            <a:ext cx="891698" cy="1008112"/>
            <a:chOff x="2055335" y="4632943"/>
            <a:chExt cx="891698" cy="1008112"/>
          </a:xfrm>
        </p:grpSpPr>
        <p:sp>
          <p:nvSpPr>
            <p:cNvPr id="13" name="Explosion 2 12"/>
            <p:cNvSpPr/>
            <p:nvPr/>
          </p:nvSpPr>
          <p:spPr>
            <a:xfrm rot="1217966">
              <a:off x="2055335" y="4632943"/>
              <a:ext cx="891698" cy="1008112"/>
            </a:xfrm>
            <a:prstGeom prst="irregularSeal2">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2244004" y="4881030"/>
              <a:ext cx="445072" cy="475838"/>
            </a:xfrm>
            <a:prstGeom prst="rect">
              <a:avLst/>
            </a:prstGeom>
          </p:spPr>
        </p:pic>
      </p:grpSp>
      <p:grpSp>
        <p:nvGrpSpPr>
          <p:cNvPr id="19" name="Group 18"/>
          <p:cNvGrpSpPr/>
          <p:nvPr/>
        </p:nvGrpSpPr>
        <p:grpSpPr>
          <a:xfrm>
            <a:off x="971600" y="4293096"/>
            <a:ext cx="936104" cy="936104"/>
            <a:chOff x="7236296" y="4509120"/>
            <a:chExt cx="936104" cy="936104"/>
          </a:xfrm>
        </p:grpSpPr>
        <p:sp>
          <p:nvSpPr>
            <p:cNvPr id="12" name="Explosion 2 11"/>
            <p:cNvSpPr/>
            <p:nvPr/>
          </p:nvSpPr>
          <p:spPr>
            <a:xfrm>
              <a:off x="7236296" y="4509120"/>
              <a:ext cx="936104" cy="936104"/>
            </a:xfrm>
            <a:prstGeom prst="irregularSeal2">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rotWithShape="1">
            <a:blip r:embed="rId4" cstate="print">
              <a:extLst>
                <a:ext uri="{28A0092B-C50C-407E-A947-70E740481C1C}">
                  <a14:useLocalDpi xmlns:a14="http://schemas.microsoft.com/office/drawing/2010/main"/>
                </a:ext>
              </a:extLst>
            </a:blip>
            <a:srcRect t="-10855" b="-1207"/>
            <a:stretch/>
          </p:blipFill>
          <p:spPr>
            <a:xfrm>
              <a:off x="7380312" y="4725144"/>
              <a:ext cx="557836" cy="576618"/>
            </a:xfrm>
            <a:prstGeom prst="ellipse">
              <a:avLst/>
            </a:prstGeom>
          </p:spPr>
        </p:pic>
      </p:grpSp>
      <p:grpSp>
        <p:nvGrpSpPr>
          <p:cNvPr id="22" name="Group 21"/>
          <p:cNvGrpSpPr/>
          <p:nvPr/>
        </p:nvGrpSpPr>
        <p:grpSpPr>
          <a:xfrm>
            <a:off x="3347864" y="4581128"/>
            <a:ext cx="1008112" cy="936104"/>
            <a:chOff x="3347864" y="4581128"/>
            <a:chExt cx="1008112" cy="936104"/>
          </a:xfrm>
        </p:grpSpPr>
        <p:sp>
          <p:nvSpPr>
            <p:cNvPr id="14" name="Explosion 1 13"/>
            <p:cNvSpPr/>
            <p:nvPr/>
          </p:nvSpPr>
          <p:spPr>
            <a:xfrm>
              <a:off x="3347864" y="4581128"/>
              <a:ext cx="1008112" cy="936104"/>
            </a:xfrm>
            <a:prstGeom prst="irregularSeal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5"/>
            <a:stretch>
              <a:fillRect/>
            </a:stretch>
          </p:blipFill>
          <p:spPr>
            <a:xfrm>
              <a:off x="3635896" y="4797152"/>
              <a:ext cx="489655" cy="576064"/>
            </a:xfrm>
            <a:prstGeom prst="rect">
              <a:avLst/>
            </a:prstGeom>
          </p:spPr>
        </p:pic>
      </p:grpSp>
      <p:grpSp>
        <p:nvGrpSpPr>
          <p:cNvPr id="20" name="Group 19"/>
          <p:cNvGrpSpPr/>
          <p:nvPr/>
        </p:nvGrpSpPr>
        <p:grpSpPr>
          <a:xfrm>
            <a:off x="6588224" y="4653136"/>
            <a:ext cx="972108" cy="900100"/>
            <a:chOff x="791580" y="4365104"/>
            <a:chExt cx="972108" cy="900100"/>
          </a:xfrm>
        </p:grpSpPr>
        <p:sp>
          <p:nvSpPr>
            <p:cNvPr id="15" name="Explosion 1 14"/>
            <p:cNvSpPr/>
            <p:nvPr/>
          </p:nvSpPr>
          <p:spPr>
            <a:xfrm rot="16200000">
              <a:off x="827584" y="4329100"/>
              <a:ext cx="900100" cy="972108"/>
            </a:xfrm>
            <a:prstGeom prst="irregularSeal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6"/>
            <a:stretch>
              <a:fillRect/>
            </a:stretch>
          </p:blipFill>
          <p:spPr>
            <a:xfrm>
              <a:off x="1043608" y="4581128"/>
              <a:ext cx="412543" cy="441664"/>
            </a:xfrm>
            <a:prstGeom prst="rect">
              <a:avLst/>
            </a:prstGeom>
          </p:spPr>
        </p:pic>
      </p:grpSp>
      <p:grpSp>
        <p:nvGrpSpPr>
          <p:cNvPr id="21" name="Group 20"/>
          <p:cNvGrpSpPr/>
          <p:nvPr/>
        </p:nvGrpSpPr>
        <p:grpSpPr>
          <a:xfrm>
            <a:off x="7668344" y="4293096"/>
            <a:ext cx="936104" cy="936104"/>
            <a:chOff x="5893253" y="4246198"/>
            <a:chExt cx="936104" cy="936104"/>
          </a:xfrm>
        </p:grpSpPr>
        <p:sp>
          <p:nvSpPr>
            <p:cNvPr id="17" name="Explosion 2 16"/>
            <p:cNvSpPr/>
            <p:nvPr/>
          </p:nvSpPr>
          <p:spPr>
            <a:xfrm rot="1756989">
              <a:off x="5893253" y="4246198"/>
              <a:ext cx="936104" cy="936104"/>
            </a:xfrm>
            <a:prstGeom prst="irregularSeal2">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p:cNvPicPr>
              <a:picLocks noChangeAspect="1"/>
            </p:cNvPicPr>
            <p:nvPr/>
          </p:nvPicPr>
          <p:blipFill>
            <a:blip r:embed="rId7"/>
            <a:stretch>
              <a:fillRect/>
            </a:stretch>
          </p:blipFill>
          <p:spPr>
            <a:xfrm>
              <a:off x="5904212" y="4473058"/>
              <a:ext cx="806489" cy="504056"/>
            </a:xfrm>
            <a:prstGeom prst="rect">
              <a:avLst/>
            </a:prstGeom>
          </p:spPr>
        </p:pic>
      </p:grpSp>
      <p:sp>
        <p:nvSpPr>
          <p:cNvPr id="18" name="Explosion 1 17"/>
          <p:cNvSpPr/>
          <p:nvPr/>
        </p:nvSpPr>
        <p:spPr>
          <a:xfrm rot="20492324">
            <a:off x="5054316" y="4356618"/>
            <a:ext cx="1008112" cy="936104"/>
          </a:xfrm>
          <a:prstGeom prst="irregularSeal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b="1" dirty="0" smtClean="0">
                <a:solidFill>
                  <a:srgbClr val="FF0000"/>
                </a:solidFill>
                <a:latin typeface="Open Sans"/>
                <a:cs typeface="Open Sans"/>
              </a:rPr>
              <a:t>FREAK</a:t>
            </a:r>
            <a:endParaRPr lang="en-US" b="1" dirty="0">
              <a:solidFill>
                <a:srgbClr val="FF0000"/>
              </a:solidFill>
              <a:latin typeface="Open Sans"/>
              <a:cs typeface="Open Sans"/>
            </a:endParaRPr>
          </a:p>
        </p:txBody>
      </p:sp>
    </p:spTree>
    <p:extLst>
      <p:ext uri="{BB962C8B-B14F-4D97-AF65-F5344CB8AC3E}">
        <p14:creationId xmlns:p14="http://schemas.microsoft.com/office/powerpoint/2010/main" val="2777533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out)">
                                      <p:cBhvr>
                                        <p:cTn id="7" dur="300"/>
                                        <p:tgtEl>
                                          <p:spTgt spid="19"/>
                                        </p:tgtEl>
                                      </p:cBhvr>
                                    </p:animEffect>
                                  </p:childTnLst>
                                </p:cTn>
                              </p:par>
                            </p:childTnLst>
                          </p:cTn>
                        </p:par>
                        <p:par>
                          <p:cTn id="8" fill="hold">
                            <p:stCondLst>
                              <p:cond delay="300"/>
                            </p:stCondLst>
                            <p:childTnLst>
                              <p:par>
                                <p:cTn id="9" presetID="6" presetClass="entr" presetSubtype="16"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circle(in)">
                                      <p:cBhvr>
                                        <p:cTn id="11" dur="300"/>
                                        <p:tgtEl>
                                          <p:spTgt spid="18"/>
                                        </p:tgtEl>
                                      </p:cBhvr>
                                    </p:animEffect>
                                  </p:childTnLst>
                                </p:cTn>
                              </p:par>
                            </p:childTnLst>
                          </p:cTn>
                        </p:par>
                        <p:par>
                          <p:cTn id="12" fill="hold">
                            <p:stCondLst>
                              <p:cond delay="600"/>
                            </p:stCondLst>
                            <p:childTnLst>
                              <p:par>
                                <p:cTn id="13" presetID="6" presetClass="entr" presetSubtype="32"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circle(out)">
                                      <p:cBhvr>
                                        <p:cTn id="15" dur="300"/>
                                        <p:tgtEl>
                                          <p:spTgt spid="3"/>
                                        </p:tgtEl>
                                      </p:cBhvr>
                                    </p:animEffect>
                                  </p:childTnLst>
                                </p:cTn>
                              </p:par>
                            </p:childTnLst>
                          </p:cTn>
                        </p:par>
                        <p:par>
                          <p:cTn id="16" fill="hold">
                            <p:stCondLst>
                              <p:cond delay="900"/>
                            </p:stCondLst>
                            <p:childTnLst>
                              <p:par>
                                <p:cTn id="17" presetID="6" presetClass="entr" presetSubtype="32"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circle(out)">
                                      <p:cBhvr>
                                        <p:cTn id="19" dur="300"/>
                                        <p:tgtEl>
                                          <p:spTgt spid="21"/>
                                        </p:tgtEl>
                                      </p:cBhvr>
                                    </p:animEffect>
                                  </p:childTnLst>
                                </p:cTn>
                              </p:par>
                            </p:childTnLst>
                          </p:cTn>
                        </p:par>
                        <p:par>
                          <p:cTn id="20" fill="hold">
                            <p:stCondLst>
                              <p:cond delay="1200"/>
                            </p:stCondLst>
                            <p:childTnLst>
                              <p:par>
                                <p:cTn id="21" presetID="6" presetClass="entr" presetSubtype="32"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circle(out)">
                                      <p:cBhvr>
                                        <p:cTn id="23" dur="300"/>
                                        <p:tgtEl>
                                          <p:spTgt spid="22"/>
                                        </p:tgtEl>
                                      </p:cBhvr>
                                    </p:animEffect>
                                  </p:childTnLst>
                                </p:cTn>
                              </p:par>
                            </p:childTnLst>
                          </p:cTn>
                        </p:par>
                        <p:par>
                          <p:cTn id="24" fill="hold">
                            <p:stCondLst>
                              <p:cond delay="1500"/>
                            </p:stCondLst>
                            <p:childTnLst>
                              <p:par>
                                <p:cTn id="25" presetID="6" presetClass="entr" presetSubtype="32"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circle(out)">
                                      <p:cBhvr>
                                        <p:cTn id="27" dur="3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1520" y="192024"/>
            <a:ext cx="8784976" cy="576362"/>
          </a:xfrm>
        </p:spPr>
        <p:txBody>
          <a:bodyPr>
            <a:normAutofit/>
          </a:bodyPr>
          <a:lstStyle/>
          <a:p>
            <a:r>
              <a:rPr lang="en-US" dirty="0" smtClean="0"/>
              <a:t>the rise of “named” vulnerabilities in </a:t>
            </a:r>
            <a:r>
              <a:rPr lang="en-US" dirty="0" err="1" smtClean="0"/>
              <a:t>oss</a:t>
            </a:r>
            <a:endParaRPr lang="en-US" dirty="0"/>
          </a:p>
        </p:txBody>
      </p:sp>
      <p:pic>
        <p:nvPicPr>
          <p:cNvPr id="203" name="Picture 202"/>
          <p:cNvPicPr>
            <a:picLocks noChangeAspect="1"/>
          </p:cNvPicPr>
          <p:nvPr/>
        </p:nvPicPr>
        <p:blipFill rotWithShape="1">
          <a:blip r:embed="rId2">
            <a:alphaModFix amt="74000"/>
          </a:blip>
          <a:srcRect l="1121" t="7963" r="3244" b="3726"/>
          <a:stretch/>
        </p:blipFill>
        <p:spPr>
          <a:xfrm>
            <a:off x="1" y="987779"/>
            <a:ext cx="9144000" cy="5870222"/>
          </a:xfrm>
          <a:prstGeom prst="rect">
            <a:avLst/>
          </a:prstGeom>
          <a:ln>
            <a:solidFill>
              <a:schemeClr val="bg1">
                <a:lumMod val="85000"/>
              </a:schemeClr>
            </a:solidFill>
          </a:ln>
        </p:spPr>
      </p:pic>
      <p:grpSp>
        <p:nvGrpSpPr>
          <p:cNvPr id="5" name="Group 4"/>
          <p:cNvGrpSpPr/>
          <p:nvPr/>
        </p:nvGrpSpPr>
        <p:grpSpPr>
          <a:xfrm>
            <a:off x="1" y="1035151"/>
            <a:ext cx="9041843" cy="5238931"/>
            <a:chOff x="1" y="1035151"/>
            <a:chExt cx="9041843" cy="5238931"/>
          </a:xfrm>
        </p:grpSpPr>
        <p:pic>
          <p:nvPicPr>
            <p:cNvPr id="220" name="Picture 219"/>
            <p:cNvPicPr>
              <a:picLocks noChangeAspect="1"/>
            </p:cNvPicPr>
            <p:nvPr/>
          </p:nvPicPr>
          <p:blipFill rotWithShape="1">
            <a:blip r:embed="rId3" cstate="print">
              <a:extLst>
                <a:ext uri="{28A0092B-C50C-407E-A947-70E740481C1C}">
                  <a14:useLocalDpi xmlns:a14="http://schemas.microsoft.com/office/drawing/2010/main"/>
                </a:ext>
              </a:extLst>
            </a:blip>
            <a:srcRect t="-10855" b="-1207"/>
            <a:stretch/>
          </p:blipFill>
          <p:spPr>
            <a:xfrm>
              <a:off x="1377309" y="1621688"/>
              <a:ext cx="557836" cy="576618"/>
            </a:xfrm>
            <a:prstGeom prst="ellipse">
              <a:avLst/>
            </a:prstGeom>
          </p:spPr>
        </p:pic>
        <p:pic>
          <p:nvPicPr>
            <p:cNvPr id="221" name="Picture 220"/>
            <p:cNvPicPr>
              <a:picLocks noChangeAspect="1"/>
            </p:cNvPicPr>
            <p:nvPr/>
          </p:nvPicPr>
          <p:blipFill rotWithShape="1">
            <a:blip r:embed="rId3" cstate="print">
              <a:extLst>
                <a:ext uri="{28A0092B-C50C-407E-A947-70E740481C1C}">
                  <a14:useLocalDpi xmlns:a14="http://schemas.microsoft.com/office/drawing/2010/main"/>
                </a:ext>
              </a:extLst>
            </a:blip>
            <a:srcRect t="-10855" b="-1207"/>
            <a:stretch/>
          </p:blipFill>
          <p:spPr>
            <a:xfrm>
              <a:off x="4037888" y="2270636"/>
              <a:ext cx="557836" cy="576618"/>
            </a:xfrm>
            <a:prstGeom prst="ellipse">
              <a:avLst/>
            </a:prstGeom>
          </p:spPr>
        </p:pic>
        <p:pic>
          <p:nvPicPr>
            <p:cNvPr id="222" name="Picture 221"/>
            <p:cNvPicPr>
              <a:picLocks noChangeAspect="1"/>
            </p:cNvPicPr>
            <p:nvPr/>
          </p:nvPicPr>
          <p:blipFill rotWithShape="1">
            <a:blip r:embed="rId3" cstate="print">
              <a:extLst>
                <a:ext uri="{28A0092B-C50C-407E-A947-70E740481C1C}">
                  <a14:useLocalDpi xmlns:a14="http://schemas.microsoft.com/office/drawing/2010/main"/>
                </a:ext>
              </a:extLst>
            </a:blip>
            <a:srcRect t="-10855" b="-1207"/>
            <a:stretch/>
          </p:blipFill>
          <p:spPr>
            <a:xfrm>
              <a:off x="7606957" y="1556792"/>
              <a:ext cx="557836" cy="576618"/>
            </a:xfrm>
            <a:prstGeom prst="ellipse">
              <a:avLst/>
            </a:prstGeom>
          </p:spPr>
        </p:pic>
        <p:pic>
          <p:nvPicPr>
            <p:cNvPr id="223" name="Picture 222"/>
            <p:cNvPicPr>
              <a:picLocks noChangeAspect="1"/>
            </p:cNvPicPr>
            <p:nvPr/>
          </p:nvPicPr>
          <p:blipFill rotWithShape="1">
            <a:blip r:embed="rId3" cstate="print">
              <a:extLst>
                <a:ext uri="{28A0092B-C50C-407E-A947-70E740481C1C}">
                  <a14:useLocalDpi xmlns:a14="http://schemas.microsoft.com/office/drawing/2010/main"/>
                </a:ext>
              </a:extLst>
            </a:blip>
            <a:srcRect t="-10855" b="-1207"/>
            <a:stretch/>
          </p:blipFill>
          <p:spPr>
            <a:xfrm>
              <a:off x="6420358" y="4375084"/>
              <a:ext cx="557836" cy="576618"/>
            </a:xfrm>
            <a:prstGeom prst="ellipse">
              <a:avLst/>
            </a:prstGeom>
          </p:spPr>
        </p:pic>
        <p:pic>
          <p:nvPicPr>
            <p:cNvPr id="224" name="Picture 223"/>
            <p:cNvPicPr>
              <a:picLocks noChangeAspect="1"/>
            </p:cNvPicPr>
            <p:nvPr/>
          </p:nvPicPr>
          <p:blipFill rotWithShape="1">
            <a:blip r:embed="rId3" cstate="print">
              <a:extLst>
                <a:ext uri="{28A0092B-C50C-407E-A947-70E740481C1C}">
                  <a14:useLocalDpi xmlns:a14="http://schemas.microsoft.com/office/drawing/2010/main"/>
                </a:ext>
              </a:extLst>
            </a:blip>
            <a:srcRect t="-10855" b="-1207"/>
            <a:stretch/>
          </p:blipFill>
          <p:spPr>
            <a:xfrm>
              <a:off x="3833942" y="5255800"/>
              <a:ext cx="557836" cy="576618"/>
            </a:xfrm>
            <a:prstGeom prst="ellipse">
              <a:avLst/>
            </a:prstGeom>
          </p:spPr>
        </p:pic>
        <p:pic>
          <p:nvPicPr>
            <p:cNvPr id="225" name="Picture 224"/>
            <p:cNvPicPr>
              <a:picLocks noChangeAspect="1"/>
            </p:cNvPicPr>
            <p:nvPr/>
          </p:nvPicPr>
          <p:blipFill rotWithShape="1">
            <a:blip r:embed="rId3" cstate="print">
              <a:extLst>
                <a:ext uri="{28A0092B-C50C-407E-A947-70E740481C1C}">
                  <a14:useLocalDpi xmlns:a14="http://schemas.microsoft.com/office/drawing/2010/main"/>
                </a:ext>
              </a:extLst>
            </a:blip>
            <a:srcRect t="-10855" b="-1207"/>
            <a:stretch/>
          </p:blipFill>
          <p:spPr>
            <a:xfrm>
              <a:off x="2378503" y="4875701"/>
              <a:ext cx="557836" cy="576618"/>
            </a:xfrm>
            <a:prstGeom prst="ellipse">
              <a:avLst/>
            </a:prstGeom>
          </p:spPr>
        </p:pic>
        <p:pic>
          <p:nvPicPr>
            <p:cNvPr id="226" name="Picture 225"/>
            <p:cNvPicPr>
              <a:picLocks noChangeAspect="1"/>
            </p:cNvPicPr>
            <p:nvPr/>
          </p:nvPicPr>
          <p:blipFill rotWithShape="1">
            <a:blip r:embed="rId3" cstate="print">
              <a:extLst>
                <a:ext uri="{28A0092B-C50C-407E-A947-70E740481C1C}">
                  <a14:useLocalDpi xmlns:a14="http://schemas.microsoft.com/office/drawing/2010/main"/>
                </a:ext>
              </a:extLst>
            </a:blip>
            <a:srcRect t="-10855" b="-1207"/>
            <a:stretch/>
          </p:blipFill>
          <p:spPr>
            <a:xfrm>
              <a:off x="1256795" y="4124774"/>
              <a:ext cx="557836" cy="576618"/>
            </a:xfrm>
            <a:prstGeom prst="ellipse">
              <a:avLst/>
            </a:prstGeom>
          </p:spPr>
        </p:pic>
        <p:pic>
          <p:nvPicPr>
            <p:cNvPr id="227" name="Picture 226"/>
            <p:cNvPicPr>
              <a:picLocks noChangeAspect="1"/>
            </p:cNvPicPr>
            <p:nvPr/>
          </p:nvPicPr>
          <p:blipFill>
            <a:blip r:embed="rId4"/>
            <a:stretch>
              <a:fillRect/>
            </a:stretch>
          </p:blipFill>
          <p:spPr>
            <a:xfrm>
              <a:off x="7621218" y="2733890"/>
              <a:ext cx="445072" cy="475838"/>
            </a:xfrm>
            <a:prstGeom prst="rect">
              <a:avLst/>
            </a:prstGeom>
          </p:spPr>
        </p:pic>
        <p:pic>
          <p:nvPicPr>
            <p:cNvPr id="228" name="Picture 227"/>
            <p:cNvPicPr>
              <a:picLocks noChangeAspect="1"/>
            </p:cNvPicPr>
            <p:nvPr/>
          </p:nvPicPr>
          <p:blipFill>
            <a:blip r:embed="rId4"/>
            <a:stretch>
              <a:fillRect/>
            </a:stretch>
          </p:blipFill>
          <p:spPr>
            <a:xfrm>
              <a:off x="5349992" y="1621406"/>
              <a:ext cx="445072" cy="475838"/>
            </a:xfrm>
            <a:prstGeom prst="rect">
              <a:avLst/>
            </a:prstGeom>
          </p:spPr>
        </p:pic>
        <p:pic>
          <p:nvPicPr>
            <p:cNvPr id="229" name="Picture 228"/>
            <p:cNvPicPr>
              <a:picLocks noChangeAspect="1"/>
            </p:cNvPicPr>
            <p:nvPr/>
          </p:nvPicPr>
          <p:blipFill>
            <a:blip r:embed="rId4"/>
            <a:stretch>
              <a:fillRect/>
            </a:stretch>
          </p:blipFill>
          <p:spPr>
            <a:xfrm>
              <a:off x="5062612" y="4143036"/>
              <a:ext cx="445072" cy="475838"/>
            </a:xfrm>
            <a:prstGeom prst="rect">
              <a:avLst/>
            </a:prstGeom>
          </p:spPr>
        </p:pic>
        <p:pic>
          <p:nvPicPr>
            <p:cNvPr id="230" name="Picture 229"/>
            <p:cNvPicPr>
              <a:picLocks noChangeAspect="1"/>
            </p:cNvPicPr>
            <p:nvPr/>
          </p:nvPicPr>
          <p:blipFill>
            <a:blip r:embed="rId4"/>
            <a:stretch>
              <a:fillRect/>
            </a:stretch>
          </p:blipFill>
          <p:spPr>
            <a:xfrm>
              <a:off x="7018647" y="5644889"/>
              <a:ext cx="445072" cy="475838"/>
            </a:xfrm>
            <a:prstGeom prst="rect">
              <a:avLst/>
            </a:prstGeom>
          </p:spPr>
        </p:pic>
        <p:pic>
          <p:nvPicPr>
            <p:cNvPr id="231" name="Picture 230"/>
            <p:cNvPicPr>
              <a:picLocks noChangeAspect="1"/>
            </p:cNvPicPr>
            <p:nvPr/>
          </p:nvPicPr>
          <p:blipFill>
            <a:blip r:embed="rId4"/>
            <a:stretch>
              <a:fillRect/>
            </a:stretch>
          </p:blipFill>
          <p:spPr>
            <a:xfrm>
              <a:off x="1187624" y="5459475"/>
              <a:ext cx="445072" cy="475838"/>
            </a:xfrm>
            <a:prstGeom prst="rect">
              <a:avLst/>
            </a:prstGeom>
          </p:spPr>
        </p:pic>
        <p:pic>
          <p:nvPicPr>
            <p:cNvPr id="232" name="Picture 231"/>
            <p:cNvPicPr>
              <a:picLocks noChangeAspect="1"/>
            </p:cNvPicPr>
            <p:nvPr/>
          </p:nvPicPr>
          <p:blipFill>
            <a:blip r:embed="rId4"/>
            <a:stretch>
              <a:fillRect/>
            </a:stretch>
          </p:blipFill>
          <p:spPr>
            <a:xfrm>
              <a:off x="2707955" y="1667759"/>
              <a:ext cx="445072" cy="475838"/>
            </a:xfrm>
            <a:prstGeom prst="rect">
              <a:avLst/>
            </a:prstGeom>
          </p:spPr>
        </p:pic>
        <p:pic>
          <p:nvPicPr>
            <p:cNvPr id="2" name="Picture 1"/>
            <p:cNvPicPr>
              <a:picLocks noChangeAspect="1"/>
            </p:cNvPicPr>
            <p:nvPr/>
          </p:nvPicPr>
          <p:blipFill>
            <a:blip r:embed="rId5"/>
            <a:stretch>
              <a:fillRect/>
            </a:stretch>
          </p:blipFill>
          <p:spPr>
            <a:xfrm>
              <a:off x="6032058" y="1035151"/>
              <a:ext cx="537717" cy="632608"/>
            </a:xfrm>
            <a:prstGeom prst="rect">
              <a:avLst/>
            </a:prstGeom>
          </p:spPr>
        </p:pic>
        <p:pic>
          <p:nvPicPr>
            <p:cNvPr id="20" name="Picture 19"/>
            <p:cNvPicPr>
              <a:picLocks noChangeAspect="1"/>
            </p:cNvPicPr>
            <p:nvPr/>
          </p:nvPicPr>
          <p:blipFill>
            <a:blip r:embed="rId5"/>
            <a:stretch>
              <a:fillRect/>
            </a:stretch>
          </p:blipFill>
          <p:spPr>
            <a:xfrm>
              <a:off x="887617" y="1040645"/>
              <a:ext cx="537717" cy="632608"/>
            </a:xfrm>
            <a:prstGeom prst="rect">
              <a:avLst/>
            </a:prstGeom>
          </p:spPr>
        </p:pic>
        <p:pic>
          <p:nvPicPr>
            <p:cNvPr id="21" name="Picture 20"/>
            <p:cNvPicPr>
              <a:picLocks noChangeAspect="1"/>
            </p:cNvPicPr>
            <p:nvPr/>
          </p:nvPicPr>
          <p:blipFill>
            <a:blip r:embed="rId5"/>
            <a:stretch>
              <a:fillRect/>
            </a:stretch>
          </p:blipFill>
          <p:spPr>
            <a:xfrm>
              <a:off x="8297856" y="2119437"/>
              <a:ext cx="537717" cy="632608"/>
            </a:xfrm>
            <a:prstGeom prst="rect">
              <a:avLst/>
            </a:prstGeom>
          </p:spPr>
        </p:pic>
        <p:pic>
          <p:nvPicPr>
            <p:cNvPr id="22" name="Picture 21"/>
            <p:cNvPicPr>
              <a:picLocks noChangeAspect="1"/>
            </p:cNvPicPr>
            <p:nvPr/>
          </p:nvPicPr>
          <p:blipFill>
            <a:blip r:embed="rId5"/>
            <a:stretch>
              <a:fillRect/>
            </a:stretch>
          </p:blipFill>
          <p:spPr>
            <a:xfrm>
              <a:off x="1" y="4243093"/>
              <a:ext cx="537717" cy="632608"/>
            </a:xfrm>
            <a:prstGeom prst="rect">
              <a:avLst/>
            </a:prstGeom>
          </p:spPr>
        </p:pic>
        <p:pic>
          <p:nvPicPr>
            <p:cNvPr id="23" name="Picture 22"/>
            <p:cNvPicPr>
              <a:picLocks noChangeAspect="1"/>
            </p:cNvPicPr>
            <p:nvPr/>
          </p:nvPicPr>
          <p:blipFill>
            <a:blip r:embed="rId5"/>
            <a:stretch>
              <a:fillRect/>
            </a:stretch>
          </p:blipFill>
          <p:spPr>
            <a:xfrm>
              <a:off x="8309452" y="5012281"/>
              <a:ext cx="537717" cy="632608"/>
            </a:xfrm>
            <a:prstGeom prst="rect">
              <a:avLst/>
            </a:prstGeom>
          </p:spPr>
        </p:pic>
        <p:pic>
          <p:nvPicPr>
            <p:cNvPr id="3" name="Picture 2"/>
            <p:cNvPicPr>
              <a:picLocks noChangeAspect="1"/>
            </p:cNvPicPr>
            <p:nvPr/>
          </p:nvPicPr>
          <p:blipFill>
            <a:blip r:embed="rId6"/>
            <a:stretch>
              <a:fillRect/>
            </a:stretch>
          </p:blipFill>
          <p:spPr>
            <a:xfrm>
              <a:off x="4589888" y="1283023"/>
              <a:ext cx="412543" cy="441664"/>
            </a:xfrm>
            <a:prstGeom prst="rect">
              <a:avLst/>
            </a:prstGeom>
          </p:spPr>
        </p:pic>
        <p:pic>
          <p:nvPicPr>
            <p:cNvPr id="25" name="Picture 24"/>
            <p:cNvPicPr>
              <a:picLocks noChangeAspect="1"/>
            </p:cNvPicPr>
            <p:nvPr/>
          </p:nvPicPr>
          <p:blipFill>
            <a:blip r:embed="rId6"/>
            <a:stretch>
              <a:fillRect/>
            </a:stretch>
          </p:blipFill>
          <p:spPr>
            <a:xfrm>
              <a:off x="7180635" y="4875701"/>
              <a:ext cx="412543" cy="441664"/>
            </a:xfrm>
            <a:prstGeom prst="rect">
              <a:avLst/>
            </a:prstGeom>
          </p:spPr>
        </p:pic>
        <p:pic>
          <p:nvPicPr>
            <p:cNvPr id="26" name="Picture 25"/>
            <p:cNvPicPr>
              <a:picLocks noChangeAspect="1"/>
            </p:cNvPicPr>
            <p:nvPr/>
          </p:nvPicPr>
          <p:blipFill>
            <a:blip r:embed="rId6"/>
            <a:stretch>
              <a:fillRect/>
            </a:stretch>
          </p:blipFill>
          <p:spPr>
            <a:xfrm>
              <a:off x="8629301" y="1180024"/>
              <a:ext cx="412543" cy="441664"/>
            </a:xfrm>
            <a:prstGeom prst="rect">
              <a:avLst/>
            </a:prstGeom>
          </p:spPr>
        </p:pic>
        <p:pic>
          <p:nvPicPr>
            <p:cNvPr id="27" name="Picture 26"/>
            <p:cNvPicPr>
              <a:picLocks noChangeAspect="1"/>
            </p:cNvPicPr>
            <p:nvPr/>
          </p:nvPicPr>
          <p:blipFill>
            <a:blip r:embed="rId6"/>
            <a:stretch>
              <a:fillRect/>
            </a:stretch>
          </p:blipFill>
          <p:spPr>
            <a:xfrm>
              <a:off x="331446" y="5203225"/>
              <a:ext cx="412543" cy="441664"/>
            </a:xfrm>
            <a:prstGeom prst="rect">
              <a:avLst/>
            </a:prstGeom>
          </p:spPr>
        </p:pic>
        <p:pic>
          <p:nvPicPr>
            <p:cNvPr id="28" name="Picture 27"/>
            <p:cNvPicPr>
              <a:picLocks noChangeAspect="1"/>
            </p:cNvPicPr>
            <p:nvPr/>
          </p:nvPicPr>
          <p:blipFill>
            <a:blip r:embed="rId6"/>
            <a:stretch>
              <a:fillRect/>
            </a:stretch>
          </p:blipFill>
          <p:spPr>
            <a:xfrm>
              <a:off x="2501683" y="5832418"/>
              <a:ext cx="412543" cy="441664"/>
            </a:xfrm>
            <a:prstGeom prst="rect">
              <a:avLst/>
            </a:prstGeom>
          </p:spPr>
        </p:pic>
      </p:grpSp>
    </p:spTree>
    <p:extLst>
      <p:ext uri="{BB962C8B-B14F-4D97-AF65-F5344CB8AC3E}">
        <p14:creationId xmlns:p14="http://schemas.microsoft.com/office/powerpoint/2010/main" val="2093726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9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92024"/>
            <a:ext cx="8064896" cy="576362"/>
          </a:xfrm>
        </p:spPr>
        <p:txBody>
          <a:bodyPr>
            <a:normAutofit fontScale="90000"/>
          </a:bodyPr>
          <a:lstStyle/>
          <a:p>
            <a:r>
              <a:rPr lang="en-US" dirty="0" smtClean="0"/>
              <a:t>Pending legislation – H.R. 5793 the cyber supply chain transparency and remediation act (“The royce bill”)</a:t>
            </a:r>
            <a:endParaRPr lang="en-US" dirty="0"/>
          </a:p>
        </p:txBody>
      </p:sp>
      <p:sp>
        <p:nvSpPr>
          <p:cNvPr id="3" name="Content Placeholder 2"/>
          <p:cNvSpPr>
            <a:spLocks noGrp="1"/>
          </p:cNvSpPr>
          <p:nvPr>
            <p:ph idx="1"/>
          </p:nvPr>
        </p:nvSpPr>
        <p:spPr/>
        <p:txBody>
          <a:bodyPr/>
          <a:lstStyle/>
          <a:p>
            <a:r>
              <a:rPr lang="en-US" dirty="0" smtClean="0"/>
              <a:t>3 Key Provisions:</a:t>
            </a:r>
          </a:p>
          <a:p>
            <a:pPr marL="342900" indent="-342900">
              <a:buFont typeface="Arial"/>
              <a:buChar char="•"/>
            </a:pPr>
            <a:r>
              <a:rPr lang="en-US" dirty="0" smtClean="0"/>
              <a:t>Vendors must provide a Bill of Materials of 3</a:t>
            </a:r>
            <a:r>
              <a:rPr lang="en-US" baseline="30000" dirty="0" smtClean="0"/>
              <a:t>rd</a:t>
            </a:r>
            <a:r>
              <a:rPr lang="en-US" dirty="0" smtClean="0"/>
              <a:t>-Party and Open Source Components (including versions)</a:t>
            </a:r>
          </a:p>
          <a:p>
            <a:pPr marL="342900" indent="-342900">
              <a:buFont typeface="Arial"/>
              <a:buChar char="•"/>
            </a:pPr>
            <a:r>
              <a:rPr lang="en-US" dirty="0" smtClean="0"/>
              <a:t>Vendors cannot use known vulnerable components if there is a less vulnerable component available</a:t>
            </a:r>
          </a:p>
          <a:p>
            <a:pPr marL="342900" indent="-342900">
              <a:buFont typeface="Arial"/>
              <a:buChar char="•"/>
            </a:pPr>
            <a:r>
              <a:rPr lang="en-US" dirty="0" smtClean="0"/>
              <a:t>Software must be patchable/updateable (to address new vulnerabilities when they are discovered)</a:t>
            </a:r>
          </a:p>
          <a:p>
            <a:endParaRPr lang="en-US" dirty="0"/>
          </a:p>
        </p:txBody>
      </p:sp>
      <p:pic>
        <p:nvPicPr>
          <p:cNvPr id="6" name="Picture 5"/>
          <p:cNvPicPr>
            <a:picLocks noChangeAspect="1"/>
          </p:cNvPicPr>
          <p:nvPr/>
        </p:nvPicPr>
        <p:blipFill rotWithShape="1">
          <a:blip r:embed="rId2"/>
          <a:srcRect t="10051"/>
          <a:stretch/>
        </p:blipFill>
        <p:spPr>
          <a:xfrm>
            <a:off x="6300192" y="3645024"/>
            <a:ext cx="2413000" cy="2593163"/>
          </a:xfrm>
          <a:prstGeom prst="rect">
            <a:avLst/>
          </a:prstGeom>
        </p:spPr>
      </p:pic>
      <p:pic>
        <p:nvPicPr>
          <p:cNvPr id="7" name="Picture 6"/>
          <p:cNvPicPr>
            <a:picLocks noChangeAspect="1"/>
          </p:cNvPicPr>
          <p:nvPr/>
        </p:nvPicPr>
        <p:blipFill>
          <a:blip r:embed="rId3"/>
          <a:stretch>
            <a:fillRect/>
          </a:stretch>
        </p:blipFill>
        <p:spPr>
          <a:xfrm>
            <a:off x="683568" y="4077072"/>
            <a:ext cx="2104118" cy="2057772"/>
          </a:xfrm>
          <a:prstGeom prst="rect">
            <a:avLst/>
          </a:prstGeom>
        </p:spPr>
      </p:pic>
    </p:spTree>
    <p:extLst>
      <p:ext uri="{BB962C8B-B14F-4D97-AF65-F5344CB8AC3E}">
        <p14:creationId xmlns:p14="http://schemas.microsoft.com/office/powerpoint/2010/main" val="2354033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dirty="0" smtClean="0"/>
              <a:t>The open source development model</a:t>
            </a:r>
            <a:endParaRPr lang="en-US" dirty="0"/>
          </a:p>
        </p:txBody>
      </p:sp>
      <p:sp>
        <p:nvSpPr>
          <p:cNvPr id="5" name="Subtitle 4"/>
          <p:cNvSpPr>
            <a:spLocks noGrp="1"/>
          </p:cNvSpPr>
          <p:nvPr>
            <p:ph type="subTitle" idx="1"/>
          </p:nvPr>
        </p:nvSpPr>
        <p:spPr/>
        <p:txBody>
          <a:bodyPr/>
          <a:lstStyle/>
          <a:p>
            <a:r>
              <a:rPr lang="en-US" dirty="0" smtClean="0"/>
              <a:t>Inherently (in)secure?</a:t>
            </a:r>
            <a:endParaRPr lang="en-US" dirty="0"/>
          </a:p>
        </p:txBody>
      </p:sp>
    </p:spTree>
    <p:extLst>
      <p:ext uri="{BB962C8B-B14F-4D97-AF65-F5344CB8AC3E}">
        <p14:creationId xmlns:p14="http://schemas.microsoft.com/office/powerpoint/2010/main" val="3433549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Linus’ Law</a:t>
            </a:r>
            <a:endParaRPr lang="en-US" dirty="0"/>
          </a:p>
        </p:txBody>
      </p:sp>
      <p:sp>
        <p:nvSpPr>
          <p:cNvPr id="5" name="Content Placeholder 4"/>
          <p:cNvSpPr>
            <a:spLocks noGrp="1"/>
          </p:cNvSpPr>
          <p:nvPr>
            <p:ph idx="1"/>
          </p:nvPr>
        </p:nvSpPr>
        <p:spPr>
          <a:xfrm>
            <a:off x="250825" y="1196751"/>
            <a:ext cx="8642349" cy="504057"/>
          </a:xfrm>
        </p:spPr>
        <p:txBody>
          <a:bodyPr/>
          <a:lstStyle/>
          <a:p>
            <a:pPr algn="ctr"/>
            <a:r>
              <a:rPr lang="en-US" dirty="0" smtClean="0"/>
              <a:t>Given enough eyeballs, all bugs are shallow</a:t>
            </a:r>
            <a:endParaRPr lang="en-US" dirty="0"/>
          </a:p>
        </p:txBody>
      </p:sp>
      <p:pic>
        <p:nvPicPr>
          <p:cNvPr id="6" name="Picture 5"/>
          <p:cNvPicPr>
            <a:picLocks noChangeAspect="1"/>
          </p:cNvPicPr>
          <p:nvPr/>
        </p:nvPicPr>
        <p:blipFill>
          <a:blip r:embed="rId3"/>
          <a:stretch>
            <a:fillRect/>
          </a:stretch>
        </p:blipFill>
        <p:spPr>
          <a:xfrm>
            <a:off x="3828774" y="2492896"/>
            <a:ext cx="1535314" cy="2376264"/>
          </a:xfrm>
          <a:prstGeom prst="rect">
            <a:avLst/>
          </a:prstGeom>
        </p:spPr>
      </p:pic>
      <p:pic>
        <p:nvPicPr>
          <p:cNvPr id="8" name="Picture 7"/>
          <p:cNvPicPr>
            <a:picLocks noChangeAspect="1"/>
          </p:cNvPicPr>
          <p:nvPr/>
        </p:nvPicPr>
        <p:blipFill rotWithShape="1">
          <a:blip r:embed="rId4"/>
          <a:srcRect l="4170" r="4157"/>
          <a:stretch/>
        </p:blipFill>
        <p:spPr>
          <a:xfrm>
            <a:off x="683568" y="2512504"/>
            <a:ext cx="2142407" cy="2337048"/>
          </a:xfrm>
          <a:prstGeom prst="rect">
            <a:avLst/>
          </a:prstGeom>
        </p:spPr>
      </p:pic>
      <p:pic>
        <p:nvPicPr>
          <p:cNvPr id="10" name="Picture 9"/>
          <p:cNvPicPr>
            <a:picLocks noChangeAspect="1"/>
          </p:cNvPicPr>
          <p:nvPr/>
        </p:nvPicPr>
        <p:blipFill>
          <a:blip r:embed="rId5"/>
          <a:stretch>
            <a:fillRect/>
          </a:stretch>
        </p:blipFill>
        <p:spPr>
          <a:xfrm>
            <a:off x="6372200" y="2504898"/>
            <a:ext cx="2016224" cy="2352261"/>
          </a:xfrm>
          <a:prstGeom prst="rect">
            <a:avLst/>
          </a:prstGeom>
        </p:spPr>
      </p:pic>
    </p:spTree>
    <p:extLst>
      <p:ext uri="{BB962C8B-B14F-4D97-AF65-F5344CB8AC3E}">
        <p14:creationId xmlns:p14="http://schemas.microsoft.com/office/powerpoint/2010/main" val="3608602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1907704" y="1124744"/>
            <a:ext cx="5040560" cy="2808312"/>
            <a:chOff x="3203848" y="3356992"/>
            <a:chExt cx="2592288" cy="1152128"/>
          </a:xfrm>
        </p:grpSpPr>
        <p:sp>
          <p:nvSpPr>
            <p:cNvPr id="11" name="Oval 10"/>
            <p:cNvSpPr/>
            <p:nvPr/>
          </p:nvSpPr>
          <p:spPr>
            <a:xfrm>
              <a:off x="3203848" y="3356992"/>
              <a:ext cx="2592288" cy="1152128"/>
            </a:xfrm>
            <a:prstGeom prst="ellipse">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p>
          </p:txBody>
        </p:sp>
        <p:sp>
          <p:nvSpPr>
            <p:cNvPr id="12" name="Rectangle 11"/>
            <p:cNvSpPr/>
            <p:nvPr/>
          </p:nvSpPr>
          <p:spPr>
            <a:xfrm>
              <a:off x="3743882" y="3475159"/>
              <a:ext cx="1512233" cy="15152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a:spAutoFit/>
            </a:bodyPr>
            <a:lstStyle/>
            <a:p>
              <a:pPr algn="ctr"/>
              <a:r>
                <a:rPr lang="en-US" b="1" dirty="0" smtClean="0">
                  <a:solidFill>
                    <a:schemeClr val="bg1"/>
                  </a:solidFill>
                </a:rPr>
                <a:t>User Community &amp; Ecosystem</a:t>
              </a:r>
              <a:endParaRPr lang="en-US" b="1" dirty="0">
                <a:solidFill>
                  <a:schemeClr val="bg1"/>
                </a:solidFill>
              </a:endParaRPr>
            </a:p>
          </p:txBody>
        </p:sp>
      </p:grpSp>
      <p:grpSp>
        <p:nvGrpSpPr>
          <p:cNvPr id="7" name="Group 6"/>
          <p:cNvGrpSpPr/>
          <p:nvPr/>
        </p:nvGrpSpPr>
        <p:grpSpPr>
          <a:xfrm>
            <a:off x="2555776" y="2060848"/>
            <a:ext cx="3744416" cy="1944216"/>
            <a:chOff x="3203848" y="3356992"/>
            <a:chExt cx="2592288" cy="1152128"/>
          </a:xfrm>
        </p:grpSpPr>
        <p:sp>
          <p:nvSpPr>
            <p:cNvPr id="8" name="Oval 7"/>
            <p:cNvSpPr/>
            <p:nvPr/>
          </p:nvSpPr>
          <p:spPr>
            <a:xfrm>
              <a:off x="3203848" y="3356992"/>
              <a:ext cx="2592288" cy="1152128"/>
            </a:xfrm>
            <a:prstGeom prst="ellipse">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p:cNvSpPr/>
            <p:nvPr/>
          </p:nvSpPr>
          <p:spPr>
            <a:xfrm>
              <a:off x="3740699" y="3501008"/>
              <a:ext cx="1518589" cy="2188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a:spAutoFit/>
            </a:bodyPr>
            <a:lstStyle/>
            <a:p>
              <a:pPr algn="ctr"/>
              <a:r>
                <a:rPr lang="en-US" b="1" dirty="0" smtClean="0">
                  <a:solidFill>
                    <a:schemeClr val="bg1"/>
                  </a:solidFill>
                </a:rPr>
                <a:t>Developer Community</a:t>
              </a:r>
              <a:endParaRPr lang="en-US" b="1" dirty="0">
                <a:solidFill>
                  <a:schemeClr val="bg1"/>
                </a:solidFill>
              </a:endParaRPr>
            </a:p>
          </p:txBody>
        </p:sp>
      </p:grpSp>
      <p:grpSp>
        <p:nvGrpSpPr>
          <p:cNvPr id="6" name="Group 5"/>
          <p:cNvGrpSpPr/>
          <p:nvPr/>
        </p:nvGrpSpPr>
        <p:grpSpPr>
          <a:xfrm>
            <a:off x="3131840" y="2852936"/>
            <a:ext cx="2592288" cy="1152128"/>
            <a:chOff x="3203848" y="3356992"/>
            <a:chExt cx="2592288" cy="1152128"/>
          </a:xfrm>
        </p:grpSpPr>
        <p:sp>
          <p:nvSpPr>
            <p:cNvPr id="4" name="Oval 3"/>
            <p:cNvSpPr/>
            <p:nvPr/>
          </p:nvSpPr>
          <p:spPr>
            <a:xfrm>
              <a:off x="3203848" y="3356992"/>
              <a:ext cx="2592288" cy="1152128"/>
            </a:xfrm>
            <a:prstGeom prst="ellipse">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5" name="Rectangle 4"/>
            <p:cNvSpPr/>
            <p:nvPr/>
          </p:nvSpPr>
          <p:spPr>
            <a:xfrm>
              <a:off x="3655538" y="3501008"/>
              <a:ext cx="1688909" cy="369332"/>
            </a:xfrm>
            <a:prstGeom prst="rect">
              <a:avLst/>
            </a:prstGeom>
          </p:spPr>
          <p:style>
            <a:lnRef idx="1">
              <a:schemeClr val="accent4"/>
            </a:lnRef>
            <a:fillRef idx="3">
              <a:schemeClr val="accent4"/>
            </a:fillRef>
            <a:effectRef idx="2">
              <a:schemeClr val="accent4"/>
            </a:effectRef>
            <a:fontRef idx="minor">
              <a:schemeClr val="lt1"/>
            </a:fontRef>
          </p:style>
          <p:txBody>
            <a:bodyPr wrap="none">
              <a:spAutoFit/>
            </a:bodyPr>
            <a:lstStyle/>
            <a:p>
              <a:pPr algn="ctr"/>
              <a:r>
                <a:rPr lang="en-US" b="1" dirty="0">
                  <a:solidFill>
                    <a:schemeClr val="bg1"/>
                  </a:solidFill>
                </a:rPr>
                <a:t>Core Developers</a:t>
              </a:r>
            </a:p>
          </p:txBody>
        </p:sp>
      </p:grpSp>
      <p:sp>
        <p:nvSpPr>
          <p:cNvPr id="2" name="Title 1"/>
          <p:cNvSpPr>
            <a:spLocks noGrp="1"/>
          </p:cNvSpPr>
          <p:nvPr>
            <p:ph type="title"/>
          </p:nvPr>
        </p:nvSpPr>
        <p:spPr/>
        <p:txBody>
          <a:bodyPr/>
          <a:lstStyle/>
          <a:p>
            <a:r>
              <a:rPr lang="en-US" dirty="0" smtClean="0"/>
              <a:t>Open Source development model</a:t>
            </a:r>
            <a:endParaRPr lang="en-US" dirty="0"/>
          </a:p>
        </p:txBody>
      </p:sp>
      <p:sp>
        <p:nvSpPr>
          <p:cNvPr id="13" name="Content Placeholder 12"/>
          <p:cNvSpPr>
            <a:spLocks noGrp="1"/>
          </p:cNvSpPr>
          <p:nvPr>
            <p:ph idx="1"/>
          </p:nvPr>
        </p:nvSpPr>
        <p:spPr>
          <a:xfrm>
            <a:off x="250825" y="4581128"/>
            <a:ext cx="8642349" cy="1799023"/>
          </a:xfrm>
        </p:spPr>
        <p:txBody>
          <a:bodyPr/>
          <a:lstStyle/>
          <a:p>
            <a:pPr marL="342900" indent="-342900">
              <a:buFont typeface="Arial"/>
              <a:buChar char="•"/>
            </a:pPr>
            <a:r>
              <a:rPr lang="en-US" dirty="0" smtClean="0"/>
              <a:t>Core project developers create, maintain, curate code base</a:t>
            </a:r>
          </a:p>
          <a:p>
            <a:pPr marL="342900" indent="-342900">
              <a:buFont typeface="Arial"/>
              <a:buChar char="•"/>
            </a:pPr>
            <a:r>
              <a:rPr lang="en-US" dirty="0" smtClean="0"/>
              <a:t>Vet contributions from larger communities</a:t>
            </a:r>
          </a:p>
          <a:p>
            <a:pPr marL="342900" indent="-342900">
              <a:buFont typeface="Arial"/>
              <a:buChar char="•"/>
            </a:pPr>
            <a:r>
              <a:rPr lang="en-US" dirty="0" smtClean="0"/>
              <a:t>Focus on project goals – features, performance, etc.</a:t>
            </a:r>
            <a:endParaRPr lang="en-US" dirty="0"/>
          </a:p>
        </p:txBody>
      </p:sp>
      <p:sp>
        <p:nvSpPr>
          <p:cNvPr id="3" name="Oval 2"/>
          <p:cNvSpPr/>
          <p:nvPr/>
        </p:nvSpPr>
        <p:spPr>
          <a:xfrm>
            <a:off x="3671900" y="3429000"/>
            <a:ext cx="1512168" cy="576064"/>
          </a:xfrm>
          <a:prstGeom prst="ellipse">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smtClean="0"/>
              <a:t>Code</a:t>
            </a:r>
            <a:endParaRPr lang="en-US" b="1" dirty="0"/>
          </a:p>
        </p:txBody>
      </p:sp>
    </p:spTree>
    <p:extLst>
      <p:ext uri="{BB962C8B-B14F-4D97-AF65-F5344CB8AC3E}">
        <p14:creationId xmlns:p14="http://schemas.microsoft.com/office/powerpoint/2010/main" val="190369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2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1500" fill="hold"/>
                                        <p:tgtEl>
                                          <p:spTgt spid="10"/>
                                        </p:tgtEl>
                                        <p:attrNameLst>
                                          <p:attrName>ppt_w</p:attrName>
                                        </p:attrNameLst>
                                      </p:cBhvr>
                                      <p:tavLst>
                                        <p:tav tm="0">
                                          <p:val>
                                            <p:fltVal val="0"/>
                                          </p:val>
                                        </p:tav>
                                        <p:tav tm="100000">
                                          <p:val>
                                            <p:strVal val="#ppt_w"/>
                                          </p:val>
                                        </p:tav>
                                      </p:tavLst>
                                    </p:anim>
                                    <p:anim calcmode="lin" valueType="num">
                                      <p:cBhvr>
                                        <p:cTn id="22" dur="1500" fill="hold"/>
                                        <p:tgtEl>
                                          <p:spTgt spid="10"/>
                                        </p:tgtEl>
                                        <p:attrNameLst>
                                          <p:attrName>ppt_h</p:attrName>
                                        </p:attrNameLst>
                                      </p:cBhvr>
                                      <p:tavLst>
                                        <p:tav tm="0">
                                          <p:val>
                                            <p:fltVal val="0"/>
                                          </p:val>
                                        </p:tav>
                                        <p:tav tm="100000">
                                          <p:val>
                                            <p:strVal val="#ppt_h"/>
                                          </p:val>
                                        </p:tav>
                                      </p:tavLst>
                                    </p:anim>
                                    <p:animEffect transition="in" filter="fade">
                                      <p:cBhvr>
                                        <p:cTn id="23" dur="1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Isosceles Triangle 37"/>
          <p:cNvSpPr/>
          <p:nvPr/>
        </p:nvSpPr>
        <p:spPr>
          <a:xfrm rot="18479967" flipH="1">
            <a:off x="5622305" y="3155029"/>
            <a:ext cx="707701" cy="2645353"/>
          </a:xfrm>
          <a:prstGeom prst="triangle">
            <a:avLst/>
          </a:prstGeom>
          <a:solidFill>
            <a:srgbClr val="C1E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Isosceles Triangle 36"/>
          <p:cNvSpPr/>
          <p:nvPr/>
        </p:nvSpPr>
        <p:spPr>
          <a:xfrm rot="3120033">
            <a:off x="2389853" y="3141967"/>
            <a:ext cx="742677" cy="2667219"/>
          </a:xfrm>
          <a:prstGeom prst="triangle">
            <a:avLst/>
          </a:prstGeom>
          <a:solidFill>
            <a:srgbClr val="C1E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Isosceles Triangle 35"/>
          <p:cNvSpPr/>
          <p:nvPr/>
        </p:nvSpPr>
        <p:spPr>
          <a:xfrm rot="878475">
            <a:off x="3082600" y="3696806"/>
            <a:ext cx="1307232" cy="1609335"/>
          </a:xfrm>
          <a:prstGeom prst="triangle">
            <a:avLst/>
          </a:prstGeom>
          <a:solidFill>
            <a:srgbClr val="C1E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0" name="Group 9"/>
          <p:cNvGrpSpPr/>
          <p:nvPr/>
        </p:nvGrpSpPr>
        <p:grpSpPr>
          <a:xfrm>
            <a:off x="1907704" y="1124744"/>
            <a:ext cx="5040560" cy="2808312"/>
            <a:chOff x="3203848" y="3356992"/>
            <a:chExt cx="2592288" cy="1152128"/>
          </a:xfrm>
        </p:grpSpPr>
        <p:sp>
          <p:nvSpPr>
            <p:cNvPr id="11" name="Oval 10"/>
            <p:cNvSpPr/>
            <p:nvPr/>
          </p:nvSpPr>
          <p:spPr>
            <a:xfrm>
              <a:off x="3203848" y="3356992"/>
              <a:ext cx="2592288" cy="1152128"/>
            </a:xfrm>
            <a:prstGeom prst="ellipse">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p>
          </p:txBody>
        </p:sp>
        <p:sp>
          <p:nvSpPr>
            <p:cNvPr id="12" name="Rectangle 11"/>
            <p:cNvSpPr/>
            <p:nvPr/>
          </p:nvSpPr>
          <p:spPr>
            <a:xfrm>
              <a:off x="3743882" y="3475159"/>
              <a:ext cx="1512233" cy="15152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a:spAutoFit/>
            </a:bodyPr>
            <a:lstStyle/>
            <a:p>
              <a:pPr algn="ctr"/>
              <a:r>
                <a:rPr lang="en-US" b="1" dirty="0" smtClean="0">
                  <a:solidFill>
                    <a:schemeClr val="bg1"/>
                  </a:solidFill>
                </a:rPr>
                <a:t>User Community &amp; Ecosystem</a:t>
              </a:r>
              <a:endParaRPr lang="en-US" b="1" dirty="0">
                <a:solidFill>
                  <a:schemeClr val="bg1"/>
                </a:solidFill>
              </a:endParaRPr>
            </a:p>
          </p:txBody>
        </p:sp>
      </p:grpSp>
      <p:grpSp>
        <p:nvGrpSpPr>
          <p:cNvPr id="7" name="Group 6"/>
          <p:cNvGrpSpPr/>
          <p:nvPr/>
        </p:nvGrpSpPr>
        <p:grpSpPr>
          <a:xfrm>
            <a:off x="2555776" y="1988840"/>
            <a:ext cx="3744416" cy="1944216"/>
            <a:chOff x="3203848" y="3356992"/>
            <a:chExt cx="2592288" cy="1152128"/>
          </a:xfrm>
        </p:grpSpPr>
        <p:sp>
          <p:nvSpPr>
            <p:cNvPr id="8" name="Oval 7"/>
            <p:cNvSpPr/>
            <p:nvPr/>
          </p:nvSpPr>
          <p:spPr>
            <a:xfrm>
              <a:off x="3203848" y="3356992"/>
              <a:ext cx="2592288" cy="1152128"/>
            </a:xfrm>
            <a:prstGeom prst="ellipse">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p:cNvSpPr/>
            <p:nvPr/>
          </p:nvSpPr>
          <p:spPr>
            <a:xfrm>
              <a:off x="3740699" y="3501008"/>
              <a:ext cx="1518589" cy="2188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a:spAutoFit/>
            </a:bodyPr>
            <a:lstStyle/>
            <a:p>
              <a:pPr algn="ctr"/>
              <a:r>
                <a:rPr lang="en-US" b="1" dirty="0" smtClean="0">
                  <a:solidFill>
                    <a:schemeClr val="bg1"/>
                  </a:solidFill>
                </a:rPr>
                <a:t>Developer Community</a:t>
              </a:r>
              <a:endParaRPr lang="en-US" b="1" dirty="0">
                <a:solidFill>
                  <a:schemeClr val="bg1"/>
                </a:solidFill>
              </a:endParaRPr>
            </a:p>
          </p:txBody>
        </p:sp>
      </p:grpSp>
      <p:grpSp>
        <p:nvGrpSpPr>
          <p:cNvPr id="6" name="Group 5"/>
          <p:cNvGrpSpPr/>
          <p:nvPr/>
        </p:nvGrpSpPr>
        <p:grpSpPr>
          <a:xfrm>
            <a:off x="3131840" y="2780928"/>
            <a:ext cx="2592288" cy="1152128"/>
            <a:chOff x="3203848" y="3356992"/>
            <a:chExt cx="2592288" cy="1152128"/>
          </a:xfrm>
        </p:grpSpPr>
        <p:sp>
          <p:nvSpPr>
            <p:cNvPr id="4" name="Oval 3"/>
            <p:cNvSpPr/>
            <p:nvPr/>
          </p:nvSpPr>
          <p:spPr>
            <a:xfrm>
              <a:off x="3203848" y="3356992"/>
              <a:ext cx="2592288" cy="1152128"/>
            </a:xfrm>
            <a:prstGeom prst="ellipse">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sp>
          <p:nvSpPr>
            <p:cNvPr id="5" name="Rectangle 4"/>
            <p:cNvSpPr/>
            <p:nvPr/>
          </p:nvSpPr>
          <p:spPr>
            <a:xfrm>
              <a:off x="3655538" y="3501008"/>
              <a:ext cx="1688909" cy="369332"/>
            </a:xfrm>
            <a:prstGeom prst="rect">
              <a:avLst/>
            </a:prstGeom>
          </p:spPr>
          <p:style>
            <a:lnRef idx="1">
              <a:schemeClr val="accent4"/>
            </a:lnRef>
            <a:fillRef idx="3">
              <a:schemeClr val="accent4"/>
            </a:fillRef>
            <a:effectRef idx="2">
              <a:schemeClr val="accent4"/>
            </a:effectRef>
            <a:fontRef idx="minor">
              <a:schemeClr val="lt1"/>
            </a:fontRef>
          </p:style>
          <p:txBody>
            <a:bodyPr wrap="none">
              <a:spAutoFit/>
            </a:bodyPr>
            <a:lstStyle/>
            <a:p>
              <a:pPr algn="ctr"/>
              <a:r>
                <a:rPr lang="en-US" b="1" dirty="0">
                  <a:solidFill>
                    <a:schemeClr val="bg1"/>
                  </a:solidFill>
                </a:rPr>
                <a:t>Core Developers</a:t>
              </a:r>
            </a:p>
          </p:txBody>
        </p:sp>
      </p:grpSp>
      <p:sp>
        <p:nvSpPr>
          <p:cNvPr id="2" name="Title 1"/>
          <p:cNvSpPr>
            <a:spLocks noGrp="1"/>
          </p:cNvSpPr>
          <p:nvPr>
            <p:ph type="title"/>
          </p:nvPr>
        </p:nvSpPr>
        <p:spPr/>
        <p:txBody>
          <a:bodyPr/>
          <a:lstStyle/>
          <a:p>
            <a:r>
              <a:rPr lang="en-US" dirty="0" smtClean="0"/>
              <a:t>Open Source code </a:t>
            </a:r>
            <a:r>
              <a:rPr lang="en-US" dirty="0" err="1" smtClean="0"/>
              <a:t>curation</a:t>
            </a:r>
            <a:r>
              <a:rPr lang="en-US" dirty="0" smtClean="0"/>
              <a:t> model</a:t>
            </a:r>
            <a:endParaRPr lang="en-US" dirty="0"/>
          </a:p>
        </p:txBody>
      </p:sp>
      <p:sp>
        <p:nvSpPr>
          <p:cNvPr id="3" name="Oval 2"/>
          <p:cNvSpPr/>
          <p:nvPr/>
        </p:nvSpPr>
        <p:spPr>
          <a:xfrm>
            <a:off x="899592" y="5013176"/>
            <a:ext cx="1512168" cy="576064"/>
          </a:xfrm>
          <a:prstGeom prst="ellipse">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smtClean="0"/>
              <a:t>Code v1</a:t>
            </a:r>
            <a:endParaRPr lang="en-US" b="1" dirty="0"/>
          </a:p>
        </p:txBody>
      </p:sp>
      <p:sp>
        <p:nvSpPr>
          <p:cNvPr id="13" name="Oval 12"/>
          <p:cNvSpPr/>
          <p:nvPr/>
        </p:nvSpPr>
        <p:spPr>
          <a:xfrm>
            <a:off x="2723795" y="5013176"/>
            <a:ext cx="1512168" cy="576064"/>
          </a:xfrm>
          <a:prstGeom prst="ellipse">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smtClean="0"/>
              <a:t>Code v2</a:t>
            </a:r>
            <a:endParaRPr lang="en-US" b="1" dirty="0"/>
          </a:p>
        </p:txBody>
      </p:sp>
      <p:sp>
        <p:nvSpPr>
          <p:cNvPr id="14" name="Oval 13"/>
          <p:cNvSpPr/>
          <p:nvPr/>
        </p:nvSpPr>
        <p:spPr>
          <a:xfrm>
            <a:off x="6300192" y="5013176"/>
            <a:ext cx="1512168" cy="576064"/>
          </a:xfrm>
          <a:prstGeom prst="ellipse">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smtClean="0"/>
              <a:t>Code </a:t>
            </a:r>
            <a:r>
              <a:rPr lang="en-US" b="1" dirty="0" err="1" smtClean="0"/>
              <a:t>vN</a:t>
            </a:r>
            <a:endParaRPr lang="en-US" b="1" dirty="0"/>
          </a:p>
        </p:txBody>
      </p:sp>
      <p:cxnSp>
        <p:nvCxnSpPr>
          <p:cNvPr id="16" name="Straight Connector 15"/>
          <p:cNvCxnSpPr/>
          <p:nvPr/>
        </p:nvCxnSpPr>
        <p:spPr>
          <a:xfrm>
            <a:off x="4547998" y="5301208"/>
            <a:ext cx="1440160" cy="0"/>
          </a:xfrm>
          <a:prstGeom prst="line">
            <a:avLst/>
          </a:prstGeom>
          <a:ln w="38100" cmpd="sng">
            <a:solidFill>
              <a:srgbClr val="F02F17"/>
            </a:solidFill>
            <a:prstDash val="sysDash"/>
          </a:ln>
          <a:effectLst/>
        </p:spPr>
        <p:style>
          <a:lnRef idx="2">
            <a:schemeClr val="accent1"/>
          </a:lnRef>
          <a:fillRef idx="0">
            <a:schemeClr val="accent1"/>
          </a:fillRef>
          <a:effectRef idx="1">
            <a:schemeClr val="accent1"/>
          </a:effectRef>
          <a:fontRef idx="minor">
            <a:schemeClr val="tx1"/>
          </a:fontRef>
        </p:style>
      </p:cxnSp>
      <p:pic>
        <p:nvPicPr>
          <p:cNvPr id="22" name="Picture 21" descr="eye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7904" y="3284984"/>
            <a:ext cx="1440160" cy="432048"/>
          </a:xfrm>
          <a:prstGeom prst="rect">
            <a:avLst/>
          </a:prstGeom>
        </p:spPr>
      </p:pic>
      <p:sp>
        <p:nvSpPr>
          <p:cNvPr id="31" name="Right Arrow 30"/>
          <p:cNvSpPr/>
          <p:nvPr/>
        </p:nvSpPr>
        <p:spPr>
          <a:xfrm rot="2102962">
            <a:off x="7202123" y="3827165"/>
            <a:ext cx="1371222" cy="792088"/>
          </a:xfrm>
          <a:prstGeom prst="rightArrow">
            <a:avLst>
              <a:gd name="adj1" fmla="val 64745"/>
              <a:gd name="adj2" fmla="val 51843"/>
            </a:avLst>
          </a:pr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r>
              <a:rPr lang="en-US" dirty="0" smtClean="0">
                <a:solidFill>
                  <a:srgbClr val="3F3F3F"/>
                </a:solidFill>
              </a:rPr>
              <a:t>New Features</a:t>
            </a:r>
            <a:endParaRPr lang="en-US" dirty="0">
              <a:solidFill>
                <a:srgbClr val="3F3F3F"/>
              </a:solidFill>
            </a:endParaRPr>
          </a:p>
        </p:txBody>
      </p:sp>
      <p:sp>
        <p:nvSpPr>
          <p:cNvPr id="32" name="Right Arrow 31"/>
          <p:cNvSpPr/>
          <p:nvPr/>
        </p:nvSpPr>
        <p:spPr>
          <a:xfrm rot="2102962">
            <a:off x="5323185" y="4115197"/>
            <a:ext cx="1371222" cy="792088"/>
          </a:xfrm>
          <a:prstGeom prst="rightArrow">
            <a:avLst>
              <a:gd name="adj1" fmla="val 64745"/>
              <a:gd name="adj2" fmla="val 51843"/>
            </a:avLst>
          </a:pr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dirty="0" smtClean="0">
                <a:solidFill>
                  <a:srgbClr val="3F3F3F"/>
                </a:solidFill>
              </a:rPr>
              <a:t>Bug Fixes</a:t>
            </a:r>
            <a:endParaRPr lang="en-US" dirty="0">
              <a:solidFill>
                <a:srgbClr val="3F3F3F"/>
              </a:solidFill>
            </a:endParaRPr>
          </a:p>
        </p:txBody>
      </p:sp>
      <p:sp>
        <p:nvSpPr>
          <p:cNvPr id="33" name="Right Arrow 32"/>
          <p:cNvSpPr/>
          <p:nvPr/>
        </p:nvSpPr>
        <p:spPr>
          <a:xfrm rot="19469254">
            <a:off x="2442275" y="4041621"/>
            <a:ext cx="1371222" cy="792088"/>
          </a:xfrm>
          <a:prstGeom prst="rightArrow">
            <a:avLst>
              <a:gd name="adj1" fmla="val 64745"/>
              <a:gd name="adj2" fmla="val 51843"/>
            </a:avLst>
          </a:pr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r>
              <a:rPr lang="en-US" dirty="0" smtClean="0">
                <a:solidFill>
                  <a:schemeClr val="tx1"/>
                </a:solidFill>
              </a:rPr>
              <a:t>Bug Reports</a:t>
            </a:r>
            <a:endParaRPr lang="en-US" dirty="0">
              <a:solidFill>
                <a:schemeClr val="tx1"/>
              </a:solidFill>
            </a:endParaRPr>
          </a:p>
        </p:txBody>
      </p:sp>
      <p:sp>
        <p:nvSpPr>
          <p:cNvPr id="34" name="Right Arrow 33"/>
          <p:cNvSpPr/>
          <p:nvPr/>
        </p:nvSpPr>
        <p:spPr>
          <a:xfrm rot="19469254">
            <a:off x="570068" y="3753589"/>
            <a:ext cx="1371222" cy="792088"/>
          </a:xfrm>
          <a:prstGeom prst="rightArrow">
            <a:avLst>
              <a:gd name="adj1" fmla="val 64745"/>
              <a:gd name="adj2" fmla="val 51843"/>
            </a:avLst>
          </a:pr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r>
              <a:rPr lang="en-US" dirty="0" smtClean="0">
                <a:solidFill>
                  <a:schemeClr val="tx1"/>
                </a:solidFill>
              </a:rPr>
              <a:t>Feature </a:t>
            </a:r>
            <a:r>
              <a:rPr lang="en-US" dirty="0" err="1" smtClean="0">
                <a:solidFill>
                  <a:schemeClr val="tx1"/>
                </a:solidFill>
              </a:rPr>
              <a:t>Reqs</a:t>
            </a:r>
            <a:endParaRPr lang="en-US" dirty="0">
              <a:solidFill>
                <a:schemeClr val="tx1"/>
              </a:solidFill>
            </a:endParaRPr>
          </a:p>
        </p:txBody>
      </p:sp>
      <p:sp>
        <p:nvSpPr>
          <p:cNvPr id="35" name="Chevron 34"/>
          <p:cNvSpPr/>
          <p:nvPr/>
        </p:nvSpPr>
        <p:spPr>
          <a:xfrm>
            <a:off x="899592" y="5805264"/>
            <a:ext cx="6912768" cy="432048"/>
          </a:xfrm>
          <a:prstGeom prst="chevron">
            <a:avLst/>
          </a:prstGeom>
          <a:solidFill>
            <a:srgbClr val="00A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bg1"/>
                </a:solidFill>
                <a:latin typeface="Arial"/>
                <a:cs typeface="Arial"/>
              </a:rPr>
              <a:t>CONTINUOUS INCREMENTAL IMPROVEMENT</a:t>
            </a:r>
            <a:endParaRPr lang="en-US" dirty="0">
              <a:solidFill>
                <a:schemeClr val="bg1"/>
              </a:solidFill>
              <a:latin typeface="Arial"/>
              <a:cs typeface="Arial"/>
            </a:endParaRPr>
          </a:p>
        </p:txBody>
      </p:sp>
      <p:sp>
        <p:nvSpPr>
          <p:cNvPr id="39" name="Right Arrow 38"/>
          <p:cNvSpPr/>
          <p:nvPr/>
        </p:nvSpPr>
        <p:spPr>
          <a:xfrm rot="19469254">
            <a:off x="1506170" y="3897604"/>
            <a:ext cx="1371222" cy="792088"/>
          </a:xfrm>
          <a:prstGeom prst="rightArrow">
            <a:avLst>
              <a:gd name="adj1" fmla="val 64745"/>
              <a:gd name="adj2" fmla="val 51843"/>
            </a:avLst>
          </a:pr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r>
              <a:rPr lang="en-US" dirty="0" smtClean="0">
                <a:solidFill>
                  <a:schemeClr val="tx1"/>
                </a:solidFill>
              </a:rPr>
              <a:t>Vulnerabilities</a:t>
            </a:r>
            <a:endParaRPr lang="en-US" dirty="0">
              <a:solidFill>
                <a:schemeClr val="tx1"/>
              </a:solidFill>
            </a:endParaRPr>
          </a:p>
        </p:txBody>
      </p:sp>
      <p:sp>
        <p:nvSpPr>
          <p:cNvPr id="40" name="Right Arrow 39"/>
          <p:cNvSpPr/>
          <p:nvPr/>
        </p:nvSpPr>
        <p:spPr>
          <a:xfrm rot="2102962">
            <a:off x="6259286" y="3971181"/>
            <a:ext cx="1371222" cy="792088"/>
          </a:xfrm>
          <a:prstGeom prst="rightArrow">
            <a:avLst>
              <a:gd name="adj1" fmla="val 64745"/>
              <a:gd name="adj2" fmla="val 51843"/>
            </a:avLst>
          </a:prstGeom>
          <a:solidFill>
            <a:schemeClr val="accent6">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dirty="0" smtClean="0">
                <a:solidFill>
                  <a:srgbClr val="3F3F3F"/>
                </a:solidFill>
              </a:rPr>
              <a:t>Patches</a:t>
            </a:r>
            <a:endParaRPr lang="en-US" dirty="0">
              <a:solidFill>
                <a:srgbClr val="3F3F3F"/>
              </a:solidFill>
            </a:endParaRPr>
          </a:p>
        </p:txBody>
      </p:sp>
    </p:spTree>
    <p:extLst>
      <p:ext uri="{BB962C8B-B14F-4D97-AF65-F5344CB8AC3E}">
        <p14:creationId xmlns:p14="http://schemas.microsoft.com/office/powerpoint/2010/main" val="2073865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source code quality assurance</a:t>
            </a:r>
            <a:endParaRPr lang="en-US" dirty="0"/>
          </a:p>
        </p:txBody>
      </p:sp>
      <p:grpSp>
        <p:nvGrpSpPr>
          <p:cNvPr id="47" name="Group 46"/>
          <p:cNvGrpSpPr/>
          <p:nvPr/>
        </p:nvGrpSpPr>
        <p:grpSpPr>
          <a:xfrm>
            <a:off x="107504" y="3212976"/>
            <a:ext cx="5040560" cy="3384376"/>
            <a:chOff x="107504" y="2996952"/>
            <a:chExt cx="5040560" cy="3384376"/>
          </a:xfrm>
        </p:grpSpPr>
        <p:sp>
          <p:nvSpPr>
            <p:cNvPr id="3" name="Oval 2"/>
            <p:cNvSpPr/>
            <p:nvPr/>
          </p:nvSpPr>
          <p:spPr>
            <a:xfrm>
              <a:off x="107504" y="2996952"/>
              <a:ext cx="5040560" cy="3384376"/>
            </a:xfrm>
            <a:prstGeom prst="ellipse">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8800" b="1" dirty="0" smtClean="0"/>
                <a:t>CODE</a:t>
              </a:r>
              <a:endParaRPr lang="en-US" sz="8800" b="1" dirty="0"/>
            </a:p>
          </p:txBody>
        </p:sp>
        <p:sp>
          <p:nvSpPr>
            <p:cNvPr id="18" name="TextBox 17"/>
            <p:cNvSpPr txBox="1"/>
            <p:nvPr/>
          </p:nvSpPr>
          <p:spPr>
            <a:xfrm>
              <a:off x="1704051" y="3068960"/>
              <a:ext cx="1787829"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u</a:t>
              </a:r>
              <a:r>
                <a:rPr lang="en-US" dirty="0" smtClean="0">
                  <a:solidFill>
                    <a:schemeClr val="tx1">
                      <a:lumMod val="20000"/>
                      <a:lumOff val="80000"/>
                    </a:schemeClr>
                  </a:solidFill>
                </a:rPr>
                <a:t>nterminated strings</a:t>
              </a:r>
            </a:p>
          </p:txBody>
        </p:sp>
        <p:sp>
          <p:nvSpPr>
            <p:cNvPr id="20" name="TextBox 19"/>
            <p:cNvSpPr txBox="1"/>
            <p:nvPr/>
          </p:nvSpPr>
          <p:spPr>
            <a:xfrm>
              <a:off x="1475656" y="5877272"/>
              <a:ext cx="2345861"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u</a:t>
              </a:r>
              <a:r>
                <a:rPr lang="en-US" dirty="0" smtClean="0">
                  <a:solidFill>
                    <a:schemeClr val="tx1">
                      <a:lumMod val="20000"/>
                      <a:lumOff val="80000"/>
                    </a:schemeClr>
                  </a:solidFill>
                </a:rPr>
                <a:t>nchecked function returns</a:t>
              </a:r>
            </a:p>
          </p:txBody>
        </p:sp>
        <p:grpSp>
          <p:nvGrpSpPr>
            <p:cNvPr id="40" name="Group 39"/>
            <p:cNvGrpSpPr/>
            <p:nvPr/>
          </p:nvGrpSpPr>
          <p:grpSpPr>
            <a:xfrm>
              <a:off x="827584" y="3470147"/>
              <a:ext cx="3483121" cy="349702"/>
              <a:chOff x="827584" y="3501008"/>
              <a:chExt cx="3483121" cy="349702"/>
            </a:xfrm>
          </p:grpSpPr>
          <p:sp>
            <p:nvSpPr>
              <p:cNvPr id="21" name="TextBox 20"/>
              <p:cNvSpPr txBox="1"/>
              <p:nvPr/>
            </p:nvSpPr>
            <p:spPr>
              <a:xfrm>
                <a:off x="827584" y="3501008"/>
                <a:ext cx="1872587"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Indices out of bounds</a:t>
                </a:r>
              </a:p>
            </p:txBody>
          </p:sp>
          <p:sp>
            <p:nvSpPr>
              <p:cNvPr id="23" name="TextBox 22"/>
              <p:cNvSpPr txBox="1"/>
              <p:nvPr/>
            </p:nvSpPr>
            <p:spPr>
              <a:xfrm>
                <a:off x="3059832" y="3501008"/>
                <a:ext cx="1250873"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memory leaks</a:t>
                </a:r>
              </a:p>
            </p:txBody>
          </p:sp>
        </p:grpSp>
        <p:grpSp>
          <p:nvGrpSpPr>
            <p:cNvPr id="44" name="Group 43"/>
            <p:cNvGrpSpPr/>
            <p:nvPr/>
          </p:nvGrpSpPr>
          <p:grpSpPr>
            <a:xfrm>
              <a:off x="395536" y="5074895"/>
              <a:ext cx="4608512" cy="349702"/>
              <a:chOff x="611560" y="5265204"/>
              <a:chExt cx="4253818" cy="349702"/>
            </a:xfrm>
          </p:grpSpPr>
          <p:sp>
            <p:nvSpPr>
              <p:cNvPr id="25" name="TextBox 24"/>
              <p:cNvSpPr txBox="1"/>
              <p:nvPr/>
            </p:nvSpPr>
            <p:spPr>
              <a:xfrm>
                <a:off x="611560" y="5265204"/>
                <a:ext cx="967179"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f</a:t>
                </a:r>
                <a:r>
                  <a:rPr lang="en-US" dirty="0" smtClean="0">
                    <a:solidFill>
                      <a:schemeClr val="tx1">
                        <a:lumMod val="20000"/>
                        <a:lumOff val="80000"/>
                      </a:schemeClr>
                    </a:solidFill>
                  </a:rPr>
                  <a:t>aulty logic</a:t>
                </a:r>
              </a:p>
            </p:txBody>
          </p:sp>
          <p:sp>
            <p:nvSpPr>
              <p:cNvPr id="26" name="TextBox 25"/>
              <p:cNvSpPr txBox="1"/>
              <p:nvPr/>
            </p:nvSpPr>
            <p:spPr>
              <a:xfrm>
                <a:off x="3414330" y="5265204"/>
                <a:ext cx="1451048"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misconfiguration</a:t>
                </a:r>
              </a:p>
            </p:txBody>
          </p:sp>
          <p:sp>
            <p:nvSpPr>
              <p:cNvPr id="29" name="TextBox 28"/>
              <p:cNvSpPr txBox="1"/>
              <p:nvPr/>
            </p:nvSpPr>
            <p:spPr>
              <a:xfrm>
                <a:off x="1953184" y="5265204"/>
                <a:ext cx="1051149"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regressions</a:t>
                </a:r>
              </a:p>
            </p:txBody>
          </p:sp>
        </p:grpSp>
        <p:grpSp>
          <p:nvGrpSpPr>
            <p:cNvPr id="41" name="Group 40"/>
            <p:cNvGrpSpPr/>
            <p:nvPr/>
          </p:nvGrpSpPr>
          <p:grpSpPr>
            <a:xfrm>
              <a:off x="395536" y="3871334"/>
              <a:ext cx="4464496" cy="349702"/>
              <a:chOff x="395536" y="3861048"/>
              <a:chExt cx="4464496" cy="349702"/>
            </a:xfrm>
          </p:grpSpPr>
          <p:sp>
            <p:nvSpPr>
              <p:cNvPr id="16" name="TextBox 15"/>
              <p:cNvSpPr txBox="1"/>
              <p:nvPr/>
            </p:nvSpPr>
            <p:spPr>
              <a:xfrm>
                <a:off x="1763688" y="3861048"/>
                <a:ext cx="1209057"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s</a:t>
                </a:r>
                <a:r>
                  <a:rPr lang="en-US" dirty="0" smtClean="0">
                    <a:solidFill>
                      <a:schemeClr val="tx1">
                        <a:lumMod val="20000"/>
                        <a:lumOff val="80000"/>
                      </a:schemeClr>
                    </a:solidFill>
                  </a:rPr>
                  <a:t>tray pointers</a:t>
                </a:r>
              </a:p>
            </p:txBody>
          </p:sp>
          <p:sp>
            <p:nvSpPr>
              <p:cNvPr id="27" name="TextBox 26"/>
              <p:cNvSpPr txBox="1"/>
              <p:nvPr/>
            </p:nvSpPr>
            <p:spPr>
              <a:xfrm>
                <a:off x="395536" y="3861048"/>
                <a:ext cx="998738"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back doors</a:t>
                </a:r>
              </a:p>
            </p:txBody>
          </p:sp>
          <p:sp>
            <p:nvSpPr>
              <p:cNvPr id="30" name="TextBox 29"/>
              <p:cNvSpPr txBox="1"/>
              <p:nvPr/>
            </p:nvSpPr>
            <p:spPr>
              <a:xfrm>
                <a:off x="3198778" y="3861048"/>
                <a:ext cx="1661254"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p</a:t>
                </a:r>
                <a:r>
                  <a:rPr lang="en-US" dirty="0" smtClean="0">
                    <a:solidFill>
                      <a:schemeClr val="tx1">
                        <a:lumMod val="20000"/>
                        <a:lumOff val="80000"/>
                      </a:schemeClr>
                    </a:solidFill>
                  </a:rPr>
                  <a:t>arameter reversal</a:t>
                </a:r>
              </a:p>
            </p:txBody>
          </p:sp>
        </p:grpSp>
        <p:grpSp>
          <p:nvGrpSpPr>
            <p:cNvPr id="45" name="Group 44"/>
            <p:cNvGrpSpPr/>
            <p:nvPr/>
          </p:nvGrpSpPr>
          <p:grpSpPr>
            <a:xfrm>
              <a:off x="755576" y="5476082"/>
              <a:ext cx="3740822" cy="349702"/>
              <a:chOff x="755576" y="5599578"/>
              <a:chExt cx="3740822" cy="349702"/>
            </a:xfrm>
          </p:grpSpPr>
          <p:sp>
            <p:nvSpPr>
              <p:cNvPr id="22" name="TextBox 21"/>
              <p:cNvSpPr txBox="1"/>
              <p:nvPr/>
            </p:nvSpPr>
            <p:spPr>
              <a:xfrm>
                <a:off x="2771800" y="5599578"/>
                <a:ext cx="1724598"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i</a:t>
                </a:r>
                <a:r>
                  <a:rPr lang="en-US" dirty="0" smtClean="0">
                    <a:solidFill>
                      <a:schemeClr val="tx1">
                        <a:lumMod val="20000"/>
                        <a:lumOff val="80000"/>
                      </a:schemeClr>
                    </a:solidFill>
                  </a:rPr>
                  <a:t>mproper type casts</a:t>
                </a:r>
              </a:p>
            </p:txBody>
          </p:sp>
          <p:sp>
            <p:nvSpPr>
              <p:cNvPr id="35" name="TextBox 34"/>
              <p:cNvSpPr txBox="1"/>
              <p:nvPr/>
            </p:nvSpPr>
            <p:spPr>
              <a:xfrm>
                <a:off x="755576" y="5599578"/>
                <a:ext cx="1871686"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i</a:t>
                </a:r>
                <a:r>
                  <a:rPr lang="en-US" dirty="0" smtClean="0">
                    <a:solidFill>
                      <a:schemeClr val="tx1">
                        <a:lumMod val="20000"/>
                        <a:lumOff val="80000"/>
                      </a:schemeClr>
                    </a:solidFill>
                  </a:rPr>
                  <a:t>ncorrect permissions</a:t>
                </a:r>
              </a:p>
            </p:txBody>
          </p:sp>
        </p:grpSp>
        <p:grpSp>
          <p:nvGrpSpPr>
            <p:cNvPr id="43" name="Group 42"/>
            <p:cNvGrpSpPr/>
            <p:nvPr/>
          </p:nvGrpSpPr>
          <p:grpSpPr>
            <a:xfrm>
              <a:off x="251520" y="4673708"/>
              <a:ext cx="4657779" cy="349702"/>
              <a:chOff x="251520" y="4977172"/>
              <a:chExt cx="4657779" cy="349702"/>
            </a:xfrm>
          </p:grpSpPr>
          <p:sp>
            <p:nvSpPr>
              <p:cNvPr id="28" name="TextBox 27"/>
              <p:cNvSpPr txBox="1"/>
              <p:nvPr/>
            </p:nvSpPr>
            <p:spPr>
              <a:xfrm>
                <a:off x="1835696" y="4977172"/>
                <a:ext cx="1062194"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debug code</a:t>
                </a:r>
              </a:p>
            </p:txBody>
          </p:sp>
          <p:sp>
            <p:nvSpPr>
              <p:cNvPr id="33" name="TextBox 32"/>
              <p:cNvSpPr txBox="1"/>
              <p:nvPr/>
            </p:nvSpPr>
            <p:spPr>
              <a:xfrm>
                <a:off x="251520" y="4977172"/>
                <a:ext cx="1346001"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r</a:t>
                </a:r>
                <a:r>
                  <a:rPr lang="en-US" dirty="0" smtClean="0">
                    <a:solidFill>
                      <a:schemeClr val="tx1">
                        <a:lumMod val="20000"/>
                        <a:lumOff val="80000"/>
                      </a:schemeClr>
                    </a:solidFill>
                  </a:rPr>
                  <a:t>ace conditions</a:t>
                </a:r>
              </a:p>
            </p:txBody>
          </p:sp>
          <p:sp>
            <p:nvSpPr>
              <p:cNvPr id="37" name="TextBox 36"/>
              <p:cNvSpPr txBox="1"/>
              <p:nvPr/>
            </p:nvSpPr>
            <p:spPr>
              <a:xfrm>
                <a:off x="3131840" y="4977172"/>
                <a:ext cx="1777459"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d</a:t>
                </a:r>
                <a:r>
                  <a:rPr lang="en-US" dirty="0" smtClean="0">
                    <a:solidFill>
                      <a:schemeClr val="tx1">
                        <a:lumMod val="20000"/>
                        <a:lumOff val="80000"/>
                      </a:schemeClr>
                    </a:solidFill>
                  </a:rPr>
                  <a:t>eprecated versions</a:t>
                </a:r>
              </a:p>
            </p:txBody>
          </p:sp>
        </p:grpSp>
        <p:grpSp>
          <p:nvGrpSpPr>
            <p:cNvPr id="42" name="Group 41"/>
            <p:cNvGrpSpPr/>
            <p:nvPr/>
          </p:nvGrpSpPr>
          <p:grpSpPr>
            <a:xfrm>
              <a:off x="179512" y="4272521"/>
              <a:ext cx="4893062" cy="349702"/>
              <a:chOff x="179512" y="4437112"/>
              <a:chExt cx="4893062" cy="349702"/>
            </a:xfrm>
          </p:grpSpPr>
          <p:sp>
            <p:nvSpPr>
              <p:cNvPr id="34" name="TextBox 33"/>
              <p:cNvSpPr txBox="1"/>
              <p:nvPr/>
            </p:nvSpPr>
            <p:spPr>
              <a:xfrm>
                <a:off x="1835696" y="4437112"/>
                <a:ext cx="1450822"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p</a:t>
                </a:r>
                <a:r>
                  <a:rPr lang="en-US" dirty="0" smtClean="0">
                    <a:solidFill>
                      <a:schemeClr val="tx1">
                        <a:lumMod val="20000"/>
                        <a:lumOff val="80000"/>
                      </a:schemeClr>
                    </a:solidFill>
                  </a:rPr>
                  <a:t>riority inversion</a:t>
                </a:r>
              </a:p>
            </p:txBody>
          </p:sp>
          <p:sp>
            <p:nvSpPr>
              <p:cNvPr id="38" name="TextBox 37"/>
              <p:cNvSpPr txBox="1"/>
              <p:nvPr/>
            </p:nvSpPr>
            <p:spPr>
              <a:xfrm>
                <a:off x="3347864" y="4437112"/>
                <a:ext cx="1724710"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u</a:t>
                </a:r>
                <a:r>
                  <a:rPr lang="en-US" dirty="0" smtClean="0">
                    <a:solidFill>
                      <a:schemeClr val="tx1">
                        <a:lumMod val="20000"/>
                        <a:lumOff val="80000"/>
                      </a:schemeClr>
                    </a:solidFill>
                  </a:rPr>
                  <a:t>nitialized variables</a:t>
                </a:r>
              </a:p>
            </p:txBody>
          </p:sp>
          <p:sp>
            <p:nvSpPr>
              <p:cNvPr id="39" name="TextBox 38"/>
              <p:cNvSpPr txBox="1"/>
              <p:nvPr/>
            </p:nvSpPr>
            <p:spPr>
              <a:xfrm>
                <a:off x="179512" y="4437112"/>
                <a:ext cx="1619438"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privilege violations</a:t>
                </a:r>
              </a:p>
            </p:txBody>
          </p:sp>
        </p:grpSp>
      </p:grpSp>
      <p:cxnSp>
        <p:nvCxnSpPr>
          <p:cNvPr id="49" name="Straight Arrow Connector 48"/>
          <p:cNvCxnSpPr/>
          <p:nvPr/>
        </p:nvCxnSpPr>
        <p:spPr>
          <a:xfrm flipH="1">
            <a:off x="2987824" y="1700808"/>
            <a:ext cx="2520280" cy="165618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endCxn id="21" idx="3"/>
          </p:cNvCxnSpPr>
          <p:nvPr/>
        </p:nvCxnSpPr>
        <p:spPr>
          <a:xfrm flipH="1">
            <a:off x="2700171" y="1853208"/>
            <a:ext cx="2960333" cy="200781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flipH="1">
            <a:off x="3140224" y="2492896"/>
            <a:ext cx="2520280" cy="165618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flipH="1">
            <a:off x="3419872" y="1988840"/>
            <a:ext cx="2520280" cy="165618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3131840" y="2852936"/>
            <a:ext cx="2520280" cy="165618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4211960" y="2852936"/>
            <a:ext cx="1944216" cy="129614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a:endCxn id="38" idx="0"/>
          </p:cNvCxnSpPr>
          <p:nvPr/>
        </p:nvCxnSpPr>
        <p:spPr>
          <a:xfrm flipH="1">
            <a:off x="4210219" y="3140968"/>
            <a:ext cx="2089973" cy="1347577"/>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H="1">
            <a:off x="4139952" y="3212976"/>
            <a:ext cx="2520280" cy="165618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3995936" y="3284984"/>
            <a:ext cx="3096344" cy="201622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flipH="1">
            <a:off x="3923928" y="3429000"/>
            <a:ext cx="3456384" cy="2232248"/>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flipH="1">
            <a:off x="4932040" y="3284984"/>
            <a:ext cx="3168352" cy="2088232"/>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15" name="Group 14"/>
          <p:cNvGrpSpPr/>
          <p:nvPr/>
        </p:nvGrpSpPr>
        <p:grpSpPr>
          <a:xfrm>
            <a:off x="5220072" y="1052736"/>
            <a:ext cx="3888432" cy="2376262"/>
            <a:chOff x="4067944" y="1052736"/>
            <a:chExt cx="5040560" cy="2808312"/>
          </a:xfrm>
        </p:grpSpPr>
        <p:sp>
          <p:nvSpPr>
            <p:cNvPr id="5" name="Oval 4"/>
            <p:cNvSpPr/>
            <p:nvPr/>
          </p:nvSpPr>
          <p:spPr>
            <a:xfrm>
              <a:off x="4067944" y="1052736"/>
              <a:ext cx="5040560" cy="2808312"/>
            </a:xfrm>
            <a:prstGeom prst="ellipse">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p>
          </p:txBody>
        </p:sp>
        <p:sp>
          <p:nvSpPr>
            <p:cNvPr id="8" name="Oval 7"/>
            <p:cNvSpPr/>
            <p:nvPr/>
          </p:nvSpPr>
          <p:spPr>
            <a:xfrm>
              <a:off x="5281412" y="1393138"/>
              <a:ext cx="2659554" cy="2426038"/>
            </a:xfrm>
            <a:prstGeom prst="ellipse">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Oval 10"/>
            <p:cNvSpPr/>
            <p:nvPr/>
          </p:nvSpPr>
          <p:spPr>
            <a:xfrm>
              <a:off x="6028162" y="2073941"/>
              <a:ext cx="1179094" cy="1075237"/>
            </a:xfrm>
            <a:prstGeom prst="ellipse">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grpSp>
      <p:sp>
        <p:nvSpPr>
          <p:cNvPr id="46" name="TextBox 45"/>
          <p:cNvSpPr txBox="1"/>
          <p:nvPr/>
        </p:nvSpPr>
        <p:spPr>
          <a:xfrm>
            <a:off x="5436096" y="1844824"/>
            <a:ext cx="3563931" cy="903700"/>
          </a:xfrm>
          <a:prstGeom prst="rect">
            <a:avLst/>
          </a:prstGeom>
          <a:noFill/>
        </p:spPr>
        <p:txBody>
          <a:bodyPr wrap="none" lIns="36000" tIns="36000" rIns="36000" bIns="36000" rtlCol="0" anchor="t" anchorCtr="0">
            <a:spAutoFit/>
          </a:bodyPr>
          <a:lstStyle/>
          <a:p>
            <a:r>
              <a:rPr lang="en-US" sz="5400" b="1" dirty="0" smtClean="0">
                <a:solidFill>
                  <a:schemeClr val="bg1"/>
                </a:solidFill>
              </a:rPr>
              <a:t>COMMUNITY</a:t>
            </a:r>
          </a:p>
        </p:txBody>
      </p:sp>
      <p:sp>
        <p:nvSpPr>
          <p:cNvPr id="4" name="TextBox 3"/>
          <p:cNvSpPr txBox="1"/>
          <p:nvPr/>
        </p:nvSpPr>
        <p:spPr>
          <a:xfrm>
            <a:off x="841187" y="5085184"/>
            <a:ext cx="8039027" cy="1180699"/>
          </a:xfrm>
          <a:prstGeom prst="rect">
            <a:avLst/>
          </a:prstGeom>
          <a:noFill/>
        </p:spPr>
        <p:txBody>
          <a:bodyPr wrap="none" lIns="36000" tIns="36000" rIns="36000" bIns="36000" rtlCol="0" anchor="t" anchorCtr="0">
            <a:spAutoFit/>
          </a:bodyPr>
          <a:lstStyle/>
          <a:p>
            <a:pPr algn="r"/>
            <a:r>
              <a:rPr lang="en-US" sz="2400" dirty="0" smtClean="0"/>
              <a:t>Maintainers,</a:t>
            </a:r>
            <a:br>
              <a:rPr lang="en-US" sz="2400" dirty="0" smtClean="0"/>
            </a:br>
            <a:r>
              <a:rPr lang="en-US" sz="2400" dirty="0" smtClean="0"/>
              <a:t>developers, users</a:t>
            </a:r>
            <a:br>
              <a:rPr lang="en-US" sz="2400" dirty="0" smtClean="0"/>
            </a:br>
            <a:r>
              <a:rPr lang="en-US" sz="2400" dirty="0" smtClean="0"/>
              <a:t> exercise, debug &amp; improve code </a:t>
            </a:r>
          </a:p>
        </p:txBody>
      </p:sp>
      <p:sp>
        <p:nvSpPr>
          <p:cNvPr id="24" name="TextBox 23"/>
          <p:cNvSpPr txBox="1"/>
          <p:nvPr/>
        </p:nvSpPr>
        <p:spPr>
          <a:xfrm rot="3521709">
            <a:off x="4309748" y="3266995"/>
            <a:ext cx="1847678" cy="626701"/>
          </a:xfrm>
          <a:prstGeom prst="rect">
            <a:avLst/>
          </a:prstGeom>
          <a:solidFill>
            <a:schemeClr val="bg1">
              <a:alpha val="50000"/>
            </a:schemeClr>
          </a:solidFill>
        </p:spPr>
        <p:txBody>
          <a:bodyPr wrap="none" lIns="36000" tIns="36000" rIns="36000" bIns="36000" rtlCol="0" anchor="t" anchorCtr="0">
            <a:spAutoFit/>
          </a:bodyPr>
          <a:lstStyle/>
          <a:p>
            <a:r>
              <a:rPr lang="en-US" sz="3600" dirty="0" smtClean="0"/>
              <a:t>Linus’ Law</a:t>
            </a:r>
          </a:p>
        </p:txBody>
      </p:sp>
    </p:spTree>
    <p:extLst>
      <p:ext uri="{BB962C8B-B14F-4D97-AF65-F5344CB8AC3E}">
        <p14:creationId xmlns:p14="http://schemas.microsoft.com/office/powerpoint/2010/main" val="2820824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2411760" y="1772818"/>
            <a:ext cx="4248472" cy="477871"/>
          </a:xfrm>
          <a:prstGeom prst="rect">
            <a:avLst/>
          </a:prstGeom>
          <a:blipFill rotWithShape="1">
            <a:blip r:embed="rId2"/>
            <a:tile tx="0" ty="0" sx="100000" sy="100000" flip="none" algn="tl"/>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2699792" y="1988840"/>
            <a:ext cx="3672407" cy="477871"/>
          </a:xfrm>
          <a:prstGeom prst="rect">
            <a:avLst/>
          </a:prstGeom>
          <a:blipFill rotWithShape="1">
            <a:blip r:embed="rId2"/>
            <a:tile tx="0" ty="0" sx="100000" sy="100000" flip="none" algn="tl"/>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Parallelogram 9"/>
          <p:cNvSpPr/>
          <p:nvPr/>
        </p:nvSpPr>
        <p:spPr>
          <a:xfrm rot="5400000">
            <a:off x="5595387" y="2796204"/>
            <a:ext cx="2777761" cy="1224136"/>
          </a:xfrm>
          <a:prstGeom prst="parallelogram">
            <a:avLst>
              <a:gd name="adj" fmla="val 190951"/>
            </a:avLst>
          </a:prstGeom>
          <a:blipFill rotWithShape="1">
            <a:blip r:embed="rId3"/>
            <a:stretch>
              <a:fillRect/>
            </a:stretch>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51520" y="192024"/>
            <a:ext cx="7848872" cy="576362"/>
          </a:xfrm>
        </p:spPr>
        <p:txBody>
          <a:bodyPr>
            <a:normAutofit/>
          </a:bodyPr>
          <a:lstStyle/>
          <a:p>
            <a:r>
              <a:rPr lang="en-US" dirty="0" smtClean="0"/>
              <a:t>Theoretical “Triple fence” of </a:t>
            </a:r>
            <a:r>
              <a:rPr lang="en-US" dirty="0" err="1" smtClean="0"/>
              <a:t>oss</a:t>
            </a:r>
            <a:r>
              <a:rPr lang="en-US" dirty="0" smtClean="0"/>
              <a:t> security</a:t>
            </a:r>
            <a:endParaRPr lang="en-US" dirty="0"/>
          </a:p>
        </p:txBody>
      </p:sp>
      <p:grpSp>
        <p:nvGrpSpPr>
          <p:cNvPr id="7" name="Group 6"/>
          <p:cNvGrpSpPr/>
          <p:nvPr/>
        </p:nvGrpSpPr>
        <p:grpSpPr>
          <a:xfrm>
            <a:off x="2411759" y="2204864"/>
            <a:ext cx="4320481" cy="2376264"/>
            <a:chOff x="2483767" y="2996952"/>
            <a:chExt cx="4320481" cy="2376264"/>
          </a:xfrm>
        </p:grpSpPr>
        <p:sp>
          <p:nvSpPr>
            <p:cNvPr id="4" name="Rectangle 3"/>
            <p:cNvSpPr/>
            <p:nvPr/>
          </p:nvSpPr>
          <p:spPr>
            <a:xfrm>
              <a:off x="3347864" y="2996952"/>
              <a:ext cx="2592288" cy="432048"/>
            </a:xfrm>
            <a:prstGeom prst="rect">
              <a:avLst/>
            </a:prstGeom>
            <a:blipFill rotWithShape="1">
              <a:blip r:embed="rId2"/>
              <a:tile tx="0" ty="0" sx="100000" sy="100000" flip="none" algn="tl"/>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Parallelogram 4"/>
            <p:cNvSpPr/>
            <p:nvPr/>
          </p:nvSpPr>
          <p:spPr>
            <a:xfrm rot="5400000">
              <a:off x="5328084" y="3609020"/>
              <a:ext cx="2088232" cy="864096"/>
            </a:xfrm>
            <a:prstGeom prst="parallelogram">
              <a:avLst>
                <a:gd name="adj" fmla="val 188315"/>
              </a:avLst>
            </a:prstGeom>
            <a:blipFill rotWithShape="1">
              <a:blip r:embed="rId3"/>
              <a:stretch>
                <a:fillRect/>
              </a:stretch>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Parallelogram 5"/>
            <p:cNvSpPr/>
            <p:nvPr/>
          </p:nvSpPr>
          <p:spPr>
            <a:xfrm rot="16200000" flipH="1">
              <a:off x="1871699" y="3609021"/>
              <a:ext cx="2088232" cy="864096"/>
            </a:xfrm>
            <a:prstGeom prst="parallelogram">
              <a:avLst>
                <a:gd name="adj" fmla="val 188315"/>
              </a:avLst>
            </a:prstGeom>
            <a:blipFill rotWithShape="1">
              <a:blip r:embed="rId3"/>
              <a:stretch>
                <a:fillRect/>
              </a:stretch>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2483768" y="4581128"/>
              <a:ext cx="4320480" cy="792088"/>
            </a:xfrm>
            <a:prstGeom prst="rect">
              <a:avLst/>
            </a:prstGeom>
            <a:blipFill rotWithShape="1">
              <a:blip r:embed="rId2"/>
              <a:tile tx="0" ty="0" sx="100000" sy="100000" flip="none" algn="tl"/>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smtClean="0">
                  <a:solidFill>
                    <a:srgbClr val="3F3F3F"/>
                  </a:solidFill>
                  <a:effectLst>
                    <a:glow rad="101600">
                      <a:schemeClr val="bg1">
                        <a:alpha val="75000"/>
                      </a:schemeClr>
                    </a:glow>
                  </a:effectLst>
                  <a:latin typeface="Franklin Gothic Medium"/>
                  <a:cs typeface="Franklin Gothic Medium"/>
                </a:rPr>
                <a:t>Enterprise / OEM Integration</a:t>
              </a:r>
              <a:endParaRPr lang="en-US" sz="2400" b="1" dirty="0">
                <a:solidFill>
                  <a:srgbClr val="3F3F3F"/>
                </a:solidFill>
                <a:effectLst>
                  <a:glow rad="101600">
                    <a:schemeClr val="bg1">
                      <a:alpha val="75000"/>
                    </a:schemeClr>
                  </a:glow>
                </a:effectLst>
                <a:latin typeface="Franklin Gothic Medium"/>
                <a:cs typeface="Franklin Gothic Medium"/>
              </a:endParaRPr>
            </a:p>
          </p:txBody>
        </p:sp>
      </p:grpSp>
      <p:sp>
        <p:nvSpPr>
          <p:cNvPr id="13" name="Parallelogram 12"/>
          <p:cNvSpPr/>
          <p:nvPr/>
        </p:nvSpPr>
        <p:spPr>
          <a:xfrm rot="16200000" flipH="1">
            <a:off x="698842" y="2765653"/>
            <a:ext cx="2777761" cy="1224136"/>
          </a:xfrm>
          <a:prstGeom prst="parallelogram">
            <a:avLst>
              <a:gd name="adj" fmla="val 190951"/>
            </a:avLst>
          </a:prstGeom>
          <a:blipFill rotWithShape="1">
            <a:blip r:embed="rId3"/>
            <a:stretch>
              <a:fillRect/>
            </a:stretch>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1475656" y="4389107"/>
            <a:ext cx="6120679" cy="840093"/>
          </a:xfrm>
          <a:prstGeom prst="rect">
            <a:avLst/>
          </a:prstGeom>
          <a:blipFill rotWithShape="1">
            <a:blip r:embed="rId2"/>
            <a:tile tx="0" ty="0" sx="100000" sy="100000" flip="none" algn="tl"/>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smtClean="0">
                <a:solidFill>
                  <a:srgbClr val="3F3F3F"/>
                </a:solidFill>
                <a:effectLst>
                  <a:glow rad="88900">
                    <a:schemeClr val="bg1">
                      <a:alpha val="75000"/>
                    </a:schemeClr>
                  </a:glow>
                </a:effectLst>
                <a:latin typeface="Franklin Gothic Medium"/>
                <a:cs typeface="Franklin Gothic Medium"/>
              </a:rPr>
              <a:t>Distribution / Platform Creation</a:t>
            </a:r>
            <a:endParaRPr lang="en-US" sz="2800" b="1" dirty="0">
              <a:solidFill>
                <a:srgbClr val="3F3F3F"/>
              </a:solidFill>
              <a:effectLst>
                <a:glow rad="88900">
                  <a:schemeClr val="bg1">
                    <a:alpha val="75000"/>
                  </a:schemeClr>
                </a:glow>
              </a:effectLst>
              <a:latin typeface="Franklin Gothic Medium"/>
              <a:cs typeface="Franklin Gothic Medium"/>
            </a:endParaRPr>
          </a:p>
        </p:txBody>
      </p:sp>
      <p:sp>
        <p:nvSpPr>
          <p:cNvPr id="17" name="Parallelogram 16"/>
          <p:cNvSpPr/>
          <p:nvPr/>
        </p:nvSpPr>
        <p:spPr>
          <a:xfrm rot="5400000">
            <a:off x="5688125" y="2744925"/>
            <a:ext cx="3816422" cy="1872208"/>
          </a:xfrm>
          <a:prstGeom prst="parallelogram">
            <a:avLst>
              <a:gd name="adj" fmla="val 181374"/>
            </a:avLst>
          </a:prstGeom>
          <a:blipFill rotWithShape="1">
            <a:blip r:embed="rId3"/>
            <a:stretch>
              <a:fillRect/>
            </a:stretch>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Parallelogram 17"/>
          <p:cNvSpPr/>
          <p:nvPr/>
        </p:nvSpPr>
        <p:spPr>
          <a:xfrm rot="16200000" flipH="1">
            <a:off x="-432555" y="2744923"/>
            <a:ext cx="3816422" cy="1872208"/>
          </a:xfrm>
          <a:prstGeom prst="parallelogram">
            <a:avLst>
              <a:gd name="adj" fmla="val 181374"/>
            </a:avLst>
          </a:prstGeom>
          <a:blipFill rotWithShape="1">
            <a:blip r:embed="rId3"/>
            <a:stretch>
              <a:fillRect/>
            </a:stretch>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539552" y="5109187"/>
            <a:ext cx="7992888" cy="840093"/>
          </a:xfrm>
          <a:prstGeom prst="rect">
            <a:avLst/>
          </a:prstGeom>
          <a:blipFill rotWithShape="1">
            <a:blip r:embed="rId2"/>
            <a:tile tx="0" ty="0" sx="100000" sy="100000" flip="none" algn="tl"/>
          </a:blipFill>
          <a:ln w="19050" cmpd="sng">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smtClean="0">
                <a:solidFill>
                  <a:schemeClr val="tx1"/>
                </a:solidFill>
                <a:effectLst>
                  <a:glow rad="101600">
                    <a:schemeClr val="bg1">
                      <a:alpha val="50000"/>
                    </a:schemeClr>
                  </a:glow>
                </a:effectLst>
                <a:latin typeface="Franklin Gothic Medium"/>
                <a:cs typeface="Franklin Gothic Medium"/>
              </a:rPr>
              <a:t>OSS Project Purview</a:t>
            </a:r>
            <a:endParaRPr lang="en-US" sz="2800" b="1" dirty="0">
              <a:solidFill>
                <a:schemeClr val="tx1"/>
              </a:solidFill>
              <a:effectLst>
                <a:glow rad="101600">
                  <a:schemeClr val="bg1">
                    <a:alpha val="50000"/>
                  </a:schemeClr>
                </a:glow>
              </a:effectLst>
              <a:latin typeface="Franklin Gothic Medium"/>
              <a:cs typeface="Franklin Gothic Medium"/>
            </a:endParaRPr>
          </a:p>
        </p:txBody>
      </p:sp>
      <p:sp>
        <p:nvSpPr>
          <p:cNvPr id="21" name="Cube 20"/>
          <p:cNvSpPr/>
          <p:nvPr/>
        </p:nvSpPr>
        <p:spPr>
          <a:xfrm>
            <a:off x="3779912" y="1988840"/>
            <a:ext cx="1656184" cy="1656184"/>
          </a:xfrm>
          <a:prstGeom prst="cube">
            <a:avLst>
              <a:gd name="adj" fmla="val 7756"/>
            </a:avLst>
          </a:prstGeom>
          <a:solidFill>
            <a:srgbClr val="00A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smtClean="0"/>
              <a:t>Production</a:t>
            </a:r>
          </a:p>
          <a:p>
            <a:pPr algn="ctr"/>
            <a:r>
              <a:rPr lang="en-US" sz="2400" dirty="0" smtClean="0"/>
              <a:t>Code</a:t>
            </a:r>
            <a:endParaRPr lang="en-US" sz="2400" dirty="0"/>
          </a:p>
        </p:txBody>
      </p:sp>
      <p:sp>
        <p:nvSpPr>
          <p:cNvPr id="22" name="Circular Arrow 21"/>
          <p:cNvSpPr/>
          <p:nvPr/>
        </p:nvSpPr>
        <p:spPr>
          <a:xfrm rot="8197806" flipH="1" flipV="1">
            <a:off x="-343082" y="1414711"/>
            <a:ext cx="3083838" cy="2994444"/>
          </a:xfrm>
          <a:prstGeom prst="circularArrow">
            <a:avLst>
              <a:gd name="adj1" fmla="val 12500"/>
              <a:gd name="adj2" fmla="val 1142319"/>
              <a:gd name="adj3" fmla="val 20457681"/>
              <a:gd name="adj4" fmla="val 16268010"/>
              <a:gd name="adj5" fmla="val 12500"/>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3" name="Circular Arrow 22"/>
          <p:cNvSpPr/>
          <p:nvPr/>
        </p:nvSpPr>
        <p:spPr>
          <a:xfrm rot="8197806" flipH="1" flipV="1">
            <a:off x="-725548" y="2206797"/>
            <a:ext cx="3083838" cy="2994444"/>
          </a:xfrm>
          <a:prstGeom prst="circularArrow">
            <a:avLst>
              <a:gd name="adj1" fmla="val 12500"/>
              <a:gd name="adj2" fmla="val 1142319"/>
              <a:gd name="adj3" fmla="val 20457681"/>
              <a:gd name="adj4" fmla="val 16268010"/>
              <a:gd name="adj5" fmla="val 12500"/>
            </a:avLst>
          </a:prstGeom>
          <a:solidFill>
            <a:srgbClr val="008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4" name="Circular Arrow 23"/>
          <p:cNvSpPr/>
          <p:nvPr/>
        </p:nvSpPr>
        <p:spPr>
          <a:xfrm rot="13402194" flipV="1">
            <a:off x="6403244" y="1414711"/>
            <a:ext cx="3083838" cy="2994444"/>
          </a:xfrm>
          <a:prstGeom prst="circularArrow">
            <a:avLst>
              <a:gd name="adj1" fmla="val 12500"/>
              <a:gd name="adj2" fmla="val 1142319"/>
              <a:gd name="adj3" fmla="val 20457681"/>
              <a:gd name="adj4" fmla="val 16268010"/>
              <a:gd name="adj5" fmla="val 125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5" name="Circular Arrow 24"/>
          <p:cNvSpPr/>
          <p:nvPr/>
        </p:nvSpPr>
        <p:spPr>
          <a:xfrm rot="13402194" flipV="1">
            <a:off x="6763284" y="2206797"/>
            <a:ext cx="3083838" cy="2994444"/>
          </a:xfrm>
          <a:prstGeom prst="circularArrow">
            <a:avLst>
              <a:gd name="adj1" fmla="val 12500"/>
              <a:gd name="adj2" fmla="val 1142319"/>
              <a:gd name="adj3" fmla="val 20457681"/>
              <a:gd name="adj4" fmla="val 16268010"/>
              <a:gd name="adj5" fmla="val 125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6" name="Rectangle 25"/>
          <p:cNvSpPr/>
          <p:nvPr/>
        </p:nvSpPr>
        <p:spPr>
          <a:xfrm>
            <a:off x="539552" y="1772816"/>
            <a:ext cx="1440160" cy="1080120"/>
          </a:xfrm>
          <a:prstGeom prst="rect">
            <a:avLst/>
          </a:prstGeom>
          <a:noFill/>
        </p:spPr>
        <p:txBody>
          <a:bodyPr wrap="none" lIns="91440" tIns="45720" rIns="91440" bIns="45720">
            <a:prstTxWarp prst="textArchUp">
              <a:avLst>
                <a:gd name="adj" fmla="val 10916669"/>
              </a:avLst>
            </a:prstTxWarp>
            <a:spAutoFit/>
          </a:bodyPr>
          <a:lstStyle/>
          <a:p>
            <a:pPr algn="ctr"/>
            <a:r>
              <a:rPr lang="en-US" sz="2000" cap="none" spc="0" dirty="0" smtClean="0">
                <a:ln w="12700">
                  <a:solidFill>
                    <a:schemeClr val="bg1"/>
                  </a:solidFill>
                  <a:prstDash val="solid"/>
                </a:ln>
                <a:solidFill>
                  <a:schemeClr val="bg2">
                    <a:tint val="85000"/>
                    <a:satMod val="155000"/>
                  </a:schemeClr>
                </a:solidFill>
                <a:effectLst>
                  <a:outerShdw blurRad="41275" dist="20320" dir="1800000" algn="tl" rotWithShape="0">
                    <a:srgbClr val="000000">
                      <a:alpha val="40000"/>
                    </a:srgbClr>
                  </a:outerShdw>
                </a:effectLst>
              </a:rPr>
              <a:t>Contributions</a:t>
            </a:r>
            <a:endParaRPr lang="en-US" sz="2000" cap="none" spc="0" dirty="0">
              <a:ln w="12700">
                <a:solidFill>
                  <a:schemeClr val="bg1"/>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8" name="Rectangle 27"/>
          <p:cNvSpPr/>
          <p:nvPr/>
        </p:nvSpPr>
        <p:spPr>
          <a:xfrm>
            <a:off x="-166244" y="2597190"/>
            <a:ext cx="1980220" cy="1296144"/>
          </a:xfrm>
          <a:prstGeom prst="rect">
            <a:avLst/>
          </a:prstGeom>
          <a:noFill/>
        </p:spPr>
        <p:txBody>
          <a:bodyPr wrap="none" lIns="91440" tIns="45720" rIns="91440" bIns="45720">
            <a:prstTxWarp prst="textArchUp">
              <a:avLst>
                <a:gd name="adj" fmla="val 10916669"/>
              </a:avLst>
            </a:prstTxWarp>
            <a:spAutoFit/>
          </a:bodyPr>
          <a:lstStyle/>
          <a:p>
            <a:pPr algn="ctr"/>
            <a:r>
              <a:rPr lang="en-US" sz="2000" cap="none" spc="0" dirty="0" smtClean="0">
                <a:ln w="12700">
                  <a:solidFill>
                    <a:schemeClr val="bg1"/>
                  </a:solidFill>
                  <a:prstDash val="solid"/>
                </a:ln>
                <a:solidFill>
                  <a:schemeClr val="bg2">
                    <a:tint val="85000"/>
                    <a:satMod val="155000"/>
                  </a:schemeClr>
                </a:solidFill>
                <a:effectLst>
                  <a:outerShdw blurRad="41275" dist="20320" dir="1800000" algn="tl" rotWithShape="0">
                    <a:srgbClr val="000000">
                      <a:alpha val="40000"/>
                    </a:srgbClr>
                  </a:outerShdw>
                </a:effectLst>
              </a:rPr>
              <a:t>Bug Fixes</a:t>
            </a:r>
            <a:endParaRPr lang="en-US" sz="2000" cap="none" spc="0" dirty="0">
              <a:ln w="12700">
                <a:solidFill>
                  <a:schemeClr val="bg1"/>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30" name="Rectangle 29"/>
          <p:cNvSpPr/>
          <p:nvPr/>
        </p:nvSpPr>
        <p:spPr>
          <a:xfrm>
            <a:off x="7164288" y="1772816"/>
            <a:ext cx="1440160" cy="1080120"/>
          </a:xfrm>
          <a:prstGeom prst="rect">
            <a:avLst/>
          </a:prstGeom>
          <a:noFill/>
        </p:spPr>
        <p:txBody>
          <a:bodyPr wrap="none" lIns="91440" tIns="45720" rIns="91440" bIns="45720">
            <a:prstTxWarp prst="textArchUp">
              <a:avLst>
                <a:gd name="adj" fmla="val 10916669"/>
              </a:avLst>
            </a:prstTxWarp>
            <a:spAutoFit/>
          </a:bodyPr>
          <a:lstStyle/>
          <a:p>
            <a:pPr algn="ctr"/>
            <a:r>
              <a:rPr lang="en-US" sz="2000" cap="none" spc="0" dirty="0" smtClean="0">
                <a:ln w="12700">
                  <a:solidFill>
                    <a:schemeClr val="bg1"/>
                  </a:solidFill>
                  <a:prstDash val="solid"/>
                </a:ln>
                <a:solidFill>
                  <a:schemeClr val="bg2">
                    <a:tint val="85000"/>
                    <a:satMod val="155000"/>
                  </a:schemeClr>
                </a:solidFill>
                <a:effectLst>
                  <a:outerShdw blurRad="41275" dist="20320" dir="1800000" algn="tl" rotWithShape="0">
                    <a:srgbClr val="000000">
                      <a:alpha val="40000"/>
                    </a:srgbClr>
                  </a:outerShdw>
                </a:effectLst>
              </a:rPr>
              <a:t>Faulty Code</a:t>
            </a:r>
            <a:endParaRPr lang="en-US" sz="2000" cap="none" spc="0" dirty="0">
              <a:ln w="12700">
                <a:solidFill>
                  <a:schemeClr val="bg1"/>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31" name="Rectangle 30"/>
          <p:cNvSpPr/>
          <p:nvPr/>
        </p:nvSpPr>
        <p:spPr>
          <a:xfrm>
            <a:off x="7596336" y="2564904"/>
            <a:ext cx="1440160" cy="792088"/>
          </a:xfrm>
          <a:prstGeom prst="rect">
            <a:avLst/>
          </a:prstGeom>
          <a:noFill/>
        </p:spPr>
        <p:txBody>
          <a:bodyPr wrap="none" lIns="91440" tIns="45720" rIns="91440" bIns="45720">
            <a:prstTxWarp prst="textArchUp">
              <a:avLst>
                <a:gd name="adj" fmla="val 10916669"/>
              </a:avLst>
            </a:prstTxWarp>
            <a:spAutoFit/>
          </a:bodyPr>
          <a:lstStyle/>
          <a:p>
            <a:pPr algn="ctr"/>
            <a:r>
              <a:rPr lang="en-US" sz="2000" cap="none" spc="0" dirty="0" smtClean="0">
                <a:ln w="12700">
                  <a:solidFill>
                    <a:schemeClr val="bg1"/>
                  </a:solidFill>
                  <a:prstDash val="solid"/>
                </a:ln>
                <a:solidFill>
                  <a:schemeClr val="bg2">
                    <a:tint val="85000"/>
                    <a:satMod val="155000"/>
                  </a:schemeClr>
                </a:solidFill>
                <a:effectLst>
                  <a:outerShdw blurRad="41275" dist="20320" dir="1800000" algn="tl" rotWithShape="0">
                    <a:srgbClr val="000000">
                      <a:alpha val="40000"/>
                    </a:srgbClr>
                  </a:outerShdw>
                </a:effectLst>
              </a:rPr>
              <a:t>Malicious Code</a:t>
            </a:r>
            <a:endParaRPr lang="en-US" sz="2000" cap="none" spc="0" dirty="0">
              <a:ln w="12700">
                <a:solidFill>
                  <a:schemeClr val="bg1"/>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590663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source code SECURITY GAP</a:t>
            </a:r>
            <a:endParaRPr lang="en-US" dirty="0"/>
          </a:p>
        </p:txBody>
      </p:sp>
      <p:sp>
        <p:nvSpPr>
          <p:cNvPr id="24" name="TextBox 23"/>
          <p:cNvSpPr txBox="1"/>
          <p:nvPr/>
        </p:nvSpPr>
        <p:spPr>
          <a:xfrm>
            <a:off x="107504" y="1124744"/>
            <a:ext cx="4779120" cy="811367"/>
          </a:xfrm>
          <a:prstGeom prst="rect">
            <a:avLst/>
          </a:prstGeom>
          <a:noFill/>
        </p:spPr>
        <p:txBody>
          <a:bodyPr wrap="none" lIns="36000" tIns="36000" rIns="36000" bIns="36000" rtlCol="0" anchor="t" anchorCtr="0">
            <a:spAutoFit/>
          </a:bodyPr>
          <a:lstStyle/>
          <a:p>
            <a:pPr marL="342900" indent="-342900">
              <a:buFont typeface="Arial"/>
              <a:buChar char="•"/>
            </a:pPr>
            <a:r>
              <a:rPr lang="en-US" sz="2400" dirty="0" smtClean="0"/>
              <a:t>Majority of eyes occupied elsewhere</a:t>
            </a:r>
          </a:p>
          <a:p>
            <a:pPr marL="342900" indent="-342900">
              <a:buFont typeface="Arial"/>
              <a:buChar char="•"/>
            </a:pPr>
            <a:r>
              <a:rPr lang="en-US" sz="2400" dirty="0" smtClean="0"/>
              <a:t>Minority of community is security-savvy</a:t>
            </a:r>
          </a:p>
        </p:txBody>
      </p:sp>
      <p:grpSp>
        <p:nvGrpSpPr>
          <p:cNvPr id="47" name="Group 46"/>
          <p:cNvGrpSpPr/>
          <p:nvPr/>
        </p:nvGrpSpPr>
        <p:grpSpPr>
          <a:xfrm>
            <a:off x="107504" y="3212976"/>
            <a:ext cx="5040560" cy="3384376"/>
            <a:chOff x="107504" y="2996952"/>
            <a:chExt cx="5040560" cy="3384376"/>
          </a:xfrm>
        </p:grpSpPr>
        <p:sp>
          <p:nvSpPr>
            <p:cNvPr id="3" name="Oval 2"/>
            <p:cNvSpPr/>
            <p:nvPr/>
          </p:nvSpPr>
          <p:spPr>
            <a:xfrm>
              <a:off x="107504" y="2996952"/>
              <a:ext cx="5040560" cy="3384376"/>
            </a:xfrm>
            <a:prstGeom prst="ellipse">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8800" b="1" dirty="0" smtClean="0"/>
                <a:t>CODE</a:t>
              </a:r>
              <a:endParaRPr lang="en-US" sz="8800" b="1" dirty="0"/>
            </a:p>
          </p:txBody>
        </p:sp>
        <p:sp>
          <p:nvSpPr>
            <p:cNvPr id="18" name="TextBox 17"/>
            <p:cNvSpPr txBox="1"/>
            <p:nvPr/>
          </p:nvSpPr>
          <p:spPr>
            <a:xfrm>
              <a:off x="1704051" y="3068960"/>
              <a:ext cx="1787829"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u</a:t>
              </a:r>
              <a:r>
                <a:rPr lang="en-US" dirty="0" smtClean="0">
                  <a:solidFill>
                    <a:schemeClr val="tx1">
                      <a:lumMod val="20000"/>
                      <a:lumOff val="80000"/>
                    </a:schemeClr>
                  </a:solidFill>
                </a:rPr>
                <a:t>nterminated strings</a:t>
              </a:r>
            </a:p>
          </p:txBody>
        </p:sp>
        <p:sp>
          <p:nvSpPr>
            <p:cNvPr id="20" name="TextBox 19"/>
            <p:cNvSpPr txBox="1"/>
            <p:nvPr/>
          </p:nvSpPr>
          <p:spPr>
            <a:xfrm>
              <a:off x="1475656" y="5877272"/>
              <a:ext cx="2345861"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u</a:t>
              </a:r>
              <a:r>
                <a:rPr lang="en-US" dirty="0" smtClean="0">
                  <a:solidFill>
                    <a:schemeClr val="tx1">
                      <a:lumMod val="20000"/>
                      <a:lumOff val="80000"/>
                    </a:schemeClr>
                  </a:solidFill>
                </a:rPr>
                <a:t>nchecked function returns</a:t>
              </a:r>
            </a:p>
          </p:txBody>
        </p:sp>
        <p:grpSp>
          <p:nvGrpSpPr>
            <p:cNvPr id="40" name="Group 39"/>
            <p:cNvGrpSpPr/>
            <p:nvPr/>
          </p:nvGrpSpPr>
          <p:grpSpPr>
            <a:xfrm>
              <a:off x="827584" y="3470147"/>
              <a:ext cx="3483121" cy="349702"/>
              <a:chOff x="827584" y="3501008"/>
              <a:chExt cx="3483121" cy="349702"/>
            </a:xfrm>
          </p:grpSpPr>
          <p:sp>
            <p:nvSpPr>
              <p:cNvPr id="21" name="TextBox 20"/>
              <p:cNvSpPr txBox="1"/>
              <p:nvPr/>
            </p:nvSpPr>
            <p:spPr>
              <a:xfrm>
                <a:off x="827584" y="3501008"/>
                <a:ext cx="1872587"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Indices out of bounds</a:t>
                </a:r>
              </a:p>
            </p:txBody>
          </p:sp>
          <p:sp>
            <p:nvSpPr>
              <p:cNvPr id="23" name="TextBox 22"/>
              <p:cNvSpPr txBox="1"/>
              <p:nvPr/>
            </p:nvSpPr>
            <p:spPr>
              <a:xfrm>
                <a:off x="3059832" y="3501008"/>
                <a:ext cx="1250873"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memory leaks</a:t>
                </a:r>
              </a:p>
            </p:txBody>
          </p:sp>
        </p:grpSp>
        <p:grpSp>
          <p:nvGrpSpPr>
            <p:cNvPr id="44" name="Group 43"/>
            <p:cNvGrpSpPr/>
            <p:nvPr/>
          </p:nvGrpSpPr>
          <p:grpSpPr>
            <a:xfrm>
              <a:off x="395536" y="5074895"/>
              <a:ext cx="4608512" cy="349702"/>
              <a:chOff x="611560" y="5265204"/>
              <a:chExt cx="4253818" cy="349702"/>
            </a:xfrm>
          </p:grpSpPr>
          <p:sp>
            <p:nvSpPr>
              <p:cNvPr id="25" name="TextBox 24"/>
              <p:cNvSpPr txBox="1"/>
              <p:nvPr/>
            </p:nvSpPr>
            <p:spPr>
              <a:xfrm>
                <a:off x="611560" y="5265204"/>
                <a:ext cx="967179"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f</a:t>
                </a:r>
                <a:r>
                  <a:rPr lang="en-US" dirty="0" smtClean="0">
                    <a:solidFill>
                      <a:schemeClr val="tx1">
                        <a:lumMod val="20000"/>
                        <a:lumOff val="80000"/>
                      </a:schemeClr>
                    </a:solidFill>
                  </a:rPr>
                  <a:t>aulty logic</a:t>
                </a:r>
              </a:p>
            </p:txBody>
          </p:sp>
          <p:sp>
            <p:nvSpPr>
              <p:cNvPr id="26" name="TextBox 25"/>
              <p:cNvSpPr txBox="1"/>
              <p:nvPr/>
            </p:nvSpPr>
            <p:spPr>
              <a:xfrm>
                <a:off x="3414330" y="5265204"/>
                <a:ext cx="1451048"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misconfiguration</a:t>
                </a:r>
              </a:p>
            </p:txBody>
          </p:sp>
          <p:sp>
            <p:nvSpPr>
              <p:cNvPr id="29" name="TextBox 28"/>
              <p:cNvSpPr txBox="1"/>
              <p:nvPr/>
            </p:nvSpPr>
            <p:spPr>
              <a:xfrm>
                <a:off x="1953184" y="5265204"/>
                <a:ext cx="1051149"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regressions</a:t>
                </a:r>
              </a:p>
            </p:txBody>
          </p:sp>
        </p:grpSp>
        <p:grpSp>
          <p:nvGrpSpPr>
            <p:cNvPr id="41" name="Group 40"/>
            <p:cNvGrpSpPr/>
            <p:nvPr/>
          </p:nvGrpSpPr>
          <p:grpSpPr>
            <a:xfrm>
              <a:off x="395536" y="3871334"/>
              <a:ext cx="4464496" cy="349702"/>
              <a:chOff x="395536" y="3861048"/>
              <a:chExt cx="4464496" cy="349702"/>
            </a:xfrm>
          </p:grpSpPr>
          <p:sp>
            <p:nvSpPr>
              <p:cNvPr id="16" name="TextBox 15"/>
              <p:cNvSpPr txBox="1"/>
              <p:nvPr/>
            </p:nvSpPr>
            <p:spPr>
              <a:xfrm>
                <a:off x="1763688" y="3861048"/>
                <a:ext cx="1209057"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s</a:t>
                </a:r>
                <a:r>
                  <a:rPr lang="en-US" dirty="0" smtClean="0">
                    <a:solidFill>
                      <a:schemeClr val="tx1">
                        <a:lumMod val="20000"/>
                        <a:lumOff val="80000"/>
                      </a:schemeClr>
                    </a:solidFill>
                  </a:rPr>
                  <a:t>tray pointers</a:t>
                </a:r>
              </a:p>
            </p:txBody>
          </p:sp>
          <p:sp>
            <p:nvSpPr>
              <p:cNvPr id="27" name="TextBox 26"/>
              <p:cNvSpPr txBox="1"/>
              <p:nvPr/>
            </p:nvSpPr>
            <p:spPr>
              <a:xfrm>
                <a:off x="395536" y="3861048"/>
                <a:ext cx="998738"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back doors</a:t>
                </a:r>
              </a:p>
            </p:txBody>
          </p:sp>
          <p:sp>
            <p:nvSpPr>
              <p:cNvPr id="30" name="TextBox 29"/>
              <p:cNvSpPr txBox="1"/>
              <p:nvPr/>
            </p:nvSpPr>
            <p:spPr>
              <a:xfrm>
                <a:off x="3198778" y="3861048"/>
                <a:ext cx="1661254"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p</a:t>
                </a:r>
                <a:r>
                  <a:rPr lang="en-US" dirty="0" smtClean="0">
                    <a:solidFill>
                      <a:schemeClr val="tx1">
                        <a:lumMod val="20000"/>
                        <a:lumOff val="80000"/>
                      </a:schemeClr>
                    </a:solidFill>
                  </a:rPr>
                  <a:t>arameter reversal</a:t>
                </a:r>
              </a:p>
            </p:txBody>
          </p:sp>
        </p:grpSp>
        <p:grpSp>
          <p:nvGrpSpPr>
            <p:cNvPr id="45" name="Group 44"/>
            <p:cNvGrpSpPr/>
            <p:nvPr/>
          </p:nvGrpSpPr>
          <p:grpSpPr>
            <a:xfrm>
              <a:off x="755576" y="5476082"/>
              <a:ext cx="3740822" cy="349702"/>
              <a:chOff x="755576" y="5599578"/>
              <a:chExt cx="3740822" cy="349702"/>
            </a:xfrm>
          </p:grpSpPr>
          <p:sp>
            <p:nvSpPr>
              <p:cNvPr id="22" name="TextBox 21"/>
              <p:cNvSpPr txBox="1"/>
              <p:nvPr/>
            </p:nvSpPr>
            <p:spPr>
              <a:xfrm>
                <a:off x="2771800" y="5599578"/>
                <a:ext cx="1724598"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i</a:t>
                </a:r>
                <a:r>
                  <a:rPr lang="en-US" dirty="0" smtClean="0">
                    <a:solidFill>
                      <a:schemeClr val="tx1">
                        <a:lumMod val="20000"/>
                        <a:lumOff val="80000"/>
                      </a:schemeClr>
                    </a:solidFill>
                  </a:rPr>
                  <a:t>mproper type casts</a:t>
                </a:r>
              </a:p>
            </p:txBody>
          </p:sp>
          <p:sp>
            <p:nvSpPr>
              <p:cNvPr id="35" name="TextBox 34"/>
              <p:cNvSpPr txBox="1"/>
              <p:nvPr/>
            </p:nvSpPr>
            <p:spPr>
              <a:xfrm>
                <a:off x="755576" y="5599578"/>
                <a:ext cx="1871686"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i</a:t>
                </a:r>
                <a:r>
                  <a:rPr lang="en-US" dirty="0" smtClean="0">
                    <a:solidFill>
                      <a:schemeClr val="tx1">
                        <a:lumMod val="20000"/>
                        <a:lumOff val="80000"/>
                      </a:schemeClr>
                    </a:solidFill>
                  </a:rPr>
                  <a:t>ncorrect permissions</a:t>
                </a:r>
              </a:p>
            </p:txBody>
          </p:sp>
        </p:grpSp>
        <p:grpSp>
          <p:nvGrpSpPr>
            <p:cNvPr id="43" name="Group 42"/>
            <p:cNvGrpSpPr/>
            <p:nvPr/>
          </p:nvGrpSpPr>
          <p:grpSpPr>
            <a:xfrm>
              <a:off x="251520" y="4673708"/>
              <a:ext cx="4657779" cy="349702"/>
              <a:chOff x="251520" y="4977172"/>
              <a:chExt cx="4657779" cy="349702"/>
            </a:xfrm>
          </p:grpSpPr>
          <p:sp>
            <p:nvSpPr>
              <p:cNvPr id="28" name="TextBox 27"/>
              <p:cNvSpPr txBox="1"/>
              <p:nvPr/>
            </p:nvSpPr>
            <p:spPr>
              <a:xfrm>
                <a:off x="1835696" y="4977172"/>
                <a:ext cx="1062194"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debug code</a:t>
                </a:r>
              </a:p>
            </p:txBody>
          </p:sp>
          <p:sp>
            <p:nvSpPr>
              <p:cNvPr id="33" name="TextBox 32"/>
              <p:cNvSpPr txBox="1"/>
              <p:nvPr/>
            </p:nvSpPr>
            <p:spPr>
              <a:xfrm>
                <a:off x="251520" y="4977172"/>
                <a:ext cx="1346001"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r</a:t>
                </a:r>
                <a:r>
                  <a:rPr lang="en-US" dirty="0" smtClean="0">
                    <a:solidFill>
                      <a:schemeClr val="tx1">
                        <a:lumMod val="20000"/>
                        <a:lumOff val="80000"/>
                      </a:schemeClr>
                    </a:solidFill>
                  </a:rPr>
                  <a:t>ace conditions</a:t>
                </a:r>
              </a:p>
            </p:txBody>
          </p:sp>
          <p:sp>
            <p:nvSpPr>
              <p:cNvPr id="37" name="TextBox 36"/>
              <p:cNvSpPr txBox="1"/>
              <p:nvPr/>
            </p:nvSpPr>
            <p:spPr>
              <a:xfrm>
                <a:off x="3131840" y="4977172"/>
                <a:ext cx="1777459"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d</a:t>
                </a:r>
                <a:r>
                  <a:rPr lang="en-US" dirty="0" smtClean="0">
                    <a:solidFill>
                      <a:schemeClr val="tx1">
                        <a:lumMod val="20000"/>
                        <a:lumOff val="80000"/>
                      </a:schemeClr>
                    </a:solidFill>
                  </a:rPr>
                  <a:t>eprecated versions</a:t>
                </a:r>
              </a:p>
            </p:txBody>
          </p:sp>
        </p:grpSp>
        <p:grpSp>
          <p:nvGrpSpPr>
            <p:cNvPr id="42" name="Group 41"/>
            <p:cNvGrpSpPr/>
            <p:nvPr/>
          </p:nvGrpSpPr>
          <p:grpSpPr>
            <a:xfrm>
              <a:off x="179512" y="4272521"/>
              <a:ext cx="4893062" cy="349702"/>
              <a:chOff x="179512" y="4437112"/>
              <a:chExt cx="4893062" cy="349702"/>
            </a:xfrm>
          </p:grpSpPr>
          <p:sp>
            <p:nvSpPr>
              <p:cNvPr id="34" name="TextBox 33"/>
              <p:cNvSpPr txBox="1"/>
              <p:nvPr/>
            </p:nvSpPr>
            <p:spPr>
              <a:xfrm>
                <a:off x="1835696" y="4437112"/>
                <a:ext cx="1450822"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p</a:t>
                </a:r>
                <a:r>
                  <a:rPr lang="en-US" dirty="0" smtClean="0">
                    <a:solidFill>
                      <a:schemeClr val="tx1">
                        <a:lumMod val="20000"/>
                        <a:lumOff val="80000"/>
                      </a:schemeClr>
                    </a:solidFill>
                  </a:rPr>
                  <a:t>riority inversion</a:t>
                </a:r>
              </a:p>
            </p:txBody>
          </p:sp>
          <p:sp>
            <p:nvSpPr>
              <p:cNvPr id="38" name="TextBox 37"/>
              <p:cNvSpPr txBox="1"/>
              <p:nvPr/>
            </p:nvSpPr>
            <p:spPr>
              <a:xfrm>
                <a:off x="3347864" y="4437112"/>
                <a:ext cx="1724710" cy="349702"/>
              </a:xfrm>
              <a:prstGeom prst="rect">
                <a:avLst/>
              </a:prstGeom>
              <a:noFill/>
            </p:spPr>
            <p:txBody>
              <a:bodyPr wrap="none" lIns="36000" tIns="36000" rIns="36000" bIns="36000" rtlCol="0" anchor="t" anchorCtr="0">
                <a:spAutoFit/>
              </a:bodyPr>
              <a:lstStyle/>
              <a:p>
                <a:r>
                  <a:rPr lang="en-US" dirty="0">
                    <a:solidFill>
                      <a:schemeClr val="tx1">
                        <a:lumMod val="20000"/>
                        <a:lumOff val="80000"/>
                      </a:schemeClr>
                    </a:solidFill>
                  </a:rPr>
                  <a:t>u</a:t>
                </a:r>
                <a:r>
                  <a:rPr lang="en-US" dirty="0" smtClean="0">
                    <a:solidFill>
                      <a:schemeClr val="tx1">
                        <a:lumMod val="20000"/>
                        <a:lumOff val="80000"/>
                      </a:schemeClr>
                    </a:solidFill>
                  </a:rPr>
                  <a:t>nitialized variables</a:t>
                </a:r>
              </a:p>
            </p:txBody>
          </p:sp>
          <p:sp>
            <p:nvSpPr>
              <p:cNvPr id="39" name="TextBox 38"/>
              <p:cNvSpPr txBox="1"/>
              <p:nvPr/>
            </p:nvSpPr>
            <p:spPr>
              <a:xfrm>
                <a:off x="179512" y="4437112"/>
                <a:ext cx="1619438" cy="349702"/>
              </a:xfrm>
              <a:prstGeom prst="rect">
                <a:avLst/>
              </a:prstGeom>
              <a:noFill/>
            </p:spPr>
            <p:txBody>
              <a:bodyPr wrap="none" lIns="36000" tIns="36000" rIns="36000" bIns="36000" rtlCol="0" anchor="t" anchorCtr="0">
                <a:spAutoFit/>
              </a:bodyPr>
              <a:lstStyle/>
              <a:p>
                <a:r>
                  <a:rPr lang="en-US" dirty="0" smtClean="0">
                    <a:solidFill>
                      <a:schemeClr val="tx1">
                        <a:lumMod val="20000"/>
                        <a:lumOff val="80000"/>
                      </a:schemeClr>
                    </a:solidFill>
                  </a:rPr>
                  <a:t>privilege violations</a:t>
                </a:r>
              </a:p>
            </p:txBody>
          </p:sp>
        </p:grpSp>
      </p:grpSp>
      <p:cxnSp>
        <p:nvCxnSpPr>
          <p:cNvPr id="49" name="Straight Arrow Connector 48"/>
          <p:cNvCxnSpPr/>
          <p:nvPr/>
        </p:nvCxnSpPr>
        <p:spPr>
          <a:xfrm flipH="1">
            <a:off x="2987824" y="1700808"/>
            <a:ext cx="2520280" cy="1656184"/>
          </a:xfrm>
          <a:prstGeom prst="straightConnector1">
            <a:avLst/>
          </a:prstGeom>
          <a:ln w="57150" cmpd="sng">
            <a:solidFill>
              <a:schemeClr val="accent5">
                <a:lumMod val="20000"/>
                <a:lumOff val="8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endCxn id="21" idx="3"/>
          </p:cNvCxnSpPr>
          <p:nvPr/>
        </p:nvCxnSpPr>
        <p:spPr>
          <a:xfrm flipH="1">
            <a:off x="2700171" y="1853208"/>
            <a:ext cx="2960333" cy="200781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flipH="1">
            <a:off x="3140224" y="2492896"/>
            <a:ext cx="2520280" cy="1656184"/>
          </a:xfrm>
          <a:prstGeom prst="straightConnector1">
            <a:avLst/>
          </a:prstGeom>
          <a:ln w="57150" cmpd="sng">
            <a:solidFill>
              <a:schemeClr val="accent5">
                <a:lumMod val="20000"/>
                <a:lumOff val="8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flipH="1">
            <a:off x="3419872" y="1988840"/>
            <a:ext cx="2520280" cy="165618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3131840" y="2852936"/>
            <a:ext cx="2520280" cy="1656184"/>
          </a:xfrm>
          <a:prstGeom prst="straightConnector1">
            <a:avLst/>
          </a:prstGeom>
          <a:ln w="57150" cmpd="sng">
            <a:solidFill>
              <a:schemeClr val="accent5">
                <a:lumMod val="20000"/>
                <a:lumOff val="8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4211960" y="2852936"/>
            <a:ext cx="1944216" cy="129614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a:endCxn id="38" idx="0"/>
          </p:cNvCxnSpPr>
          <p:nvPr/>
        </p:nvCxnSpPr>
        <p:spPr>
          <a:xfrm flipH="1">
            <a:off x="4210219" y="3140968"/>
            <a:ext cx="2089973" cy="1347577"/>
          </a:xfrm>
          <a:prstGeom prst="straightConnector1">
            <a:avLst/>
          </a:prstGeom>
          <a:ln w="57150" cmpd="sng">
            <a:solidFill>
              <a:schemeClr val="accent5">
                <a:lumMod val="20000"/>
                <a:lumOff val="8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H="1">
            <a:off x="4139952" y="3212976"/>
            <a:ext cx="2520280" cy="1656184"/>
          </a:xfrm>
          <a:prstGeom prst="straightConnector1">
            <a:avLst/>
          </a:prstGeom>
          <a:ln w="57150" cmpd="sng">
            <a:solidFill>
              <a:schemeClr val="accent5">
                <a:lumMod val="20000"/>
                <a:lumOff val="8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3995936" y="3284984"/>
            <a:ext cx="3096344" cy="2016224"/>
          </a:xfrm>
          <a:prstGeom prst="straightConnector1">
            <a:avLst/>
          </a:prstGeom>
          <a:ln w="57150" cmpd="sng">
            <a:solidFill>
              <a:schemeClr val="accent5"/>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flipH="1">
            <a:off x="3923928" y="3429000"/>
            <a:ext cx="3456384" cy="2232248"/>
          </a:xfrm>
          <a:prstGeom prst="straightConnector1">
            <a:avLst/>
          </a:prstGeom>
          <a:ln w="57150" cmpd="sng">
            <a:solidFill>
              <a:schemeClr val="accent5">
                <a:lumMod val="20000"/>
                <a:lumOff val="8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flipH="1">
            <a:off x="4932040" y="3284984"/>
            <a:ext cx="3168352" cy="2088232"/>
          </a:xfrm>
          <a:prstGeom prst="straightConnector1">
            <a:avLst/>
          </a:prstGeom>
          <a:ln w="57150" cmpd="sng">
            <a:solidFill>
              <a:schemeClr val="accent5">
                <a:lumMod val="20000"/>
                <a:lumOff val="8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15" name="Group 14"/>
          <p:cNvGrpSpPr/>
          <p:nvPr/>
        </p:nvGrpSpPr>
        <p:grpSpPr>
          <a:xfrm>
            <a:off x="5220072" y="1052736"/>
            <a:ext cx="3888432" cy="2376262"/>
            <a:chOff x="4067944" y="1052736"/>
            <a:chExt cx="5040560" cy="2808312"/>
          </a:xfrm>
        </p:grpSpPr>
        <p:sp>
          <p:nvSpPr>
            <p:cNvPr id="5" name="Oval 4"/>
            <p:cNvSpPr/>
            <p:nvPr/>
          </p:nvSpPr>
          <p:spPr>
            <a:xfrm>
              <a:off x="4067944" y="1052736"/>
              <a:ext cx="5040560" cy="2808312"/>
            </a:xfrm>
            <a:prstGeom prst="ellipse">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p>
          </p:txBody>
        </p:sp>
        <p:sp>
          <p:nvSpPr>
            <p:cNvPr id="8" name="Oval 7"/>
            <p:cNvSpPr/>
            <p:nvPr/>
          </p:nvSpPr>
          <p:spPr>
            <a:xfrm>
              <a:off x="5281412" y="1393138"/>
              <a:ext cx="2659554" cy="2426038"/>
            </a:xfrm>
            <a:prstGeom prst="ellipse">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Oval 10"/>
            <p:cNvSpPr/>
            <p:nvPr/>
          </p:nvSpPr>
          <p:spPr>
            <a:xfrm>
              <a:off x="6028162" y="2073941"/>
              <a:ext cx="1179094" cy="1075237"/>
            </a:xfrm>
            <a:prstGeom prst="ellipse">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p>
          </p:txBody>
        </p:sp>
      </p:grpSp>
      <p:pic>
        <p:nvPicPr>
          <p:cNvPr id="4" name="Picture 3" descr="Eyepatch_clothing_ID_icon_105.png"/>
          <p:cNvPicPr>
            <a:picLocks noChangeAspect="1"/>
          </p:cNvPicPr>
          <p:nvPr/>
        </p:nvPicPr>
        <p:blipFill rotWithShape="1">
          <a:blip r:embed="rId2">
            <a:extLst>
              <a:ext uri="{28A0092B-C50C-407E-A947-70E740481C1C}">
                <a14:useLocalDpi xmlns:a14="http://schemas.microsoft.com/office/drawing/2010/main" val="0"/>
              </a:ext>
            </a:extLst>
          </a:blip>
          <a:srcRect t="14326" r="16432" b="-1"/>
          <a:stretch/>
        </p:blipFill>
        <p:spPr>
          <a:xfrm>
            <a:off x="5868144" y="1234111"/>
            <a:ext cx="3275856" cy="1721200"/>
          </a:xfrm>
          <a:prstGeom prst="rect">
            <a:avLst/>
          </a:prstGeom>
        </p:spPr>
      </p:pic>
      <p:sp>
        <p:nvSpPr>
          <p:cNvPr id="46" name="TextBox 45"/>
          <p:cNvSpPr txBox="1"/>
          <p:nvPr/>
        </p:nvSpPr>
        <p:spPr>
          <a:xfrm>
            <a:off x="5436096" y="1844824"/>
            <a:ext cx="3563931" cy="903700"/>
          </a:xfrm>
          <a:prstGeom prst="rect">
            <a:avLst/>
          </a:prstGeom>
          <a:noFill/>
        </p:spPr>
        <p:txBody>
          <a:bodyPr wrap="none" lIns="36000" tIns="36000" rIns="36000" bIns="36000" rtlCol="0" anchor="t" anchorCtr="0">
            <a:spAutoFit/>
          </a:bodyPr>
          <a:lstStyle/>
          <a:p>
            <a:r>
              <a:rPr lang="en-US" sz="5400" b="1" dirty="0" smtClean="0">
                <a:solidFill>
                  <a:schemeClr val="bg1"/>
                </a:solidFill>
              </a:rPr>
              <a:t>COMMUNITY</a:t>
            </a:r>
          </a:p>
        </p:txBody>
      </p:sp>
    </p:spTree>
    <p:extLst>
      <p:ext uri="{BB962C8B-B14F-4D97-AF65-F5344CB8AC3E}">
        <p14:creationId xmlns:p14="http://schemas.microsoft.com/office/powerpoint/2010/main" val="3530401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72816"/>
            <a:ext cx="4038600" cy="3816424"/>
          </a:xfrm>
        </p:spPr>
        <p:txBody>
          <a:bodyPr>
            <a:normAutofit/>
          </a:bodyPr>
          <a:lstStyle/>
          <a:p>
            <a:pPr marL="342900" indent="-342900">
              <a:buFont typeface="Arial"/>
              <a:buChar char="•"/>
            </a:pPr>
            <a:r>
              <a:rPr lang="en-US" sz="2000" dirty="0" smtClean="0"/>
              <a:t>Use-case specific errors</a:t>
            </a:r>
          </a:p>
          <a:p>
            <a:pPr marL="342900" indent="-342900">
              <a:buFont typeface="Arial"/>
              <a:buChar char="•"/>
            </a:pPr>
            <a:r>
              <a:rPr lang="en-US" sz="2000" dirty="0" smtClean="0"/>
              <a:t>Local misconfiguration</a:t>
            </a:r>
          </a:p>
          <a:p>
            <a:pPr marL="342900" indent="-342900">
              <a:buFont typeface="Arial"/>
              <a:buChar char="•"/>
            </a:pPr>
            <a:r>
              <a:rPr lang="en-US" sz="2000" dirty="0" smtClean="0"/>
              <a:t>LAN-based vulnerabilities</a:t>
            </a:r>
          </a:p>
          <a:p>
            <a:pPr marL="342900" indent="-342900">
              <a:buFont typeface="Arial"/>
              <a:buChar char="•"/>
            </a:pPr>
            <a:r>
              <a:rPr lang="en-US" sz="2000" dirty="0" smtClean="0"/>
              <a:t>Deployed deprecated s/w versions</a:t>
            </a:r>
          </a:p>
          <a:p>
            <a:pPr marL="342900" indent="-342900">
              <a:buFont typeface="Arial"/>
              <a:buChar char="•"/>
            </a:pPr>
            <a:r>
              <a:rPr lang="en-US" sz="2000" dirty="0" smtClean="0"/>
              <a:t>Weak encryption</a:t>
            </a:r>
          </a:p>
          <a:p>
            <a:pPr marL="342900" indent="-342900">
              <a:buFont typeface="Arial"/>
              <a:buChar char="•"/>
            </a:pPr>
            <a:r>
              <a:rPr lang="en-US" sz="2000" dirty="0" smtClean="0"/>
              <a:t>Bad authentication</a:t>
            </a:r>
          </a:p>
          <a:p>
            <a:pPr marL="342900" indent="-342900">
              <a:buFont typeface="Arial"/>
              <a:buChar char="•"/>
            </a:pPr>
            <a:r>
              <a:rPr lang="en-US" sz="2000" dirty="0" smtClean="0"/>
              <a:t>Stolen credentials</a:t>
            </a:r>
          </a:p>
          <a:p>
            <a:pPr marL="342900" indent="-342900">
              <a:buFont typeface="Arial"/>
              <a:buChar char="•"/>
            </a:pPr>
            <a:r>
              <a:rPr lang="en-US" sz="2000" dirty="0" smtClean="0"/>
              <a:t>Viruses, Trojans &amp; other malware</a:t>
            </a:r>
            <a:endParaRPr lang="en-US" sz="2000" dirty="0"/>
          </a:p>
        </p:txBody>
      </p:sp>
      <p:sp>
        <p:nvSpPr>
          <p:cNvPr id="4" name="Content Placeholder 3"/>
          <p:cNvSpPr>
            <a:spLocks noGrp="1"/>
          </p:cNvSpPr>
          <p:nvPr>
            <p:ph sz="half" idx="2"/>
          </p:nvPr>
        </p:nvSpPr>
        <p:spPr>
          <a:xfrm>
            <a:off x="4648200" y="1772816"/>
            <a:ext cx="4038600" cy="3816424"/>
          </a:xfrm>
        </p:spPr>
        <p:txBody>
          <a:bodyPr/>
          <a:lstStyle/>
          <a:p>
            <a:pPr marL="342900" indent="-342900">
              <a:buFont typeface="Arial"/>
              <a:buChar char="•"/>
            </a:pPr>
            <a:r>
              <a:rPr lang="en-US" sz="2000" dirty="0" smtClean="0"/>
              <a:t>Denial of service attacks</a:t>
            </a:r>
          </a:p>
          <a:p>
            <a:pPr marL="342900" indent="-342900">
              <a:buFont typeface="Arial"/>
              <a:buChar char="•"/>
            </a:pPr>
            <a:r>
              <a:rPr lang="en-US" sz="2000" dirty="0" smtClean="0"/>
              <a:t>Weak passwords</a:t>
            </a:r>
          </a:p>
          <a:p>
            <a:pPr marL="342900" indent="-342900">
              <a:buFont typeface="Arial"/>
              <a:buChar char="•"/>
            </a:pPr>
            <a:r>
              <a:rPr lang="en-US" sz="2000" dirty="0" smtClean="0"/>
              <a:t>Unenforced security policy</a:t>
            </a:r>
          </a:p>
          <a:p>
            <a:pPr marL="342900" indent="-342900">
              <a:buFont typeface="Arial"/>
              <a:buChar char="•"/>
            </a:pPr>
            <a:r>
              <a:rPr lang="en-US" sz="2000" dirty="0" smtClean="0"/>
              <a:t>Phishing</a:t>
            </a:r>
          </a:p>
          <a:p>
            <a:pPr marL="342900" indent="-342900">
              <a:buFont typeface="Arial"/>
              <a:buChar char="•"/>
            </a:pPr>
            <a:r>
              <a:rPr lang="en-US" sz="2000" dirty="0" smtClean="0"/>
              <a:t>Man-in-the-middle attacks</a:t>
            </a:r>
          </a:p>
          <a:p>
            <a:pPr marL="342900" indent="-342900">
              <a:buFont typeface="Arial"/>
              <a:buChar char="•"/>
            </a:pPr>
            <a:r>
              <a:rPr lang="en-US" sz="2000" dirty="0" smtClean="0"/>
              <a:t>Forged certificates</a:t>
            </a:r>
          </a:p>
          <a:p>
            <a:pPr marL="342900" indent="-342900">
              <a:buFont typeface="Arial"/>
              <a:buChar char="•"/>
            </a:pPr>
            <a:r>
              <a:rPr lang="en-US" sz="2000" dirty="0" smtClean="0"/>
              <a:t>Spoofed MACs and IP addresses</a:t>
            </a:r>
          </a:p>
          <a:p>
            <a:pPr marL="342900" indent="-342900">
              <a:buFont typeface="Arial"/>
              <a:buChar char="•"/>
            </a:pPr>
            <a:r>
              <a:rPr lang="en-US" sz="2000" dirty="0" smtClean="0"/>
              <a:t>Latent zero-day exploits</a:t>
            </a:r>
            <a:endParaRPr lang="en-US" sz="2000" dirty="0"/>
          </a:p>
          <a:p>
            <a:pPr marL="342900" indent="-342900">
              <a:buFont typeface="Arial"/>
              <a:buChar char="•"/>
            </a:pPr>
            <a:r>
              <a:rPr lang="en-US" sz="2000" dirty="0" smtClean="0"/>
              <a:t>Brute force decryption</a:t>
            </a:r>
            <a:endParaRPr lang="en-US" sz="2000" dirty="0"/>
          </a:p>
        </p:txBody>
      </p:sp>
      <p:sp>
        <p:nvSpPr>
          <p:cNvPr id="2" name="Title 1"/>
          <p:cNvSpPr>
            <a:spLocks noGrp="1"/>
          </p:cNvSpPr>
          <p:nvPr>
            <p:ph type="title"/>
          </p:nvPr>
        </p:nvSpPr>
        <p:spPr>
          <a:xfrm>
            <a:off x="251520" y="192024"/>
            <a:ext cx="8424936" cy="576362"/>
          </a:xfrm>
        </p:spPr>
        <p:txBody>
          <a:bodyPr>
            <a:normAutofit/>
          </a:bodyPr>
          <a:lstStyle/>
          <a:p>
            <a:r>
              <a:rPr lang="en-US" dirty="0" smtClean="0"/>
              <a:t>Threats resistant to community oversight</a:t>
            </a:r>
            <a:endParaRPr lang="en-US" dirty="0"/>
          </a:p>
        </p:txBody>
      </p:sp>
    </p:spTree>
    <p:extLst>
      <p:ext uri="{BB962C8B-B14F-4D97-AF65-F5344CB8AC3E}">
        <p14:creationId xmlns:p14="http://schemas.microsoft.com/office/powerpoint/2010/main" val="3343686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Open source hygiene</a:t>
            </a:r>
            <a:endParaRPr lang="en-US" dirty="0"/>
          </a:p>
        </p:txBody>
      </p:sp>
      <p:sp>
        <p:nvSpPr>
          <p:cNvPr id="6" name="Subtitle 5"/>
          <p:cNvSpPr>
            <a:spLocks noGrp="1"/>
          </p:cNvSpPr>
          <p:nvPr>
            <p:ph type="subTitle" idx="1"/>
          </p:nvPr>
        </p:nvSpPr>
        <p:spPr/>
        <p:txBody>
          <a:bodyPr/>
          <a:lstStyle/>
          <a:p>
            <a:r>
              <a:rPr lang="en-US" dirty="0" smtClean="0"/>
              <a:t>Component-level best practices for securing open source software</a:t>
            </a:r>
            <a:endParaRPr lang="en-US" dirty="0"/>
          </a:p>
        </p:txBody>
      </p:sp>
    </p:spTree>
    <p:extLst>
      <p:ext uri="{BB962C8B-B14F-4D97-AF65-F5344CB8AC3E}">
        <p14:creationId xmlns:p14="http://schemas.microsoft.com/office/powerpoint/2010/main" val="265614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Hygiene?</a:t>
            </a:r>
            <a:endParaRPr lang="en-US" dirty="0"/>
          </a:p>
        </p:txBody>
      </p:sp>
      <p:sp>
        <p:nvSpPr>
          <p:cNvPr id="5" name="Content Placeholder 4"/>
          <p:cNvSpPr>
            <a:spLocks noGrp="1"/>
          </p:cNvSpPr>
          <p:nvPr>
            <p:ph idx="1"/>
          </p:nvPr>
        </p:nvSpPr>
        <p:spPr>
          <a:xfrm>
            <a:off x="827584" y="2348880"/>
            <a:ext cx="7705551" cy="2160240"/>
          </a:xfrm>
        </p:spPr>
        <p:txBody>
          <a:bodyPr/>
          <a:lstStyle/>
          <a:p>
            <a:pPr>
              <a:spcAft>
                <a:spcPts val="600"/>
              </a:spcAft>
            </a:pPr>
            <a:r>
              <a:rPr lang="en-US" sz="2400" b="1" dirty="0" err="1" smtClean="0">
                <a:latin typeface="Open Sans"/>
                <a:cs typeface="Open Sans"/>
              </a:rPr>
              <a:t>hy·giene</a:t>
            </a:r>
            <a:r>
              <a:rPr lang="en-US" sz="2400" dirty="0"/>
              <a:t> </a:t>
            </a:r>
            <a:r>
              <a:rPr lang="en-US" sz="2400" dirty="0" smtClean="0"/>
              <a:t>      /</a:t>
            </a:r>
            <a:r>
              <a:rPr lang="en-US" sz="2400" dirty="0"/>
              <a:t>ˈ</a:t>
            </a:r>
            <a:r>
              <a:rPr lang="en-US" sz="2400" dirty="0" err="1"/>
              <a:t>hīˌjēn</a:t>
            </a:r>
            <a:r>
              <a:rPr lang="en-US" sz="2400" dirty="0" smtClean="0"/>
              <a:t>/ [‘</a:t>
            </a:r>
            <a:r>
              <a:rPr lang="en-US" sz="2400" dirty="0" err="1" smtClean="0"/>
              <a:t>hai</a:t>
            </a:r>
            <a:r>
              <a:rPr lang="en-US" sz="2400" dirty="0" smtClean="0"/>
              <a:t> </a:t>
            </a:r>
            <a:r>
              <a:rPr lang="en-US" sz="2400" dirty="0" err="1" smtClean="0"/>
              <a:t>dji:n</a:t>
            </a:r>
            <a:r>
              <a:rPr lang="en-US" sz="2400" dirty="0" smtClean="0"/>
              <a:t>]</a:t>
            </a:r>
            <a:endParaRPr lang="en-US" sz="2400" dirty="0"/>
          </a:p>
          <a:p>
            <a:pPr>
              <a:spcAft>
                <a:spcPts val="600"/>
              </a:spcAft>
            </a:pPr>
            <a:r>
              <a:rPr lang="en-US" i="1" dirty="0"/>
              <a:t>conditions or practices conducive to maintaining health and preventing disease</a:t>
            </a:r>
            <a:r>
              <a:rPr lang="en-US" i="1" dirty="0" smtClean="0"/>
              <a:t>,</a:t>
            </a:r>
            <a:r>
              <a:rPr lang="en-US" dirty="0"/>
              <a:t> </a:t>
            </a:r>
            <a:r>
              <a:rPr lang="en-US" i="1" dirty="0" smtClean="0"/>
              <a:t>especially </a:t>
            </a:r>
            <a:r>
              <a:rPr lang="en-US" i="1" dirty="0"/>
              <a:t>through cleanliness.</a:t>
            </a:r>
            <a:endParaRPr lang="en-US" dirty="0"/>
          </a:p>
          <a:p>
            <a:pPr>
              <a:spcAft>
                <a:spcPts val="600"/>
              </a:spcAft>
            </a:pPr>
            <a:r>
              <a:rPr lang="en-US" u="sng" dirty="0"/>
              <a:t>synonyms:</a:t>
            </a:r>
            <a:r>
              <a:rPr lang="en-US" dirty="0"/>
              <a:t> </a:t>
            </a:r>
            <a:r>
              <a:rPr lang="en-US" i="1" dirty="0"/>
              <a:t>cleanliness, sanitation, sterility, purity, disinfection </a:t>
            </a:r>
            <a:endParaRPr lang="en-US" dirty="0"/>
          </a:p>
          <a:p>
            <a:endParaRPr lang="en-US" dirty="0"/>
          </a:p>
        </p:txBody>
      </p:sp>
    </p:spTree>
    <p:extLst>
      <p:ext uri="{BB962C8B-B14F-4D97-AF65-F5344CB8AC3E}">
        <p14:creationId xmlns:p14="http://schemas.microsoft.com/office/powerpoint/2010/main" val="2369182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7649" t="7002" r="15861" b="6350"/>
          <a:stretch/>
        </p:blipFill>
        <p:spPr>
          <a:xfrm>
            <a:off x="-15339" y="1340768"/>
            <a:ext cx="5235411" cy="4181599"/>
          </a:xfrm>
          <a:prstGeom prst="rect">
            <a:avLst/>
          </a:prstGeom>
        </p:spPr>
      </p:pic>
      <p:sp>
        <p:nvSpPr>
          <p:cNvPr id="5" name="TextBox 4"/>
          <p:cNvSpPr txBox="1"/>
          <p:nvPr/>
        </p:nvSpPr>
        <p:spPr>
          <a:xfrm>
            <a:off x="2204445" y="487590"/>
            <a:ext cx="4383779" cy="565146"/>
          </a:xfrm>
          <a:prstGeom prst="rect">
            <a:avLst/>
          </a:prstGeom>
          <a:noFill/>
        </p:spPr>
        <p:txBody>
          <a:bodyPr wrap="none" lIns="36000" tIns="36000" rIns="36000" bIns="36000" rtlCol="0">
            <a:spAutoFit/>
          </a:bodyPr>
          <a:lstStyle/>
          <a:p>
            <a:r>
              <a:rPr lang="en-US" sz="3200" dirty="0" smtClean="0">
                <a:latin typeface="Open Sans"/>
                <a:cs typeface="Open Sans"/>
              </a:rPr>
              <a:t>Open Source Hygiene?</a:t>
            </a:r>
          </a:p>
        </p:txBody>
      </p:sp>
      <p:pic>
        <p:nvPicPr>
          <p:cNvPr id="2" name="Picture 1"/>
          <p:cNvPicPr>
            <a:picLocks noChangeAspect="1"/>
          </p:cNvPicPr>
          <p:nvPr/>
        </p:nvPicPr>
        <p:blipFill>
          <a:blip r:embed="rId3"/>
          <a:stretch>
            <a:fillRect/>
          </a:stretch>
        </p:blipFill>
        <p:spPr>
          <a:xfrm>
            <a:off x="5220072" y="1333500"/>
            <a:ext cx="3937000" cy="4191000"/>
          </a:xfrm>
          <a:prstGeom prst="rect">
            <a:avLst/>
          </a:prstGeom>
        </p:spPr>
      </p:pic>
    </p:spTree>
    <p:extLst>
      <p:ext uri="{BB962C8B-B14F-4D97-AF65-F5344CB8AC3E}">
        <p14:creationId xmlns:p14="http://schemas.microsoft.com/office/powerpoint/2010/main" val="788453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635896" y="1988840"/>
            <a:ext cx="4680520" cy="3024336"/>
            <a:chOff x="0" y="-495473"/>
            <a:chExt cx="2987749" cy="1388085"/>
          </a:xfrm>
        </p:grpSpPr>
        <p:sp>
          <p:nvSpPr>
            <p:cNvPr id="3" name="Rectangle 2"/>
            <p:cNvSpPr/>
            <p:nvPr/>
          </p:nvSpPr>
          <p:spPr>
            <a:xfrm>
              <a:off x="0" y="-495473"/>
              <a:ext cx="2987749" cy="138808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sz="3600"/>
            </a:p>
          </p:txBody>
        </p:sp>
        <p:sp>
          <p:nvSpPr>
            <p:cNvPr id="4" name="Text Box 2"/>
            <p:cNvSpPr txBox="1">
              <a:spLocks noChangeArrowheads="1"/>
            </p:cNvSpPr>
            <p:nvPr/>
          </p:nvSpPr>
          <p:spPr bwMode="auto">
            <a:xfrm>
              <a:off x="109868" y="-459736"/>
              <a:ext cx="2819072" cy="1268520"/>
            </a:xfrm>
            <a:prstGeom prst="rect">
              <a:avLst/>
            </a:prstGeom>
            <a:noFill/>
            <a:ln w="9525">
              <a:noFill/>
              <a:miter lim="800000"/>
              <a:headEnd/>
              <a:tailEnd/>
            </a:ln>
          </p:spPr>
          <p:txBody>
            <a:bodyPr rot="0" vert="horz" wrap="square" lIns="91440" tIns="45720" rIns="91440" bIns="45720" anchor="t" anchorCtr="0">
              <a:noAutofit/>
            </a:bodyPr>
            <a:lstStyle/>
            <a:p>
              <a:pPr marL="0" marR="0">
                <a:lnSpc>
                  <a:spcPct val="115000"/>
                </a:lnSpc>
                <a:spcBef>
                  <a:spcPts val="0"/>
                </a:spcBef>
                <a:spcAft>
                  <a:spcPts val="0"/>
                </a:spcAft>
              </a:pPr>
              <a:r>
                <a:rPr lang="en-US" sz="2400" b="1">
                  <a:solidFill>
                    <a:srgbClr val="FFFFFF"/>
                  </a:solidFill>
                  <a:effectLst/>
                  <a:latin typeface="Open Sans"/>
                  <a:ea typeface="Calibri"/>
                  <a:cs typeface="Open Sans"/>
                </a:rPr>
                <a:t>Open Source Hygiene</a:t>
              </a:r>
              <a:r>
                <a:rPr lang="en-US" sz="2000">
                  <a:solidFill>
                    <a:srgbClr val="FFFFFF"/>
                  </a:solidFill>
                  <a:effectLst/>
                  <a:latin typeface="Open Sans"/>
                  <a:ea typeface="Calibri"/>
                  <a:cs typeface="Open Sans"/>
                </a:rPr>
                <a:t> is the practice of cross referencing the open source content of a company or product software stack, module by module, version by version, with databases of known vulnerabilities of those software components.</a:t>
              </a:r>
              <a:endParaRPr lang="en-US" sz="2000">
                <a:effectLst/>
                <a:latin typeface="Calibri"/>
                <a:ea typeface="Calibri"/>
                <a:cs typeface="Times New Roman"/>
              </a:endParaRPr>
            </a:p>
          </p:txBody>
        </p:sp>
      </p:grpSp>
      <p:pic>
        <p:nvPicPr>
          <p:cNvPr id="5" name="Picture 4" descr="caduceu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988839"/>
            <a:ext cx="2503151" cy="3010735"/>
          </a:xfrm>
          <a:prstGeom prst="rect">
            <a:avLst/>
          </a:prstGeom>
        </p:spPr>
      </p:pic>
    </p:spTree>
    <p:extLst>
      <p:ext uri="{BB962C8B-B14F-4D97-AF65-F5344CB8AC3E}">
        <p14:creationId xmlns:p14="http://schemas.microsoft.com/office/powerpoint/2010/main" val="767721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1520" y="192024"/>
            <a:ext cx="8496944" cy="576362"/>
          </a:xfrm>
        </p:spPr>
        <p:txBody>
          <a:bodyPr>
            <a:normAutofit fontScale="90000"/>
          </a:bodyPr>
          <a:lstStyle/>
          <a:p>
            <a:r>
              <a:rPr lang="en-US" dirty="0" smtClean="0"/>
              <a:t>Security Technologies – where does </a:t>
            </a:r>
            <a:r>
              <a:rPr lang="en-US" dirty="0" err="1" smtClean="0"/>
              <a:t>oss</a:t>
            </a:r>
            <a:r>
              <a:rPr lang="en-US" dirty="0" smtClean="0"/>
              <a:t> hygiene fit?</a:t>
            </a:r>
            <a:endParaRPr lang="en-US" dirty="0"/>
          </a:p>
        </p:txBody>
      </p:sp>
      <p:sp>
        <p:nvSpPr>
          <p:cNvPr id="5" name="TextBox 4"/>
          <p:cNvSpPr txBox="1"/>
          <p:nvPr/>
        </p:nvSpPr>
        <p:spPr>
          <a:xfrm>
            <a:off x="251520" y="1454804"/>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Intrusion </a:t>
            </a:r>
          </a:p>
          <a:p>
            <a:pPr algn="ctr"/>
            <a:r>
              <a:rPr lang="en-US" sz="2000" dirty="0" smtClean="0">
                <a:solidFill>
                  <a:srgbClr val="FFFFFF"/>
                </a:solidFill>
                <a:latin typeface="Open Sans"/>
                <a:cs typeface="Open Sans"/>
              </a:rPr>
              <a:t>Detection</a:t>
            </a:r>
          </a:p>
        </p:txBody>
      </p:sp>
      <p:sp>
        <p:nvSpPr>
          <p:cNvPr id="6" name="TextBox 5"/>
          <p:cNvSpPr txBox="1"/>
          <p:nvPr/>
        </p:nvSpPr>
        <p:spPr>
          <a:xfrm>
            <a:off x="251520" y="2658616"/>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End-point</a:t>
            </a:r>
          </a:p>
          <a:p>
            <a:pPr algn="ctr"/>
            <a:r>
              <a:rPr lang="en-US" sz="2000" dirty="0" smtClean="0">
                <a:solidFill>
                  <a:srgbClr val="FFFFFF"/>
                </a:solidFill>
                <a:latin typeface="Open Sans"/>
                <a:cs typeface="Open Sans"/>
              </a:rPr>
              <a:t>Security</a:t>
            </a:r>
          </a:p>
        </p:txBody>
      </p:sp>
      <p:sp>
        <p:nvSpPr>
          <p:cNvPr id="7" name="TextBox 6"/>
          <p:cNvSpPr txBox="1"/>
          <p:nvPr/>
        </p:nvSpPr>
        <p:spPr>
          <a:xfrm>
            <a:off x="4716016" y="1454804"/>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Network</a:t>
            </a:r>
          </a:p>
          <a:p>
            <a:pPr algn="ctr"/>
            <a:r>
              <a:rPr lang="en-US" sz="2000" dirty="0" smtClean="0">
                <a:solidFill>
                  <a:srgbClr val="FFFFFF"/>
                </a:solidFill>
                <a:latin typeface="Open Sans"/>
                <a:cs typeface="Open Sans"/>
              </a:rPr>
              <a:t>Security</a:t>
            </a:r>
          </a:p>
        </p:txBody>
      </p:sp>
      <p:sp>
        <p:nvSpPr>
          <p:cNvPr id="8" name="TextBox 7"/>
          <p:cNvSpPr txBox="1"/>
          <p:nvPr/>
        </p:nvSpPr>
        <p:spPr>
          <a:xfrm>
            <a:off x="2527665" y="5034880"/>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Certifiable</a:t>
            </a:r>
          </a:p>
          <a:p>
            <a:pPr algn="ctr"/>
            <a:r>
              <a:rPr lang="en-US" sz="2000" dirty="0" smtClean="0">
                <a:solidFill>
                  <a:srgbClr val="FFFFFF"/>
                </a:solidFill>
                <a:latin typeface="Open Sans"/>
                <a:cs typeface="Open Sans"/>
              </a:rPr>
              <a:t>Systems</a:t>
            </a:r>
          </a:p>
        </p:txBody>
      </p:sp>
      <p:sp>
        <p:nvSpPr>
          <p:cNvPr id="9" name="TextBox 8"/>
          <p:cNvSpPr txBox="1"/>
          <p:nvPr/>
        </p:nvSpPr>
        <p:spPr>
          <a:xfrm>
            <a:off x="251520" y="5034880"/>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Formal</a:t>
            </a:r>
          </a:p>
          <a:p>
            <a:pPr algn="ctr"/>
            <a:r>
              <a:rPr lang="en-US" sz="2000" dirty="0" smtClean="0">
                <a:solidFill>
                  <a:srgbClr val="FFFFFF"/>
                </a:solidFill>
                <a:latin typeface="Open Sans"/>
                <a:cs typeface="Open Sans"/>
              </a:rPr>
              <a:t>Verification</a:t>
            </a:r>
          </a:p>
        </p:txBody>
      </p:sp>
      <p:sp>
        <p:nvSpPr>
          <p:cNvPr id="10" name="TextBox 9"/>
          <p:cNvSpPr txBox="1"/>
          <p:nvPr/>
        </p:nvSpPr>
        <p:spPr>
          <a:xfrm>
            <a:off x="2527665" y="1454804"/>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Authentication</a:t>
            </a:r>
          </a:p>
        </p:txBody>
      </p:sp>
      <p:sp>
        <p:nvSpPr>
          <p:cNvPr id="11" name="TextBox 10"/>
          <p:cNvSpPr txBox="1"/>
          <p:nvPr/>
        </p:nvSpPr>
        <p:spPr>
          <a:xfrm>
            <a:off x="2527665" y="2658616"/>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Code Quality</a:t>
            </a:r>
          </a:p>
          <a:p>
            <a:pPr algn="ctr"/>
            <a:r>
              <a:rPr lang="en-US" sz="2000" dirty="0" smtClean="0">
                <a:solidFill>
                  <a:srgbClr val="FFFFFF"/>
                </a:solidFill>
                <a:latin typeface="Open Sans"/>
                <a:cs typeface="Open Sans"/>
              </a:rPr>
              <a:t>Tools</a:t>
            </a:r>
          </a:p>
        </p:txBody>
      </p:sp>
      <p:sp>
        <p:nvSpPr>
          <p:cNvPr id="12" name="TextBox 11"/>
          <p:cNvSpPr txBox="1"/>
          <p:nvPr/>
        </p:nvSpPr>
        <p:spPr>
          <a:xfrm>
            <a:off x="6919242" y="5034880"/>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Binary</a:t>
            </a:r>
          </a:p>
          <a:p>
            <a:pPr algn="ctr"/>
            <a:r>
              <a:rPr lang="en-US" sz="2000" dirty="0" smtClean="0">
                <a:solidFill>
                  <a:srgbClr val="FFFFFF"/>
                </a:solidFill>
                <a:latin typeface="Open Sans"/>
                <a:cs typeface="Open Sans"/>
              </a:rPr>
              <a:t>Obfuscation</a:t>
            </a:r>
          </a:p>
        </p:txBody>
      </p:sp>
      <p:sp>
        <p:nvSpPr>
          <p:cNvPr id="13" name="TextBox 12"/>
          <p:cNvSpPr txBox="1"/>
          <p:nvPr/>
        </p:nvSpPr>
        <p:spPr>
          <a:xfrm>
            <a:off x="6919242" y="1454804"/>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Encryption</a:t>
            </a:r>
          </a:p>
        </p:txBody>
      </p:sp>
      <p:sp>
        <p:nvSpPr>
          <p:cNvPr id="14" name="TextBox 13"/>
          <p:cNvSpPr txBox="1"/>
          <p:nvPr/>
        </p:nvSpPr>
        <p:spPr>
          <a:xfrm>
            <a:off x="4716016" y="5034880"/>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Capabilities &amp;</a:t>
            </a:r>
          </a:p>
          <a:p>
            <a:pPr algn="ctr"/>
            <a:r>
              <a:rPr lang="en-US" sz="2000" dirty="0" smtClean="0">
                <a:solidFill>
                  <a:srgbClr val="FFFFFF"/>
                </a:solidFill>
                <a:latin typeface="Open Sans"/>
                <a:cs typeface="Open Sans"/>
              </a:rPr>
              <a:t>Access Control</a:t>
            </a:r>
          </a:p>
        </p:txBody>
      </p:sp>
      <p:sp>
        <p:nvSpPr>
          <p:cNvPr id="15" name="TextBox 14"/>
          <p:cNvSpPr txBox="1"/>
          <p:nvPr/>
        </p:nvSpPr>
        <p:spPr>
          <a:xfrm>
            <a:off x="4716016" y="3882752"/>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Policy</a:t>
            </a:r>
          </a:p>
          <a:p>
            <a:pPr algn="ctr"/>
            <a:r>
              <a:rPr lang="en-US" sz="2000" dirty="0" smtClean="0">
                <a:solidFill>
                  <a:srgbClr val="FFFFFF"/>
                </a:solidFill>
                <a:latin typeface="Open Sans"/>
                <a:cs typeface="Open Sans"/>
              </a:rPr>
              <a:t>Enforcement</a:t>
            </a:r>
          </a:p>
        </p:txBody>
      </p:sp>
      <p:sp>
        <p:nvSpPr>
          <p:cNvPr id="16" name="TextBox 15"/>
          <p:cNvSpPr txBox="1"/>
          <p:nvPr/>
        </p:nvSpPr>
        <p:spPr>
          <a:xfrm>
            <a:off x="4716016" y="2658616"/>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Patch/Update</a:t>
            </a:r>
          </a:p>
          <a:p>
            <a:pPr algn="ctr"/>
            <a:r>
              <a:rPr lang="en-US" sz="2000" dirty="0" smtClean="0">
                <a:solidFill>
                  <a:srgbClr val="FFFFFF"/>
                </a:solidFill>
                <a:latin typeface="Open Sans"/>
                <a:cs typeface="Open Sans"/>
              </a:rPr>
              <a:t>Management</a:t>
            </a:r>
          </a:p>
        </p:txBody>
      </p:sp>
      <p:sp>
        <p:nvSpPr>
          <p:cNvPr id="18" name="TextBox 17"/>
          <p:cNvSpPr txBox="1"/>
          <p:nvPr/>
        </p:nvSpPr>
        <p:spPr>
          <a:xfrm>
            <a:off x="2527665" y="3882752"/>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Configuration</a:t>
            </a:r>
          </a:p>
          <a:p>
            <a:pPr algn="ctr"/>
            <a:r>
              <a:rPr lang="en-US" sz="2000" dirty="0" smtClean="0">
                <a:solidFill>
                  <a:srgbClr val="FFFFFF"/>
                </a:solidFill>
                <a:latin typeface="Open Sans"/>
                <a:cs typeface="Open Sans"/>
              </a:rPr>
              <a:t>Management</a:t>
            </a:r>
          </a:p>
        </p:txBody>
      </p:sp>
      <p:sp>
        <p:nvSpPr>
          <p:cNvPr id="19" name="TextBox 18"/>
          <p:cNvSpPr txBox="1"/>
          <p:nvPr/>
        </p:nvSpPr>
        <p:spPr>
          <a:xfrm>
            <a:off x="6919242" y="2658616"/>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Auditing</a:t>
            </a:r>
          </a:p>
          <a:p>
            <a:pPr algn="ctr"/>
            <a:r>
              <a:rPr lang="en-US" sz="2000" dirty="0" smtClean="0">
                <a:solidFill>
                  <a:srgbClr val="FFFFFF"/>
                </a:solidFill>
                <a:latin typeface="Open Sans"/>
                <a:cs typeface="Open Sans"/>
              </a:rPr>
              <a:t>&amp; Logging</a:t>
            </a:r>
          </a:p>
        </p:txBody>
      </p:sp>
      <p:sp>
        <p:nvSpPr>
          <p:cNvPr id="20" name="TextBox 19"/>
          <p:cNvSpPr txBox="1"/>
          <p:nvPr/>
        </p:nvSpPr>
        <p:spPr>
          <a:xfrm>
            <a:off x="6919242" y="3882752"/>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Physical</a:t>
            </a:r>
          </a:p>
          <a:p>
            <a:pPr algn="ctr"/>
            <a:r>
              <a:rPr lang="en-US" sz="2000" dirty="0" smtClean="0">
                <a:solidFill>
                  <a:srgbClr val="FFFFFF"/>
                </a:solidFill>
                <a:latin typeface="Open Sans"/>
                <a:cs typeface="Open Sans"/>
              </a:rPr>
              <a:t>Security</a:t>
            </a:r>
          </a:p>
        </p:txBody>
      </p:sp>
      <p:sp>
        <p:nvSpPr>
          <p:cNvPr id="21" name="TextBox 20"/>
          <p:cNvSpPr txBox="1"/>
          <p:nvPr/>
        </p:nvSpPr>
        <p:spPr>
          <a:xfrm>
            <a:off x="251520" y="3882752"/>
            <a:ext cx="2011679" cy="914400"/>
          </a:xfrm>
          <a:prstGeom prst="rect">
            <a:avLst/>
          </a:prstGeom>
          <a:solidFill>
            <a:srgbClr val="0082C6"/>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Hardware</a:t>
            </a:r>
          </a:p>
          <a:p>
            <a:pPr algn="ctr"/>
            <a:r>
              <a:rPr lang="en-US" sz="2000" dirty="0" smtClean="0">
                <a:solidFill>
                  <a:srgbClr val="FFFFFF"/>
                </a:solidFill>
                <a:latin typeface="Open Sans"/>
                <a:cs typeface="Open Sans"/>
              </a:rPr>
              <a:t>Mechanisms</a:t>
            </a:r>
          </a:p>
        </p:txBody>
      </p:sp>
    </p:spTree>
    <p:extLst>
      <p:ext uri="{BB962C8B-B14F-4D97-AF65-F5344CB8AC3E}">
        <p14:creationId xmlns:p14="http://schemas.microsoft.com/office/powerpoint/2010/main" val="205547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1520" y="192024"/>
            <a:ext cx="8640960" cy="576362"/>
          </a:xfrm>
        </p:spPr>
        <p:txBody>
          <a:bodyPr>
            <a:normAutofit fontScale="90000"/>
          </a:bodyPr>
          <a:lstStyle/>
          <a:p>
            <a:r>
              <a:rPr lang="en-US" dirty="0" smtClean="0"/>
              <a:t>OSS Hygiene - Vulnerability detection and remediation</a:t>
            </a:r>
            <a:endParaRPr lang="en-US" dirty="0"/>
          </a:p>
        </p:txBody>
      </p:sp>
      <p:sp>
        <p:nvSpPr>
          <p:cNvPr id="5" name="TextBox 4"/>
          <p:cNvSpPr txBox="1"/>
          <p:nvPr/>
        </p:nvSpPr>
        <p:spPr>
          <a:xfrm>
            <a:off x="251520" y="1454804"/>
            <a:ext cx="2011679" cy="914400"/>
          </a:xfrm>
          <a:prstGeom prst="rect">
            <a:avLst/>
          </a:prstGeom>
          <a:solidFill>
            <a:schemeClr val="accent1">
              <a:lumMod val="75000"/>
            </a:schemeClr>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Intrusion </a:t>
            </a:r>
          </a:p>
          <a:p>
            <a:pPr algn="ctr"/>
            <a:r>
              <a:rPr lang="en-US" sz="2000" dirty="0" smtClean="0">
                <a:solidFill>
                  <a:schemeClr val="accent1">
                    <a:lumMod val="20000"/>
                    <a:lumOff val="80000"/>
                  </a:schemeClr>
                </a:solidFill>
                <a:latin typeface="Open Sans"/>
                <a:cs typeface="Open Sans"/>
              </a:rPr>
              <a:t>Detection</a:t>
            </a:r>
          </a:p>
        </p:txBody>
      </p:sp>
      <p:sp>
        <p:nvSpPr>
          <p:cNvPr id="6" name="TextBox 5"/>
          <p:cNvSpPr txBox="1"/>
          <p:nvPr/>
        </p:nvSpPr>
        <p:spPr>
          <a:xfrm>
            <a:off x="251520" y="2658616"/>
            <a:ext cx="2011679" cy="914400"/>
          </a:xfrm>
          <a:prstGeom prst="rect">
            <a:avLst/>
          </a:prstGeom>
          <a:solidFill>
            <a:srgbClr val="006295"/>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End-point</a:t>
            </a:r>
          </a:p>
          <a:p>
            <a:pPr algn="ctr"/>
            <a:r>
              <a:rPr lang="en-US" sz="2000" dirty="0" smtClean="0">
                <a:solidFill>
                  <a:schemeClr val="accent1">
                    <a:lumMod val="20000"/>
                    <a:lumOff val="80000"/>
                  </a:schemeClr>
                </a:solidFill>
                <a:latin typeface="Open Sans"/>
                <a:cs typeface="Open Sans"/>
              </a:rPr>
              <a:t>Security</a:t>
            </a:r>
          </a:p>
        </p:txBody>
      </p:sp>
      <p:sp>
        <p:nvSpPr>
          <p:cNvPr id="7" name="TextBox 6"/>
          <p:cNvSpPr txBox="1"/>
          <p:nvPr/>
        </p:nvSpPr>
        <p:spPr>
          <a:xfrm>
            <a:off x="4716016" y="1454804"/>
            <a:ext cx="2011679" cy="914400"/>
          </a:xfrm>
          <a:prstGeom prst="rect">
            <a:avLst/>
          </a:prstGeom>
          <a:solidFill>
            <a:schemeClr val="accent1">
              <a:lumMod val="75000"/>
            </a:schemeClr>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Network</a:t>
            </a:r>
          </a:p>
          <a:p>
            <a:pPr algn="ctr"/>
            <a:r>
              <a:rPr lang="en-US" sz="2000" dirty="0" smtClean="0">
                <a:solidFill>
                  <a:schemeClr val="accent1">
                    <a:lumMod val="20000"/>
                    <a:lumOff val="80000"/>
                  </a:schemeClr>
                </a:solidFill>
                <a:latin typeface="Open Sans"/>
                <a:cs typeface="Open Sans"/>
              </a:rPr>
              <a:t>Security</a:t>
            </a:r>
          </a:p>
        </p:txBody>
      </p:sp>
      <p:sp>
        <p:nvSpPr>
          <p:cNvPr id="8" name="TextBox 7"/>
          <p:cNvSpPr txBox="1"/>
          <p:nvPr/>
        </p:nvSpPr>
        <p:spPr>
          <a:xfrm>
            <a:off x="2527665" y="5034880"/>
            <a:ext cx="2011679" cy="914400"/>
          </a:xfrm>
          <a:prstGeom prst="rect">
            <a:avLst/>
          </a:prstGeom>
          <a:solidFill>
            <a:srgbClr val="006295"/>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Certifiable</a:t>
            </a:r>
          </a:p>
          <a:p>
            <a:pPr algn="ctr"/>
            <a:r>
              <a:rPr lang="en-US" sz="2000" dirty="0" smtClean="0">
                <a:solidFill>
                  <a:schemeClr val="accent1">
                    <a:lumMod val="20000"/>
                    <a:lumOff val="80000"/>
                  </a:schemeClr>
                </a:solidFill>
                <a:latin typeface="Open Sans"/>
                <a:cs typeface="Open Sans"/>
              </a:rPr>
              <a:t>Systems</a:t>
            </a:r>
          </a:p>
        </p:txBody>
      </p:sp>
      <p:sp>
        <p:nvSpPr>
          <p:cNvPr id="9" name="TextBox 8"/>
          <p:cNvSpPr txBox="1"/>
          <p:nvPr/>
        </p:nvSpPr>
        <p:spPr>
          <a:xfrm>
            <a:off x="251520" y="5034880"/>
            <a:ext cx="2011679" cy="914400"/>
          </a:xfrm>
          <a:prstGeom prst="rect">
            <a:avLst/>
          </a:prstGeom>
          <a:solidFill>
            <a:srgbClr val="006295"/>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Formal</a:t>
            </a:r>
          </a:p>
          <a:p>
            <a:pPr algn="ctr"/>
            <a:r>
              <a:rPr lang="en-US" sz="2000" dirty="0" smtClean="0">
                <a:solidFill>
                  <a:schemeClr val="accent1">
                    <a:lumMod val="20000"/>
                    <a:lumOff val="80000"/>
                  </a:schemeClr>
                </a:solidFill>
                <a:latin typeface="Open Sans"/>
                <a:cs typeface="Open Sans"/>
              </a:rPr>
              <a:t>Verification</a:t>
            </a:r>
          </a:p>
        </p:txBody>
      </p:sp>
      <p:sp>
        <p:nvSpPr>
          <p:cNvPr id="10" name="TextBox 9"/>
          <p:cNvSpPr txBox="1"/>
          <p:nvPr/>
        </p:nvSpPr>
        <p:spPr>
          <a:xfrm>
            <a:off x="2527665" y="1454804"/>
            <a:ext cx="2011679" cy="914400"/>
          </a:xfrm>
          <a:prstGeom prst="rect">
            <a:avLst/>
          </a:prstGeom>
          <a:solidFill>
            <a:schemeClr val="accent1">
              <a:lumMod val="75000"/>
            </a:schemeClr>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Authentication</a:t>
            </a:r>
          </a:p>
        </p:txBody>
      </p:sp>
      <p:sp>
        <p:nvSpPr>
          <p:cNvPr id="11" name="TextBox 10"/>
          <p:cNvSpPr txBox="1"/>
          <p:nvPr/>
        </p:nvSpPr>
        <p:spPr>
          <a:xfrm>
            <a:off x="2527665" y="2658616"/>
            <a:ext cx="2011679" cy="914400"/>
          </a:xfrm>
          <a:prstGeom prst="rect">
            <a:avLst/>
          </a:prstGeom>
          <a:solidFill>
            <a:schemeClr val="accent1">
              <a:lumMod val="60000"/>
              <a:lumOff val="40000"/>
            </a:schemeClr>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Code Quality</a:t>
            </a:r>
          </a:p>
          <a:p>
            <a:pPr algn="ctr"/>
            <a:r>
              <a:rPr lang="en-US" sz="2000" dirty="0" smtClean="0">
                <a:solidFill>
                  <a:srgbClr val="FFFFFF"/>
                </a:solidFill>
                <a:latin typeface="Open Sans"/>
                <a:cs typeface="Open Sans"/>
              </a:rPr>
              <a:t>Tools</a:t>
            </a:r>
          </a:p>
        </p:txBody>
      </p:sp>
      <p:sp>
        <p:nvSpPr>
          <p:cNvPr id="12" name="TextBox 11"/>
          <p:cNvSpPr txBox="1"/>
          <p:nvPr/>
        </p:nvSpPr>
        <p:spPr>
          <a:xfrm>
            <a:off x="6919242" y="5034880"/>
            <a:ext cx="2011679" cy="914400"/>
          </a:xfrm>
          <a:prstGeom prst="rect">
            <a:avLst/>
          </a:prstGeom>
          <a:solidFill>
            <a:srgbClr val="006295"/>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Binary</a:t>
            </a:r>
          </a:p>
          <a:p>
            <a:pPr algn="ctr"/>
            <a:r>
              <a:rPr lang="en-US" sz="2000" dirty="0" smtClean="0">
                <a:solidFill>
                  <a:schemeClr val="accent1">
                    <a:lumMod val="20000"/>
                    <a:lumOff val="80000"/>
                  </a:schemeClr>
                </a:solidFill>
                <a:latin typeface="Open Sans"/>
                <a:cs typeface="Open Sans"/>
              </a:rPr>
              <a:t>Obfuscation</a:t>
            </a:r>
          </a:p>
        </p:txBody>
      </p:sp>
      <p:sp>
        <p:nvSpPr>
          <p:cNvPr id="13" name="TextBox 12"/>
          <p:cNvSpPr txBox="1"/>
          <p:nvPr/>
        </p:nvSpPr>
        <p:spPr>
          <a:xfrm>
            <a:off x="6919242" y="1454804"/>
            <a:ext cx="2011679" cy="914400"/>
          </a:xfrm>
          <a:prstGeom prst="rect">
            <a:avLst/>
          </a:prstGeom>
          <a:solidFill>
            <a:schemeClr val="accent1">
              <a:lumMod val="75000"/>
            </a:schemeClr>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Encryption</a:t>
            </a:r>
          </a:p>
        </p:txBody>
      </p:sp>
      <p:sp>
        <p:nvSpPr>
          <p:cNvPr id="14" name="TextBox 13"/>
          <p:cNvSpPr txBox="1"/>
          <p:nvPr/>
        </p:nvSpPr>
        <p:spPr>
          <a:xfrm>
            <a:off x="4716016" y="5034880"/>
            <a:ext cx="2011679" cy="914400"/>
          </a:xfrm>
          <a:prstGeom prst="rect">
            <a:avLst/>
          </a:prstGeom>
          <a:solidFill>
            <a:srgbClr val="006295"/>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Capabilities &amp;</a:t>
            </a:r>
          </a:p>
          <a:p>
            <a:pPr algn="ctr"/>
            <a:r>
              <a:rPr lang="en-US" sz="2000" dirty="0" smtClean="0">
                <a:solidFill>
                  <a:schemeClr val="accent1">
                    <a:lumMod val="20000"/>
                    <a:lumOff val="80000"/>
                  </a:schemeClr>
                </a:solidFill>
                <a:latin typeface="Open Sans"/>
                <a:cs typeface="Open Sans"/>
              </a:rPr>
              <a:t>Access Control</a:t>
            </a:r>
          </a:p>
        </p:txBody>
      </p:sp>
      <p:sp>
        <p:nvSpPr>
          <p:cNvPr id="15" name="TextBox 14"/>
          <p:cNvSpPr txBox="1"/>
          <p:nvPr/>
        </p:nvSpPr>
        <p:spPr>
          <a:xfrm>
            <a:off x="4716016" y="3882752"/>
            <a:ext cx="2011679" cy="914400"/>
          </a:xfrm>
          <a:prstGeom prst="rect">
            <a:avLst/>
          </a:prstGeom>
          <a:solidFill>
            <a:schemeClr val="accent1">
              <a:lumMod val="60000"/>
              <a:lumOff val="40000"/>
            </a:schemeClr>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Policy</a:t>
            </a:r>
          </a:p>
          <a:p>
            <a:pPr algn="ctr"/>
            <a:r>
              <a:rPr lang="en-US" sz="2000" dirty="0" smtClean="0">
                <a:solidFill>
                  <a:srgbClr val="FFFFFF"/>
                </a:solidFill>
                <a:latin typeface="Open Sans"/>
                <a:cs typeface="Open Sans"/>
              </a:rPr>
              <a:t>Enforcement</a:t>
            </a:r>
          </a:p>
        </p:txBody>
      </p:sp>
      <p:sp>
        <p:nvSpPr>
          <p:cNvPr id="16" name="TextBox 15"/>
          <p:cNvSpPr txBox="1"/>
          <p:nvPr/>
        </p:nvSpPr>
        <p:spPr>
          <a:xfrm>
            <a:off x="4716016" y="2658616"/>
            <a:ext cx="2011679" cy="914400"/>
          </a:xfrm>
          <a:prstGeom prst="rect">
            <a:avLst/>
          </a:prstGeom>
          <a:solidFill>
            <a:schemeClr val="accent1">
              <a:lumMod val="60000"/>
              <a:lumOff val="40000"/>
            </a:schemeClr>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Patch/Update</a:t>
            </a:r>
          </a:p>
          <a:p>
            <a:pPr algn="ctr"/>
            <a:r>
              <a:rPr lang="en-US" sz="2000" dirty="0" smtClean="0">
                <a:solidFill>
                  <a:srgbClr val="FFFFFF"/>
                </a:solidFill>
                <a:latin typeface="Open Sans"/>
                <a:cs typeface="Open Sans"/>
              </a:rPr>
              <a:t>Management</a:t>
            </a:r>
          </a:p>
        </p:txBody>
      </p:sp>
      <p:sp>
        <p:nvSpPr>
          <p:cNvPr id="18" name="TextBox 17"/>
          <p:cNvSpPr txBox="1"/>
          <p:nvPr/>
        </p:nvSpPr>
        <p:spPr>
          <a:xfrm>
            <a:off x="2527665" y="3882752"/>
            <a:ext cx="2011679" cy="914400"/>
          </a:xfrm>
          <a:prstGeom prst="rect">
            <a:avLst/>
          </a:prstGeom>
          <a:solidFill>
            <a:schemeClr val="accent1">
              <a:lumMod val="60000"/>
              <a:lumOff val="40000"/>
            </a:schemeClr>
          </a:solidFill>
        </p:spPr>
        <p:txBody>
          <a:bodyPr wrap="none" lIns="36000" tIns="36000" rIns="36000" bIns="36000" rtlCol="0" anchor="ctr" anchorCtr="0">
            <a:noAutofit/>
          </a:bodyPr>
          <a:lstStyle/>
          <a:p>
            <a:pPr algn="ctr"/>
            <a:r>
              <a:rPr lang="en-US" sz="2000" dirty="0" smtClean="0">
                <a:solidFill>
                  <a:srgbClr val="FFFFFF"/>
                </a:solidFill>
                <a:latin typeface="Open Sans"/>
                <a:cs typeface="Open Sans"/>
              </a:rPr>
              <a:t>Configuration</a:t>
            </a:r>
          </a:p>
          <a:p>
            <a:pPr algn="ctr"/>
            <a:r>
              <a:rPr lang="en-US" sz="2000" dirty="0" smtClean="0">
                <a:solidFill>
                  <a:srgbClr val="FFFFFF"/>
                </a:solidFill>
                <a:latin typeface="Open Sans"/>
                <a:cs typeface="Open Sans"/>
              </a:rPr>
              <a:t>Management</a:t>
            </a:r>
          </a:p>
        </p:txBody>
      </p:sp>
      <p:sp>
        <p:nvSpPr>
          <p:cNvPr id="19" name="TextBox 18"/>
          <p:cNvSpPr txBox="1"/>
          <p:nvPr/>
        </p:nvSpPr>
        <p:spPr>
          <a:xfrm>
            <a:off x="6919242" y="2658616"/>
            <a:ext cx="2011679" cy="914400"/>
          </a:xfrm>
          <a:prstGeom prst="rect">
            <a:avLst/>
          </a:prstGeom>
          <a:solidFill>
            <a:srgbClr val="006295"/>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Auditing</a:t>
            </a:r>
          </a:p>
          <a:p>
            <a:pPr algn="ctr"/>
            <a:r>
              <a:rPr lang="en-US" sz="2000" dirty="0" smtClean="0">
                <a:solidFill>
                  <a:schemeClr val="accent1">
                    <a:lumMod val="20000"/>
                    <a:lumOff val="80000"/>
                  </a:schemeClr>
                </a:solidFill>
                <a:latin typeface="Open Sans"/>
                <a:cs typeface="Open Sans"/>
              </a:rPr>
              <a:t>&amp; Logging</a:t>
            </a:r>
          </a:p>
        </p:txBody>
      </p:sp>
      <p:sp>
        <p:nvSpPr>
          <p:cNvPr id="20" name="TextBox 19"/>
          <p:cNvSpPr txBox="1"/>
          <p:nvPr/>
        </p:nvSpPr>
        <p:spPr>
          <a:xfrm>
            <a:off x="6919242" y="3882752"/>
            <a:ext cx="2011679" cy="914400"/>
          </a:xfrm>
          <a:prstGeom prst="rect">
            <a:avLst/>
          </a:prstGeom>
          <a:solidFill>
            <a:srgbClr val="006295"/>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Physical</a:t>
            </a:r>
          </a:p>
          <a:p>
            <a:pPr algn="ctr"/>
            <a:r>
              <a:rPr lang="en-US" sz="2000" dirty="0" smtClean="0">
                <a:solidFill>
                  <a:schemeClr val="accent1">
                    <a:lumMod val="20000"/>
                    <a:lumOff val="80000"/>
                  </a:schemeClr>
                </a:solidFill>
                <a:latin typeface="Open Sans"/>
                <a:cs typeface="Open Sans"/>
              </a:rPr>
              <a:t>Security</a:t>
            </a:r>
          </a:p>
        </p:txBody>
      </p:sp>
      <p:sp>
        <p:nvSpPr>
          <p:cNvPr id="21" name="TextBox 20"/>
          <p:cNvSpPr txBox="1"/>
          <p:nvPr/>
        </p:nvSpPr>
        <p:spPr>
          <a:xfrm>
            <a:off x="251520" y="3882752"/>
            <a:ext cx="2011679" cy="914400"/>
          </a:xfrm>
          <a:prstGeom prst="rect">
            <a:avLst/>
          </a:prstGeom>
          <a:solidFill>
            <a:srgbClr val="006295"/>
          </a:solidFill>
        </p:spPr>
        <p:txBody>
          <a:bodyPr wrap="none" lIns="36000" tIns="36000" rIns="36000" bIns="36000" rtlCol="0" anchor="ctr" anchorCtr="0">
            <a:noAutofit/>
          </a:bodyPr>
          <a:lstStyle/>
          <a:p>
            <a:pPr algn="ctr"/>
            <a:r>
              <a:rPr lang="en-US" sz="2000" dirty="0" smtClean="0">
                <a:solidFill>
                  <a:schemeClr val="accent1">
                    <a:lumMod val="20000"/>
                    <a:lumOff val="80000"/>
                  </a:schemeClr>
                </a:solidFill>
                <a:latin typeface="Open Sans"/>
                <a:cs typeface="Open Sans"/>
              </a:rPr>
              <a:t>Hardware</a:t>
            </a:r>
          </a:p>
          <a:p>
            <a:pPr algn="ctr"/>
            <a:r>
              <a:rPr lang="en-US" sz="2000" dirty="0" smtClean="0">
                <a:solidFill>
                  <a:schemeClr val="accent1">
                    <a:lumMod val="20000"/>
                    <a:lumOff val="80000"/>
                  </a:schemeClr>
                </a:solidFill>
                <a:latin typeface="Open Sans"/>
                <a:cs typeface="Open Sans"/>
              </a:rPr>
              <a:t>Mechanisms</a:t>
            </a:r>
          </a:p>
        </p:txBody>
      </p:sp>
      <p:sp>
        <p:nvSpPr>
          <p:cNvPr id="2" name="Rectangle 1"/>
          <p:cNvSpPr/>
          <p:nvPr/>
        </p:nvSpPr>
        <p:spPr>
          <a:xfrm>
            <a:off x="2339752" y="2492896"/>
            <a:ext cx="4536504" cy="2448272"/>
          </a:xfrm>
          <a:prstGeom prst="rect">
            <a:avLst/>
          </a:prstGeom>
          <a:solidFill>
            <a:srgbClr val="FFFFFF">
              <a:alpha val="5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1" dirty="0">
              <a:solidFill>
                <a:schemeClr val="accent1">
                  <a:lumMod val="75000"/>
                </a:schemeClr>
              </a:solidFill>
              <a:latin typeface="Open Sans"/>
              <a:cs typeface="Open Sans"/>
            </a:endParaRPr>
          </a:p>
        </p:txBody>
      </p:sp>
      <p:pic>
        <p:nvPicPr>
          <p:cNvPr id="17" name="Picture 16" descr="caduceu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7904" y="2636912"/>
            <a:ext cx="1915778" cy="2304256"/>
          </a:xfrm>
          <a:prstGeom prst="rect">
            <a:avLst/>
          </a:prstGeom>
        </p:spPr>
      </p:pic>
      <p:sp>
        <p:nvSpPr>
          <p:cNvPr id="23" name="TextBox 22"/>
          <p:cNvSpPr txBox="1"/>
          <p:nvPr/>
        </p:nvSpPr>
        <p:spPr>
          <a:xfrm>
            <a:off x="2699792" y="3214603"/>
            <a:ext cx="1290334" cy="934477"/>
          </a:xfrm>
          <a:prstGeom prst="rect">
            <a:avLst/>
          </a:prstGeom>
          <a:noFill/>
        </p:spPr>
        <p:txBody>
          <a:bodyPr wrap="none" lIns="36000" tIns="36000" rIns="36000" bIns="36000" rtlCol="0">
            <a:spAutoFit/>
          </a:bodyPr>
          <a:lstStyle/>
          <a:p>
            <a:pPr algn="r"/>
            <a:r>
              <a:rPr lang="en-US" sz="2800" b="1" dirty="0" smtClean="0">
                <a:solidFill>
                  <a:srgbClr val="0D62BD"/>
                </a:solidFill>
                <a:latin typeface="Open Sans"/>
                <a:cs typeface="Open Sans"/>
              </a:rPr>
              <a:t>Open</a:t>
            </a:r>
          </a:p>
          <a:p>
            <a:pPr algn="r"/>
            <a:r>
              <a:rPr lang="en-US" sz="2800" b="1" dirty="0" smtClean="0">
                <a:solidFill>
                  <a:srgbClr val="0D62BD"/>
                </a:solidFill>
                <a:latin typeface="Open Sans"/>
                <a:cs typeface="Open Sans"/>
              </a:rPr>
              <a:t>Source</a:t>
            </a:r>
          </a:p>
        </p:txBody>
      </p:sp>
      <p:sp>
        <p:nvSpPr>
          <p:cNvPr id="24" name="TextBox 23"/>
          <p:cNvSpPr txBox="1"/>
          <p:nvPr/>
        </p:nvSpPr>
        <p:spPr>
          <a:xfrm>
            <a:off x="5135809" y="3429000"/>
            <a:ext cx="1524423" cy="503590"/>
          </a:xfrm>
          <a:prstGeom prst="rect">
            <a:avLst/>
          </a:prstGeom>
          <a:noFill/>
        </p:spPr>
        <p:txBody>
          <a:bodyPr wrap="none" lIns="36000" tIns="36000" rIns="36000" bIns="36000" rtlCol="0">
            <a:spAutoFit/>
          </a:bodyPr>
          <a:lstStyle/>
          <a:p>
            <a:pPr algn="r"/>
            <a:r>
              <a:rPr lang="en-US" sz="2800" b="1" dirty="0" smtClean="0">
                <a:solidFill>
                  <a:srgbClr val="0D62BD"/>
                </a:solidFill>
                <a:latin typeface="Open Sans"/>
                <a:cs typeface="Open Sans"/>
              </a:rPr>
              <a:t>Hygiene</a:t>
            </a:r>
          </a:p>
        </p:txBody>
      </p:sp>
    </p:spTree>
    <p:extLst>
      <p:ext uri="{BB962C8B-B14F-4D97-AF65-F5344CB8AC3E}">
        <p14:creationId xmlns:p14="http://schemas.microsoft.com/office/powerpoint/2010/main" val="249518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75656" y="1773282"/>
            <a:ext cx="6189036" cy="503590"/>
          </a:xfrm>
          <a:prstGeom prst="rect">
            <a:avLst/>
          </a:prstGeom>
          <a:noFill/>
        </p:spPr>
        <p:txBody>
          <a:bodyPr wrap="none" lIns="36000" tIns="36000" rIns="36000" bIns="36000" rtlCol="0">
            <a:spAutoFit/>
          </a:bodyPr>
          <a:lstStyle/>
          <a:p>
            <a:r>
              <a:rPr lang="en-US" sz="2800" dirty="0" smtClean="0">
                <a:latin typeface="Open Sans"/>
                <a:cs typeface="Open Sans"/>
              </a:rPr>
              <a:t>Software Composition Analysis (SCA)</a:t>
            </a:r>
          </a:p>
        </p:txBody>
      </p:sp>
      <p:sp>
        <p:nvSpPr>
          <p:cNvPr id="4" name="Title 3"/>
          <p:cNvSpPr>
            <a:spLocks noGrp="1"/>
          </p:cNvSpPr>
          <p:nvPr>
            <p:ph type="title"/>
          </p:nvPr>
        </p:nvSpPr>
        <p:spPr/>
        <p:txBody>
          <a:bodyPr/>
          <a:lstStyle/>
          <a:p>
            <a:r>
              <a:rPr lang="en-US" dirty="0" smtClean="0"/>
              <a:t>Yet another security technology term</a:t>
            </a:r>
            <a:endParaRPr lang="en-US" dirty="0"/>
          </a:p>
        </p:txBody>
      </p:sp>
      <p:pic>
        <p:nvPicPr>
          <p:cNvPr id="6" name="Picture 5"/>
          <p:cNvPicPr>
            <a:picLocks noChangeAspect="1"/>
          </p:cNvPicPr>
          <p:nvPr/>
        </p:nvPicPr>
        <p:blipFill>
          <a:blip r:embed="rId2"/>
          <a:stretch>
            <a:fillRect/>
          </a:stretch>
        </p:blipFill>
        <p:spPr>
          <a:xfrm>
            <a:off x="5292080" y="3584071"/>
            <a:ext cx="2747785" cy="1141073"/>
          </a:xfrm>
          <a:prstGeom prst="rect">
            <a:avLst/>
          </a:prstGeom>
        </p:spPr>
      </p:pic>
      <p:pic>
        <p:nvPicPr>
          <p:cNvPr id="7" name="Picture 6"/>
          <p:cNvPicPr>
            <a:picLocks noChangeAspect="1"/>
          </p:cNvPicPr>
          <p:nvPr/>
        </p:nvPicPr>
        <p:blipFill>
          <a:blip r:embed="rId3"/>
          <a:stretch>
            <a:fillRect/>
          </a:stretch>
        </p:blipFill>
        <p:spPr>
          <a:xfrm>
            <a:off x="971600" y="3614547"/>
            <a:ext cx="3295281" cy="1080120"/>
          </a:xfrm>
          <a:prstGeom prst="rect">
            <a:avLst/>
          </a:prstGeom>
        </p:spPr>
      </p:pic>
    </p:spTree>
    <p:extLst>
      <p:ext uri="{BB962C8B-B14F-4D97-AF65-F5344CB8AC3E}">
        <p14:creationId xmlns:p14="http://schemas.microsoft.com/office/powerpoint/2010/main" val="1271645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Versions and Vulnerabilities</a:t>
            </a:r>
            <a:endParaRPr lang="en-US" dirty="0"/>
          </a:p>
        </p:txBody>
      </p:sp>
      <p:grpSp>
        <p:nvGrpSpPr>
          <p:cNvPr id="29" name="Group 28"/>
          <p:cNvGrpSpPr/>
          <p:nvPr/>
        </p:nvGrpSpPr>
        <p:grpSpPr>
          <a:xfrm>
            <a:off x="539552" y="2204864"/>
            <a:ext cx="2448272" cy="3168352"/>
            <a:chOff x="5796136" y="2276872"/>
            <a:chExt cx="2448272" cy="3168352"/>
          </a:xfrm>
        </p:grpSpPr>
        <p:sp>
          <p:nvSpPr>
            <p:cNvPr id="12" name="Document 11"/>
            <p:cNvSpPr/>
            <p:nvPr/>
          </p:nvSpPr>
          <p:spPr>
            <a:xfrm>
              <a:off x="5796136" y="2276872"/>
              <a:ext cx="2448272" cy="3168352"/>
            </a:xfrm>
            <a:prstGeom prst="flowChartDocumen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5" name="Group 14"/>
            <p:cNvGrpSpPr/>
            <p:nvPr/>
          </p:nvGrpSpPr>
          <p:grpSpPr>
            <a:xfrm>
              <a:off x="5940152" y="2420888"/>
              <a:ext cx="2161505" cy="318924"/>
              <a:chOff x="6300192" y="2996952"/>
              <a:chExt cx="2161505" cy="318924"/>
            </a:xfrm>
          </p:grpSpPr>
          <p:sp>
            <p:nvSpPr>
              <p:cNvPr id="13" name="TextBox 12"/>
              <p:cNvSpPr txBox="1"/>
              <p:nvPr/>
            </p:nvSpPr>
            <p:spPr>
              <a:xfrm>
                <a:off x="6300192" y="2996952"/>
                <a:ext cx="1214041" cy="318924"/>
              </a:xfrm>
              <a:prstGeom prst="rect">
                <a:avLst/>
              </a:prstGeom>
              <a:solidFill>
                <a:srgbClr val="FFFFFF">
                  <a:alpha val="67000"/>
                </a:srgbClr>
              </a:solidFill>
            </p:spPr>
            <p:txBody>
              <a:bodyPr wrap="none" lIns="36000" tIns="36000" rIns="36000" bIns="36000" rtlCol="0">
                <a:spAutoFit/>
              </a:bodyPr>
              <a:lstStyle/>
              <a:p>
                <a:r>
                  <a:rPr lang="en-US" sz="1600" dirty="0" smtClean="0">
                    <a:solidFill>
                      <a:schemeClr val="bg1"/>
                    </a:solidFill>
                    <a:latin typeface="Open Sans"/>
                    <a:cs typeface="Open Sans"/>
                  </a:rPr>
                  <a:t>Component</a:t>
                </a:r>
              </a:p>
            </p:txBody>
          </p:sp>
          <p:sp>
            <p:nvSpPr>
              <p:cNvPr id="14" name="TextBox 13"/>
              <p:cNvSpPr txBox="1"/>
              <p:nvPr/>
            </p:nvSpPr>
            <p:spPr>
              <a:xfrm>
                <a:off x="7668344" y="2996952"/>
                <a:ext cx="793353" cy="318924"/>
              </a:xfrm>
              <a:prstGeom prst="rect">
                <a:avLst/>
              </a:prstGeom>
              <a:solidFill>
                <a:srgbClr val="FFFFFF">
                  <a:alpha val="67000"/>
                </a:srgbClr>
              </a:solidFill>
            </p:spPr>
            <p:txBody>
              <a:bodyPr wrap="none" lIns="36000" tIns="36000" rIns="36000" bIns="36000" rtlCol="0">
                <a:spAutoFit/>
              </a:bodyPr>
              <a:lstStyle/>
              <a:p>
                <a:r>
                  <a:rPr lang="en-US" sz="1600" dirty="0" smtClean="0">
                    <a:solidFill>
                      <a:schemeClr val="bg1"/>
                    </a:solidFill>
                    <a:latin typeface="Open Sans"/>
                    <a:cs typeface="Open Sans"/>
                  </a:rPr>
                  <a:t>Version</a:t>
                </a:r>
              </a:p>
            </p:txBody>
          </p:sp>
        </p:grpSp>
        <p:grpSp>
          <p:nvGrpSpPr>
            <p:cNvPr id="16" name="Group 15"/>
            <p:cNvGrpSpPr/>
            <p:nvPr/>
          </p:nvGrpSpPr>
          <p:grpSpPr>
            <a:xfrm>
              <a:off x="5940152" y="2861320"/>
              <a:ext cx="2161505" cy="318924"/>
              <a:chOff x="6300192" y="2996952"/>
              <a:chExt cx="2161505" cy="318924"/>
            </a:xfrm>
          </p:grpSpPr>
          <p:sp>
            <p:nvSpPr>
              <p:cNvPr id="17" name="TextBox 16"/>
              <p:cNvSpPr txBox="1"/>
              <p:nvPr/>
            </p:nvSpPr>
            <p:spPr>
              <a:xfrm>
                <a:off x="6300192" y="2996952"/>
                <a:ext cx="1214041" cy="318924"/>
              </a:xfrm>
              <a:prstGeom prst="rect">
                <a:avLst/>
              </a:prstGeom>
              <a:solidFill>
                <a:srgbClr val="FFFFFF">
                  <a:alpha val="67000"/>
                </a:srgbClr>
              </a:solidFill>
            </p:spPr>
            <p:txBody>
              <a:bodyPr wrap="none" lIns="36000" tIns="36000" rIns="36000" bIns="36000" rtlCol="0">
                <a:spAutoFit/>
              </a:bodyPr>
              <a:lstStyle/>
              <a:p>
                <a:r>
                  <a:rPr lang="en-US" sz="1600" dirty="0" smtClean="0">
                    <a:solidFill>
                      <a:schemeClr val="bg1"/>
                    </a:solidFill>
                    <a:latin typeface="Open Sans"/>
                    <a:cs typeface="Open Sans"/>
                  </a:rPr>
                  <a:t>Component</a:t>
                </a:r>
              </a:p>
            </p:txBody>
          </p:sp>
          <p:sp>
            <p:nvSpPr>
              <p:cNvPr id="18" name="TextBox 17"/>
              <p:cNvSpPr txBox="1"/>
              <p:nvPr/>
            </p:nvSpPr>
            <p:spPr>
              <a:xfrm>
                <a:off x="7668344" y="2996952"/>
                <a:ext cx="793353" cy="318924"/>
              </a:xfrm>
              <a:prstGeom prst="rect">
                <a:avLst/>
              </a:prstGeom>
              <a:solidFill>
                <a:srgbClr val="FFFFFF">
                  <a:alpha val="67000"/>
                </a:srgbClr>
              </a:solidFill>
            </p:spPr>
            <p:txBody>
              <a:bodyPr wrap="none" lIns="36000" tIns="36000" rIns="36000" bIns="36000" rtlCol="0">
                <a:spAutoFit/>
              </a:bodyPr>
              <a:lstStyle/>
              <a:p>
                <a:r>
                  <a:rPr lang="en-US" sz="1600" dirty="0" smtClean="0">
                    <a:solidFill>
                      <a:schemeClr val="bg1"/>
                    </a:solidFill>
                    <a:latin typeface="Open Sans"/>
                    <a:cs typeface="Open Sans"/>
                  </a:rPr>
                  <a:t>Version</a:t>
                </a:r>
              </a:p>
            </p:txBody>
          </p:sp>
        </p:grpSp>
        <p:grpSp>
          <p:nvGrpSpPr>
            <p:cNvPr id="19" name="Group 18"/>
            <p:cNvGrpSpPr/>
            <p:nvPr/>
          </p:nvGrpSpPr>
          <p:grpSpPr>
            <a:xfrm>
              <a:off x="5940152" y="3301752"/>
              <a:ext cx="2161505" cy="318924"/>
              <a:chOff x="6300192" y="2996952"/>
              <a:chExt cx="2161505" cy="318924"/>
            </a:xfrm>
          </p:grpSpPr>
          <p:sp>
            <p:nvSpPr>
              <p:cNvPr id="20" name="TextBox 19"/>
              <p:cNvSpPr txBox="1"/>
              <p:nvPr/>
            </p:nvSpPr>
            <p:spPr>
              <a:xfrm>
                <a:off x="6300192" y="2996952"/>
                <a:ext cx="1214041" cy="318924"/>
              </a:xfrm>
              <a:prstGeom prst="rect">
                <a:avLst/>
              </a:prstGeom>
              <a:solidFill>
                <a:srgbClr val="FFFFFF">
                  <a:alpha val="67000"/>
                </a:srgbClr>
              </a:solidFill>
            </p:spPr>
            <p:txBody>
              <a:bodyPr wrap="none" lIns="36000" tIns="36000" rIns="36000" bIns="36000" rtlCol="0">
                <a:spAutoFit/>
              </a:bodyPr>
              <a:lstStyle/>
              <a:p>
                <a:r>
                  <a:rPr lang="en-US" sz="1600" dirty="0" smtClean="0">
                    <a:solidFill>
                      <a:schemeClr val="bg1"/>
                    </a:solidFill>
                    <a:latin typeface="Open Sans"/>
                    <a:cs typeface="Open Sans"/>
                  </a:rPr>
                  <a:t>Component</a:t>
                </a:r>
              </a:p>
            </p:txBody>
          </p:sp>
          <p:sp>
            <p:nvSpPr>
              <p:cNvPr id="21" name="TextBox 20"/>
              <p:cNvSpPr txBox="1"/>
              <p:nvPr/>
            </p:nvSpPr>
            <p:spPr>
              <a:xfrm>
                <a:off x="7668344" y="2996952"/>
                <a:ext cx="793353" cy="318924"/>
              </a:xfrm>
              <a:prstGeom prst="rect">
                <a:avLst/>
              </a:prstGeom>
              <a:solidFill>
                <a:srgbClr val="FFFFFF">
                  <a:alpha val="67000"/>
                </a:srgbClr>
              </a:solidFill>
            </p:spPr>
            <p:txBody>
              <a:bodyPr wrap="none" lIns="36000" tIns="36000" rIns="36000" bIns="36000" rtlCol="0">
                <a:spAutoFit/>
              </a:bodyPr>
              <a:lstStyle/>
              <a:p>
                <a:r>
                  <a:rPr lang="en-US" sz="1600" dirty="0" smtClean="0">
                    <a:solidFill>
                      <a:schemeClr val="bg1"/>
                    </a:solidFill>
                    <a:latin typeface="Open Sans"/>
                    <a:cs typeface="Open Sans"/>
                  </a:rPr>
                  <a:t>Version</a:t>
                </a:r>
              </a:p>
            </p:txBody>
          </p:sp>
        </p:grpSp>
        <p:grpSp>
          <p:nvGrpSpPr>
            <p:cNvPr id="22" name="Group 21"/>
            <p:cNvGrpSpPr/>
            <p:nvPr/>
          </p:nvGrpSpPr>
          <p:grpSpPr>
            <a:xfrm>
              <a:off x="5940152" y="3742184"/>
              <a:ext cx="2161505" cy="318924"/>
              <a:chOff x="6300192" y="2996952"/>
              <a:chExt cx="2161505" cy="318924"/>
            </a:xfrm>
          </p:grpSpPr>
          <p:sp>
            <p:nvSpPr>
              <p:cNvPr id="23" name="TextBox 22"/>
              <p:cNvSpPr txBox="1"/>
              <p:nvPr/>
            </p:nvSpPr>
            <p:spPr>
              <a:xfrm>
                <a:off x="6300192" y="2996952"/>
                <a:ext cx="1214041" cy="318924"/>
              </a:xfrm>
              <a:prstGeom prst="rect">
                <a:avLst/>
              </a:prstGeom>
              <a:solidFill>
                <a:srgbClr val="FFFFFF"/>
              </a:solidFill>
            </p:spPr>
            <p:txBody>
              <a:bodyPr wrap="none" lIns="36000" tIns="36000" rIns="36000" bIns="36000" rtlCol="0">
                <a:spAutoFit/>
              </a:bodyPr>
              <a:lstStyle/>
              <a:p>
                <a:r>
                  <a:rPr lang="en-US" sz="1600" dirty="0" smtClean="0">
                    <a:latin typeface="Open Sans"/>
                    <a:cs typeface="Open Sans"/>
                  </a:rPr>
                  <a:t>Component</a:t>
                </a:r>
              </a:p>
            </p:txBody>
          </p:sp>
          <p:sp>
            <p:nvSpPr>
              <p:cNvPr id="24" name="TextBox 23"/>
              <p:cNvSpPr txBox="1"/>
              <p:nvPr/>
            </p:nvSpPr>
            <p:spPr>
              <a:xfrm>
                <a:off x="7668344" y="2996952"/>
                <a:ext cx="793353" cy="318924"/>
              </a:xfrm>
              <a:prstGeom prst="rect">
                <a:avLst/>
              </a:prstGeom>
              <a:solidFill>
                <a:srgbClr val="FFFFFF"/>
              </a:solidFill>
            </p:spPr>
            <p:txBody>
              <a:bodyPr wrap="none" lIns="36000" tIns="36000" rIns="36000" bIns="36000" rtlCol="0">
                <a:spAutoFit/>
              </a:bodyPr>
              <a:lstStyle/>
              <a:p>
                <a:r>
                  <a:rPr lang="en-US" sz="1600" dirty="0" smtClean="0">
                    <a:latin typeface="Open Sans"/>
                    <a:cs typeface="Open Sans"/>
                  </a:rPr>
                  <a:t>Version</a:t>
                </a:r>
              </a:p>
            </p:txBody>
          </p:sp>
        </p:grpSp>
        <p:grpSp>
          <p:nvGrpSpPr>
            <p:cNvPr id="25" name="Group 24"/>
            <p:cNvGrpSpPr/>
            <p:nvPr/>
          </p:nvGrpSpPr>
          <p:grpSpPr>
            <a:xfrm>
              <a:off x="5940152" y="4182616"/>
              <a:ext cx="2161505" cy="318924"/>
              <a:chOff x="6300192" y="2996952"/>
              <a:chExt cx="2161505" cy="318924"/>
            </a:xfrm>
          </p:grpSpPr>
          <p:sp>
            <p:nvSpPr>
              <p:cNvPr id="26" name="TextBox 25"/>
              <p:cNvSpPr txBox="1"/>
              <p:nvPr/>
            </p:nvSpPr>
            <p:spPr>
              <a:xfrm>
                <a:off x="6300192" y="2996952"/>
                <a:ext cx="1214041" cy="318924"/>
              </a:xfrm>
              <a:prstGeom prst="rect">
                <a:avLst/>
              </a:prstGeom>
              <a:solidFill>
                <a:srgbClr val="FFFFFF">
                  <a:alpha val="67000"/>
                </a:srgbClr>
              </a:solidFill>
            </p:spPr>
            <p:txBody>
              <a:bodyPr wrap="none" lIns="36000" tIns="36000" rIns="36000" bIns="36000" rtlCol="0">
                <a:spAutoFit/>
              </a:bodyPr>
              <a:lstStyle/>
              <a:p>
                <a:r>
                  <a:rPr lang="en-US" sz="1600" dirty="0" smtClean="0">
                    <a:solidFill>
                      <a:schemeClr val="bg1"/>
                    </a:solidFill>
                    <a:latin typeface="Open Sans"/>
                    <a:cs typeface="Open Sans"/>
                  </a:rPr>
                  <a:t>Component</a:t>
                </a:r>
              </a:p>
            </p:txBody>
          </p:sp>
          <p:sp>
            <p:nvSpPr>
              <p:cNvPr id="27" name="TextBox 26"/>
              <p:cNvSpPr txBox="1"/>
              <p:nvPr/>
            </p:nvSpPr>
            <p:spPr>
              <a:xfrm>
                <a:off x="7668344" y="2996952"/>
                <a:ext cx="793353" cy="318924"/>
              </a:xfrm>
              <a:prstGeom prst="rect">
                <a:avLst/>
              </a:prstGeom>
              <a:solidFill>
                <a:srgbClr val="FFFFFF">
                  <a:alpha val="67000"/>
                </a:srgbClr>
              </a:solidFill>
            </p:spPr>
            <p:txBody>
              <a:bodyPr wrap="none" lIns="36000" tIns="36000" rIns="36000" bIns="36000" rtlCol="0">
                <a:spAutoFit/>
              </a:bodyPr>
              <a:lstStyle/>
              <a:p>
                <a:r>
                  <a:rPr lang="en-US" sz="1600" dirty="0" smtClean="0">
                    <a:solidFill>
                      <a:schemeClr val="bg1"/>
                    </a:solidFill>
                    <a:latin typeface="Open Sans"/>
                    <a:cs typeface="Open Sans"/>
                  </a:rPr>
                  <a:t>Version</a:t>
                </a:r>
              </a:p>
            </p:txBody>
          </p:sp>
        </p:grpSp>
        <p:sp>
          <p:nvSpPr>
            <p:cNvPr id="28" name="TextBox 27"/>
            <p:cNvSpPr txBox="1"/>
            <p:nvPr/>
          </p:nvSpPr>
          <p:spPr>
            <a:xfrm>
              <a:off x="6012160" y="4797152"/>
              <a:ext cx="814643" cy="442035"/>
            </a:xfrm>
            <a:prstGeom prst="rect">
              <a:avLst/>
            </a:prstGeom>
            <a:noFill/>
          </p:spPr>
          <p:txBody>
            <a:bodyPr wrap="none" lIns="36000" tIns="36000" rIns="36000" bIns="36000" rtlCol="0">
              <a:spAutoFit/>
            </a:bodyPr>
            <a:lstStyle/>
            <a:p>
              <a:r>
                <a:rPr lang="en-US" sz="2400" b="1" dirty="0" smtClean="0">
                  <a:solidFill>
                    <a:schemeClr val="bg1"/>
                  </a:solidFill>
                  <a:latin typeface="Open Sans"/>
                  <a:cs typeface="Open Sans"/>
                </a:rPr>
                <a:t>BOM</a:t>
              </a:r>
            </a:p>
          </p:txBody>
        </p:sp>
      </p:grpSp>
      <p:grpSp>
        <p:nvGrpSpPr>
          <p:cNvPr id="45" name="Group 44"/>
          <p:cNvGrpSpPr/>
          <p:nvPr/>
        </p:nvGrpSpPr>
        <p:grpSpPr>
          <a:xfrm>
            <a:off x="4788644" y="1340768"/>
            <a:ext cx="3815804" cy="4824536"/>
            <a:chOff x="4788644" y="1340768"/>
            <a:chExt cx="3815804" cy="4824536"/>
          </a:xfrm>
        </p:grpSpPr>
        <p:pic>
          <p:nvPicPr>
            <p:cNvPr id="4" name="Picture 3"/>
            <p:cNvPicPr>
              <a:picLocks noChangeAspect="1"/>
            </p:cNvPicPr>
            <p:nvPr/>
          </p:nvPicPr>
          <p:blipFill>
            <a:blip r:embed="rId2"/>
            <a:stretch>
              <a:fillRect/>
            </a:stretch>
          </p:blipFill>
          <p:spPr>
            <a:xfrm>
              <a:off x="6732240" y="3356992"/>
              <a:ext cx="1869705" cy="888876"/>
            </a:xfrm>
            <a:prstGeom prst="rect">
              <a:avLst/>
            </a:prstGeom>
          </p:spPr>
        </p:pic>
        <p:grpSp>
          <p:nvGrpSpPr>
            <p:cNvPr id="11" name="Group 10"/>
            <p:cNvGrpSpPr/>
            <p:nvPr/>
          </p:nvGrpSpPr>
          <p:grpSpPr>
            <a:xfrm>
              <a:off x="6732240" y="1340768"/>
              <a:ext cx="1872208" cy="936104"/>
              <a:chOff x="3275856" y="1772816"/>
              <a:chExt cx="1872208" cy="936104"/>
            </a:xfrm>
          </p:grpSpPr>
          <p:pic>
            <p:nvPicPr>
              <p:cNvPr id="3" name="Picture 2" descr="osvdb.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9872" y="1942542"/>
                <a:ext cx="1598438" cy="596652"/>
              </a:xfrm>
              <a:prstGeom prst="rect">
                <a:avLst/>
              </a:prstGeom>
            </p:spPr>
          </p:pic>
          <p:sp>
            <p:nvSpPr>
              <p:cNvPr id="10" name="Rectangle 9"/>
              <p:cNvSpPr/>
              <p:nvPr/>
            </p:nvSpPr>
            <p:spPr>
              <a:xfrm>
                <a:off x="3275856" y="1772816"/>
                <a:ext cx="1872208" cy="936104"/>
              </a:xfrm>
              <a:prstGeom prst="rect">
                <a:avLst/>
              </a:prstGeom>
              <a:no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2" name="Curved Connector 31"/>
            <p:cNvCxnSpPr>
              <a:stCxn id="10" idx="1"/>
              <a:endCxn id="30" idx="0"/>
            </p:cNvCxnSpPr>
            <p:nvPr/>
          </p:nvCxnSpPr>
          <p:spPr>
            <a:xfrm rot="10800000" flipV="1">
              <a:off x="4788644" y="1808820"/>
              <a:ext cx="1943596" cy="1045356"/>
            </a:xfrm>
            <a:prstGeom prst="curvedConnector2">
              <a:avLst/>
            </a:prstGeom>
            <a:ln w="57150" cmpd="sng">
              <a:solidFill>
                <a:srgbClr val="00AEF0"/>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3" name="Curved Connector 32"/>
            <p:cNvCxnSpPr>
              <a:stCxn id="4" idx="1"/>
              <a:endCxn id="30" idx="3"/>
            </p:cNvCxnSpPr>
            <p:nvPr/>
          </p:nvCxnSpPr>
          <p:spPr>
            <a:xfrm rot="10800000">
              <a:off x="5724128" y="3789660"/>
              <a:ext cx="1008112" cy="11770"/>
            </a:xfrm>
            <a:prstGeom prst="curvedConnector3">
              <a:avLst>
                <a:gd name="adj1" fmla="val 50000"/>
              </a:avLst>
            </a:prstGeom>
            <a:ln w="57150" cmpd="sng">
              <a:solidFill>
                <a:srgbClr val="00AEF0"/>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41" name="Group 40"/>
            <p:cNvGrpSpPr/>
            <p:nvPr/>
          </p:nvGrpSpPr>
          <p:grpSpPr>
            <a:xfrm>
              <a:off x="6732240" y="5229200"/>
              <a:ext cx="1872208" cy="936104"/>
              <a:chOff x="683568" y="4365104"/>
              <a:chExt cx="1872208" cy="936104"/>
            </a:xfrm>
          </p:grpSpPr>
          <p:sp>
            <p:nvSpPr>
              <p:cNvPr id="9" name="Rectangle 8"/>
              <p:cNvSpPr/>
              <p:nvPr/>
            </p:nvSpPr>
            <p:spPr>
              <a:xfrm>
                <a:off x="683568" y="4365104"/>
                <a:ext cx="1872208" cy="936104"/>
              </a:xfrm>
              <a:prstGeom prst="rect">
                <a:avLst/>
              </a:prstGeom>
              <a:solidFill>
                <a:srgbClr val="FFFFFF"/>
              </a:solidFill>
              <a:ln>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8" name="Group 7"/>
              <p:cNvGrpSpPr/>
              <p:nvPr/>
            </p:nvGrpSpPr>
            <p:grpSpPr>
              <a:xfrm>
                <a:off x="707656" y="4437112"/>
                <a:ext cx="1835057" cy="792088"/>
                <a:chOff x="971600" y="4251434"/>
                <a:chExt cx="3278288" cy="1311245"/>
              </a:xfrm>
            </p:grpSpPr>
            <p:pic>
              <p:nvPicPr>
                <p:cNvPr id="6" name="Picture 5"/>
                <p:cNvPicPr>
                  <a:picLocks noChangeAspect="1"/>
                </p:cNvPicPr>
                <p:nvPr/>
              </p:nvPicPr>
              <p:blipFill rotWithShape="1">
                <a:blip r:embed="rId4"/>
                <a:srcRect l="10689" t="70195" r="30930" b="8363"/>
                <a:stretch/>
              </p:blipFill>
              <p:spPr>
                <a:xfrm>
                  <a:off x="2129366" y="4667423"/>
                  <a:ext cx="2120522" cy="479266"/>
                </a:xfrm>
                <a:prstGeom prst="rect">
                  <a:avLst/>
                </a:prstGeom>
              </p:spPr>
            </p:pic>
            <p:pic>
              <p:nvPicPr>
                <p:cNvPr id="7" name="Picture 6"/>
                <p:cNvPicPr>
                  <a:picLocks noChangeAspect="1"/>
                </p:cNvPicPr>
                <p:nvPr/>
              </p:nvPicPr>
              <p:blipFill rotWithShape="1">
                <a:blip r:embed="rId4"/>
                <a:srcRect l="34541" t="-122" r="27857" b="30436"/>
                <a:stretch/>
              </p:blipFill>
              <p:spPr>
                <a:xfrm>
                  <a:off x="971600" y="4251434"/>
                  <a:ext cx="1149736" cy="1311245"/>
                </a:xfrm>
                <a:prstGeom prst="rect">
                  <a:avLst/>
                </a:prstGeom>
              </p:spPr>
            </p:pic>
          </p:grpSp>
        </p:grpSp>
        <p:cxnSp>
          <p:nvCxnSpPr>
            <p:cNvPr id="36" name="Curved Connector 35"/>
            <p:cNvCxnSpPr>
              <a:stCxn id="9" idx="1"/>
              <a:endCxn id="30" idx="2"/>
            </p:cNvCxnSpPr>
            <p:nvPr/>
          </p:nvCxnSpPr>
          <p:spPr>
            <a:xfrm rot="10800000">
              <a:off x="4788644" y="4725144"/>
              <a:ext cx="1943596" cy="972108"/>
            </a:xfrm>
            <a:prstGeom prst="curvedConnector2">
              <a:avLst/>
            </a:prstGeom>
            <a:ln w="57150" cmpd="sng">
              <a:solidFill>
                <a:srgbClr val="00AEF0"/>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grpSp>
        <p:nvGrpSpPr>
          <p:cNvPr id="44" name="Group 43"/>
          <p:cNvGrpSpPr/>
          <p:nvPr/>
        </p:nvGrpSpPr>
        <p:grpSpPr>
          <a:xfrm>
            <a:off x="2987824" y="2780928"/>
            <a:ext cx="2736304" cy="2416969"/>
            <a:chOff x="2987824" y="2780928"/>
            <a:chExt cx="2736304" cy="2416969"/>
          </a:xfrm>
        </p:grpSpPr>
        <p:cxnSp>
          <p:nvCxnSpPr>
            <p:cNvPr id="50" name="Curved Connector 49"/>
            <p:cNvCxnSpPr>
              <a:stCxn id="30" idx="1"/>
              <a:endCxn id="12" idx="3"/>
            </p:cNvCxnSpPr>
            <p:nvPr/>
          </p:nvCxnSpPr>
          <p:spPr>
            <a:xfrm rot="10800000">
              <a:off x="2987824" y="3789040"/>
              <a:ext cx="865336" cy="620"/>
            </a:xfrm>
            <a:prstGeom prst="curvedConnector3">
              <a:avLst>
                <a:gd name="adj1" fmla="val 50000"/>
              </a:avLst>
            </a:prstGeom>
            <a:ln w="57150" cmpd="sng">
              <a:solidFill>
                <a:srgbClr val="00AEF0"/>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43" name="Group 42"/>
            <p:cNvGrpSpPr/>
            <p:nvPr/>
          </p:nvGrpSpPr>
          <p:grpSpPr>
            <a:xfrm>
              <a:off x="3853160" y="2780928"/>
              <a:ext cx="1870968" cy="2416969"/>
              <a:chOff x="3997176" y="2780928"/>
              <a:chExt cx="1870968" cy="2416969"/>
            </a:xfrm>
          </p:grpSpPr>
          <p:pic>
            <p:nvPicPr>
              <p:cNvPr id="30" name="Picture 29"/>
              <p:cNvPicPr>
                <a:picLocks noChangeAspect="1"/>
              </p:cNvPicPr>
              <p:nvPr/>
            </p:nvPicPr>
            <p:blipFill>
              <a:blip r:embed="rId5">
                <a:duotone>
                  <a:schemeClr val="accent1">
                    <a:shade val="45000"/>
                    <a:satMod val="135000"/>
                  </a:schemeClr>
                  <a:prstClr val="white"/>
                </a:duotone>
              </a:blip>
              <a:stretch>
                <a:fillRect/>
              </a:stretch>
            </p:blipFill>
            <p:spPr>
              <a:xfrm>
                <a:off x="3997176" y="2854176"/>
                <a:ext cx="1870968" cy="1870968"/>
              </a:xfrm>
              <a:prstGeom prst="rect">
                <a:avLst/>
              </a:prstGeom>
            </p:spPr>
          </p:pic>
          <p:sp>
            <p:nvSpPr>
              <p:cNvPr id="37" name="Rectangle 36"/>
              <p:cNvSpPr/>
              <p:nvPr/>
            </p:nvSpPr>
            <p:spPr>
              <a:xfrm>
                <a:off x="4176576" y="3109665"/>
                <a:ext cx="1512168" cy="2088232"/>
              </a:xfrm>
              <a:prstGeom prst="rect">
                <a:avLst/>
              </a:prstGeom>
              <a:noFill/>
            </p:spPr>
            <p:txBody>
              <a:bodyPr wrap="none" lIns="91440" tIns="45720" rIns="91440" bIns="45720">
                <a:prstTxWarp prst="textArchUp">
                  <a:avLst/>
                </a:prstTxWarp>
                <a:spAutoFit/>
              </a:bodyPr>
              <a:lstStyle/>
              <a:p>
                <a:pPr algn="ctr"/>
                <a:r>
                  <a:rPr lang="en-US" sz="2000" b="1" dirty="0" smtClean="0">
                    <a:ln w="12700">
                      <a:noFill/>
                      <a:prstDash val="solid"/>
                    </a:ln>
                    <a:solidFill>
                      <a:schemeClr val="bg1"/>
                    </a:solidFill>
                    <a:effectLst/>
                  </a:rPr>
                  <a:t>Vulnerabilities</a:t>
                </a:r>
                <a:endParaRPr lang="en-US" sz="2000" b="1" cap="none" spc="0" dirty="0">
                  <a:ln w="12700">
                    <a:noFill/>
                    <a:prstDash val="solid"/>
                  </a:ln>
                  <a:solidFill>
                    <a:schemeClr val="bg1"/>
                  </a:solidFill>
                  <a:effectLst/>
                </a:endParaRPr>
              </a:p>
            </p:txBody>
          </p:sp>
          <p:sp>
            <p:nvSpPr>
              <p:cNvPr id="40" name="Rectangle 39"/>
              <p:cNvSpPr/>
              <p:nvPr/>
            </p:nvSpPr>
            <p:spPr>
              <a:xfrm>
                <a:off x="4176576" y="2780928"/>
                <a:ext cx="1512168" cy="1728192"/>
              </a:xfrm>
              <a:prstGeom prst="rect">
                <a:avLst/>
              </a:prstGeom>
              <a:noFill/>
            </p:spPr>
            <p:txBody>
              <a:bodyPr wrap="none" lIns="91440" tIns="45720" rIns="91440" bIns="45720">
                <a:prstTxWarp prst="textArchDown">
                  <a:avLst/>
                </a:prstTxWarp>
                <a:spAutoFit/>
              </a:bodyPr>
              <a:lstStyle/>
              <a:p>
                <a:pPr algn="ctr"/>
                <a:r>
                  <a:rPr lang="en-US" sz="2000" b="1" dirty="0" smtClean="0">
                    <a:ln w="12700">
                      <a:noFill/>
                      <a:prstDash val="solid"/>
                    </a:ln>
                    <a:solidFill>
                      <a:schemeClr val="bg1"/>
                    </a:solidFill>
                    <a:effectLst/>
                  </a:rPr>
                  <a:t> &amp; Exploits</a:t>
                </a:r>
                <a:endParaRPr lang="en-US" sz="2000" b="1" cap="none" spc="0" dirty="0">
                  <a:ln w="12700">
                    <a:noFill/>
                    <a:prstDash val="solid"/>
                  </a:ln>
                  <a:solidFill>
                    <a:schemeClr val="bg1"/>
                  </a:solidFill>
                  <a:effectLst/>
                </a:endParaRPr>
              </a:p>
            </p:txBody>
          </p:sp>
        </p:grpSp>
      </p:grpSp>
      <p:sp>
        <p:nvSpPr>
          <p:cNvPr id="5" name="Explosion 2 4"/>
          <p:cNvSpPr/>
          <p:nvPr/>
        </p:nvSpPr>
        <p:spPr>
          <a:xfrm>
            <a:off x="827584" y="1916832"/>
            <a:ext cx="2088232" cy="1728192"/>
          </a:xfrm>
          <a:prstGeom prst="irregularSeal2">
            <a:avLst/>
          </a:prstGeom>
          <a:solidFill>
            <a:srgbClr val="129DEB"/>
          </a:solidFill>
          <a:ln>
            <a:noFill/>
          </a:ln>
          <a:effectLst>
            <a:glow rad="101600">
              <a:schemeClr val="bg1">
                <a:alpha val="75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Newer =</a:t>
            </a:r>
            <a:br>
              <a:rPr lang="en-US" dirty="0" smtClean="0"/>
            </a:br>
            <a:r>
              <a:rPr lang="en-US" dirty="0" smtClean="0"/>
              <a:t>More Secure</a:t>
            </a:r>
            <a:endParaRPr lang="en-US" dirty="0"/>
          </a:p>
        </p:txBody>
      </p:sp>
    </p:spTree>
    <p:extLst>
      <p:ext uri="{BB962C8B-B14F-4D97-AF65-F5344CB8AC3E}">
        <p14:creationId xmlns:p14="http://schemas.microsoft.com/office/powerpoint/2010/main" val="2582224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fill="hold"/>
                                        <p:tgtEl>
                                          <p:spTgt spid="44"/>
                                        </p:tgtEl>
                                        <p:attrNameLst>
                                          <p:attrName>ppt_x</p:attrName>
                                        </p:attrNameLst>
                                      </p:cBhvr>
                                      <p:tavLst>
                                        <p:tav tm="0">
                                          <p:val>
                                            <p:strVal val="1+#ppt_w/2"/>
                                          </p:val>
                                        </p:tav>
                                        <p:tav tm="100000">
                                          <p:val>
                                            <p:strVal val="#ppt_x"/>
                                          </p:val>
                                        </p:tav>
                                      </p:tavLst>
                                    </p:anim>
                                    <p:anim calcmode="lin" valueType="num">
                                      <p:cBhvr additive="base">
                                        <p:cTn id="13"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 calcmode="lin" valueType="num">
                                      <p:cBhvr additive="base">
                                        <p:cTn id="18" dur="500" fill="hold"/>
                                        <p:tgtEl>
                                          <p:spTgt spid="45"/>
                                        </p:tgtEl>
                                        <p:attrNameLst>
                                          <p:attrName>ppt_x</p:attrName>
                                        </p:attrNameLst>
                                      </p:cBhvr>
                                      <p:tavLst>
                                        <p:tav tm="0">
                                          <p:val>
                                            <p:strVal val="1+#ppt_w/2"/>
                                          </p:val>
                                        </p:tav>
                                        <p:tav tm="100000">
                                          <p:val>
                                            <p:strVal val="#ppt_x"/>
                                          </p:val>
                                        </p:tav>
                                      </p:tavLst>
                                    </p:anim>
                                    <p:anim calcmode="lin" valueType="num">
                                      <p:cBhvr additive="base">
                                        <p:cTn id="19" dur="500" fill="hold"/>
                                        <p:tgtEl>
                                          <p:spTgt spid="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92024"/>
            <a:ext cx="7776864" cy="576362"/>
          </a:xfrm>
        </p:spPr>
        <p:txBody>
          <a:bodyPr>
            <a:normAutofit fontScale="90000"/>
          </a:bodyPr>
          <a:lstStyle/>
          <a:p>
            <a:r>
              <a:rPr lang="en-US" dirty="0" smtClean="0"/>
              <a:t>Example enterprise software build (CI) workflow</a:t>
            </a:r>
            <a:endParaRPr lang="en-US" dirty="0"/>
          </a:p>
        </p:txBody>
      </p:sp>
      <p:grpSp>
        <p:nvGrpSpPr>
          <p:cNvPr id="8" name="Group 7"/>
          <p:cNvGrpSpPr/>
          <p:nvPr/>
        </p:nvGrpSpPr>
        <p:grpSpPr>
          <a:xfrm>
            <a:off x="4191000" y="4038600"/>
            <a:ext cx="1219200" cy="1600200"/>
            <a:chOff x="-2362200" y="685800"/>
            <a:chExt cx="1828800" cy="2649008"/>
          </a:xfrm>
        </p:grpSpPr>
        <p:pic>
          <p:nvPicPr>
            <p:cNvPr id="6" name="Picture 5"/>
            <p:cNvPicPr>
              <a:picLocks noChangeAspect="1"/>
            </p:cNvPicPr>
            <p:nvPr/>
          </p:nvPicPr>
          <p:blipFill rotWithShape="1">
            <a:blip r:embed="rId3"/>
            <a:srcRect r="75274"/>
            <a:stretch/>
          </p:blipFill>
          <p:spPr>
            <a:xfrm>
              <a:off x="-2297289" y="685800"/>
              <a:ext cx="1698978" cy="2209800"/>
            </a:xfrm>
            <a:prstGeom prst="rect">
              <a:avLst/>
            </a:prstGeom>
          </p:spPr>
        </p:pic>
        <p:pic>
          <p:nvPicPr>
            <p:cNvPr id="7" name="Picture 6"/>
            <p:cNvPicPr>
              <a:picLocks noChangeAspect="1"/>
            </p:cNvPicPr>
            <p:nvPr/>
          </p:nvPicPr>
          <p:blipFill rotWithShape="1">
            <a:blip r:embed="rId3"/>
            <a:srcRect l="27314" t="24010" b="21712"/>
            <a:stretch/>
          </p:blipFill>
          <p:spPr>
            <a:xfrm>
              <a:off x="-2362200" y="2895600"/>
              <a:ext cx="1828800" cy="439208"/>
            </a:xfrm>
            <a:prstGeom prst="rect">
              <a:avLst/>
            </a:prstGeom>
          </p:spPr>
        </p:pic>
      </p:grpSp>
      <p:grpSp>
        <p:nvGrpSpPr>
          <p:cNvPr id="14" name="Group 13"/>
          <p:cNvGrpSpPr/>
          <p:nvPr/>
        </p:nvGrpSpPr>
        <p:grpSpPr>
          <a:xfrm>
            <a:off x="228600" y="1143000"/>
            <a:ext cx="1562138" cy="2133080"/>
            <a:chOff x="228600" y="1143000"/>
            <a:chExt cx="1562138" cy="2133080"/>
          </a:xfrm>
        </p:grpSpPr>
        <p:pic>
          <p:nvPicPr>
            <p:cNvPr id="12" name="Picture 11" descr="Programmer-clipa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266719" y="1143000"/>
              <a:ext cx="1485900" cy="1756064"/>
            </a:xfrm>
            <a:prstGeom prst="rect">
              <a:avLst/>
            </a:prstGeom>
          </p:spPr>
        </p:pic>
        <p:sp>
          <p:nvSpPr>
            <p:cNvPr id="13" name="TextBox 12"/>
            <p:cNvSpPr txBox="1"/>
            <p:nvPr/>
          </p:nvSpPr>
          <p:spPr>
            <a:xfrm>
              <a:off x="228600" y="2895600"/>
              <a:ext cx="1562138" cy="380480"/>
            </a:xfrm>
            <a:prstGeom prst="rect">
              <a:avLst/>
            </a:prstGeom>
            <a:noFill/>
          </p:spPr>
          <p:txBody>
            <a:bodyPr wrap="square" lIns="36000" tIns="36000" rIns="36000" bIns="36000" rtlCol="0">
              <a:spAutoFit/>
            </a:bodyPr>
            <a:lstStyle/>
            <a:p>
              <a:pPr algn="ctr"/>
              <a:r>
                <a:rPr lang="en-US" sz="2000" dirty="0" smtClean="0">
                  <a:latin typeface="Arial"/>
                  <a:cs typeface="Arial"/>
                </a:rPr>
                <a:t>Developer</a:t>
              </a:r>
            </a:p>
          </p:txBody>
        </p:sp>
      </p:grpSp>
      <p:cxnSp>
        <p:nvCxnSpPr>
          <p:cNvPr id="16" name="Curved Connector 15"/>
          <p:cNvCxnSpPr>
            <a:stCxn id="12" idx="1"/>
            <a:endCxn id="6" idx="0"/>
          </p:cNvCxnSpPr>
          <p:nvPr/>
        </p:nvCxnSpPr>
        <p:spPr>
          <a:xfrm>
            <a:off x="1752619" y="2021032"/>
            <a:ext cx="3047981" cy="2017568"/>
          </a:xfrm>
          <a:prstGeom prst="curvedConnector2">
            <a:avLst/>
          </a:prstGeom>
          <a:ln w="57150" cmpd="sng">
            <a:solidFill>
              <a:schemeClr val="bg1">
                <a:lumMod val="65000"/>
              </a:schemeClr>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nvGrpSpPr>
          <p:cNvPr id="18" name="Group 17"/>
          <p:cNvGrpSpPr/>
          <p:nvPr/>
        </p:nvGrpSpPr>
        <p:grpSpPr>
          <a:xfrm>
            <a:off x="228600" y="4724400"/>
            <a:ext cx="1562138" cy="1600200"/>
            <a:chOff x="228600" y="4495800"/>
            <a:chExt cx="1562138" cy="1600200"/>
          </a:xfrm>
        </p:grpSpPr>
        <p:pic>
          <p:nvPicPr>
            <p:cNvPr id="10" name="Picture 9"/>
            <p:cNvPicPr>
              <a:picLocks noChangeAspect="1"/>
            </p:cNvPicPr>
            <p:nvPr/>
          </p:nvPicPr>
          <p:blipFill rotWithShape="1">
            <a:blip r:embed="rId5"/>
            <a:srcRect l="9145" t="9543" r="8941" b="10579"/>
            <a:stretch/>
          </p:blipFill>
          <p:spPr>
            <a:xfrm>
              <a:off x="360535" y="4495800"/>
              <a:ext cx="1315865" cy="1143000"/>
            </a:xfrm>
            <a:prstGeom prst="rect">
              <a:avLst/>
            </a:prstGeom>
          </p:spPr>
        </p:pic>
        <p:sp>
          <p:nvSpPr>
            <p:cNvPr id="17" name="TextBox 16"/>
            <p:cNvSpPr txBox="1"/>
            <p:nvPr/>
          </p:nvSpPr>
          <p:spPr>
            <a:xfrm>
              <a:off x="228600" y="5715520"/>
              <a:ext cx="1562138" cy="380480"/>
            </a:xfrm>
            <a:prstGeom prst="rect">
              <a:avLst/>
            </a:prstGeom>
            <a:noFill/>
          </p:spPr>
          <p:txBody>
            <a:bodyPr wrap="square" lIns="36000" tIns="36000" rIns="36000" bIns="36000" rtlCol="0">
              <a:spAutoFit/>
            </a:bodyPr>
            <a:lstStyle/>
            <a:p>
              <a:pPr algn="ctr"/>
              <a:r>
                <a:rPr lang="en-US" sz="2000" dirty="0" smtClean="0">
                  <a:latin typeface="Arial"/>
                  <a:cs typeface="Arial"/>
                </a:rPr>
                <a:t>Source Code</a:t>
              </a:r>
            </a:p>
          </p:txBody>
        </p:sp>
      </p:grpSp>
      <p:cxnSp>
        <p:nvCxnSpPr>
          <p:cNvPr id="19" name="Curved Connector 18"/>
          <p:cNvCxnSpPr>
            <a:stCxn id="17" idx="3"/>
            <a:endCxn id="54" idx="3"/>
          </p:cNvCxnSpPr>
          <p:nvPr/>
        </p:nvCxnSpPr>
        <p:spPr>
          <a:xfrm flipV="1">
            <a:off x="1790738" y="5670363"/>
            <a:ext cx="2978299" cy="463997"/>
          </a:xfrm>
          <a:prstGeom prst="curvedConnector2">
            <a:avLst/>
          </a:prstGeom>
          <a:ln w="57150" cmpd="sng">
            <a:solidFill>
              <a:schemeClr val="bg1">
                <a:lumMod val="6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Curved Connector 22"/>
          <p:cNvCxnSpPr>
            <a:stCxn id="13" idx="2"/>
            <a:endCxn id="6" idx="1"/>
          </p:cNvCxnSpPr>
          <p:nvPr/>
        </p:nvCxnSpPr>
        <p:spPr>
          <a:xfrm rot="16200000" flipH="1">
            <a:off x="1906990" y="2378758"/>
            <a:ext cx="1429963" cy="3224605"/>
          </a:xfrm>
          <a:prstGeom prst="curvedConnector2">
            <a:avLst/>
          </a:prstGeom>
          <a:ln w="57150" cmpd="sng">
            <a:solidFill>
              <a:schemeClr val="bg1">
                <a:lumMod val="6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pic>
        <p:nvPicPr>
          <p:cNvPr id="11" name="Picture 10"/>
          <p:cNvPicPr>
            <a:picLocks noChangeAspect="1"/>
          </p:cNvPicPr>
          <p:nvPr/>
        </p:nvPicPr>
        <p:blipFill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backgroundRemoval t="11111" b="80000" l="8889" r="81778">
                        <a14:foregroundMark x1="54222" y1="18222" x2="54222" y2="18222"/>
                        <a14:foregroundMark x1="30667" y1="22222" x2="30667" y2="22222"/>
                        <a14:foregroundMark x1="27556" y1="25333" x2="27556" y2="25333"/>
                        <a14:foregroundMark x1="23111" y1="30667" x2="23111" y2="30667"/>
                        <a14:foregroundMark x1="60889" y1="23111" x2="60889" y2="23111"/>
                        <a14:foregroundMark x1="57333" y1="18667" x2="57333" y2="18667"/>
                        <a14:foregroundMark x1="60000" y1="19111" x2="60000" y2="19111"/>
                        <a14:foregroundMark x1="24000" y1="25778" x2="24000" y2="25778"/>
                      </a14:backgroundRemoval>
                    </a14:imgEffect>
                  </a14:imgLayer>
                </a14:imgProps>
              </a:ext>
            </a:extLst>
          </a:blip>
          <a:srcRect l="8000" t="9206" r="16056" b="19589"/>
          <a:stretch/>
        </p:blipFill>
        <p:spPr>
          <a:xfrm>
            <a:off x="3444338" y="2209800"/>
            <a:ext cx="975262" cy="914400"/>
          </a:xfrm>
          <a:prstGeom prst="rect">
            <a:avLst/>
          </a:prstGeom>
        </p:spPr>
      </p:pic>
      <p:grpSp>
        <p:nvGrpSpPr>
          <p:cNvPr id="33" name="Group 32"/>
          <p:cNvGrpSpPr/>
          <p:nvPr/>
        </p:nvGrpSpPr>
        <p:grpSpPr>
          <a:xfrm>
            <a:off x="6553200" y="1600200"/>
            <a:ext cx="2438400" cy="1371080"/>
            <a:chOff x="5334000" y="838200"/>
            <a:chExt cx="2438400" cy="1371080"/>
          </a:xfrm>
        </p:grpSpPr>
        <p:grpSp>
          <p:nvGrpSpPr>
            <p:cNvPr id="31" name="Group 30"/>
            <p:cNvGrpSpPr/>
            <p:nvPr/>
          </p:nvGrpSpPr>
          <p:grpSpPr>
            <a:xfrm>
              <a:off x="5486400" y="838200"/>
              <a:ext cx="2133600" cy="914400"/>
              <a:chOff x="-2667000" y="2362200"/>
              <a:chExt cx="2133600" cy="914400"/>
            </a:xfrm>
          </p:grpSpPr>
          <p:sp>
            <p:nvSpPr>
              <p:cNvPr id="30" name="Can 29"/>
              <p:cNvSpPr/>
              <p:nvPr/>
            </p:nvSpPr>
            <p:spPr>
              <a:xfrm>
                <a:off x="-2667000" y="2362200"/>
                <a:ext cx="2133600" cy="914400"/>
              </a:xfrm>
              <a:prstGeom prst="can">
                <a:avLst/>
              </a:prstGeom>
              <a:ln>
                <a:solidFill>
                  <a:schemeClr val="accent5">
                    <a:lumMod val="40000"/>
                    <a:lumOff val="6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8">
                <a:extLst>
                  <a:ext uri="{BEBA8EAE-BF5A-486C-A8C5-ECC9F3942E4B}">
                    <a14:imgProps xmlns:a14="http://schemas.microsoft.com/office/drawing/2010/main">
                      <a14:imgLayer r:embed="rId9">
                        <a14:imgEffect>
                          <a14:backgroundRemoval t="0" b="96970" l="0" r="89143">
                            <a14:foregroundMark x1="73143" y1="45455" x2="73143" y2="45455"/>
                            <a14:foregroundMark x1="74286" y1="30303" x2="74286" y2="30303"/>
                            <a14:foregroundMark x1="80571" y1="36364" x2="80571" y2="36364"/>
                            <a14:foregroundMark x1="86857" y1="39394" x2="86857" y2="39394"/>
                            <a14:foregroundMark x1="56000" y1="27273" x2="56000" y2="27273"/>
                            <a14:foregroundMark x1="51429" y1="30303" x2="51429" y2="30303"/>
                            <a14:foregroundMark x1="47429" y1="33333" x2="47429" y2="33333"/>
                            <a14:foregroundMark x1="40571" y1="27273" x2="40571" y2="27273"/>
                            <a14:foregroundMark x1="31429" y1="24242" x2="31429" y2="24242"/>
                            <a14:foregroundMark x1="26286" y1="33333" x2="26286" y2="33333"/>
                            <a14:foregroundMark x1="67429" y1="90909" x2="67429" y2="90909"/>
                            <a14:foregroundMark x1="19429" y1="33333" x2="19429" y2="33333"/>
                            <a14:foregroundMark x1="14286" y1="30303" x2="14286" y2="30303"/>
                            <a14:foregroundMark x1="4571" y1="39394" x2="4571" y2="39394"/>
                            <a14:foregroundMark x1="62857" y1="36364" x2="62857" y2="36364"/>
                            <a14:foregroundMark x1="38286" y1="45455" x2="38286" y2="45455"/>
                            <a14:foregroundMark x1="40000" y1="48485" x2="40000" y2="48485"/>
                            <a14:foregroundMark x1="26857" y1="6061" x2="26857" y2="6061"/>
                            <a14:backgroundMark x1="5714" y1="57576" x2="5714" y2="57576"/>
                            <a14:backgroundMark x1="5714" y1="36364" x2="5714" y2="36364"/>
                            <a14:backgroundMark x1="37143" y1="6061" x2="37143" y2="6061"/>
                            <a14:backgroundMark x1="57714" y1="6061" x2="57714" y2="6061"/>
                            <a14:backgroundMark x1="64571" y1="42424" x2="64571" y2="42424"/>
                            <a14:backgroundMark x1="3429" y1="36364" x2="3429" y2="36364"/>
                            <a14:backgroundMark x1="39429" y1="57576" x2="39429" y2="57576"/>
                          </a14:backgroundRemoval>
                        </a14:imgEffect>
                      </a14:imgLayer>
                    </a14:imgProps>
                  </a:ext>
                </a:extLst>
              </a:blip>
              <a:srcRect r="8972"/>
              <a:stretch/>
            </p:blipFill>
            <p:spPr>
              <a:xfrm>
                <a:off x="-2514600" y="2743200"/>
                <a:ext cx="1828800" cy="378847"/>
              </a:xfrm>
              <a:prstGeom prst="rect">
                <a:avLst/>
              </a:prstGeom>
            </p:spPr>
          </p:pic>
        </p:grpSp>
        <p:sp>
          <p:nvSpPr>
            <p:cNvPr id="32" name="TextBox 31"/>
            <p:cNvSpPr txBox="1"/>
            <p:nvPr/>
          </p:nvSpPr>
          <p:spPr>
            <a:xfrm>
              <a:off x="5334000" y="1828800"/>
              <a:ext cx="2438400" cy="380480"/>
            </a:xfrm>
            <a:prstGeom prst="rect">
              <a:avLst/>
            </a:prstGeom>
            <a:noFill/>
          </p:spPr>
          <p:txBody>
            <a:bodyPr wrap="square" lIns="36000" tIns="36000" rIns="36000" bIns="36000" rtlCol="0">
              <a:spAutoFit/>
            </a:bodyPr>
            <a:lstStyle/>
            <a:p>
              <a:pPr algn="ctr"/>
              <a:r>
                <a:rPr lang="en-US" sz="2000" dirty="0" smtClean="0">
                  <a:latin typeface="Arial"/>
                  <a:cs typeface="Arial"/>
                </a:rPr>
                <a:t>Artifact Repository</a:t>
              </a:r>
            </a:p>
          </p:txBody>
        </p:sp>
      </p:grpSp>
      <p:cxnSp>
        <p:nvCxnSpPr>
          <p:cNvPr id="34" name="Curved Connector 33"/>
          <p:cNvCxnSpPr>
            <a:stCxn id="54" idx="5"/>
            <a:endCxn id="50" idx="2"/>
          </p:cNvCxnSpPr>
          <p:nvPr/>
        </p:nvCxnSpPr>
        <p:spPr>
          <a:xfrm rot="5400000" flipH="1" flipV="1">
            <a:off x="5391149" y="2565213"/>
            <a:ext cx="2698563" cy="3511737"/>
          </a:xfrm>
          <a:prstGeom prst="curvedConnector3">
            <a:avLst>
              <a:gd name="adj1" fmla="val -10125"/>
            </a:avLst>
          </a:prstGeom>
          <a:ln w="57150" cmpd="sng">
            <a:solidFill>
              <a:schemeClr val="bg1">
                <a:lumMod val="6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urved Connector 36"/>
          <p:cNvCxnSpPr>
            <a:stCxn id="6" idx="0"/>
            <a:endCxn id="30" idx="2"/>
          </p:cNvCxnSpPr>
          <p:nvPr/>
        </p:nvCxnSpPr>
        <p:spPr>
          <a:xfrm rot="5400000" flipH="1" flipV="1">
            <a:off x="4762500" y="2095500"/>
            <a:ext cx="1981200" cy="1905000"/>
          </a:xfrm>
          <a:prstGeom prst="curvedConnector2">
            <a:avLst/>
          </a:prstGeom>
          <a:ln w="57150" cmpd="sng">
            <a:solidFill>
              <a:schemeClr val="bg1">
                <a:lumMod val="65000"/>
              </a:schemeClr>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842564" y="3581400"/>
            <a:ext cx="1129236" cy="11430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smtClean="0">
                <a:solidFill>
                  <a:schemeClr val="bg1">
                    <a:lumMod val="50000"/>
                  </a:schemeClr>
                </a:solidFill>
              </a:rPr>
              <a:t>1. Request</a:t>
            </a:r>
            <a:br>
              <a:rPr lang="en-US" b="1" i="1" dirty="0" smtClean="0">
                <a:solidFill>
                  <a:schemeClr val="bg1">
                    <a:lumMod val="50000"/>
                  </a:schemeClr>
                </a:solidFill>
              </a:rPr>
            </a:br>
            <a:r>
              <a:rPr lang="en-US" b="1" i="1" dirty="0" smtClean="0">
                <a:solidFill>
                  <a:schemeClr val="bg1">
                    <a:lumMod val="50000"/>
                  </a:schemeClr>
                </a:solidFill>
              </a:rPr>
              <a:t> Build </a:t>
            </a:r>
          </a:p>
        </p:txBody>
      </p:sp>
      <p:sp>
        <p:nvSpPr>
          <p:cNvPr id="45" name="TextBox 44"/>
          <p:cNvSpPr txBox="1"/>
          <p:nvPr/>
        </p:nvSpPr>
        <p:spPr>
          <a:xfrm>
            <a:off x="2528364" y="5257800"/>
            <a:ext cx="1129236" cy="11430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a:solidFill>
                  <a:schemeClr val="bg1">
                    <a:lumMod val="50000"/>
                  </a:schemeClr>
                </a:solidFill>
              </a:rPr>
              <a:t>2</a:t>
            </a:r>
            <a:r>
              <a:rPr lang="en-US" b="1" i="1" dirty="0" smtClean="0">
                <a:solidFill>
                  <a:schemeClr val="bg1">
                    <a:lumMod val="50000"/>
                  </a:schemeClr>
                </a:solidFill>
              </a:rPr>
              <a:t>. Fetch</a:t>
            </a:r>
          </a:p>
          <a:p>
            <a:pPr algn="ctr"/>
            <a:r>
              <a:rPr lang="en-US" b="1" i="1" dirty="0" smtClean="0">
                <a:solidFill>
                  <a:schemeClr val="bg1">
                    <a:lumMod val="50000"/>
                  </a:schemeClr>
                </a:solidFill>
              </a:rPr>
              <a:t>Sources</a:t>
            </a:r>
          </a:p>
        </p:txBody>
      </p:sp>
      <p:sp>
        <p:nvSpPr>
          <p:cNvPr id="46" name="TextBox 45"/>
          <p:cNvSpPr txBox="1"/>
          <p:nvPr/>
        </p:nvSpPr>
        <p:spPr>
          <a:xfrm>
            <a:off x="4953000" y="1905000"/>
            <a:ext cx="1295400" cy="12192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smtClean="0">
                <a:solidFill>
                  <a:schemeClr val="bg1">
                    <a:lumMod val="50000"/>
                  </a:schemeClr>
                </a:solidFill>
              </a:rPr>
              <a:t>3. Resolve</a:t>
            </a:r>
          </a:p>
          <a:p>
            <a:pPr algn="ctr"/>
            <a:r>
              <a:rPr lang="en-US" b="1" i="1" dirty="0" err="1" smtClean="0">
                <a:solidFill>
                  <a:schemeClr val="bg1">
                    <a:lumMod val="50000"/>
                  </a:schemeClr>
                </a:solidFill>
              </a:rPr>
              <a:t>Dependen</a:t>
            </a:r>
            <a:r>
              <a:rPr lang="en-US" b="1" i="1" dirty="0" smtClean="0">
                <a:solidFill>
                  <a:schemeClr val="bg1">
                    <a:lumMod val="50000"/>
                  </a:schemeClr>
                </a:solidFill>
              </a:rPr>
              <a:t>-</a:t>
            </a:r>
            <a:br>
              <a:rPr lang="en-US" b="1" i="1" dirty="0" smtClean="0">
                <a:solidFill>
                  <a:schemeClr val="bg1">
                    <a:lumMod val="50000"/>
                  </a:schemeClr>
                </a:solidFill>
              </a:rPr>
            </a:br>
            <a:r>
              <a:rPr lang="en-US" b="1" i="1" dirty="0" err="1" smtClean="0">
                <a:solidFill>
                  <a:schemeClr val="bg1">
                    <a:lumMod val="50000"/>
                  </a:schemeClr>
                </a:solidFill>
              </a:rPr>
              <a:t>cies</a:t>
            </a:r>
            <a:endParaRPr lang="en-US" b="1" i="1" dirty="0" smtClean="0">
              <a:solidFill>
                <a:schemeClr val="bg1">
                  <a:lumMod val="50000"/>
                </a:schemeClr>
              </a:solidFill>
            </a:endParaRPr>
          </a:p>
        </p:txBody>
      </p:sp>
      <p:sp>
        <p:nvSpPr>
          <p:cNvPr id="47" name="TextBox 46"/>
          <p:cNvSpPr txBox="1"/>
          <p:nvPr/>
        </p:nvSpPr>
        <p:spPr>
          <a:xfrm>
            <a:off x="6705600" y="4876800"/>
            <a:ext cx="1371600" cy="14478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a:solidFill>
                  <a:schemeClr val="bg1">
                    <a:lumMod val="50000"/>
                  </a:schemeClr>
                </a:solidFill>
              </a:rPr>
              <a:t>5</a:t>
            </a:r>
            <a:r>
              <a:rPr lang="en-US" b="1" i="1" dirty="0" smtClean="0">
                <a:solidFill>
                  <a:schemeClr val="bg1">
                    <a:lumMod val="50000"/>
                  </a:schemeClr>
                </a:solidFill>
              </a:rPr>
              <a:t>. Publish </a:t>
            </a:r>
            <a:br>
              <a:rPr lang="en-US" b="1" i="1" dirty="0" smtClean="0">
                <a:solidFill>
                  <a:schemeClr val="bg1">
                    <a:lumMod val="50000"/>
                  </a:schemeClr>
                </a:solidFill>
              </a:rPr>
            </a:br>
            <a:r>
              <a:rPr lang="en-US" b="1" i="1" dirty="0" smtClean="0">
                <a:solidFill>
                  <a:schemeClr val="bg1">
                    <a:lumMod val="50000"/>
                  </a:schemeClr>
                </a:solidFill>
              </a:rPr>
              <a:t>Artifacts,</a:t>
            </a:r>
          </a:p>
          <a:p>
            <a:pPr algn="ctr"/>
            <a:r>
              <a:rPr lang="en-US" b="1" i="1" dirty="0" smtClean="0">
                <a:solidFill>
                  <a:schemeClr val="bg1">
                    <a:lumMod val="50000"/>
                  </a:schemeClr>
                </a:solidFill>
              </a:rPr>
              <a:t>Build </a:t>
            </a:r>
            <a:br>
              <a:rPr lang="en-US" b="1" i="1" dirty="0" smtClean="0">
                <a:solidFill>
                  <a:schemeClr val="bg1">
                    <a:lumMod val="50000"/>
                  </a:schemeClr>
                </a:solidFill>
              </a:rPr>
            </a:br>
            <a:r>
              <a:rPr lang="en-US" b="1" i="1" dirty="0" smtClean="0">
                <a:solidFill>
                  <a:schemeClr val="bg1">
                    <a:lumMod val="50000"/>
                  </a:schemeClr>
                </a:solidFill>
              </a:rPr>
              <a:t>Metadata</a:t>
            </a:r>
          </a:p>
        </p:txBody>
      </p:sp>
      <p:sp>
        <p:nvSpPr>
          <p:cNvPr id="48" name="TextBox 47"/>
          <p:cNvSpPr txBox="1"/>
          <p:nvPr/>
        </p:nvSpPr>
        <p:spPr>
          <a:xfrm>
            <a:off x="2209800" y="1600200"/>
            <a:ext cx="1129236" cy="11430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a:solidFill>
                  <a:schemeClr val="bg1">
                    <a:lumMod val="50000"/>
                  </a:schemeClr>
                </a:solidFill>
              </a:rPr>
              <a:t>6</a:t>
            </a:r>
            <a:r>
              <a:rPr lang="en-US" b="1" i="1" dirty="0" smtClean="0">
                <a:solidFill>
                  <a:schemeClr val="bg1">
                    <a:lumMod val="50000"/>
                  </a:schemeClr>
                </a:solidFill>
              </a:rPr>
              <a:t>. Build</a:t>
            </a:r>
          </a:p>
          <a:p>
            <a:pPr algn="ctr"/>
            <a:r>
              <a:rPr lang="en-US" b="1" i="1" dirty="0" smtClean="0">
                <a:solidFill>
                  <a:schemeClr val="bg1">
                    <a:lumMod val="50000"/>
                  </a:schemeClr>
                </a:solidFill>
              </a:rPr>
              <a:t>Results</a:t>
            </a:r>
          </a:p>
        </p:txBody>
      </p:sp>
      <p:sp>
        <p:nvSpPr>
          <p:cNvPr id="49" name="TextBox 48"/>
          <p:cNvSpPr txBox="1"/>
          <p:nvPr/>
        </p:nvSpPr>
        <p:spPr>
          <a:xfrm>
            <a:off x="6096000" y="3505200"/>
            <a:ext cx="1066800" cy="10668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smtClean="0">
                <a:solidFill>
                  <a:schemeClr val="bg1">
                    <a:lumMod val="50000"/>
                  </a:schemeClr>
                </a:solidFill>
              </a:rPr>
              <a:t>4. Perform</a:t>
            </a:r>
            <a:br>
              <a:rPr lang="en-US" b="1" i="1" dirty="0" smtClean="0">
                <a:solidFill>
                  <a:schemeClr val="bg1">
                    <a:lumMod val="50000"/>
                  </a:schemeClr>
                </a:solidFill>
              </a:rPr>
            </a:br>
            <a:r>
              <a:rPr lang="en-US" b="1" i="1" dirty="0" smtClean="0">
                <a:solidFill>
                  <a:schemeClr val="bg1">
                    <a:lumMod val="50000"/>
                  </a:schemeClr>
                </a:solidFill>
              </a:rPr>
              <a:t>Build</a:t>
            </a:r>
          </a:p>
        </p:txBody>
      </p:sp>
      <p:sp>
        <p:nvSpPr>
          <p:cNvPr id="50" name="Rectangle 49"/>
          <p:cNvSpPr/>
          <p:nvPr/>
        </p:nvSpPr>
        <p:spPr>
          <a:xfrm>
            <a:off x="8153400" y="2667000"/>
            <a:ext cx="685800" cy="304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p:cNvSpPr/>
          <p:nvPr/>
        </p:nvSpPr>
        <p:spPr>
          <a:xfrm>
            <a:off x="4724400" y="5410200"/>
            <a:ext cx="304800" cy="304800"/>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a:stCxn id="49" idx="3"/>
            <a:endCxn id="6" idx="3"/>
          </p:cNvCxnSpPr>
          <p:nvPr/>
        </p:nvCxnSpPr>
        <p:spPr>
          <a:xfrm rot="5400000">
            <a:off x="5664442" y="4118256"/>
            <a:ext cx="290272" cy="885303"/>
          </a:xfrm>
          <a:prstGeom prst="curvedConnector2">
            <a:avLst/>
          </a:prstGeom>
          <a:ln w="57150" cmpd="sng">
            <a:solidFill>
              <a:schemeClr val="bg1">
                <a:lumMod val="6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3902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92024"/>
            <a:ext cx="7776864" cy="576362"/>
          </a:xfrm>
        </p:spPr>
        <p:txBody>
          <a:bodyPr>
            <a:normAutofit fontScale="90000"/>
          </a:bodyPr>
          <a:lstStyle/>
          <a:p>
            <a:r>
              <a:rPr lang="en-US" dirty="0" smtClean="0"/>
              <a:t>Example enterprise software build (CI) workflow</a:t>
            </a:r>
            <a:endParaRPr lang="en-US" dirty="0"/>
          </a:p>
        </p:txBody>
      </p:sp>
      <p:grpSp>
        <p:nvGrpSpPr>
          <p:cNvPr id="8" name="Group 7"/>
          <p:cNvGrpSpPr/>
          <p:nvPr/>
        </p:nvGrpSpPr>
        <p:grpSpPr>
          <a:xfrm>
            <a:off x="4191000" y="4038600"/>
            <a:ext cx="1219200" cy="1600200"/>
            <a:chOff x="-2362200" y="685800"/>
            <a:chExt cx="1828800" cy="2649008"/>
          </a:xfrm>
        </p:grpSpPr>
        <p:pic>
          <p:nvPicPr>
            <p:cNvPr id="6" name="Picture 5"/>
            <p:cNvPicPr>
              <a:picLocks noChangeAspect="1"/>
            </p:cNvPicPr>
            <p:nvPr/>
          </p:nvPicPr>
          <p:blipFill rotWithShape="1">
            <a:blip r:embed="rId3"/>
            <a:srcRect r="75274"/>
            <a:stretch/>
          </p:blipFill>
          <p:spPr>
            <a:xfrm>
              <a:off x="-2297289" y="685800"/>
              <a:ext cx="1698978" cy="2209800"/>
            </a:xfrm>
            <a:prstGeom prst="rect">
              <a:avLst/>
            </a:prstGeom>
          </p:spPr>
        </p:pic>
        <p:pic>
          <p:nvPicPr>
            <p:cNvPr id="7" name="Picture 6"/>
            <p:cNvPicPr>
              <a:picLocks noChangeAspect="1"/>
            </p:cNvPicPr>
            <p:nvPr/>
          </p:nvPicPr>
          <p:blipFill rotWithShape="1">
            <a:blip r:embed="rId3"/>
            <a:srcRect l="27314" t="24010" b="21712"/>
            <a:stretch/>
          </p:blipFill>
          <p:spPr>
            <a:xfrm>
              <a:off x="-2362200" y="2895600"/>
              <a:ext cx="1828800" cy="439208"/>
            </a:xfrm>
            <a:prstGeom prst="rect">
              <a:avLst/>
            </a:prstGeom>
          </p:spPr>
        </p:pic>
      </p:grpSp>
      <p:grpSp>
        <p:nvGrpSpPr>
          <p:cNvPr id="14" name="Group 13"/>
          <p:cNvGrpSpPr/>
          <p:nvPr/>
        </p:nvGrpSpPr>
        <p:grpSpPr>
          <a:xfrm>
            <a:off x="228600" y="1143000"/>
            <a:ext cx="1562138" cy="2133080"/>
            <a:chOff x="228600" y="1143000"/>
            <a:chExt cx="1562138" cy="2133080"/>
          </a:xfrm>
        </p:grpSpPr>
        <p:pic>
          <p:nvPicPr>
            <p:cNvPr id="12" name="Picture 11" descr="Programmer-clipa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266719" y="1143000"/>
              <a:ext cx="1485900" cy="1756064"/>
            </a:xfrm>
            <a:prstGeom prst="rect">
              <a:avLst/>
            </a:prstGeom>
          </p:spPr>
        </p:pic>
        <p:sp>
          <p:nvSpPr>
            <p:cNvPr id="13" name="TextBox 12"/>
            <p:cNvSpPr txBox="1"/>
            <p:nvPr/>
          </p:nvSpPr>
          <p:spPr>
            <a:xfrm>
              <a:off x="228600" y="2895600"/>
              <a:ext cx="1562138" cy="380480"/>
            </a:xfrm>
            <a:prstGeom prst="rect">
              <a:avLst/>
            </a:prstGeom>
            <a:noFill/>
          </p:spPr>
          <p:txBody>
            <a:bodyPr wrap="square" lIns="36000" tIns="36000" rIns="36000" bIns="36000" rtlCol="0">
              <a:spAutoFit/>
            </a:bodyPr>
            <a:lstStyle/>
            <a:p>
              <a:pPr algn="ctr"/>
              <a:r>
                <a:rPr lang="en-US" sz="2000" dirty="0" smtClean="0">
                  <a:latin typeface="Arial"/>
                  <a:cs typeface="Arial"/>
                </a:rPr>
                <a:t>Developer</a:t>
              </a:r>
            </a:p>
          </p:txBody>
        </p:sp>
      </p:grpSp>
      <p:cxnSp>
        <p:nvCxnSpPr>
          <p:cNvPr id="16" name="Curved Connector 15"/>
          <p:cNvCxnSpPr>
            <a:stCxn id="12" idx="1"/>
            <a:endCxn id="6" idx="0"/>
          </p:cNvCxnSpPr>
          <p:nvPr/>
        </p:nvCxnSpPr>
        <p:spPr>
          <a:xfrm>
            <a:off x="1752619" y="2021032"/>
            <a:ext cx="3047981" cy="2017568"/>
          </a:xfrm>
          <a:prstGeom prst="curvedConnector2">
            <a:avLst/>
          </a:prstGeom>
          <a:ln w="57150" cmpd="sng">
            <a:solidFill>
              <a:schemeClr val="bg1">
                <a:lumMod val="65000"/>
              </a:schemeClr>
            </a:solidFill>
            <a:headEnd type="triangle"/>
            <a:tailEnd type="none"/>
          </a:ln>
          <a:effectLst/>
        </p:spPr>
        <p:style>
          <a:lnRef idx="2">
            <a:schemeClr val="accent1"/>
          </a:lnRef>
          <a:fillRef idx="0">
            <a:schemeClr val="accent1"/>
          </a:fillRef>
          <a:effectRef idx="1">
            <a:schemeClr val="accent1"/>
          </a:effectRef>
          <a:fontRef idx="minor">
            <a:schemeClr val="tx1"/>
          </a:fontRef>
        </p:style>
      </p:cxnSp>
      <p:grpSp>
        <p:nvGrpSpPr>
          <p:cNvPr id="18" name="Group 17"/>
          <p:cNvGrpSpPr/>
          <p:nvPr/>
        </p:nvGrpSpPr>
        <p:grpSpPr>
          <a:xfrm>
            <a:off x="228600" y="4724400"/>
            <a:ext cx="1562138" cy="1600200"/>
            <a:chOff x="228600" y="4495800"/>
            <a:chExt cx="1562138" cy="1600200"/>
          </a:xfrm>
        </p:grpSpPr>
        <p:pic>
          <p:nvPicPr>
            <p:cNvPr id="10" name="Picture 9"/>
            <p:cNvPicPr>
              <a:picLocks noChangeAspect="1"/>
            </p:cNvPicPr>
            <p:nvPr/>
          </p:nvPicPr>
          <p:blipFill rotWithShape="1">
            <a:blip r:embed="rId5"/>
            <a:srcRect l="9145" t="9543" r="8941" b="10579"/>
            <a:stretch/>
          </p:blipFill>
          <p:spPr>
            <a:xfrm>
              <a:off x="360535" y="4495800"/>
              <a:ext cx="1315865" cy="1143000"/>
            </a:xfrm>
            <a:prstGeom prst="rect">
              <a:avLst/>
            </a:prstGeom>
          </p:spPr>
        </p:pic>
        <p:sp>
          <p:nvSpPr>
            <p:cNvPr id="17" name="TextBox 16"/>
            <p:cNvSpPr txBox="1"/>
            <p:nvPr/>
          </p:nvSpPr>
          <p:spPr>
            <a:xfrm>
              <a:off x="228600" y="5715520"/>
              <a:ext cx="1562138" cy="380480"/>
            </a:xfrm>
            <a:prstGeom prst="rect">
              <a:avLst/>
            </a:prstGeom>
            <a:noFill/>
          </p:spPr>
          <p:txBody>
            <a:bodyPr wrap="square" lIns="36000" tIns="36000" rIns="36000" bIns="36000" rtlCol="0">
              <a:spAutoFit/>
            </a:bodyPr>
            <a:lstStyle/>
            <a:p>
              <a:pPr algn="ctr"/>
              <a:r>
                <a:rPr lang="en-US" sz="2000" dirty="0" smtClean="0">
                  <a:latin typeface="Arial"/>
                  <a:cs typeface="Arial"/>
                </a:rPr>
                <a:t>Source Code</a:t>
              </a:r>
            </a:p>
          </p:txBody>
        </p:sp>
      </p:grpSp>
      <p:cxnSp>
        <p:nvCxnSpPr>
          <p:cNvPr id="19" name="Curved Connector 18"/>
          <p:cNvCxnSpPr>
            <a:stCxn id="17" idx="3"/>
            <a:endCxn id="54" idx="3"/>
          </p:cNvCxnSpPr>
          <p:nvPr/>
        </p:nvCxnSpPr>
        <p:spPr>
          <a:xfrm flipV="1">
            <a:off x="1790738" y="5670363"/>
            <a:ext cx="2978299" cy="463997"/>
          </a:xfrm>
          <a:prstGeom prst="curvedConnector2">
            <a:avLst/>
          </a:prstGeom>
          <a:ln w="57150" cmpd="sng">
            <a:solidFill>
              <a:schemeClr val="bg1">
                <a:lumMod val="6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Curved Connector 22"/>
          <p:cNvCxnSpPr>
            <a:stCxn id="13" idx="2"/>
            <a:endCxn id="6" idx="1"/>
          </p:cNvCxnSpPr>
          <p:nvPr/>
        </p:nvCxnSpPr>
        <p:spPr>
          <a:xfrm rot="16200000" flipH="1">
            <a:off x="1906990" y="2378758"/>
            <a:ext cx="1429963" cy="3224605"/>
          </a:xfrm>
          <a:prstGeom prst="curvedConnector2">
            <a:avLst/>
          </a:prstGeom>
          <a:ln w="57150" cmpd="sng">
            <a:solidFill>
              <a:schemeClr val="bg1">
                <a:lumMod val="6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pic>
        <p:nvPicPr>
          <p:cNvPr id="11" name="Picture 10"/>
          <p:cNvPicPr>
            <a:picLocks noChangeAspect="1"/>
          </p:cNvPicPr>
          <p:nvPr/>
        </p:nvPicPr>
        <p:blipFill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backgroundRemoval t="11111" b="80000" l="8889" r="81778">
                        <a14:foregroundMark x1="54222" y1="18222" x2="54222" y2="18222"/>
                        <a14:foregroundMark x1="30667" y1="22222" x2="30667" y2="22222"/>
                        <a14:foregroundMark x1="27556" y1="25333" x2="27556" y2="25333"/>
                        <a14:foregroundMark x1="23111" y1="30667" x2="23111" y2="30667"/>
                        <a14:foregroundMark x1="60889" y1="23111" x2="60889" y2="23111"/>
                        <a14:foregroundMark x1="57333" y1="18667" x2="57333" y2="18667"/>
                        <a14:foregroundMark x1="60000" y1="19111" x2="60000" y2="19111"/>
                        <a14:foregroundMark x1="24000" y1="25778" x2="24000" y2="25778"/>
                      </a14:backgroundRemoval>
                    </a14:imgEffect>
                  </a14:imgLayer>
                </a14:imgProps>
              </a:ext>
            </a:extLst>
          </a:blip>
          <a:srcRect l="8000" t="9206" r="16056" b="19589"/>
          <a:stretch/>
        </p:blipFill>
        <p:spPr>
          <a:xfrm>
            <a:off x="3444338" y="2209800"/>
            <a:ext cx="975262" cy="914400"/>
          </a:xfrm>
          <a:prstGeom prst="rect">
            <a:avLst/>
          </a:prstGeom>
        </p:spPr>
      </p:pic>
      <p:grpSp>
        <p:nvGrpSpPr>
          <p:cNvPr id="33" name="Group 32"/>
          <p:cNvGrpSpPr/>
          <p:nvPr/>
        </p:nvGrpSpPr>
        <p:grpSpPr>
          <a:xfrm>
            <a:off x="6553200" y="1600200"/>
            <a:ext cx="2438400" cy="1371080"/>
            <a:chOff x="5334000" y="838200"/>
            <a:chExt cx="2438400" cy="1371080"/>
          </a:xfrm>
        </p:grpSpPr>
        <p:grpSp>
          <p:nvGrpSpPr>
            <p:cNvPr id="31" name="Group 30"/>
            <p:cNvGrpSpPr/>
            <p:nvPr/>
          </p:nvGrpSpPr>
          <p:grpSpPr>
            <a:xfrm>
              <a:off x="5486400" y="838200"/>
              <a:ext cx="2133600" cy="914400"/>
              <a:chOff x="-2667000" y="2362200"/>
              <a:chExt cx="2133600" cy="914400"/>
            </a:xfrm>
          </p:grpSpPr>
          <p:sp>
            <p:nvSpPr>
              <p:cNvPr id="30" name="Can 29"/>
              <p:cNvSpPr/>
              <p:nvPr/>
            </p:nvSpPr>
            <p:spPr>
              <a:xfrm>
                <a:off x="-2667000" y="2362200"/>
                <a:ext cx="2133600" cy="914400"/>
              </a:xfrm>
              <a:prstGeom prst="can">
                <a:avLst/>
              </a:prstGeom>
              <a:ln>
                <a:solidFill>
                  <a:schemeClr val="accent5">
                    <a:lumMod val="40000"/>
                    <a:lumOff val="6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8">
                <a:extLst>
                  <a:ext uri="{BEBA8EAE-BF5A-486C-A8C5-ECC9F3942E4B}">
                    <a14:imgProps xmlns:a14="http://schemas.microsoft.com/office/drawing/2010/main">
                      <a14:imgLayer r:embed="rId9">
                        <a14:imgEffect>
                          <a14:backgroundRemoval t="0" b="96970" l="0" r="89143">
                            <a14:foregroundMark x1="73143" y1="45455" x2="73143" y2="45455"/>
                            <a14:foregroundMark x1="74286" y1="30303" x2="74286" y2="30303"/>
                            <a14:foregroundMark x1="80571" y1="36364" x2="80571" y2="36364"/>
                            <a14:foregroundMark x1="86857" y1="39394" x2="86857" y2="39394"/>
                            <a14:foregroundMark x1="56000" y1="27273" x2="56000" y2="27273"/>
                            <a14:foregroundMark x1="51429" y1="30303" x2="51429" y2="30303"/>
                            <a14:foregroundMark x1="47429" y1="33333" x2="47429" y2="33333"/>
                            <a14:foregroundMark x1="40571" y1="27273" x2="40571" y2="27273"/>
                            <a14:foregroundMark x1="31429" y1="24242" x2="31429" y2="24242"/>
                            <a14:foregroundMark x1="26286" y1="33333" x2="26286" y2="33333"/>
                            <a14:foregroundMark x1="67429" y1="90909" x2="67429" y2="90909"/>
                            <a14:foregroundMark x1="19429" y1="33333" x2="19429" y2="33333"/>
                            <a14:foregroundMark x1="14286" y1="30303" x2="14286" y2="30303"/>
                            <a14:foregroundMark x1="4571" y1="39394" x2="4571" y2="39394"/>
                            <a14:foregroundMark x1="62857" y1="36364" x2="62857" y2="36364"/>
                            <a14:foregroundMark x1="38286" y1="45455" x2="38286" y2="45455"/>
                            <a14:foregroundMark x1="40000" y1="48485" x2="40000" y2="48485"/>
                            <a14:foregroundMark x1="26857" y1="6061" x2="26857" y2="6061"/>
                            <a14:backgroundMark x1="5714" y1="57576" x2="5714" y2="57576"/>
                            <a14:backgroundMark x1="5714" y1="36364" x2="5714" y2="36364"/>
                            <a14:backgroundMark x1="37143" y1="6061" x2="37143" y2="6061"/>
                            <a14:backgroundMark x1="57714" y1="6061" x2="57714" y2="6061"/>
                            <a14:backgroundMark x1="64571" y1="42424" x2="64571" y2="42424"/>
                            <a14:backgroundMark x1="3429" y1="36364" x2="3429" y2="36364"/>
                            <a14:backgroundMark x1="39429" y1="57576" x2="39429" y2="57576"/>
                          </a14:backgroundRemoval>
                        </a14:imgEffect>
                      </a14:imgLayer>
                    </a14:imgProps>
                  </a:ext>
                </a:extLst>
              </a:blip>
              <a:srcRect r="8972"/>
              <a:stretch/>
            </p:blipFill>
            <p:spPr>
              <a:xfrm>
                <a:off x="-2514600" y="2743200"/>
                <a:ext cx="1828800" cy="378847"/>
              </a:xfrm>
              <a:prstGeom prst="rect">
                <a:avLst/>
              </a:prstGeom>
            </p:spPr>
          </p:pic>
        </p:grpSp>
        <p:sp>
          <p:nvSpPr>
            <p:cNvPr id="32" name="TextBox 31"/>
            <p:cNvSpPr txBox="1"/>
            <p:nvPr/>
          </p:nvSpPr>
          <p:spPr>
            <a:xfrm>
              <a:off x="5334000" y="1828800"/>
              <a:ext cx="2438400" cy="380480"/>
            </a:xfrm>
            <a:prstGeom prst="rect">
              <a:avLst/>
            </a:prstGeom>
            <a:noFill/>
          </p:spPr>
          <p:txBody>
            <a:bodyPr wrap="square" lIns="36000" tIns="36000" rIns="36000" bIns="36000" rtlCol="0">
              <a:spAutoFit/>
            </a:bodyPr>
            <a:lstStyle/>
            <a:p>
              <a:pPr algn="ctr"/>
              <a:r>
                <a:rPr lang="en-US" sz="2000" dirty="0" smtClean="0">
                  <a:latin typeface="Arial"/>
                  <a:cs typeface="Arial"/>
                </a:rPr>
                <a:t>Artifact Repository</a:t>
              </a:r>
            </a:p>
          </p:txBody>
        </p:sp>
      </p:grpSp>
      <p:cxnSp>
        <p:nvCxnSpPr>
          <p:cNvPr id="34" name="Curved Connector 33"/>
          <p:cNvCxnSpPr>
            <a:stCxn id="54" idx="5"/>
            <a:endCxn id="50" idx="2"/>
          </p:cNvCxnSpPr>
          <p:nvPr/>
        </p:nvCxnSpPr>
        <p:spPr>
          <a:xfrm rot="5400000" flipH="1" flipV="1">
            <a:off x="5391149" y="2565213"/>
            <a:ext cx="2698563" cy="3511737"/>
          </a:xfrm>
          <a:prstGeom prst="curvedConnector3">
            <a:avLst>
              <a:gd name="adj1" fmla="val -10125"/>
            </a:avLst>
          </a:prstGeom>
          <a:ln w="57150" cmpd="sng">
            <a:solidFill>
              <a:schemeClr val="bg1">
                <a:lumMod val="6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urved Connector 36"/>
          <p:cNvCxnSpPr>
            <a:stCxn id="6" idx="0"/>
            <a:endCxn id="30" idx="2"/>
          </p:cNvCxnSpPr>
          <p:nvPr/>
        </p:nvCxnSpPr>
        <p:spPr>
          <a:xfrm rot="5400000" flipH="1" flipV="1">
            <a:off x="4762500" y="2095500"/>
            <a:ext cx="1981200" cy="1905000"/>
          </a:xfrm>
          <a:prstGeom prst="curvedConnector2">
            <a:avLst/>
          </a:prstGeom>
          <a:ln w="57150" cmpd="sng">
            <a:solidFill>
              <a:schemeClr val="bg1">
                <a:lumMod val="65000"/>
              </a:schemeClr>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842564" y="3581400"/>
            <a:ext cx="1129236" cy="11430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smtClean="0">
                <a:solidFill>
                  <a:schemeClr val="bg1">
                    <a:lumMod val="50000"/>
                  </a:schemeClr>
                </a:solidFill>
              </a:rPr>
              <a:t>1. Request</a:t>
            </a:r>
            <a:br>
              <a:rPr lang="en-US" b="1" i="1" dirty="0" smtClean="0">
                <a:solidFill>
                  <a:schemeClr val="bg1">
                    <a:lumMod val="50000"/>
                  </a:schemeClr>
                </a:solidFill>
              </a:rPr>
            </a:br>
            <a:r>
              <a:rPr lang="en-US" b="1" i="1" dirty="0" smtClean="0">
                <a:solidFill>
                  <a:schemeClr val="bg1">
                    <a:lumMod val="50000"/>
                  </a:schemeClr>
                </a:solidFill>
              </a:rPr>
              <a:t> Build </a:t>
            </a:r>
          </a:p>
        </p:txBody>
      </p:sp>
      <p:sp>
        <p:nvSpPr>
          <p:cNvPr id="45" name="TextBox 44"/>
          <p:cNvSpPr txBox="1"/>
          <p:nvPr/>
        </p:nvSpPr>
        <p:spPr>
          <a:xfrm>
            <a:off x="2528364" y="5257800"/>
            <a:ext cx="1129236" cy="11430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a:solidFill>
                  <a:schemeClr val="bg1">
                    <a:lumMod val="50000"/>
                  </a:schemeClr>
                </a:solidFill>
              </a:rPr>
              <a:t>2</a:t>
            </a:r>
            <a:r>
              <a:rPr lang="en-US" b="1" i="1" dirty="0" smtClean="0">
                <a:solidFill>
                  <a:schemeClr val="bg1">
                    <a:lumMod val="50000"/>
                  </a:schemeClr>
                </a:solidFill>
              </a:rPr>
              <a:t>. Fetch</a:t>
            </a:r>
          </a:p>
          <a:p>
            <a:pPr algn="ctr"/>
            <a:r>
              <a:rPr lang="en-US" b="1" i="1" dirty="0" smtClean="0">
                <a:solidFill>
                  <a:schemeClr val="bg1">
                    <a:lumMod val="50000"/>
                  </a:schemeClr>
                </a:solidFill>
              </a:rPr>
              <a:t>Sources</a:t>
            </a:r>
          </a:p>
        </p:txBody>
      </p:sp>
      <p:sp>
        <p:nvSpPr>
          <p:cNvPr id="46" name="TextBox 45"/>
          <p:cNvSpPr txBox="1"/>
          <p:nvPr/>
        </p:nvSpPr>
        <p:spPr>
          <a:xfrm>
            <a:off x="4953000" y="1905000"/>
            <a:ext cx="1295400" cy="12192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smtClean="0">
                <a:solidFill>
                  <a:schemeClr val="bg1">
                    <a:lumMod val="50000"/>
                  </a:schemeClr>
                </a:solidFill>
              </a:rPr>
              <a:t>3. Resolve</a:t>
            </a:r>
          </a:p>
          <a:p>
            <a:pPr algn="ctr"/>
            <a:r>
              <a:rPr lang="en-US" b="1" i="1" dirty="0" err="1" smtClean="0">
                <a:solidFill>
                  <a:schemeClr val="bg1">
                    <a:lumMod val="50000"/>
                  </a:schemeClr>
                </a:solidFill>
              </a:rPr>
              <a:t>Dependen</a:t>
            </a:r>
            <a:r>
              <a:rPr lang="en-US" b="1" i="1" dirty="0" smtClean="0">
                <a:solidFill>
                  <a:schemeClr val="bg1">
                    <a:lumMod val="50000"/>
                  </a:schemeClr>
                </a:solidFill>
              </a:rPr>
              <a:t>-</a:t>
            </a:r>
            <a:br>
              <a:rPr lang="en-US" b="1" i="1" dirty="0" smtClean="0">
                <a:solidFill>
                  <a:schemeClr val="bg1">
                    <a:lumMod val="50000"/>
                  </a:schemeClr>
                </a:solidFill>
              </a:rPr>
            </a:br>
            <a:r>
              <a:rPr lang="en-US" b="1" i="1" dirty="0" err="1" smtClean="0">
                <a:solidFill>
                  <a:schemeClr val="bg1">
                    <a:lumMod val="50000"/>
                  </a:schemeClr>
                </a:solidFill>
              </a:rPr>
              <a:t>cies</a:t>
            </a:r>
            <a:endParaRPr lang="en-US" b="1" i="1" dirty="0" smtClean="0">
              <a:solidFill>
                <a:schemeClr val="bg1">
                  <a:lumMod val="50000"/>
                </a:schemeClr>
              </a:solidFill>
            </a:endParaRPr>
          </a:p>
        </p:txBody>
      </p:sp>
      <p:sp>
        <p:nvSpPr>
          <p:cNvPr id="47" name="TextBox 46"/>
          <p:cNvSpPr txBox="1"/>
          <p:nvPr/>
        </p:nvSpPr>
        <p:spPr>
          <a:xfrm>
            <a:off x="6705600" y="4876800"/>
            <a:ext cx="1371600" cy="14478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a:solidFill>
                  <a:schemeClr val="bg1">
                    <a:lumMod val="50000"/>
                  </a:schemeClr>
                </a:solidFill>
              </a:rPr>
              <a:t>5</a:t>
            </a:r>
            <a:r>
              <a:rPr lang="en-US" b="1" i="1" dirty="0" smtClean="0">
                <a:solidFill>
                  <a:schemeClr val="bg1">
                    <a:lumMod val="50000"/>
                  </a:schemeClr>
                </a:solidFill>
              </a:rPr>
              <a:t>. Publish </a:t>
            </a:r>
            <a:br>
              <a:rPr lang="en-US" b="1" i="1" dirty="0" smtClean="0">
                <a:solidFill>
                  <a:schemeClr val="bg1">
                    <a:lumMod val="50000"/>
                  </a:schemeClr>
                </a:solidFill>
              </a:rPr>
            </a:br>
            <a:r>
              <a:rPr lang="en-US" b="1" i="1" dirty="0" smtClean="0">
                <a:solidFill>
                  <a:schemeClr val="bg1">
                    <a:lumMod val="50000"/>
                  </a:schemeClr>
                </a:solidFill>
              </a:rPr>
              <a:t>Artifacts,</a:t>
            </a:r>
          </a:p>
          <a:p>
            <a:pPr algn="ctr"/>
            <a:r>
              <a:rPr lang="en-US" b="1" i="1" dirty="0" smtClean="0">
                <a:solidFill>
                  <a:schemeClr val="bg1">
                    <a:lumMod val="50000"/>
                  </a:schemeClr>
                </a:solidFill>
              </a:rPr>
              <a:t>Build </a:t>
            </a:r>
            <a:br>
              <a:rPr lang="en-US" b="1" i="1" dirty="0" smtClean="0">
                <a:solidFill>
                  <a:schemeClr val="bg1">
                    <a:lumMod val="50000"/>
                  </a:schemeClr>
                </a:solidFill>
              </a:rPr>
            </a:br>
            <a:r>
              <a:rPr lang="en-US" b="1" i="1" dirty="0" smtClean="0">
                <a:solidFill>
                  <a:schemeClr val="bg1">
                    <a:lumMod val="50000"/>
                  </a:schemeClr>
                </a:solidFill>
              </a:rPr>
              <a:t>Metadata</a:t>
            </a:r>
          </a:p>
        </p:txBody>
      </p:sp>
      <p:sp>
        <p:nvSpPr>
          <p:cNvPr id="48" name="TextBox 47"/>
          <p:cNvSpPr txBox="1"/>
          <p:nvPr/>
        </p:nvSpPr>
        <p:spPr>
          <a:xfrm>
            <a:off x="2209800" y="1600200"/>
            <a:ext cx="1129236" cy="11430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a:solidFill>
                  <a:schemeClr val="bg1">
                    <a:lumMod val="50000"/>
                  </a:schemeClr>
                </a:solidFill>
              </a:rPr>
              <a:t>6</a:t>
            </a:r>
            <a:r>
              <a:rPr lang="en-US" b="1" i="1" dirty="0" smtClean="0">
                <a:solidFill>
                  <a:schemeClr val="bg1">
                    <a:lumMod val="50000"/>
                  </a:schemeClr>
                </a:solidFill>
              </a:rPr>
              <a:t>. Build</a:t>
            </a:r>
          </a:p>
          <a:p>
            <a:pPr algn="ctr"/>
            <a:r>
              <a:rPr lang="en-US" b="1" i="1" dirty="0" smtClean="0">
                <a:solidFill>
                  <a:schemeClr val="bg1">
                    <a:lumMod val="50000"/>
                  </a:schemeClr>
                </a:solidFill>
              </a:rPr>
              <a:t>Results</a:t>
            </a:r>
          </a:p>
        </p:txBody>
      </p:sp>
      <p:sp>
        <p:nvSpPr>
          <p:cNvPr id="49" name="TextBox 48"/>
          <p:cNvSpPr txBox="1"/>
          <p:nvPr/>
        </p:nvSpPr>
        <p:spPr>
          <a:xfrm>
            <a:off x="6096000" y="3505200"/>
            <a:ext cx="1066800" cy="1066800"/>
          </a:xfrm>
          <a:prstGeom prst="ellipse">
            <a:avLst/>
          </a:prstGeom>
          <a:solidFill>
            <a:schemeClr val="bg1"/>
          </a:solidFill>
          <a:ln w="57150" cmpd="sng">
            <a:solidFill>
              <a:schemeClr val="bg1">
                <a:lumMod val="65000"/>
              </a:schemeClr>
            </a:solidFill>
          </a:ln>
        </p:spPr>
        <p:txBody>
          <a:bodyPr wrap="none" lIns="36000" tIns="36000" rIns="36000" bIns="36000" rtlCol="0" anchor="ctr" anchorCtr="1">
            <a:noAutofit/>
          </a:bodyPr>
          <a:lstStyle/>
          <a:p>
            <a:pPr algn="ctr"/>
            <a:r>
              <a:rPr lang="en-US" b="1" i="1" dirty="0" smtClean="0">
                <a:solidFill>
                  <a:schemeClr val="bg1">
                    <a:lumMod val="50000"/>
                  </a:schemeClr>
                </a:solidFill>
              </a:rPr>
              <a:t>4. Perform</a:t>
            </a:r>
            <a:br>
              <a:rPr lang="en-US" b="1" i="1" dirty="0" smtClean="0">
                <a:solidFill>
                  <a:schemeClr val="bg1">
                    <a:lumMod val="50000"/>
                  </a:schemeClr>
                </a:solidFill>
              </a:rPr>
            </a:br>
            <a:r>
              <a:rPr lang="en-US" b="1" i="1" dirty="0" smtClean="0">
                <a:solidFill>
                  <a:schemeClr val="bg1">
                    <a:lumMod val="50000"/>
                  </a:schemeClr>
                </a:solidFill>
              </a:rPr>
              <a:t>Build</a:t>
            </a:r>
          </a:p>
        </p:txBody>
      </p:sp>
      <p:sp>
        <p:nvSpPr>
          <p:cNvPr id="50" name="Rectangle 49"/>
          <p:cNvSpPr/>
          <p:nvPr/>
        </p:nvSpPr>
        <p:spPr>
          <a:xfrm>
            <a:off x="8153400" y="2667000"/>
            <a:ext cx="685800" cy="304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p:cNvSpPr/>
          <p:nvPr/>
        </p:nvSpPr>
        <p:spPr>
          <a:xfrm>
            <a:off x="4724400" y="5410200"/>
            <a:ext cx="304800" cy="304800"/>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Curved Connector 62"/>
          <p:cNvCxnSpPr>
            <a:stCxn id="49" idx="3"/>
            <a:endCxn id="6" idx="3"/>
          </p:cNvCxnSpPr>
          <p:nvPr/>
        </p:nvCxnSpPr>
        <p:spPr>
          <a:xfrm rot="5400000">
            <a:off x="5664442" y="4118256"/>
            <a:ext cx="290272" cy="885303"/>
          </a:xfrm>
          <a:prstGeom prst="curvedConnector2">
            <a:avLst/>
          </a:prstGeom>
          <a:ln w="57150" cmpd="sng">
            <a:solidFill>
              <a:schemeClr val="bg1">
                <a:lumMod val="65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 name="Group 2"/>
          <p:cNvGrpSpPr/>
          <p:nvPr/>
        </p:nvGrpSpPr>
        <p:grpSpPr>
          <a:xfrm>
            <a:off x="4211960" y="1124744"/>
            <a:ext cx="754029" cy="720080"/>
            <a:chOff x="-1836712" y="2996952"/>
            <a:chExt cx="754029" cy="720080"/>
          </a:xfrm>
        </p:grpSpPr>
        <p:pic>
          <p:nvPicPr>
            <p:cNvPr id="35" name="Picture 34" descr="caduceus.png"/>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64704" y="2996952"/>
              <a:ext cx="598681" cy="720080"/>
            </a:xfrm>
            <a:prstGeom prst="rect">
              <a:avLst/>
            </a:prstGeom>
          </p:spPr>
        </p:pic>
        <p:sp>
          <p:nvSpPr>
            <p:cNvPr id="36" name="TextBox 35"/>
            <p:cNvSpPr txBox="1"/>
            <p:nvPr/>
          </p:nvSpPr>
          <p:spPr>
            <a:xfrm>
              <a:off x="-1836712" y="3141434"/>
              <a:ext cx="754029" cy="503590"/>
            </a:xfrm>
            <a:prstGeom prst="rect">
              <a:avLst/>
            </a:prstGeom>
            <a:noFill/>
          </p:spPr>
          <p:txBody>
            <a:bodyPr wrap="none" lIns="36000" tIns="36000" rIns="36000" bIns="36000" rtlCol="0">
              <a:spAutoFit/>
            </a:bodyPr>
            <a:lstStyle/>
            <a:p>
              <a:pPr algn="r"/>
              <a:r>
                <a:rPr lang="en-US" sz="2800" b="1" dirty="0" smtClean="0">
                  <a:solidFill>
                    <a:srgbClr val="0D62BD"/>
                  </a:solidFill>
                  <a:effectLst>
                    <a:glow rad="101600">
                      <a:schemeClr val="bg1">
                        <a:alpha val="75000"/>
                      </a:schemeClr>
                    </a:glow>
                  </a:effectLst>
                  <a:latin typeface="Open Sans"/>
                  <a:cs typeface="Open Sans"/>
                </a:rPr>
                <a:t>OSS</a:t>
              </a:r>
            </a:p>
          </p:txBody>
        </p:sp>
      </p:grpSp>
      <p:cxnSp>
        <p:nvCxnSpPr>
          <p:cNvPr id="20" name="Straight Arrow Connector 19"/>
          <p:cNvCxnSpPr>
            <a:stCxn id="35" idx="2"/>
          </p:cNvCxnSpPr>
          <p:nvPr/>
        </p:nvCxnSpPr>
        <p:spPr>
          <a:xfrm>
            <a:off x="4583309" y="1844824"/>
            <a:ext cx="204715" cy="1656184"/>
          </a:xfrm>
          <a:prstGeom prst="straightConnector1">
            <a:avLst/>
          </a:prstGeom>
          <a:ln w="57150" cmpd="sng">
            <a:solidFill>
              <a:srgbClr val="0082C6"/>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42" name="Curved Connector 41"/>
          <p:cNvCxnSpPr>
            <a:stCxn id="36" idx="1"/>
            <a:endCxn id="10" idx="0"/>
          </p:cNvCxnSpPr>
          <p:nvPr/>
        </p:nvCxnSpPr>
        <p:spPr>
          <a:xfrm rot="10800000" flipV="1">
            <a:off x="1018468" y="1521020"/>
            <a:ext cx="3193492" cy="3203379"/>
          </a:xfrm>
          <a:prstGeom prst="curvedConnector2">
            <a:avLst/>
          </a:prstGeom>
          <a:ln w="57150" cmpd="sng">
            <a:solidFill>
              <a:srgbClr val="0082C6"/>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1331640" y="1268760"/>
            <a:ext cx="2880320" cy="144016"/>
          </a:xfrm>
          <a:prstGeom prst="straightConnector1">
            <a:avLst/>
          </a:prstGeom>
          <a:ln w="57150" cmpd="sng">
            <a:solidFill>
              <a:srgbClr val="0082C6"/>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2" name="Curved Connector 51"/>
          <p:cNvCxnSpPr>
            <a:stCxn id="36" idx="3"/>
            <a:endCxn id="49" idx="0"/>
          </p:cNvCxnSpPr>
          <p:nvPr/>
        </p:nvCxnSpPr>
        <p:spPr>
          <a:xfrm>
            <a:off x="4965989" y="1521021"/>
            <a:ext cx="1663411" cy="1984179"/>
          </a:xfrm>
          <a:prstGeom prst="curvedConnector2">
            <a:avLst/>
          </a:prstGeom>
          <a:ln w="57150" cmpd="sng">
            <a:solidFill>
              <a:srgbClr val="0082C6"/>
            </a:solidFill>
            <a:headEnd type="non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7213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down)">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wipe(up)">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up)">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1520" y="192024"/>
            <a:ext cx="7416824" cy="576362"/>
          </a:xfrm>
        </p:spPr>
        <p:txBody>
          <a:bodyPr>
            <a:normAutofit/>
          </a:bodyPr>
          <a:lstStyle/>
          <a:p>
            <a:r>
              <a:rPr lang="en-US" altLang="en-US" dirty="0" smtClean="0">
                <a:solidFill>
                  <a:srgbClr val="FFFFFF"/>
                </a:solidFill>
              </a:rPr>
              <a:t>OSS Hygiene complements security testing</a:t>
            </a:r>
            <a:endParaRPr lang="en-US" dirty="0"/>
          </a:p>
        </p:txBody>
      </p:sp>
      <p:sp>
        <p:nvSpPr>
          <p:cNvPr id="16" name="TextBox 15"/>
          <p:cNvSpPr txBox="1"/>
          <p:nvPr/>
        </p:nvSpPr>
        <p:spPr>
          <a:xfrm>
            <a:off x="971600" y="1664804"/>
            <a:ext cx="1048105" cy="349702"/>
          </a:xfrm>
          <a:prstGeom prst="rect">
            <a:avLst/>
          </a:prstGeom>
          <a:noFill/>
        </p:spPr>
        <p:txBody>
          <a:bodyPr wrap="none" lIns="36000" tIns="36000" rIns="36000" bIns="36000" rtlCol="0">
            <a:spAutoFit/>
          </a:bodyPr>
          <a:lstStyle/>
          <a:p>
            <a:r>
              <a:rPr lang="en-US" dirty="0" smtClean="0">
                <a:solidFill>
                  <a:schemeClr val="bg1">
                    <a:lumMod val="50000"/>
                  </a:schemeClr>
                </a:solidFill>
                <a:latin typeface="Open Sans"/>
                <a:cs typeface="Open Sans"/>
              </a:rPr>
              <a:t>ANALYZE</a:t>
            </a:r>
          </a:p>
        </p:txBody>
      </p:sp>
      <p:sp>
        <p:nvSpPr>
          <p:cNvPr id="17" name="TextBox 16"/>
          <p:cNvSpPr txBox="1"/>
          <p:nvPr/>
        </p:nvSpPr>
        <p:spPr>
          <a:xfrm>
            <a:off x="2597559" y="1664804"/>
            <a:ext cx="902483" cy="349702"/>
          </a:xfrm>
          <a:prstGeom prst="rect">
            <a:avLst/>
          </a:prstGeom>
          <a:noFill/>
        </p:spPr>
        <p:txBody>
          <a:bodyPr wrap="none" lIns="36000" tIns="36000" rIns="36000" bIns="36000" rtlCol="0">
            <a:spAutoFit/>
          </a:bodyPr>
          <a:lstStyle/>
          <a:p>
            <a:r>
              <a:rPr lang="en-US" dirty="0" smtClean="0">
                <a:solidFill>
                  <a:schemeClr val="bg1">
                    <a:lumMod val="50000"/>
                  </a:schemeClr>
                </a:solidFill>
                <a:latin typeface="Open Sans"/>
                <a:cs typeface="Open Sans"/>
              </a:rPr>
              <a:t>DESIGN</a:t>
            </a:r>
          </a:p>
        </p:txBody>
      </p:sp>
      <p:sp>
        <p:nvSpPr>
          <p:cNvPr id="18" name="TextBox 17"/>
          <p:cNvSpPr txBox="1"/>
          <p:nvPr/>
        </p:nvSpPr>
        <p:spPr>
          <a:xfrm>
            <a:off x="4272373" y="1664804"/>
            <a:ext cx="694756" cy="349702"/>
          </a:xfrm>
          <a:prstGeom prst="rect">
            <a:avLst/>
          </a:prstGeom>
          <a:noFill/>
        </p:spPr>
        <p:txBody>
          <a:bodyPr wrap="none" lIns="36000" tIns="36000" rIns="36000" bIns="36000" rtlCol="0">
            <a:spAutoFit/>
          </a:bodyPr>
          <a:lstStyle/>
          <a:p>
            <a:r>
              <a:rPr lang="en-US" dirty="0" smtClean="0">
                <a:solidFill>
                  <a:schemeClr val="bg1">
                    <a:lumMod val="50000"/>
                  </a:schemeClr>
                </a:solidFill>
                <a:latin typeface="Open Sans"/>
                <a:cs typeface="Open Sans"/>
              </a:rPr>
              <a:t>CODE</a:t>
            </a:r>
          </a:p>
        </p:txBody>
      </p:sp>
      <p:sp>
        <p:nvSpPr>
          <p:cNvPr id="19" name="TextBox 18"/>
          <p:cNvSpPr txBox="1"/>
          <p:nvPr/>
        </p:nvSpPr>
        <p:spPr>
          <a:xfrm>
            <a:off x="5895743" y="1664804"/>
            <a:ext cx="585664" cy="349702"/>
          </a:xfrm>
          <a:prstGeom prst="rect">
            <a:avLst/>
          </a:prstGeom>
          <a:noFill/>
        </p:spPr>
        <p:txBody>
          <a:bodyPr wrap="none" lIns="36000" tIns="36000" rIns="36000" bIns="36000" rtlCol="0">
            <a:spAutoFit/>
          </a:bodyPr>
          <a:lstStyle/>
          <a:p>
            <a:r>
              <a:rPr lang="en-US" dirty="0" smtClean="0">
                <a:solidFill>
                  <a:schemeClr val="bg1">
                    <a:lumMod val="50000"/>
                  </a:schemeClr>
                </a:solidFill>
                <a:latin typeface="Open Sans"/>
                <a:cs typeface="Open Sans"/>
              </a:rPr>
              <a:t>TEST</a:t>
            </a:r>
          </a:p>
        </p:txBody>
      </p:sp>
      <p:sp>
        <p:nvSpPr>
          <p:cNvPr id="20" name="TextBox 19"/>
          <p:cNvSpPr txBox="1"/>
          <p:nvPr/>
        </p:nvSpPr>
        <p:spPr>
          <a:xfrm>
            <a:off x="7125153" y="1664804"/>
            <a:ext cx="1177723" cy="349702"/>
          </a:xfrm>
          <a:prstGeom prst="rect">
            <a:avLst/>
          </a:prstGeom>
          <a:noFill/>
        </p:spPr>
        <p:txBody>
          <a:bodyPr wrap="none" lIns="36000" tIns="36000" rIns="36000" bIns="36000" rtlCol="0">
            <a:spAutoFit/>
          </a:bodyPr>
          <a:lstStyle/>
          <a:p>
            <a:r>
              <a:rPr lang="en-US" dirty="0" smtClean="0">
                <a:solidFill>
                  <a:schemeClr val="bg1">
                    <a:lumMod val="50000"/>
                  </a:schemeClr>
                </a:solidFill>
                <a:latin typeface="Open Sans"/>
                <a:cs typeface="Open Sans"/>
              </a:rPr>
              <a:t>MAINTAIN</a:t>
            </a:r>
          </a:p>
        </p:txBody>
      </p:sp>
      <p:cxnSp>
        <p:nvCxnSpPr>
          <p:cNvPr id="12" name="Straight Connector 11"/>
          <p:cNvCxnSpPr/>
          <p:nvPr/>
        </p:nvCxnSpPr>
        <p:spPr>
          <a:xfrm flipV="1">
            <a:off x="2267744" y="1772816"/>
            <a:ext cx="0" cy="4464496"/>
          </a:xfrm>
          <a:prstGeom prst="line">
            <a:avLst/>
          </a:prstGeom>
          <a:ln w="28575" cmpd="sng">
            <a:solidFill>
              <a:schemeClr val="bg1">
                <a:lumMod val="75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flipV="1">
            <a:off x="3827917" y="1772816"/>
            <a:ext cx="0" cy="4464496"/>
          </a:xfrm>
          <a:prstGeom prst="line">
            <a:avLst/>
          </a:prstGeom>
          <a:ln w="28575" cmpd="sng">
            <a:solidFill>
              <a:schemeClr val="bg1">
                <a:lumMod val="75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flipV="1">
            <a:off x="5388090" y="1772816"/>
            <a:ext cx="0" cy="4464496"/>
          </a:xfrm>
          <a:prstGeom prst="line">
            <a:avLst/>
          </a:prstGeom>
          <a:ln w="28575" cmpd="sng">
            <a:solidFill>
              <a:schemeClr val="bg1">
                <a:lumMod val="75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6948264" y="1772816"/>
            <a:ext cx="0" cy="4464496"/>
          </a:xfrm>
          <a:prstGeom prst="line">
            <a:avLst/>
          </a:prstGeom>
          <a:ln w="28575" cmpd="sng">
            <a:solidFill>
              <a:schemeClr val="bg1">
                <a:lumMod val="75000"/>
              </a:schemeClr>
            </a:solidFill>
            <a:prstDash val="dash"/>
          </a:ln>
          <a:effectLst/>
        </p:spPr>
        <p:style>
          <a:lnRef idx="2">
            <a:schemeClr val="accent1"/>
          </a:lnRef>
          <a:fillRef idx="0">
            <a:schemeClr val="accent1"/>
          </a:fillRef>
          <a:effectRef idx="1">
            <a:schemeClr val="accent1"/>
          </a:effectRef>
          <a:fontRef idx="minor">
            <a:schemeClr val="tx1"/>
          </a:fontRef>
        </p:style>
      </p:cxnSp>
      <p:grpSp>
        <p:nvGrpSpPr>
          <p:cNvPr id="5" name="Group 4"/>
          <p:cNvGrpSpPr/>
          <p:nvPr/>
        </p:nvGrpSpPr>
        <p:grpSpPr>
          <a:xfrm>
            <a:off x="4572000" y="2204864"/>
            <a:ext cx="3888432" cy="2592288"/>
            <a:chOff x="4572000" y="2204864"/>
            <a:chExt cx="3888432" cy="2592288"/>
          </a:xfrm>
        </p:grpSpPr>
        <p:sp>
          <p:nvSpPr>
            <p:cNvPr id="21" name="TextBox 20"/>
            <p:cNvSpPr txBox="1"/>
            <p:nvPr/>
          </p:nvSpPr>
          <p:spPr>
            <a:xfrm>
              <a:off x="4572000" y="4221088"/>
              <a:ext cx="2376264" cy="576064"/>
            </a:xfrm>
            <a:prstGeom prst="rect">
              <a:avLst/>
            </a:prstGeom>
            <a:solidFill>
              <a:schemeClr val="bg1">
                <a:lumMod val="65000"/>
                <a:alpha val="26000"/>
              </a:schemeClr>
            </a:solidFill>
          </p:spPr>
          <p:txBody>
            <a:bodyPr wrap="none" lIns="36000" tIns="36000" rIns="36000" bIns="36000" rtlCol="0" anchor="ctr" anchorCtr="1">
              <a:noAutofit/>
            </a:bodyPr>
            <a:lstStyle/>
            <a:p>
              <a:pPr algn="ctr"/>
              <a:r>
                <a:rPr lang="en-US" sz="1400" dirty="0" smtClean="0">
                  <a:latin typeface="Open Sans"/>
                  <a:cs typeface="Open Sans"/>
                </a:rPr>
                <a:t>Static</a:t>
              </a:r>
              <a:br>
                <a:rPr lang="en-US" sz="1400" dirty="0" smtClean="0">
                  <a:latin typeface="Open Sans"/>
                  <a:cs typeface="Open Sans"/>
                </a:rPr>
              </a:br>
              <a:r>
                <a:rPr lang="en-US" sz="1400" dirty="0" smtClean="0">
                  <a:latin typeface="Open Sans"/>
                  <a:cs typeface="Open Sans"/>
                </a:rPr>
                <a:t>Analysis</a:t>
              </a:r>
            </a:p>
          </p:txBody>
        </p:sp>
        <p:sp>
          <p:nvSpPr>
            <p:cNvPr id="22" name="TextBox 21"/>
            <p:cNvSpPr txBox="1"/>
            <p:nvPr/>
          </p:nvSpPr>
          <p:spPr>
            <a:xfrm>
              <a:off x="5364088" y="3549014"/>
              <a:ext cx="1584176" cy="504056"/>
            </a:xfrm>
            <a:prstGeom prst="rect">
              <a:avLst/>
            </a:prstGeom>
            <a:solidFill>
              <a:schemeClr val="bg1">
                <a:lumMod val="65000"/>
                <a:alpha val="26000"/>
              </a:schemeClr>
            </a:solidFill>
          </p:spPr>
          <p:txBody>
            <a:bodyPr wrap="none" lIns="36000" tIns="36000" rIns="36000" bIns="36000" rtlCol="0" anchor="ctr" anchorCtr="1">
              <a:noAutofit/>
            </a:bodyPr>
            <a:lstStyle/>
            <a:p>
              <a:pPr algn="ctr"/>
              <a:r>
                <a:rPr lang="en-US" sz="1400" dirty="0" smtClean="0">
                  <a:latin typeface="Open Sans"/>
                  <a:cs typeface="Open Sans"/>
                </a:rPr>
                <a:t>Dynamic </a:t>
              </a:r>
            </a:p>
            <a:p>
              <a:pPr algn="ctr"/>
              <a:r>
                <a:rPr lang="en-US" sz="1400" dirty="0" smtClean="0">
                  <a:latin typeface="Open Sans"/>
                  <a:cs typeface="Open Sans"/>
                </a:rPr>
                <a:t>Analysis</a:t>
              </a:r>
            </a:p>
          </p:txBody>
        </p:sp>
        <p:sp>
          <p:nvSpPr>
            <p:cNvPr id="23" name="TextBox 22"/>
            <p:cNvSpPr txBox="1"/>
            <p:nvPr/>
          </p:nvSpPr>
          <p:spPr>
            <a:xfrm>
              <a:off x="5380370" y="2876939"/>
              <a:ext cx="1584176" cy="504056"/>
            </a:xfrm>
            <a:prstGeom prst="rect">
              <a:avLst/>
            </a:prstGeom>
            <a:solidFill>
              <a:schemeClr val="bg1">
                <a:lumMod val="65000"/>
                <a:alpha val="26000"/>
              </a:schemeClr>
            </a:solidFill>
          </p:spPr>
          <p:txBody>
            <a:bodyPr wrap="none" lIns="36000" tIns="36000" rIns="36000" bIns="36000" rtlCol="0" anchor="ctr" anchorCtr="1">
              <a:noAutofit/>
            </a:bodyPr>
            <a:lstStyle/>
            <a:p>
              <a:pPr algn="ctr"/>
              <a:r>
                <a:rPr lang="en-US" sz="1400" dirty="0" smtClean="0">
                  <a:latin typeface="Open Sans"/>
                  <a:cs typeface="Open Sans"/>
                </a:rPr>
                <a:t>Penetration </a:t>
              </a:r>
            </a:p>
            <a:p>
              <a:pPr algn="ctr"/>
              <a:r>
                <a:rPr lang="en-US" sz="1400" dirty="0" smtClean="0">
                  <a:latin typeface="Open Sans"/>
                  <a:cs typeface="Open Sans"/>
                </a:rPr>
                <a:t>Testing</a:t>
              </a:r>
            </a:p>
          </p:txBody>
        </p:sp>
        <p:sp>
          <p:nvSpPr>
            <p:cNvPr id="24" name="TextBox 23"/>
            <p:cNvSpPr txBox="1"/>
            <p:nvPr/>
          </p:nvSpPr>
          <p:spPr>
            <a:xfrm>
              <a:off x="6156176" y="2204864"/>
              <a:ext cx="2304256" cy="504056"/>
            </a:xfrm>
            <a:prstGeom prst="rect">
              <a:avLst/>
            </a:prstGeom>
            <a:solidFill>
              <a:schemeClr val="bg1">
                <a:lumMod val="65000"/>
                <a:alpha val="26000"/>
              </a:schemeClr>
            </a:solidFill>
          </p:spPr>
          <p:txBody>
            <a:bodyPr wrap="none" lIns="36000" tIns="36000" rIns="36000" bIns="36000" rtlCol="0" anchor="ctr" anchorCtr="1">
              <a:noAutofit/>
            </a:bodyPr>
            <a:lstStyle/>
            <a:p>
              <a:pPr algn="ctr"/>
              <a:r>
                <a:rPr lang="en-US" sz="1400" dirty="0" smtClean="0">
                  <a:latin typeface="Open Sans"/>
                  <a:cs typeface="Open Sans"/>
                </a:rPr>
                <a:t>Rule-based </a:t>
              </a:r>
              <a:br>
                <a:rPr lang="en-US" sz="1400" dirty="0" smtClean="0">
                  <a:latin typeface="Open Sans"/>
                  <a:cs typeface="Open Sans"/>
                </a:rPr>
              </a:br>
              <a:r>
                <a:rPr lang="en-US" sz="1400" dirty="0" smtClean="0">
                  <a:latin typeface="Open Sans"/>
                  <a:cs typeface="Open Sans"/>
                </a:rPr>
                <a:t>Vulnerability Testing</a:t>
              </a:r>
            </a:p>
          </p:txBody>
        </p:sp>
      </p:grpSp>
      <p:grpSp>
        <p:nvGrpSpPr>
          <p:cNvPr id="10" name="Group 9"/>
          <p:cNvGrpSpPr/>
          <p:nvPr/>
        </p:nvGrpSpPr>
        <p:grpSpPr>
          <a:xfrm>
            <a:off x="683568" y="5301208"/>
            <a:ext cx="7848872" cy="1008112"/>
            <a:chOff x="683568" y="5301208"/>
            <a:chExt cx="7848872" cy="1008112"/>
          </a:xfrm>
        </p:grpSpPr>
        <p:sp>
          <p:nvSpPr>
            <p:cNvPr id="26" name="Rectangle 25"/>
            <p:cNvSpPr/>
            <p:nvPr/>
          </p:nvSpPr>
          <p:spPr>
            <a:xfrm>
              <a:off x="683568" y="5301208"/>
              <a:ext cx="7848872" cy="1008112"/>
            </a:xfrm>
            <a:prstGeom prst="rect">
              <a:avLst/>
            </a:prstGeom>
            <a:solidFill>
              <a:srgbClr val="00AEF0"/>
            </a:solidFill>
            <a:ln>
              <a:noFill/>
            </a:ln>
            <a:effectLst/>
          </p:spPr>
          <p:style>
            <a:lnRef idx="1">
              <a:schemeClr val="accent1"/>
            </a:lnRef>
            <a:fillRef idx="3">
              <a:schemeClr val="accent1"/>
            </a:fillRef>
            <a:effectRef idx="2">
              <a:schemeClr val="accent1"/>
            </a:effectRef>
            <a:fontRef idx="minor">
              <a:schemeClr val="lt1"/>
            </a:fontRef>
          </p:style>
          <p:txBody>
            <a:bodyPr wrap="none" rtlCol="0" anchor="t" anchorCtr="0"/>
            <a:lstStyle/>
            <a:p>
              <a:pPr algn="ctr"/>
              <a:endParaRPr lang="en-US" dirty="0">
                <a:latin typeface="Open Sans Light"/>
                <a:cs typeface="Open Sans Light"/>
              </a:endParaRPr>
            </a:p>
          </p:txBody>
        </p:sp>
        <p:sp>
          <p:nvSpPr>
            <p:cNvPr id="2" name="Rectangle 1"/>
            <p:cNvSpPr/>
            <p:nvPr/>
          </p:nvSpPr>
          <p:spPr>
            <a:xfrm>
              <a:off x="755576" y="5733256"/>
              <a:ext cx="7704856" cy="5040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978400" y="5856600"/>
              <a:ext cx="1034505" cy="257369"/>
            </a:xfrm>
            <a:prstGeom prst="rect">
              <a:avLst/>
            </a:prstGeom>
            <a:noFill/>
          </p:spPr>
          <p:txBody>
            <a:bodyPr wrap="none" lIns="36000" tIns="36000" rIns="36000" bIns="36000" rtlCol="0">
              <a:spAutoFit/>
            </a:bodyPr>
            <a:lstStyle/>
            <a:p>
              <a:r>
                <a:rPr lang="en-US" sz="1200" dirty="0" smtClean="0">
                  <a:solidFill>
                    <a:schemeClr val="bg1"/>
                  </a:solidFill>
                  <a:latin typeface="Open Sans Light"/>
                  <a:cs typeface="Open Sans Light"/>
                </a:rPr>
                <a:t>OSS POLICIES</a:t>
              </a:r>
            </a:p>
          </p:txBody>
        </p:sp>
        <p:sp>
          <p:nvSpPr>
            <p:cNvPr id="6" name="TextBox 5"/>
            <p:cNvSpPr txBox="1"/>
            <p:nvPr/>
          </p:nvSpPr>
          <p:spPr>
            <a:xfrm>
              <a:off x="2461704" y="5856600"/>
              <a:ext cx="1174192" cy="257369"/>
            </a:xfrm>
            <a:prstGeom prst="rect">
              <a:avLst/>
            </a:prstGeom>
            <a:noFill/>
          </p:spPr>
          <p:txBody>
            <a:bodyPr wrap="none" lIns="36000" tIns="36000" rIns="36000" bIns="36000" rtlCol="0">
              <a:spAutoFit/>
            </a:bodyPr>
            <a:lstStyle/>
            <a:p>
              <a:r>
                <a:rPr lang="en-US" sz="1200" dirty="0" smtClean="0">
                  <a:solidFill>
                    <a:schemeClr val="bg1"/>
                  </a:solidFill>
                  <a:latin typeface="Open Sans Light"/>
                  <a:cs typeface="Open Sans Light"/>
                </a:rPr>
                <a:t>OSS SELECTION</a:t>
              </a:r>
            </a:p>
          </p:txBody>
        </p:sp>
        <p:sp>
          <p:nvSpPr>
            <p:cNvPr id="7" name="TextBox 6"/>
            <p:cNvSpPr txBox="1"/>
            <p:nvPr/>
          </p:nvSpPr>
          <p:spPr>
            <a:xfrm>
              <a:off x="4019431" y="5856600"/>
              <a:ext cx="1200641" cy="257369"/>
            </a:xfrm>
            <a:prstGeom prst="rect">
              <a:avLst/>
            </a:prstGeom>
            <a:noFill/>
          </p:spPr>
          <p:txBody>
            <a:bodyPr wrap="none" lIns="36000" tIns="36000" rIns="36000" bIns="36000" rtlCol="0">
              <a:spAutoFit/>
            </a:bodyPr>
            <a:lstStyle/>
            <a:p>
              <a:r>
                <a:rPr lang="en-US" sz="1200" dirty="0" smtClean="0">
                  <a:solidFill>
                    <a:schemeClr val="bg1"/>
                  </a:solidFill>
                  <a:latin typeface="Open Sans Light"/>
                  <a:cs typeface="Open Sans Light"/>
                </a:rPr>
                <a:t>OSS DETECTION</a:t>
              </a:r>
            </a:p>
          </p:txBody>
        </p:sp>
        <p:sp>
          <p:nvSpPr>
            <p:cNvPr id="8" name="TextBox 7"/>
            <p:cNvSpPr txBox="1"/>
            <p:nvPr/>
          </p:nvSpPr>
          <p:spPr>
            <a:xfrm>
              <a:off x="5644911" y="5856600"/>
              <a:ext cx="1087329" cy="257369"/>
            </a:xfrm>
            <a:prstGeom prst="rect">
              <a:avLst/>
            </a:prstGeom>
            <a:noFill/>
          </p:spPr>
          <p:txBody>
            <a:bodyPr wrap="none" lIns="36000" tIns="36000" rIns="36000" bIns="36000" rtlCol="0">
              <a:spAutoFit/>
            </a:bodyPr>
            <a:lstStyle/>
            <a:p>
              <a:r>
                <a:rPr lang="en-US" sz="1200" dirty="0" smtClean="0">
                  <a:solidFill>
                    <a:schemeClr val="bg1"/>
                  </a:solidFill>
                  <a:latin typeface="Open Sans Light"/>
                  <a:cs typeface="Open Sans Light"/>
                </a:rPr>
                <a:t>OSS ALERTING</a:t>
              </a:r>
            </a:p>
          </p:txBody>
        </p:sp>
        <p:sp>
          <p:nvSpPr>
            <p:cNvPr id="9" name="TextBox 8"/>
            <p:cNvSpPr txBox="1"/>
            <p:nvPr/>
          </p:nvSpPr>
          <p:spPr>
            <a:xfrm>
              <a:off x="7039605" y="5856600"/>
              <a:ext cx="1348819" cy="257369"/>
            </a:xfrm>
            <a:prstGeom prst="rect">
              <a:avLst/>
            </a:prstGeom>
            <a:noFill/>
          </p:spPr>
          <p:txBody>
            <a:bodyPr wrap="none" lIns="36000" tIns="36000" rIns="36000" bIns="36000" rtlCol="0">
              <a:spAutoFit/>
            </a:bodyPr>
            <a:lstStyle/>
            <a:p>
              <a:r>
                <a:rPr lang="en-US" sz="1200" dirty="0" smtClean="0">
                  <a:solidFill>
                    <a:schemeClr val="bg1"/>
                  </a:solidFill>
                  <a:latin typeface="Open Sans Light"/>
                  <a:cs typeface="Open Sans Light"/>
                </a:rPr>
                <a:t>OSS MONITORING</a:t>
              </a:r>
            </a:p>
          </p:txBody>
        </p:sp>
        <p:sp>
          <p:nvSpPr>
            <p:cNvPr id="27" name="Rectangle 26"/>
            <p:cNvSpPr/>
            <p:nvPr/>
          </p:nvSpPr>
          <p:spPr>
            <a:xfrm>
              <a:off x="3203848" y="5301208"/>
              <a:ext cx="2720103" cy="369332"/>
            </a:xfrm>
            <a:prstGeom prst="rect">
              <a:avLst/>
            </a:prstGeom>
            <a:solidFill>
              <a:srgbClr val="2CAEF0"/>
            </a:solidFill>
          </p:spPr>
          <p:txBody>
            <a:bodyPr wrap="none">
              <a:spAutoFit/>
            </a:bodyPr>
            <a:lstStyle/>
            <a:p>
              <a:pPr algn="ctr"/>
              <a:r>
                <a:rPr lang="en-US" dirty="0">
                  <a:solidFill>
                    <a:schemeClr val="bg1"/>
                  </a:solidFill>
                  <a:latin typeface="Open Sans Light"/>
                  <a:cs typeface="Open Sans Light"/>
                </a:rPr>
                <a:t>OPEN SOURCE HYGIENE</a:t>
              </a:r>
            </a:p>
          </p:txBody>
        </p:sp>
      </p:grpSp>
      <p:sp>
        <p:nvSpPr>
          <p:cNvPr id="28" name="TextBox 27"/>
          <p:cNvSpPr txBox="1"/>
          <p:nvPr/>
        </p:nvSpPr>
        <p:spPr>
          <a:xfrm>
            <a:off x="1835696" y="1186765"/>
            <a:ext cx="5563689" cy="442035"/>
          </a:xfrm>
          <a:prstGeom prst="rect">
            <a:avLst/>
          </a:prstGeom>
          <a:noFill/>
        </p:spPr>
        <p:txBody>
          <a:bodyPr wrap="none" lIns="36000" tIns="36000" rIns="36000" bIns="36000" rtlCol="0">
            <a:spAutoFit/>
          </a:bodyPr>
          <a:lstStyle/>
          <a:p>
            <a:r>
              <a:rPr lang="en-US" sz="2400" dirty="0" smtClean="0">
                <a:solidFill>
                  <a:srgbClr val="2CAEF0"/>
                </a:solidFill>
                <a:latin typeface="Open Sans"/>
                <a:cs typeface="Open Sans"/>
              </a:rPr>
              <a:t>SOFTWARE DEVELOPMENT LIFE-CYCLE</a:t>
            </a:r>
          </a:p>
        </p:txBody>
      </p:sp>
      <p:sp>
        <p:nvSpPr>
          <p:cNvPr id="31" name="Rounded Rectangle 30"/>
          <p:cNvSpPr/>
          <p:nvPr/>
        </p:nvSpPr>
        <p:spPr>
          <a:xfrm>
            <a:off x="6635332" y="4941168"/>
            <a:ext cx="638330" cy="243602"/>
          </a:xfrm>
          <a:prstGeom prst="roundRect">
            <a:avLst>
              <a:gd name="adj" fmla="val 42027"/>
            </a:avLst>
          </a:prstGeom>
          <a:solidFill>
            <a:schemeClr val="tx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spAutoFit/>
          </a:bodyPr>
          <a:lstStyle/>
          <a:p>
            <a:pPr algn="ctr"/>
            <a:r>
              <a:rPr lang="en-US" sz="1200" dirty="0" smtClean="0"/>
              <a:t>RELEASE</a:t>
            </a:r>
            <a:endParaRPr lang="en-US" sz="1200" dirty="0"/>
          </a:p>
        </p:txBody>
      </p:sp>
    </p:spTree>
    <p:extLst>
      <p:ext uri="{BB962C8B-B14F-4D97-AF65-F5344CB8AC3E}">
        <p14:creationId xmlns:p14="http://schemas.microsoft.com/office/powerpoint/2010/main" val="2830548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aduceus.png"/>
          <p:cNvPicPr>
            <a:picLocks noChangeAspect="1"/>
          </p:cNvPicPr>
          <p:nvPr/>
        </p:nvPicPr>
        <p:blipFill>
          <a:blip r:embed="rId2">
            <a:alphaModFix amt="18000"/>
            <a:extLst>
              <a:ext uri="{28A0092B-C50C-407E-A947-70E740481C1C}">
                <a14:useLocalDpi xmlns:a14="http://schemas.microsoft.com/office/drawing/2010/main" val="0"/>
              </a:ext>
            </a:extLst>
          </a:blip>
          <a:stretch>
            <a:fillRect/>
          </a:stretch>
        </p:blipFill>
        <p:spPr>
          <a:xfrm>
            <a:off x="2267744" y="1124744"/>
            <a:ext cx="4430237" cy="5328592"/>
          </a:xfrm>
          <a:prstGeom prst="rect">
            <a:avLst/>
          </a:prstGeom>
        </p:spPr>
      </p:pic>
      <p:sp>
        <p:nvSpPr>
          <p:cNvPr id="2" name="Content Placeholder 1"/>
          <p:cNvSpPr>
            <a:spLocks noGrp="1"/>
          </p:cNvSpPr>
          <p:nvPr>
            <p:ph sz="half" idx="1"/>
          </p:nvPr>
        </p:nvSpPr>
        <p:spPr/>
        <p:txBody>
          <a:bodyPr>
            <a:normAutofit fontScale="92500" lnSpcReduction="10000"/>
          </a:bodyPr>
          <a:lstStyle/>
          <a:p>
            <a:r>
              <a:rPr lang="en-US" sz="2800" dirty="0" smtClean="0">
                <a:latin typeface="Open Sans"/>
                <a:cs typeface="Open Sans"/>
              </a:rPr>
              <a:t>Technical</a:t>
            </a:r>
            <a:endParaRPr lang="en-US" dirty="0" smtClean="0">
              <a:latin typeface="Open Sans"/>
              <a:cs typeface="Open Sans"/>
            </a:endParaRPr>
          </a:p>
          <a:p>
            <a:pPr marL="342900" indent="-342900">
              <a:buFont typeface="Arial"/>
              <a:buChar char="•"/>
            </a:pPr>
            <a:r>
              <a:rPr lang="en-US" dirty="0" smtClean="0"/>
              <a:t>Vulnerability </a:t>
            </a:r>
            <a:r>
              <a:rPr lang="en-US" dirty="0" err="1" smtClean="0"/>
              <a:t>db</a:t>
            </a:r>
            <a:r>
              <a:rPr lang="en-US" dirty="0" smtClean="0"/>
              <a:t> schemas</a:t>
            </a:r>
          </a:p>
          <a:p>
            <a:pPr marL="342900" indent="-342900">
              <a:buFont typeface="Arial"/>
              <a:buChar char="•"/>
            </a:pPr>
            <a:r>
              <a:rPr lang="en-US" dirty="0" smtClean="0"/>
              <a:t>Integration in workflows</a:t>
            </a:r>
          </a:p>
          <a:p>
            <a:pPr marL="968375" lvl="1" indent="-342900">
              <a:buFont typeface="Arial"/>
              <a:buChar char="•"/>
            </a:pPr>
            <a:r>
              <a:rPr lang="en-US" dirty="0" smtClean="0"/>
              <a:t>Build tools, manifests</a:t>
            </a:r>
          </a:p>
          <a:p>
            <a:pPr marL="342900" indent="-342900">
              <a:buFont typeface="Arial"/>
              <a:buChar char="•"/>
            </a:pPr>
            <a:r>
              <a:rPr lang="en-US" dirty="0" smtClean="0"/>
              <a:t>Scan cycle time/speed</a:t>
            </a:r>
          </a:p>
          <a:p>
            <a:pPr marL="968375" lvl="1" indent="-342900">
              <a:buFont typeface="Arial"/>
              <a:buChar char="•"/>
            </a:pPr>
            <a:r>
              <a:rPr lang="en-US" dirty="0" smtClean="0"/>
              <a:t>100s build/day</a:t>
            </a:r>
          </a:p>
          <a:p>
            <a:pPr marL="968375" lvl="1" indent="-342900">
              <a:buFont typeface="Arial"/>
              <a:buChar char="•"/>
            </a:pPr>
            <a:r>
              <a:rPr lang="en-US" dirty="0" err="1" smtClean="0"/>
              <a:t>DevOps</a:t>
            </a:r>
            <a:endParaRPr lang="en-US" dirty="0" smtClean="0"/>
          </a:p>
          <a:p>
            <a:pPr marL="342900" indent="-342900">
              <a:buFont typeface="Arial"/>
              <a:buChar char="•"/>
            </a:pPr>
            <a:r>
              <a:rPr lang="en-US" dirty="0" smtClean="0"/>
              <a:t>Comprehensive scanning</a:t>
            </a:r>
          </a:p>
          <a:p>
            <a:pPr marL="968375" lvl="1" indent="-342900">
              <a:buFont typeface="Arial"/>
              <a:buChar char="•"/>
            </a:pPr>
            <a:r>
              <a:rPr lang="en-US" dirty="0" smtClean="0"/>
              <a:t>Sheer volume</a:t>
            </a:r>
          </a:p>
          <a:p>
            <a:pPr marL="968375" lvl="1" indent="-342900">
              <a:buFont typeface="Arial"/>
              <a:buChar char="•"/>
            </a:pPr>
            <a:r>
              <a:rPr lang="en-US" dirty="0" smtClean="0"/>
              <a:t>Repo locations</a:t>
            </a:r>
          </a:p>
          <a:p>
            <a:pPr marL="968375" lvl="1" indent="-342900">
              <a:buFont typeface="Arial"/>
              <a:buChar char="•"/>
            </a:pPr>
            <a:r>
              <a:rPr lang="en-US" dirty="0" smtClean="0"/>
              <a:t>Language support</a:t>
            </a:r>
          </a:p>
          <a:p>
            <a:pPr marL="968375" lvl="1" indent="-342900">
              <a:buFont typeface="Arial"/>
              <a:buChar char="•"/>
            </a:pPr>
            <a:r>
              <a:rPr lang="en-US" dirty="0" smtClean="0"/>
              <a:t>Modified OSS &amp; snippets</a:t>
            </a:r>
          </a:p>
          <a:p>
            <a:pPr marL="968375" lvl="1" indent="-342900">
              <a:buFont typeface="Arial"/>
              <a:buChar char="•"/>
            </a:pPr>
            <a:r>
              <a:rPr lang="en-US" dirty="0" smtClean="0"/>
              <a:t>Missing versioning</a:t>
            </a:r>
          </a:p>
          <a:p>
            <a:pPr marL="342900" indent="-342900">
              <a:buFont typeface="Arial"/>
              <a:buChar char="•"/>
            </a:pPr>
            <a:r>
              <a:rPr lang="en-US" dirty="0" smtClean="0"/>
              <a:t>Source and Binary</a:t>
            </a:r>
          </a:p>
          <a:p>
            <a:pPr marL="968375" lvl="1" indent="-342900">
              <a:buFont typeface="Arial"/>
              <a:buChar char="•"/>
            </a:pPr>
            <a:endParaRPr lang="en-US" dirty="0"/>
          </a:p>
        </p:txBody>
      </p:sp>
      <p:sp>
        <p:nvSpPr>
          <p:cNvPr id="3" name="Content Placeholder 2"/>
          <p:cNvSpPr>
            <a:spLocks noGrp="1"/>
          </p:cNvSpPr>
          <p:nvPr>
            <p:ph sz="half" idx="2"/>
          </p:nvPr>
        </p:nvSpPr>
        <p:spPr/>
        <p:txBody>
          <a:bodyPr>
            <a:normAutofit/>
          </a:bodyPr>
          <a:lstStyle/>
          <a:p>
            <a:r>
              <a:rPr lang="en-US" sz="2800" dirty="0" smtClean="0">
                <a:latin typeface="Open Sans"/>
                <a:cs typeface="Open Sans"/>
              </a:rPr>
              <a:t>Social / Managerial</a:t>
            </a:r>
          </a:p>
          <a:p>
            <a:pPr marL="342900" indent="-342900">
              <a:buFont typeface="Arial"/>
              <a:buChar char="•"/>
            </a:pPr>
            <a:r>
              <a:rPr lang="en-US" dirty="0" smtClean="0"/>
              <a:t>OSS management policy</a:t>
            </a:r>
          </a:p>
          <a:p>
            <a:pPr marL="342900" indent="-342900">
              <a:buFont typeface="Arial"/>
              <a:buChar char="•"/>
            </a:pPr>
            <a:r>
              <a:rPr lang="en-US" dirty="0" smtClean="0"/>
              <a:t>“Organic” OSS selection, ingress and integration</a:t>
            </a:r>
          </a:p>
          <a:p>
            <a:pPr marL="342900" indent="-342900">
              <a:buFont typeface="Arial"/>
              <a:buChar char="•"/>
            </a:pPr>
            <a:r>
              <a:rPr lang="en-US" dirty="0" smtClean="0"/>
              <a:t>Industry norms</a:t>
            </a:r>
          </a:p>
          <a:p>
            <a:pPr marL="342900" indent="-342900">
              <a:buFont typeface="Arial"/>
              <a:buChar char="•"/>
            </a:pPr>
            <a:r>
              <a:rPr lang="en-US" dirty="0" smtClean="0"/>
              <a:t>Can’t/won’t remediate</a:t>
            </a:r>
          </a:p>
          <a:p>
            <a:pPr marL="968375" lvl="1" indent="-342900"/>
            <a:r>
              <a:rPr lang="en-US" dirty="0" smtClean="0"/>
              <a:t>Architecture issues</a:t>
            </a:r>
          </a:p>
          <a:p>
            <a:pPr marL="968375" lvl="1" indent="-342900"/>
            <a:r>
              <a:rPr lang="en-US" dirty="0" smtClean="0"/>
              <a:t>Version dependencies</a:t>
            </a:r>
          </a:p>
          <a:p>
            <a:pPr marL="968375" lvl="1" indent="-342900"/>
            <a:r>
              <a:rPr lang="en-US" dirty="0" smtClean="0"/>
              <a:t>Using forked versions</a:t>
            </a:r>
          </a:p>
          <a:p>
            <a:pPr marL="342900" indent="-342900">
              <a:buFont typeface="Arial"/>
              <a:buChar char="•"/>
            </a:pPr>
            <a:r>
              <a:rPr lang="en-US" dirty="0" smtClean="0"/>
              <a:t>Warning fatigue</a:t>
            </a:r>
          </a:p>
          <a:p>
            <a:pPr marL="968375" lvl="1" indent="-342900">
              <a:spcAft>
                <a:spcPts val="600"/>
              </a:spcAft>
              <a:buFont typeface="Arial"/>
              <a:buChar char="•"/>
            </a:pPr>
            <a:r>
              <a:rPr lang="en-US" dirty="0" smtClean="0"/>
              <a:t>Hundreds or thousands of OSS components</a:t>
            </a:r>
            <a:endParaRPr lang="en-US" dirty="0"/>
          </a:p>
        </p:txBody>
      </p:sp>
      <p:sp>
        <p:nvSpPr>
          <p:cNvPr id="4" name="Title 3"/>
          <p:cNvSpPr>
            <a:spLocks noGrp="1"/>
          </p:cNvSpPr>
          <p:nvPr>
            <p:ph type="title"/>
          </p:nvPr>
        </p:nvSpPr>
        <p:spPr/>
        <p:txBody>
          <a:bodyPr/>
          <a:lstStyle/>
          <a:p>
            <a:r>
              <a:rPr lang="en-US" dirty="0" smtClean="0"/>
              <a:t>OSS Hygiene challenges</a:t>
            </a:r>
            <a:endParaRPr lang="en-US" dirty="0"/>
          </a:p>
        </p:txBody>
      </p:sp>
    </p:spTree>
    <p:extLst>
      <p:ext uri="{BB962C8B-B14F-4D97-AF65-F5344CB8AC3E}">
        <p14:creationId xmlns:p14="http://schemas.microsoft.com/office/powerpoint/2010/main" val="4253860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dissolve">
                                      <p:cBhvr>
                                        <p:cTn id="10" dur="500"/>
                                        <p:tgtEl>
                                          <p:spTgt spid="2">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dissolve">
                                      <p:cBhvr>
                                        <p:cTn id="13" dur="500"/>
                                        <p:tgtEl>
                                          <p:spTgt spid="2">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dissolve">
                                      <p:cBhvr>
                                        <p:cTn id="16" dur="500"/>
                                        <p:tgtEl>
                                          <p:spTgt spid="2">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dissolve">
                                      <p:cBhvr>
                                        <p:cTn id="19" dur="500"/>
                                        <p:tgtEl>
                                          <p:spTgt spid="2">
                                            <p:txEl>
                                              <p:pRg st="4" end="4"/>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dissolve">
                                      <p:cBhvr>
                                        <p:cTn id="22" dur="500"/>
                                        <p:tgtEl>
                                          <p:spTgt spid="2">
                                            <p:txEl>
                                              <p:pRg st="5" end="5"/>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dissolve">
                                      <p:cBhvr>
                                        <p:cTn id="25" dur="500"/>
                                        <p:tgtEl>
                                          <p:spTgt spid="2">
                                            <p:txEl>
                                              <p:pRg st="6" end="6"/>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dissolve">
                                      <p:cBhvr>
                                        <p:cTn id="28" dur="500"/>
                                        <p:tgtEl>
                                          <p:spTgt spid="2">
                                            <p:txEl>
                                              <p:pRg st="7" end="7"/>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dissolve">
                                      <p:cBhvr>
                                        <p:cTn id="31" dur="500"/>
                                        <p:tgtEl>
                                          <p:spTgt spid="2">
                                            <p:txEl>
                                              <p:pRg st="8" end="8"/>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
                                            <p:txEl>
                                              <p:pRg st="9" end="9"/>
                                            </p:txEl>
                                          </p:spTgt>
                                        </p:tgtEl>
                                        <p:attrNameLst>
                                          <p:attrName>style.visibility</p:attrName>
                                        </p:attrNameLst>
                                      </p:cBhvr>
                                      <p:to>
                                        <p:strVal val="visible"/>
                                      </p:to>
                                    </p:set>
                                    <p:animEffect transition="in" filter="dissolve">
                                      <p:cBhvr>
                                        <p:cTn id="34" dur="500"/>
                                        <p:tgtEl>
                                          <p:spTgt spid="2">
                                            <p:txEl>
                                              <p:pRg st="9" end="9"/>
                                            </p:tx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Effect transition="in" filter="dissolve">
                                      <p:cBhvr>
                                        <p:cTn id="37" dur="500"/>
                                        <p:tgtEl>
                                          <p:spTgt spid="2">
                                            <p:txEl>
                                              <p:pRg st="10" end="10"/>
                                            </p:txEl>
                                          </p:spTgt>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
                                            <p:txEl>
                                              <p:pRg st="11" end="11"/>
                                            </p:txEl>
                                          </p:spTgt>
                                        </p:tgtEl>
                                        <p:attrNameLst>
                                          <p:attrName>style.visibility</p:attrName>
                                        </p:attrNameLst>
                                      </p:cBhvr>
                                      <p:to>
                                        <p:strVal val="visible"/>
                                      </p:to>
                                    </p:set>
                                    <p:animEffect transition="in" filter="dissolve">
                                      <p:cBhvr>
                                        <p:cTn id="40" dur="500"/>
                                        <p:tgtEl>
                                          <p:spTgt spid="2">
                                            <p:txEl>
                                              <p:pRg st="11" end="11"/>
                                            </p:txEl>
                                          </p:spTgt>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animEffect transition="in" filter="dissolve">
                                      <p:cBhvr>
                                        <p:cTn id="43" dur="500"/>
                                        <p:tgtEl>
                                          <p:spTgt spid="2">
                                            <p:txEl>
                                              <p:pRg st="12" end="12"/>
                                            </p:txEl>
                                          </p:spTgt>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
                                            <p:txEl>
                                              <p:pRg st="13" end="13"/>
                                            </p:txEl>
                                          </p:spTgt>
                                        </p:tgtEl>
                                        <p:attrNameLst>
                                          <p:attrName>style.visibility</p:attrName>
                                        </p:attrNameLst>
                                      </p:cBhvr>
                                      <p:to>
                                        <p:strVal val="visible"/>
                                      </p:to>
                                    </p:set>
                                    <p:animEffect transition="in" filter="dissolve">
                                      <p:cBhvr>
                                        <p:cTn id="46" dur="500"/>
                                        <p:tgtEl>
                                          <p:spTgt spid="2">
                                            <p:txEl>
                                              <p:pRg st="13" end="1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animEffect transition="in" filter="dissolve">
                                      <p:cBhvr>
                                        <p:cTn id="51" dur="500"/>
                                        <p:tgtEl>
                                          <p:spTgt spid="3">
                                            <p:txEl>
                                              <p:pRg st="0" end="0"/>
                                            </p:txEl>
                                          </p:spTgt>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3">
                                            <p:txEl>
                                              <p:pRg st="1" end="1"/>
                                            </p:txEl>
                                          </p:spTgt>
                                        </p:tgtEl>
                                        <p:attrNameLst>
                                          <p:attrName>style.visibility</p:attrName>
                                        </p:attrNameLst>
                                      </p:cBhvr>
                                      <p:to>
                                        <p:strVal val="visible"/>
                                      </p:to>
                                    </p:set>
                                    <p:animEffect transition="in" filter="dissolve">
                                      <p:cBhvr>
                                        <p:cTn id="54" dur="500"/>
                                        <p:tgtEl>
                                          <p:spTgt spid="3">
                                            <p:txEl>
                                              <p:pRg st="1" end="1"/>
                                            </p:txEl>
                                          </p:spTgt>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animEffect transition="in" filter="dissolve">
                                      <p:cBhvr>
                                        <p:cTn id="57" dur="500"/>
                                        <p:tgtEl>
                                          <p:spTgt spid="3">
                                            <p:txEl>
                                              <p:pRg st="2" end="2"/>
                                            </p:txEl>
                                          </p:spTgt>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3">
                                            <p:txEl>
                                              <p:pRg st="3" end="3"/>
                                            </p:txEl>
                                          </p:spTgt>
                                        </p:tgtEl>
                                        <p:attrNameLst>
                                          <p:attrName>style.visibility</p:attrName>
                                        </p:attrNameLst>
                                      </p:cBhvr>
                                      <p:to>
                                        <p:strVal val="visible"/>
                                      </p:to>
                                    </p:set>
                                    <p:animEffect transition="in" filter="dissolve">
                                      <p:cBhvr>
                                        <p:cTn id="60" dur="500"/>
                                        <p:tgtEl>
                                          <p:spTgt spid="3">
                                            <p:txEl>
                                              <p:pRg st="3" end="3"/>
                                            </p:txEl>
                                          </p:spTgt>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3">
                                            <p:txEl>
                                              <p:pRg st="4" end="4"/>
                                            </p:txEl>
                                          </p:spTgt>
                                        </p:tgtEl>
                                        <p:attrNameLst>
                                          <p:attrName>style.visibility</p:attrName>
                                        </p:attrNameLst>
                                      </p:cBhvr>
                                      <p:to>
                                        <p:strVal val="visible"/>
                                      </p:to>
                                    </p:set>
                                    <p:animEffect transition="in" filter="dissolve">
                                      <p:cBhvr>
                                        <p:cTn id="63" dur="500"/>
                                        <p:tgtEl>
                                          <p:spTgt spid="3">
                                            <p:txEl>
                                              <p:pRg st="4" end="4"/>
                                            </p:txEl>
                                          </p:spTgt>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3">
                                            <p:txEl>
                                              <p:pRg st="5" end="5"/>
                                            </p:txEl>
                                          </p:spTgt>
                                        </p:tgtEl>
                                        <p:attrNameLst>
                                          <p:attrName>style.visibility</p:attrName>
                                        </p:attrNameLst>
                                      </p:cBhvr>
                                      <p:to>
                                        <p:strVal val="visible"/>
                                      </p:to>
                                    </p:set>
                                    <p:animEffect transition="in" filter="dissolve">
                                      <p:cBhvr>
                                        <p:cTn id="66" dur="500"/>
                                        <p:tgtEl>
                                          <p:spTgt spid="3">
                                            <p:txEl>
                                              <p:pRg st="5" end="5"/>
                                            </p:txEl>
                                          </p:spTgt>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3">
                                            <p:txEl>
                                              <p:pRg st="6" end="6"/>
                                            </p:txEl>
                                          </p:spTgt>
                                        </p:tgtEl>
                                        <p:attrNameLst>
                                          <p:attrName>style.visibility</p:attrName>
                                        </p:attrNameLst>
                                      </p:cBhvr>
                                      <p:to>
                                        <p:strVal val="visible"/>
                                      </p:to>
                                    </p:set>
                                    <p:animEffect transition="in" filter="dissolve">
                                      <p:cBhvr>
                                        <p:cTn id="69" dur="500"/>
                                        <p:tgtEl>
                                          <p:spTgt spid="3">
                                            <p:txEl>
                                              <p:pRg st="6" end="6"/>
                                            </p:txEl>
                                          </p:spTgt>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3">
                                            <p:txEl>
                                              <p:pRg st="7" end="7"/>
                                            </p:txEl>
                                          </p:spTgt>
                                        </p:tgtEl>
                                        <p:attrNameLst>
                                          <p:attrName>style.visibility</p:attrName>
                                        </p:attrNameLst>
                                      </p:cBhvr>
                                      <p:to>
                                        <p:strVal val="visible"/>
                                      </p:to>
                                    </p:set>
                                    <p:animEffect transition="in" filter="dissolve">
                                      <p:cBhvr>
                                        <p:cTn id="72" dur="500"/>
                                        <p:tgtEl>
                                          <p:spTgt spid="3">
                                            <p:txEl>
                                              <p:pRg st="7" end="7"/>
                                            </p:txEl>
                                          </p:spTgt>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3">
                                            <p:txEl>
                                              <p:pRg st="8" end="8"/>
                                            </p:txEl>
                                          </p:spTgt>
                                        </p:tgtEl>
                                        <p:attrNameLst>
                                          <p:attrName>style.visibility</p:attrName>
                                        </p:attrNameLst>
                                      </p:cBhvr>
                                      <p:to>
                                        <p:strVal val="visible"/>
                                      </p:to>
                                    </p:set>
                                    <p:animEffect transition="in" filter="dissolve">
                                      <p:cBhvr>
                                        <p:cTn id="75" dur="500"/>
                                        <p:tgtEl>
                                          <p:spTgt spid="3">
                                            <p:txEl>
                                              <p:pRg st="8" end="8"/>
                                            </p:txEl>
                                          </p:spTgt>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3">
                                            <p:txEl>
                                              <p:pRg st="9" end="9"/>
                                            </p:txEl>
                                          </p:spTgt>
                                        </p:tgtEl>
                                        <p:attrNameLst>
                                          <p:attrName>style.visibility</p:attrName>
                                        </p:attrNameLst>
                                      </p:cBhvr>
                                      <p:to>
                                        <p:strVal val="visible"/>
                                      </p:to>
                                    </p:set>
                                    <p:animEffect transition="in" filter="dissolve">
                                      <p:cBhvr>
                                        <p:cTn id="7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P spid="3" grpId="0" build="allAtOnce"/>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57200" y="4797152"/>
            <a:ext cx="8219256" cy="1512168"/>
          </a:xfrm>
        </p:spPr>
        <p:txBody>
          <a:bodyPr>
            <a:normAutofit lnSpcReduction="10000"/>
          </a:bodyPr>
          <a:lstStyle/>
          <a:p>
            <a:r>
              <a:rPr lang="en-US" dirty="0" smtClean="0"/>
              <a:t>Extenuating Factors</a:t>
            </a:r>
          </a:p>
          <a:p>
            <a:pPr marL="342900" indent="-342900">
              <a:buFont typeface="Arial"/>
              <a:buChar char="•"/>
            </a:pPr>
            <a:r>
              <a:rPr lang="en-US" sz="2000" dirty="0" smtClean="0"/>
              <a:t>Regulated/Unregulated (cuts both ways)</a:t>
            </a:r>
          </a:p>
          <a:p>
            <a:pPr marL="342900" indent="-342900">
              <a:buFont typeface="Arial"/>
              <a:buChar char="•"/>
            </a:pPr>
            <a:r>
              <a:rPr lang="en-US" sz="2000" dirty="0"/>
              <a:t>Dependence on CVSS in </a:t>
            </a:r>
            <a:r>
              <a:rPr lang="en-US" sz="2000" dirty="0" smtClean="0"/>
              <a:t>triage (simplistic / misleading)</a:t>
            </a:r>
          </a:p>
          <a:p>
            <a:pPr marL="342900" indent="-342900">
              <a:buFont typeface="Arial"/>
              <a:buChar char="•"/>
            </a:pPr>
            <a:r>
              <a:rPr lang="en-US" sz="2000" dirty="0" smtClean="0"/>
              <a:t>Impact of social media (Tweets correlate with exploits)</a:t>
            </a:r>
          </a:p>
        </p:txBody>
      </p:sp>
      <p:sp>
        <p:nvSpPr>
          <p:cNvPr id="4" name="Title 3"/>
          <p:cNvSpPr>
            <a:spLocks noGrp="1"/>
          </p:cNvSpPr>
          <p:nvPr>
            <p:ph type="title"/>
          </p:nvPr>
        </p:nvSpPr>
        <p:spPr/>
        <p:txBody>
          <a:bodyPr/>
          <a:lstStyle/>
          <a:p>
            <a:r>
              <a:rPr lang="en-US" dirty="0" smtClean="0"/>
              <a:t>Remediation times by industry</a:t>
            </a:r>
            <a:endParaRPr lang="en-US" dirty="0"/>
          </a:p>
        </p:txBody>
      </p:sp>
      <p:graphicFrame>
        <p:nvGraphicFramePr>
          <p:cNvPr id="5" name="Chart 4"/>
          <p:cNvGraphicFramePr/>
          <p:nvPr>
            <p:extLst>
              <p:ext uri="{D42A27DB-BD31-4B8C-83A1-F6EECF244321}">
                <p14:modId xmlns:p14="http://schemas.microsoft.com/office/powerpoint/2010/main" val="130159473"/>
              </p:ext>
            </p:extLst>
          </p:nvPr>
        </p:nvGraphicFramePr>
        <p:xfrm>
          <a:off x="1115616" y="1124744"/>
          <a:ext cx="7272808" cy="36004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rot="16200000">
            <a:off x="139943" y="2554794"/>
            <a:ext cx="2043796" cy="349702"/>
          </a:xfrm>
          <a:prstGeom prst="rect">
            <a:avLst/>
          </a:prstGeom>
          <a:noFill/>
        </p:spPr>
        <p:txBody>
          <a:bodyPr wrap="none" lIns="36000" tIns="36000" rIns="36000" bIns="36000" rtlCol="0">
            <a:spAutoFit/>
          </a:bodyPr>
          <a:lstStyle/>
          <a:p>
            <a:r>
              <a:rPr lang="en-US" dirty="0" smtClean="0">
                <a:latin typeface="Open Sans"/>
                <a:cs typeface="Open Sans"/>
              </a:rPr>
              <a:t>Days to remediate</a:t>
            </a:r>
          </a:p>
        </p:txBody>
      </p:sp>
      <p:sp>
        <p:nvSpPr>
          <p:cNvPr id="8" name="TextBox 7"/>
          <p:cNvSpPr txBox="1"/>
          <p:nvPr/>
        </p:nvSpPr>
        <p:spPr>
          <a:xfrm>
            <a:off x="7452320" y="1124744"/>
            <a:ext cx="1382319" cy="288147"/>
          </a:xfrm>
          <a:prstGeom prst="rect">
            <a:avLst/>
          </a:prstGeom>
          <a:noFill/>
        </p:spPr>
        <p:txBody>
          <a:bodyPr wrap="none" lIns="36000" tIns="36000" rIns="36000" bIns="36000" rtlCol="0">
            <a:spAutoFit/>
          </a:bodyPr>
          <a:lstStyle/>
          <a:p>
            <a:r>
              <a:rPr lang="en-US" sz="1400" dirty="0" smtClean="0">
                <a:latin typeface="Open Sans"/>
                <a:cs typeface="Open Sans"/>
              </a:rPr>
              <a:t>Source: </a:t>
            </a:r>
            <a:r>
              <a:rPr lang="en-US" sz="1400" dirty="0" err="1" smtClean="0">
                <a:latin typeface="Open Sans"/>
                <a:cs typeface="Open Sans"/>
              </a:rPr>
              <a:t>NopSec</a:t>
            </a:r>
            <a:endParaRPr lang="en-US" sz="1400" dirty="0" smtClean="0">
              <a:latin typeface="Open Sans"/>
              <a:cs typeface="Open Sans"/>
            </a:endParaRPr>
          </a:p>
        </p:txBody>
      </p:sp>
    </p:spTree>
    <p:extLst>
      <p:ext uri="{BB962C8B-B14F-4D97-AF65-F5344CB8AC3E}">
        <p14:creationId xmlns:p14="http://schemas.microsoft.com/office/powerpoint/2010/main" val="364330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8424936" cy="576362"/>
          </a:xfrm>
        </p:spPr>
        <p:txBody>
          <a:bodyPr>
            <a:normAutofit/>
          </a:bodyPr>
          <a:lstStyle/>
          <a:p>
            <a:r>
              <a:rPr lang="en-US" dirty="0" smtClean="0"/>
              <a:t>The Road to Secure OSS Use – best practices</a:t>
            </a:r>
            <a:endParaRPr lang="en-US" dirty="0"/>
          </a:p>
        </p:txBody>
      </p:sp>
      <p:pic>
        <p:nvPicPr>
          <p:cNvPr id="1026" name="Picture 2" descr="C:\Users\kschofield\AppData\Local\Microsoft\Windows\Temporary Internet Files\Content.Outlook\37FGJGUY\Security_Steps_noTex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143000"/>
            <a:ext cx="8818195" cy="52578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38200" y="3733800"/>
            <a:ext cx="2590800" cy="1600200"/>
          </a:xfrm>
          <a:prstGeom prst="rect">
            <a:avLst/>
          </a:prstGeom>
          <a:noFill/>
        </p:spPr>
        <p:txBody>
          <a:bodyPr wrap="square" lIns="36000" tIns="36000" rIns="36000" bIns="36000" rtlCol="0">
            <a:noAutofit/>
          </a:bodyPr>
          <a:lstStyle/>
          <a:p>
            <a:pPr marL="342900" marR="0" lvl="0" indent="-182880">
              <a:spcBef>
                <a:spcPts val="0"/>
              </a:spcBef>
              <a:spcAft>
                <a:spcPts val="0"/>
              </a:spcAft>
              <a:buFont typeface="Wingdings" panose="05000000000000000000" pitchFamily="2" charset="2"/>
              <a:buChar char="§"/>
            </a:pPr>
            <a:r>
              <a:rPr lang="en-US" dirty="0" smtClean="0"/>
              <a:t>Identify OSS in </a:t>
            </a:r>
            <a:r>
              <a:rPr lang="en-US" dirty="0"/>
              <a:t>use</a:t>
            </a:r>
          </a:p>
          <a:p>
            <a:pPr marL="342900" indent="-182880">
              <a:spcBef>
                <a:spcPts val="0"/>
              </a:spcBef>
              <a:buFont typeface="Wingdings" panose="05000000000000000000" pitchFamily="2" charset="2"/>
              <a:buChar char="§"/>
            </a:pPr>
            <a:r>
              <a:rPr lang="en-US" dirty="0" smtClean="0"/>
              <a:t>Map </a:t>
            </a:r>
            <a:r>
              <a:rPr lang="en-US" dirty="0"/>
              <a:t>known </a:t>
            </a:r>
            <a:r>
              <a:rPr lang="en-US" dirty="0" smtClean="0"/>
              <a:t>vulnerabilities</a:t>
            </a:r>
          </a:p>
          <a:p>
            <a:pPr marL="342900" indent="-182880">
              <a:spcBef>
                <a:spcPts val="0"/>
              </a:spcBef>
              <a:buFont typeface="Wingdings" panose="05000000000000000000" pitchFamily="2" charset="2"/>
              <a:buChar char="§"/>
            </a:pPr>
            <a:r>
              <a:rPr lang="en-US" dirty="0" smtClean="0"/>
              <a:t>ID and assess risk</a:t>
            </a:r>
          </a:p>
          <a:p>
            <a:pPr marL="342900" indent="-182880">
              <a:spcBef>
                <a:spcPts val="0"/>
              </a:spcBef>
              <a:buFont typeface="Wingdings" panose="05000000000000000000" pitchFamily="2" charset="2"/>
              <a:buChar char="§"/>
            </a:pPr>
            <a:r>
              <a:rPr lang="en-US" dirty="0" smtClean="0"/>
              <a:t>Monitor </a:t>
            </a:r>
            <a:r>
              <a:rPr lang="en-US" dirty="0"/>
              <a:t>for </a:t>
            </a:r>
            <a:r>
              <a:rPr lang="en-US" dirty="0" smtClean="0"/>
              <a:t>new vulnerabilities</a:t>
            </a:r>
          </a:p>
        </p:txBody>
      </p:sp>
      <p:sp>
        <p:nvSpPr>
          <p:cNvPr id="4" name="TextBox 3"/>
          <p:cNvSpPr txBox="1"/>
          <p:nvPr/>
        </p:nvSpPr>
        <p:spPr>
          <a:xfrm>
            <a:off x="3581400" y="3733800"/>
            <a:ext cx="2358752" cy="2215480"/>
          </a:xfrm>
          <a:prstGeom prst="rect">
            <a:avLst/>
          </a:prstGeom>
          <a:noFill/>
        </p:spPr>
        <p:txBody>
          <a:bodyPr wrap="square" lIns="36000" tIns="36000" rIns="36000" bIns="36000" rtlCol="0">
            <a:noAutofit/>
          </a:bodyPr>
          <a:lstStyle/>
          <a:p>
            <a:pPr marL="285750" marR="0" lvl="0" indent="-285750">
              <a:spcBef>
                <a:spcPts val="0"/>
              </a:spcBef>
              <a:spcAft>
                <a:spcPts val="0"/>
              </a:spcAft>
              <a:buFont typeface="Wingdings" panose="05000000000000000000" pitchFamily="2" charset="2"/>
              <a:buChar char="§"/>
            </a:pPr>
            <a:r>
              <a:rPr lang="en-US" dirty="0"/>
              <a:t>R</a:t>
            </a:r>
            <a:r>
              <a:rPr lang="en-US" dirty="0" smtClean="0"/>
              <a:t>eview </a:t>
            </a:r>
            <a:r>
              <a:rPr lang="en-US" dirty="0" err="1" smtClean="0"/>
              <a:t>vuln</a:t>
            </a:r>
            <a:r>
              <a:rPr lang="en-US" dirty="0" smtClean="0"/>
              <a:t> details</a:t>
            </a:r>
            <a:endParaRPr lang="en-US" dirty="0"/>
          </a:p>
          <a:p>
            <a:pPr marL="285750" indent="-285750">
              <a:buFont typeface="Wingdings" panose="05000000000000000000" pitchFamily="2" charset="2"/>
              <a:buChar char="§"/>
            </a:pPr>
            <a:r>
              <a:rPr lang="en-US" dirty="0"/>
              <a:t>Assess CVE </a:t>
            </a:r>
            <a:r>
              <a:rPr lang="en-US" dirty="0" smtClean="0"/>
              <a:t>impact</a:t>
            </a:r>
          </a:p>
          <a:p>
            <a:pPr marL="285750" indent="-285750">
              <a:buFont typeface="Wingdings" panose="05000000000000000000" pitchFamily="2" charset="2"/>
              <a:buChar char="§"/>
            </a:pPr>
            <a:r>
              <a:rPr lang="en-US" dirty="0" smtClean="0"/>
              <a:t>Rank / tier app risk </a:t>
            </a:r>
          </a:p>
          <a:p>
            <a:pPr marL="285750" indent="-285750">
              <a:buFont typeface="Wingdings" panose="05000000000000000000" pitchFamily="2" charset="2"/>
              <a:buChar char="§"/>
            </a:pPr>
            <a:r>
              <a:rPr lang="en-US" dirty="0" smtClean="0"/>
              <a:t>Triage and develop remediation plan</a:t>
            </a:r>
            <a:endParaRPr lang="en-US" dirty="0"/>
          </a:p>
          <a:p>
            <a:pPr marL="285750" marR="0" lvl="0" indent="-285750">
              <a:spcBef>
                <a:spcPts val="0"/>
              </a:spcBef>
              <a:spcAft>
                <a:spcPts val="0"/>
              </a:spcAft>
              <a:buFont typeface="Wingdings" panose="05000000000000000000" pitchFamily="2" charset="2"/>
              <a:buChar char="§"/>
            </a:pPr>
            <a:r>
              <a:rPr lang="en-US" dirty="0" smtClean="0"/>
              <a:t>Track remediation</a:t>
            </a:r>
          </a:p>
          <a:p>
            <a:pPr marL="182880" marR="0" lvl="0" indent="-182880">
              <a:spcBef>
                <a:spcPts val="0"/>
              </a:spcBef>
              <a:spcAft>
                <a:spcPts val="0"/>
              </a:spcAft>
              <a:buFont typeface="Arial" panose="020B0604020202020204" pitchFamily="34" charset="0"/>
              <a:buChar char="•"/>
            </a:pPr>
            <a:endParaRPr lang="en-US" dirty="0">
              <a:ea typeface="Cambria"/>
              <a:cs typeface="Times New Roman"/>
            </a:endParaRPr>
          </a:p>
          <a:p>
            <a:endParaRPr lang="en-US" dirty="0" err="1" smtClean="0"/>
          </a:p>
        </p:txBody>
      </p:sp>
      <p:sp>
        <p:nvSpPr>
          <p:cNvPr id="5" name="TextBox 4"/>
          <p:cNvSpPr txBox="1"/>
          <p:nvPr/>
        </p:nvSpPr>
        <p:spPr>
          <a:xfrm>
            <a:off x="6172200" y="3733800"/>
            <a:ext cx="2438400" cy="1981200"/>
          </a:xfrm>
          <a:prstGeom prst="rect">
            <a:avLst/>
          </a:prstGeom>
          <a:noFill/>
        </p:spPr>
        <p:txBody>
          <a:bodyPr wrap="square" lIns="36000" tIns="36000" rIns="36000" bIns="36000" rtlCol="0">
            <a:noAutofit/>
          </a:bodyPr>
          <a:lstStyle/>
          <a:p>
            <a:pPr marL="182880" indent="-182880">
              <a:spcBef>
                <a:spcPts val="0"/>
              </a:spcBef>
              <a:buFont typeface="Wingdings" panose="05000000000000000000" pitchFamily="2" charset="2"/>
              <a:buChar char="§"/>
            </a:pPr>
            <a:r>
              <a:rPr lang="en-US" dirty="0"/>
              <a:t>Inventory &amp; track </a:t>
            </a:r>
            <a:r>
              <a:rPr lang="en-US" dirty="0" smtClean="0"/>
              <a:t>usage</a:t>
            </a:r>
          </a:p>
          <a:p>
            <a:pPr marL="182880" indent="-182880">
              <a:spcBef>
                <a:spcPts val="0"/>
              </a:spcBef>
              <a:buFont typeface="Wingdings" panose="05000000000000000000" pitchFamily="2" charset="2"/>
              <a:buChar char="§"/>
            </a:pPr>
            <a:r>
              <a:rPr lang="en-US" dirty="0" smtClean="0"/>
              <a:t>Configure risk policies and actions </a:t>
            </a:r>
          </a:p>
          <a:p>
            <a:pPr marL="182880" indent="-182880">
              <a:spcBef>
                <a:spcPts val="0"/>
              </a:spcBef>
              <a:buFont typeface="Wingdings" panose="05000000000000000000" pitchFamily="2" charset="2"/>
              <a:buChar char="§"/>
            </a:pPr>
            <a:r>
              <a:rPr lang="en-US" dirty="0" smtClean="0"/>
              <a:t>Determine approval request workflow and management</a:t>
            </a:r>
          </a:p>
        </p:txBody>
      </p:sp>
      <p:sp>
        <p:nvSpPr>
          <p:cNvPr id="6" name="Rectangle 5"/>
          <p:cNvSpPr/>
          <p:nvPr/>
        </p:nvSpPr>
        <p:spPr>
          <a:xfrm>
            <a:off x="2339752" y="1340768"/>
            <a:ext cx="648072" cy="432048"/>
          </a:xfrm>
          <a:prstGeom prst="rect">
            <a:avLst/>
          </a:prstGeom>
          <a:solidFill>
            <a:srgbClr val="129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4932040" y="1340768"/>
            <a:ext cx="648072" cy="432048"/>
          </a:xfrm>
          <a:prstGeom prst="rect">
            <a:avLst/>
          </a:prstGeom>
          <a:solidFill>
            <a:srgbClr val="129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7380312" y="1340768"/>
            <a:ext cx="648072" cy="432048"/>
          </a:xfrm>
          <a:prstGeom prst="rect">
            <a:avLst/>
          </a:prstGeom>
          <a:solidFill>
            <a:srgbClr val="129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675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OSS Remediation / Triage considerations</a:t>
            </a:r>
            <a:endParaRPr lang="en-US" dirty="0"/>
          </a:p>
        </p:txBody>
      </p:sp>
      <p:sp>
        <p:nvSpPr>
          <p:cNvPr id="5" name="Content Placeholder 4"/>
          <p:cNvSpPr>
            <a:spLocks noGrp="1"/>
          </p:cNvSpPr>
          <p:nvPr>
            <p:ph idx="1"/>
          </p:nvPr>
        </p:nvSpPr>
        <p:spPr/>
        <p:txBody>
          <a:bodyPr/>
          <a:lstStyle/>
          <a:p>
            <a:pPr>
              <a:lnSpc>
                <a:spcPct val="140000"/>
              </a:lnSpc>
            </a:pPr>
            <a:r>
              <a:rPr lang="en-US" sz="2400" dirty="0" smtClean="0">
                <a:latin typeface="Open Sans"/>
                <a:cs typeface="Open Sans"/>
              </a:rPr>
              <a:t>Comparable to other types of software</a:t>
            </a:r>
          </a:p>
          <a:p>
            <a:pPr marL="342900" indent="-342900">
              <a:lnSpc>
                <a:spcPct val="140000"/>
              </a:lnSpc>
              <a:buFont typeface="Arial"/>
              <a:buChar char="•"/>
            </a:pPr>
            <a:r>
              <a:rPr lang="en-US" dirty="0" smtClean="0"/>
              <a:t>Severity of vulnerability (CVSS and other rankings)</a:t>
            </a:r>
          </a:p>
          <a:p>
            <a:pPr marL="342900" indent="-342900">
              <a:lnSpc>
                <a:spcPct val="140000"/>
              </a:lnSpc>
              <a:buFont typeface="Arial"/>
              <a:buChar char="•"/>
            </a:pPr>
            <a:r>
              <a:rPr lang="en-US" dirty="0" smtClean="0"/>
              <a:t>Number of vulnerabilities / component</a:t>
            </a:r>
          </a:p>
          <a:p>
            <a:pPr marL="342900" indent="-342900">
              <a:lnSpc>
                <a:spcPct val="140000"/>
              </a:lnSpc>
              <a:buFont typeface="Arial"/>
              <a:buChar char="•"/>
            </a:pPr>
            <a:r>
              <a:rPr lang="en-US" dirty="0" smtClean="0"/>
              <a:t>Existence/availability of exploits (if known)</a:t>
            </a:r>
          </a:p>
          <a:p>
            <a:pPr marL="342900" indent="-342900">
              <a:lnSpc>
                <a:spcPct val="140000"/>
              </a:lnSpc>
              <a:buFont typeface="Arial"/>
              <a:buChar char="•"/>
            </a:pPr>
            <a:r>
              <a:rPr lang="en-US" dirty="0" smtClean="0"/>
              <a:t>Context of vulnerability (internet/customer facing vs. internal)</a:t>
            </a:r>
          </a:p>
          <a:p>
            <a:pPr marL="342900" indent="-342900">
              <a:lnSpc>
                <a:spcPct val="140000"/>
              </a:lnSpc>
              <a:buFont typeface="Arial"/>
              <a:buChar char="•"/>
            </a:pPr>
            <a:r>
              <a:rPr lang="en-US" dirty="0" smtClean="0"/>
              <a:t>Availability of patches or other remediation</a:t>
            </a:r>
          </a:p>
          <a:p>
            <a:pPr marL="342900" indent="-342900">
              <a:lnSpc>
                <a:spcPct val="140000"/>
              </a:lnSpc>
              <a:buFont typeface="Arial"/>
              <a:buChar char="•"/>
            </a:pPr>
            <a:r>
              <a:rPr lang="en-US" dirty="0" smtClean="0"/>
              <a:t>Existence of comparable functionality in alternate OSS tech</a:t>
            </a:r>
          </a:p>
          <a:p>
            <a:pPr marL="342900" indent="-342900">
              <a:lnSpc>
                <a:spcPct val="140000"/>
              </a:lnSpc>
              <a:buFont typeface="Arial"/>
              <a:buChar char="•"/>
            </a:pPr>
            <a:r>
              <a:rPr lang="en-US" dirty="0" smtClean="0"/>
              <a:t>Willingness / capability to patch / maintain OSS forks</a:t>
            </a:r>
            <a:endParaRPr lang="en-US" dirty="0"/>
          </a:p>
        </p:txBody>
      </p:sp>
    </p:spTree>
    <p:extLst>
      <p:ext uri="{BB962C8B-B14F-4D97-AF65-F5344CB8AC3E}">
        <p14:creationId xmlns:p14="http://schemas.microsoft.com/office/powerpoint/2010/main" val="4101114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half" idx="1"/>
            <p:extLst>
              <p:ext uri="{D42A27DB-BD31-4B8C-83A1-F6EECF244321}">
                <p14:modId xmlns:p14="http://schemas.microsoft.com/office/powerpoint/2010/main" val="1372959242"/>
              </p:ext>
            </p:extLst>
          </p:nvPr>
        </p:nvGraphicFramePr>
        <p:xfrm>
          <a:off x="323528" y="1197064"/>
          <a:ext cx="8424936" cy="4632960"/>
        </p:xfrm>
        <a:graphic>
          <a:graphicData uri="http://schemas.openxmlformats.org/drawingml/2006/table">
            <a:tbl>
              <a:tblPr firstRow="1" bandRow="1">
                <a:tableStyleId>{5C22544A-7EE6-4342-B048-85BDC9FD1C3A}</a:tableStyleId>
              </a:tblPr>
              <a:tblGrid>
                <a:gridCol w="3108142"/>
                <a:gridCol w="2729100"/>
                <a:gridCol w="2587694"/>
              </a:tblGrid>
              <a:tr h="370840">
                <a:tc>
                  <a:txBody>
                    <a:bodyPr/>
                    <a:lstStyle/>
                    <a:p>
                      <a:endParaRPr lang="en-US" sz="1600" dirty="0">
                        <a:latin typeface="Open Sans"/>
                        <a:cs typeface="Open Sans"/>
                      </a:endParaRPr>
                    </a:p>
                  </a:txBody>
                  <a:tcPr/>
                </a:tc>
                <a:tc>
                  <a:txBody>
                    <a:bodyPr/>
                    <a:lstStyle/>
                    <a:p>
                      <a:pPr algn="ctr"/>
                      <a:r>
                        <a:rPr lang="en-US" sz="1600" dirty="0" smtClean="0">
                          <a:latin typeface="Open Sans"/>
                          <a:cs typeface="Open Sans"/>
                        </a:rPr>
                        <a:t>Manual</a:t>
                      </a:r>
                      <a:r>
                        <a:rPr lang="en-US" sz="1600" baseline="0" dirty="0" smtClean="0">
                          <a:latin typeface="Open Sans"/>
                          <a:cs typeface="Open Sans"/>
                        </a:rPr>
                        <a:t> Procedure</a:t>
                      </a:r>
                    </a:p>
                    <a:p>
                      <a:pPr algn="ctr"/>
                      <a:endParaRPr lang="en-US" sz="1600" baseline="0" dirty="0" smtClean="0">
                        <a:latin typeface="Open Sans"/>
                        <a:cs typeface="Open Sans"/>
                      </a:endParaRPr>
                    </a:p>
                    <a:p>
                      <a:pPr algn="ctr"/>
                      <a:endParaRPr lang="en-US" sz="1600" dirty="0" smtClean="0">
                        <a:latin typeface="Open Sans"/>
                        <a:cs typeface="Open Sans"/>
                      </a:endParaRPr>
                    </a:p>
                    <a:p>
                      <a:pPr algn="ctr"/>
                      <a:endParaRPr lang="en-US" sz="1600" dirty="0">
                        <a:latin typeface="Open Sans"/>
                        <a:cs typeface="Open Sans"/>
                      </a:endParaRPr>
                    </a:p>
                  </a:txBody>
                  <a:tcPr/>
                </a:tc>
                <a:tc>
                  <a:txBody>
                    <a:bodyPr/>
                    <a:lstStyle/>
                    <a:p>
                      <a:pPr algn="ctr"/>
                      <a:r>
                        <a:rPr lang="en-US" sz="1600" dirty="0" smtClean="0">
                          <a:latin typeface="Open Sans"/>
                          <a:cs typeface="Open Sans"/>
                        </a:rPr>
                        <a:t>Automated Process</a:t>
                      </a:r>
                      <a:endParaRPr lang="en-US" sz="1600" dirty="0">
                        <a:latin typeface="Open Sans"/>
                        <a:cs typeface="Open Sans"/>
                      </a:endParaRPr>
                    </a:p>
                  </a:txBody>
                  <a:tcPr/>
                </a:tc>
              </a:tr>
              <a:tr h="370840">
                <a:tc>
                  <a:txBody>
                    <a:bodyPr/>
                    <a:lstStyle/>
                    <a:p>
                      <a:pPr>
                        <a:spcBef>
                          <a:spcPts val="800"/>
                        </a:spcBef>
                        <a:spcAft>
                          <a:spcPts val="800"/>
                        </a:spcAft>
                      </a:pPr>
                      <a:r>
                        <a:rPr lang="en-US" sz="2000" b="1" dirty="0" smtClean="0">
                          <a:latin typeface="Open Sans"/>
                          <a:cs typeface="Open Sans"/>
                        </a:rPr>
                        <a:t>Speed</a:t>
                      </a:r>
                      <a:endParaRPr lang="en-US" sz="2000" b="1"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Slow</a:t>
                      </a:r>
                      <a:endParaRPr lang="en-US" sz="2000"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Faster</a:t>
                      </a:r>
                      <a:endParaRPr lang="en-US" sz="2000" dirty="0">
                        <a:latin typeface="Open Sans"/>
                        <a:cs typeface="Open Sans"/>
                      </a:endParaRPr>
                    </a:p>
                  </a:txBody>
                  <a:tcPr/>
                </a:tc>
              </a:tr>
              <a:tr h="370840">
                <a:tc>
                  <a:txBody>
                    <a:bodyPr/>
                    <a:lstStyle/>
                    <a:p>
                      <a:pPr>
                        <a:spcBef>
                          <a:spcPts val="800"/>
                        </a:spcBef>
                        <a:spcAft>
                          <a:spcPts val="800"/>
                        </a:spcAft>
                      </a:pPr>
                      <a:r>
                        <a:rPr lang="en-US" sz="2000" b="1" dirty="0" smtClean="0">
                          <a:latin typeface="Open Sans"/>
                          <a:cs typeface="Open Sans"/>
                        </a:rPr>
                        <a:t>Timeliness</a:t>
                      </a:r>
                      <a:endParaRPr lang="en-US" sz="2000" b="1"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Seldom</a:t>
                      </a:r>
                      <a:endParaRPr lang="en-US" sz="2000"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Automatic</a:t>
                      </a:r>
                      <a:endParaRPr lang="en-US" sz="2000" dirty="0">
                        <a:latin typeface="Open Sans"/>
                        <a:cs typeface="Open Sans"/>
                      </a:endParaRPr>
                    </a:p>
                  </a:txBody>
                  <a:tcPr/>
                </a:tc>
              </a:tr>
              <a:tr h="370840">
                <a:tc>
                  <a:txBody>
                    <a:bodyPr/>
                    <a:lstStyle/>
                    <a:p>
                      <a:pPr>
                        <a:spcBef>
                          <a:spcPts val="800"/>
                        </a:spcBef>
                        <a:spcAft>
                          <a:spcPts val="800"/>
                        </a:spcAft>
                      </a:pPr>
                      <a:r>
                        <a:rPr lang="en-US" sz="2000" b="1" dirty="0" smtClean="0">
                          <a:latin typeface="Open Sans"/>
                          <a:cs typeface="Open Sans"/>
                        </a:rPr>
                        <a:t>Accuracy</a:t>
                      </a:r>
                      <a:endParaRPr lang="en-US" sz="2000" b="1"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Low</a:t>
                      </a:r>
                      <a:endParaRPr lang="en-US" sz="2000"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High</a:t>
                      </a:r>
                      <a:endParaRPr lang="en-US" sz="2000" dirty="0">
                        <a:latin typeface="Open Sans"/>
                        <a:cs typeface="Open Sans"/>
                      </a:endParaRPr>
                    </a:p>
                  </a:txBody>
                  <a:tcPr/>
                </a:tc>
              </a:tr>
              <a:tr h="370840">
                <a:tc>
                  <a:txBody>
                    <a:bodyPr/>
                    <a:lstStyle/>
                    <a:p>
                      <a:pPr>
                        <a:spcBef>
                          <a:spcPts val="800"/>
                        </a:spcBef>
                        <a:spcAft>
                          <a:spcPts val="800"/>
                        </a:spcAft>
                      </a:pPr>
                      <a:r>
                        <a:rPr lang="en-US" sz="2000" b="1" dirty="0" smtClean="0">
                          <a:latin typeface="Open Sans"/>
                          <a:cs typeface="Open Sans"/>
                        </a:rPr>
                        <a:t>Comprehensiveness</a:t>
                      </a:r>
                      <a:endParaRPr lang="en-US" sz="2000" b="1"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With Difficulty</a:t>
                      </a:r>
                      <a:endParaRPr lang="en-US" sz="2000"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Configurable</a:t>
                      </a:r>
                      <a:endParaRPr lang="en-US" sz="2000" dirty="0">
                        <a:latin typeface="Open Sans"/>
                        <a:cs typeface="Open Sans"/>
                      </a:endParaRPr>
                    </a:p>
                  </a:txBody>
                  <a:tcPr/>
                </a:tc>
              </a:tr>
              <a:tr h="370840">
                <a:tc>
                  <a:txBody>
                    <a:bodyPr/>
                    <a:lstStyle/>
                    <a:p>
                      <a:pPr>
                        <a:spcBef>
                          <a:spcPts val="800"/>
                        </a:spcBef>
                        <a:spcAft>
                          <a:spcPts val="800"/>
                        </a:spcAft>
                      </a:pPr>
                      <a:r>
                        <a:rPr lang="en-US" sz="2000" b="1" dirty="0" smtClean="0">
                          <a:latin typeface="Open Sans"/>
                          <a:cs typeface="Open Sans"/>
                        </a:rPr>
                        <a:t>Latency</a:t>
                      </a:r>
                      <a:endParaRPr lang="en-US" sz="2000" b="1"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Weeks / Months</a:t>
                      </a:r>
                      <a:endParaRPr lang="en-US" sz="2000"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Hours</a:t>
                      </a:r>
                      <a:endParaRPr lang="en-US" sz="2000" dirty="0">
                        <a:latin typeface="Open Sans"/>
                        <a:cs typeface="Open Sans"/>
                      </a:endParaRPr>
                    </a:p>
                  </a:txBody>
                  <a:tcPr/>
                </a:tc>
              </a:tr>
              <a:tr h="370840">
                <a:tc>
                  <a:txBody>
                    <a:bodyPr/>
                    <a:lstStyle/>
                    <a:p>
                      <a:pPr>
                        <a:spcBef>
                          <a:spcPts val="800"/>
                        </a:spcBef>
                        <a:spcAft>
                          <a:spcPts val="800"/>
                        </a:spcAft>
                      </a:pPr>
                      <a:r>
                        <a:rPr lang="en-US" sz="2000" b="1" dirty="0" smtClean="0">
                          <a:latin typeface="Open Sans"/>
                          <a:cs typeface="Open Sans"/>
                        </a:rPr>
                        <a:t>Workflow Impact</a:t>
                      </a:r>
                      <a:endParaRPr lang="en-US" sz="2000" b="1"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Disruptive</a:t>
                      </a:r>
                      <a:endParaRPr lang="en-US" sz="2000"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Transparent</a:t>
                      </a:r>
                      <a:endParaRPr lang="en-US" sz="2000" dirty="0">
                        <a:latin typeface="Open Sans"/>
                        <a:cs typeface="Open Sans"/>
                      </a:endParaRPr>
                    </a:p>
                  </a:txBody>
                  <a:tcPr/>
                </a:tc>
              </a:tr>
              <a:tr h="370840">
                <a:tc>
                  <a:txBody>
                    <a:bodyPr/>
                    <a:lstStyle/>
                    <a:p>
                      <a:pPr>
                        <a:spcBef>
                          <a:spcPts val="800"/>
                        </a:spcBef>
                        <a:spcAft>
                          <a:spcPts val="800"/>
                        </a:spcAft>
                      </a:pPr>
                      <a:r>
                        <a:rPr lang="en-US" sz="2000" b="1" dirty="0" smtClean="0">
                          <a:latin typeface="Open Sans"/>
                          <a:cs typeface="Open Sans"/>
                        </a:rPr>
                        <a:t>Repeatable / Traceable</a:t>
                      </a:r>
                      <a:endParaRPr lang="en-US" sz="2000" b="1"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Almost Never</a:t>
                      </a:r>
                      <a:endParaRPr lang="en-US" sz="2000"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Always</a:t>
                      </a:r>
                      <a:endParaRPr lang="en-US" sz="2000" dirty="0">
                        <a:latin typeface="Open Sans"/>
                        <a:cs typeface="Open Sans"/>
                      </a:endParaRPr>
                    </a:p>
                  </a:txBody>
                  <a:tcPr/>
                </a:tc>
              </a:tr>
              <a:tr h="370840">
                <a:tc>
                  <a:txBody>
                    <a:bodyPr/>
                    <a:lstStyle/>
                    <a:p>
                      <a:pPr>
                        <a:spcBef>
                          <a:spcPts val="800"/>
                        </a:spcBef>
                        <a:spcAft>
                          <a:spcPts val="800"/>
                        </a:spcAft>
                      </a:pPr>
                      <a:r>
                        <a:rPr lang="en-US" sz="2000" b="1" dirty="0" smtClean="0">
                          <a:latin typeface="Open Sans"/>
                          <a:cs typeface="Open Sans"/>
                        </a:rPr>
                        <a:t>Remediation</a:t>
                      </a:r>
                      <a:endParaRPr lang="en-US" sz="2000" b="1"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Subjective</a:t>
                      </a:r>
                      <a:endParaRPr lang="en-US" sz="2000"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Policy-based</a:t>
                      </a:r>
                      <a:endParaRPr lang="en-US" sz="2000" dirty="0">
                        <a:latin typeface="Open Sans"/>
                        <a:cs typeface="Open Sans"/>
                      </a:endParaRPr>
                    </a:p>
                  </a:txBody>
                  <a:tcPr/>
                </a:tc>
              </a:tr>
              <a:tr h="370840">
                <a:tc>
                  <a:txBody>
                    <a:bodyPr/>
                    <a:lstStyle/>
                    <a:p>
                      <a:pPr>
                        <a:spcBef>
                          <a:spcPts val="800"/>
                        </a:spcBef>
                        <a:spcAft>
                          <a:spcPts val="800"/>
                        </a:spcAft>
                      </a:pPr>
                      <a:r>
                        <a:rPr lang="en-US" sz="2000" b="1" dirty="0" smtClean="0">
                          <a:latin typeface="Open Sans"/>
                          <a:cs typeface="Open Sans"/>
                        </a:rPr>
                        <a:t>Cost</a:t>
                      </a:r>
                      <a:endParaRPr lang="en-US" sz="2000" b="1" dirty="0">
                        <a:latin typeface="Open Sans"/>
                        <a:cs typeface="Open Sans"/>
                      </a:endParaRPr>
                    </a:p>
                  </a:txBody>
                  <a:tcPr/>
                </a:tc>
                <a:tc>
                  <a:txBody>
                    <a:bodyPr/>
                    <a:lstStyle/>
                    <a:p>
                      <a:pPr algn="ctr">
                        <a:spcBef>
                          <a:spcPts val="800"/>
                        </a:spcBef>
                        <a:spcAft>
                          <a:spcPts val="800"/>
                        </a:spcAft>
                      </a:pPr>
                      <a:r>
                        <a:rPr lang="en-US" sz="2000" dirty="0" smtClean="0">
                          <a:latin typeface="Open Sans"/>
                          <a:cs typeface="Open Sans"/>
                        </a:rPr>
                        <a:t>FTEs</a:t>
                      </a:r>
                      <a:endParaRPr lang="en-US" sz="2000" dirty="0">
                        <a:latin typeface="Open Sans"/>
                        <a:cs typeface="Open Sans"/>
                      </a:endParaRPr>
                    </a:p>
                  </a:txBody>
                  <a:tcPr/>
                </a:tc>
                <a:tc>
                  <a:txBody>
                    <a:bodyPr/>
                    <a:lstStyle/>
                    <a:p>
                      <a:pPr algn="ctr">
                        <a:spcBef>
                          <a:spcPts val="800"/>
                        </a:spcBef>
                        <a:spcAft>
                          <a:spcPts val="800"/>
                        </a:spcAft>
                      </a:pPr>
                      <a:r>
                        <a:rPr lang="en-US" sz="2000" dirty="0" err="1" smtClean="0">
                          <a:latin typeface="Open Sans"/>
                          <a:cs typeface="Open Sans"/>
                        </a:rPr>
                        <a:t>CapEx</a:t>
                      </a:r>
                      <a:r>
                        <a:rPr lang="en-US" sz="2000" dirty="0" smtClean="0">
                          <a:latin typeface="Open Sans"/>
                          <a:cs typeface="Open Sans"/>
                        </a:rPr>
                        <a:t> / OpEx</a:t>
                      </a:r>
                      <a:endParaRPr lang="en-US" sz="2000" dirty="0">
                        <a:latin typeface="Open Sans"/>
                        <a:cs typeface="Open Sans"/>
                      </a:endParaRPr>
                    </a:p>
                  </a:txBody>
                  <a:tcPr/>
                </a:tc>
              </a:tr>
            </a:tbl>
          </a:graphicData>
        </a:graphic>
      </p:graphicFrame>
      <p:sp>
        <p:nvSpPr>
          <p:cNvPr id="4" name="Title 3"/>
          <p:cNvSpPr>
            <a:spLocks noGrp="1"/>
          </p:cNvSpPr>
          <p:nvPr>
            <p:ph type="title"/>
          </p:nvPr>
        </p:nvSpPr>
        <p:spPr/>
        <p:txBody>
          <a:bodyPr/>
          <a:lstStyle/>
          <a:p>
            <a:r>
              <a:rPr lang="en-US" dirty="0" smtClean="0"/>
              <a:t>OSS Hygiene – the need for automation</a:t>
            </a:r>
            <a:endParaRPr lang="en-US" dirty="0"/>
          </a:p>
        </p:txBody>
      </p:sp>
      <p:grpSp>
        <p:nvGrpSpPr>
          <p:cNvPr id="10" name="Group 9"/>
          <p:cNvGrpSpPr/>
          <p:nvPr/>
        </p:nvGrpSpPr>
        <p:grpSpPr>
          <a:xfrm>
            <a:off x="4211960" y="1629112"/>
            <a:ext cx="1152128" cy="504056"/>
            <a:chOff x="3923928" y="1484784"/>
            <a:chExt cx="1152128" cy="504056"/>
          </a:xfrm>
        </p:grpSpPr>
        <p:pic>
          <p:nvPicPr>
            <p:cNvPr id="6" name="Picture 5"/>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0" b="95985" l="0" r="100000">
                          <a14:foregroundMark x1="57986" y1="5839" x2="57986" y2="5839"/>
                          <a14:foregroundMark x1="32986" y1="8394" x2="32986" y2="8394"/>
                          <a14:foregroundMark x1="33681" y1="21898" x2="33681" y2="21898"/>
                          <a14:foregroundMark x1="33333" y1="33942" x2="33333" y2="33942"/>
                          <a14:foregroundMark x1="8333" y1="45620" x2="8333" y2="45620"/>
                          <a14:foregroundMark x1="95139" y1="47080" x2="95139" y2="47080"/>
                          <a14:foregroundMark x1="76389" y1="25182" x2="76389" y2="25182"/>
                          <a14:foregroundMark x1="57292" y1="33212" x2="57292" y2="33212"/>
                        </a14:backgroundRemoval>
                      </a14:imgEffect>
                    </a14:imgLayer>
                  </a14:imgProps>
                </a:ext>
              </a:extLst>
            </a:blip>
            <a:stretch>
              <a:fillRect/>
            </a:stretch>
          </p:blipFill>
          <p:spPr>
            <a:xfrm flipH="1">
              <a:off x="3923928" y="1484784"/>
              <a:ext cx="529811" cy="504056"/>
            </a:xfrm>
            <a:prstGeom prst="rect">
              <a:avLst/>
            </a:prstGeom>
          </p:spPr>
        </p:pic>
        <p:pic>
          <p:nvPicPr>
            <p:cNvPr id="7" name="Picture 6"/>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0" b="95985" l="0" r="100000">
                          <a14:foregroundMark x1="57986" y1="5839" x2="57986" y2="5839"/>
                          <a14:foregroundMark x1="32986" y1="8394" x2="32986" y2="8394"/>
                          <a14:foregroundMark x1="33681" y1="21898" x2="33681" y2="21898"/>
                          <a14:foregroundMark x1="33333" y1="33942" x2="33333" y2="33942"/>
                          <a14:foregroundMark x1="8333" y1="45620" x2="8333" y2="45620"/>
                          <a14:foregroundMark x1="95139" y1="47080" x2="95139" y2="47080"/>
                          <a14:foregroundMark x1="76389" y1="25182" x2="76389" y2="25182"/>
                          <a14:foregroundMark x1="57292" y1="33212" x2="57292" y2="33212"/>
                        </a14:backgroundRemoval>
                      </a14:imgEffect>
                    </a14:imgLayer>
                  </a14:imgProps>
                </a:ext>
              </a:extLst>
            </a:blip>
            <a:stretch>
              <a:fillRect/>
            </a:stretch>
          </p:blipFill>
          <p:spPr>
            <a:xfrm>
              <a:off x="4546245" y="1484784"/>
              <a:ext cx="529811" cy="504056"/>
            </a:xfrm>
            <a:prstGeom prst="rect">
              <a:avLst/>
            </a:prstGeom>
          </p:spPr>
        </p:pic>
      </p:grpSp>
      <p:pic>
        <p:nvPicPr>
          <p:cNvPr id="9" name="Picture 8"/>
          <p:cNvPicPr>
            <a:picLocks noChangeAspect="1"/>
          </p:cNvPicPr>
          <p:nvPr/>
        </p:nvPicPr>
        <p:blipFill>
          <a:blip r:embed="rId4">
            <a:lum bright="70000" contrast="-70000"/>
          </a:blip>
          <a:stretch>
            <a:fillRect/>
          </a:stretch>
        </p:blipFill>
        <p:spPr>
          <a:xfrm>
            <a:off x="6952370" y="1526624"/>
            <a:ext cx="1004006" cy="720080"/>
          </a:xfrm>
          <a:prstGeom prst="rect">
            <a:avLst/>
          </a:prstGeom>
        </p:spPr>
      </p:pic>
    </p:spTree>
    <p:extLst>
      <p:ext uri="{BB962C8B-B14F-4D97-AF65-F5344CB8AC3E}">
        <p14:creationId xmlns:p14="http://schemas.microsoft.com/office/powerpoint/2010/main" val="103599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57200" y="5013176"/>
            <a:ext cx="4038600" cy="1331260"/>
          </a:xfrm>
        </p:spPr>
        <p:txBody>
          <a:bodyPr>
            <a:normAutofit/>
          </a:bodyPr>
          <a:lstStyle/>
          <a:p>
            <a:pPr marL="342900" marR="0" lvl="0" indent="-342900">
              <a:lnSpc>
                <a:spcPct val="110000"/>
              </a:lnSpc>
              <a:spcBef>
                <a:spcPts val="0"/>
              </a:spcBef>
              <a:spcAft>
                <a:spcPts val="0"/>
              </a:spcAft>
              <a:buFont typeface="Arial" panose="020B0604020202020204" pitchFamily="34" charset="0"/>
              <a:buChar char="•"/>
            </a:pPr>
            <a:r>
              <a:rPr lang="en-US" sz="1700" dirty="0"/>
              <a:t>Scan </a:t>
            </a:r>
            <a:r>
              <a:rPr lang="en-US" sz="1700" dirty="0" smtClean="0"/>
              <a:t>code to automatically identify open source in use</a:t>
            </a:r>
          </a:p>
          <a:p>
            <a:pPr marL="342900" marR="0" lvl="0" indent="-342900">
              <a:lnSpc>
                <a:spcPct val="110000"/>
              </a:lnSpc>
              <a:spcBef>
                <a:spcPts val="0"/>
              </a:spcBef>
              <a:spcAft>
                <a:spcPts val="0"/>
              </a:spcAft>
              <a:buFont typeface="Arial" panose="020B0604020202020204" pitchFamily="34" charset="0"/>
              <a:buChar char="•"/>
            </a:pPr>
            <a:r>
              <a:rPr lang="en-US" sz="1700" dirty="0" smtClean="0"/>
              <a:t>Map known security vulnerabilities</a:t>
            </a:r>
          </a:p>
        </p:txBody>
      </p:sp>
      <p:sp>
        <p:nvSpPr>
          <p:cNvPr id="3" name="Content Placeholder 2"/>
          <p:cNvSpPr>
            <a:spLocks noGrp="1"/>
          </p:cNvSpPr>
          <p:nvPr>
            <p:ph sz="half" idx="2"/>
          </p:nvPr>
        </p:nvSpPr>
        <p:spPr>
          <a:xfrm>
            <a:off x="4724400" y="5013176"/>
            <a:ext cx="4038600" cy="1224136"/>
          </a:xfrm>
        </p:spPr>
        <p:txBody>
          <a:bodyPr>
            <a:normAutofit/>
          </a:bodyPr>
          <a:lstStyle/>
          <a:p>
            <a:pPr marL="342900" indent="-342900">
              <a:buFont typeface="Arial" panose="020B0604020202020204" pitchFamily="34" charset="0"/>
              <a:buChar char="•"/>
            </a:pPr>
            <a:r>
              <a:rPr lang="en-US" sz="1700" dirty="0"/>
              <a:t>Assess licenses, versions, community activity (operational risk)</a:t>
            </a:r>
          </a:p>
          <a:p>
            <a:pPr marL="342900" lvl="0" indent="-342900">
              <a:buFont typeface="Arial" panose="020B0604020202020204" pitchFamily="34" charset="0"/>
              <a:buChar char="•"/>
            </a:pPr>
            <a:r>
              <a:rPr lang="en-US" sz="1700" dirty="0" smtClean="0"/>
              <a:t>Identify open source in use with potential high-risk</a:t>
            </a:r>
          </a:p>
          <a:p>
            <a:endParaRPr lang="en-US" sz="1700" dirty="0"/>
          </a:p>
        </p:txBody>
      </p:sp>
      <p:sp>
        <p:nvSpPr>
          <p:cNvPr id="4" name="Title 3"/>
          <p:cNvSpPr>
            <a:spLocks noGrp="1"/>
          </p:cNvSpPr>
          <p:nvPr>
            <p:ph type="title"/>
          </p:nvPr>
        </p:nvSpPr>
        <p:spPr>
          <a:xfrm>
            <a:off x="251520" y="192024"/>
            <a:ext cx="8568952" cy="576362"/>
          </a:xfrm>
        </p:spPr>
        <p:txBody>
          <a:bodyPr>
            <a:normAutofit/>
          </a:bodyPr>
          <a:lstStyle/>
          <a:p>
            <a:r>
              <a:rPr lang="en-US" dirty="0" smtClean="0"/>
              <a:t>Identify Vulnerabilities in OSS Software </a:t>
            </a:r>
            <a:r>
              <a:rPr lang="en-US" dirty="0" err="1" smtClean="0"/>
              <a:t>portfolioS</a:t>
            </a:r>
            <a:endParaRPr lang="en-US"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196752"/>
            <a:ext cx="7056784" cy="369475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319344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Remediation dashboards</a:t>
            </a:r>
            <a:endParaRPr lang="en-US" dirty="0"/>
          </a:p>
        </p:txBody>
      </p:sp>
      <p:pic>
        <p:nvPicPr>
          <p:cNvPr id="2" name="Picture 1" descr="Screen Shot 2015-02-19 at 9.02.12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492973"/>
            <a:ext cx="7620000" cy="3907827"/>
          </a:xfrm>
          <a:prstGeom prst="rect">
            <a:avLst/>
          </a:prstGeom>
        </p:spPr>
      </p:pic>
      <p:sp>
        <p:nvSpPr>
          <p:cNvPr id="3" name="TextBox 2"/>
          <p:cNvSpPr txBox="1"/>
          <p:nvPr/>
        </p:nvSpPr>
        <p:spPr>
          <a:xfrm>
            <a:off x="661916" y="1069074"/>
            <a:ext cx="3505200" cy="914400"/>
          </a:xfrm>
          <a:prstGeom prst="rect">
            <a:avLst/>
          </a:prstGeom>
          <a:noFill/>
        </p:spPr>
        <p:txBody>
          <a:bodyPr wrap="none" lIns="36000" tIns="36000" rIns="36000" bIns="36000" rtlCol="0">
            <a:noAutofit/>
          </a:bodyPr>
          <a:lstStyle/>
          <a:p>
            <a:pPr marL="342900" lvl="0" indent="-342900">
              <a:buFont typeface="Arial" panose="020B0604020202020204" pitchFamily="34" charset="0"/>
              <a:buChar char="•"/>
            </a:pPr>
            <a:r>
              <a:rPr lang="en-US" sz="1700" dirty="0">
                <a:latin typeface="Open Sans Light"/>
                <a:cs typeface="Open Sans Light"/>
              </a:rPr>
              <a:t>Review CVSS and </a:t>
            </a:r>
            <a:r>
              <a:rPr lang="en-US" sz="1700" dirty="0" smtClean="0">
                <a:latin typeface="Open Sans Light"/>
                <a:cs typeface="Open Sans Light"/>
              </a:rPr>
              <a:t>its impact on</a:t>
            </a:r>
            <a:br>
              <a:rPr lang="en-US" sz="1700" dirty="0" smtClean="0">
                <a:latin typeface="Open Sans Light"/>
                <a:cs typeface="Open Sans Light"/>
              </a:rPr>
            </a:br>
            <a:r>
              <a:rPr lang="en-US" sz="1700" dirty="0" smtClean="0">
                <a:latin typeface="Open Sans Light"/>
                <a:cs typeface="Open Sans Light"/>
              </a:rPr>
              <a:t>each project</a:t>
            </a:r>
            <a:endParaRPr lang="en-US" sz="1700" dirty="0">
              <a:latin typeface="Open Sans Light"/>
              <a:cs typeface="Open Sans Light"/>
            </a:endParaRPr>
          </a:p>
          <a:p>
            <a:pPr marL="342900" indent="-342900">
              <a:buFont typeface="Arial" panose="020B0604020202020204" pitchFamily="34" charset="0"/>
              <a:buChar char="•"/>
            </a:pPr>
            <a:r>
              <a:rPr lang="en-US" sz="1700" dirty="0" smtClean="0">
                <a:latin typeface="Open Sans Light"/>
                <a:cs typeface="Open Sans Light"/>
              </a:rPr>
              <a:t>Assess, triage and prioritize </a:t>
            </a:r>
            <a:br>
              <a:rPr lang="en-US" sz="1700" dirty="0" smtClean="0">
                <a:latin typeface="Open Sans Light"/>
                <a:cs typeface="Open Sans Light"/>
              </a:rPr>
            </a:br>
            <a:r>
              <a:rPr lang="en-US" sz="1700" dirty="0" smtClean="0">
                <a:latin typeface="Open Sans Light"/>
                <a:cs typeface="Open Sans Light"/>
              </a:rPr>
              <a:t>vulnerabilities</a:t>
            </a:r>
          </a:p>
        </p:txBody>
      </p:sp>
      <p:sp>
        <p:nvSpPr>
          <p:cNvPr id="7" name="TextBox 6"/>
          <p:cNvSpPr txBox="1"/>
          <p:nvPr/>
        </p:nvSpPr>
        <p:spPr>
          <a:xfrm>
            <a:off x="4648200" y="1069074"/>
            <a:ext cx="3984009" cy="914400"/>
          </a:xfrm>
          <a:prstGeom prst="rect">
            <a:avLst/>
          </a:prstGeom>
          <a:noFill/>
        </p:spPr>
        <p:txBody>
          <a:bodyPr wrap="none" lIns="36000" tIns="36000" rIns="36000" bIns="36000" rtlCol="0">
            <a:noAutofit/>
          </a:bodyPr>
          <a:lstStyle/>
          <a:p>
            <a:pPr marL="342900" indent="-342900">
              <a:buFont typeface="Arial" panose="020B0604020202020204" pitchFamily="34" charset="0"/>
              <a:buChar char="•"/>
            </a:pPr>
            <a:r>
              <a:rPr lang="en-US" sz="1700" dirty="0" smtClean="0">
                <a:latin typeface="Open Sans Light"/>
                <a:cs typeface="Open Sans Light"/>
              </a:rPr>
              <a:t>Schedule </a:t>
            </a:r>
            <a:r>
              <a:rPr lang="en-US" sz="1700" dirty="0">
                <a:latin typeface="Open Sans Light"/>
                <a:cs typeface="Open Sans Light"/>
              </a:rPr>
              <a:t>and track planned </a:t>
            </a:r>
            <a:r>
              <a:rPr lang="en-US" sz="1700" dirty="0" smtClean="0">
                <a:latin typeface="Open Sans Light"/>
                <a:cs typeface="Open Sans Light"/>
              </a:rPr>
              <a:t/>
            </a:r>
            <a:br>
              <a:rPr lang="en-US" sz="1700" dirty="0" smtClean="0">
                <a:latin typeface="Open Sans Light"/>
                <a:cs typeface="Open Sans Light"/>
              </a:rPr>
            </a:br>
            <a:r>
              <a:rPr lang="en-US" sz="1700" dirty="0" smtClean="0">
                <a:latin typeface="Open Sans Light"/>
                <a:cs typeface="Open Sans Light"/>
              </a:rPr>
              <a:t>and actual </a:t>
            </a:r>
            <a:r>
              <a:rPr lang="en-US" sz="1700" dirty="0">
                <a:latin typeface="Open Sans Light"/>
                <a:cs typeface="Open Sans Light"/>
              </a:rPr>
              <a:t>remediation </a:t>
            </a:r>
            <a:r>
              <a:rPr lang="en-US" sz="1700" dirty="0" smtClean="0">
                <a:latin typeface="Open Sans Light"/>
                <a:cs typeface="Open Sans Light"/>
              </a:rPr>
              <a:t>dates</a:t>
            </a:r>
            <a:endParaRPr lang="en-US" sz="1700" dirty="0">
              <a:latin typeface="Open Sans Light"/>
              <a:cs typeface="Open Sans Light"/>
            </a:endParaRPr>
          </a:p>
        </p:txBody>
      </p:sp>
    </p:spTree>
    <p:extLst>
      <p:ext uri="{BB962C8B-B14F-4D97-AF65-F5344CB8AC3E}">
        <p14:creationId xmlns:p14="http://schemas.microsoft.com/office/powerpoint/2010/main" val="1637198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aduceus.png"/>
          <p:cNvPicPr>
            <a:picLocks noChangeAspect="1"/>
          </p:cNvPicPr>
          <p:nvPr/>
        </p:nvPicPr>
        <p:blipFill>
          <a:blip r:embed="rId2">
            <a:alphaModFix amt="18000"/>
            <a:extLst>
              <a:ext uri="{28A0092B-C50C-407E-A947-70E740481C1C}">
                <a14:useLocalDpi xmlns:a14="http://schemas.microsoft.com/office/drawing/2010/main" val="0"/>
              </a:ext>
            </a:extLst>
          </a:blip>
          <a:stretch>
            <a:fillRect/>
          </a:stretch>
        </p:blipFill>
        <p:spPr>
          <a:xfrm>
            <a:off x="2267744" y="1124744"/>
            <a:ext cx="4430237" cy="5328592"/>
          </a:xfrm>
          <a:prstGeom prst="rect">
            <a:avLst/>
          </a:prstGeom>
        </p:spPr>
      </p:pic>
      <p:sp>
        <p:nvSpPr>
          <p:cNvPr id="5" name="Content Placeholder 4"/>
          <p:cNvSpPr>
            <a:spLocks noGrp="1"/>
          </p:cNvSpPr>
          <p:nvPr>
            <p:ph sz="half" idx="1"/>
          </p:nvPr>
        </p:nvSpPr>
        <p:spPr/>
        <p:txBody>
          <a:bodyPr/>
          <a:lstStyle/>
          <a:p>
            <a:pPr>
              <a:spcAft>
                <a:spcPts val="600"/>
              </a:spcAft>
            </a:pPr>
            <a:r>
              <a:rPr lang="en-US" dirty="0" smtClean="0">
                <a:latin typeface="Open Sans"/>
                <a:cs typeface="Open Sans"/>
              </a:rPr>
              <a:t>Benefits</a:t>
            </a:r>
          </a:p>
          <a:p>
            <a:pPr marL="342900" indent="-342900">
              <a:spcAft>
                <a:spcPts val="600"/>
              </a:spcAft>
              <a:buFont typeface="Arial"/>
              <a:buChar char="•"/>
            </a:pPr>
            <a:r>
              <a:rPr lang="en-US" dirty="0" smtClean="0"/>
              <a:t>Brings OSS components </a:t>
            </a:r>
            <a:br>
              <a:rPr lang="en-US" dirty="0" smtClean="0"/>
            </a:br>
            <a:r>
              <a:rPr lang="en-US" dirty="0" smtClean="0"/>
              <a:t>up to date</a:t>
            </a:r>
          </a:p>
          <a:p>
            <a:pPr marL="342900" indent="-342900">
              <a:spcAft>
                <a:spcPts val="600"/>
              </a:spcAft>
              <a:buFont typeface="Arial"/>
              <a:buChar char="•"/>
            </a:pPr>
            <a:r>
              <a:rPr lang="en-US" dirty="0" smtClean="0"/>
              <a:t>Breaks open 3</a:t>
            </a:r>
            <a:r>
              <a:rPr lang="en-US" baseline="30000" dirty="0" smtClean="0"/>
              <a:t>rd</a:t>
            </a:r>
            <a:r>
              <a:rPr lang="en-US" dirty="0" smtClean="0"/>
              <a:t> party code box</a:t>
            </a:r>
          </a:p>
          <a:p>
            <a:pPr marL="342900" indent="-342900">
              <a:spcAft>
                <a:spcPts val="600"/>
              </a:spcAft>
              <a:buFont typeface="Arial"/>
              <a:buChar char="•"/>
            </a:pPr>
            <a:r>
              <a:rPr lang="en-US" dirty="0" smtClean="0"/>
              <a:t>Also fights version proliferation</a:t>
            </a:r>
            <a:endParaRPr lang="en-US" dirty="0"/>
          </a:p>
        </p:txBody>
      </p:sp>
      <p:sp>
        <p:nvSpPr>
          <p:cNvPr id="6" name="Content Placeholder 5"/>
          <p:cNvSpPr>
            <a:spLocks noGrp="1"/>
          </p:cNvSpPr>
          <p:nvPr>
            <p:ph sz="half" idx="2"/>
          </p:nvPr>
        </p:nvSpPr>
        <p:spPr/>
        <p:txBody>
          <a:bodyPr/>
          <a:lstStyle/>
          <a:p>
            <a:pPr>
              <a:spcAft>
                <a:spcPts val="600"/>
              </a:spcAft>
            </a:pPr>
            <a:r>
              <a:rPr lang="en-US" dirty="0" smtClean="0">
                <a:latin typeface="Open Sans"/>
                <a:cs typeface="Open Sans"/>
              </a:rPr>
              <a:t>Limitations</a:t>
            </a:r>
          </a:p>
          <a:p>
            <a:pPr marL="342900" indent="-342900">
              <a:spcAft>
                <a:spcPts val="600"/>
              </a:spcAft>
              <a:buFont typeface="Arial"/>
              <a:buChar char="•"/>
            </a:pPr>
            <a:r>
              <a:rPr lang="en-US" dirty="0" smtClean="0"/>
              <a:t>Only effective as current version / patch set</a:t>
            </a:r>
          </a:p>
          <a:p>
            <a:pPr marL="342900" indent="-342900">
              <a:spcAft>
                <a:spcPts val="600"/>
              </a:spcAft>
              <a:buFont typeface="Arial"/>
              <a:buChar char="•"/>
            </a:pPr>
            <a:r>
              <a:rPr lang="en-US" dirty="0" smtClean="0"/>
              <a:t>Effective for OSS only</a:t>
            </a:r>
          </a:p>
          <a:p>
            <a:pPr marL="342900" indent="-342900">
              <a:spcAft>
                <a:spcPts val="600"/>
              </a:spcAft>
              <a:buFont typeface="Arial"/>
              <a:buChar char="•"/>
            </a:pPr>
            <a:r>
              <a:rPr lang="en-US" dirty="0" smtClean="0"/>
              <a:t>Primary focus on source code (cf. BAT)</a:t>
            </a:r>
          </a:p>
        </p:txBody>
      </p:sp>
      <p:sp>
        <p:nvSpPr>
          <p:cNvPr id="4" name="Title 3"/>
          <p:cNvSpPr>
            <a:spLocks noGrp="1"/>
          </p:cNvSpPr>
          <p:nvPr>
            <p:ph type="title"/>
          </p:nvPr>
        </p:nvSpPr>
        <p:spPr/>
        <p:txBody>
          <a:bodyPr/>
          <a:lstStyle/>
          <a:p>
            <a:r>
              <a:rPr lang="en-US" dirty="0" smtClean="0"/>
              <a:t>OSS Hygiene – pros and cons</a:t>
            </a:r>
            <a:endParaRPr lang="en-US" dirty="0"/>
          </a:p>
        </p:txBody>
      </p:sp>
    </p:spTree>
    <p:extLst>
      <p:ext uri="{BB962C8B-B14F-4D97-AF65-F5344CB8AC3E}">
        <p14:creationId xmlns:p14="http://schemas.microsoft.com/office/powerpoint/2010/main" val="3837639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aduceus.png"/>
          <p:cNvPicPr>
            <a:picLocks noChangeAspect="1"/>
          </p:cNvPicPr>
          <p:nvPr/>
        </p:nvPicPr>
        <p:blipFill>
          <a:blip r:embed="rId2">
            <a:alphaModFix amt="18000"/>
            <a:extLst>
              <a:ext uri="{28A0092B-C50C-407E-A947-70E740481C1C}">
                <a14:useLocalDpi xmlns:a14="http://schemas.microsoft.com/office/drawing/2010/main" val="0"/>
              </a:ext>
            </a:extLst>
          </a:blip>
          <a:stretch>
            <a:fillRect/>
          </a:stretch>
        </p:blipFill>
        <p:spPr>
          <a:xfrm>
            <a:off x="2267744" y="1124744"/>
            <a:ext cx="4430237" cy="5328592"/>
          </a:xfrm>
          <a:prstGeom prst="rect">
            <a:avLst/>
          </a:prstGeom>
        </p:spPr>
      </p:pic>
      <p:sp>
        <p:nvSpPr>
          <p:cNvPr id="4" name="Title 3"/>
          <p:cNvSpPr>
            <a:spLocks noGrp="1"/>
          </p:cNvSpPr>
          <p:nvPr>
            <p:ph type="title"/>
          </p:nvPr>
        </p:nvSpPr>
        <p:spPr/>
        <p:txBody>
          <a:bodyPr/>
          <a:lstStyle/>
          <a:p>
            <a:r>
              <a:rPr lang="en-US" dirty="0" smtClean="0"/>
              <a:t>conclusion</a:t>
            </a:r>
            <a:endParaRPr lang="en-US" dirty="0"/>
          </a:p>
        </p:txBody>
      </p:sp>
      <p:sp>
        <p:nvSpPr>
          <p:cNvPr id="5" name="Content Placeholder 4"/>
          <p:cNvSpPr>
            <a:spLocks noGrp="1"/>
          </p:cNvSpPr>
          <p:nvPr>
            <p:ph idx="1"/>
          </p:nvPr>
        </p:nvSpPr>
        <p:spPr/>
        <p:txBody>
          <a:bodyPr/>
          <a:lstStyle/>
          <a:p>
            <a:r>
              <a:rPr lang="en-US" dirty="0" smtClean="0"/>
              <a:t>OSS Hygiene addresses a critical function in application security</a:t>
            </a:r>
          </a:p>
          <a:p>
            <a:pPr lvl="1"/>
            <a:r>
              <a:rPr lang="en-US" dirty="0" smtClean="0"/>
              <a:t>Focus on version deprecation as a source of vulnerabilities</a:t>
            </a:r>
          </a:p>
          <a:p>
            <a:pPr lvl="1"/>
            <a:r>
              <a:rPr lang="en-US" dirty="0" smtClean="0"/>
              <a:t>Streamlines identification and remediation of exploitable OSS components</a:t>
            </a:r>
          </a:p>
          <a:p>
            <a:endParaRPr lang="en-US" dirty="0" smtClean="0"/>
          </a:p>
          <a:p>
            <a:r>
              <a:rPr lang="en-US" dirty="0" smtClean="0"/>
              <a:t>OSS Hygiene is NOT</a:t>
            </a:r>
          </a:p>
          <a:p>
            <a:pPr lvl="1"/>
            <a:r>
              <a:rPr lang="en-US" dirty="0" smtClean="0"/>
              <a:t>Source code analysis tool or method (it uses community resources)</a:t>
            </a:r>
          </a:p>
          <a:p>
            <a:pPr lvl="1"/>
            <a:r>
              <a:rPr lang="en-US" dirty="0" smtClean="0"/>
              <a:t>A replacement for other security tools (it complements them)</a:t>
            </a:r>
          </a:p>
          <a:p>
            <a:pPr lvl="1"/>
            <a:r>
              <a:rPr lang="en-US" dirty="0" smtClean="0"/>
              <a:t>A marketing gimmick (real organizations present real requirements)</a:t>
            </a:r>
          </a:p>
          <a:p>
            <a:pPr lvl="1"/>
            <a:endParaRPr lang="en-US" dirty="0"/>
          </a:p>
          <a:p>
            <a:r>
              <a:rPr lang="en-US" dirty="0" smtClean="0"/>
              <a:t>OSS Hygiene is an actionable methodology</a:t>
            </a:r>
          </a:p>
          <a:p>
            <a:pPr lvl="1"/>
            <a:r>
              <a:rPr lang="en-US" dirty="0" smtClean="0"/>
              <a:t>Can be implemented manually and/or with tools/mechanisms in place</a:t>
            </a:r>
          </a:p>
          <a:p>
            <a:pPr lvl="1"/>
            <a:r>
              <a:rPr lang="en-US" dirty="0" smtClean="0"/>
              <a:t>Benefits from fast and accurate scanning of software portfolios</a:t>
            </a:r>
          </a:p>
          <a:p>
            <a:pPr lvl="1"/>
            <a:r>
              <a:rPr lang="en-US" dirty="0" smtClean="0"/>
              <a:t>Best when employed as part of disciplined OSS management practices</a:t>
            </a:r>
            <a:endParaRPr lang="en-US" dirty="0"/>
          </a:p>
        </p:txBody>
      </p:sp>
    </p:spTree>
    <p:extLst>
      <p:ext uri="{BB962C8B-B14F-4D97-AF65-F5344CB8AC3E}">
        <p14:creationId xmlns:p14="http://schemas.microsoft.com/office/powerpoint/2010/main" val="1108840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0" y="0"/>
            <a:ext cx="9144000" cy="6858000"/>
          </a:xfrm>
          <a:prstGeom prst="rect">
            <a:avLst/>
          </a:prstGeom>
        </p:spPr>
      </p:pic>
      <p:sp>
        <p:nvSpPr>
          <p:cNvPr id="15" name="Rectangle 14"/>
          <p:cNvSpPr/>
          <p:nvPr/>
        </p:nvSpPr>
        <p:spPr>
          <a:xfrm>
            <a:off x="0" y="5105400"/>
            <a:ext cx="9144000" cy="1752600"/>
          </a:xfrm>
          <a:prstGeom prst="rect">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sp>
        <p:nvSpPr>
          <p:cNvPr id="16" name="Title 1"/>
          <p:cNvSpPr txBox="1">
            <a:spLocks/>
          </p:cNvSpPr>
          <p:nvPr/>
        </p:nvSpPr>
        <p:spPr>
          <a:xfrm>
            <a:off x="1295400" y="5257800"/>
            <a:ext cx="7848600" cy="1524000"/>
          </a:xfrm>
          <a:prstGeom prst="rect">
            <a:avLst/>
          </a:prstGeom>
          <a:noFill/>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all" baseline="0">
                <a:solidFill>
                  <a:srgbClr val="FFFFFF"/>
                </a:solidFill>
                <a:latin typeface="+mj-lt"/>
                <a:ea typeface="+mj-ea"/>
                <a:cs typeface="+mj-cs"/>
              </a:defRPr>
            </a:lvl1pPr>
          </a:lstStyle>
          <a:p>
            <a:pPr algn="l"/>
            <a:r>
              <a:rPr lang="en-US" sz="4000" dirty="0" smtClean="0">
                <a:latin typeface="Calibri"/>
              </a:rPr>
              <a:t>Conclusions and Q&amp;A</a:t>
            </a:r>
            <a:endParaRPr lang="en-US" sz="4000" dirty="0">
              <a:latin typeface="Calibri"/>
              <a:cs typeface="Calibri"/>
            </a:endParaRPr>
          </a:p>
        </p:txBody>
      </p:sp>
      <p:grpSp>
        <p:nvGrpSpPr>
          <p:cNvPr id="2" name="Group 16"/>
          <p:cNvGrpSpPr/>
          <p:nvPr/>
        </p:nvGrpSpPr>
        <p:grpSpPr>
          <a:xfrm>
            <a:off x="304800" y="5565275"/>
            <a:ext cx="835527" cy="835525"/>
            <a:chOff x="427182" y="4548909"/>
            <a:chExt cx="1246909" cy="1246909"/>
          </a:xfrm>
        </p:grpSpPr>
        <p:sp>
          <p:nvSpPr>
            <p:cNvPr id="18" name="Oval 17"/>
            <p:cNvSpPr/>
            <p:nvPr/>
          </p:nvSpPr>
          <p:spPr>
            <a:xfrm>
              <a:off x="427182" y="4548909"/>
              <a:ext cx="1246909" cy="1246909"/>
            </a:xfrm>
            <a:prstGeom prst="ellipse">
              <a:avLst/>
            </a:prstGeom>
            <a:noFill/>
            <a:ln w="12700" cap="flat" cmpd="sng" algn="ctr">
              <a:solidFill>
                <a:schemeClr val="bg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grpSp>
          <p:nvGrpSpPr>
            <p:cNvPr id="3" name="Group 6"/>
            <p:cNvGrpSpPr/>
            <p:nvPr/>
          </p:nvGrpSpPr>
          <p:grpSpPr>
            <a:xfrm>
              <a:off x="635000" y="4930588"/>
              <a:ext cx="851647" cy="515472"/>
              <a:chOff x="635000" y="4930588"/>
              <a:chExt cx="851647" cy="515472"/>
            </a:xfrm>
          </p:grpSpPr>
          <p:cxnSp>
            <p:nvCxnSpPr>
              <p:cNvPr id="20" name="Straight Connector 19"/>
              <p:cNvCxnSpPr/>
              <p:nvPr/>
            </p:nvCxnSpPr>
            <p:spPr>
              <a:xfrm>
                <a:off x="635000" y="5188324"/>
                <a:ext cx="851647" cy="0"/>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grpSp>
            <p:nvGrpSpPr>
              <p:cNvPr id="4" name="Group 8"/>
              <p:cNvGrpSpPr/>
              <p:nvPr/>
            </p:nvGrpSpPr>
            <p:grpSpPr>
              <a:xfrm>
                <a:off x="1255059" y="4930588"/>
                <a:ext cx="231588" cy="515472"/>
                <a:chOff x="1255059" y="4930588"/>
                <a:chExt cx="231588" cy="515472"/>
              </a:xfrm>
            </p:grpSpPr>
            <p:cxnSp>
              <p:nvCxnSpPr>
                <p:cNvPr id="22" name="Straight Connector 21"/>
                <p:cNvCxnSpPr/>
                <p:nvPr/>
              </p:nvCxnSpPr>
              <p:spPr>
                <a:xfrm>
                  <a:off x="1255059" y="4930588"/>
                  <a:ext cx="231588" cy="26147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V="1">
                  <a:off x="1255059" y="5184589"/>
                  <a:ext cx="231588" cy="26147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grpSp>
        </p:grpSp>
      </p:grpSp>
    </p:spTree>
    <p:extLst>
      <p:ext uri="{BB962C8B-B14F-4D97-AF65-F5344CB8AC3E}">
        <p14:creationId xmlns:p14="http://schemas.microsoft.com/office/powerpoint/2010/main" val="461759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theme/theme1.xml><?xml version="1.0" encoding="utf-8"?>
<a:theme xmlns:a="http://schemas.openxmlformats.org/drawingml/2006/main" name="Corporate Presentation Template 6_14">
  <a:themeElements>
    <a:clrScheme name="Black Duck">
      <a:dk1>
        <a:srgbClr val="3F3F3F"/>
      </a:dk1>
      <a:lt1>
        <a:srgbClr val="FFFFFF"/>
      </a:lt1>
      <a:dk2>
        <a:srgbClr val="3F3F3F"/>
      </a:dk2>
      <a:lt2>
        <a:srgbClr val="EAEAEA"/>
      </a:lt2>
      <a:accent1>
        <a:srgbClr val="0082C6"/>
      </a:accent1>
      <a:accent2>
        <a:srgbClr val="424242"/>
      </a:accent2>
      <a:accent3>
        <a:srgbClr val="212121"/>
      </a:accent3>
      <a:accent4>
        <a:srgbClr val="263F86"/>
      </a:accent4>
      <a:accent5>
        <a:srgbClr val="A0C465"/>
      </a:accent5>
      <a:accent6>
        <a:srgbClr val="F58220"/>
      </a:accent6>
      <a:hlink>
        <a:srgbClr val="F5471D"/>
      </a:hlink>
      <a:folHlink>
        <a:srgbClr val="575757"/>
      </a:folHlink>
    </a:clrScheme>
    <a:fontScheme name="ID template">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AEF0"/>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9525" cmpd="sng">
          <a:solidFill>
            <a:srgbClr val="00AEF0"/>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lIns="36000" tIns="36000" rIns="36000" bIns="36000" rtlCol="0">
        <a:spAutoFit/>
      </a:bodyPr>
      <a:lstStyle>
        <a:defPPr>
          <a:defRPr sz="2400" dirty="0" smtClean="0">
            <a:latin typeface="Open Sans"/>
            <a:cs typeface="Open Sans"/>
          </a:defRPr>
        </a:defPPr>
      </a:lstStyle>
    </a:txDef>
  </a:objectDefaults>
  <a:extraClrSchemeLst/>
</a:theme>
</file>

<file path=ppt/theme/theme2.xml><?xml version="1.0" encoding="utf-8"?>
<a:theme xmlns:a="http://schemas.openxmlformats.org/drawingml/2006/main" name="1_Office Theme">
  <a:themeElements>
    <a:clrScheme name="Custom 154">
      <a:dk1>
        <a:sysClr val="windowText" lastClr="000000"/>
      </a:dk1>
      <a:lt1>
        <a:sysClr val="window" lastClr="FFFFFF"/>
      </a:lt1>
      <a:dk2>
        <a:srgbClr val="0083C8"/>
      </a:dk2>
      <a:lt2>
        <a:srgbClr val="AAAAAA"/>
      </a:lt2>
      <a:accent1>
        <a:srgbClr val="323232"/>
      </a:accent1>
      <a:accent2>
        <a:srgbClr val="F22454"/>
      </a:accent2>
      <a:accent3>
        <a:srgbClr val="57555D"/>
      </a:accent3>
      <a:accent4>
        <a:srgbClr val="1FD076"/>
      </a:accent4>
      <a:accent5>
        <a:srgbClr val="064081"/>
      </a:accent5>
      <a:accent6>
        <a:srgbClr val="064081"/>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alpha val="50000"/>
          </a:schemeClr>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noAutofit/>
      </a:bodyPr>
      <a:lstStyle>
        <a:defPPr>
          <a:defRPr sz="1200" dirty="0" err="1" smtClean="0">
            <a:no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154">
    <a:dk1>
      <a:sysClr val="windowText" lastClr="000000"/>
    </a:dk1>
    <a:lt1>
      <a:sysClr val="window" lastClr="FFFFFF"/>
    </a:lt1>
    <a:dk2>
      <a:srgbClr val="0083C8"/>
    </a:dk2>
    <a:lt2>
      <a:srgbClr val="AAAAAA"/>
    </a:lt2>
    <a:accent1>
      <a:srgbClr val="323232"/>
    </a:accent1>
    <a:accent2>
      <a:srgbClr val="F22454"/>
    </a:accent2>
    <a:accent3>
      <a:srgbClr val="57555D"/>
    </a:accent3>
    <a:accent4>
      <a:srgbClr val="1FD076"/>
    </a:accent4>
    <a:accent5>
      <a:srgbClr val="064081"/>
    </a:accent5>
    <a:accent6>
      <a:srgbClr val="064081"/>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Corporate Presentation Template 6_14.potx</Template>
  <TotalTime>162544</TotalTime>
  <Words>2550</Words>
  <Application>Microsoft Macintosh PowerPoint</Application>
  <PresentationFormat>On-screen Show (4:3)</PresentationFormat>
  <Paragraphs>483</Paragraphs>
  <Slides>45</Slides>
  <Notes>15</Notes>
  <HiddenSlides>0</HiddenSlides>
  <MMClips>0</MMClips>
  <ScaleCrop>false</ScaleCrop>
  <HeadingPairs>
    <vt:vector size="4" baseType="variant">
      <vt:variant>
        <vt:lpstr>Theme</vt:lpstr>
      </vt:variant>
      <vt:variant>
        <vt:i4>2</vt:i4>
      </vt:variant>
      <vt:variant>
        <vt:lpstr>Slide Titles</vt:lpstr>
      </vt:variant>
      <vt:variant>
        <vt:i4>45</vt:i4>
      </vt:variant>
    </vt:vector>
  </HeadingPairs>
  <TitlesOfParts>
    <vt:vector size="47" baseType="lpstr">
      <vt:lpstr>Corporate Presentation Template 6_14</vt:lpstr>
      <vt:lpstr>1_Office Theme</vt:lpstr>
      <vt:lpstr>Open source hygiene – Mitigating Security Risks from Development, Integration, Distribution and Deployment of Open Source Software</vt:lpstr>
      <vt:lpstr>Presentation abstract</vt:lpstr>
      <vt:lpstr>Your speaker</vt:lpstr>
      <vt:lpstr>Agenda</vt:lpstr>
      <vt:lpstr>Open source is unstoppable</vt:lpstr>
      <vt:lpstr>78% of Companies  run on open source</vt:lpstr>
      <vt:lpstr>2x</vt:lpstr>
      <vt:lpstr>Increasing abundance</vt:lpstr>
      <vt:lpstr>Oss impacts technology</vt:lpstr>
      <vt:lpstr>The SECURITY OF  OPEN SOURCE</vt:lpstr>
      <vt:lpstr>The open source vulnerability landscape</vt:lpstr>
      <vt:lpstr>Worried about open source security?</vt:lpstr>
      <vt:lpstr>The growth in security vulnerabilities</vt:lpstr>
      <vt:lpstr>OSS Vulnerability landscape</vt:lpstr>
      <vt:lpstr>the rise of “named” vulnerabilities in oss</vt:lpstr>
      <vt:lpstr>Pending legislation – H.R. 5793 the cyber supply chain transparency and remediation act (“The royce bill”)</vt:lpstr>
      <vt:lpstr>The open source development model</vt:lpstr>
      <vt:lpstr>Linus’ Law</vt:lpstr>
      <vt:lpstr>Open Source development model</vt:lpstr>
      <vt:lpstr>Open Source code curation model</vt:lpstr>
      <vt:lpstr>Open source code quality assurance</vt:lpstr>
      <vt:lpstr>Theoretical “Triple fence” of oss security</vt:lpstr>
      <vt:lpstr>Open source code SECURITY GAP</vt:lpstr>
      <vt:lpstr>Threats resistant to community oversight</vt:lpstr>
      <vt:lpstr>Open source hygiene</vt:lpstr>
      <vt:lpstr>Hygiene?</vt:lpstr>
      <vt:lpstr>PowerPoint Presentation</vt:lpstr>
      <vt:lpstr>PowerPoint Presentation</vt:lpstr>
      <vt:lpstr>Security Technologies – where does oss hygiene fit?</vt:lpstr>
      <vt:lpstr>OSS Hygiene - Vulnerability detection and remediation</vt:lpstr>
      <vt:lpstr>Yet another security technology term</vt:lpstr>
      <vt:lpstr>Versions and Vulnerabilities</vt:lpstr>
      <vt:lpstr>Example enterprise software build (CI) workflow</vt:lpstr>
      <vt:lpstr>Example enterprise software build (CI) workflow</vt:lpstr>
      <vt:lpstr>OSS Hygiene complements security testing</vt:lpstr>
      <vt:lpstr>OSS Hygiene challenges</vt:lpstr>
      <vt:lpstr>Remediation times by industry</vt:lpstr>
      <vt:lpstr>The Road to Secure OSS Use – best practices</vt:lpstr>
      <vt:lpstr>OSS Remediation / Triage considerations</vt:lpstr>
      <vt:lpstr>OSS Hygiene – the need for automation</vt:lpstr>
      <vt:lpstr>Identify Vulnerabilities in OSS Software portfolioS</vt:lpstr>
      <vt:lpstr>Remediation dashboards</vt:lpstr>
      <vt:lpstr>OSS Hygiene – pros and cons</vt:lpstr>
      <vt:lpstr>conclusion</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Alison Ball</dc:creator>
  <cp:lastModifiedBy>William Weinberg</cp:lastModifiedBy>
  <cp:revision>1355</cp:revision>
  <cp:lastPrinted>2015-04-29T19:48:46Z</cp:lastPrinted>
  <dcterms:created xsi:type="dcterms:W3CDTF">2010-09-02T12:25:13Z</dcterms:created>
  <dcterms:modified xsi:type="dcterms:W3CDTF">2015-06-05T19:01:45Z</dcterms:modified>
</cp:coreProperties>
</file>