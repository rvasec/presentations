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3" r:id="rId9"/>
    <p:sldId id="262" r:id="rId10"/>
    <p:sldId id="265" r:id="rId11"/>
    <p:sldId id="266" r:id="rId12"/>
    <p:sldId id="267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1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6FFD5-49A1-4569-965F-469F1EAEAE04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730917-C79D-442F-80B1-1B348511E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5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Lazy admin kung-</a:t>
            </a:r>
            <a:r>
              <a:rPr lang="en-US" dirty="0" err="1" smtClean="0"/>
              <a:t>fu</a:t>
            </a:r>
            <a:r>
              <a:rPr lang="en-US" baseline="0" dirty="0" smtClean="0"/>
              <a:t> is creating a secondary image of the machine before nuke and pave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30917-C79D-442F-80B1-1B348511E9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36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Lazy admin kung-</a:t>
            </a:r>
            <a:r>
              <a:rPr lang="en-US" dirty="0" err="1" smtClean="0"/>
              <a:t>fu</a:t>
            </a:r>
            <a:r>
              <a:rPr lang="en-US" baseline="0" dirty="0" smtClean="0"/>
              <a:t> is creating a secondary image of the machine before nuke and pave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30917-C79D-442F-80B1-1B348511E9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36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30917-C79D-442F-80B1-1B348511E9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36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30917-C79D-442F-80B1-1B348511E9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36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30917-C79D-442F-80B1-1B348511E9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36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30917-C79D-442F-80B1-1B348511E9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36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30917-C79D-442F-80B1-1B348511E9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36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30917-C79D-442F-80B1-1B348511E9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36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30917-C79D-442F-80B1-1B348511E92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36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5E9F-8715-4104-81BF-73BAF35948DD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CFCC6-10C9-45E2-9C05-938CEE1A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71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5E9F-8715-4104-81BF-73BAF35948DD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CFCC6-10C9-45E2-9C05-938CEE1A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55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5E9F-8715-4104-81BF-73BAF35948DD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CFCC6-10C9-45E2-9C05-938CEE1A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20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5E9F-8715-4104-81BF-73BAF35948DD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CFCC6-10C9-45E2-9C05-938CEE1A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4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5E9F-8715-4104-81BF-73BAF35948DD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CFCC6-10C9-45E2-9C05-938CEE1A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95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5E9F-8715-4104-81BF-73BAF35948DD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CFCC6-10C9-45E2-9C05-938CEE1A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7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5E9F-8715-4104-81BF-73BAF35948DD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CFCC6-10C9-45E2-9C05-938CEE1A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1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5E9F-8715-4104-81BF-73BAF35948DD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CFCC6-10C9-45E2-9C05-938CEE1A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09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5E9F-8715-4104-81BF-73BAF35948DD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CFCC6-10C9-45E2-9C05-938CEE1A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42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5E9F-8715-4104-81BF-73BAF35948DD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CFCC6-10C9-45E2-9C05-938CEE1A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2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5E9F-8715-4104-81BF-73BAF35948DD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CFCC6-10C9-45E2-9C05-938CEE1A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88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100000">
              <a:srgbClr val="E6E6E6"/>
            </a:gs>
            <a:gs pos="99000">
              <a:srgbClr val="7D8496"/>
            </a:gs>
            <a:gs pos="100000">
              <a:srgbClr val="E6E6E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B5E9F-8715-4104-81BF-73BAF35948DD}" type="datetimeFigureOut">
              <a:rPr lang="en-US" smtClean="0"/>
              <a:t>3/27/2015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CFCC6-10C9-45E2-9C05-938CEE1A3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2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hackers.withgun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jp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0668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sz="5300" b="1" dirty="0" smtClean="0">
                <a:solidFill>
                  <a:schemeClr val="accent6"/>
                </a:solidFill>
                <a:effectLst>
                  <a:outerShdw blurRad="50800" dist="50800" dir="5400000" algn="ctr" rotWithShape="0">
                    <a:schemeClr val="tx1">
                      <a:alpha val="31000"/>
                    </a:schemeClr>
                  </a:outerShdw>
                </a:effectLst>
              </a:rPr>
              <a:t>The Art of Post-Infection</a:t>
            </a:r>
            <a:br>
              <a:rPr lang="en-US" sz="5300" b="1" dirty="0" smtClean="0">
                <a:solidFill>
                  <a:schemeClr val="accent6"/>
                </a:solidFill>
                <a:effectLst>
                  <a:outerShdw blurRad="50800" dist="50800" dir="5400000" algn="ctr" rotWithShape="0">
                    <a:schemeClr val="tx1">
                      <a:alpha val="31000"/>
                    </a:schemeClr>
                  </a:outerShdw>
                </a:effectLst>
              </a:rPr>
            </a:br>
            <a:r>
              <a:rPr lang="en-US" b="1" dirty="0" smtClean="0">
                <a:solidFill>
                  <a:schemeClr val="accent6"/>
                </a:solidFill>
                <a:effectLst>
                  <a:outerShdw blurRad="50800" dist="50800" dir="5400000" algn="ctr" rotWithShape="0">
                    <a:schemeClr val="tx1">
                      <a:alpha val="31000"/>
                    </a:schemeClr>
                  </a:outerShdw>
                </a:effectLst>
              </a:rPr>
              <a:t>Response &amp; Mitigation</a:t>
            </a:r>
            <a:endParaRPr lang="en-US" b="1" dirty="0">
              <a:solidFill>
                <a:schemeClr val="accent6"/>
              </a:solidFill>
              <a:effectLst>
                <a:outerShdw blurRad="50800" dist="50800" dir="5400000" algn="ctr" rotWithShape="0">
                  <a:schemeClr val="tx1">
                    <a:alpha val="31000"/>
                  </a:scheme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268" y="2667000"/>
            <a:ext cx="1811671" cy="2514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513848" y="5342467"/>
            <a:ext cx="5964518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6"/>
                </a:solidFill>
                <a:effectLst>
                  <a:outerShdw blurRad="50800" dist="38100" dir="2700000" algn="tl" rotWithShape="0">
                    <a:prstClr val="black">
                      <a:alpha val="44000"/>
                    </a:prstClr>
                  </a:outerShdw>
                </a:effectLst>
              </a:rPr>
              <a:t>What the hell just happened on my network?</a:t>
            </a:r>
            <a:endParaRPr lang="en-US" sz="2400" b="1" dirty="0">
              <a:solidFill>
                <a:schemeClr val="accent6"/>
              </a:solidFill>
              <a:effectLst>
                <a:outerShdw blurRad="50800" dist="38100" dir="2700000" algn="tl" rotWithShape="0">
                  <a:prstClr val="black">
                    <a:alpha val="44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1185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25000">
              <a:srgbClr val="E6E6E6"/>
            </a:gs>
            <a:gs pos="15000">
              <a:srgbClr val="7D849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Who </a:t>
            </a:r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is this guy?</a:t>
            </a:r>
            <a:endParaRPr lang="en-US" b="1" dirty="0">
              <a:solidFill>
                <a:schemeClr val="accent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caleb (chill)</a:t>
            </a:r>
            <a:endParaRPr lang="en-US" sz="3600" dirty="0"/>
          </a:p>
          <a:p>
            <a:pPr lvl="1"/>
            <a:endParaRPr lang="en-US" sz="2400" dirty="0" smtClean="0"/>
          </a:p>
          <a:p>
            <a:pPr lvl="1"/>
            <a:r>
              <a:rPr lang="en-US" dirty="0" smtClean="0"/>
              <a:t>Sr. </a:t>
            </a:r>
            <a:r>
              <a:rPr lang="en-US" dirty="0" smtClean="0"/>
              <a:t>Malware Analyst @</a:t>
            </a:r>
          </a:p>
          <a:p>
            <a:pPr lvl="1"/>
            <a:r>
              <a:rPr lang="en-US" dirty="0" smtClean="0"/>
              <a:t>Founder of the </a:t>
            </a:r>
            <a:r>
              <a:rPr lang="en-US" dirty="0" err="1" smtClean="0"/>
              <a:t>CarolinaCon</a:t>
            </a:r>
            <a:r>
              <a:rPr lang="en-US" dirty="0" smtClean="0"/>
              <a:t> Shootout</a:t>
            </a:r>
          </a:p>
          <a:p>
            <a:pPr lvl="3"/>
            <a:r>
              <a:rPr lang="en-US" dirty="0" smtClean="0">
                <a:hlinkClick r:id="rId2"/>
              </a:rPr>
              <a:t>http://hackers.withguns.com</a:t>
            </a:r>
            <a:endParaRPr lang="en-US" dirty="0" smtClean="0"/>
          </a:p>
          <a:p>
            <a:pPr lvl="1"/>
            <a:r>
              <a:rPr lang="en-US" dirty="0" smtClean="0"/>
              <a:t>Dirty </a:t>
            </a:r>
            <a:r>
              <a:rPr lang="en-US" dirty="0" err="1" smtClean="0"/>
              <a:t>Whitehat</a:t>
            </a:r>
            <a:endParaRPr lang="en-US" dirty="0" smtClean="0"/>
          </a:p>
          <a:p>
            <a:pPr lvl="1"/>
            <a:r>
              <a:rPr lang="en-US" dirty="0" smtClean="0"/>
              <a:t>Your Huckleberry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514600"/>
            <a:ext cx="4005075" cy="7372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5105400"/>
            <a:ext cx="3352800" cy="147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25000">
              <a:srgbClr val="E6E6E6"/>
            </a:gs>
            <a:gs pos="15000">
              <a:srgbClr val="7D849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Overview</a:t>
            </a:r>
            <a:endParaRPr lang="en-US" b="1" dirty="0">
              <a:solidFill>
                <a:schemeClr val="accent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800" b="1" dirty="0" smtClean="0"/>
          </a:p>
          <a:p>
            <a:r>
              <a:rPr lang="en-US" sz="4000" b="1" dirty="0" smtClean="0"/>
              <a:t>Into the gray: a post-infection world</a:t>
            </a:r>
          </a:p>
          <a:p>
            <a:r>
              <a:rPr lang="en-US" sz="4000" b="1" dirty="0" smtClean="0"/>
              <a:t>Malware breach response</a:t>
            </a:r>
          </a:p>
          <a:p>
            <a:r>
              <a:rPr lang="en-US" sz="4000" b="1" dirty="0" smtClean="0"/>
              <a:t>Battle </a:t>
            </a:r>
            <a:r>
              <a:rPr lang="en-US" sz="4000" b="1" dirty="0" smtClean="0"/>
              <a:t>Plannin</a:t>
            </a:r>
            <a:r>
              <a:rPr lang="en-US" sz="4000" b="1" dirty="0"/>
              <a:t>g</a:t>
            </a:r>
            <a:endParaRPr lang="en-US" sz="4000" b="1" dirty="0" smtClean="0"/>
          </a:p>
          <a:p>
            <a:r>
              <a:rPr lang="en-US" sz="4000" b="1" dirty="0" smtClean="0"/>
              <a:t>Dem </a:t>
            </a:r>
            <a:r>
              <a:rPr lang="en-US" sz="4000" b="1" dirty="0" err="1" smtClean="0"/>
              <a:t>toolz</a:t>
            </a:r>
            <a:endParaRPr lang="en-US" sz="4000" b="1" dirty="0"/>
          </a:p>
          <a:p>
            <a:endParaRPr lang="en-US" sz="3600" b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743200"/>
            <a:ext cx="872427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25000">
              <a:srgbClr val="E6E6E6"/>
            </a:gs>
            <a:gs pos="15000">
              <a:srgbClr val="7D849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Into the Gray</a:t>
            </a:r>
            <a:endParaRPr lang="en-US" b="1" dirty="0">
              <a:solidFill>
                <a:schemeClr val="accent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 smtClean="0"/>
              <a:t>Why is post-infection kind of a gray area?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 smtClean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itchFamily="34" charset="0"/>
            </a:endParaRPr>
          </a:p>
          <a:p>
            <a:pPr marL="0" indent="0" algn="ctr">
              <a:buNone/>
            </a:pPr>
            <a:r>
              <a:rPr lang="en-US" b="1" dirty="0" smtClean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rPr>
              <a:t>Overreliance on antivirus</a:t>
            </a:r>
          </a:p>
          <a:p>
            <a:pPr marL="0" indent="0" algn="ctr">
              <a:buNone/>
            </a:pPr>
            <a:r>
              <a:rPr lang="en-US" b="1" dirty="0" smtClean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rPr>
              <a:t>Malware persistence techniques</a:t>
            </a:r>
          </a:p>
          <a:p>
            <a:pPr marL="0" indent="0" algn="ctr">
              <a:buNone/>
            </a:pPr>
            <a:r>
              <a:rPr lang="en-US" b="1" dirty="0" smtClean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rPr>
              <a:t>Lack of exposure and training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209800"/>
            <a:ext cx="1447800" cy="153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55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25000">
              <a:srgbClr val="E6E6E6"/>
            </a:gs>
            <a:gs pos="15000">
              <a:srgbClr val="7D849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Malware Breach Responses</a:t>
            </a:r>
            <a:endParaRPr lang="en-US" b="1" dirty="0">
              <a:solidFill>
                <a:schemeClr val="accent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600200"/>
            <a:ext cx="6553200" cy="4648200"/>
          </a:xfrm>
        </p:spPr>
        <p:txBody>
          <a:bodyPr>
            <a:normAutofit/>
          </a:bodyPr>
          <a:lstStyle/>
          <a:p>
            <a:pPr algn="ctr">
              <a:buFont typeface="Wingdings" pitchFamily="2" charset="2"/>
              <a:buChar char="§"/>
            </a:pPr>
            <a:endParaRPr lang="en-US" sz="4000" b="1" dirty="0" smtClean="0"/>
          </a:p>
          <a:p>
            <a:pPr>
              <a:buFont typeface="Wingdings" pitchFamily="2" charset="2"/>
              <a:buChar char="§"/>
            </a:pPr>
            <a:r>
              <a:rPr lang="en-US" sz="4000" b="1" dirty="0" smtClean="0"/>
              <a:t>Nuke and Pave</a:t>
            </a:r>
          </a:p>
          <a:p>
            <a:pPr>
              <a:buFont typeface="Wingdings" pitchFamily="2" charset="2"/>
              <a:buChar char="§"/>
            </a:pPr>
            <a:endParaRPr lang="en-US" sz="4000" b="1" dirty="0" smtClean="0"/>
          </a:p>
          <a:p>
            <a:pPr>
              <a:buFont typeface="Wingdings" pitchFamily="2" charset="2"/>
              <a:buChar char="§"/>
            </a:pPr>
            <a:r>
              <a:rPr lang="en-US" sz="4000" b="1" dirty="0" smtClean="0"/>
              <a:t>WTFFFFFFFFFF</a:t>
            </a:r>
          </a:p>
          <a:p>
            <a:pPr>
              <a:buFont typeface="Wingdings" pitchFamily="2" charset="2"/>
              <a:buChar char="§"/>
            </a:pPr>
            <a:endParaRPr lang="en-US" sz="4000" b="1" dirty="0" smtClean="0"/>
          </a:p>
          <a:p>
            <a:pPr>
              <a:buFont typeface="Wingdings" pitchFamily="2" charset="2"/>
              <a:buChar char="§"/>
            </a:pPr>
            <a:r>
              <a:rPr lang="en-US" sz="4000" b="1" dirty="0" smtClean="0"/>
              <a:t>Proper Response</a:t>
            </a:r>
            <a:endParaRPr lang="en-US" sz="4000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663" y="3557337"/>
            <a:ext cx="1296683" cy="106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861" y="2209799"/>
            <a:ext cx="1020587" cy="10205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663" y="5189505"/>
            <a:ext cx="1214334" cy="111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0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25000">
              <a:srgbClr val="E6E6E6"/>
            </a:gs>
            <a:gs pos="15000">
              <a:srgbClr val="7D849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Malware Breach Responses</a:t>
            </a:r>
            <a:endParaRPr lang="en-US" b="1" dirty="0">
              <a:solidFill>
                <a:schemeClr val="accent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b="1" dirty="0" smtClean="0"/>
              <a:t>Nuke and Pave</a:t>
            </a:r>
            <a:endParaRPr lang="en-US" b="1" dirty="0" smtClean="0"/>
          </a:p>
          <a:p>
            <a:pPr lvl="2">
              <a:buFont typeface="Wingdings" pitchFamily="2" charset="2"/>
              <a:buChar char="§"/>
            </a:pPr>
            <a:r>
              <a:rPr lang="en-US" b="1" dirty="0" smtClean="0"/>
              <a:t>Re-image</a:t>
            </a:r>
            <a:endParaRPr lang="en-US" b="1" dirty="0" smtClean="0"/>
          </a:p>
          <a:p>
            <a:pPr lvl="2">
              <a:buFont typeface="Wingdings" pitchFamily="2" charset="2"/>
              <a:buChar char="§"/>
            </a:pPr>
            <a:r>
              <a:rPr lang="en-US" b="1" dirty="0" smtClean="0"/>
              <a:t>+Quick Recovery</a:t>
            </a:r>
          </a:p>
          <a:p>
            <a:pPr lvl="2">
              <a:buFont typeface="Wingdings" pitchFamily="2" charset="2"/>
              <a:buChar char="§"/>
            </a:pPr>
            <a:r>
              <a:rPr lang="en-US" b="1" dirty="0" smtClean="0"/>
              <a:t>Lazy Admin Kung-Fu</a:t>
            </a:r>
          </a:p>
          <a:p>
            <a:pPr>
              <a:buFont typeface="Wingdings" pitchFamily="2" charset="2"/>
              <a:buChar char="ü"/>
            </a:pPr>
            <a:endParaRPr lang="en-US" b="1" dirty="0" smtClean="0"/>
          </a:p>
          <a:p>
            <a:pPr>
              <a:buFont typeface="Wingdings" pitchFamily="2" charset="2"/>
              <a:buChar char="ü"/>
            </a:pPr>
            <a:r>
              <a:rPr lang="en-US" b="1" dirty="0" smtClean="0"/>
              <a:t>WTF</a:t>
            </a:r>
            <a:endParaRPr lang="en-US" b="1" dirty="0"/>
          </a:p>
          <a:p>
            <a:pPr lvl="2">
              <a:buFont typeface="Wingdings" pitchFamily="2" charset="2"/>
              <a:buChar char="§"/>
            </a:pPr>
            <a:r>
              <a:rPr lang="en-US" b="1" dirty="0" smtClean="0"/>
              <a:t>Breach occurs</a:t>
            </a:r>
          </a:p>
          <a:p>
            <a:pPr lvl="2">
              <a:buFont typeface="Wingdings" pitchFamily="2" charset="2"/>
              <a:buChar char="§"/>
            </a:pPr>
            <a:r>
              <a:rPr lang="en-US" b="1" dirty="0" smtClean="0"/>
              <a:t>Denial ensues</a:t>
            </a:r>
          </a:p>
          <a:p>
            <a:pPr lvl="2">
              <a:buFont typeface="Wingdings" pitchFamily="2" charset="2"/>
              <a:buChar char="§"/>
            </a:pPr>
            <a:r>
              <a:rPr lang="en-US" b="1" dirty="0" smtClean="0"/>
              <a:t>FFFFFFFFFFFFUUUUUUUUUUUUUU!@#$!@#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694" y="3124200"/>
            <a:ext cx="28194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46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25000">
              <a:srgbClr val="E6E6E6"/>
            </a:gs>
            <a:gs pos="15000">
              <a:srgbClr val="7D849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Malware Breach Responses</a:t>
            </a:r>
            <a:endParaRPr lang="en-US" b="1" dirty="0">
              <a:solidFill>
                <a:schemeClr val="accent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5181600"/>
          </a:xfrm>
        </p:spPr>
        <p:txBody>
          <a:bodyPr>
            <a:normAutofit lnSpcReduction="10000"/>
          </a:bodyPr>
          <a:lstStyle/>
          <a:p>
            <a:pPr algn="ctr">
              <a:buFont typeface="Wingdings" pitchFamily="2" charset="2"/>
              <a:buChar char="ü"/>
            </a:pPr>
            <a:endParaRPr lang="en-US" b="1" dirty="0" smtClean="0">
              <a:latin typeface="Arial Black" pitchFamily="34" charset="0"/>
            </a:endParaRPr>
          </a:p>
          <a:p>
            <a:pPr algn="ctr">
              <a:buFont typeface="Wingdings" pitchFamily="2" charset="2"/>
              <a:buChar char="ü"/>
            </a:pPr>
            <a:r>
              <a:rPr lang="en-US" sz="4200" b="1" dirty="0" smtClean="0"/>
              <a:t>Removal and Analysis</a:t>
            </a:r>
          </a:p>
          <a:p>
            <a:pPr marL="0" indent="0" algn="ctr">
              <a:buNone/>
            </a:pPr>
            <a:endParaRPr lang="en-US" b="1" dirty="0"/>
          </a:p>
          <a:p>
            <a:pPr>
              <a:buFont typeface="Wingdings" pitchFamily="2" charset="2"/>
              <a:buChar char="q"/>
            </a:pPr>
            <a:r>
              <a:rPr lang="en-US" sz="2600" b="1" dirty="0" smtClean="0">
                <a:effectLst>
                  <a:innerShdw blurRad="114300">
                    <a:prstClr val="black"/>
                  </a:innerShdw>
                </a:effectLst>
              </a:rPr>
              <a:t>Obtain full, or individual process, memory dump(s)</a:t>
            </a:r>
          </a:p>
          <a:p>
            <a:pPr marL="0" indent="0">
              <a:buNone/>
            </a:pPr>
            <a:endParaRPr lang="en-US" sz="2600" b="1" dirty="0" smtClean="0">
              <a:effectLst>
                <a:innerShdw blurRad="114300">
                  <a:prstClr val="black"/>
                </a:innerShdw>
              </a:effectLst>
            </a:endParaRPr>
          </a:p>
          <a:p>
            <a:pPr>
              <a:buFont typeface="Wingdings" pitchFamily="2" charset="2"/>
              <a:buChar char="q"/>
            </a:pPr>
            <a:r>
              <a:rPr lang="en-US" sz="2600" b="1" dirty="0" smtClean="0">
                <a:effectLst>
                  <a:innerShdw blurRad="114300">
                    <a:prstClr val="black"/>
                  </a:innerShdw>
                </a:effectLst>
              </a:rPr>
              <a:t>30-60min packet capture</a:t>
            </a:r>
          </a:p>
          <a:p>
            <a:pPr>
              <a:buFont typeface="Wingdings" pitchFamily="2" charset="2"/>
              <a:buChar char="q"/>
            </a:pPr>
            <a:endParaRPr lang="en-US" sz="2600" b="1" dirty="0" smtClean="0">
              <a:effectLst>
                <a:innerShdw blurRad="114300">
                  <a:prstClr val="black"/>
                </a:innerShdw>
              </a:effectLst>
            </a:endParaRPr>
          </a:p>
          <a:p>
            <a:pPr>
              <a:buFont typeface="Wingdings" pitchFamily="2" charset="2"/>
              <a:buChar char="q"/>
            </a:pPr>
            <a:r>
              <a:rPr lang="en-US" sz="2600" b="1" dirty="0" smtClean="0">
                <a:effectLst>
                  <a:innerShdw blurRad="114300">
                    <a:prstClr val="black"/>
                  </a:innerShdw>
                </a:effectLst>
              </a:rPr>
              <a:t>Manual malware </a:t>
            </a:r>
            <a:r>
              <a:rPr lang="en-US" sz="2600" b="1" dirty="0">
                <a:effectLst>
                  <a:innerShdw blurRad="114300">
                    <a:prstClr val="black"/>
                  </a:innerShdw>
                </a:effectLst>
              </a:rPr>
              <a:t>e</a:t>
            </a:r>
            <a:r>
              <a:rPr lang="en-US" sz="2600" b="1" dirty="0" smtClean="0">
                <a:effectLst>
                  <a:innerShdw blurRad="114300">
                    <a:prstClr val="black"/>
                  </a:innerShdw>
                </a:effectLst>
              </a:rPr>
              <a:t>xtraction</a:t>
            </a:r>
          </a:p>
          <a:p>
            <a:pPr>
              <a:buFont typeface="Wingdings" pitchFamily="2" charset="2"/>
              <a:buChar char="q"/>
            </a:pPr>
            <a:endParaRPr lang="en-US" sz="2600" b="1" dirty="0" smtClean="0">
              <a:effectLst>
                <a:innerShdw blurRad="114300">
                  <a:prstClr val="black"/>
                </a:innerShdw>
              </a:effectLst>
            </a:endParaRPr>
          </a:p>
          <a:p>
            <a:pPr>
              <a:buFont typeface="Wingdings" pitchFamily="2" charset="2"/>
              <a:buChar char="q"/>
            </a:pPr>
            <a:r>
              <a:rPr lang="en-US" sz="2600" b="1" dirty="0" smtClean="0">
                <a:effectLst>
                  <a:innerShdw blurRad="114300">
                    <a:prstClr val="black"/>
                  </a:innerShdw>
                </a:effectLst>
              </a:rPr>
              <a:t>Automated sandbox and/or manual </a:t>
            </a:r>
            <a:r>
              <a:rPr lang="en-US" sz="2600" b="1" dirty="0">
                <a:effectLst>
                  <a:innerShdw blurRad="114300">
                    <a:prstClr val="black"/>
                  </a:innerShdw>
                </a:effectLst>
              </a:rPr>
              <a:t>a</a:t>
            </a:r>
            <a:r>
              <a:rPr lang="en-US" sz="2600" b="1" dirty="0" smtClean="0">
                <a:effectLst>
                  <a:innerShdw blurRad="114300">
                    <a:prstClr val="black"/>
                  </a:innerShdw>
                </a:effectLst>
              </a:rPr>
              <a:t>nalysis</a:t>
            </a:r>
          </a:p>
          <a:p>
            <a:pPr>
              <a:buFont typeface="Wingdings" pitchFamily="2" charset="2"/>
              <a:buChar char="q"/>
            </a:pPr>
            <a:endParaRPr lang="en-US" sz="2600" b="1" dirty="0">
              <a:effectLst>
                <a:innerShdw blurRad="114300">
                  <a:prstClr val="black"/>
                </a:innerShdw>
              </a:effectLst>
            </a:endParaRPr>
          </a:p>
          <a:p>
            <a:pPr marL="0" indent="0" algn="ctr">
              <a:buNone/>
            </a:pPr>
            <a:endParaRPr lang="en-US" b="1" dirty="0" smtClean="0">
              <a:latin typeface="Arial Black" pitchFamily="34" charset="0"/>
            </a:endParaRPr>
          </a:p>
          <a:p>
            <a:pPr marL="0" indent="0" algn="ctr">
              <a:buNone/>
            </a:pPr>
            <a:endParaRPr lang="en-US" b="1" dirty="0" smtClean="0">
              <a:latin typeface="Arial Black" pitchFamily="34" charset="0"/>
            </a:endParaRPr>
          </a:p>
          <a:p>
            <a:pPr marL="0" indent="0" algn="ctr">
              <a:buNone/>
            </a:pPr>
            <a:endParaRPr lang="en-US" b="1" dirty="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64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25000">
              <a:srgbClr val="E6E6E6"/>
            </a:gs>
            <a:gs pos="15000">
              <a:srgbClr val="7D849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Battle Planning</a:t>
            </a:r>
            <a:endParaRPr lang="en-US" b="1" dirty="0">
              <a:solidFill>
                <a:schemeClr val="accent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534400" cy="5181600"/>
          </a:xfrm>
        </p:spPr>
        <p:txBody>
          <a:bodyPr>
            <a:normAutofit/>
          </a:bodyPr>
          <a:lstStyle/>
          <a:p>
            <a:r>
              <a:rPr lang="en-US" b="1" dirty="0" smtClean="0"/>
              <a:t>Provide training to your people (or someone!)</a:t>
            </a:r>
            <a:endParaRPr lang="en-US" b="1" dirty="0" smtClean="0"/>
          </a:p>
          <a:p>
            <a:r>
              <a:rPr lang="en-US" b="1" dirty="0" smtClean="0"/>
              <a:t>Multiple response </a:t>
            </a:r>
            <a:r>
              <a:rPr lang="en-US" b="1" dirty="0" smtClean="0"/>
              <a:t>solutions</a:t>
            </a:r>
          </a:p>
          <a:p>
            <a:pPr lvl="4"/>
            <a:r>
              <a:rPr lang="en-US" b="1" dirty="0" smtClean="0"/>
              <a:t>Network breach</a:t>
            </a:r>
          </a:p>
          <a:p>
            <a:pPr lvl="4"/>
            <a:r>
              <a:rPr lang="en-US" b="1" dirty="0" smtClean="0"/>
              <a:t>Single node breach</a:t>
            </a:r>
          </a:p>
          <a:p>
            <a:pPr lvl="4"/>
            <a:r>
              <a:rPr lang="en-US" b="1" dirty="0" smtClean="0"/>
              <a:t>False Positives</a:t>
            </a:r>
            <a:endParaRPr lang="en-US" b="1" dirty="0" smtClean="0"/>
          </a:p>
          <a:p>
            <a:r>
              <a:rPr lang="en-US" b="1" dirty="0" smtClean="0"/>
              <a:t>Multiple defense methods</a:t>
            </a:r>
          </a:p>
          <a:p>
            <a:r>
              <a:rPr lang="en-US" b="1" dirty="0" smtClean="0"/>
              <a:t>Audit your damn network!</a:t>
            </a:r>
          </a:p>
          <a:p>
            <a:r>
              <a:rPr lang="en-US" b="1" dirty="0" smtClean="0"/>
              <a:t>Do not install Java</a:t>
            </a:r>
            <a:r>
              <a:rPr lang="en-US" b="1" dirty="0" smtClean="0"/>
              <a:t>!</a:t>
            </a:r>
            <a:endParaRPr lang="en-US" b="1" dirty="0"/>
          </a:p>
          <a:p>
            <a:pPr marL="0" indent="0">
              <a:buNone/>
            </a:pPr>
            <a:r>
              <a:rPr lang="en-US" sz="1400" b="1" dirty="0" smtClean="0"/>
              <a:t>	(unless you need it)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3276600"/>
            <a:ext cx="3135864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95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25000">
              <a:srgbClr val="E6E6E6"/>
            </a:gs>
            <a:gs pos="15000">
              <a:srgbClr val="7D849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Tools of the Tirade</a:t>
            </a:r>
            <a:endParaRPr lang="en-US" b="1" dirty="0">
              <a:solidFill>
                <a:schemeClr val="accent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33" y="28956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 smtClean="0"/>
              <a:t>Process Explorer</a:t>
            </a:r>
          </a:p>
          <a:p>
            <a:pPr marL="0" indent="0">
              <a:buNone/>
            </a:pPr>
            <a:r>
              <a:rPr lang="en-US" sz="1400" dirty="0" smtClean="0"/>
              <a:t>https://technet.microsoft.com/en-us/sysinternals/bb545021.aspx</a:t>
            </a:r>
            <a:endParaRPr lang="en-US" b="1" dirty="0" smtClean="0">
              <a:latin typeface="Arial Black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199" y="1295400"/>
            <a:ext cx="87731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/>
              <a:t>Find and Identify Malware </a:t>
            </a:r>
            <a:r>
              <a:rPr lang="en-US" sz="2800" b="1" dirty="0" smtClean="0"/>
              <a:t>– </a:t>
            </a:r>
            <a:r>
              <a:rPr lang="en-US" sz="2000" b="1" dirty="0" smtClean="0"/>
              <a:t>See the forest for the execution tree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776287"/>
            <a:ext cx="6639381" cy="47127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930624"/>
            <a:ext cx="6715753" cy="45584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067523"/>
            <a:ext cx="6629400" cy="442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1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25000">
              <a:srgbClr val="E6E6E6"/>
            </a:gs>
            <a:gs pos="15000">
              <a:srgbClr val="7D849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Tools of the Trade</a:t>
            </a:r>
            <a:endParaRPr lang="en-US" b="1" dirty="0">
              <a:solidFill>
                <a:schemeClr val="accent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b="1" dirty="0" smtClean="0">
              <a:latin typeface="Arial Black" pitchFamily="34" charset="0"/>
            </a:endParaRPr>
          </a:p>
          <a:p>
            <a:pPr marL="0" indent="0" algn="ctr">
              <a:buNone/>
            </a:pPr>
            <a:endParaRPr lang="en-US" b="1" dirty="0" smtClean="0">
              <a:latin typeface="Arial Black" pitchFamily="34" charset="0"/>
            </a:endParaRPr>
          </a:p>
          <a:p>
            <a:pPr marL="0" indent="0" algn="ctr">
              <a:buNone/>
            </a:pPr>
            <a:endParaRPr lang="en-US" b="1" dirty="0" smtClean="0">
              <a:latin typeface="Arial Black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9" y="2438400"/>
            <a:ext cx="6373115" cy="31532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200" y="6172200"/>
            <a:ext cx="5841151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effectLst>
                  <a:innerShdw blurRad="114300">
                    <a:prstClr val="black"/>
                  </a:innerShdw>
                </a:effectLst>
              </a:rPr>
              <a:t>DumpIt</a:t>
            </a:r>
          </a:p>
          <a:p>
            <a:r>
              <a:rPr lang="en-US" sz="1400" dirty="0" smtClean="0"/>
              <a:t>http://www.moonsols.com/2011/07/18/moonsols-dumpit-goes-mainstream/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2209800" y="1617133"/>
            <a:ext cx="49978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/>
              <a:t>Dump all the memory!!!!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916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25000">
              <a:srgbClr val="E6E6E6"/>
            </a:gs>
            <a:gs pos="15000">
              <a:srgbClr val="7D849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483" y="1836001"/>
            <a:ext cx="6843421" cy="43361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Tools of the Trade</a:t>
            </a:r>
            <a:endParaRPr lang="en-US" b="1" dirty="0">
              <a:solidFill>
                <a:schemeClr val="accent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b="1" dirty="0" smtClean="0">
              <a:latin typeface="Arial Black" pitchFamily="34" charset="0"/>
            </a:endParaRPr>
          </a:p>
          <a:p>
            <a:pPr marL="0" indent="0" algn="ctr">
              <a:buNone/>
            </a:pPr>
            <a:endParaRPr lang="en-US" b="1" dirty="0" smtClean="0">
              <a:latin typeface="Arial Black" pitchFamily="34" charset="0"/>
            </a:endParaRPr>
          </a:p>
          <a:p>
            <a:pPr marL="0" indent="0" algn="ctr">
              <a:buNone/>
            </a:pPr>
            <a:endParaRPr lang="en-US" b="1" dirty="0" smtClean="0">
              <a:latin typeface="Arial Black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06468" y="1415534"/>
            <a:ext cx="3931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/>
              <a:t>Take a deeper look at the active system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483" y="1836001"/>
            <a:ext cx="6791922" cy="433382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867" y="6172199"/>
            <a:ext cx="2684966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PCHunter aka Xuetr</a:t>
            </a:r>
          </a:p>
          <a:p>
            <a:r>
              <a:rPr lang="en-US" sz="1400" dirty="0" smtClean="0"/>
              <a:t>http://www.xuetr.com/download/</a:t>
            </a:r>
            <a:endParaRPr lang="en-US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6" y="1836001"/>
            <a:ext cx="6851888" cy="437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25000">
              <a:srgbClr val="E6E6E6"/>
            </a:gs>
            <a:gs pos="15000">
              <a:srgbClr val="7D849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Tools of the Trade</a:t>
            </a:r>
            <a:endParaRPr lang="en-US" b="1" dirty="0">
              <a:solidFill>
                <a:schemeClr val="accent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b="1" dirty="0" smtClean="0">
              <a:latin typeface="Arial Black" pitchFamily="34" charset="0"/>
            </a:endParaRPr>
          </a:p>
          <a:p>
            <a:pPr marL="0" indent="0" algn="ctr">
              <a:buNone/>
            </a:pPr>
            <a:endParaRPr lang="en-US" b="1" dirty="0" smtClean="0">
              <a:latin typeface="Arial Black" pitchFamily="34" charset="0"/>
            </a:endParaRPr>
          </a:p>
          <a:p>
            <a:pPr marL="0" indent="0" algn="ctr">
              <a:buNone/>
            </a:pPr>
            <a:endParaRPr lang="en-US" b="1" dirty="0" smtClean="0">
              <a:latin typeface="Arial Black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37251" y="1415534"/>
            <a:ext cx="3669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/>
              <a:t>Other post-infection tools and suites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64" y="2638198"/>
            <a:ext cx="1524000" cy="11663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649" y="5334000"/>
            <a:ext cx="2013567" cy="68328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47" y="5248114"/>
            <a:ext cx="1996834" cy="8550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894" y="3405776"/>
            <a:ext cx="1197598" cy="119059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7" y="4073265"/>
            <a:ext cx="3295566" cy="52310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630" y="4802007"/>
            <a:ext cx="2257165" cy="101240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524" y="6017283"/>
            <a:ext cx="2537445" cy="61158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433" y="2621265"/>
            <a:ext cx="2286000" cy="1143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859" y="4101002"/>
            <a:ext cx="2438741" cy="4953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759" y="2065131"/>
            <a:ext cx="1112268" cy="111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0">
              <a:srgbClr val="E6E6E6"/>
            </a:gs>
            <a:gs pos="13000">
              <a:srgbClr val="7D8496"/>
            </a:gs>
            <a:gs pos="25000">
              <a:srgbClr val="E6E6E6"/>
            </a:gs>
            <a:gs pos="15000">
              <a:srgbClr val="7D849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Thank you!!!!</a:t>
            </a:r>
            <a:endParaRPr lang="en-US" b="1" dirty="0">
              <a:solidFill>
                <a:schemeClr val="accent6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questions?</a:t>
            </a:r>
          </a:p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caleb@dirtywhitehat.net   </a:t>
            </a:r>
            <a:r>
              <a:rPr lang="en-US" b="1" dirty="0" smtClean="0"/>
              <a:t>@dirtywhitehat</a:t>
            </a: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34290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0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70559</TotalTime>
  <Words>277</Words>
  <Application>Microsoft Office PowerPoint</Application>
  <PresentationFormat>On-screen Show (4:3)</PresentationFormat>
  <Paragraphs>107</Paragraphs>
  <Slides>13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The Art of Post-Infection Response &amp; Mitigation</vt:lpstr>
      <vt:lpstr>Who is this guy?</vt:lpstr>
      <vt:lpstr>Overview</vt:lpstr>
      <vt:lpstr>Into the Gray</vt:lpstr>
      <vt:lpstr>Malware Breach Responses</vt:lpstr>
      <vt:lpstr>Malware Breach Responses</vt:lpstr>
      <vt:lpstr>Malware Breach Responses</vt:lpstr>
      <vt:lpstr>Battle Planning</vt:lpstr>
      <vt:lpstr>Tools of the Tirade</vt:lpstr>
      <vt:lpstr>Tools of the Trade</vt:lpstr>
      <vt:lpstr>Tools of the Trade</vt:lpstr>
      <vt:lpstr>Tools of the Trade</vt:lpstr>
      <vt:lpstr>Thank you!!!!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Post-Infection Response &amp; Mitigation</dc:title>
  <dc:creator>chill</dc:creator>
  <cp:lastModifiedBy>chill</cp:lastModifiedBy>
  <cp:revision>64</cp:revision>
  <dcterms:created xsi:type="dcterms:W3CDTF">2015-01-26T02:32:07Z</dcterms:created>
  <dcterms:modified xsi:type="dcterms:W3CDTF">2015-03-27T21:01:24Z</dcterms:modified>
</cp:coreProperties>
</file>