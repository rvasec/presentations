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039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INTERVIEW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3108960"/>
            <a:ext cx="1828800" cy="0"/>
          </a:xfrm>
          <a:prstGeom prst="line">
            <a:avLst/>
          </a:prstGeom>
          <a:noFill/>
          <a:ln w="38100">
            <a:solidFill>
              <a:srgbClr val="668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B0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Career Readiness Framework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8AB0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Cybersecurity Professionals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 Khomyk</a:t>
            </a: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//  Hampton North  //  Cybersecurity Talent Practice</a:t>
            </a:r>
            <a:endParaRPr lang="en-US" sz="1300" dirty="0"/>
          </a:p>
        </p:txBody>
      </p:sp>
      <p:pic>
        <p:nvPicPr>
          <p:cNvPr id="6" name="Image 0" descr="/home/claude/image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160520"/>
            <a:ext cx="2743200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Disclaimer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2286000" cy="0"/>
          </a:xfrm>
          <a:prstGeom prst="line">
            <a:avLst/>
          </a:prstGeom>
          <a:noFill/>
          <a:ln w="25400">
            <a:solidFill>
              <a:srgbClr val="668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interview engine  //  hampton north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668D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"It depends."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correct answer to almost every question in recruiting.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B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Known knowns: </a:t>
            </a: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experience, certs, hard skills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C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Known unknowns: </a:t>
            </a: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else is in the pipeline, real priorities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Unknown unknowns: </a:t>
            </a: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cuts, reorgs, the HM's kid got sick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tonight is conjecture.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data set.</a:t>
            </a:r>
            <a:endParaRPr lang="en-US" sz="1300" dirty="0"/>
          </a:p>
        </p:txBody>
      </p:sp>
      <p:pic>
        <p:nvPicPr>
          <p:cNvPr id="9" name="Image 0" descr="/home/claude/images/image2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097280"/>
            <a:ext cx="20116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686" y="1828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D5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094858" y="10058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Market Right Now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4858" y="1636836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/>
              <a:t> </a:t>
            </a:r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Hampton North</a:t>
            </a:r>
            <a:endParaRPr lang="en-US" sz="900" dirty="0"/>
          </a:p>
        </p:txBody>
      </p:sp>
      <p:pic>
        <p:nvPicPr>
          <p:cNvPr id="6" name="Image 0" descr="/home/claude/images/image3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256032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 as a Hiring Manager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2286000" cy="0"/>
          </a:xfrm>
          <a:prstGeom prst="line">
            <a:avLst/>
          </a:prstGeom>
          <a:noFill/>
          <a:ln w="25400">
            <a:solidFill>
              <a:srgbClr val="668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interview engine  //  hampton north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for 3 heads. Got approved for 1. 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is overworked. Hiring is a sideshow to the daily fire.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are we doing with AI?" from their boss. Every. Day.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applicants. Maybe 10 read the job ad.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Everyone's resume looks the same (models drift to the mean).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Finally find someone who’s a fit. They accepted elsewhere. Its been 5 weeks.</a:t>
            </a:r>
            <a:endParaRPr lang="en-US" sz="1300" dirty="0"/>
          </a:p>
        </p:txBody>
      </p:sp>
      <p:pic>
        <p:nvPicPr>
          <p:cNvPr id="11" name="Image 0" descr="/home/claude/images/image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1371600"/>
            <a:ext cx="292608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Hiring Is a Risk Decision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2286000" cy="0"/>
          </a:xfrm>
          <a:prstGeom prst="line">
            <a:avLst/>
          </a:prstGeom>
          <a:noFill/>
          <a:ln w="25400">
            <a:solidFill>
              <a:srgbClr val="668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interview engine  //  hampton north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840480" cy="201168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CYBERSECURITY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about building the best solution.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mitigating risk at acceptable cost.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840480" cy="201168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1325880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HIRING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about finding the best person.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who reduces the most risk, at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acceptable cost, with the least chance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starting over.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68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mental model. Different domain.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reframes how you present yourself, how you search, and how you stay ready.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Is Everything So Slow?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2286000" cy="0"/>
          </a:xfrm>
          <a:prstGeom prst="line">
            <a:avLst/>
          </a:prstGeom>
          <a:noFill/>
          <a:ln w="25400">
            <a:solidFill>
              <a:srgbClr val="668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interview engine  //  hampton north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0972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Recruiters got laid off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2022-23 layoffs gutted recruiting teams. Fewer people processing more applicants.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8288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channel is very noisy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applicants per role, 3 qualified. AI spray-and-pray plus fake candidates (proxies, DPRK).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5603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Unicorn syndrome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hires means everyone needs to do more, and the wrong hire has a bigger blast radius. Looking for 3 people in 1. High bar, low risk tolerance. </a:t>
            </a:r>
            <a:endParaRPr lang="en-US" sz="1500" dirty="0"/>
          </a:p>
        </p:txBody>
      </p:sp>
      <p:pic>
        <p:nvPicPr>
          <p:cNvPr id="11" name="Image 0" descr="/home/claude/images/image5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1097280"/>
            <a:ext cx="292608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D5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Inside the Machine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AB0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recruiting actually works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Hampton North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 Search Starts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2286000" cy="0"/>
          </a:xfrm>
          <a:prstGeom prst="line">
            <a:avLst/>
          </a:prstGeom>
          <a:noFill/>
          <a:ln w="25400">
            <a:solidFill>
              <a:srgbClr val="668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interview engine  //  hampton north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657600" cy="18288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INBOUND</a:t>
            </a:r>
            <a:endParaRPr lang="en-US" sz="12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applied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of 200+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840480" cy="1828800"/>
          </a:xfrm>
          <a:prstGeom prst="rect">
            <a:avLst/>
          </a:prstGeom>
          <a:solidFill>
            <a:srgbClr val="3D5C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132588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B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OUTBOUND</a:t>
            </a:r>
            <a:endParaRPr lang="en-US" sz="12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found you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of 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68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Discoverability compounds over time. Applying does not.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Recruiters Actually Look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2286000" cy="0"/>
          </a:xfrm>
          <a:prstGeom prst="line">
            <a:avLst/>
          </a:prstGeom>
          <a:noFill/>
          <a:ln w="25400">
            <a:solidFill>
              <a:srgbClr val="668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interview engine  //  hampton north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7863840" cy="530352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143000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Search</a:t>
            </a: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keywords, headline, location, trajectory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01368"/>
            <a:ext cx="7234733" cy="530352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801368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801368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Database / ATS</a:t>
            </a: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past candidates, applicant history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459736"/>
            <a:ext cx="6605626" cy="530352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459736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459736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Referrals</a:t>
            </a: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network connections, warm intros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118104"/>
            <a:ext cx="5976518" cy="530352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118104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118104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Board Applicants</a:t>
            </a: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Indeed, Glassdoor, etc.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776472"/>
            <a:ext cx="5347411" cy="530352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776472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3776472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Niche Communities</a:t>
            </a: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GitHub, conferences, Slack groups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8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"Applied to the job posting" is #4, not #1.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6-Second Skim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2286000" cy="0"/>
          </a:xfrm>
          <a:prstGeom prst="line">
            <a:avLst/>
          </a:prstGeom>
          <a:noFill/>
          <a:ln w="25400">
            <a:solidFill>
              <a:srgbClr val="668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interview engine  //  hampton north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109728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B0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a deeper read:
</a:t>
            </a: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Numbers. Outcomes. Clear career arc.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you tossed:
</a:t>
            </a: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stuffing. No narrative. Formatting chaos.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07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 scores are mostly theater.
</a:t>
            </a: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optimizing for a robot.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for a tired human.</a:t>
            </a:r>
            <a:endParaRPr lang="en-US" sz="1300" dirty="0"/>
          </a:p>
        </p:txBody>
      </p:sp>
      <p:pic>
        <p:nvPicPr>
          <p:cNvPr id="8" name="Image 0" descr="/home/claude/images/image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371600"/>
            <a:ext cx="274320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LinkedIn: What I Actually See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2286000" cy="0"/>
          </a:xfrm>
          <a:prstGeom prst="line">
            <a:avLst/>
          </a:prstGeom>
          <a:noFill/>
          <a:ln w="25400">
            <a:solidFill>
              <a:srgbClr val="668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interview engine  //  hampton north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see a preview card. Not your full profile.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4572000" cy="18288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252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20240" y="17830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68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Headline  </a:t>
            </a:r>
            <a:r>
              <a:rPr lang="en-US" sz="1000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this is your storefront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Title  |  Location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snippet (first ~2 lines)...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this doesn't compel a click, nothing else matters.</a:t>
            </a:r>
            <a:endParaRPr lang="en-US" sz="1200" dirty="0"/>
          </a:p>
        </p:txBody>
      </p:sp>
      <p:pic>
        <p:nvPicPr>
          <p:cNvPr id="10" name="Image 0" descr="/home/claude/images/image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0" y="1097280"/>
            <a:ext cx="33832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Headline Is a Search Query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2286000" cy="0"/>
          </a:xfrm>
          <a:prstGeom prst="line">
            <a:avLst/>
          </a:prstGeom>
          <a:noFill/>
          <a:ln w="25400">
            <a:solidFill>
              <a:srgbClr val="668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interview engine  //  hampton north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749040" cy="1280160"/>
          </a:xfrm>
          <a:prstGeom prst="rect">
            <a:avLst/>
          </a:prstGeom>
          <a:solidFill>
            <a:srgbClr val="4A1A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8872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"Cybersecurity Professional"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"Open to Work" (but what do you DO?)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your current title + company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3840480" cy="1280160"/>
          </a:xfrm>
          <a:prstGeom prst="rect">
            <a:avLst/>
          </a:prstGeom>
          <a:solidFill>
            <a:srgbClr val="1A2D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11887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B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Sr. AppSec Engineer | Cloud-Native | SAST/DAST/SCA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Security Engineer // Detection &amp; Threat Hunting | AWS/GCP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solidFill>
            <a:srgbClr val="252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FORMULA  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[Level + Specialty]  |  [Key Technologies]  |  [Differentiator]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68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vanity. SEO for your career.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 + Environment + Outcome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2286000" cy="0"/>
          </a:xfrm>
          <a:prstGeom prst="line">
            <a:avLst/>
          </a:prstGeom>
          <a:noFill/>
          <a:ln w="25400">
            <a:solidFill>
              <a:srgbClr val="668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interview engine  //  hampton north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840480" cy="777240"/>
          </a:xfrm>
          <a:prstGeom prst="rect">
            <a:avLst/>
          </a:prstGeom>
          <a:solidFill>
            <a:srgbClr val="4A1A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1887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 </a:t>
            </a: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"Managed a security team. Conducted vulnerability assessments."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840480" cy="777240"/>
          </a:xfrm>
          <a:prstGeom prst="rect">
            <a:avLst/>
          </a:prstGeom>
          <a:solidFill>
            <a:srgbClr val="1A2D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1887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B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 </a:t>
            </a: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"Led 8 engineers across 3 time zones through a SOC transformation, reducing MTTR from 4hrs to 45min."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3840480" cy="777240"/>
          </a:xfrm>
          <a:prstGeom prst="rect">
            <a:avLst/>
          </a:prstGeom>
          <a:solidFill>
            <a:srgbClr val="4A1A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 </a:t>
            </a: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"Worked on vulnerability management."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286000"/>
            <a:ext cx="3840480" cy="777240"/>
          </a:xfrm>
          <a:prstGeom prst="rect">
            <a:avLst/>
          </a:prstGeom>
          <a:solidFill>
            <a:srgbClr val="1A2D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22860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B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 </a:t>
            </a: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"Led vuln remediation across external assets via Tenable, reducing criticals 60% in 9 months."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68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are context. Actions and outcomes are the value.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led" not "We implemented."</a:t>
            </a: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 to 5 bullets per role. Include scope.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14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D5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147447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Interview Engine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2174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AB0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career readiness framework for people who think in systems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Hampton North</a:t>
            </a:r>
            <a:endParaRPr lang="en-US" sz="900" dirty="0"/>
          </a:p>
        </p:txBody>
      </p:sp>
      <p:pic>
        <p:nvPicPr>
          <p:cNvPr id="6" name="Image 0" descr="/home/claude/images/image1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26082" y="2834640"/>
            <a:ext cx="27432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Groundhog Day Trap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2286000" cy="0"/>
          </a:xfrm>
          <a:prstGeom prst="line">
            <a:avLst/>
          </a:prstGeom>
          <a:noFill/>
          <a:ln w="25400">
            <a:solidFill>
              <a:srgbClr val="668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interview engine  //  hampton north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Apply. Hear nothing. Repeat.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68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break the loop: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YOUR data, not someone else's snapshot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7004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&gt; Test &gt; Adjust &gt; Repeat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5409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resume versions for different role types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3814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hidden variables: company stage, industry, regulated?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82219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hit rate IS your engine diagnostic readout</a:t>
            </a:r>
            <a:endParaRPr lang="en-US" sz="1200" dirty="0"/>
          </a:p>
        </p:txBody>
      </p:sp>
      <p:pic>
        <p:nvPicPr>
          <p:cNvPr id="12" name="Image 0" descr="/home/claude/images/image1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0" y="1097280"/>
            <a:ext cx="30175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Engine States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2286000" cy="0"/>
          </a:xfrm>
          <a:prstGeom prst="line">
            <a:avLst/>
          </a:prstGeom>
          <a:noFill/>
          <a:ln w="25400">
            <a:solidFill>
              <a:srgbClr val="668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interview engine  //  hampton north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22860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stale. Network silent.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rusty. Starting from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 is painful.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2286000"/>
          </a:xfrm>
          <a:prstGeom prst="rect">
            <a:avLst/>
          </a:prstGeom>
          <a:solidFill>
            <a:srgbClr val="3D5C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29000" y="1234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B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17373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warm. Could move 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hours. Resume current.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aware. Alerts set.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22860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1234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17373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search mode. Leads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generating. Interview loops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open. Maintained = clean.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solidFill>
            <a:srgbClr val="252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goal is to live in IDLE.  Idle to Running = easy.  Cold to Running = hard.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Fuel  //  Air  //  Spark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2286000" cy="0"/>
          </a:xfrm>
          <a:prstGeom prst="line">
            <a:avLst/>
          </a:prstGeom>
          <a:noFill/>
          <a:ln w="25400">
            <a:solidFill>
              <a:srgbClr val="668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interview engine  //  hampton north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2926080"/>
          </a:xfrm>
          <a:prstGeom prst="rect">
            <a:avLst/>
          </a:prstGeom>
          <a:solidFill>
            <a:srgbClr val="3D2D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07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Reputation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your work. Would your last 3 managers call you unprompted? No resume trick compensates for weak fuel.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2926080"/>
          </a:xfrm>
          <a:prstGeom prst="rect">
            <a:avLst/>
          </a:prstGeom>
          <a:solidFill>
            <a:srgbClr val="3D5C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1234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B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900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B0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Network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21031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Oxygen that lets opportunities reach you. Low-stakes touchpoints: conferences, conversations, congrats, coffee, articles. Without air, fuel just sits.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2926080"/>
          </a:xfrm>
          <a:prstGeom prst="rect">
            <a:avLst/>
          </a:prstGeom>
          <a:solidFill>
            <a:srgbClr val="1A2D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1234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8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Actions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21031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Ignites fuel + air into motion. Applying, reaching out, alerts, interviews. Tracking your data. Without spark, nothing fires.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68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all three for the engine to fire.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 Engine Produces: Your Data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2286000" cy="0"/>
          </a:xfrm>
          <a:prstGeom prst="line">
            <a:avLst/>
          </a:prstGeom>
          <a:noFill/>
          <a:ln w="25400">
            <a:solidFill>
              <a:srgbClr val="668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interview engine  //  hampton north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0972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Demand Trends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skills keep showing up? AWS or Azure? Detection engineering growing, GRC flat?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Velocity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roles open fast, stay open long, get filled instantly? Where is demand outpacing supply?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7432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Hit Rate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resume version gets callbacks? Startups vs. enterprise vs. defense? That's your product-market fit.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5661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Invest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off-hours learning should be informed by what roles are actually asking for. Not vibes.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0" y="1097280"/>
            <a:ext cx="3017520" cy="22860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97880" y="128016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B0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build monitoring dashboards for your infrastructure.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8AB0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build one for your career?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0" y="36576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cares about your career as much as you do.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 should they. So build the system.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Maintenance Schedule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2286000" cy="0"/>
          </a:xfrm>
          <a:prstGeom prst="line">
            <a:avLst/>
          </a:prstGeom>
          <a:noFill/>
          <a:ln w="25400">
            <a:solidFill>
              <a:srgbClr val="668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interview engine  //  hampton north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7863840" cy="59436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0972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ONGOING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7440" y="109728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work. Real relationships. Drive your own career conversations.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7863840" cy="59436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182880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saved searches. Note market shifts. 1 to 2 outreach touches. Check resume traction.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7863840" cy="59436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5603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256032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resume with wins. Review LinkedIn. Identify network gaps. Advocate for yourself.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7863840" cy="59436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2918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ANNUALLY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32918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audit. Where in 2 years? Who to know? Which skills gaining or losing value?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Action Plan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2286000" cy="0"/>
          </a:xfrm>
          <a:prstGeom prst="line">
            <a:avLst/>
          </a:prstGeom>
          <a:noFill/>
          <a:ln w="25400">
            <a:solidFill>
              <a:srgbClr val="668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interview engine  //  hampton north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10-second test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your resume to someone. After 10 seconds: what kind of security professional is this? If they can't answer, your positioning could use some polish.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0116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your lowest score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Fuel, air, or spark. Which one is weakest? Fix that one thing this week. Not all three. One.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8346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your data set tonight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a saved search on LinkedIn before you go to bed. That's your first data point. Track what you see.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7863840" cy="640080"/>
          </a:xfrm>
          <a:prstGeom prst="rect">
            <a:avLst/>
          </a:prstGeom>
          <a:solidFill>
            <a:srgbClr val="252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1: </a:t>
            </a: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what you did, not what the tool does.  </a:t>
            </a:r>
            <a:r>
              <a:rPr lang="en-US" sz="1200" b="1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2: </a:t>
            </a: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environment.  </a:t>
            </a:r>
            <a:r>
              <a:rPr lang="en-US" sz="1200" b="1" dirty="0">
                <a:solidFill>
                  <a:srgbClr val="668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3: </a:t>
            </a: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bullet = capability.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best time to</a:t>
            </a:r>
            <a:endParaRPr lang="en-US" sz="3400" dirty="0"/>
          </a:p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maintain your engine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668D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when you don't need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3474720"/>
            <a:ext cx="22860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 Khomyk  //  Hampton North  //  Cybersecurity Talent Practice</a:t>
            </a:r>
            <a:endParaRPr lang="en-US" sz="1200" dirty="0"/>
          </a:p>
          <a:p>
            <a:r>
              <a:rPr lang="en-US" sz="1200" dirty="0">
                <a:solidFill>
                  <a:srgbClr val="8AB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https://www.linkedin.com/in/vaskhomyk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 said tonight is conjecture. Build your own data set.</a:t>
            </a:r>
            <a:endParaRPr lang="en-US" sz="1200" dirty="0"/>
          </a:p>
        </p:txBody>
      </p:sp>
      <p:pic>
        <p:nvPicPr>
          <p:cNvPr id="7" name="Image 0" descr="/home/claude/image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160520"/>
            <a:ext cx="2743200" cy="3383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1440</Words>
  <Application>Microsoft Office PowerPoint</Application>
  <PresentationFormat>On-screen Show (16:9)</PresentationFormat>
  <Paragraphs>224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Interview Engine - RVASec 15</dc:title>
  <dc:subject>PptxGenJS Presentation</dc:subject>
  <dc:creator>Hampton North</dc:creator>
  <cp:lastModifiedBy>Vas Khomyk</cp:lastModifiedBy>
  <cp:revision>2</cp:revision>
  <dcterms:created xsi:type="dcterms:W3CDTF">2026-06-05T16:47:56Z</dcterms:created>
  <dcterms:modified xsi:type="dcterms:W3CDTF">2026-06-08T18:42:01Z</dcterms:modified>
</cp:coreProperties>
</file>